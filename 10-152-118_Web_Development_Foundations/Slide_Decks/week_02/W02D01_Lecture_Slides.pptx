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27"/>
  </p:notesMasterIdLst>
  <p:handoutMasterIdLst>
    <p:handoutMasterId r:id="rId28"/>
  </p:handoutMasterIdLst>
  <p:sldIdLst>
    <p:sldId id="256" r:id="rId2"/>
    <p:sldId id="467" r:id="rId3"/>
    <p:sldId id="502" r:id="rId4"/>
    <p:sldId id="492" r:id="rId5"/>
    <p:sldId id="417" r:id="rId6"/>
    <p:sldId id="322" r:id="rId7"/>
    <p:sldId id="493" r:id="rId8"/>
    <p:sldId id="494" r:id="rId9"/>
    <p:sldId id="488" r:id="rId10"/>
    <p:sldId id="260" r:id="rId11"/>
    <p:sldId id="497" r:id="rId12"/>
    <p:sldId id="364" r:id="rId13"/>
    <p:sldId id="498" r:id="rId14"/>
    <p:sldId id="499" r:id="rId15"/>
    <p:sldId id="495" r:id="rId16"/>
    <p:sldId id="500" r:id="rId17"/>
    <p:sldId id="487" r:id="rId18"/>
    <p:sldId id="418" r:id="rId19"/>
    <p:sldId id="378" r:id="rId20"/>
    <p:sldId id="501" r:id="rId21"/>
    <p:sldId id="490" r:id="rId22"/>
    <p:sldId id="307" r:id="rId23"/>
    <p:sldId id="491" r:id="rId24"/>
    <p:sldId id="375" r:id="rId25"/>
    <p:sldId id="320" r:id="rId26"/>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68900" autoAdjust="0"/>
  </p:normalViewPr>
  <p:slideViewPr>
    <p:cSldViewPr snapToGrid="0" snapToObjects="1">
      <p:cViewPr varScale="1">
        <p:scale>
          <a:sx n="73" d="100"/>
          <a:sy n="73" d="100"/>
        </p:scale>
        <p:origin x="2694" y="54"/>
      </p:cViewPr>
      <p:guideLst>
        <p:guide orient="horz" pos="2160"/>
        <p:guide pos="2880"/>
      </p:guideLst>
    </p:cSldViewPr>
  </p:slideViewPr>
  <p:outlineViewPr>
    <p:cViewPr>
      <p:scale>
        <a:sx n="33" d="100"/>
        <a:sy n="33" d="100"/>
      </p:scale>
      <p:origin x="0" y="-115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0" d="100"/>
          <a:sy n="80" d="100"/>
        </p:scale>
        <p:origin x="4002" y="11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D9F0B5-AAA0-4A3F-A06D-7AF0DF909605}" type="doc">
      <dgm:prSet loTypeId="urn:microsoft.com/office/officeart/2008/layout/VerticalCurvedList" loCatId="list" qsTypeId="urn:microsoft.com/office/officeart/2005/8/quickstyle/simple1" qsCatId="simple" csTypeId="urn:microsoft.com/office/officeart/2005/8/colors/colorful5" csCatId="colorful" phldr="1"/>
      <dgm:spPr/>
      <dgm:t>
        <a:bodyPr/>
        <a:lstStyle/>
        <a:p>
          <a:endParaRPr lang="en-US"/>
        </a:p>
      </dgm:t>
    </dgm:pt>
    <dgm:pt modelId="{56C75C72-418D-4527-A807-072D4BEEF13D}">
      <dgm:prSet phldrT="[Text]" phldr="0"/>
      <dgm:spPr/>
      <dgm:t>
        <a:bodyPr/>
        <a:lstStyle/>
        <a:p>
          <a:r>
            <a:rPr lang="en-US" b="0"/>
            <a:t>one stylesheet is connected</a:t>
          </a:r>
          <a:endParaRPr lang="en-US" dirty="0"/>
        </a:p>
      </dgm:t>
    </dgm:pt>
    <dgm:pt modelId="{2EA16CA2-E6A1-4689-9FE1-EEA188CFF3F6}" type="parTrans" cxnId="{1317263A-D35A-4726-A59F-5426E1B35724}">
      <dgm:prSet/>
      <dgm:spPr/>
      <dgm:t>
        <a:bodyPr/>
        <a:lstStyle/>
        <a:p>
          <a:endParaRPr lang="en-US"/>
        </a:p>
      </dgm:t>
    </dgm:pt>
    <dgm:pt modelId="{AF7DDFFB-3F1E-4284-8125-04BEF75FEE50}" type="sibTrans" cxnId="{1317263A-D35A-4726-A59F-5426E1B35724}">
      <dgm:prSet/>
      <dgm:spPr/>
      <dgm:t>
        <a:bodyPr/>
        <a:lstStyle/>
        <a:p>
          <a:endParaRPr lang="en-US"/>
        </a:p>
      </dgm:t>
    </dgm:pt>
    <dgm:pt modelId="{E5B7FC0F-D9E9-49B6-9724-884B13DCA046}">
      <dgm:prSet/>
      <dgm:spPr/>
      <dgm:t>
        <a:bodyPr/>
        <a:lstStyle/>
        <a:p>
          <a:pPr>
            <a:buNone/>
          </a:pPr>
          <a:r>
            <a:rPr lang="en-US" b="0" dirty="0"/>
            <a:t>one rule visibly changes the page</a:t>
          </a:r>
        </a:p>
      </dgm:t>
    </dgm:pt>
    <dgm:pt modelId="{D3D76F9A-B2D1-4E2B-A768-51FFD25175F5}" type="parTrans" cxnId="{15FF4ABD-2574-4824-B47E-1EE2C27B1577}">
      <dgm:prSet/>
      <dgm:spPr/>
      <dgm:t>
        <a:bodyPr/>
        <a:lstStyle/>
        <a:p>
          <a:endParaRPr lang="en-US"/>
        </a:p>
      </dgm:t>
    </dgm:pt>
    <dgm:pt modelId="{C6282391-4474-4869-A934-0F8CA8CC5E75}" type="sibTrans" cxnId="{15FF4ABD-2574-4824-B47E-1EE2C27B1577}">
      <dgm:prSet/>
      <dgm:spPr/>
      <dgm:t>
        <a:bodyPr/>
        <a:lstStyle/>
        <a:p>
          <a:endParaRPr lang="en-US"/>
        </a:p>
      </dgm:t>
    </dgm:pt>
    <dgm:pt modelId="{827BCC66-6E4C-4E92-8092-FDDADE921CDC}">
      <dgm:prSet/>
      <dgm:spPr/>
      <dgm:t>
        <a:bodyPr/>
        <a:lstStyle/>
        <a:p>
          <a:pPr>
            <a:buNone/>
          </a:pPr>
          <a:r>
            <a:rPr lang="en-US" b="0" dirty="0"/>
            <a:t>you can name the selector</a:t>
          </a:r>
        </a:p>
      </dgm:t>
    </dgm:pt>
    <dgm:pt modelId="{2929E2A4-90BD-49B4-803E-6858ADA98535}" type="parTrans" cxnId="{C0E305F7-B424-414B-B023-4C3C0D19BD12}">
      <dgm:prSet/>
      <dgm:spPr/>
      <dgm:t>
        <a:bodyPr/>
        <a:lstStyle/>
        <a:p>
          <a:endParaRPr lang="en-US"/>
        </a:p>
      </dgm:t>
    </dgm:pt>
    <dgm:pt modelId="{03F85AEF-5F39-44AF-84B6-CFBC6B009329}" type="sibTrans" cxnId="{C0E305F7-B424-414B-B023-4C3C0D19BD12}">
      <dgm:prSet/>
      <dgm:spPr/>
      <dgm:t>
        <a:bodyPr/>
        <a:lstStyle/>
        <a:p>
          <a:endParaRPr lang="en-US"/>
        </a:p>
      </dgm:t>
    </dgm:pt>
    <dgm:pt modelId="{14D77AE0-A045-4CAB-A541-71C5A61C3D3F}">
      <dgm:prSet/>
      <dgm:spPr/>
      <dgm:t>
        <a:bodyPr/>
        <a:lstStyle/>
        <a:p>
          <a:pPr>
            <a:buNone/>
          </a:pPr>
          <a:r>
            <a:rPr lang="en-US" b="0" dirty="0"/>
            <a:t>you can name one property and value</a:t>
          </a:r>
        </a:p>
      </dgm:t>
    </dgm:pt>
    <dgm:pt modelId="{55E96546-6BC1-4DB3-BBB8-57A6F2815538}" type="parTrans" cxnId="{B7915314-3B82-452A-97D2-36887D3264FE}">
      <dgm:prSet/>
      <dgm:spPr/>
      <dgm:t>
        <a:bodyPr/>
        <a:lstStyle/>
        <a:p>
          <a:endParaRPr lang="en-US"/>
        </a:p>
      </dgm:t>
    </dgm:pt>
    <dgm:pt modelId="{54CCD1A1-C028-478C-9CF0-F48EE616C7D7}" type="sibTrans" cxnId="{B7915314-3B82-452A-97D2-36887D3264FE}">
      <dgm:prSet/>
      <dgm:spPr/>
      <dgm:t>
        <a:bodyPr/>
        <a:lstStyle/>
        <a:p>
          <a:endParaRPr lang="en-US"/>
        </a:p>
      </dgm:t>
    </dgm:pt>
    <dgm:pt modelId="{30C72406-41F9-49EA-A5D1-9B8796ABA92F}">
      <dgm:prSet/>
      <dgm:spPr/>
      <dgm:t>
        <a:bodyPr/>
        <a:lstStyle/>
        <a:p>
          <a:pPr>
            <a:buNone/>
          </a:pPr>
          <a:r>
            <a:rPr lang="en-US" b="0"/>
            <a:t>the page remains readable</a:t>
          </a:r>
          <a:endParaRPr lang="en-US" b="0" dirty="0"/>
        </a:p>
      </dgm:t>
    </dgm:pt>
    <dgm:pt modelId="{BF1A2E08-F740-4C52-830F-FF2D245107F1}" type="parTrans" cxnId="{EF522F08-1BEC-4A28-A455-89AE45BB05B2}">
      <dgm:prSet/>
      <dgm:spPr/>
      <dgm:t>
        <a:bodyPr/>
        <a:lstStyle/>
        <a:p>
          <a:endParaRPr lang="en-US"/>
        </a:p>
      </dgm:t>
    </dgm:pt>
    <dgm:pt modelId="{6C7D453C-0AA1-49F0-9FAF-621FF8ECBF8F}" type="sibTrans" cxnId="{EF522F08-1BEC-4A28-A455-89AE45BB05B2}">
      <dgm:prSet/>
      <dgm:spPr/>
      <dgm:t>
        <a:bodyPr/>
        <a:lstStyle/>
        <a:p>
          <a:endParaRPr lang="en-US"/>
        </a:p>
      </dgm:t>
    </dgm:pt>
    <dgm:pt modelId="{480DCFAB-D653-47AA-B687-674EA2C262C5}" type="pres">
      <dgm:prSet presAssocID="{5DD9F0B5-AAA0-4A3F-A06D-7AF0DF909605}" presName="Name0" presStyleCnt="0">
        <dgm:presLayoutVars>
          <dgm:chMax val="7"/>
          <dgm:chPref val="7"/>
          <dgm:dir/>
        </dgm:presLayoutVars>
      </dgm:prSet>
      <dgm:spPr/>
    </dgm:pt>
    <dgm:pt modelId="{6783689A-C522-4465-A596-E514E53E525A}" type="pres">
      <dgm:prSet presAssocID="{5DD9F0B5-AAA0-4A3F-A06D-7AF0DF909605}" presName="Name1" presStyleCnt="0"/>
      <dgm:spPr/>
    </dgm:pt>
    <dgm:pt modelId="{88BBFF9C-19B2-4375-8B0E-2067706D3236}" type="pres">
      <dgm:prSet presAssocID="{5DD9F0B5-AAA0-4A3F-A06D-7AF0DF909605}" presName="cycle" presStyleCnt="0"/>
      <dgm:spPr/>
    </dgm:pt>
    <dgm:pt modelId="{0CF2775B-9578-47D6-8A38-AC3474BB3655}" type="pres">
      <dgm:prSet presAssocID="{5DD9F0B5-AAA0-4A3F-A06D-7AF0DF909605}" presName="srcNode" presStyleLbl="node1" presStyleIdx="0" presStyleCnt="5"/>
      <dgm:spPr/>
    </dgm:pt>
    <dgm:pt modelId="{5C3E2CAE-3280-4BC8-BDB5-C50DCE54EAEB}" type="pres">
      <dgm:prSet presAssocID="{5DD9F0B5-AAA0-4A3F-A06D-7AF0DF909605}" presName="conn" presStyleLbl="parChTrans1D2" presStyleIdx="0" presStyleCnt="1"/>
      <dgm:spPr/>
    </dgm:pt>
    <dgm:pt modelId="{EDFFB4FD-EBB0-4A32-A26D-A63F9F5AE3EB}" type="pres">
      <dgm:prSet presAssocID="{5DD9F0B5-AAA0-4A3F-A06D-7AF0DF909605}" presName="extraNode" presStyleLbl="node1" presStyleIdx="0" presStyleCnt="5"/>
      <dgm:spPr/>
    </dgm:pt>
    <dgm:pt modelId="{55DF3272-644F-4007-998B-D70BB701D645}" type="pres">
      <dgm:prSet presAssocID="{5DD9F0B5-AAA0-4A3F-A06D-7AF0DF909605}" presName="dstNode" presStyleLbl="node1" presStyleIdx="0" presStyleCnt="5"/>
      <dgm:spPr/>
    </dgm:pt>
    <dgm:pt modelId="{4D684416-84E1-4B5E-B6BF-E47859EF49E8}" type="pres">
      <dgm:prSet presAssocID="{56C75C72-418D-4527-A807-072D4BEEF13D}" presName="text_1" presStyleLbl="node1" presStyleIdx="0" presStyleCnt="5">
        <dgm:presLayoutVars>
          <dgm:bulletEnabled val="1"/>
        </dgm:presLayoutVars>
      </dgm:prSet>
      <dgm:spPr/>
    </dgm:pt>
    <dgm:pt modelId="{BBBA1308-7F48-4524-BF9B-62695D62115D}" type="pres">
      <dgm:prSet presAssocID="{56C75C72-418D-4527-A807-072D4BEEF13D}" presName="accent_1" presStyleCnt="0"/>
      <dgm:spPr/>
    </dgm:pt>
    <dgm:pt modelId="{4A2F9709-4120-45FC-A605-79A267518B8D}" type="pres">
      <dgm:prSet presAssocID="{56C75C72-418D-4527-A807-072D4BEEF13D}" presName="accentRepeatNode" presStyleLbl="solidFgAcc1" presStyleIdx="0" presStyleCnt="5"/>
      <dgm:spPr/>
    </dgm:pt>
    <dgm:pt modelId="{5E875801-90CD-4883-BFC6-3E031D0F9920}" type="pres">
      <dgm:prSet presAssocID="{E5B7FC0F-D9E9-49B6-9724-884B13DCA046}" presName="text_2" presStyleLbl="node1" presStyleIdx="1" presStyleCnt="5">
        <dgm:presLayoutVars>
          <dgm:bulletEnabled val="1"/>
        </dgm:presLayoutVars>
      </dgm:prSet>
      <dgm:spPr/>
    </dgm:pt>
    <dgm:pt modelId="{D48569F2-9FDE-4016-9627-0CF039EA81E0}" type="pres">
      <dgm:prSet presAssocID="{E5B7FC0F-D9E9-49B6-9724-884B13DCA046}" presName="accent_2" presStyleCnt="0"/>
      <dgm:spPr/>
    </dgm:pt>
    <dgm:pt modelId="{A482C8F3-2A5B-41F3-97DC-FF34313F4785}" type="pres">
      <dgm:prSet presAssocID="{E5B7FC0F-D9E9-49B6-9724-884B13DCA046}" presName="accentRepeatNode" presStyleLbl="solidFgAcc1" presStyleIdx="1" presStyleCnt="5"/>
      <dgm:spPr/>
    </dgm:pt>
    <dgm:pt modelId="{ABE5439D-2E97-4AC7-80B4-4ABD3776FA30}" type="pres">
      <dgm:prSet presAssocID="{827BCC66-6E4C-4E92-8092-FDDADE921CDC}" presName="text_3" presStyleLbl="node1" presStyleIdx="2" presStyleCnt="5">
        <dgm:presLayoutVars>
          <dgm:bulletEnabled val="1"/>
        </dgm:presLayoutVars>
      </dgm:prSet>
      <dgm:spPr/>
    </dgm:pt>
    <dgm:pt modelId="{52018270-F091-4543-9934-A75AB0FB7940}" type="pres">
      <dgm:prSet presAssocID="{827BCC66-6E4C-4E92-8092-FDDADE921CDC}" presName="accent_3" presStyleCnt="0"/>
      <dgm:spPr/>
    </dgm:pt>
    <dgm:pt modelId="{79E2C693-1D06-4CC6-B0E3-ADF65D7F5A34}" type="pres">
      <dgm:prSet presAssocID="{827BCC66-6E4C-4E92-8092-FDDADE921CDC}" presName="accentRepeatNode" presStyleLbl="solidFgAcc1" presStyleIdx="2" presStyleCnt="5"/>
      <dgm:spPr/>
    </dgm:pt>
    <dgm:pt modelId="{1E1D122F-2C66-4571-AB45-43689ECBC5D2}" type="pres">
      <dgm:prSet presAssocID="{14D77AE0-A045-4CAB-A541-71C5A61C3D3F}" presName="text_4" presStyleLbl="node1" presStyleIdx="3" presStyleCnt="5">
        <dgm:presLayoutVars>
          <dgm:bulletEnabled val="1"/>
        </dgm:presLayoutVars>
      </dgm:prSet>
      <dgm:spPr/>
    </dgm:pt>
    <dgm:pt modelId="{7B40E74B-5EF7-4D82-AEB9-5553D20C4FEB}" type="pres">
      <dgm:prSet presAssocID="{14D77AE0-A045-4CAB-A541-71C5A61C3D3F}" presName="accent_4" presStyleCnt="0"/>
      <dgm:spPr/>
    </dgm:pt>
    <dgm:pt modelId="{445266C9-9761-4DB4-B0B7-BDF29175F0F1}" type="pres">
      <dgm:prSet presAssocID="{14D77AE0-A045-4CAB-A541-71C5A61C3D3F}" presName="accentRepeatNode" presStyleLbl="solidFgAcc1" presStyleIdx="3" presStyleCnt="5"/>
      <dgm:spPr/>
    </dgm:pt>
    <dgm:pt modelId="{E8CF8075-7298-4144-891C-7FAA3E441553}" type="pres">
      <dgm:prSet presAssocID="{30C72406-41F9-49EA-A5D1-9B8796ABA92F}" presName="text_5" presStyleLbl="node1" presStyleIdx="4" presStyleCnt="5">
        <dgm:presLayoutVars>
          <dgm:bulletEnabled val="1"/>
        </dgm:presLayoutVars>
      </dgm:prSet>
      <dgm:spPr/>
    </dgm:pt>
    <dgm:pt modelId="{796C10F9-F844-4C3B-B5E5-C4427ABBE53D}" type="pres">
      <dgm:prSet presAssocID="{30C72406-41F9-49EA-A5D1-9B8796ABA92F}" presName="accent_5" presStyleCnt="0"/>
      <dgm:spPr/>
    </dgm:pt>
    <dgm:pt modelId="{02B92BED-707B-4B42-AD4B-330B75E12C61}" type="pres">
      <dgm:prSet presAssocID="{30C72406-41F9-49EA-A5D1-9B8796ABA92F}" presName="accentRepeatNode" presStyleLbl="solidFgAcc1" presStyleIdx="4" presStyleCnt="5"/>
      <dgm:spPr/>
    </dgm:pt>
  </dgm:ptLst>
  <dgm:cxnLst>
    <dgm:cxn modelId="{EF522F08-1BEC-4A28-A455-89AE45BB05B2}" srcId="{5DD9F0B5-AAA0-4A3F-A06D-7AF0DF909605}" destId="{30C72406-41F9-49EA-A5D1-9B8796ABA92F}" srcOrd="4" destOrd="0" parTransId="{BF1A2E08-F740-4C52-830F-FF2D245107F1}" sibTransId="{6C7D453C-0AA1-49F0-9FAF-621FF8ECBF8F}"/>
    <dgm:cxn modelId="{25CC7114-082F-44B1-9D6B-75C3F97DA5A2}" type="presOf" srcId="{827BCC66-6E4C-4E92-8092-FDDADE921CDC}" destId="{ABE5439D-2E97-4AC7-80B4-4ABD3776FA30}" srcOrd="0" destOrd="0" presId="urn:microsoft.com/office/officeart/2008/layout/VerticalCurvedList"/>
    <dgm:cxn modelId="{B7915314-3B82-452A-97D2-36887D3264FE}" srcId="{5DD9F0B5-AAA0-4A3F-A06D-7AF0DF909605}" destId="{14D77AE0-A045-4CAB-A541-71C5A61C3D3F}" srcOrd="3" destOrd="0" parTransId="{55E96546-6BC1-4DB3-BBB8-57A6F2815538}" sibTransId="{54CCD1A1-C028-478C-9CF0-F48EE616C7D7}"/>
    <dgm:cxn modelId="{15F9FC35-8341-4E58-9436-3BD5D6CEC218}" type="presOf" srcId="{E5B7FC0F-D9E9-49B6-9724-884B13DCA046}" destId="{5E875801-90CD-4883-BFC6-3E031D0F9920}" srcOrd="0" destOrd="0" presId="urn:microsoft.com/office/officeart/2008/layout/VerticalCurvedList"/>
    <dgm:cxn modelId="{1317263A-D35A-4726-A59F-5426E1B35724}" srcId="{5DD9F0B5-AAA0-4A3F-A06D-7AF0DF909605}" destId="{56C75C72-418D-4527-A807-072D4BEEF13D}" srcOrd="0" destOrd="0" parTransId="{2EA16CA2-E6A1-4689-9FE1-EEA188CFF3F6}" sibTransId="{AF7DDFFB-3F1E-4284-8125-04BEF75FEE50}"/>
    <dgm:cxn modelId="{D24F8571-9B83-4413-86DB-ECBFE306666B}" type="presOf" srcId="{5DD9F0B5-AAA0-4A3F-A06D-7AF0DF909605}" destId="{480DCFAB-D653-47AA-B687-674EA2C262C5}" srcOrd="0" destOrd="0" presId="urn:microsoft.com/office/officeart/2008/layout/VerticalCurvedList"/>
    <dgm:cxn modelId="{448A6DB8-9244-463A-A432-9E552B9B4399}" type="presOf" srcId="{56C75C72-418D-4527-A807-072D4BEEF13D}" destId="{4D684416-84E1-4B5E-B6BF-E47859EF49E8}" srcOrd="0" destOrd="0" presId="urn:microsoft.com/office/officeart/2008/layout/VerticalCurvedList"/>
    <dgm:cxn modelId="{15FF4ABD-2574-4824-B47E-1EE2C27B1577}" srcId="{5DD9F0B5-AAA0-4A3F-A06D-7AF0DF909605}" destId="{E5B7FC0F-D9E9-49B6-9724-884B13DCA046}" srcOrd="1" destOrd="0" parTransId="{D3D76F9A-B2D1-4E2B-A768-51FFD25175F5}" sibTransId="{C6282391-4474-4869-A934-0F8CA8CC5E75}"/>
    <dgm:cxn modelId="{E9C67DCC-FF60-459D-A876-C2ADD2E3B44C}" type="presOf" srcId="{14D77AE0-A045-4CAB-A541-71C5A61C3D3F}" destId="{1E1D122F-2C66-4571-AB45-43689ECBC5D2}" srcOrd="0" destOrd="0" presId="urn:microsoft.com/office/officeart/2008/layout/VerticalCurvedList"/>
    <dgm:cxn modelId="{F49B13DD-0E4C-4260-BD98-246829CA427A}" type="presOf" srcId="{AF7DDFFB-3F1E-4284-8125-04BEF75FEE50}" destId="{5C3E2CAE-3280-4BC8-BDB5-C50DCE54EAEB}" srcOrd="0" destOrd="0" presId="urn:microsoft.com/office/officeart/2008/layout/VerticalCurvedList"/>
    <dgm:cxn modelId="{47C928F0-FC2A-4152-8A4D-A58904581220}" type="presOf" srcId="{30C72406-41F9-49EA-A5D1-9B8796ABA92F}" destId="{E8CF8075-7298-4144-891C-7FAA3E441553}" srcOrd="0" destOrd="0" presId="urn:microsoft.com/office/officeart/2008/layout/VerticalCurvedList"/>
    <dgm:cxn modelId="{C0E305F7-B424-414B-B023-4C3C0D19BD12}" srcId="{5DD9F0B5-AAA0-4A3F-A06D-7AF0DF909605}" destId="{827BCC66-6E4C-4E92-8092-FDDADE921CDC}" srcOrd="2" destOrd="0" parTransId="{2929E2A4-90BD-49B4-803E-6858ADA98535}" sibTransId="{03F85AEF-5F39-44AF-84B6-CFBC6B009329}"/>
    <dgm:cxn modelId="{59644532-50DA-41CC-B2A8-B45504B94696}" type="presParOf" srcId="{480DCFAB-D653-47AA-B687-674EA2C262C5}" destId="{6783689A-C522-4465-A596-E514E53E525A}" srcOrd="0" destOrd="0" presId="urn:microsoft.com/office/officeart/2008/layout/VerticalCurvedList"/>
    <dgm:cxn modelId="{947EA72D-5E57-439A-B8D7-3920405907D4}" type="presParOf" srcId="{6783689A-C522-4465-A596-E514E53E525A}" destId="{88BBFF9C-19B2-4375-8B0E-2067706D3236}" srcOrd="0" destOrd="0" presId="urn:microsoft.com/office/officeart/2008/layout/VerticalCurvedList"/>
    <dgm:cxn modelId="{5C01D85A-E0FB-4338-9B9A-29F9CF5FF6B9}" type="presParOf" srcId="{88BBFF9C-19B2-4375-8B0E-2067706D3236}" destId="{0CF2775B-9578-47D6-8A38-AC3474BB3655}" srcOrd="0" destOrd="0" presId="urn:microsoft.com/office/officeart/2008/layout/VerticalCurvedList"/>
    <dgm:cxn modelId="{97CDF5E1-32D3-47EB-BB36-32B68D966B32}" type="presParOf" srcId="{88BBFF9C-19B2-4375-8B0E-2067706D3236}" destId="{5C3E2CAE-3280-4BC8-BDB5-C50DCE54EAEB}" srcOrd="1" destOrd="0" presId="urn:microsoft.com/office/officeart/2008/layout/VerticalCurvedList"/>
    <dgm:cxn modelId="{DDD70305-1EE4-43D2-8DAA-4E6A83F2F158}" type="presParOf" srcId="{88BBFF9C-19B2-4375-8B0E-2067706D3236}" destId="{EDFFB4FD-EBB0-4A32-A26D-A63F9F5AE3EB}" srcOrd="2" destOrd="0" presId="urn:microsoft.com/office/officeart/2008/layout/VerticalCurvedList"/>
    <dgm:cxn modelId="{7704AB5A-E63F-4415-B7A8-E7CBA40AB845}" type="presParOf" srcId="{88BBFF9C-19B2-4375-8B0E-2067706D3236}" destId="{55DF3272-644F-4007-998B-D70BB701D645}" srcOrd="3" destOrd="0" presId="urn:microsoft.com/office/officeart/2008/layout/VerticalCurvedList"/>
    <dgm:cxn modelId="{66A903CB-13B9-4398-ABA9-7C1DC78C242C}" type="presParOf" srcId="{6783689A-C522-4465-A596-E514E53E525A}" destId="{4D684416-84E1-4B5E-B6BF-E47859EF49E8}" srcOrd="1" destOrd="0" presId="urn:microsoft.com/office/officeart/2008/layout/VerticalCurvedList"/>
    <dgm:cxn modelId="{7418FB29-E1A0-4366-BA29-955C831D3799}" type="presParOf" srcId="{6783689A-C522-4465-A596-E514E53E525A}" destId="{BBBA1308-7F48-4524-BF9B-62695D62115D}" srcOrd="2" destOrd="0" presId="urn:microsoft.com/office/officeart/2008/layout/VerticalCurvedList"/>
    <dgm:cxn modelId="{F72992B3-716E-4CA2-B6FE-1692256DC839}" type="presParOf" srcId="{BBBA1308-7F48-4524-BF9B-62695D62115D}" destId="{4A2F9709-4120-45FC-A605-79A267518B8D}" srcOrd="0" destOrd="0" presId="urn:microsoft.com/office/officeart/2008/layout/VerticalCurvedList"/>
    <dgm:cxn modelId="{7152A4D1-59CD-4D6B-AE29-CDDDB2D717FC}" type="presParOf" srcId="{6783689A-C522-4465-A596-E514E53E525A}" destId="{5E875801-90CD-4883-BFC6-3E031D0F9920}" srcOrd="3" destOrd="0" presId="urn:microsoft.com/office/officeart/2008/layout/VerticalCurvedList"/>
    <dgm:cxn modelId="{E51F62F2-CC42-484E-B487-65CFB31726D4}" type="presParOf" srcId="{6783689A-C522-4465-A596-E514E53E525A}" destId="{D48569F2-9FDE-4016-9627-0CF039EA81E0}" srcOrd="4" destOrd="0" presId="urn:microsoft.com/office/officeart/2008/layout/VerticalCurvedList"/>
    <dgm:cxn modelId="{5811B97C-2ABD-4046-80FD-16B0C5AECDC3}" type="presParOf" srcId="{D48569F2-9FDE-4016-9627-0CF039EA81E0}" destId="{A482C8F3-2A5B-41F3-97DC-FF34313F4785}" srcOrd="0" destOrd="0" presId="urn:microsoft.com/office/officeart/2008/layout/VerticalCurvedList"/>
    <dgm:cxn modelId="{9A480F09-D9F5-4AFE-A6CB-BAF626FDCB43}" type="presParOf" srcId="{6783689A-C522-4465-A596-E514E53E525A}" destId="{ABE5439D-2E97-4AC7-80B4-4ABD3776FA30}" srcOrd="5" destOrd="0" presId="urn:microsoft.com/office/officeart/2008/layout/VerticalCurvedList"/>
    <dgm:cxn modelId="{A9A1DBF0-607D-4262-8202-B5FAED0DD66A}" type="presParOf" srcId="{6783689A-C522-4465-A596-E514E53E525A}" destId="{52018270-F091-4543-9934-A75AB0FB7940}" srcOrd="6" destOrd="0" presId="urn:microsoft.com/office/officeart/2008/layout/VerticalCurvedList"/>
    <dgm:cxn modelId="{737E8793-CE34-4102-B0F2-0270611E2319}" type="presParOf" srcId="{52018270-F091-4543-9934-A75AB0FB7940}" destId="{79E2C693-1D06-4CC6-B0E3-ADF65D7F5A34}" srcOrd="0" destOrd="0" presId="urn:microsoft.com/office/officeart/2008/layout/VerticalCurvedList"/>
    <dgm:cxn modelId="{8EE23F4B-BF00-4C44-8E8D-6A2677055C76}" type="presParOf" srcId="{6783689A-C522-4465-A596-E514E53E525A}" destId="{1E1D122F-2C66-4571-AB45-43689ECBC5D2}" srcOrd="7" destOrd="0" presId="urn:microsoft.com/office/officeart/2008/layout/VerticalCurvedList"/>
    <dgm:cxn modelId="{67E4FE82-5E07-4682-BC67-31AFFCDD3CE5}" type="presParOf" srcId="{6783689A-C522-4465-A596-E514E53E525A}" destId="{7B40E74B-5EF7-4D82-AEB9-5553D20C4FEB}" srcOrd="8" destOrd="0" presId="urn:microsoft.com/office/officeart/2008/layout/VerticalCurvedList"/>
    <dgm:cxn modelId="{E353E997-200D-4D15-9651-3D4536422F06}" type="presParOf" srcId="{7B40E74B-5EF7-4D82-AEB9-5553D20C4FEB}" destId="{445266C9-9761-4DB4-B0B7-BDF29175F0F1}" srcOrd="0" destOrd="0" presId="urn:microsoft.com/office/officeart/2008/layout/VerticalCurvedList"/>
    <dgm:cxn modelId="{D8ED05BA-4A6A-4F5A-AFD4-E11F0992FF76}" type="presParOf" srcId="{6783689A-C522-4465-A596-E514E53E525A}" destId="{E8CF8075-7298-4144-891C-7FAA3E441553}" srcOrd="9" destOrd="0" presId="urn:microsoft.com/office/officeart/2008/layout/VerticalCurvedList"/>
    <dgm:cxn modelId="{D6E059F2-9DC8-4477-AC2C-9410074B93E1}" type="presParOf" srcId="{6783689A-C522-4465-A596-E514E53E525A}" destId="{796C10F9-F844-4C3B-B5E5-C4427ABBE53D}" srcOrd="10" destOrd="0" presId="urn:microsoft.com/office/officeart/2008/layout/VerticalCurvedList"/>
    <dgm:cxn modelId="{88D75160-E8F4-451E-B9F9-945D5B9C0027}" type="presParOf" srcId="{796C10F9-F844-4C3B-B5E5-C4427ABBE53D}" destId="{02B92BED-707B-4B42-AD4B-330B75E12C61}"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4E899A-4745-4D99-8703-420E2BFFDA65}"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2D995CFF-3841-44CB-A72F-F74E302D40F2}">
      <dgm:prSet/>
      <dgm:spPr/>
      <dgm:t>
        <a:bodyPr/>
        <a:lstStyle/>
        <a:p>
          <a:r>
            <a:rPr lang="en-US" b="0" dirty="0"/>
            <a:t>stylesheet not linked</a:t>
          </a:r>
          <a:endParaRPr lang="en-US" dirty="0"/>
        </a:p>
      </dgm:t>
    </dgm:pt>
    <dgm:pt modelId="{7B2DEC3C-926A-4E9D-8537-C639E282BDFC}" type="parTrans" cxnId="{E5111FFB-3430-4683-8667-09E81644A8CC}">
      <dgm:prSet/>
      <dgm:spPr/>
      <dgm:t>
        <a:bodyPr/>
        <a:lstStyle/>
        <a:p>
          <a:endParaRPr lang="en-US"/>
        </a:p>
      </dgm:t>
    </dgm:pt>
    <dgm:pt modelId="{C6EA68A9-C316-47AD-8851-064A9AD4BA98}" type="sibTrans" cxnId="{E5111FFB-3430-4683-8667-09E81644A8CC}">
      <dgm:prSet/>
      <dgm:spPr/>
      <dgm:t>
        <a:bodyPr/>
        <a:lstStyle/>
        <a:p>
          <a:endParaRPr lang="en-US"/>
        </a:p>
      </dgm:t>
    </dgm:pt>
    <dgm:pt modelId="{89F37F94-41C6-4A19-9386-7D6D5D47C630}">
      <dgm:prSet/>
      <dgm:spPr/>
      <dgm:t>
        <a:bodyPr/>
        <a:lstStyle/>
        <a:p>
          <a:pPr>
            <a:buNone/>
          </a:pPr>
          <a:r>
            <a:rPr lang="en-US" b="0" dirty="0"/>
            <a:t>wrong file name</a:t>
          </a:r>
        </a:p>
      </dgm:t>
    </dgm:pt>
    <dgm:pt modelId="{0B308737-3D8C-458D-82A8-C8F359BFC7B1}" type="parTrans" cxnId="{C4E50FC0-6846-4B59-9E44-229A31E45617}">
      <dgm:prSet/>
      <dgm:spPr/>
      <dgm:t>
        <a:bodyPr/>
        <a:lstStyle/>
        <a:p>
          <a:endParaRPr lang="en-US"/>
        </a:p>
      </dgm:t>
    </dgm:pt>
    <dgm:pt modelId="{457C52A1-D1D9-41DE-88A1-59E0245940C8}" type="sibTrans" cxnId="{C4E50FC0-6846-4B59-9E44-229A31E45617}">
      <dgm:prSet/>
      <dgm:spPr/>
      <dgm:t>
        <a:bodyPr/>
        <a:lstStyle/>
        <a:p>
          <a:endParaRPr lang="en-US"/>
        </a:p>
      </dgm:t>
    </dgm:pt>
    <dgm:pt modelId="{A64274B1-F4D8-4BB0-98F4-896C7408A0F3}">
      <dgm:prSet/>
      <dgm:spPr/>
      <dgm:t>
        <a:bodyPr/>
        <a:lstStyle/>
        <a:p>
          <a:pPr>
            <a:buNone/>
          </a:pPr>
          <a:r>
            <a:rPr lang="en-US" b="0" dirty="0"/>
            <a:t>missing `{ }`</a:t>
          </a:r>
        </a:p>
      </dgm:t>
    </dgm:pt>
    <dgm:pt modelId="{F4812753-8E21-437E-91E7-23B4B6720040}" type="parTrans" cxnId="{270FB4D0-3E06-4F62-844F-613DFB4CCC9E}">
      <dgm:prSet/>
      <dgm:spPr/>
      <dgm:t>
        <a:bodyPr/>
        <a:lstStyle/>
        <a:p>
          <a:endParaRPr lang="en-US"/>
        </a:p>
      </dgm:t>
    </dgm:pt>
    <dgm:pt modelId="{5A2C2E26-7B6E-49E2-BB12-1DEC5BDE0A14}" type="sibTrans" cxnId="{270FB4D0-3E06-4F62-844F-613DFB4CCC9E}">
      <dgm:prSet/>
      <dgm:spPr/>
      <dgm:t>
        <a:bodyPr/>
        <a:lstStyle/>
        <a:p>
          <a:endParaRPr lang="en-US"/>
        </a:p>
      </dgm:t>
    </dgm:pt>
    <dgm:pt modelId="{DF830917-0AFF-479C-8C7C-D5BCC33DFEFE}">
      <dgm:prSet/>
      <dgm:spPr/>
      <dgm:t>
        <a:bodyPr/>
        <a:lstStyle/>
        <a:p>
          <a:pPr>
            <a:buNone/>
          </a:pPr>
          <a:r>
            <a:rPr lang="en-US" b="0" dirty="0"/>
            <a:t>missing `:`</a:t>
          </a:r>
        </a:p>
      </dgm:t>
    </dgm:pt>
    <dgm:pt modelId="{43618ECE-0C6B-4926-9D78-B38CD048E2DC}" type="parTrans" cxnId="{45448287-6010-458A-9C5B-CF119700AE40}">
      <dgm:prSet/>
      <dgm:spPr/>
      <dgm:t>
        <a:bodyPr/>
        <a:lstStyle/>
        <a:p>
          <a:endParaRPr lang="en-US"/>
        </a:p>
      </dgm:t>
    </dgm:pt>
    <dgm:pt modelId="{8CCFD277-7219-4CB0-A98D-86FA68E63C3E}" type="sibTrans" cxnId="{45448287-6010-458A-9C5B-CF119700AE40}">
      <dgm:prSet/>
      <dgm:spPr/>
      <dgm:t>
        <a:bodyPr/>
        <a:lstStyle/>
        <a:p>
          <a:endParaRPr lang="en-US"/>
        </a:p>
      </dgm:t>
    </dgm:pt>
    <dgm:pt modelId="{B47E8CE5-7866-4189-90F5-56AEC9ED2DEA}">
      <dgm:prSet/>
      <dgm:spPr/>
      <dgm:t>
        <a:bodyPr/>
        <a:lstStyle/>
        <a:p>
          <a:pPr>
            <a:buNone/>
          </a:pPr>
          <a:r>
            <a:rPr lang="en-US" b="0" dirty="0"/>
            <a:t>missing `;`</a:t>
          </a:r>
        </a:p>
      </dgm:t>
    </dgm:pt>
    <dgm:pt modelId="{7026E8B1-D65D-4F4B-B995-288F1B4616DE}" type="parTrans" cxnId="{4958D0C4-F735-4418-8867-26DBC51003EE}">
      <dgm:prSet/>
      <dgm:spPr/>
      <dgm:t>
        <a:bodyPr/>
        <a:lstStyle/>
        <a:p>
          <a:endParaRPr lang="en-US"/>
        </a:p>
      </dgm:t>
    </dgm:pt>
    <dgm:pt modelId="{851CB8C0-0448-4A1B-8A41-8C156EC5460F}" type="sibTrans" cxnId="{4958D0C4-F735-4418-8867-26DBC51003EE}">
      <dgm:prSet/>
      <dgm:spPr/>
      <dgm:t>
        <a:bodyPr/>
        <a:lstStyle/>
        <a:p>
          <a:endParaRPr lang="en-US"/>
        </a:p>
      </dgm:t>
    </dgm:pt>
    <dgm:pt modelId="{0D5A4410-B797-45EB-9FD4-D95E0767DD0E}">
      <dgm:prSet/>
      <dgm:spPr/>
      <dgm:t>
        <a:bodyPr/>
        <a:lstStyle/>
        <a:p>
          <a:pPr>
            <a:buNone/>
          </a:pPr>
          <a:r>
            <a:rPr lang="en-US" b="0" dirty="0"/>
            <a:t>expecting unsaved changes to appear</a:t>
          </a:r>
        </a:p>
      </dgm:t>
    </dgm:pt>
    <dgm:pt modelId="{954B67FB-52A4-42B1-87DA-6C465D8A311C}" type="parTrans" cxnId="{775FBC96-BC8B-44EF-8F59-B09BC3D011A7}">
      <dgm:prSet/>
      <dgm:spPr/>
      <dgm:t>
        <a:bodyPr/>
        <a:lstStyle/>
        <a:p>
          <a:endParaRPr lang="en-US"/>
        </a:p>
      </dgm:t>
    </dgm:pt>
    <dgm:pt modelId="{147D7B2E-2772-4526-90ED-2407EE45D765}" type="sibTrans" cxnId="{775FBC96-BC8B-44EF-8F59-B09BC3D011A7}">
      <dgm:prSet/>
      <dgm:spPr/>
      <dgm:t>
        <a:bodyPr/>
        <a:lstStyle/>
        <a:p>
          <a:endParaRPr lang="en-US"/>
        </a:p>
      </dgm:t>
    </dgm:pt>
    <dgm:pt modelId="{815610DF-E2CE-4603-A638-CBCBF15392E2}">
      <dgm:prSet/>
      <dgm:spPr/>
      <dgm:t>
        <a:bodyPr/>
        <a:lstStyle/>
        <a:p>
          <a:pPr>
            <a:buNone/>
          </a:pPr>
          <a:r>
            <a:rPr lang="en-US" b="1" i="1" dirty="0"/>
            <a:t>➡️ “Check Connection First”</a:t>
          </a:r>
        </a:p>
      </dgm:t>
    </dgm:pt>
    <dgm:pt modelId="{F90C894A-BFA2-4646-9950-FABF3C958F5D}" type="parTrans" cxnId="{1A847CF1-5644-4F7C-B501-AC02F9479313}">
      <dgm:prSet/>
      <dgm:spPr/>
      <dgm:t>
        <a:bodyPr/>
        <a:lstStyle/>
        <a:p>
          <a:endParaRPr lang="en-US"/>
        </a:p>
      </dgm:t>
    </dgm:pt>
    <dgm:pt modelId="{51E5FC5A-FDCF-47BA-93FF-DD74E5C69096}" type="sibTrans" cxnId="{1A847CF1-5644-4F7C-B501-AC02F9479313}">
      <dgm:prSet/>
      <dgm:spPr/>
      <dgm:t>
        <a:bodyPr/>
        <a:lstStyle/>
        <a:p>
          <a:endParaRPr lang="en-US"/>
        </a:p>
      </dgm:t>
    </dgm:pt>
    <dgm:pt modelId="{14403591-D88D-4C90-9FC0-7AD6C8958F80}" type="pres">
      <dgm:prSet presAssocID="{D14E899A-4745-4D99-8703-420E2BFFDA65}" presName="linear" presStyleCnt="0">
        <dgm:presLayoutVars>
          <dgm:animLvl val="lvl"/>
          <dgm:resizeHandles val="exact"/>
        </dgm:presLayoutVars>
      </dgm:prSet>
      <dgm:spPr/>
    </dgm:pt>
    <dgm:pt modelId="{87EA05BC-42BE-4574-A0EC-DC5A3D344A6C}" type="pres">
      <dgm:prSet presAssocID="{2D995CFF-3841-44CB-A72F-F74E302D40F2}" presName="parentText" presStyleLbl="node1" presStyleIdx="0" presStyleCnt="7">
        <dgm:presLayoutVars>
          <dgm:chMax val="0"/>
          <dgm:bulletEnabled val="1"/>
        </dgm:presLayoutVars>
      </dgm:prSet>
      <dgm:spPr/>
    </dgm:pt>
    <dgm:pt modelId="{86212D7D-5329-4FA2-AB18-D7C95E628AC6}" type="pres">
      <dgm:prSet presAssocID="{C6EA68A9-C316-47AD-8851-064A9AD4BA98}" presName="spacer" presStyleCnt="0"/>
      <dgm:spPr/>
    </dgm:pt>
    <dgm:pt modelId="{46971796-1B42-47A7-99B9-2BC5B31C02F2}" type="pres">
      <dgm:prSet presAssocID="{89F37F94-41C6-4A19-9386-7D6D5D47C630}" presName="parentText" presStyleLbl="node1" presStyleIdx="1" presStyleCnt="7">
        <dgm:presLayoutVars>
          <dgm:chMax val="0"/>
          <dgm:bulletEnabled val="1"/>
        </dgm:presLayoutVars>
      </dgm:prSet>
      <dgm:spPr/>
    </dgm:pt>
    <dgm:pt modelId="{8BE05BEB-F35A-4C93-8135-2F1CE1643C5F}" type="pres">
      <dgm:prSet presAssocID="{457C52A1-D1D9-41DE-88A1-59E0245940C8}" presName="spacer" presStyleCnt="0"/>
      <dgm:spPr/>
    </dgm:pt>
    <dgm:pt modelId="{095DA75E-1675-4FDD-BCC5-7D6CE13F3283}" type="pres">
      <dgm:prSet presAssocID="{A64274B1-F4D8-4BB0-98F4-896C7408A0F3}" presName="parentText" presStyleLbl="node1" presStyleIdx="2" presStyleCnt="7">
        <dgm:presLayoutVars>
          <dgm:chMax val="0"/>
          <dgm:bulletEnabled val="1"/>
        </dgm:presLayoutVars>
      </dgm:prSet>
      <dgm:spPr/>
    </dgm:pt>
    <dgm:pt modelId="{CF98AC65-31AD-4528-8C6F-F162271E93B9}" type="pres">
      <dgm:prSet presAssocID="{5A2C2E26-7B6E-49E2-BB12-1DEC5BDE0A14}" presName="spacer" presStyleCnt="0"/>
      <dgm:spPr/>
    </dgm:pt>
    <dgm:pt modelId="{71832557-08D3-4177-9497-B8641E556A53}" type="pres">
      <dgm:prSet presAssocID="{DF830917-0AFF-479C-8C7C-D5BCC33DFEFE}" presName="parentText" presStyleLbl="node1" presStyleIdx="3" presStyleCnt="7">
        <dgm:presLayoutVars>
          <dgm:chMax val="0"/>
          <dgm:bulletEnabled val="1"/>
        </dgm:presLayoutVars>
      </dgm:prSet>
      <dgm:spPr/>
    </dgm:pt>
    <dgm:pt modelId="{5B380AB4-C56A-43E7-8DA9-B381C6B827F7}" type="pres">
      <dgm:prSet presAssocID="{8CCFD277-7219-4CB0-A98D-86FA68E63C3E}" presName="spacer" presStyleCnt="0"/>
      <dgm:spPr/>
    </dgm:pt>
    <dgm:pt modelId="{1E78A5E5-DC2A-4AF1-B98C-2086012D9913}" type="pres">
      <dgm:prSet presAssocID="{B47E8CE5-7866-4189-90F5-56AEC9ED2DEA}" presName="parentText" presStyleLbl="node1" presStyleIdx="4" presStyleCnt="7">
        <dgm:presLayoutVars>
          <dgm:chMax val="0"/>
          <dgm:bulletEnabled val="1"/>
        </dgm:presLayoutVars>
      </dgm:prSet>
      <dgm:spPr/>
    </dgm:pt>
    <dgm:pt modelId="{5507807C-D03B-4D36-BAB0-CE50EBE1E0C9}" type="pres">
      <dgm:prSet presAssocID="{851CB8C0-0448-4A1B-8A41-8C156EC5460F}" presName="spacer" presStyleCnt="0"/>
      <dgm:spPr/>
    </dgm:pt>
    <dgm:pt modelId="{A108F56C-014F-4099-8A5B-1F5432A64464}" type="pres">
      <dgm:prSet presAssocID="{0D5A4410-B797-45EB-9FD4-D95E0767DD0E}" presName="parentText" presStyleLbl="node1" presStyleIdx="5" presStyleCnt="7">
        <dgm:presLayoutVars>
          <dgm:chMax val="0"/>
          <dgm:bulletEnabled val="1"/>
        </dgm:presLayoutVars>
      </dgm:prSet>
      <dgm:spPr/>
    </dgm:pt>
    <dgm:pt modelId="{ABFF8506-F759-4C5D-832A-475246ABF561}" type="pres">
      <dgm:prSet presAssocID="{147D7B2E-2772-4526-90ED-2407EE45D765}" presName="spacer" presStyleCnt="0"/>
      <dgm:spPr/>
    </dgm:pt>
    <dgm:pt modelId="{E2318D45-D16A-4776-BAC5-BD35C4D10FD0}" type="pres">
      <dgm:prSet presAssocID="{815610DF-E2CE-4603-A638-CBCBF15392E2}" presName="parentText" presStyleLbl="node1" presStyleIdx="6" presStyleCnt="7">
        <dgm:presLayoutVars>
          <dgm:chMax val="0"/>
          <dgm:bulletEnabled val="1"/>
        </dgm:presLayoutVars>
      </dgm:prSet>
      <dgm:spPr/>
    </dgm:pt>
  </dgm:ptLst>
  <dgm:cxnLst>
    <dgm:cxn modelId="{CABAEE04-6EAD-4476-86CF-3F3193D84D63}" type="presOf" srcId="{2D995CFF-3841-44CB-A72F-F74E302D40F2}" destId="{87EA05BC-42BE-4574-A0EC-DC5A3D344A6C}" srcOrd="0" destOrd="0" presId="urn:microsoft.com/office/officeart/2005/8/layout/vList2"/>
    <dgm:cxn modelId="{5CCD5C25-1359-4A5B-995E-F6D144701664}" type="presOf" srcId="{A64274B1-F4D8-4BB0-98F4-896C7408A0F3}" destId="{095DA75E-1675-4FDD-BCC5-7D6CE13F3283}" srcOrd="0" destOrd="0" presId="urn:microsoft.com/office/officeart/2005/8/layout/vList2"/>
    <dgm:cxn modelId="{DD423064-8562-456C-B12B-B38E8581041A}" type="presOf" srcId="{DF830917-0AFF-479C-8C7C-D5BCC33DFEFE}" destId="{71832557-08D3-4177-9497-B8641E556A53}" srcOrd="0" destOrd="0" presId="urn:microsoft.com/office/officeart/2005/8/layout/vList2"/>
    <dgm:cxn modelId="{E32A566D-6C2C-4006-AB7D-AAA6D5D6649B}" type="presOf" srcId="{0D5A4410-B797-45EB-9FD4-D95E0767DD0E}" destId="{A108F56C-014F-4099-8A5B-1F5432A64464}" srcOrd="0" destOrd="0" presId="urn:microsoft.com/office/officeart/2005/8/layout/vList2"/>
    <dgm:cxn modelId="{3239ED80-0EF0-443D-B8AF-3D095561E4AA}" type="presOf" srcId="{D14E899A-4745-4D99-8703-420E2BFFDA65}" destId="{14403591-D88D-4C90-9FC0-7AD6C8958F80}" srcOrd="0" destOrd="0" presId="urn:microsoft.com/office/officeart/2005/8/layout/vList2"/>
    <dgm:cxn modelId="{45448287-6010-458A-9C5B-CF119700AE40}" srcId="{D14E899A-4745-4D99-8703-420E2BFFDA65}" destId="{DF830917-0AFF-479C-8C7C-D5BCC33DFEFE}" srcOrd="3" destOrd="0" parTransId="{43618ECE-0C6B-4926-9D78-B38CD048E2DC}" sibTransId="{8CCFD277-7219-4CB0-A98D-86FA68E63C3E}"/>
    <dgm:cxn modelId="{9BC6168B-862A-4B56-9781-6D92CED048B6}" type="presOf" srcId="{B47E8CE5-7866-4189-90F5-56AEC9ED2DEA}" destId="{1E78A5E5-DC2A-4AF1-B98C-2086012D9913}" srcOrd="0" destOrd="0" presId="urn:microsoft.com/office/officeart/2005/8/layout/vList2"/>
    <dgm:cxn modelId="{775FBC96-BC8B-44EF-8F59-B09BC3D011A7}" srcId="{D14E899A-4745-4D99-8703-420E2BFFDA65}" destId="{0D5A4410-B797-45EB-9FD4-D95E0767DD0E}" srcOrd="5" destOrd="0" parTransId="{954B67FB-52A4-42B1-87DA-6C465D8A311C}" sibTransId="{147D7B2E-2772-4526-90ED-2407EE45D765}"/>
    <dgm:cxn modelId="{C4E50FC0-6846-4B59-9E44-229A31E45617}" srcId="{D14E899A-4745-4D99-8703-420E2BFFDA65}" destId="{89F37F94-41C6-4A19-9386-7D6D5D47C630}" srcOrd="1" destOrd="0" parTransId="{0B308737-3D8C-458D-82A8-C8F359BFC7B1}" sibTransId="{457C52A1-D1D9-41DE-88A1-59E0245940C8}"/>
    <dgm:cxn modelId="{4958D0C4-F735-4418-8867-26DBC51003EE}" srcId="{D14E899A-4745-4D99-8703-420E2BFFDA65}" destId="{B47E8CE5-7866-4189-90F5-56AEC9ED2DEA}" srcOrd="4" destOrd="0" parTransId="{7026E8B1-D65D-4F4B-B995-288F1B4616DE}" sibTransId="{851CB8C0-0448-4A1B-8A41-8C156EC5460F}"/>
    <dgm:cxn modelId="{F012A1C7-3C30-47E3-84E1-2EF5FF38B754}" type="presOf" srcId="{89F37F94-41C6-4A19-9386-7D6D5D47C630}" destId="{46971796-1B42-47A7-99B9-2BC5B31C02F2}" srcOrd="0" destOrd="0" presId="urn:microsoft.com/office/officeart/2005/8/layout/vList2"/>
    <dgm:cxn modelId="{270FB4D0-3E06-4F62-844F-613DFB4CCC9E}" srcId="{D14E899A-4745-4D99-8703-420E2BFFDA65}" destId="{A64274B1-F4D8-4BB0-98F4-896C7408A0F3}" srcOrd="2" destOrd="0" parTransId="{F4812753-8E21-437E-91E7-23B4B6720040}" sibTransId="{5A2C2E26-7B6E-49E2-BB12-1DEC5BDE0A14}"/>
    <dgm:cxn modelId="{A8F453E6-A4D0-40B1-A2C4-A730C8713A16}" type="presOf" srcId="{815610DF-E2CE-4603-A638-CBCBF15392E2}" destId="{E2318D45-D16A-4776-BAC5-BD35C4D10FD0}" srcOrd="0" destOrd="0" presId="urn:microsoft.com/office/officeart/2005/8/layout/vList2"/>
    <dgm:cxn modelId="{1A847CF1-5644-4F7C-B501-AC02F9479313}" srcId="{D14E899A-4745-4D99-8703-420E2BFFDA65}" destId="{815610DF-E2CE-4603-A638-CBCBF15392E2}" srcOrd="6" destOrd="0" parTransId="{F90C894A-BFA2-4646-9950-FABF3C958F5D}" sibTransId="{51E5FC5A-FDCF-47BA-93FF-DD74E5C69096}"/>
    <dgm:cxn modelId="{E5111FFB-3430-4683-8667-09E81644A8CC}" srcId="{D14E899A-4745-4D99-8703-420E2BFFDA65}" destId="{2D995CFF-3841-44CB-A72F-F74E302D40F2}" srcOrd="0" destOrd="0" parTransId="{7B2DEC3C-926A-4E9D-8537-C639E282BDFC}" sibTransId="{C6EA68A9-C316-47AD-8851-064A9AD4BA98}"/>
    <dgm:cxn modelId="{577B1322-1D37-45DC-AD5E-226A9455E4FA}" type="presParOf" srcId="{14403591-D88D-4C90-9FC0-7AD6C8958F80}" destId="{87EA05BC-42BE-4574-A0EC-DC5A3D344A6C}" srcOrd="0" destOrd="0" presId="urn:microsoft.com/office/officeart/2005/8/layout/vList2"/>
    <dgm:cxn modelId="{9658A0EC-2702-4BE2-992C-C2282D240102}" type="presParOf" srcId="{14403591-D88D-4C90-9FC0-7AD6C8958F80}" destId="{86212D7D-5329-4FA2-AB18-D7C95E628AC6}" srcOrd="1" destOrd="0" presId="urn:microsoft.com/office/officeart/2005/8/layout/vList2"/>
    <dgm:cxn modelId="{150FA7A2-7C3A-465F-A094-D31F7E6DB653}" type="presParOf" srcId="{14403591-D88D-4C90-9FC0-7AD6C8958F80}" destId="{46971796-1B42-47A7-99B9-2BC5B31C02F2}" srcOrd="2" destOrd="0" presId="urn:microsoft.com/office/officeart/2005/8/layout/vList2"/>
    <dgm:cxn modelId="{6C44DE3F-C311-4D4B-9193-CD46AA19F2C8}" type="presParOf" srcId="{14403591-D88D-4C90-9FC0-7AD6C8958F80}" destId="{8BE05BEB-F35A-4C93-8135-2F1CE1643C5F}" srcOrd="3" destOrd="0" presId="urn:microsoft.com/office/officeart/2005/8/layout/vList2"/>
    <dgm:cxn modelId="{89E65BAA-AB15-4A24-87B3-228807EA3A6C}" type="presParOf" srcId="{14403591-D88D-4C90-9FC0-7AD6C8958F80}" destId="{095DA75E-1675-4FDD-BCC5-7D6CE13F3283}" srcOrd="4" destOrd="0" presId="urn:microsoft.com/office/officeart/2005/8/layout/vList2"/>
    <dgm:cxn modelId="{70F47692-259C-4D82-8386-B8F7303FBCE6}" type="presParOf" srcId="{14403591-D88D-4C90-9FC0-7AD6C8958F80}" destId="{CF98AC65-31AD-4528-8C6F-F162271E93B9}" srcOrd="5" destOrd="0" presId="urn:microsoft.com/office/officeart/2005/8/layout/vList2"/>
    <dgm:cxn modelId="{096418EF-81DE-4E24-85D9-09631E7FEC09}" type="presParOf" srcId="{14403591-D88D-4C90-9FC0-7AD6C8958F80}" destId="{71832557-08D3-4177-9497-B8641E556A53}" srcOrd="6" destOrd="0" presId="urn:microsoft.com/office/officeart/2005/8/layout/vList2"/>
    <dgm:cxn modelId="{BFBBD3A1-55E5-48F6-BD9A-3BCB5EE80CF0}" type="presParOf" srcId="{14403591-D88D-4C90-9FC0-7AD6C8958F80}" destId="{5B380AB4-C56A-43E7-8DA9-B381C6B827F7}" srcOrd="7" destOrd="0" presId="urn:microsoft.com/office/officeart/2005/8/layout/vList2"/>
    <dgm:cxn modelId="{9AF5CED9-BFD8-4AA3-A6AB-01122D4CB82A}" type="presParOf" srcId="{14403591-D88D-4C90-9FC0-7AD6C8958F80}" destId="{1E78A5E5-DC2A-4AF1-B98C-2086012D9913}" srcOrd="8" destOrd="0" presId="urn:microsoft.com/office/officeart/2005/8/layout/vList2"/>
    <dgm:cxn modelId="{484F011F-FFCB-4267-BD0D-02EBF9225485}" type="presParOf" srcId="{14403591-D88D-4C90-9FC0-7AD6C8958F80}" destId="{5507807C-D03B-4D36-BAB0-CE50EBE1E0C9}" srcOrd="9" destOrd="0" presId="urn:microsoft.com/office/officeart/2005/8/layout/vList2"/>
    <dgm:cxn modelId="{519BE8D8-6002-49FA-9043-68F4F4C06F17}" type="presParOf" srcId="{14403591-D88D-4C90-9FC0-7AD6C8958F80}" destId="{A108F56C-014F-4099-8A5B-1F5432A64464}" srcOrd="10" destOrd="0" presId="urn:microsoft.com/office/officeart/2005/8/layout/vList2"/>
    <dgm:cxn modelId="{5DE9335F-9FEC-454D-9419-441C96B290B7}" type="presParOf" srcId="{14403591-D88D-4C90-9FC0-7AD6C8958F80}" destId="{ABFF8506-F759-4C5D-832A-475246ABF561}" srcOrd="11" destOrd="0" presId="urn:microsoft.com/office/officeart/2005/8/layout/vList2"/>
    <dgm:cxn modelId="{9E8C467C-578D-4AF2-ACBC-205F62365352}" type="presParOf" srcId="{14403591-D88D-4C90-9FC0-7AD6C8958F80}" destId="{E2318D45-D16A-4776-BAC5-BD35C4D10FD0}"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3E2CAE-3280-4BC8-BDB5-C50DCE54EAEB}">
      <dsp:nvSpPr>
        <dsp:cNvPr id="0" name=""/>
        <dsp:cNvSpPr/>
      </dsp:nvSpPr>
      <dsp:spPr>
        <a:xfrm>
          <a:off x="-4627691" y="-709478"/>
          <a:ext cx="5512439" cy="5512439"/>
        </a:xfrm>
        <a:prstGeom prst="blockArc">
          <a:avLst>
            <a:gd name="adj1" fmla="val 18900000"/>
            <a:gd name="adj2" fmla="val 2700000"/>
            <a:gd name="adj3" fmla="val 392"/>
          </a:avLst>
        </a:prstGeom>
        <a:noFill/>
        <a:ln w="19050"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D684416-84E1-4B5E-B6BF-E47859EF49E8}">
      <dsp:nvSpPr>
        <dsp:cNvPr id="0" name=""/>
        <dsp:cNvSpPr/>
      </dsp:nvSpPr>
      <dsp:spPr>
        <a:xfrm>
          <a:off x="387262" y="255760"/>
          <a:ext cx="6770685" cy="511848"/>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280"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0" kern="1200"/>
            <a:t>one stylesheet is connected</a:t>
          </a:r>
          <a:endParaRPr lang="en-US" sz="2700" kern="1200" dirty="0"/>
        </a:p>
      </dsp:txBody>
      <dsp:txXfrm>
        <a:off x="387262" y="255760"/>
        <a:ext cx="6770685" cy="511848"/>
      </dsp:txXfrm>
    </dsp:sp>
    <dsp:sp modelId="{4A2F9709-4120-45FC-A605-79A267518B8D}">
      <dsp:nvSpPr>
        <dsp:cNvPr id="0" name=""/>
        <dsp:cNvSpPr/>
      </dsp:nvSpPr>
      <dsp:spPr>
        <a:xfrm>
          <a:off x="67356" y="191779"/>
          <a:ext cx="639811" cy="639811"/>
        </a:xfrm>
        <a:prstGeom prst="ellipse">
          <a:avLst/>
        </a:prstGeom>
        <a:solidFill>
          <a:schemeClr val="lt1">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875801-90CD-4883-BFC6-3E031D0F9920}">
      <dsp:nvSpPr>
        <dsp:cNvPr id="0" name=""/>
        <dsp:cNvSpPr/>
      </dsp:nvSpPr>
      <dsp:spPr>
        <a:xfrm>
          <a:off x="754038" y="1023288"/>
          <a:ext cx="6403909" cy="511848"/>
        </a:xfrm>
        <a:prstGeom prst="rect">
          <a:avLst/>
        </a:prstGeom>
        <a:solidFill>
          <a:schemeClr val="accent5">
            <a:hueOff val="-2474057"/>
            <a:satOff val="8986"/>
            <a:lumOff val="83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280"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0" kern="1200" dirty="0"/>
            <a:t>one rule visibly changes the page</a:t>
          </a:r>
        </a:p>
      </dsp:txBody>
      <dsp:txXfrm>
        <a:off x="754038" y="1023288"/>
        <a:ext cx="6403909" cy="511848"/>
      </dsp:txXfrm>
    </dsp:sp>
    <dsp:sp modelId="{A482C8F3-2A5B-41F3-97DC-FF34313F4785}">
      <dsp:nvSpPr>
        <dsp:cNvPr id="0" name=""/>
        <dsp:cNvSpPr/>
      </dsp:nvSpPr>
      <dsp:spPr>
        <a:xfrm>
          <a:off x="434132" y="959307"/>
          <a:ext cx="639811" cy="639811"/>
        </a:xfrm>
        <a:prstGeom prst="ellipse">
          <a:avLst/>
        </a:prstGeom>
        <a:solidFill>
          <a:schemeClr val="lt1">
            <a:hueOff val="0"/>
            <a:satOff val="0"/>
            <a:lumOff val="0"/>
            <a:alphaOff val="0"/>
          </a:schemeClr>
        </a:solidFill>
        <a:ln w="19050" cap="rnd" cmpd="sng" algn="ctr">
          <a:solidFill>
            <a:schemeClr val="accent5">
              <a:hueOff val="-2474057"/>
              <a:satOff val="8986"/>
              <a:lumOff val="834"/>
              <a:alphaOff val="0"/>
            </a:schemeClr>
          </a:solidFill>
          <a:prstDash val="solid"/>
        </a:ln>
        <a:effectLst/>
      </dsp:spPr>
      <dsp:style>
        <a:lnRef idx="2">
          <a:scrgbClr r="0" g="0" b="0"/>
        </a:lnRef>
        <a:fillRef idx="1">
          <a:scrgbClr r="0" g="0" b="0"/>
        </a:fillRef>
        <a:effectRef idx="0">
          <a:scrgbClr r="0" g="0" b="0"/>
        </a:effectRef>
        <a:fontRef idx="minor"/>
      </dsp:style>
    </dsp:sp>
    <dsp:sp modelId="{ABE5439D-2E97-4AC7-80B4-4ABD3776FA30}">
      <dsp:nvSpPr>
        <dsp:cNvPr id="0" name=""/>
        <dsp:cNvSpPr/>
      </dsp:nvSpPr>
      <dsp:spPr>
        <a:xfrm>
          <a:off x="866609" y="1790816"/>
          <a:ext cx="6291338" cy="511848"/>
        </a:xfrm>
        <a:prstGeom prst="rect">
          <a:avLst/>
        </a:prstGeom>
        <a:solidFill>
          <a:schemeClr val="accent5">
            <a:hueOff val="-4948115"/>
            <a:satOff val="17972"/>
            <a:lumOff val="166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280"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0" kern="1200" dirty="0"/>
            <a:t>you can name the selector</a:t>
          </a:r>
        </a:p>
      </dsp:txBody>
      <dsp:txXfrm>
        <a:off x="866609" y="1790816"/>
        <a:ext cx="6291338" cy="511848"/>
      </dsp:txXfrm>
    </dsp:sp>
    <dsp:sp modelId="{79E2C693-1D06-4CC6-B0E3-ADF65D7F5A34}">
      <dsp:nvSpPr>
        <dsp:cNvPr id="0" name=""/>
        <dsp:cNvSpPr/>
      </dsp:nvSpPr>
      <dsp:spPr>
        <a:xfrm>
          <a:off x="546703" y="1726835"/>
          <a:ext cx="639811" cy="639811"/>
        </a:xfrm>
        <a:prstGeom prst="ellipse">
          <a:avLst/>
        </a:prstGeom>
        <a:solidFill>
          <a:schemeClr val="lt1">
            <a:hueOff val="0"/>
            <a:satOff val="0"/>
            <a:lumOff val="0"/>
            <a:alphaOff val="0"/>
          </a:schemeClr>
        </a:solidFill>
        <a:ln w="19050" cap="rnd" cmpd="sng" algn="ctr">
          <a:solidFill>
            <a:schemeClr val="accent5">
              <a:hueOff val="-4948115"/>
              <a:satOff val="17972"/>
              <a:lumOff val="1667"/>
              <a:alphaOff val="0"/>
            </a:schemeClr>
          </a:solidFill>
          <a:prstDash val="solid"/>
        </a:ln>
        <a:effectLst/>
      </dsp:spPr>
      <dsp:style>
        <a:lnRef idx="2">
          <a:scrgbClr r="0" g="0" b="0"/>
        </a:lnRef>
        <a:fillRef idx="1">
          <a:scrgbClr r="0" g="0" b="0"/>
        </a:fillRef>
        <a:effectRef idx="0">
          <a:scrgbClr r="0" g="0" b="0"/>
        </a:effectRef>
        <a:fontRef idx="minor"/>
      </dsp:style>
    </dsp:sp>
    <dsp:sp modelId="{1E1D122F-2C66-4571-AB45-43689ECBC5D2}">
      <dsp:nvSpPr>
        <dsp:cNvPr id="0" name=""/>
        <dsp:cNvSpPr/>
      </dsp:nvSpPr>
      <dsp:spPr>
        <a:xfrm>
          <a:off x="754038" y="2558344"/>
          <a:ext cx="6403909" cy="511848"/>
        </a:xfrm>
        <a:prstGeom prst="rect">
          <a:avLst/>
        </a:prstGeom>
        <a:solidFill>
          <a:schemeClr val="accent5">
            <a:hueOff val="-7422172"/>
            <a:satOff val="26958"/>
            <a:lumOff val="250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280"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0" kern="1200" dirty="0"/>
            <a:t>you can name one property and value</a:t>
          </a:r>
        </a:p>
      </dsp:txBody>
      <dsp:txXfrm>
        <a:off x="754038" y="2558344"/>
        <a:ext cx="6403909" cy="511848"/>
      </dsp:txXfrm>
    </dsp:sp>
    <dsp:sp modelId="{445266C9-9761-4DB4-B0B7-BDF29175F0F1}">
      <dsp:nvSpPr>
        <dsp:cNvPr id="0" name=""/>
        <dsp:cNvSpPr/>
      </dsp:nvSpPr>
      <dsp:spPr>
        <a:xfrm>
          <a:off x="434132" y="2494363"/>
          <a:ext cx="639811" cy="639811"/>
        </a:xfrm>
        <a:prstGeom prst="ellipse">
          <a:avLst/>
        </a:prstGeom>
        <a:solidFill>
          <a:schemeClr val="lt1">
            <a:hueOff val="0"/>
            <a:satOff val="0"/>
            <a:lumOff val="0"/>
            <a:alphaOff val="0"/>
          </a:schemeClr>
        </a:solidFill>
        <a:ln w="19050" cap="rnd" cmpd="sng" algn="ctr">
          <a:solidFill>
            <a:schemeClr val="accent5">
              <a:hueOff val="-7422172"/>
              <a:satOff val="26958"/>
              <a:lumOff val="2501"/>
              <a:alphaOff val="0"/>
            </a:schemeClr>
          </a:solidFill>
          <a:prstDash val="solid"/>
        </a:ln>
        <a:effectLst/>
      </dsp:spPr>
      <dsp:style>
        <a:lnRef idx="2">
          <a:scrgbClr r="0" g="0" b="0"/>
        </a:lnRef>
        <a:fillRef idx="1">
          <a:scrgbClr r="0" g="0" b="0"/>
        </a:fillRef>
        <a:effectRef idx="0">
          <a:scrgbClr r="0" g="0" b="0"/>
        </a:effectRef>
        <a:fontRef idx="minor"/>
      </dsp:style>
    </dsp:sp>
    <dsp:sp modelId="{E8CF8075-7298-4144-891C-7FAA3E441553}">
      <dsp:nvSpPr>
        <dsp:cNvPr id="0" name=""/>
        <dsp:cNvSpPr/>
      </dsp:nvSpPr>
      <dsp:spPr>
        <a:xfrm>
          <a:off x="387262" y="3325872"/>
          <a:ext cx="6770685" cy="511848"/>
        </a:xfrm>
        <a:prstGeom prst="rect">
          <a:avLst/>
        </a:prstGeom>
        <a:solidFill>
          <a:schemeClr val="accent5">
            <a:hueOff val="-9896230"/>
            <a:satOff val="35944"/>
            <a:lumOff val="33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280" tIns="68580" rIns="68580" bIns="68580" numCol="1" spcCol="1270" anchor="ctr" anchorCtr="0">
          <a:noAutofit/>
        </a:bodyPr>
        <a:lstStyle/>
        <a:p>
          <a:pPr marL="0" lvl="0" indent="0" algn="l" defTabSz="1200150">
            <a:lnSpc>
              <a:spcPct val="90000"/>
            </a:lnSpc>
            <a:spcBef>
              <a:spcPct val="0"/>
            </a:spcBef>
            <a:spcAft>
              <a:spcPct val="35000"/>
            </a:spcAft>
            <a:buNone/>
          </a:pPr>
          <a:r>
            <a:rPr lang="en-US" sz="2700" b="0" kern="1200"/>
            <a:t>the page remains readable</a:t>
          </a:r>
          <a:endParaRPr lang="en-US" sz="2700" b="0" kern="1200" dirty="0"/>
        </a:p>
      </dsp:txBody>
      <dsp:txXfrm>
        <a:off x="387262" y="3325872"/>
        <a:ext cx="6770685" cy="511848"/>
      </dsp:txXfrm>
    </dsp:sp>
    <dsp:sp modelId="{02B92BED-707B-4B42-AD4B-330B75E12C61}">
      <dsp:nvSpPr>
        <dsp:cNvPr id="0" name=""/>
        <dsp:cNvSpPr/>
      </dsp:nvSpPr>
      <dsp:spPr>
        <a:xfrm>
          <a:off x="67356" y="3261891"/>
          <a:ext cx="639811" cy="639811"/>
        </a:xfrm>
        <a:prstGeom prst="ellipse">
          <a:avLst/>
        </a:prstGeom>
        <a:solidFill>
          <a:schemeClr val="lt1">
            <a:hueOff val="0"/>
            <a:satOff val="0"/>
            <a:lumOff val="0"/>
            <a:alphaOff val="0"/>
          </a:schemeClr>
        </a:solidFill>
        <a:ln w="19050" cap="rnd" cmpd="sng" algn="ctr">
          <a:solidFill>
            <a:schemeClr val="accent5">
              <a:hueOff val="-9896230"/>
              <a:satOff val="35944"/>
              <a:lumOff val="333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EA05BC-42BE-4574-A0EC-DC5A3D344A6C}">
      <dsp:nvSpPr>
        <dsp:cNvPr id="0" name=""/>
        <dsp:cNvSpPr/>
      </dsp:nvSpPr>
      <dsp:spPr>
        <a:xfrm>
          <a:off x="0" y="250796"/>
          <a:ext cx="5019610" cy="563062"/>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kern="1200" dirty="0"/>
            <a:t>stylesheet not linked</a:t>
          </a:r>
          <a:endParaRPr lang="en-US" sz="2200" kern="1200" dirty="0"/>
        </a:p>
      </dsp:txBody>
      <dsp:txXfrm>
        <a:off x="27486" y="278282"/>
        <a:ext cx="4964638" cy="508090"/>
      </dsp:txXfrm>
    </dsp:sp>
    <dsp:sp modelId="{46971796-1B42-47A7-99B9-2BC5B31C02F2}">
      <dsp:nvSpPr>
        <dsp:cNvPr id="0" name=""/>
        <dsp:cNvSpPr/>
      </dsp:nvSpPr>
      <dsp:spPr>
        <a:xfrm>
          <a:off x="0" y="877218"/>
          <a:ext cx="5019610" cy="563062"/>
        </a:xfrm>
        <a:prstGeom prst="roundRect">
          <a:avLst/>
        </a:prstGeom>
        <a:gradFill rotWithShape="0">
          <a:gsLst>
            <a:gs pos="0">
              <a:schemeClr val="accent2">
                <a:hueOff val="-1649372"/>
                <a:satOff val="5991"/>
                <a:lumOff val="556"/>
                <a:alphaOff val="0"/>
                <a:tint val="96000"/>
                <a:lumMod val="100000"/>
              </a:schemeClr>
            </a:gs>
            <a:gs pos="78000">
              <a:schemeClr val="accent2">
                <a:hueOff val="-1649372"/>
                <a:satOff val="5991"/>
                <a:lumOff val="556"/>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kern="1200" dirty="0"/>
            <a:t>wrong file name</a:t>
          </a:r>
        </a:p>
      </dsp:txBody>
      <dsp:txXfrm>
        <a:off x="27486" y="904704"/>
        <a:ext cx="4964638" cy="508090"/>
      </dsp:txXfrm>
    </dsp:sp>
    <dsp:sp modelId="{095DA75E-1675-4FDD-BCC5-7D6CE13F3283}">
      <dsp:nvSpPr>
        <dsp:cNvPr id="0" name=""/>
        <dsp:cNvSpPr/>
      </dsp:nvSpPr>
      <dsp:spPr>
        <a:xfrm>
          <a:off x="0" y="1503641"/>
          <a:ext cx="5019610" cy="563062"/>
        </a:xfrm>
        <a:prstGeom prst="roundRect">
          <a:avLst/>
        </a:prstGeom>
        <a:gradFill rotWithShape="0">
          <a:gsLst>
            <a:gs pos="0">
              <a:schemeClr val="accent2">
                <a:hueOff val="-3298743"/>
                <a:satOff val="11981"/>
                <a:lumOff val="1112"/>
                <a:alphaOff val="0"/>
                <a:tint val="96000"/>
                <a:lumMod val="100000"/>
              </a:schemeClr>
            </a:gs>
            <a:gs pos="78000">
              <a:schemeClr val="accent2">
                <a:hueOff val="-3298743"/>
                <a:satOff val="11981"/>
                <a:lumOff val="1112"/>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kern="1200" dirty="0"/>
            <a:t>missing `{ }`</a:t>
          </a:r>
        </a:p>
      </dsp:txBody>
      <dsp:txXfrm>
        <a:off x="27486" y="1531127"/>
        <a:ext cx="4964638" cy="508090"/>
      </dsp:txXfrm>
    </dsp:sp>
    <dsp:sp modelId="{71832557-08D3-4177-9497-B8641E556A53}">
      <dsp:nvSpPr>
        <dsp:cNvPr id="0" name=""/>
        <dsp:cNvSpPr/>
      </dsp:nvSpPr>
      <dsp:spPr>
        <a:xfrm>
          <a:off x="0" y="2130063"/>
          <a:ext cx="5019610" cy="563062"/>
        </a:xfrm>
        <a:prstGeom prst="roundRect">
          <a:avLst/>
        </a:prstGeom>
        <a:gradFill rotWithShape="0">
          <a:gsLst>
            <a:gs pos="0">
              <a:schemeClr val="accent2">
                <a:hueOff val="-4948115"/>
                <a:satOff val="17972"/>
                <a:lumOff val="1667"/>
                <a:alphaOff val="0"/>
                <a:tint val="96000"/>
                <a:lumMod val="100000"/>
              </a:schemeClr>
            </a:gs>
            <a:gs pos="78000">
              <a:schemeClr val="accent2">
                <a:hueOff val="-4948115"/>
                <a:satOff val="17972"/>
                <a:lumOff val="1667"/>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kern="1200" dirty="0"/>
            <a:t>missing `:`</a:t>
          </a:r>
        </a:p>
      </dsp:txBody>
      <dsp:txXfrm>
        <a:off x="27486" y="2157549"/>
        <a:ext cx="4964638" cy="508090"/>
      </dsp:txXfrm>
    </dsp:sp>
    <dsp:sp modelId="{1E78A5E5-DC2A-4AF1-B98C-2086012D9913}">
      <dsp:nvSpPr>
        <dsp:cNvPr id="0" name=""/>
        <dsp:cNvSpPr/>
      </dsp:nvSpPr>
      <dsp:spPr>
        <a:xfrm>
          <a:off x="0" y="2756486"/>
          <a:ext cx="5019610" cy="563062"/>
        </a:xfrm>
        <a:prstGeom prst="roundRect">
          <a:avLst/>
        </a:prstGeom>
        <a:gradFill rotWithShape="0">
          <a:gsLst>
            <a:gs pos="0">
              <a:schemeClr val="accent2">
                <a:hueOff val="-6597487"/>
                <a:satOff val="23963"/>
                <a:lumOff val="2223"/>
                <a:alphaOff val="0"/>
                <a:tint val="96000"/>
                <a:lumMod val="100000"/>
              </a:schemeClr>
            </a:gs>
            <a:gs pos="78000">
              <a:schemeClr val="accent2">
                <a:hueOff val="-6597487"/>
                <a:satOff val="23963"/>
                <a:lumOff val="2223"/>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kern="1200" dirty="0"/>
            <a:t>missing `;`</a:t>
          </a:r>
        </a:p>
      </dsp:txBody>
      <dsp:txXfrm>
        <a:off x="27486" y="2783972"/>
        <a:ext cx="4964638" cy="508090"/>
      </dsp:txXfrm>
    </dsp:sp>
    <dsp:sp modelId="{A108F56C-014F-4099-8A5B-1F5432A64464}">
      <dsp:nvSpPr>
        <dsp:cNvPr id="0" name=""/>
        <dsp:cNvSpPr/>
      </dsp:nvSpPr>
      <dsp:spPr>
        <a:xfrm>
          <a:off x="0" y="3382908"/>
          <a:ext cx="5019610" cy="563062"/>
        </a:xfrm>
        <a:prstGeom prst="roundRect">
          <a:avLst/>
        </a:prstGeom>
        <a:gradFill rotWithShape="0">
          <a:gsLst>
            <a:gs pos="0">
              <a:schemeClr val="accent2">
                <a:hueOff val="-8246858"/>
                <a:satOff val="29953"/>
                <a:lumOff val="2779"/>
                <a:alphaOff val="0"/>
                <a:tint val="96000"/>
                <a:lumMod val="100000"/>
              </a:schemeClr>
            </a:gs>
            <a:gs pos="78000">
              <a:schemeClr val="accent2">
                <a:hueOff val="-8246858"/>
                <a:satOff val="29953"/>
                <a:lumOff val="2779"/>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kern="1200" dirty="0"/>
            <a:t>expecting unsaved changes to appear</a:t>
          </a:r>
        </a:p>
      </dsp:txBody>
      <dsp:txXfrm>
        <a:off x="27486" y="3410394"/>
        <a:ext cx="4964638" cy="508090"/>
      </dsp:txXfrm>
    </dsp:sp>
    <dsp:sp modelId="{E2318D45-D16A-4776-BAC5-BD35C4D10FD0}">
      <dsp:nvSpPr>
        <dsp:cNvPr id="0" name=""/>
        <dsp:cNvSpPr/>
      </dsp:nvSpPr>
      <dsp:spPr>
        <a:xfrm>
          <a:off x="0" y="4009331"/>
          <a:ext cx="5019610" cy="563062"/>
        </a:xfrm>
        <a:prstGeom prst="roundRect">
          <a:avLst/>
        </a:prstGeom>
        <a:gradFill rotWithShape="0">
          <a:gsLst>
            <a:gs pos="0">
              <a:schemeClr val="accent2">
                <a:hueOff val="-9896230"/>
                <a:satOff val="35944"/>
                <a:lumOff val="3335"/>
                <a:alphaOff val="0"/>
                <a:tint val="96000"/>
                <a:lumMod val="100000"/>
              </a:schemeClr>
            </a:gs>
            <a:gs pos="78000">
              <a:schemeClr val="accent2">
                <a:hueOff val="-9896230"/>
                <a:satOff val="35944"/>
                <a:lumOff val="3335"/>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i="1" kern="1200" dirty="0"/>
            <a:t>➡️ “Check Connection First”</a:t>
          </a:r>
        </a:p>
      </dsp:txBody>
      <dsp:txXfrm>
        <a:off x="27486" y="4036817"/>
        <a:ext cx="4964638" cy="50809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59AF9F-1092-690D-006F-EBCE2C96B716}"/>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a:extLst>
              <a:ext uri="{FF2B5EF4-FFF2-40B4-BE49-F238E27FC236}">
                <a16:creationId xmlns:a16="http://schemas.microsoft.com/office/drawing/2014/main" id="{21FC0900-FCC2-2A2A-613C-A277F4B7120F}"/>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64943E5A-6629-4B53-8BAD-0FC37077EB14}" type="datetimeFigureOut">
              <a:rPr lang="en-US" smtClean="0"/>
              <a:t>6/28/2026</a:t>
            </a:fld>
            <a:endParaRPr lang="en-US"/>
          </a:p>
        </p:txBody>
      </p:sp>
      <p:sp>
        <p:nvSpPr>
          <p:cNvPr id="4" name="Footer Placeholder 3">
            <a:extLst>
              <a:ext uri="{FF2B5EF4-FFF2-40B4-BE49-F238E27FC236}">
                <a16:creationId xmlns:a16="http://schemas.microsoft.com/office/drawing/2014/main" id="{6A2D7F8D-A102-3CF3-78CD-2CA4C36115D1}"/>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4AD03618-FB8B-BA92-AF2F-43138FFAD960}"/>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9E905D54-93E9-4845-A874-0CB2F7E46362}" type="slidenum">
              <a:rPr lang="en-US" smtClean="0"/>
              <a:t>‹#›</a:t>
            </a:fld>
            <a:endParaRPr lang="en-US"/>
          </a:p>
        </p:txBody>
      </p:sp>
    </p:spTree>
    <p:extLst>
      <p:ext uri="{BB962C8B-B14F-4D97-AF65-F5344CB8AC3E}">
        <p14:creationId xmlns:p14="http://schemas.microsoft.com/office/powerpoint/2010/main" val="925368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E3382475-516A-409A-944E-F435F3DFCCF2}" type="datetimeFigureOut">
              <a:rPr lang="en-US" smtClean="0"/>
              <a:t>6/28/2026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916ACA2-47E6-42D2-BEC8-EDC49A1A9FA1}" type="slidenum">
              <a:rPr lang="en-US" smtClean="0"/>
              <a:t>‹#›</a:t>
            </a:fld>
            <a:endParaRPr lang="en-US"/>
          </a:p>
        </p:txBody>
      </p:sp>
    </p:spTree>
    <p:extLst>
      <p:ext uri="{BB962C8B-B14F-4D97-AF65-F5344CB8AC3E}">
        <p14:creationId xmlns:p14="http://schemas.microsoft.com/office/powerpoint/2010/main" val="340622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1</a:t>
            </a:fld>
            <a:endParaRPr lang="en-US"/>
          </a:p>
        </p:txBody>
      </p:sp>
    </p:spTree>
    <p:extLst>
      <p:ext uri="{BB962C8B-B14F-4D97-AF65-F5344CB8AC3E}">
        <p14:creationId xmlns:p14="http://schemas.microsoft.com/office/powerpoint/2010/main" val="3005234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Frame Week 2 as continuation, not restart.</a:t>
            </a:r>
          </a:p>
          <a:p>
            <a:r>
              <a:rPr lang="en-US" sz="1300" dirty="0"/>
              <a:t>Use the phrase "add a layer" early.</a:t>
            </a:r>
          </a:p>
          <a:p>
            <a:r>
              <a:rPr lang="en-US" sz="1300" dirty="0"/>
              <a:t>Avoid making CSS sound like decoration only; it affects readability and usability.</a:t>
            </a:r>
          </a:p>
          <a:p>
            <a:endParaRPr lang="en-US" sz="1300" dirty="0"/>
          </a:p>
          <a:p>
            <a:r>
              <a:rPr lang="en-US" sz="1300" b="1" dirty="0"/>
              <a:t>**Transition cue:**</a:t>
            </a:r>
            <a:endParaRPr lang="en-US" sz="1300" dirty="0"/>
          </a:p>
          <a:p>
            <a:r>
              <a:rPr lang="en-US" sz="1300" dirty="0"/>
              <a:t>- "Before we add the new layer, let's look at one successful HTML-only path."</a:t>
            </a:r>
          </a:p>
        </p:txBody>
      </p:sp>
      <p:sp>
        <p:nvSpPr>
          <p:cNvPr id="4" name="Slide Number Placeholder 3"/>
          <p:cNvSpPr>
            <a:spLocks noGrp="1"/>
          </p:cNvSpPr>
          <p:nvPr>
            <p:ph type="sldNum" sz="quarter" idx="5"/>
          </p:nvPr>
        </p:nvSpPr>
        <p:spPr/>
        <p:txBody>
          <a:bodyPr/>
          <a:lstStyle/>
          <a:p>
            <a:fld id="{1916ACA2-47E6-42D2-BEC8-EDC49A1A9FA1}" type="slidenum">
              <a:rPr lang="en-US" smtClean="0"/>
              <a:t>2</a:t>
            </a:fld>
            <a:endParaRPr lang="en-US"/>
          </a:p>
        </p:txBody>
      </p:sp>
    </p:spTree>
    <p:extLst>
      <p:ext uri="{BB962C8B-B14F-4D97-AF65-F5344CB8AC3E}">
        <p14:creationId xmlns:p14="http://schemas.microsoft.com/office/powerpoint/2010/main" val="3998931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83213-CA2D-AA94-E5CD-51EA40060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EFB3F-68DE-8901-2248-08432F56F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6EA35-3BF2-DA43-6415-2607DFE2A0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B708A6-1DB4-9EEF-DB82-40AE2F5C646F}"/>
              </a:ext>
            </a:extLst>
          </p:cNvPr>
          <p:cNvSpPr>
            <a:spLocks noGrp="1"/>
          </p:cNvSpPr>
          <p:nvPr>
            <p:ph type="sldNum" sz="quarter" idx="5"/>
          </p:nvPr>
        </p:nvSpPr>
        <p:spPr/>
        <p:txBody>
          <a:bodyPr/>
          <a:lstStyle/>
          <a:p>
            <a:fld id="{1916ACA2-47E6-42D2-BEC8-EDC49A1A9FA1}" type="slidenum">
              <a:rPr lang="en-US" smtClean="0"/>
              <a:t>3</a:t>
            </a:fld>
            <a:endParaRPr lang="en-US"/>
          </a:p>
        </p:txBody>
      </p:sp>
    </p:spTree>
    <p:extLst>
      <p:ext uri="{BB962C8B-B14F-4D97-AF65-F5344CB8AC3E}">
        <p14:creationId xmlns:p14="http://schemas.microsoft.com/office/powerpoint/2010/main" val="3250247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Open `Assignments/</a:t>
            </a:r>
            <a:r>
              <a:rPr lang="en-US" sz="1300" dirty="0" err="1"/>
              <a:t>Success_Solutions</a:t>
            </a:r>
            <a:r>
              <a:rPr lang="en-US" sz="1300" dirty="0"/>
              <a:t>/Week_01_HTML_Multi_Page_Site/</a:t>
            </a:r>
            <a:r>
              <a:rPr lang="en-US" sz="1300" dirty="0" err="1"/>
              <a:t>success_solution</a:t>
            </a:r>
            <a:r>
              <a:rPr lang="en-US" sz="1300" dirty="0"/>
              <a:t>/index.html`.</a:t>
            </a:r>
          </a:p>
          <a:p>
            <a:r>
              <a:rPr lang="en-US" sz="1300" dirty="0"/>
              <a:t>Click through `tips.html` and `schedule.html`.</a:t>
            </a:r>
          </a:p>
          <a:p>
            <a:r>
              <a:rPr lang="en-US" sz="1300" dirty="0"/>
              <a:t>Keep the review concise; the purpose is to bridge, not reteach Week 1.</a:t>
            </a:r>
          </a:p>
          <a:p>
            <a:r>
              <a:rPr lang="en-US" sz="1300" dirty="0"/>
              <a:t>Normalize revision and recovery.</a:t>
            </a:r>
          </a:p>
          <a:p>
            <a:endParaRPr lang="en-US" sz="1300" dirty="0"/>
          </a:p>
          <a:p>
            <a:r>
              <a:rPr lang="en-US" sz="1300" b="1" dirty="0"/>
              <a:t>**Transition cue:**</a:t>
            </a:r>
            <a:endParaRPr lang="en-US" sz="1300" dirty="0"/>
          </a:p>
          <a:p>
            <a:r>
              <a:rPr lang="en-US" sz="1300" dirty="0"/>
              <a:t>"This structure works. Now we can ask how the experience should feel."</a:t>
            </a:r>
          </a:p>
        </p:txBody>
      </p:sp>
      <p:sp>
        <p:nvSpPr>
          <p:cNvPr id="4" name="Slide Number Placeholder 3"/>
          <p:cNvSpPr>
            <a:spLocks noGrp="1"/>
          </p:cNvSpPr>
          <p:nvPr>
            <p:ph type="sldNum" sz="quarter" idx="5"/>
          </p:nvPr>
        </p:nvSpPr>
        <p:spPr/>
        <p:txBody>
          <a:bodyPr/>
          <a:lstStyle/>
          <a:p>
            <a:fld id="{1916ACA2-47E6-42D2-BEC8-EDC49A1A9FA1}" type="slidenum">
              <a:rPr lang="en-US" smtClean="0"/>
              <a:t>4</a:t>
            </a:fld>
            <a:endParaRPr lang="en-US"/>
          </a:p>
        </p:txBody>
      </p:sp>
    </p:spTree>
    <p:extLst>
      <p:ext uri="{BB962C8B-B14F-4D97-AF65-F5344CB8AC3E}">
        <p14:creationId xmlns:p14="http://schemas.microsoft.com/office/powerpoint/2010/main" val="1372911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5</a:t>
            </a:fld>
            <a:endParaRPr lang="en-US"/>
          </a:p>
        </p:txBody>
      </p:sp>
    </p:spTree>
    <p:extLst>
      <p:ext uri="{BB962C8B-B14F-4D97-AF65-F5344CB8AC3E}">
        <p14:creationId xmlns:p14="http://schemas.microsoft.com/office/powerpoint/2010/main" val="2048624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Instructor Notes ** </a:t>
            </a:r>
          </a:p>
          <a:p>
            <a:r>
              <a:rPr lang="en-US" dirty="0"/>
              <a:t>Step through the coding solution(s) for the Lab.</a:t>
            </a:r>
            <a:br>
              <a:rPr lang="en-US" dirty="0"/>
            </a:br>
            <a:r>
              <a:rPr lang="en-US" dirty="0"/>
              <a:t>Be sure to state that this is only *one* solution of many. </a:t>
            </a:r>
            <a:br>
              <a:rPr lang="en-US" dirty="0"/>
            </a:br>
            <a:r>
              <a:rPr lang="en-US" dirty="0"/>
              <a:t>NOT the best or only solution.</a:t>
            </a:r>
          </a:p>
          <a:p>
            <a:endParaRPr lang="en-US" dirty="0"/>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a:t>
            </a:fld>
            <a:endParaRPr lang="en-US"/>
          </a:p>
        </p:txBody>
      </p:sp>
    </p:spTree>
    <p:extLst>
      <p:ext uri="{BB962C8B-B14F-4D97-AF65-F5344CB8AC3E}">
        <p14:creationId xmlns:p14="http://schemas.microsoft.com/office/powerpoint/2010/main" val="2991616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Emphasize that Week 2 builds on the same site.</a:t>
            </a:r>
          </a:p>
          <a:p>
            <a:r>
              <a:rPr lang="en-US" sz="1300" dirty="0"/>
              <a:t>Students should not delete working HTML to "start over."</a:t>
            </a:r>
          </a:p>
          <a:p>
            <a:r>
              <a:rPr lang="en-US" sz="1300" dirty="0"/>
              <a:t>This slide protects continuity.</a:t>
            </a:r>
          </a:p>
          <a:p>
            <a:endParaRPr lang="en-US" sz="1300" dirty="0"/>
          </a:p>
          <a:p>
            <a:r>
              <a:rPr lang="en-US" sz="1300" b="1" dirty="0"/>
              <a:t>**Transition cue:**</a:t>
            </a:r>
            <a:endParaRPr lang="en-US" sz="1300" dirty="0"/>
          </a:p>
          <a:p>
            <a:r>
              <a:rPr lang="en-US" sz="1300" dirty="0"/>
              <a:t> "That gives us the boundary: HTML keeps meaning; CSS changes presentation."</a:t>
            </a:r>
          </a:p>
        </p:txBody>
      </p:sp>
      <p:sp>
        <p:nvSpPr>
          <p:cNvPr id="4" name="Slide Number Placeholder 3"/>
          <p:cNvSpPr>
            <a:spLocks noGrp="1"/>
          </p:cNvSpPr>
          <p:nvPr>
            <p:ph type="sldNum" sz="quarter" idx="5"/>
          </p:nvPr>
        </p:nvSpPr>
        <p:spPr/>
        <p:txBody>
          <a:bodyPr/>
          <a:lstStyle/>
          <a:p>
            <a:fld id="{1916ACA2-47E6-42D2-BEC8-EDC49A1A9FA1}" type="slidenum">
              <a:rPr lang="en-US" smtClean="0"/>
              <a:t>7</a:t>
            </a:fld>
            <a:endParaRPr lang="en-US"/>
          </a:p>
        </p:txBody>
      </p:sp>
    </p:spTree>
    <p:extLst>
      <p:ext uri="{BB962C8B-B14F-4D97-AF65-F5344CB8AC3E}">
        <p14:creationId xmlns:p14="http://schemas.microsoft.com/office/powerpoint/2010/main" val="3462975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Tie directly to reading: CSS styles HTML; it does not replace HTML.</a:t>
            </a:r>
          </a:p>
          <a:p>
            <a:r>
              <a:rPr lang="en-US" sz="1300" dirty="0"/>
              <a:t>Say "separate layer" more than once.</a:t>
            </a:r>
          </a:p>
          <a:p>
            <a:r>
              <a:rPr lang="en-US" sz="1300" dirty="0"/>
              <a:t>Avoid going into the cascade deeply today.</a:t>
            </a:r>
          </a:p>
          <a:p>
            <a:endParaRPr lang="en-US" sz="1300" dirty="0"/>
          </a:p>
          <a:p>
            <a:r>
              <a:rPr lang="en-US" sz="1300" b="1" dirty="0"/>
              <a:t>**Transition cue:**</a:t>
            </a:r>
            <a:endParaRPr lang="en-US" sz="1300" dirty="0"/>
          </a:p>
          <a:p>
            <a:r>
              <a:rPr lang="en-US" sz="1300" dirty="0"/>
              <a:t>"So, what counts as success for our first day with CSS?"</a:t>
            </a:r>
          </a:p>
        </p:txBody>
      </p:sp>
      <p:sp>
        <p:nvSpPr>
          <p:cNvPr id="4" name="Slide Number Placeholder 3"/>
          <p:cNvSpPr>
            <a:spLocks noGrp="1"/>
          </p:cNvSpPr>
          <p:nvPr>
            <p:ph type="sldNum" sz="quarter" idx="5"/>
          </p:nvPr>
        </p:nvSpPr>
        <p:spPr/>
        <p:txBody>
          <a:bodyPr/>
          <a:lstStyle/>
          <a:p>
            <a:fld id="{1916ACA2-47E6-42D2-BEC8-EDC49A1A9FA1}" type="slidenum">
              <a:rPr lang="en-US" smtClean="0"/>
              <a:t>8</a:t>
            </a:fld>
            <a:endParaRPr lang="en-US"/>
          </a:p>
        </p:txBody>
      </p:sp>
    </p:spTree>
    <p:extLst>
      <p:ext uri="{BB962C8B-B14F-4D97-AF65-F5344CB8AC3E}">
        <p14:creationId xmlns:p14="http://schemas.microsoft.com/office/powerpoint/2010/main" val="2983542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Keep this intentionally smaller than the full Assignment 2 endpoint.</a:t>
            </a:r>
          </a:p>
          <a:p>
            <a:r>
              <a:rPr lang="en-US" sz="1300" dirty="0"/>
              <a:t>Reinforce that attractive design comes after the connection works.</a:t>
            </a:r>
          </a:p>
          <a:p>
            <a:r>
              <a:rPr lang="en-US" sz="1300" dirty="0"/>
              <a:t>Make "visible change" the first confidence target.</a:t>
            </a:r>
          </a:p>
          <a:p>
            <a:br>
              <a:rPr lang="en-US" sz="1300" dirty="0"/>
            </a:br>
            <a:r>
              <a:rPr lang="en-US" sz="1300" b="1" dirty="0"/>
              <a:t>**Transition cue:**</a:t>
            </a:r>
            <a:endParaRPr lang="en-US" sz="1300" dirty="0"/>
          </a:p>
          <a:p>
            <a:r>
              <a:rPr lang="en-US" sz="1300" dirty="0"/>
              <a:t>"Here are the tools we need for that first visible change."</a:t>
            </a:r>
          </a:p>
        </p:txBody>
      </p:sp>
      <p:sp>
        <p:nvSpPr>
          <p:cNvPr id="4" name="Slide Number Placeholder 3"/>
          <p:cNvSpPr>
            <a:spLocks noGrp="1"/>
          </p:cNvSpPr>
          <p:nvPr>
            <p:ph type="sldNum" sz="quarter" idx="5"/>
          </p:nvPr>
        </p:nvSpPr>
        <p:spPr/>
        <p:txBody>
          <a:bodyPr/>
          <a:lstStyle/>
          <a:p>
            <a:fld id="{1916ACA2-47E6-42D2-BEC8-EDC49A1A9FA1}" type="slidenum">
              <a:rPr lang="en-US" smtClean="0"/>
              <a:t>9</a:t>
            </a:fld>
            <a:endParaRPr lang="en-US"/>
          </a:p>
        </p:txBody>
      </p:sp>
    </p:spTree>
    <p:extLst>
      <p:ext uri="{BB962C8B-B14F-4D97-AF65-F5344CB8AC3E}">
        <p14:creationId xmlns:p14="http://schemas.microsoft.com/office/powerpoint/2010/main" val="2292370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This is the active set for Monday.</a:t>
            </a:r>
          </a:p>
          <a:p>
            <a:r>
              <a:rPr lang="en-US" sz="1300" dirty="0"/>
              <a:t>Students may have read about many more properties; keep the working set narrow.</a:t>
            </a:r>
          </a:p>
          <a:p>
            <a:r>
              <a:rPr lang="en-US" sz="1300" dirty="0"/>
              <a:t>Avoid class/id depth here; introduce recognition later.</a:t>
            </a:r>
          </a:p>
          <a:p>
            <a:endParaRPr lang="en-US" sz="1300" dirty="0"/>
          </a:p>
          <a:p>
            <a:r>
              <a:rPr lang="en-US" sz="1300" b="1" dirty="0"/>
              <a:t>**Transition cue:**</a:t>
            </a:r>
            <a:endParaRPr lang="en-US" sz="1300" dirty="0"/>
          </a:p>
          <a:p>
            <a:r>
              <a:rPr lang="en-US" sz="1300" dirty="0"/>
              <a:t>"A few useful tools are parked because they solve problems we are not working on yet."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10</a:t>
            </a:fld>
            <a:endParaRPr lang="en-US"/>
          </a:p>
        </p:txBody>
      </p:sp>
    </p:spTree>
    <p:extLst>
      <p:ext uri="{BB962C8B-B14F-4D97-AF65-F5344CB8AC3E}">
        <p14:creationId xmlns:p14="http://schemas.microsoft.com/office/powerpoint/2010/main" val="1229613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44401-2B46-34BB-6043-353D49EA6C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649A1-7DE2-A285-917A-DF98A2336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EC935-6F38-2ACD-0FA4-4E6BF1C30B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FEDD5D-41B4-0DCA-96A0-3B9E262357F2}"/>
              </a:ext>
            </a:extLst>
          </p:cNvPr>
          <p:cNvSpPr>
            <a:spLocks noGrp="1"/>
          </p:cNvSpPr>
          <p:nvPr>
            <p:ph type="sldNum" sz="quarter" idx="5"/>
          </p:nvPr>
        </p:nvSpPr>
        <p:spPr/>
        <p:txBody>
          <a:bodyPr/>
          <a:lstStyle/>
          <a:p>
            <a:fld id="{1916ACA2-47E6-42D2-BEC8-EDC49A1A9FA1}" type="slidenum">
              <a:rPr lang="en-US" smtClean="0"/>
              <a:t>11</a:t>
            </a:fld>
            <a:endParaRPr lang="en-US"/>
          </a:p>
        </p:txBody>
      </p:sp>
    </p:spTree>
    <p:extLst>
      <p:ext uri="{BB962C8B-B14F-4D97-AF65-F5344CB8AC3E}">
        <p14:creationId xmlns:p14="http://schemas.microsoft.com/office/powerpoint/2010/main" val="15447372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Use this to reduce overload from the textbook and the web.</a:t>
            </a:r>
          </a:p>
          <a:p>
            <a:r>
              <a:rPr lang="en-US" sz="1300" dirty="0"/>
              <a:t>Clarify that Flexbox and responsive design are coming soon, but not today.</a:t>
            </a:r>
          </a:p>
          <a:p>
            <a:r>
              <a:rPr lang="en-US" sz="1300" dirty="0"/>
              <a:t>If time is tight, this can be compressed verbally.</a:t>
            </a:r>
          </a:p>
          <a:p>
            <a:endParaRPr lang="en-US" sz="1300" dirty="0"/>
          </a:p>
          <a:p>
            <a:r>
              <a:rPr lang="en-US" sz="1300" b="1" dirty="0"/>
              <a:t>**Transition cue:**</a:t>
            </a:r>
            <a:endParaRPr lang="en-US" sz="1300" dirty="0"/>
          </a:p>
          <a:p>
            <a:r>
              <a:rPr lang="en-US" sz="1300" dirty="0"/>
              <a:t>"Now we can look at the smallest useful CSS unit: a rule."</a:t>
            </a:r>
          </a:p>
        </p:txBody>
      </p:sp>
      <p:sp>
        <p:nvSpPr>
          <p:cNvPr id="4" name="Slide Number Placeholder 3"/>
          <p:cNvSpPr>
            <a:spLocks noGrp="1"/>
          </p:cNvSpPr>
          <p:nvPr>
            <p:ph type="sldNum" sz="quarter" idx="5"/>
          </p:nvPr>
        </p:nvSpPr>
        <p:spPr/>
        <p:txBody>
          <a:bodyPr/>
          <a:lstStyle/>
          <a:p>
            <a:fld id="{1916ACA2-47E6-42D2-BEC8-EDC49A1A9FA1}" type="slidenum">
              <a:rPr lang="en-US" smtClean="0"/>
              <a:t>12</a:t>
            </a:fld>
            <a:endParaRPr lang="en-US"/>
          </a:p>
        </p:txBody>
      </p:sp>
    </p:spTree>
    <p:extLst>
      <p:ext uri="{BB962C8B-B14F-4D97-AF65-F5344CB8AC3E}">
        <p14:creationId xmlns:p14="http://schemas.microsoft.com/office/powerpoint/2010/main" val="1263435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CC734-41E5-8610-E82B-7A52DB6BE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CCF7B-808F-4C16-561D-E4E784D064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7D0CB-D884-9AD6-82B9-E6D86F4335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AA124E-22AF-59C6-28F8-82413ACA820A}"/>
              </a:ext>
            </a:extLst>
          </p:cNvPr>
          <p:cNvSpPr>
            <a:spLocks noGrp="1"/>
          </p:cNvSpPr>
          <p:nvPr>
            <p:ph type="sldNum" sz="quarter" idx="5"/>
          </p:nvPr>
        </p:nvSpPr>
        <p:spPr/>
        <p:txBody>
          <a:bodyPr/>
          <a:lstStyle/>
          <a:p>
            <a:fld id="{1916ACA2-47E6-42D2-BEC8-EDC49A1A9FA1}" type="slidenum">
              <a:rPr lang="en-US" smtClean="0"/>
              <a:t>13</a:t>
            </a:fld>
            <a:endParaRPr lang="en-US"/>
          </a:p>
        </p:txBody>
      </p:sp>
    </p:spTree>
    <p:extLst>
      <p:ext uri="{BB962C8B-B14F-4D97-AF65-F5344CB8AC3E}">
        <p14:creationId xmlns:p14="http://schemas.microsoft.com/office/powerpoint/2010/main" val="2174888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98A39-F739-50C9-6820-C2B1C6A2D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0BB75-CCEA-DB7E-9278-B246C3FF4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6CA62-C0D3-0F65-DA2E-E4456D5A80F4}"/>
              </a:ext>
            </a:extLst>
          </p:cNvPr>
          <p:cNvSpPr>
            <a:spLocks noGrp="1"/>
          </p:cNvSpPr>
          <p:nvPr>
            <p:ph type="body" idx="1"/>
          </p:nvPr>
        </p:nvSpPr>
        <p:spPr/>
        <p:txBody>
          <a:bodyPr/>
          <a:lstStyle/>
          <a:p>
            <a:r>
              <a:rPr lang="en-US" sz="1300" b="1" dirty="0"/>
              <a:t>**Instructor notes:**</a:t>
            </a:r>
            <a:endParaRPr lang="en-US" sz="1300" dirty="0"/>
          </a:p>
          <a:p>
            <a:r>
              <a:rPr lang="en-US" sz="1300" dirty="0"/>
              <a:t>Explain selector as "what to style."</a:t>
            </a:r>
          </a:p>
          <a:p>
            <a:r>
              <a:rPr lang="en-US" sz="1300" dirty="0"/>
              <a:t>Explain property as "what part of appearance changes."</a:t>
            </a:r>
          </a:p>
          <a:p>
            <a:r>
              <a:rPr lang="en-US" sz="1300" dirty="0"/>
              <a:t>Explain value as "the chosen setting."</a:t>
            </a:r>
          </a:p>
          <a:p>
            <a:r>
              <a:rPr lang="en-US" sz="1300" dirty="0"/>
              <a:t>Do not teach every selector type today.</a:t>
            </a:r>
          </a:p>
          <a:p>
            <a:endParaRPr lang="en-US" sz="1300" dirty="0"/>
          </a:p>
          <a:p>
            <a:r>
              <a:rPr lang="en-US" sz="1300" b="1" dirty="0"/>
              <a:t>**Transition cue:**</a:t>
            </a:r>
            <a:endParaRPr lang="en-US" sz="1300" dirty="0"/>
          </a:p>
          <a:p>
            <a:r>
              <a:rPr lang="en-US" sz="1300" dirty="0"/>
              <a:t>"The rule can only work if the HTML page knows where the stylesheet is."</a:t>
            </a:r>
          </a:p>
          <a:p>
            <a:endParaRPr lang="en-US" dirty="0"/>
          </a:p>
        </p:txBody>
      </p:sp>
      <p:sp>
        <p:nvSpPr>
          <p:cNvPr id="4" name="Slide Number Placeholder 3">
            <a:extLst>
              <a:ext uri="{FF2B5EF4-FFF2-40B4-BE49-F238E27FC236}">
                <a16:creationId xmlns:a16="http://schemas.microsoft.com/office/drawing/2014/main" id="{98B530DA-84CC-4FBC-AFA7-80AD13DC4669}"/>
              </a:ext>
            </a:extLst>
          </p:cNvPr>
          <p:cNvSpPr>
            <a:spLocks noGrp="1"/>
          </p:cNvSpPr>
          <p:nvPr>
            <p:ph type="sldNum" sz="quarter" idx="5"/>
          </p:nvPr>
        </p:nvSpPr>
        <p:spPr/>
        <p:txBody>
          <a:bodyPr/>
          <a:lstStyle/>
          <a:p>
            <a:fld id="{1916ACA2-47E6-42D2-BEC8-EDC49A1A9FA1}" type="slidenum">
              <a:rPr lang="en-US" smtClean="0"/>
              <a:t>14</a:t>
            </a:fld>
            <a:endParaRPr lang="en-US"/>
          </a:p>
        </p:txBody>
      </p:sp>
    </p:spTree>
    <p:extLst>
      <p:ext uri="{BB962C8B-B14F-4D97-AF65-F5344CB8AC3E}">
        <p14:creationId xmlns:p14="http://schemas.microsoft.com/office/powerpoint/2010/main" val="3084009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Show that the link belongs in `head`, not `body`.</a:t>
            </a:r>
          </a:p>
          <a:p>
            <a:r>
              <a:rPr lang="en-US" sz="1300" dirty="0"/>
              <a:t>Connect to Week 1 exact-file-name habit.</a:t>
            </a:r>
          </a:p>
          <a:p>
            <a:r>
              <a:rPr lang="en-US" sz="1300" dirty="0"/>
              <a:t>Mention that `</a:t>
            </a:r>
            <a:r>
              <a:rPr lang="en-US" sz="1300" dirty="0" err="1"/>
              <a:t>href</a:t>
            </a:r>
            <a:r>
              <a:rPr lang="en-US" sz="1300" dirty="0"/>
              <a:t>` must match the CSS file name.</a:t>
            </a:r>
          </a:p>
          <a:p>
            <a:endParaRPr lang="en-US" sz="1300" dirty="0"/>
          </a:p>
          <a:p>
            <a:r>
              <a:rPr lang="en-US" sz="1300" b="1" dirty="0"/>
              <a:t>**Transition cue:**</a:t>
            </a:r>
            <a:endParaRPr lang="en-US" sz="1300" dirty="0"/>
          </a:p>
          <a:p>
            <a:r>
              <a:rPr lang="en-US" sz="1300" dirty="0"/>
              <a:t>- "Let's build the first stylesheet and prove the connection."</a:t>
            </a:r>
          </a:p>
        </p:txBody>
      </p:sp>
      <p:sp>
        <p:nvSpPr>
          <p:cNvPr id="4" name="Slide Number Placeholder 3"/>
          <p:cNvSpPr>
            <a:spLocks noGrp="1"/>
          </p:cNvSpPr>
          <p:nvPr>
            <p:ph type="sldNum" sz="quarter" idx="5"/>
          </p:nvPr>
        </p:nvSpPr>
        <p:spPr/>
        <p:txBody>
          <a:bodyPr/>
          <a:lstStyle/>
          <a:p>
            <a:fld id="{1916ACA2-47E6-42D2-BEC8-EDC49A1A9FA1}" type="slidenum">
              <a:rPr lang="en-US" smtClean="0"/>
              <a:t>15</a:t>
            </a:fld>
            <a:endParaRPr lang="en-US"/>
          </a:p>
        </p:txBody>
      </p:sp>
    </p:spTree>
    <p:extLst>
      <p:ext uri="{BB962C8B-B14F-4D97-AF65-F5344CB8AC3E}">
        <p14:creationId xmlns:p14="http://schemas.microsoft.com/office/powerpoint/2010/main" val="1824999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F36CB-BCE3-67EB-0CD3-DBDC15F4F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F1BA1-44A7-A9DA-9BDD-3BCC3036B3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3E303A-EC91-7FC7-6C5A-A246932019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64D198-7FAB-BAF3-90C4-75CC7A836D86}"/>
              </a:ext>
            </a:extLst>
          </p:cNvPr>
          <p:cNvSpPr>
            <a:spLocks noGrp="1"/>
          </p:cNvSpPr>
          <p:nvPr>
            <p:ph type="sldNum" sz="quarter" idx="5"/>
          </p:nvPr>
        </p:nvSpPr>
        <p:spPr/>
        <p:txBody>
          <a:bodyPr/>
          <a:lstStyle/>
          <a:p>
            <a:fld id="{1916ACA2-47E6-42D2-BEC8-EDC49A1A9FA1}" type="slidenum">
              <a:rPr lang="en-US" smtClean="0"/>
              <a:t>16</a:t>
            </a:fld>
            <a:endParaRPr lang="en-US"/>
          </a:p>
        </p:txBody>
      </p:sp>
    </p:spTree>
    <p:extLst>
      <p:ext uri="{BB962C8B-B14F-4D97-AF65-F5344CB8AC3E}">
        <p14:creationId xmlns:p14="http://schemas.microsoft.com/office/powerpoint/2010/main" val="407040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540076">
              <a:defRPr/>
            </a:pPr>
            <a:fld id="{1916ACA2-47E6-42D2-BEC8-EDC49A1A9FA1}" type="slidenum">
              <a:rPr lang="en-US" sz="1600">
                <a:solidFill>
                  <a:prstClr val="black"/>
                </a:solidFill>
                <a:latin typeface="Aptos" panose="02110004020202020204"/>
              </a:rPr>
              <a:pPr defTabSz="540076">
                <a:defRPr/>
              </a:pPr>
              <a:t>17</a:t>
            </a:fld>
            <a:endParaRPr lang="en-US" sz="1600">
              <a:solidFill>
                <a:prstClr val="black"/>
              </a:solidFill>
              <a:latin typeface="Aptos" panose="02110004020202020204"/>
            </a:endParaRPr>
          </a:p>
        </p:txBody>
      </p:sp>
    </p:spTree>
    <p:extLst>
      <p:ext uri="{BB962C8B-B14F-4D97-AF65-F5344CB8AC3E}">
        <p14:creationId xmlns:p14="http://schemas.microsoft.com/office/powerpoint/2010/main" val="3125657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Use `Demos/Week_02_CSS_Appearance/01_monday_first_styles/`.</a:t>
            </a:r>
          </a:p>
          <a:p>
            <a:r>
              <a:rPr lang="en-US" sz="1300" dirty="0"/>
              <a:t>Type the `link </a:t>
            </a:r>
            <a:r>
              <a:rPr lang="en-US" sz="1300" dirty="0" err="1"/>
              <a:t>rel</a:t>
            </a:r>
            <a:r>
              <a:rPr lang="en-US" sz="1300" dirty="0"/>
              <a:t>="stylesheet"` line if showing from scratch.</a:t>
            </a:r>
          </a:p>
          <a:p>
            <a:r>
              <a:rPr lang="en-US" sz="1300" dirty="0"/>
              <a:t>Type `body`, `h1`, `p`, and `a` rules in small steps.</a:t>
            </a:r>
          </a:p>
          <a:p>
            <a:r>
              <a:rPr lang="en-US" sz="1300" dirty="0"/>
              <a:t>Refresh after each meaningful change.</a:t>
            </a:r>
          </a:p>
          <a:p>
            <a:r>
              <a:rPr lang="en-US" sz="1300" dirty="0"/>
              <a:t>If useful, temporarily break the `</a:t>
            </a:r>
            <a:r>
              <a:rPr lang="en-US" sz="1300" dirty="0" err="1"/>
              <a:t>href</a:t>
            </a:r>
            <a:r>
              <a:rPr lang="en-US" sz="1300" dirty="0"/>
              <a:t>` file name to show no styles apply.</a:t>
            </a:r>
          </a:p>
          <a:p>
            <a:endParaRPr lang="en-US" sz="1300" dirty="0"/>
          </a:p>
          <a:p>
            <a:r>
              <a:rPr lang="en-US" sz="1300" b="1" dirty="0"/>
              <a:t>**Transition cue:**</a:t>
            </a:r>
            <a:endParaRPr lang="en-US" sz="1300" dirty="0"/>
          </a:p>
          <a:p>
            <a:r>
              <a:rPr lang="en-US" sz="1300" dirty="0"/>
              <a:t>"Now that the page looks different, let's name what actually changed.“</a:t>
            </a:r>
          </a:p>
          <a:p>
            <a:endParaRPr lang="en-US" sz="1300" dirty="0"/>
          </a:p>
          <a:p>
            <a:r>
              <a:rPr lang="en-US" sz="1300" b="1" dirty="0"/>
              <a:t>Demo connection:</a:t>
            </a:r>
            <a:endParaRPr lang="en-US" sz="1300" dirty="0"/>
          </a:p>
          <a:p>
            <a:r>
              <a:rPr lang="en-US" sz="1300" dirty="0"/>
              <a:t>- `Demos/Week_02_CSS_Appearance/01_monday_first_styles/index.html`</a:t>
            </a:r>
          </a:p>
          <a:p>
            <a:r>
              <a:rPr lang="en-US" sz="1300" dirty="0"/>
              <a:t>- `Demos/Week_02_CSS_Appearance/01_monday_first_styles/styles.css`</a:t>
            </a:r>
          </a:p>
          <a:p>
            <a:endParaRPr lang="en-US" sz="1300" dirty="0"/>
          </a:p>
        </p:txBody>
      </p:sp>
      <p:sp>
        <p:nvSpPr>
          <p:cNvPr id="4" name="Slide Number Placeholder 3"/>
          <p:cNvSpPr>
            <a:spLocks noGrp="1"/>
          </p:cNvSpPr>
          <p:nvPr>
            <p:ph type="sldNum" sz="quarter" idx="5"/>
          </p:nvPr>
        </p:nvSpPr>
        <p:spPr/>
        <p:txBody>
          <a:bodyPr/>
          <a:lstStyle/>
          <a:p>
            <a:fld id="{1916ACA2-47E6-42D2-BEC8-EDC49A1A9FA1}" type="slidenum">
              <a:rPr lang="en-US" smtClean="0"/>
              <a:t>18</a:t>
            </a:fld>
            <a:endParaRPr lang="en-US"/>
          </a:p>
        </p:txBody>
      </p:sp>
    </p:spTree>
    <p:extLst>
      <p:ext uri="{BB962C8B-B14F-4D97-AF65-F5344CB8AC3E}">
        <p14:creationId xmlns:p14="http://schemas.microsoft.com/office/powerpoint/2010/main" val="2535117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Reinforce separation of concerns.</a:t>
            </a:r>
          </a:p>
          <a:p>
            <a:r>
              <a:rPr lang="en-US" sz="1300" dirty="0"/>
              <a:t>Connect "appearance changed" to "meaning stayed stable."</a:t>
            </a:r>
          </a:p>
          <a:p>
            <a:r>
              <a:rPr lang="en-US" sz="1300" dirty="0"/>
              <a:t>This is the key conceptual payoff of the demo.</a:t>
            </a:r>
          </a:p>
          <a:p>
            <a:endParaRPr lang="en-US" sz="1300" dirty="0"/>
          </a:p>
          <a:p>
            <a:r>
              <a:rPr lang="en-US" sz="1300" b="1" dirty="0"/>
              <a:t>**Transition cue:**</a:t>
            </a:r>
            <a:endParaRPr lang="en-US" sz="1300" dirty="0"/>
          </a:p>
          <a:p>
            <a:r>
              <a:rPr lang="en-US" sz="1300" dirty="0"/>
              <a:t>"When CSS does not work, the problem is usually small and checkable."</a:t>
            </a:r>
          </a:p>
        </p:txBody>
      </p:sp>
      <p:sp>
        <p:nvSpPr>
          <p:cNvPr id="4" name="Slide Number Placeholder 3"/>
          <p:cNvSpPr>
            <a:spLocks noGrp="1"/>
          </p:cNvSpPr>
          <p:nvPr>
            <p:ph type="sldNum" sz="quarter" idx="5"/>
          </p:nvPr>
        </p:nvSpPr>
        <p:spPr/>
        <p:txBody>
          <a:bodyPr/>
          <a:lstStyle/>
          <a:p>
            <a:fld id="{1916ACA2-47E6-42D2-BEC8-EDC49A1A9FA1}" type="slidenum">
              <a:rPr lang="en-US" smtClean="0"/>
              <a:t>19</a:t>
            </a:fld>
            <a:endParaRPr lang="en-US"/>
          </a:p>
        </p:txBody>
      </p:sp>
    </p:spTree>
    <p:extLst>
      <p:ext uri="{BB962C8B-B14F-4D97-AF65-F5344CB8AC3E}">
        <p14:creationId xmlns:p14="http://schemas.microsoft.com/office/powerpoint/2010/main" val="3675332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1E8A0-2F74-E4B3-7FEC-79F5F6C90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FE8EB-BC0D-42A1-F8D5-6CDF5C45E9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0F7241-770E-1568-13CA-1762512D4A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FDEA0C-4CC2-9E69-7181-3D9BD8F28973}"/>
              </a:ext>
            </a:extLst>
          </p:cNvPr>
          <p:cNvSpPr>
            <a:spLocks noGrp="1"/>
          </p:cNvSpPr>
          <p:nvPr>
            <p:ph type="sldNum" sz="quarter" idx="5"/>
          </p:nvPr>
        </p:nvSpPr>
        <p:spPr/>
        <p:txBody>
          <a:bodyPr/>
          <a:lstStyle/>
          <a:p>
            <a:fld id="{1916ACA2-47E6-42D2-BEC8-EDC49A1A9FA1}" type="slidenum">
              <a:rPr lang="en-US" smtClean="0"/>
              <a:t>20</a:t>
            </a:fld>
            <a:endParaRPr lang="en-US"/>
          </a:p>
        </p:txBody>
      </p:sp>
    </p:spTree>
    <p:extLst>
      <p:ext uri="{BB962C8B-B14F-4D97-AF65-F5344CB8AC3E}">
        <p14:creationId xmlns:p14="http://schemas.microsoft.com/office/powerpoint/2010/main" val="33559171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Keep the tone normal and repair-oriented.</a:t>
            </a:r>
          </a:p>
          <a:p>
            <a:r>
              <a:rPr lang="en-US" sz="1300" dirty="0"/>
              <a:t>Tie file-name mismatch back to Week 1 link problems.</a:t>
            </a:r>
          </a:p>
          <a:p>
            <a:r>
              <a:rPr lang="en-US" sz="1300" dirty="0"/>
              <a:t>Do not turn this into a full debugging lecture; Week 6 handles deeper debugging.</a:t>
            </a:r>
          </a:p>
          <a:p>
            <a:endParaRPr lang="en-US" sz="1300" dirty="0"/>
          </a:p>
          <a:p>
            <a:r>
              <a:rPr lang="en-US" sz="1300" b="1" dirty="0"/>
              <a:t>**Transition cue:**</a:t>
            </a:r>
            <a:endParaRPr lang="en-US" sz="1300" dirty="0"/>
          </a:p>
          <a:p>
            <a:r>
              <a:rPr lang="en-US" sz="1300" dirty="0"/>
              <a:t>"Tuesday lab starts with this same first styling layer."</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21</a:t>
            </a:fld>
            <a:endParaRPr lang="en-US"/>
          </a:p>
        </p:txBody>
      </p:sp>
    </p:spTree>
    <p:extLst>
      <p:ext uri="{BB962C8B-B14F-4D97-AF65-F5344CB8AC3E}">
        <p14:creationId xmlns:p14="http://schemas.microsoft.com/office/powerpoint/2010/main" val="17060119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This is Assignment 2 Iteration 1.</a:t>
            </a:r>
          </a:p>
          <a:p>
            <a:r>
              <a:rPr lang="en-US" sz="1300" dirty="0"/>
              <a:t>Keep the endpoint scoped to first styling, not full visual consistency.</a:t>
            </a:r>
          </a:p>
          <a:p>
            <a:r>
              <a:rPr lang="en-US" sz="1300" dirty="0"/>
              <a:t>Students may style one page first, then continue linking across pages as lab time allows.</a:t>
            </a:r>
          </a:p>
          <a:p>
            <a:endParaRPr lang="en-US" sz="1300" dirty="0"/>
          </a:p>
          <a:p>
            <a:r>
              <a:rPr lang="en-US" sz="1300" b="1" dirty="0"/>
              <a:t>**Transition cue:**</a:t>
            </a:r>
            <a:endParaRPr lang="en-US" sz="1300" dirty="0"/>
          </a:p>
          <a:p>
            <a:r>
              <a:rPr lang="en-US" sz="1300" dirty="0"/>
              <a:t>"As you work, preserve evidence that the new layer is connected."</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22</a:t>
            </a:fld>
            <a:endParaRPr lang="en-US"/>
          </a:p>
        </p:txBody>
      </p:sp>
    </p:spTree>
    <p:extLst>
      <p:ext uri="{BB962C8B-B14F-4D97-AF65-F5344CB8AC3E}">
        <p14:creationId xmlns:p14="http://schemas.microsoft.com/office/powerpoint/2010/main" val="8590686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Evidence is about connection and first visible changes.</a:t>
            </a:r>
          </a:p>
          <a:p>
            <a:r>
              <a:rPr lang="en-US" sz="1300" dirty="0"/>
              <a:t>Thursday/Wednesday will reinforce full consistency across pages.</a:t>
            </a:r>
          </a:p>
          <a:p>
            <a:r>
              <a:rPr lang="en-US" sz="1300" dirty="0"/>
              <a:t>Encourage students to notice what changed and why.</a:t>
            </a:r>
          </a:p>
          <a:p>
            <a:endParaRPr lang="en-US" sz="1300" dirty="0"/>
          </a:p>
          <a:p>
            <a:r>
              <a:rPr lang="en-US" sz="1300" b="1" dirty="0"/>
              <a:t>**Transition cue:**</a:t>
            </a:r>
            <a:endParaRPr lang="en-US" sz="1300" dirty="0"/>
          </a:p>
          <a:p>
            <a:r>
              <a:rPr lang="en-US" sz="1300" dirty="0"/>
              <a:t>"Today, a simple connected stylesheet is enough."</a:t>
            </a:r>
          </a:p>
          <a:p>
            <a:endParaRPr lang="en-US" sz="1400" dirty="0"/>
          </a:p>
        </p:txBody>
      </p:sp>
      <p:sp>
        <p:nvSpPr>
          <p:cNvPr id="4" name="Slide Number Placeholder 3"/>
          <p:cNvSpPr>
            <a:spLocks noGrp="1"/>
          </p:cNvSpPr>
          <p:nvPr>
            <p:ph type="sldNum" sz="quarter" idx="5"/>
          </p:nvPr>
        </p:nvSpPr>
        <p:spPr/>
        <p:txBody>
          <a:bodyPr/>
          <a:lstStyle/>
          <a:p>
            <a:pPr defTabSz="510903">
              <a:defRPr/>
            </a:pPr>
            <a:fld id="{1916ACA2-47E6-42D2-BEC8-EDC49A1A9FA1}" type="slidenum">
              <a:rPr lang="en-US" sz="1400">
                <a:solidFill>
                  <a:prstClr val="black"/>
                </a:solidFill>
                <a:latin typeface="Aptos" panose="02110004020202020204"/>
              </a:rPr>
              <a:pPr defTabSz="510903">
                <a:defRPr/>
              </a:pPr>
              <a:t>23</a:t>
            </a:fld>
            <a:endParaRPr lang="en-US" sz="1400">
              <a:solidFill>
                <a:prstClr val="black"/>
              </a:solidFill>
              <a:latin typeface="Aptos" panose="02110004020202020204"/>
            </a:endParaRPr>
          </a:p>
        </p:txBody>
      </p:sp>
    </p:spTree>
    <p:extLst>
      <p:ext uri="{BB962C8B-B14F-4D97-AF65-F5344CB8AC3E}">
        <p14:creationId xmlns:p14="http://schemas.microsoft.com/office/powerpoint/2010/main" val="30176542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24</a:t>
            </a:fld>
            <a:endParaRPr lang="en-US"/>
          </a:p>
        </p:txBody>
      </p:sp>
    </p:spTree>
    <p:extLst>
      <p:ext uri="{BB962C8B-B14F-4D97-AF65-F5344CB8AC3E}">
        <p14:creationId xmlns:p14="http://schemas.microsoft.com/office/powerpoint/2010/main" val="2693333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25</a:t>
            </a:fld>
            <a:endParaRPr lang="en-US"/>
          </a:p>
        </p:txBody>
      </p:sp>
    </p:spTree>
    <p:extLst>
      <p:ext uri="{BB962C8B-B14F-4D97-AF65-F5344CB8AC3E}">
        <p14:creationId xmlns:p14="http://schemas.microsoft.com/office/powerpoint/2010/main" val="2384196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816E1E9-1B50-BC39-BE3A-AFDDF27CC4C7}"/>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128593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42DEB143-89C9-076B-466C-73BE156FD58B}"/>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1598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A015F4D-DE23-F2FC-1853-93512C13AB1B}"/>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25573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816E11E5-B722-B4E0-8233-E8E58F314BD6}"/>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9992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CADA43D-D69A-D7AE-81F9-ED5E4E7A18A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32891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41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a:extLst>
              <a:ext uri="{FF2B5EF4-FFF2-40B4-BE49-F238E27FC236}">
                <a16:creationId xmlns:a16="http://schemas.microsoft.com/office/drawing/2014/main" id="{4AA1305F-50C0-9117-EE66-5430C74994B7}"/>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91441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6914F403-DB38-13CA-CC40-CAE2A088327D}"/>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424124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91B8750C-22DC-D652-EE9D-9D81650FC9D5}"/>
              </a:ext>
            </a:extLst>
          </p:cNvPr>
          <p:cNvPicPr>
            <a:picLocks noChangeAspect="1"/>
          </p:cNvPicPr>
          <p:nvPr userDrawn="1"/>
        </p:nvPicPr>
        <p:blipFill>
          <a:blip r:embed="rId2"/>
          <a:stretch>
            <a:fillRect/>
          </a:stretch>
        </p:blipFill>
        <p:spPr>
          <a:xfrm>
            <a:off x="6238240" y="185696"/>
            <a:ext cx="726014" cy="319446"/>
          </a:xfrm>
          <a:prstGeom prst="rect">
            <a:avLst/>
          </a:prstGeom>
        </p:spPr>
      </p:pic>
    </p:spTree>
    <p:extLst>
      <p:ext uri="{BB962C8B-B14F-4D97-AF65-F5344CB8AC3E}">
        <p14:creationId xmlns:p14="http://schemas.microsoft.com/office/powerpoint/2010/main" val="23163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7419628F-1787-26D4-A797-33B21045805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9235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8" name="Picture 7">
            <a:extLst>
              <a:ext uri="{FF2B5EF4-FFF2-40B4-BE49-F238E27FC236}">
                <a16:creationId xmlns:a16="http://schemas.microsoft.com/office/drawing/2014/main" id="{8C05115D-2B3B-A0F2-8B96-FF372AE7620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58677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E69252F8-DFBE-EC79-0D43-E7702CC2845C}"/>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1907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7" name="Picture 6">
            <a:extLst>
              <a:ext uri="{FF2B5EF4-FFF2-40B4-BE49-F238E27FC236}">
                <a16:creationId xmlns:a16="http://schemas.microsoft.com/office/drawing/2014/main" id="{4A252413-6471-13E8-59E6-F7EEDC0F07B7}"/>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777894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10449300-3D10-A0CB-2DB5-98F274AC663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7491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DBAFCF80-E27A-06C5-A850-78E5A5D2C2BD}"/>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00495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197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6/28/2026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5945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pxhere.com/en/photo/92064"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peter.baumgartner.name/2014/05/23/double-blind-review-ein-fallbeispie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www2.cs.sfu.ca/CourseCentral/165/ggbaker/1164-d1/guide/content/html-semantic.html" TargetMode="Externa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7F88-6791-2CCC-FDDE-DEB157237E3D}"/>
              </a:ext>
            </a:extLst>
          </p:cNvPr>
          <p:cNvSpPr>
            <a:spLocks noGrp="1"/>
          </p:cNvSpPr>
          <p:nvPr>
            <p:ph type="ctrTitle"/>
          </p:nvPr>
        </p:nvSpPr>
        <p:spPr>
          <a:xfrm>
            <a:off x="1476103" y="1358537"/>
            <a:ext cx="5481211" cy="2692299"/>
          </a:xfrm>
        </p:spPr>
        <p:txBody>
          <a:bodyPr/>
          <a:lstStyle/>
          <a:p>
            <a:r>
              <a:rPr lang="en-US" dirty="0"/>
              <a:t>Web Development Foundations</a:t>
            </a:r>
          </a:p>
        </p:txBody>
      </p:sp>
      <p:sp>
        <p:nvSpPr>
          <p:cNvPr id="3" name="Subtitle 2">
            <a:extLst>
              <a:ext uri="{FF2B5EF4-FFF2-40B4-BE49-F238E27FC236}">
                <a16:creationId xmlns:a16="http://schemas.microsoft.com/office/drawing/2014/main" id="{33F15B13-1D93-97F4-3DBC-B06CC6F12095}"/>
              </a:ext>
            </a:extLst>
          </p:cNvPr>
          <p:cNvSpPr>
            <a:spLocks noGrp="1"/>
          </p:cNvSpPr>
          <p:nvPr>
            <p:ph type="subTitle" idx="1"/>
          </p:nvPr>
        </p:nvSpPr>
        <p:spPr/>
        <p:txBody>
          <a:bodyPr/>
          <a:lstStyle/>
          <a:p>
            <a:r>
              <a:rPr lang="en-US" dirty="0"/>
              <a:t>Week 2 – “I Can Control Appearance”</a:t>
            </a:r>
          </a:p>
          <a:p>
            <a:r>
              <a:rPr lang="en-US" i="1" dirty="0"/>
              <a:t>Day 1: “CSS Foundations”</a:t>
            </a:r>
          </a:p>
        </p:txBody>
      </p:sp>
    </p:spTree>
    <p:extLst>
      <p:ext uri="{BB962C8B-B14F-4D97-AF65-F5344CB8AC3E}">
        <p14:creationId xmlns:p14="http://schemas.microsoft.com/office/powerpoint/2010/main" val="379502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hotograph of a modern architectural structure featuring a geometric glass and metal roof with angular patterns against a blue sky with scattered clouds. The design highlights intersecting lines and transparent panels, creating a visually striking contrast between solid framework and open sky.">
            <a:extLst>
              <a:ext uri="{FF2B5EF4-FFF2-40B4-BE49-F238E27FC236}">
                <a16:creationId xmlns:a16="http://schemas.microsoft.com/office/drawing/2014/main" id="{6CBBC5F8-9F67-6EA4-E7DF-9D2FB0C6B8EB}"/>
              </a:ext>
            </a:extLst>
          </p:cNvPr>
          <p:cNvPicPr>
            <a:picLocks noChangeAspect="1"/>
          </p:cNvPicPr>
          <p:nvPr/>
        </p:nvPicPr>
        <p:blipFill>
          <a:blip r:embed="rId3">
            <a:extLst>
              <a:ext uri="{837473B0-CC2E-450A-ABE3-18F120FF3D39}">
                <a1611:picAttrSrcUrl xmlns:a1611="http://schemas.microsoft.com/office/drawing/2016/11/main" r:id="rId4"/>
              </a:ext>
            </a:extLst>
          </a:blip>
          <a:srcRect l="21121" r="21121"/>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B54A34B9-4282-4F69-6D75-152BF8906AA8}"/>
              </a:ext>
            </a:extLst>
          </p:cNvPr>
          <p:cNvSpPr>
            <a:spLocks noGrp="1"/>
          </p:cNvSpPr>
          <p:nvPr>
            <p:ph type="title"/>
          </p:nvPr>
        </p:nvSpPr>
        <p:spPr>
          <a:xfrm>
            <a:off x="507999" y="609600"/>
            <a:ext cx="2888343" cy="1320800"/>
          </a:xfrm>
        </p:spPr>
        <p:txBody>
          <a:bodyPr>
            <a:normAutofit/>
          </a:bodyPr>
          <a:lstStyle/>
          <a:p>
            <a:pPr>
              <a:lnSpc>
                <a:spcPct val="90000"/>
              </a:lnSpc>
            </a:pPr>
            <a:r>
              <a:rPr lang="en-US" sz="3100"/>
              <a:t>From Structure To Appearance</a:t>
            </a:r>
          </a:p>
        </p:txBody>
      </p:sp>
      <p:sp>
        <p:nvSpPr>
          <p:cNvPr id="3" name="Content Placeholder 2">
            <a:extLst>
              <a:ext uri="{FF2B5EF4-FFF2-40B4-BE49-F238E27FC236}">
                <a16:creationId xmlns:a16="http://schemas.microsoft.com/office/drawing/2014/main" id="{321FFBCD-3E25-CBB7-2E73-683DBF46A6D1}"/>
              </a:ext>
            </a:extLst>
          </p:cNvPr>
          <p:cNvSpPr>
            <a:spLocks noGrp="1"/>
          </p:cNvSpPr>
          <p:nvPr>
            <p:ph idx="1"/>
          </p:nvPr>
        </p:nvSpPr>
        <p:spPr>
          <a:xfrm>
            <a:off x="508000" y="2160589"/>
            <a:ext cx="2888342" cy="3880773"/>
          </a:xfrm>
        </p:spPr>
        <p:txBody>
          <a:bodyPr>
            <a:normAutofit/>
          </a:bodyPr>
          <a:lstStyle/>
          <a:p>
            <a:pPr marL="0" indent="0">
              <a:buNone/>
            </a:pPr>
            <a:r>
              <a:rPr lang="en-US" dirty="0"/>
              <a:t>Last week:</a:t>
            </a:r>
          </a:p>
          <a:p>
            <a:r>
              <a:rPr lang="en-US" dirty="0"/>
              <a:t>HTML made the site exist.</a:t>
            </a:r>
          </a:p>
          <a:p>
            <a:r>
              <a:rPr lang="en-US" dirty="0"/>
              <a:t>Structure gave content meaning.</a:t>
            </a:r>
          </a:p>
          <a:p>
            <a:pPr marL="0" indent="0">
              <a:buNone/>
            </a:pPr>
            <a:endParaRPr lang="en-US" dirty="0"/>
          </a:p>
          <a:p>
            <a:pPr marL="0" indent="0">
              <a:buNone/>
            </a:pPr>
            <a:r>
              <a:rPr lang="en-US" dirty="0"/>
              <a:t>This week:</a:t>
            </a:r>
          </a:p>
          <a:p>
            <a:r>
              <a:rPr lang="en-US" dirty="0"/>
              <a:t>CSS changes how that structure appears.</a:t>
            </a:r>
          </a:p>
          <a:p>
            <a:r>
              <a:rPr lang="en-US" dirty="0"/>
              <a:t>We add a new layer.</a:t>
            </a:r>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953162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FE242-E002-51B1-970F-58B2330EEF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B3B052-1E30-7548-65ED-289BE54F59D0}"/>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Structure To Appearance</a:t>
            </a:r>
          </a:p>
        </p:txBody>
      </p:sp>
      <p:pic>
        <p:nvPicPr>
          <p:cNvPr id="5" name="Picture Placeholder 4" descr="Diagram illustrating how HTML provides structure and meaning to a webpage, while CSS adds appearance and readability through colors, spacing, and fonts. It features a layered design with labeled sections showing HTML code elements below and a styled webpage preview above, emphasizing the importance of adding a CSS layer without rebuilding HTML structure.">
            <a:extLst>
              <a:ext uri="{FF2B5EF4-FFF2-40B4-BE49-F238E27FC236}">
                <a16:creationId xmlns:a16="http://schemas.microsoft.com/office/drawing/2014/main" id="{8D4A961D-A107-21DB-142B-81B97560176D}"/>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09819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5A1929-CEC7-C729-AC19-1CAB08A19D79}"/>
            </a:ext>
          </a:extLst>
        </p:cNvPr>
        <p:cNvGrpSpPr/>
        <p:nvPr/>
      </p:nvGrpSpPr>
      <p:grpSpPr>
        <a:xfrm>
          <a:off x="0" y="0"/>
          <a:ext cx="0" cy="0"/>
          <a:chOff x="0" y="0"/>
          <a:chExt cx="0" cy="0"/>
        </a:xfrm>
      </p:grpSpPr>
      <p:pic>
        <p:nvPicPr>
          <p:cNvPr id="5" name="Picture 4" descr="3D illustration of a figure holding a large magnifying glass over the word &quot;REVIEW&quot; in bold red letters. The image symbolizes scrutiny or examination, emphasizing detailed analysis or assessment.">
            <a:extLst>
              <a:ext uri="{FF2B5EF4-FFF2-40B4-BE49-F238E27FC236}">
                <a16:creationId xmlns:a16="http://schemas.microsoft.com/office/drawing/2014/main" id="{CA361106-D4D1-3812-22C6-44BC22C580DA}"/>
              </a:ext>
            </a:extLst>
          </p:cNvPr>
          <p:cNvPicPr>
            <a:picLocks noChangeAspect="1"/>
          </p:cNvPicPr>
          <p:nvPr/>
        </p:nvPicPr>
        <p:blipFill>
          <a:blip r:embed="rId3">
            <a:extLst>
              <a:ext uri="{837473B0-CC2E-450A-ABE3-18F120FF3D39}">
                <a1611:picAttrSrcUrl xmlns:a1611="http://schemas.microsoft.com/office/drawing/2016/11/main" r:id="rId4"/>
              </a:ext>
            </a:extLst>
          </a:blip>
          <a:srcRect l="6681" r="6681"/>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064D85B4-5F57-9B66-7CA2-BBEA8F212E9D}"/>
              </a:ext>
            </a:extLst>
          </p:cNvPr>
          <p:cNvSpPr>
            <a:spLocks noGrp="1"/>
          </p:cNvSpPr>
          <p:nvPr>
            <p:ph type="title"/>
          </p:nvPr>
        </p:nvSpPr>
        <p:spPr>
          <a:xfrm>
            <a:off x="507999" y="609600"/>
            <a:ext cx="2888343" cy="1320800"/>
          </a:xfrm>
        </p:spPr>
        <p:txBody>
          <a:bodyPr>
            <a:normAutofit/>
          </a:bodyPr>
          <a:lstStyle/>
          <a:p>
            <a:pPr>
              <a:lnSpc>
                <a:spcPct val="90000"/>
              </a:lnSpc>
            </a:pPr>
            <a:r>
              <a:rPr lang="en-US" sz="2800" dirty="0"/>
              <a:t>Lab Review: </a:t>
            </a:r>
            <a:br>
              <a:rPr lang="en-US" sz="2800" dirty="0"/>
            </a:br>
            <a:r>
              <a:rPr lang="en-US" sz="2800" dirty="0"/>
              <a:t>One Successful HTML Path</a:t>
            </a:r>
          </a:p>
        </p:txBody>
      </p:sp>
      <p:sp>
        <p:nvSpPr>
          <p:cNvPr id="3" name="Content Placeholder 2">
            <a:extLst>
              <a:ext uri="{FF2B5EF4-FFF2-40B4-BE49-F238E27FC236}">
                <a16:creationId xmlns:a16="http://schemas.microsoft.com/office/drawing/2014/main" id="{02526775-BBDC-8BB2-953E-294AECBF3E47}"/>
              </a:ext>
            </a:extLst>
          </p:cNvPr>
          <p:cNvSpPr>
            <a:spLocks noGrp="1"/>
          </p:cNvSpPr>
          <p:nvPr>
            <p:ph idx="1"/>
          </p:nvPr>
        </p:nvSpPr>
        <p:spPr>
          <a:xfrm>
            <a:off x="508000" y="2160589"/>
            <a:ext cx="2888342" cy="3880773"/>
          </a:xfrm>
        </p:spPr>
        <p:txBody>
          <a:bodyPr>
            <a:normAutofit/>
          </a:bodyPr>
          <a:lstStyle/>
          <a:p>
            <a:pPr marL="0" indent="0">
              <a:lnSpc>
                <a:spcPct val="90000"/>
              </a:lnSpc>
              <a:buNone/>
            </a:pPr>
            <a:r>
              <a:rPr lang="en-US" sz="1500"/>
              <a:t>One successful Week 1 path:</a:t>
            </a:r>
          </a:p>
          <a:p>
            <a:pPr>
              <a:lnSpc>
                <a:spcPct val="90000"/>
              </a:lnSpc>
            </a:pPr>
            <a:r>
              <a:rPr lang="en-US" sz="1500"/>
              <a:t>at least three pages</a:t>
            </a:r>
          </a:p>
          <a:p>
            <a:pPr>
              <a:lnSpc>
                <a:spcPct val="90000"/>
              </a:lnSpc>
            </a:pPr>
            <a:r>
              <a:rPr lang="en-US" sz="1500"/>
              <a:t>clear headings and paragraphs</a:t>
            </a:r>
          </a:p>
          <a:p>
            <a:pPr>
              <a:lnSpc>
                <a:spcPct val="90000"/>
              </a:lnSpc>
            </a:pPr>
            <a:r>
              <a:rPr lang="en-US" sz="1500"/>
              <a:t>lists where useful</a:t>
            </a:r>
          </a:p>
          <a:p>
            <a:pPr>
              <a:lnSpc>
                <a:spcPct val="90000"/>
              </a:lnSpc>
            </a:pPr>
            <a:r>
              <a:rPr lang="en-US" sz="1500"/>
              <a:t>navigation between pages</a:t>
            </a:r>
          </a:p>
          <a:p>
            <a:pPr>
              <a:lnSpc>
                <a:spcPct val="90000"/>
              </a:lnSpc>
            </a:pPr>
            <a:r>
              <a:rPr lang="en-US" sz="1500"/>
              <a:t>semantic regions</a:t>
            </a:r>
          </a:p>
          <a:p>
            <a:pPr marL="0" indent="0">
              <a:lnSpc>
                <a:spcPct val="90000"/>
              </a:lnSpc>
              <a:buNone/>
            </a:pPr>
            <a:endParaRPr lang="en-US" sz="1500"/>
          </a:p>
          <a:p>
            <a:pPr marL="0" indent="0">
              <a:lnSpc>
                <a:spcPct val="90000"/>
              </a:lnSpc>
              <a:buNone/>
            </a:pPr>
            <a:r>
              <a:rPr lang="en-US" sz="1500" i="1"/>
              <a:t>What we will see is </a:t>
            </a:r>
            <a:r>
              <a:rPr lang="en-US" sz="1500" b="1" i="1"/>
              <a:t>one</a:t>
            </a:r>
            <a:r>
              <a:rPr lang="en-US" sz="1500" i="1"/>
              <a:t> acceptable path, </a:t>
            </a:r>
            <a:br>
              <a:rPr lang="en-US" sz="1500" i="1"/>
            </a:br>
            <a:r>
              <a:rPr lang="en-US" sz="1500" b="1" i="1"/>
              <a:t>not</a:t>
            </a:r>
            <a:r>
              <a:rPr lang="en-US" sz="1500" i="1"/>
              <a:t> the only answer.</a:t>
            </a:r>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a:extLst>
              <a:ext uri="{FF2B5EF4-FFF2-40B4-BE49-F238E27FC236}">
                <a16:creationId xmlns:a16="http://schemas.microsoft.com/office/drawing/2014/main" id="{D38AEABB-1D63-ED8D-B0C2-3A555095D363}"/>
              </a:ext>
            </a:extLst>
          </p:cNvPr>
          <p:cNvSpPr txBox="1"/>
          <p:nvPr/>
        </p:nvSpPr>
        <p:spPr>
          <a:xfrm>
            <a:off x="3202390" y="6858000"/>
            <a:ext cx="5941610" cy="230832"/>
          </a:xfrm>
          <a:prstGeom prst="rect">
            <a:avLst/>
          </a:prstGeom>
          <a:noFill/>
        </p:spPr>
        <p:txBody>
          <a:bodyPr wrap="square" rtlCol="0">
            <a:spAutoFit/>
          </a:bodyPr>
          <a:lstStyle/>
          <a:p>
            <a:r>
              <a:rPr lang="en-US" sz="900">
                <a:hlinkClick r:id="rId4" tooltip="https://peter.baumgartner.name/2014/05/23/double-blind-review-ein-fallbeispiel/"/>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2211141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410D77-E7C1-DDF5-0FD1-14A5194BF474}"/>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Successful HTML Path</a:t>
            </a:r>
          </a:p>
        </p:txBody>
      </p:sp>
      <p:pic>
        <p:nvPicPr>
          <p:cNvPr id="5" name="Picture Placeholder 4" descr="Diagram illustrating a successful HTML-only multi-page website structure with three linked pages labeled Home, Tips, and Schedule. Each page contains navigation links at the top, bullet points with example content, and arrows indicating bidirectional linking, emphasizing a single successful path with a note on progress and revision.">
            <a:extLst>
              <a:ext uri="{FF2B5EF4-FFF2-40B4-BE49-F238E27FC236}">
                <a16:creationId xmlns:a16="http://schemas.microsoft.com/office/drawing/2014/main" id="{C757C3C1-ECE7-8349-08D4-C79EF8E38625}"/>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78300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58CC1AB3-4E10-DC1D-19E9-262AA9AD4807}"/>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a:t>Review Coding Lab</a:t>
            </a:r>
          </a:p>
        </p:txBody>
      </p:sp>
      <p:pic>
        <p:nvPicPr>
          <p:cNvPr id="5" name="Picture 4">
            <a:extLst>
              <a:ext uri="{FF2B5EF4-FFF2-40B4-BE49-F238E27FC236}">
                <a16:creationId xmlns:a16="http://schemas.microsoft.com/office/drawing/2014/main" id="{9DC68C51-4C04-4FB3-8831-97CAFAF56E58}"/>
              </a:ext>
              <a:ext uri="{C183D7F6-B498-43B3-948B-1728B52AA6E4}">
                <adec:decorative xmlns:adec="http://schemas.microsoft.com/office/drawing/2017/decorative" val="1"/>
              </a:ext>
            </a:extLst>
          </p:cNvPr>
          <p:cNvPicPr>
            <a:picLocks noChangeAspect="1"/>
          </p:cNvPicPr>
          <p:nvPr/>
        </p:nvPicPr>
        <p:blipFill>
          <a:blip r:embed="rId3"/>
          <a:srcRect t="5843" b="6549"/>
          <a:stretch>
            <a:fillRect/>
          </a:stretch>
        </p:blipFill>
        <p:spPr>
          <a:xfrm>
            <a:off x="739476" y="609600"/>
            <a:ext cx="6216024" cy="3635025"/>
          </a:xfrm>
          <a:prstGeom prst="rect">
            <a:avLst/>
          </a:prstGeom>
        </p:spPr>
      </p:pic>
    </p:spTree>
    <p:extLst>
      <p:ext uri="{BB962C8B-B14F-4D97-AF65-F5344CB8AC3E}">
        <p14:creationId xmlns:p14="http://schemas.microsoft.com/office/powerpoint/2010/main" val="4175274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5B8ECC2-61BC-F48D-F7F7-E569F0E7B61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138B31F-CB14-4A56-DDAD-2F80AD0A3082}"/>
              </a:ext>
            </a:extLst>
          </p:cNvPr>
          <p:cNvSpPr>
            <a:spLocks noGrp="1"/>
          </p:cNvSpPr>
          <p:nvPr>
            <p:ph type="title"/>
          </p:nvPr>
        </p:nvSpPr>
        <p:spPr>
          <a:xfrm>
            <a:off x="508000" y="609599"/>
            <a:ext cx="2882531" cy="5545667"/>
          </a:xfrm>
        </p:spPr>
        <p:txBody>
          <a:bodyPr anchor="ctr">
            <a:normAutofit/>
          </a:bodyPr>
          <a:lstStyle/>
          <a:p>
            <a:r>
              <a:rPr lang="en-US">
                <a:solidFill>
                  <a:schemeClr val="tx1">
                    <a:lumMod val="85000"/>
                    <a:lumOff val="15000"/>
                  </a:schemeClr>
                </a:solidFill>
              </a:rPr>
              <a:t>What Week 1 Proved</a:t>
            </a:r>
          </a:p>
        </p:txBody>
      </p:sp>
      <p:sp>
        <p:nvSpPr>
          <p:cNvPr id="3" name="Content Placeholder 2">
            <a:extLst>
              <a:ext uri="{FF2B5EF4-FFF2-40B4-BE49-F238E27FC236}">
                <a16:creationId xmlns:a16="http://schemas.microsoft.com/office/drawing/2014/main" id="{9FED7114-FE45-8897-3BFF-9AD2FF87241B}"/>
              </a:ext>
            </a:extLst>
          </p:cNvPr>
          <p:cNvSpPr>
            <a:spLocks noGrp="1"/>
          </p:cNvSpPr>
          <p:nvPr>
            <p:ph idx="1"/>
          </p:nvPr>
        </p:nvSpPr>
        <p:spPr>
          <a:xfrm>
            <a:off x="4587063" y="609600"/>
            <a:ext cx="4133472" cy="5545667"/>
          </a:xfrm>
        </p:spPr>
        <p:txBody>
          <a:bodyPr anchor="ctr">
            <a:normAutofit/>
          </a:bodyPr>
          <a:lstStyle/>
          <a:p>
            <a:r>
              <a:rPr lang="en-US" dirty="0">
                <a:solidFill>
                  <a:srgbClr val="FFFFFF"/>
                </a:solidFill>
              </a:rPr>
              <a:t>the browser can read your files</a:t>
            </a:r>
          </a:p>
          <a:p>
            <a:r>
              <a:rPr lang="en-US" dirty="0">
                <a:solidFill>
                  <a:srgbClr val="FFFFFF"/>
                </a:solidFill>
              </a:rPr>
              <a:t>pages can link to each other</a:t>
            </a:r>
          </a:p>
          <a:p>
            <a:r>
              <a:rPr lang="en-US" dirty="0">
                <a:solidFill>
                  <a:srgbClr val="FFFFFF"/>
                </a:solidFill>
              </a:rPr>
              <a:t>headings and sections create meaning</a:t>
            </a:r>
          </a:p>
          <a:p>
            <a:r>
              <a:rPr lang="en-US" dirty="0">
                <a:solidFill>
                  <a:srgbClr val="FFFFFF"/>
                </a:solidFill>
              </a:rPr>
              <a:t>plain can still be correct</a:t>
            </a:r>
          </a:p>
          <a:p>
            <a:pPr marL="0" indent="0">
              <a:buNone/>
            </a:pPr>
            <a:endParaRPr lang="en-US" dirty="0">
              <a:solidFill>
                <a:srgbClr val="FFFFFF"/>
              </a:solidFill>
            </a:endParaRPr>
          </a:p>
          <a:p>
            <a:pPr marL="0" indent="0">
              <a:buNone/>
            </a:pPr>
            <a:r>
              <a:rPr lang="en-US" dirty="0">
                <a:solidFill>
                  <a:srgbClr val="FFFFFF"/>
                </a:solidFill>
              </a:rPr>
              <a:t>Going forward: “CSS should improve the experience without replacing the structure.”</a:t>
            </a:r>
          </a:p>
        </p:txBody>
      </p:sp>
    </p:spTree>
    <p:extLst>
      <p:ext uri="{BB962C8B-B14F-4D97-AF65-F5344CB8AC3E}">
        <p14:creationId xmlns:p14="http://schemas.microsoft.com/office/powerpoint/2010/main" val="2941837527"/>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F4AAAF-C9CC-4B3F-44B1-7B0604BA0428}"/>
            </a:ext>
          </a:extLst>
        </p:cNvPr>
        <p:cNvGrpSpPr/>
        <p:nvPr/>
      </p:nvGrpSpPr>
      <p:grpSpPr>
        <a:xfrm>
          <a:off x="0" y="0"/>
          <a:ext cx="0" cy="0"/>
          <a:chOff x="0" y="0"/>
          <a:chExt cx="0" cy="0"/>
        </a:xfrm>
      </p:grpSpPr>
      <p:pic>
        <p:nvPicPr>
          <p:cNvPr id="5" name="Picture 4" descr="Screenshot of a text editing software's font and style toolbar showcasing font options like Calibri, bold, italic, underline, and text color tools. A dropdown menu displays various quick style presets such as Normal, Title, Subtitle, Heading 1, and Emphasis with different font sizes, colors, and formatting styles highlighted.">
            <a:extLst>
              <a:ext uri="{FF2B5EF4-FFF2-40B4-BE49-F238E27FC236}">
                <a16:creationId xmlns:a16="http://schemas.microsoft.com/office/drawing/2014/main" id="{BD9A70B5-8336-AFA2-5138-A5D6187DF1E1}"/>
              </a:ext>
              <a:ext uri="{C183D7F6-B498-43B3-948B-1728B52AA6E4}">
                <adec:decorative xmlns:adec="http://schemas.microsoft.com/office/drawing/2017/decorative" val="0"/>
              </a:ext>
            </a:extLst>
          </p:cNvPr>
          <p:cNvPicPr>
            <a:picLocks noChangeAspect="1"/>
          </p:cNvPicPr>
          <p:nvPr/>
        </p:nvPicPr>
        <p:blipFill>
          <a:blip r:embed="rId3">
            <a:extLst>
              <a:ext uri="{837473B0-CC2E-450A-ABE3-18F120FF3D39}">
                <a1611:picAttrSrcUrl xmlns:a1611="http://schemas.microsoft.com/office/drawing/2016/11/main" r:id="rId4"/>
              </a:ext>
            </a:extLst>
          </a:blip>
          <a:srcRect l="24867" r="24867"/>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9DD7E75B-653F-656F-E899-87202F28D83B}"/>
              </a:ext>
            </a:extLst>
          </p:cNvPr>
          <p:cNvSpPr>
            <a:spLocks noGrp="1"/>
          </p:cNvSpPr>
          <p:nvPr>
            <p:ph type="title"/>
          </p:nvPr>
        </p:nvSpPr>
        <p:spPr>
          <a:xfrm>
            <a:off x="507999" y="609600"/>
            <a:ext cx="2888343" cy="1320800"/>
          </a:xfrm>
        </p:spPr>
        <p:txBody>
          <a:bodyPr>
            <a:normAutofit/>
          </a:bodyPr>
          <a:lstStyle/>
          <a:p>
            <a:pPr>
              <a:lnSpc>
                <a:spcPct val="90000"/>
              </a:lnSpc>
            </a:pPr>
            <a:r>
              <a:rPr lang="en-US" sz="3100"/>
              <a:t>CSS Is A Separate Layer</a:t>
            </a:r>
          </a:p>
        </p:txBody>
      </p:sp>
      <p:sp>
        <p:nvSpPr>
          <p:cNvPr id="3" name="Content Placeholder 2">
            <a:extLst>
              <a:ext uri="{FF2B5EF4-FFF2-40B4-BE49-F238E27FC236}">
                <a16:creationId xmlns:a16="http://schemas.microsoft.com/office/drawing/2014/main" id="{9A110E7D-F27A-1F95-F97C-B38FA6FEBFC7}"/>
              </a:ext>
            </a:extLst>
          </p:cNvPr>
          <p:cNvSpPr>
            <a:spLocks noGrp="1"/>
          </p:cNvSpPr>
          <p:nvPr>
            <p:ph idx="1"/>
          </p:nvPr>
        </p:nvSpPr>
        <p:spPr>
          <a:xfrm>
            <a:off x="508000" y="2160589"/>
            <a:ext cx="2888342" cy="3880773"/>
          </a:xfrm>
        </p:spPr>
        <p:txBody>
          <a:bodyPr>
            <a:normAutofit/>
          </a:bodyPr>
          <a:lstStyle/>
          <a:p>
            <a:pPr marL="0" indent="0">
              <a:buNone/>
            </a:pPr>
            <a:r>
              <a:rPr lang="en-US" dirty="0"/>
              <a:t>CSS controls appearance.</a:t>
            </a:r>
          </a:p>
          <a:p>
            <a:r>
              <a:rPr lang="en-US" dirty="0"/>
              <a:t>color</a:t>
            </a:r>
          </a:p>
          <a:p>
            <a:r>
              <a:rPr lang="en-US" dirty="0"/>
              <a:t>font</a:t>
            </a:r>
          </a:p>
          <a:p>
            <a:r>
              <a:rPr lang="en-US" dirty="0"/>
              <a:t>spacing</a:t>
            </a:r>
          </a:p>
          <a:p>
            <a:r>
              <a:rPr lang="en-US" dirty="0"/>
              <a:t>readable line length</a:t>
            </a:r>
          </a:p>
          <a:p>
            <a:r>
              <a:rPr lang="en-US" dirty="0"/>
              <a:t>visual consistency</a:t>
            </a:r>
          </a:p>
          <a:p>
            <a:pPr marL="0" indent="0">
              <a:buNone/>
            </a:pPr>
            <a:endParaRPr lang="en-US" dirty="0"/>
          </a:p>
          <a:p>
            <a:pPr marL="0" indent="0">
              <a:buNone/>
            </a:pPr>
            <a:r>
              <a:rPr lang="en-US" i="1" dirty="0"/>
              <a:t>HTML still controls structure and meaning.</a:t>
            </a:r>
            <a:endParaRPr lang="en-US" i="1"/>
          </a:p>
        </p:txBody>
      </p:sp>
      <p:cxnSp>
        <p:nvCxnSpPr>
          <p:cNvPr id="14" name="Straight Connector 13">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Box 3">
            <a:extLst>
              <a:ext uri="{FF2B5EF4-FFF2-40B4-BE49-F238E27FC236}">
                <a16:creationId xmlns:a16="http://schemas.microsoft.com/office/drawing/2014/main" id="{6506503A-3204-4188-EC13-5F91589CF4F1}"/>
              </a:ext>
            </a:extLst>
          </p:cNvPr>
          <p:cNvSpPr txBox="1"/>
          <p:nvPr/>
        </p:nvSpPr>
        <p:spPr>
          <a:xfrm>
            <a:off x="3202390" y="6858000"/>
            <a:ext cx="5941610" cy="230832"/>
          </a:xfrm>
          <a:prstGeom prst="rect">
            <a:avLst/>
          </a:prstGeom>
          <a:noFill/>
        </p:spPr>
        <p:txBody>
          <a:bodyPr wrap="square" rtlCol="0">
            <a:spAutoFit/>
          </a:bodyPr>
          <a:lstStyle/>
          <a:p>
            <a:r>
              <a:rPr lang="en-US" sz="900">
                <a:hlinkClick r:id="rId4" tooltip="https://www2.cs.sfu.ca/CourseCentral/165/ggbaker/1164-d1/guide/content/html-semantic.html"/>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3870027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BB2258-2A42-7358-855B-3C842DFCA6C1}"/>
              </a:ext>
            </a:extLst>
          </p:cNvPr>
          <p:cNvSpPr>
            <a:spLocks noGrp="1"/>
          </p:cNvSpPr>
          <p:nvPr>
            <p:ph type="title"/>
          </p:nvPr>
        </p:nvSpPr>
        <p:spPr>
          <a:xfrm>
            <a:off x="965199" y="609600"/>
            <a:ext cx="7648121" cy="1099457"/>
          </a:xfrm>
        </p:spPr>
        <p:txBody>
          <a:bodyPr>
            <a:normAutofit/>
          </a:bodyPr>
          <a:lstStyle/>
          <a:p>
            <a:r>
              <a:rPr lang="en-US"/>
              <a:t>What Counts as Success Today</a:t>
            </a:r>
          </a:p>
        </p:txBody>
      </p:sp>
      <p:sp>
        <p:nvSpPr>
          <p:cNvPr id="13" name="Isosceles Triangle 12">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6" name="Content Placeholder 5">
            <a:extLst>
              <a:ext uri="{FF2B5EF4-FFF2-40B4-BE49-F238E27FC236}">
                <a16:creationId xmlns:a16="http://schemas.microsoft.com/office/drawing/2014/main" id="{D9D804E1-96D4-16D7-7824-FCAA64C9FE26}"/>
              </a:ext>
            </a:extLst>
          </p:cNvPr>
          <p:cNvGraphicFramePr>
            <a:graphicFrameLocks noGrp="1"/>
          </p:cNvGraphicFramePr>
          <p:nvPr>
            <p:ph idx="1"/>
            <p:extLst>
              <p:ext uri="{D42A27DB-BD31-4B8C-83A1-F6EECF244321}">
                <p14:modId xmlns:p14="http://schemas.microsoft.com/office/powerpoint/2010/main" val="301699096"/>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41456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C1AD2-E72F-7796-291A-36CD1216022D}"/>
              </a:ext>
            </a:extLst>
          </p:cNvPr>
          <p:cNvSpPr>
            <a:spLocks noGrp="1"/>
          </p:cNvSpPr>
          <p:nvPr>
            <p:ph type="title"/>
          </p:nvPr>
        </p:nvSpPr>
        <p:spPr>
          <a:xfrm>
            <a:off x="4152550" y="609600"/>
            <a:ext cx="2802951" cy="1320800"/>
          </a:xfrm>
        </p:spPr>
        <p:txBody>
          <a:bodyPr>
            <a:normAutofit/>
          </a:bodyPr>
          <a:lstStyle/>
          <a:p>
            <a:r>
              <a:rPr lang="en-US" sz="3300" dirty="0"/>
              <a:t>What We Will Use Today</a:t>
            </a:r>
          </a:p>
        </p:txBody>
      </p:sp>
      <p:sp>
        <p:nvSpPr>
          <p:cNvPr id="3" name="Content Placeholder 2">
            <a:extLst>
              <a:ext uri="{FF2B5EF4-FFF2-40B4-BE49-F238E27FC236}">
                <a16:creationId xmlns:a16="http://schemas.microsoft.com/office/drawing/2014/main" id="{186EEC5C-1292-A4A2-1E2D-A19D199A8749}"/>
              </a:ext>
            </a:extLst>
          </p:cNvPr>
          <p:cNvSpPr>
            <a:spLocks noGrp="1"/>
          </p:cNvSpPr>
          <p:nvPr>
            <p:ph idx="1"/>
          </p:nvPr>
        </p:nvSpPr>
        <p:spPr>
          <a:xfrm>
            <a:off x="3907172" y="2160589"/>
            <a:ext cx="3048329" cy="3880773"/>
          </a:xfrm>
        </p:spPr>
        <p:txBody>
          <a:bodyPr>
            <a:normAutofit/>
          </a:bodyPr>
          <a:lstStyle/>
          <a:p>
            <a:r>
              <a:rPr lang="en-US" dirty="0"/>
              <a:t>`styles.css`</a:t>
            </a:r>
          </a:p>
          <a:p>
            <a:r>
              <a:rPr lang="en-US" dirty="0"/>
              <a:t>stylesheet link</a:t>
            </a:r>
          </a:p>
          <a:p>
            <a:r>
              <a:rPr lang="en-US" dirty="0"/>
              <a:t>selector</a:t>
            </a:r>
          </a:p>
          <a:p>
            <a:r>
              <a:rPr lang="en-US" dirty="0"/>
              <a:t>property</a:t>
            </a:r>
          </a:p>
          <a:p>
            <a:r>
              <a:rPr lang="en-US" dirty="0"/>
              <a:t>value</a:t>
            </a:r>
          </a:p>
          <a:p>
            <a:r>
              <a:rPr lang="en-US" dirty="0"/>
              <a:t>save and refresh</a:t>
            </a:r>
          </a:p>
        </p:txBody>
      </p:sp>
      <p:pic>
        <p:nvPicPr>
          <p:cNvPr id="28" name="Picture 27">
            <a:extLst>
              <a:ext uri="{FF2B5EF4-FFF2-40B4-BE49-F238E27FC236}">
                <a16:creationId xmlns:a16="http://schemas.microsoft.com/office/drawing/2014/main" id="{38D50984-DDEB-A743-533E-89C11F357B8D}"/>
              </a:ext>
              <a:ext uri="{C183D7F6-B498-43B3-948B-1728B52AA6E4}">
                <adec:decorative xmlns:adec="http://schemas.microsoft.com/office/drawing/2017/decorative" val="1"/>
              </a:ext>
            </a:extLst>
          </p:cNvPr>
          <p:cNvPicPr>
            <a:picLocks noChangeAspect="1"/>
          </p:cNvPicPr>
          <p:nvPr/>
        </p:nvPicPr>
        <p:blipFill>
          <a:blip r:embed="rId3"/>
          <a:srcRect l="10423"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3" name="Isosceles Triangle 32">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5764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F8307-A357-1C15-A2D5-8979D6416B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6E9B78-2281-4D75-5598-73B30E3E0FDD}"/>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Toolbox</a:t>
            </a:r>
          </a:p>
        </p:txBody>
      </p:sp>
      <p:pic>
        <p:nvPicPr>
          <p:cNvPr id="5" name="Picture Placeholder 4" descr="Illustration of a blue toolbox labeled &quot;Today's Beginner CSS Toolbox&quot; with seven compartments, each containing an icon and label representing CSS concepts: styles.css, stylesheet link, selector, property, value, save, and refresh. The image emphasizes a step-by-step approach to learning CSS, highlighted by a motivational note at the bottom encouraging gradual progress.">
            <a:extLst>
              <a:ext uri="{FF2B5EF4-FFF2-40B4-BE49-F238E27FC236}">
                <a16:creationId xmlns:a16="http://schemas.microsoft.com/office/drawing/2014/main" id="{66C4FB15-3D31-91F8-6724-FC1C580F473B}"/>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74006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6D73-36C1-785B-BF1E-F70A56E45447}"/>
              </a:ext>
            </a:extLst>
          </p:cNvPr>
          <p:cNvSpPr>
            <a:spLocks noGrp="1"/>
          </p:cNvSpPr>
          <p:nvPr>
            <p:ph type="title"/>
          </p:nvPr>
        </p:nvSpPr>
        <p:spPr>
          <a:xfrm>
            <a:off x="508000" y="609600"/>
            <a:ext cx="6447501" cy="1320800"/>
          </a:xfrm>
        </p:spPr>
        <p:txBody>
          <a:bodyPr anchor="t">
            <a:normAutofit/>
          </a:bodyPr>
          <a:lstStyle/>
          <a:p>
            <a:r>
              <a:rPr lang="en-US" dirty="0"/>
              <a:t>What We Will “Skip” For Now</a:t>
            </a:r>
          </a:p>
        </p:txBody>
      </p:sp>
      <p:sp>
        <p:nvSpPr>
          <p:cNvPr id="24" name="Content Placeholder 2">
            <a:extLst>
              <a:ext uri="{FF2B5EF4-FFF2-40B4-BE49-F238E27FC236}">
                <a16:creationId xmlns:a16="http://schemas.microsoft.com/office/drawing/2014/main" id="{A8A78D41-48A5-98C1-1F53-FB08BC3F6B1D}"/>
              </a:ext>
            </a:extLst>
          </p:cNvPr>
          <p:cNvSpPr>
            <a:spLocks noGrp="1"/>
          </p:cNvSpPr>
          <p:nvPr>
            <p:ph idx="1"/>
          </p:nvPr>
        </p:nvSpPr>
        <p:spPr>
          <a:xfrm>
            <a:off x="508000" y="2160590"/>
            <a:ext cx="3915323" cy="3701270"/>
          </a:xfrm>
        </p:spPr>
        <p:txBody>
          <a:bodyPr>
            <a:normAutofit/>
          </a:bodyPr>
          <a:lstStyle/>
          <a:p>
            <a:r>
              <a:rPr lang="en-US" dirty="0"/>
              <a:t>full layout systems</a:t>
            </a:r>
          </a:p>
          <a:p>
            <a:r>
              <a:rPr lang="en-US" dirty="0"/>
              <a:t>Flexbox</a:t>
            </a:r>
          </a:p>
          <a:p>
            <a:r>
              <a:rPr lang="en-US" dirty="0"/>
              <a:t>media queries</a:t>
            </a:r>
          </a:p>
          <a:p>
            <a:r>
              <a:rPr lang="en-US" dirty="0"/>
              <a:t>animation</a:t>
            </a:r>
          </a:p>
          <a:p>
            <a:r>
              <a:rPr lang="en-US" dirty="0"/>
              <a:t>JavaScript behavior</a:t>
            </a:r>
          </a:p>
          <a:p>
            <a:pPr marL="0" indent="0">
              <a:buNone/>
            </a:pPr>
            <a:endParaRPr lang="en-US" dirty="0"/>
          </a:p>
          <a:p>
            <a:pPr marL="0" indent="0" algn="ctr">
              <a:buNone/>
            </a:pPr>
            <a:r>
              <a:rPr lang="en-US" i="1" dirty="0"/>
              <a:t>Today: connect CSS and make readable changes.</a:t>
            </a:r>
          </a:p>
          <a:p>
            <a:pPr marL="0" indent="0">
              <a:buNone/>
            </a:pPr>
            <a:endParaRPr lang="en-US" dirty="0"/>
          </a:p>
        </p:txBody>
      </p:sp>
      <p:pic>
        <p:nvPicPr>
          <p:cNvPr id="7" name="Graphic 6" descr="Disconnected">
            <a:extLst>
              <a:ext uri="{FF2B5EF4-FFF2-40B4-BE49-F238E27FC236}">
                <a16:creationId xmlns:a16="http://schemas.microsoft.com/office/drawing/2014/main" id="{634669AE-52A5-F086-9BDE-17982042AD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672713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E98C7-29B6-2B0E-A9A8-49871B4E48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0E7E40-8011-FBAE-9ACA-A2E086716544}"/>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200" dirty="0"/>
              <a:t>Parked For Later</a:t>
            </a:r>
          </a:p>
        </p:txBody>
      </p:sp>
      <p:pic>
        <p:nvPicPr>
          <p:cNvPr id="7" name="Picture Placeholder 6" descr="Diagram titled &quot;Week 2: Web Development Foundations&quot; showing five labeled cards—Flexbox, media queries, animation, JavaScript, and design frameworks—under a &quot;Parked for Later&quot; sign, indicating topics postponed for future focus. Cards use teal and gold colors with icons representing each topic, emphasizing a step-by-step learning approach by highlighting these subjects as important but deferred.">
            <a:extLst>
              <a:ext uri="{FF2B5EF4-FFF2-40B4-BE49-F238E27FC236}">
                <a16:creationId xmlns:a16="http://schemas.microsoft.com/office/drawing/2014/main" id="{5EE522F8-7EDB-117B-AC59-4152500414DB}"/>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08410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E0021-14FA-33D2-7880-94937217ED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E9B7FA-CFC5-851B-B861-46DFE6E7026D}"/>
              </a:ext>
            </a:extLst>
          </p:cNvPr>
          <p:cNvSpPr>
            <a:spLocks noGrp="1"/>
          </p:cNvSpPr>
          <p:nvPr>
            <p:ph type="title"/>
          </p:nvPr>
        </p:nvSpPr>
        <p:spPr>
          <a:xfrm>
            <a:off x="739476" y="5021551"/>
            <a:ext cx="6216024" cy="1096648"/>
          </a:xfrm>
        </p:spPr>
        <p:txBody>
          <a:bodyPr vert="horz" lIns="91440" tIns="45720" rIns="91440" bIns="45720" rtlCol="0" anchor="b">
            <a:normAutofit/>
          </a:bodyPr>
          <a:lstStyle/>
          <a:p>
            <a:pPr algn="ctr"/>
            <a:r>
              <a:rPr lang="en-US" sz="4400" dirty="0"/>
              <a:t>A CSS Rule Has Parts</a:t>
            </a:r>
            <a:endParaRPr lang="en-US" sz="4200" dirty="0"/>
          </a:p>
        </p:txBody>
      </p:sp>
      <p:pic>
        <p:nvPicPr>
          <p:cNvPr id="5" name="Picture Placeholder 4" descr="Diagram illustrating the structure of a CSS rule, showing how a selector, property, and value work together to style an element. It highlights an example with &quot;h1&quot; as selector, &quot;color&quot; as property, and &quot;#204b57&quot; as value, using labeled arrows and color-coded text for clarity.">
            <a:extLst>
              <a:ext uri="{FF2B5EF4-FFF2-40B4-BE49-F238E27FC236}">
                <a16:creationId xmlns:a16="http://schemas.microsoft.com/office/drawing/2014/main" id="{5F95D70A-AE9A-BE64-F6FA-7E6E32A9AC4D}"/>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556578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1F73DC-5EB8-910F-87F2-B007C66B00B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1B4FE0C-7447-4715-DE6A-F02BE6A043F5}"/>
              </a:ext>
            </a:extLst>
          </p:cNvPr>
          <p:cNvSpPr>
            <a:spLocks noGrp="1"/>
          </p:cNvSpPr>
          <p:nvPr>
            <p:ph type="title"/>
          </p:nvPr>
        </p:nvSpPr>
        <p:spPr>
          <a:xfrm>
            <a:off x="508000" y="609600"/>
            <a:ext cx="6447501" cy="1320800"/>
          </a:xfrm>
        </p:spPr>
        <p:txBody>
          <a:bodyPr anchor="t">
            <a:normAutofit/>
          </a:bodyPr>
          <a:lstStyle/>
          <a:p>
            <a:r>
              <a:rPr lang="en-US"/>
              <a:t>External Stylesheet Connection</a:t>
            </a:r>
            <a:endParaRPr lang="en-US" dirty="0"/>
          </a:p>
        </p:txBody>
      </p:sp>
      <p:sp>
        <p:nvSpPr>
          <p:cNvPr id="5" name="Content Placeholder 4">
            <a:extLst>
              <a:ext uri="{FF2B5EF4-FFF2-40B4-BE49-F238E27FC236}">
                <a16:creationId xmlns:a16="http://schemas.microsoft.com/office/drawing/2014/main" id="{10200189-CE71-7DC8-6357-E82F158F0968}"/>
              </a:ext>
            </a:extLst>
          </p:cNvPr>
          <p:cNvSpPr>
            <a:spLocks noGrp="1"/>
          </p:cNvSpPr>
          <p:nvPr>
            <p:ph idx="1"/>
          </p:nvPr>
        </p:nvSpPr>
        <p:spPr>
          <a:xfrm>
            <a:off x="508000" y="2160590"/>
            <a:ext cx="3915323" cy="3701270"/>
          </a:xfrm>
        </p:spPr>
        <p:txBody>
          <a:bodyPr>
            <a:normAutofit/>
          </a:bodyPr>
          <a:lstStyle/>
          <a:p>
            <a:pPr marL="0" indent="0">
              <a:buNone/>
            </a:pPr>
            <a:r>
              <a:rPr lang="en-US"/>
              <a:t>The HTML page must link to the CSS file.</a:t>
            </a:r>
          </a:p>
          <a:p>
            <a:pPr marL="0" indent="0">
              <a:buNone/>
            </a:pPr>
            <a:endParaRPr lang="en-US"/>
          </a:p>
          <a:p>
            <a:pPr marL="0" indent="0">
              <a:buNone/>
            </a:pPr>
            <a:r>
              <a:rPr lang="en-US"/>
              <a:t>In `head`:</a:t>
            </a:r>
          </a:p>
          <a:p>
            <a:pPr marL="0" indent="0">
              <a:buNone/>
            </a:pPr>
            <a:r>
              <a:rPr lang="en-US" b="1" i="1"/>
              <a:t>&lt;link </a:t>
            </a:r>
            <a:r>
              <a:rPr lang="en-US" b="1" i="1" err="1"/>
              <a:t>rel</a:t>
            </a:r>
            <a:r>
              <a:rPr lang="en-US" b="1" i="1"/>
              <a:t>="stylesheet" </a:t>
            </a:r>
            <a:r>
              <a:rPr lang="en-US" b="1" i="1" err="1"/>
              <a:t>href</a:t>
            </a:r>
            <a:r>
              <a:rPr lang="en-US" b="1" i="1"/>
              <a:t>="styles.css"&gt;</a:t>
            </a:r>
          </a:p>
          <a:p>
            <a:pPr marL="0" indent="0">
              <a:buNone/>
            </a:pPr>
            <a:endParaRPr lang="en-US"/>
          </a:p>
          <a:p>
            <a:pPr marL="0" indent="0">
              <a:buNone/>
            </a:pPr>
            <a:r>
              <a:rPr lang="en-US"/>
              <a:t>If the link is wrong, the CSS rules are ignored.</a:t>
            </a:r>
            <a:endParaRPr lang="en-US" dirty="0"/>
          </a:p>
        </p:txBody>
      </p:sp>
      <p:pic>
        <p:nvPicPr>
          <p:cNvPr id="32" name="Graphic 31" descr="Flowchart">
            <a:extLst>
              <a:ext uri="{FF2B5EF4-FFF2-40B4-BE49-F238E27FC236}">
                <a16:creationId xmlns:a16="http://schemas.microsoft.com/office/drawing/2014/main" id="{62880EE1-0F25-4384-0A17-26CE6AD632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720435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5D253-392E-1F92-DABC-953E33797F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DBC754-1494-F338-0E39-F00D28638C92}"/>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External Stylesheet Connection</a:t>
            </a:r>
          </a:p>
        </p:txBody>
      </p:sp>
      <p:pic>
        <p:nvPicPr>
          <p:cNvPr id="5" name="Picture Placeholder 4" descr="Diagram illustrating connection between an HTML file and an external CSS file, showing index.html with header, nav, main, and footer elements linked to styles.css via a link tag. Includes a note emphasizing that file names must match for styles to apply, with arrows and color-coded labels highlighting the linkage.">
            <a:extLst>
              <a:ext uri="{FF2B5EF4-FFF2-40B4-BE49-F238E27FC236}">
                <a16:creationId xmlns:a16="http://schemas.microsoft.com/office/drawing/2014/main" id="{0FB5DE67-3E65-D4D8-3229-33A7B22366C7}"/>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282647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6"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7" name="Isosceles Triangle 16">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8"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9"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0"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1" name="Isosceles Triangle 20">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2" name="Isosceles Triangle 21">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pSp>
      <p:pic>
        <p:nvPicPr>
          <p:cNvPr id="7" name="Picture 6">
            <a:extLst>
              <a:ext uri="{FF2B5EF4-FFF2-40B4-BE49-F238E27FC236}">
                <a16:creationId xmlns:a16="http://schemas.microsoft.com/office/drawing/2014/main" id="{3F92D707-4F6F-1707-563F-DAA7E83D0FDA}"/>
              </a:ext>
              <a:ext uri="{C183D7F6-B498-43B3-948B-1728B52AA6E4}">
                <adec:decorative xmlns:adec="http://schemas.microsoft.com/office/drawing/2017/decorative" val="1"/>
              </a:ext>
            </a:extLst>
          </p:cNvPr>
          <p:cNvPicPr>
            <a:picLocks noChangeAspect="1"/>
          </p:cNvPicPr>
          <p:nvPr/>
        </p:nvPicPr>
        <p:blipFill>
          <a:blip r:embed="rId3"/>
          <a:srcRect l="19091" t="9091"/>
          <a:stretch>
            <a:fillRect/>
          </a:stretch>
        </p:blipFill>
        <p:spPr>
          <a:xfrm>
            <a:off x="20" y="10"/>
            <a:ext cx="9143980" cy="6857990"/>
          </a:xfrm>
          <a:prstGeom prst="rect">
            <a:avLst/>
          </a:prstGeom>
        </p:spPr>
      </p:pic>
      <p:sp>
        <p:nvSpPr>
          <p:cNvPr id="24" name="Isosceles Triangle 23">
            <a:extLst>
              <a:ext uri="{FF2B5EF4-FFF2-40B4-BE49-F238E27FC236}">
                <a16:creationId xmlns:a16="http://schemas.microsoft.com/office/drawing/2014/main" id="{34257526-B660-46EC-83FB-51CCCEF4D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6" name="Parallelogram 25">
            <a:extLst>
              <a:ext uri="{FF2B5EF4-FFF2-40B4-BE49-F238E27FC236}">
                <a16:creationId xmlns:a16="http://schemas.microsoft.com/office/drawing/2014/main" id="{5E54613B-CC3A-459D-97E1-23B891DE9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6858000"/>
          </a:xfrm>
          <a:prstGeom prst="parallelogram">
            <a:avLst>
              <a:gd name="adj" fmla="val 14937"/>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cxnSp>
        <p:nvCxnSpPr>
          <p:cNvPr id="28" name="Straight Connector 27">
            <a:extLst>
              <a:ext uri="{FF2B5EF4-FFF2-40B4-BE49-F238E27FC236}">
                <a16:creationId xmlns:a16="http://schemas.microsoft.com/office/drawing/2014/main" id="{0B21385D-063D-42D0-BD60-907E9F826D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921B275-E6A3-4146-9F5F-5CD28092A3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 name="Rectangle 23">
            <a:extLst>
              <a:ext uri="{FF2B5EF4-FFF2-40B4-BE49-F238E27FC236}">
                <a16:creationId xmlns:a16="http://schemas.microsoft.com/office/drawing/2014/main" id="{28E190A5-6423-4EE2-AF46-8B82F34BC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4" name="Rectangle 25">
            <a:extLst>
              <a:ext uri="{FF2B5EF4-FFF2-40B4-BE49-F238E27FC236}">
                <a16:creationId xmlns:a16="http://schemas.microsoft.com/office/drawing/2014/main" id="{4A97AE97-5706-400B-8F09-602A25EA14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6" name="Isosceles Triangle 35">
            <a:extLst>
              <a:ext uri="{FF2B5EF4-FFF2-40B4-BE49-F238E27FC236}">
                <a16:creationId xmlns:a16="http://schemas.microsoft.com/office/drawing/2014/main" id="{0860785A-BE10-40E0-8A0F-805CD3F59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 name="Title 3">
            <a:extLst>
              <a:ext uri="{FF2B5EF4-FFF2-40B4-BE49-F238E27FC236}">
                <a16:creationId xmlns:a16="http://schemas.microsoft.com/office/drawing/2014/main" id="{2FC93F9C-2692-8651-EDC7-6D41F5D66139}"/>
              </a:ext>
            </a:extLst>
          </p:cNvPr>
          <p:cNvSpPr>
            <a:spLocks noGrp="1"/>
          </p:cNvSpPr>
          <p:nvPr>
            <p:ph type="title"/>
          </p:nvPr>
        </p:nvSpPr>
        <p:spPr>
          <a:xfrm>
            <a:off x="3528150" y="1678665"/>
            <a:ext cx="3427352" cy="2369131"/>
          </a:xfrm>
        </p:spPr>
        <p:txBody>
          <a:bodyPr vert="horz" lIns="91440" tIns="45720" rIns="91440" bIns="45720" rtlCol="0" anchor="b">
            <a:normAutofit/>
          </a:bodyPr>
          <a:lstStyle/>
          <a:p>
            <a:pPr algn="r"/>
            <a:r>
              <a:rPr lang="en-US" sz="5400"/>
              <a:t>Demo</a:t>
            </a:r>
            <a:endParaRPr lang="en-US" sz="5400" dirty="0"/>
          </a:p>
        </p:txBody>
      </p:sp>
      <p:sp>
        <p:nvSpPr>
          <p:cNvPr id="38" name="Rectangle 27">
            <a:extLst>
              <a:ext uri="{FF2B5EF4-FFF2-40B4-BE49-F238E27FC236}">
                <a16:creationId xmlns:a16="http://schemas.microsoft.com/office/drawing/2014/main" id="{2CD66695-C096-4E32-9AC2-19B4EFD66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0" name="Rectangle 28">
            <a:extLst>
              <a:ext uri="{FF2B5EF4-FFF2-40B4-BE49-F238E27FC236}">
                <a16:creationId xmlns:a16="http://schemas.microsoft.com/office/drawing/2014/main" id="{A97E83CA-07FA-4B94-A213-9E6DA6FA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2" name="Rectangle 29">
            <a:extLst>
              <a:ext uri="{FF2B5EF4-FFF2-40B4-BE49-F238E27FC236}">
                <a16:creationId xmlns:a16="http://schemas.microsoft.com/office/drawing/2014/main" id="{A531E02F-6391-4B0C-B1E1-D67E8EFC4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4" name="Isosceles Triangle 43">
            <a:extLst>
              <a:ext uri="{FF2B5EF4-FFF2-40B4-BE49-F238E27FC236}">
                <a16:creationId xmlns:a16="http://schemas.microsoft.com/office/drawing/2014/main" id="{568558EC-35CA-4EC8-BB31-75AB78ACA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extBox 1">
            <a:extLst>
              <a:ext uri="{FF2B5EF4-FFF2-40B4-BE49-F238E27FC236}">
                <a16:creationId xmlns:a16="http://schemas.microsoft.com/office/drawing/2014/main" id="{1C8DFD8B-5C86-3290-9577-EDD61563B509}"/>
              </a:ext>
            </a:extLst>
          </p:cNvPr>
          <p:cNvSpPr txBox="1"/>
          <p:nvPr/>
        </p:nvSpPr>
        <p:spPr>
          <a:xfrm>
            <a:off x="3879669" y="4558937"/>
            <a:ext cx="3320533" cy="36933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B4F8A"/>
                </a:solidFill>
                <a:effectLst/>
                <a:uLnTx/>
                <a:uFillTx/>
                <a:latin typeface="Trebuchet MS" panose="020B0603020202020204"/>
                <a:ea typeface="+mn-ea"/>
                <a:cs typeface="+mn-cs"/>
              </a:rPr>
              <a:t>“First Styles”</a:t>
            </a:r>
          </a:p>
        </p:txBody>
      </p:sp>
    </p:spTree>
    <p:extLst>
      <p:ext uri="{BB962C8B-B14F-4D97-AF65-F5344CB8AC3E}">
        <p14:creationId xmlns:p14="http://schemas.microsoft.com/office/powerpoint/2010/main" val="858767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5B7-E617-7232-3D45-118C5B1AF291}"/>
              </a:ext>
            </a:extLst>
          </p:cNvPr>
          <p:cNvSpPr>
            <a:spLocks noGrp="1"/>
          </p:cNvSpPr>
          <p:nvPr>
            <p:ph type="title"/>
          </p:nvPr>
        </p:nvSpPr>
        <p:spPr>
          <a:xfrm>
            <a:off x="4152550" y="609600"/>
            <a:ext cx="2802951" cy="1320800"/>
          </a:xfrm>
        </p:spPr>
        <p:txBody>
          <a:bodyPr>
            <a:normAutofit/>
          </a:bodyPr>
          <a:lstStyle/>
          <a:p>
            <a:r>
              <a:rPr lang="en-US" dirty="0"/>
              <a:t>What to Watch For</a:t>
            </a:r>
          </a:p>
        </p:txBody>
      </p:sp>
      <p:sp>
        <p:nvSpPr>
          <p:cNvPr id="3" name="Content Placeholder 2">
            <a:extLst>
              <a:ext uri="{FF2B5EF4-FFF2-40B4-BE49-F238E27FC236}">
                <a16:creationId xmlns:a16="http://schemas.microsoft.com/office/drawing/2014/main" id="{D4623AC4-941F-5169-DAA0-DF23E55C8058}"/>
              </a:ext>
            </a:extLst>
          </p:cNvPr>
          <p:cNvSpPr>
            <a:spLocks noGrp="1"/>
          </p:cNvSpPr>
          <p:nvPr>
            <p:ph idx="1"/>
          </p:nvPr>
        </p:nvSpPr>
        <p:spPr>
          <a:xfrm>
            <a:off x="3907172" y="2160589"/>
            <a:ext cx="3048329" cy="3880773"/>
          </a:xfrm>
        </p:spPr>
        <p:txBody>
          <a:bodyPr>
            <a:normAutofit/>
          </a:bodyPr>
          <a:lstStyle/>
          <a:p>
            <a:r>
              <a:rPr lang="en-US" dirty="0"/>
              <a:t>stylesheet link</a:t>
            </a:r>
          </a:p>
          <a:p>
            <a:r>
              <a:rPr lang="en-US" dirty="0"/>
              <a:t>first visible change</a:t>
            </a:r>
          </a:p>
          <a:p>
            <a:r>
              <a:rPr lang="en-US" dirty="0"/>
              <a:t>one selector at a time</a:t>
            </a:r>
          </a:p>
          <a:p>
            <a:r>
              <a:rPr lang="en-US" dirty="0"/>
              <a:t>save and refresh</a:t>
            </a:r>
          </a:p>
          <a:p>
            <a:r>
              <a:rPr lang="en-US" dirty="0"/>
              <a:t>HTML content staying the same</a:t>
            </a:r>
          </a:p>
        </p:txBody>
      </p:sp>
      <p:pic>
        <p:nvPicPr>
          <p:cNvPr id="5" name="Picture 4">
            <a:extLst>
              <a:ext uri="{FF2B5EF4-FFF2-40B4-BE49-F238E27FC236}">
                <a16:creationId xmlns:a16="http://schemas.microsoft.com/office/drawing/2014/main" id="{0A8CDE13-EC6E-831B-0134-AE933CD2D134}"/>
              </a:ext>
              <a:ext uri="{C183D7F6-B498-43B3-948B-1728B52AA6E4}">
                <adec:decorative xmlns:adec="http://schemas.microsoft.com/office/drawing/2017/decorative" val="1"/>
              </a:ext>
            </a:extLst>
          </p:cNvPr>
          <p:cNvPicPr>
            <a:picLocks noChangeAspect="1"/>
          </p:cNvPicPr>
          <p:nvPr/>
        </p:nvPicPr>
        <p:blipFill>
          <a:blip r:embed="rId3"/>
          <a:srcRect l="21430" r="39188"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332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5B7-E617-7232-3D45-118C5B1AF291}"/>
              </a:ext>
            </a:extLst>
          </p:cNvPr>
          <p:cNvSpPr>
            <a:spLocks noGrp="1"/>
          </p:cNvSpPr>
          <p:nvPr>
            <p:ph type="title"/>
          </p:nvPr>
        </p:nvSpPr>
        <p:spPr/>
        <p:txBody>
          <a:bodyPr/>
          <a:lstStyle/>
          <a:p>
            <a:r>
              <a:rPr lang="en-US" dirty="0"/>
              <a:t>What Changed And What Did Not</a:t>
            </a:r>
          </a:p>
        </p:txBody>
      </p:sp>
      <p:sp>
        <p:nvSpPr>
          <p:cNvPr id="4" name="Text Placeholder 3">
            <a:extLst>
              <a:ext uri="{FF2B5EF4-FFF2-40B4-BE49-F238E27FC236}">
                <a16:creationId xmlns:a16="http://schemas.microsoft.com/office/drawing/2014/main" id="{D531312A-67A5-356D-9882-2DD9C020C442}"/>
              </a:ext>
            </a:extLst>
          </p:cNvPr>
          <p:cNvSpPr>
            <a:spLocks noGrp="1"/>
          </p:cNvSpPr>
          <p:nvPr>
            <p:ph type="body" idx="1"/>
          </p:nvPr>
        </p:nvSpPr>
        <p:spPr/>
        <p:txBody>
          <a:bodyPr/>
          <a:lstStyle/>
          <a:p>
            <a:r>
              <a:rPr lang="en-US" u="sng" dirty="0"/>
              <a:t>CSS changed:</a:t>
            </a:r>
          </a:p>
        </p:txBody>
      </p:sp>
      <p:sp>
        <p:nvSpPr>
          <p:cNvPr id="3" name="Content Placeholder 2">
            <a:extLst>
              <a:ext uri="{FF2B5EF4-FFF2-40B4-BE49-F238E27FC236}">
                <a16:creationId xmlns:a16="http://schemas.microsoft.com/office/drawing/2014/main" id="{D4623AC4-941F-5169-DAA0-DF23E55C8058}"/>
              </a:ext>
            </a:extLst>
          </p:cNvPr>
          <p:cNvSpPr>
            <a:spLocks noGrp="1"/>
          </p:cNvSpPr>
          <p:nvPr>
            <p:ph sz="half" idx="2"/>
          </p:nvPr>
        </p:nvSpPr>
        <p:spPr/>
        <p:txBody>
          <a:bodyPr>
            <a:normAutofit/>
          </a:bodyPr>
          <a:lstStyle/>
          <a:p>
            <a:r>
              <a:rPr lang="en-US" dirty="0"/>
              <a:t>text color</a:t>
            </a:r>
          </a:p>
          <a:p>
            <a:r>
              <a:rPr lang="en-US" dirty="0"/>
              <a:t>background color</a:t>
            </a:r>
          </a:p>
          <a:p>
            <a:r>
              <a:rPr lang="en-US" dirty="0"/>
              <a:t>font</a:t>
            </a:r>
          </a:p>
          <a:p>
            <a:r>
              <a:rPr lang="en-US" dirty="0"/>
              <a:t>line length</a:t>
            </a:r>
          </a:p>
          <a:p>
            <a:r>
              <a:rPr lang="en-US" dirty="0"/>
              <a:t>line spacing</a:t>
            </a:r>
          </a:p>
          <a:p>
            <a:pPr marL="0" indent="0">
              <a:buNone/>
            </a:pPr>
            <a:endParaRPr lang="en-US" dirty="0"/>
          </a:p>
        </p:txBody>
      </p:sp>
      <p:sp>
        <p:nvSpPr>
          <p:cNvPr id="5" name="Text Placeholder 4">
            <a:extLst>
              <a:ext uri="{FF2B5EF4-FFF2-40B4-BE49-F238E27FC236}">
                <a16:creationId xmlns:a16="http://schemas.microsoft.com/office/drawing/2014/main" id="{EBDCDF4E-13D4-C904-C12D-2D4A2ADB731B}"/>
              </a:ext>
            </a:extLst>
          </p:cNvPr>
          <p:cNvSpPr>
            <a:spLocks noGrp="1"/>
          </p:cNvSpPr>
          <p:nvPr>
            <p:ph type="body" sz="quarter" idx="3"/>
          </p:nvPr>
        </p:nvSpPr>
        <p:spPr/>
        <p:txBody>
          <a:bodyPr/>
          <a:lstStyle/>
          <a:p>
            <a:r>
              <a:rPr lang="en-US" u="sng" dirty="0"/>
              <a:t>CSS did not change:</a:t>
            </a:r>
          </a:p>
        </p:txBody>
      </p:sp>
      <p:sp>
        <p:nvSpPr>
          <p:cNvPr id="6" name="Content Placeholder 5">
            <a:extLst>
              <a:ext uri="{FF2B5EF4-FFF2-40B4-BE49-F238E27FC236}">
                <a16:creationId xmlns:a16="http://schemas.microsoft.com/office/drawing/2014/main" id="{1A6364E9-ABD0-9AC6-1569-325EEB0DBABE}"/>
              </a:ext>
            </a:extLst>
          </p:cNvPr>
          <p:cNvSpPr>
            <a:spLocks noGrp="1"/>
          </p:cNvSpPr>
          <p:nvPr>
            <p:ph sz="quarter" idx="4"/>
          </p:nvPr>
        </p:nvSpPr>
        <p:spPr>
          <a:xfrm>
            <a:off x="3866639" y="2737246"/>
            <a:ext cx="3257041" cy="3304117"/>
          </a:xfrm>
        </p:spPr>
        <p:txBody>
          <a:bodyPr>
            <a:normAutofit/>
          </a:bodyPr>
          <a:lstStyle/>
          <a:p>
            <a:r>
              <a:rPr lang="en-US" dirty="0"/>
              <a:t>headings as headings</a:t>
            </a:r>
          </a:p>
          <a:p>
            <a:r>
              <a:rPr lang="en-US" dirty="0"/>
              <a:t>paragraphs as paragraphs</a:t>
            </a:r>
          </a:p>
          <a:p>
            <a:r>
              <a:rPr lang="en-US" dirty="0"/>
              <a:t>links as links</a:t>
            </a:r>
          </a:p>
          <a:p>
            <a:r>
              <a:rPr lang="en-US" dirty="0"/>
              <a:t>page meaning</a:t>
            </a:r>
          </a:p>
          <a:p>
            <a:pPr marL="0" indent="0">
              <a:buNone/>
            </a:pPr>
            <a:endParaRPr lang="en-US" dirty="0"/>
          </a:p>
        </p:txBody>
      </p:sp>
    </p:spTree>
    <p:extLst>
      <p:ext uri="{BB962C8B-B14F-4D97-AF65-F5344CB8AC3E}">
        <p14:creationId xmlns:p14="http://schemas.microsoft.com/office/powerpoint/2010/main" val="1802641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95312-72A2-65D9-20B5-8B17CB3940D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A9060D-CCDA-FE7E-00B0-F2EE021A568B}"/>
              </a:ext>
            </a:extLst>
          </p:cNvPr>
          <p:cNvSpPr>
            <a:spLocks noGrp="1"/>
          </p:cNvSpPr>
          <p:nvPr>
            <p:ph type="title"/>
          </p:nvPr>
        </p:nvSpPr>
        <p:spPr>
          <a:xfrm>
            <a:off x="739476" y="5021551"/>
            <a:ext cx="6216024" cy="1096648"/>
          </a:xfrm>
        </p:spPr>
        <p:txBody>
          <a:bodyPr vert="horz" lIns="91440" tIns="45720" rIns="91440" bIns="45720" rtlCol="0" anchor="b">
            <a:normAutofit fontScale="90000"/>
          </a:bodyPr>
          <a:lstStyle/>
          <a:p>
            <a:pPr algn="ctr"/>
            <a:r>
              <a:rPr lang="en-US" sz="4200" dirty="0"/>
              <a:t>What Changed And What Did Not</a:t>
            </a:r>
          </a:p>
        </p:txBody>
      </p:sp>
      <p:pic>
        <p:nvPicPr>
          <p:cNvPr id="5" name="Picture Placeholder 4" descr="Diagram comparing plain HTML and CSS-styled HTML, demonstrating how CSS improves visual appearance without changing content meaning. It features two side-by-side text boxes with headings, paragraphs, and links, using color, font styles, and button design to highlight enhanced readability and user interface.">
            <a:extLst>
              <a:ext uri="{FF2B5EF4-FFF2-40B4-BE49-F238E27FC236}">
                <a16:creationId xmlns:a16="http://schemas.microsoft.com/office/drawing/2014/main" id="{064CE641-2336-D75F-FA0B-9BD4ED89CA7E}"/>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212964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91770-93D5-BB07-73B1-5E18A37EF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AFC5F-5B7A-1907-1B96-3B291123929D}"/>
              </a:ext>
            </a:extLst>
          </p:cNvPr>
          <p:cNvSpPr>
            <a:spLocks noGrp="1"/>
          </p:cNvSpPr>
          <p:nvPr>
            <p:ph type="title"/>
          </p:nvPr>
        </p:nvSpPr>
        <p:spPr>
          <a:xfrm>
            <a:off x="489360" y="1382486"/>
            <a:ext cx="2660686" cy="4093028"/>
          </a:xfrm>
        </p:spPr>
        <p:txBody>
          <a:bodyPr anchor="ctr">
            <a:normAutofit/>
          </a:bodyPr>
          <a:lstStyle/>
          <a:p>
            <a:r>
              <a:rPr lang="en-US" sz="3800"/>
              <a:t>Common Mistakes</a:t>
            </a:r>
          </a:p>
        </p:txBody>
      </p:sp>
      <p:graphicFrame>
        <p:nvGraphicFramePr>
          <p:cNvPr id="34" name="Content Placeholder 2">
            <a:extLst>
              <a:ext uri="{FF2B5EF4-FFF2-40B4-BE49-F238E27FC236}">
                <a16:creationId xmlns:a16="http://schemas.microsoft.com/office/drawing/2014/main" id="{7E06D4AB-F1F0-3CB9-A300-DDF8C00AC168}"/>
              </a:ext>
            </a:extLst>
          </p:cNvPr>
          <p:cNvGraphicFramePr>
            <a:graphicFrameLocks noGrp="1"/>
          </p:cNvGraphicFramePr>
          <p:nvPr>
            <p:ph idx="1"/>
            <p:extLst>
              <p:ext uri="{D42A27DB-BD31-4B8C-83A1-F6EECF244321}">
                <p14:modId xmlns:p14="http://schemas.microsoft.com/office/powerpoint/2010/main" val="2265101993"/>
              </p:ext>
            </p:extLst>
          </p:nvPr>
        </p:nvGraphicFramePr>
        <p:xfrm>
          <a:off x="3639407" y="944564"/>
          <a:ext cx="5019610" cy="48231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02341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F827-0A5A-D6D9-6C73-5ACE22424AF2}"/>
              </a:ext>
            </a:extLst>
          </p:cNvPr>
          <p:cNvSpPr>
            <a:spLocks noGrp="1"/>
          </p:cNvSpPr>
          <p:nvPr>
            <p:ph type="title"/>
          </p:nvPr>
        </p:nvSpPr>
        <p:spPr>
          <a:xfrm>
            <a:off x="4152550" y="609600"/>
            <a:ext cx="2802951" cy="1320800"/>
          </a:xfrm>
        </p:spPr>
        <p:txBody>
          <a:bodyPr>
            <a:normAutofit/>
          </a:bodyPr>
          <a:lstStyle/>
          <a:p>
            <a:r>
              <a:rPr lang="en-US" dirty="0"/>
              <a:t>Lab</a:t>
            </a:r>
          </a:p>
        </p:txBody>
      </p:sp>
      <p:sp>
        <p:nvSpPr>
          <p:cNvPr id="3" name="Content Placeholder 2">
            <a:extLst>
              <a:ext uri="{FF2B5EF4-FFF2-40B4-BE49-F238E27FC236}">
                <a16:creationId xmlns:a16="http://schemas.microsoft.com/office/drawing/2014/main" id="{B08E31B9-CEED-D579-BC3C-E6F2B784D1BE}"/>
              </a:ext>
            </a:extLst>
          </p:cNvPr>
          <p:cNvSpPr>
            <a:spLocks noGrp="1"/>
          </p:cNvSpPr>
          <p:nvPr>
            <p:ph idx="1"/>
          </p:nvPr>
        </p:nvSpPr>
        <p:spPr>
          <a:xfrm>
            <a:off x="3907172" y="2160589"/>
            <a:ext cx="3048329" cy="3880773"/>
          </a:xfrm>
        </p:spPr>
        <p:txBody>
          <a:bodyPr>
            <a:normAutofit/>
          </a:bodyPr>
          <a:lstStyle/>
          <a:p>
            <a:pPr marL="0" indent="0">
              <a:buNone/>
            </a:pPr>
            <a:r>
              <a:rPr lang="en-US" dirty="0"/>
              <a:t>Add the first CSS layer.</a:t>
            </a:r>
          </a:p>
          <a:p>
            <a:r>
              <a:rPr lang="en-US" dirty="0"/>
              <a:t>create `styles.css`</a:t>
            </a:r>
          </a:p>
          <a:p>
            <a:r>
              <a:rPr lang="en-US" dirty="0"/>
              <a:t>link it to your site</a:t>
            </a:r>
          </a:p>
          <a:p>
            <a:r>
              <a:rPr lang="en-US" dirty="0"/>
              <a:t>style text, color, and spacing</a:t>
            </a:r>
          </a:p>
          <a:p>
            <a:r>
              <a:rPr lang="en-US" dirty="0"/>
              <a:t>keep the site readable</a:t>
            </a:r>
          </a:p>
          <a:p>
            <a:r>
              <a:rPr lang="en-US" dirty="0"/>
              <a:t>do not rebuild the HTML</a:t>
            </a:r>
          </a:p>
        </p:txBody>
      </p:sp>
      <p:pic>
        <p:nvPicPr>
          <p:cNvPr id="5" name="Picture 4">
            <a:extLst>
              <a:ext uri="{FF2B5EF4-FFF2-40B4-BE49-F238E27FC236}">
                <a16:creationId xmlns:a16="http://schemas.microsoft.com/office/drawing/2014/main" id="{5406C1C5-46D3-5662-C887-3DA2319E776C}"/>
              </a:ext>
              <a:ext uri="{C183D7F6-B498-43B3-948B-1728B52AA6E4}">
                <adec:decorative xmlns:adec="http://schemas.microsoft.com/office/drawing/2017/decorative" val="1"/>
              </a:ext>
            </a:extLst>
          </p:cNvPr>
          <p:cNvPicPr>
            <a:picLocks noChangeAspect="1"/>
          </p:cNvPicPr>
          <p:nvPr/>
        </p:nvPicPr>
        <p:blipFill>
          <a:blip r:embed="rId3"/>
          <a:srcRect l="51361" r="438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34720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CFEC8-C36E-8138-AFF9-1BCB8E92E2B8}"/>
              </a:ext>
            </a:extLst>
          </p:cNvPr>
          <p:cNvSpPr>
            <a:spLocks noGrp="1"/>
          </p:cNvSpPr>
          <p:nvPr>
            <p:ph type="title"/>
          </p:nvPr>
        </p:nvSpPr>
        <p:spPr>
          <a:xfrm>
            <a:off x="4152550" y="609600"/>
            <a:ext cx="2802951" cy="1320800"/>
          </a:xfrm>
        </p:spPr>
        <p:txBody>
          <a:bodyPr vert="horz" lIns="91440" tIns="45720" rIns="91440" bIns="45720" rtlCol="0">
            <a:normAutofit/>
          </a:bodyPr>
          <a:lstStyle/>
          <a:p>
            <a:r>
              <a:rPr lang="en-US" dirty="0"/>
              <a:t>Evidence</a:t>
            </a:r>
          </a:p>
        </p:txBody>
      </p:sp>
      <p:sp>
        <p:nvSpPr>
          <p:cNvPr id="4" name="Content Placeholder 3">
            <a:extLst>
              <a:ext uri="{FF2B5EF4-FFF2-40B4-BE49-F238E27FC236}">
                <a16:creationId xmlns:a16="http://schemas.microsoft.com/office/drawing/2014/main" id="{F95F7C5D-76E8-1B83-C806-C3C7939961B9}"/>
              </a:ext>
            </a:extLst>
          </p:cNvPr>
          <p:cNvSpPr>
            <a:spLocks noGrp="1"/>
          </p:cNvSpPr>
          <p:nvPr>
            <p:ph idx="1"/>
          </p:nvPr>
        </p:nvSpPr>
        <p:spPr>
          <a:xfrm>
            <a:off x="3907172" y="2160589"/>
            <a:ext cx="3734599" cy="4527594"/>
          </a:xfrm>
        </p:spPr>
        <p:txBody>
          <a:bodyPr>
            <a:noAutofit/>
          </a:bodyPr>
          <a:lstStyle/>
          <a:p>
            <a:pPr marL="0" indent="0">
              <a:buNone/>
            </a:pPr>
            <a:r>
              <a:rPr lang="en-US" dirty="0"/>
              <a:t>Evidence for the Lab:</a:t>
            </a:r>
          </a:p>
          <a:p>
            <a:pPr marL="0" indent="0">
              <a:buNone/>
            </a:pPr>
            <a:endParaRPr lang="en-US" dirty="0"/>
          </a:p>
          <a:p>
            <a:r>
              <a:rPr lang="en-US" dirty="0"/>
              <a:t>HTML files still open</a:t>
            </a:r>
          </a:p>
          <a:p>
            <a:r>
              <a:rPr lang="en-US" dirty="0"/>
              <a:t>`styles.css` exists</a:t>
            </a:r>
          </a:p>
          <a:p>
            <a:r>
              <a:rPr lang="en-US" dirty="0"/>
              <a:t>at least one page links to it</a:t>
            </a:r>
          </a:p>
          <a:p>
            <a:r>
              <a:rPr lang="en-US" dirty="0"/>
              <a:t>visible style changes appear</a:t>
            </a:r>
          </a:p>
          <a:p>
            <a:r>
              <a:rPr lang="en-US" dirty="0"/>
              <a:t>readability improves or stays clear</a:t>
            </a:r>
          </a:p>
        </p:txBody>
      </p:sp>
      <p:pic>
        <p:nvPicPr>
          <p:cNvPr id="5" name="Picture 4" descr="Black fingerprints with one red fingerprint">
            <a:extLst>
              <a:ext uri="{FF2B5EF4-FFF2-40B4-BE49-F238E27FC236}">
                <a16:creationId xmlns:a16="http://schemas.microsoft.com/office/drawing/2014/main" id="{638035A6-8F2B-CFAB-F2A0-C40F7D534C83}"/>
              </a:ext>
              <a:ext uri="{C183D7F6-B498-43B3-948B-1728B52AA6E4}">
                <adec:decorative xmlns:adec="http://schemas.microsoft.com/office/drawing/2017/decorative" val="1"/>
              </a:ext>
            </a:extLst>
          </p:cNvPr>
          <p:cNvPicPr>
            <a:picLocks noChangeAspect="1"/>
          </p:cNvPicPr>
          <p:nvPr/>
        </p:nvPicPr>
        <p:blipFill>
          <a:blip r:embed="rId3"/>
          <a:srcRect l="20500" r="20500"/>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263025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9555-1E16-8E8B-E548-105BA59C0BD8}"/>
              </a:ext>
            </a:extLst>
          </p:cNvPr>
          <p:cNvSpPr>
            <a:spLocks noGrp="1"/>
          </p:cNvSpPr>
          <p:nvPr>
            <p:ph type="title"/>
          </p:nvPr>
        </p:nvSpPr>
        <p:spPr>
          <a:xfrm>
            <a:off x="4152550" y="609600"/>
            <a:ext cx="2802951" cy="1320800"/>
          </a:xfrm>
        </p:spPr>
        <p:txBody>
          <a:bodyPr>
            <a:normAutofit/>
          </a:bodyPr>
          <a:lstStyle/>
          <a:p>
            <a:pPr>
              <a:lnSpc>
                <a:spcPct val="90000"/>
              </a:lnSpc>
            </a:pPr>
            <a:r>
              <a:rPr lang="en-US" sz="3100" dirty="0"/>
              <a:t>Closing Success Check</a:t>
            </a:r>
          </a:p>
        </p:txBody>
      </p:sp>
      <p:sp>
        <p:nvSpPr>
          <p:cNvPr id="3" name="Content Placeholder 2">
            <a:extLst>
              <a:ext uri="{FF2B5EF4-FFF2-40B4-BE49-F238E27FC236}">
                <a16:creationId xmlns:a16="http://schemas.microsoft.com/office/drawing/2014/main" id="{77AFF21A-F8C1-15AA-C705-4530AE58A074}"/>
              </a:ext>
            </a:extLst>
          </p:cNvPr>
          <p:cNvSpPr>
            <a:spLocks noGrp="1"/>
          </p:cNvSpPr>
          <p:nvPr>
            <p:ph idx="1"/>
          </p:nvPr>
        </p:nvSpPr>
        <p:spPr>
          <a:xfrm>
            <a:off x="3907172" y="2160589"/>
            <a:ext cx="3048329" cy="3880773"/>
          </a:xfrm>
        </p:spPr>
        <p:txBody>
          <a:bodyPr>
            <a:normAutofit/>
          </a:bodyPr>
          <a:lstStyle/>
          <a:p>
            <a:r>
              <a:rPr lang="en-US" dirty="0"/>
              <a:t>If CSS is linked, one rule visibly works, and the page is still readable, you are on track.</a:t>
            </a:r>
          </a:p>
          <a:p>
            <a:endParaRPr lang="en-US" dirty="0"/>
          </a:p>
          <a:p>
            <a:r>
              <a:rPr lang="en-US" dirty="0"/>
              <a:t>Style is a layer.</a:t>
            </a:r>
          </a:p>
          <a:p>
            <a:r>
              <a:rPr lang="en-US" dirty="0"/>
              <a:t>Structure stays underneath.</a:t>
            </a:r>
          </a:p>
        </p:txBody>
      </p:sp>
      <p:pic>
        <p:nvPicPr>
          <p:cNvPr id="5" name="Picture 4">
            <a:extLst>
              <a:ext uri="{FF2B5EF4-FFF2-40B4-BE49-F238E27FC236}">
                <a16:creationId xmlns:a16="http://schemas.microsoft.com/office/drawing/2014/main" id="{255A690D-4CB8-0C66-184B-33949F8D651C}"/>
              </a:ext>
              <a:ext uri="{C183D7F6-B498-43B3-948B-1728B52AA6E4}">
                <adec:decorative xmlns:adec="http://schemas.microsoft.com/office/drawing/2017/decorative" val="1"/>
              </a:ext>
            </a:extLst>
          </p:cNvPr>
          <p:cNvPicPr>
            <a:picLocks noChangeAspect="1"/>
          </p:cNvPicPr>
          <p:nvPr/>
        </p:nvPicPr>
        <p:blipFill>
          <a:blip r:embed="rId3"/>
          <a:srcRect l="36287" r="24330"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89513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B291DAF8-8CBA-95A1-BEA8-AAD0C09C5642}"/>
              </a:ext>
            </a:extLst>
          </p:cNvPr>
          <p:cNvSpPr>
            <a:spLocks noGrp="1"/>
          </p:cNvSpPr>
          <p:nvPr>
            <p:ph type="title"/>
          </p:nvPr>
        </p:nvSpPr>
        <p:spPr>
          <a:xfrm>
            <a:off x="3730752" y="1265314"/>
            <a:ext cx="3572668" cy="3249131"/>
          </a:xfrm>
        </p:spPr>
        <p:txBody>
          <a:bodyPr vert="horz" lIns="91440" tIns="45720" rIns="91440" bIns="45720" rtlCol="0" anchor="b">
            <a:normAutofit/>
          </a:bodyPr>
          <a:lstStyle/>
          <a:p>
            <a:pPr>
              <a:lnSpc>
                <a:spcPct val="90000"/>
              </a:lnSpc>
            </a:pPr>
            <a:r>
              <a:rPr lang="en-US" sz="4800" dirty="0"/>
              <a:t>Thank you!</a:t>
            </a:r>
            <a:br>
              <a:rPr lang="en-US" sz="4800" dirty="0"/>
            </a:br>
            <a:br>
              <a:rPr lang="en-US" sz="4800" dirty="0"/>
            </a:br>
            <a:r>
              <a:rPr lang="en-US" sz="4800" dirty="0"/>
              <a:t>Have Fun!</a:t>
            </a:r>
          </a:p>
        </p:txBody>
      </p:sp>
      <p:sp>
        <p:nvSpPr>
          <p:cNvPr id="24" name="Isosceles Triangle 23">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Thumbs Up Sign">
            <a:extLst>
              <a:ext uri="{FF2B5EF4-FFF2-40B4-BE49-F238E27FC236}">
                <a16:creationId xmlns:a16="http://schemas.microsoft.com/office/drawing/2014/main" id="{CD1A5982-49F4-6629-1884-3B7061C5B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842682234"/>
      </p:ext>
    </p:extLst>
  </p:cSld>
  <p:clrMapOvr>
    <a:masterClrMapping/>
  </p:clrMapOvr>
</p:sld>
</file>

<file path=ppt/theme/theme1.xml><?xml version="1.0" encoding="utf-8"?>
<a:theme xmlns:a="http://schemas.openxmlformats.org/drawingml/2006/main" name="Facet">
  <a:themeElements>
    <a:clrScheme name="Southwest Tech">
      <a:dk1>
        <a:srgbClr val="0B4F8A"/>
      </a:dk1>
      <a:lt1>
        <a:sysClr val="window" lastClr="FFFFFF"/>
      </a:lt1>
      <a:dk2>
        <a:srgbClr val="6F6F6F"/>
      </a:dk2>
      <a:lt2>
        <a:srgbClr val="F4F6F8"/>
      </a:lt2>
      <a:accent1>
        <a:srgbClr val="0B4F8A"/>
      </a:accent1>
      <a:accent2>
        <a:srgbClr val="2E73B8"/>
      </a:accent2>
      <a:accent3>
        <a:srgbClr val="F2B705"/>
      </a:accent3>
      <a:accent4>
        <a:srgbClr val="6F6F6F"/>
      </a:accent4>
      <a:accent5>
        <a:srgbClr val="2E73B8"/>
      </a:accent5>
      <a:accent6>
        <a:srgbClr val="F2B705"/>
      </a:accent6>
      <a:hlink>
        <a:srgbClr val="2E73B8"/>
      </a:hlink>
      <a:folHlink>
        <a:srgbClr val="0B4F8A"/>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10648</TotalTime>
  <Words>1470</Words>
  <Application>Microsoft Office PowerPoint</Application>
  <PresentationFormat>On-screen Show (4:3)</PresentationFormat>
  <Paragraphs>255</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Arial</vt:lpstr>
      <vt:lpstr>Trebuchet MS</vt:lpstr>
      <vt:lpstr>Wingdings 3</vt:lpstr>
      <vt:lpstr>Facet</vt:lpstr>
      <vt:lpstr>Web Development Foundations</vt:lpstr>
      <vt:lpstr>From Structure To Appearance</vt:lpstr>
      <vt:lpstr>Structure To Appearance</vt:lpstr>
      <vt:lpstr>Lab Review:  One Successful HTML Path</vt:lpstr>
      <vt:lpstr>Successful HTML Path</vt:lpstr>
      <vt:lpstr>Review Coding Lab</vt:lpstr>
      <vt:lpstr>What Week 1 Proved</vt:lpstr>
      <vt:lpstr>CSS Is A Separate Layer</vt:lpstr>
      <vt:lpstr>What Counts as Success Today</vt:lpstr>
      <vt:lpstr>What We Will Use Today</vt:lpstr>
      <vt:lpstr>Toolbox</vt:lpstr>
      <vt:lpstr>What We Will “Skip” For Now</vt:lpstr>
      <vt:lpstr>Parked For Later</vt:lpstr>
      <vt:lpstr>A CSS Rule Has Parts</vt:lpstr>
      <vt:lpstr>External Stylesheet Connection</vt:lpstr>
      <vt:lpstr>External Stylesheet Connection</vt:lpstr>
      <vt:lpstr>Demo</vt:lpstr>
      <vt:lpstr>What to Watch For</vt:lpstr>
      <vt:lpstr>What Changed And What Did Not</vt:lpstr>
      <vt:lpstr>What Changed And What Did Not</vt:lpstr>
      <vt:lpstr>Common Mistakes</vt:lpstr>
      <vt:lpstr>Lab</vt:lpstr>
      <vt:lpstr>Evidence</vt:lpstr>
      <vt:lpstr>Closing Success Check</vt:lpstr>
      <vt:lpstr>Thank you!  Have Fun!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Cash Myers</dc:creator>
  <cp:keywords/>
  <dc:description>generated using python-pptx</dc:description>
  <cp:lastModifiedBy>Cash Myers</cp:lastModifiedBy>
  <cp:revision>137</cp:revision>
  <cp:lastPrinted>2026-06-28T14:09:05Z</cp:lastPrinted>
  <dcterms:created xsi:type="dcterms:W3CDTF">2013-01-27T09:14:16Z</dcterms:created>
  <dcterms:modified xsi:type="dcterms:W3CDTF">2026-06-28T14:09:17Z</dcterms:modified>
  <cp:category/>
</cp:coreProperties>
</file>