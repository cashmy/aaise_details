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73"/>
  </p:notesMasterIdLst>
  <p:handoutMasterIdLst>
    <p:handoutMasterId r:id="rId74"/>
  </p:handoutMasterIdLst>
  <p:sldIdLst>
    <p:sldId id="256" r:id="rId2"/>
    <p:sldId id="259" r:id="rId3"/>
    <p:sldId id="260" r:id="rId4"/>
    <p:sldId id="364" r:id="rId5"/>
    <p:sldId id="322" r:id="rId6"/>
    <p:sldId id="321" r:id="rId7"/>
    <p:sldId id="264" r:id="rId8"/>
    <p:sldId id="420" r:id="rId9"/>
    <p:sldId id="417" r:id="rId10"/>
    <p:sldId id="323" r:id="rId11"/>
    <p:sldId id="269" r:id="rId12"/>
    <p:sldId id="421" r:id="rId13"/>
    <p:sldId id="485" r:id="rId14"/>
    <p:sldId id="422" r:id="rId15"/>
    <p:sldId id="486" r:id="rId16"/>
    <p:sldId id="423" r:id="rId17"/>
    <p:sldId id="424" r:id="rId18"/>
    <p:sldId id="425" r:id="rId19"/>
    <p:sldId id="376" r:id="rId20"/>
    <p:sldId id="426" r:id="rId21"/>
    <p:sldId id="461" r:id="rId22"/>
    <p:sldId id="462" r:id="rId23"/>
    <p:sldId id="463" r:id="rId24"/>
    <p:sldId id="464" r:id="rId25"/>
    <p:sldId id="465" r:id="rId26"/>
    <p:sldId id="466" r:id="rId27"/>
    <p:sldId id="467" r:id="rId28"/>
    <p:sldId id="487" r:id="rId29"/>
    <p:sldId id="468" r:id="rId30"/>
    <p:sldId id="469" r:id="rId31"/>
    <p:sldId id="428" r:id="rId32"/>
    <p:sldId id="470" r:id="rId33"/>
    <p:sldId id="471" r:id="rId34"/>
    <p:sldId id="472" r:id="rId35"/>
    <p:sldId id="488" r:id="rId36"/>
    <p:sldId id="473" r:id="rId37"/>
    <p:sldId id="474" r:id="rId38"/>
    <p:sldId id="475" r:id="rId39"/>
    <p:sldId id="429" r:id="rId40"/>
    <p:sldId id="363" r:id="rId41"/>
    <p:sldId id="430" r:id="rId42"/>
    <p:sldId id="432" r:id="rId43"/>
    <p:sldId id="476" r:id="rId44"/>
    <p:sldId id="477" r:id="rId45"/>
    <p:sldId id="489" r:id="rId46"/>
    <p:sldId id="478" r:id="rId47"/>
    <p:sldId id="479" r:id="rId48"/>
    <p:sldId id="490" r:id="rId49"/>
    <p:sldId id="480" r:id="rId50"/>
    <p:sldId id="481" r:id="rId51"/>
    <p:sldId id="431" r:id="rId52"/>
    <p:sldId id="433" r:id="rId53"/>
    <p:sldId id="484" r:id="rId54"/>
    <p:sldId id="482" r:id="rId55"/>
    <p:sldId id="483" r:id="rId56"/>
    <p:sldId id="434" r:id="rId57"/>
    <p:sldId id="367" r:id="rId58"/>
    <p:sldId id="418" r:id="rId59"/>
    <p:sldId id="491" r:id="rId60"/>
    <p:sldId id="378" r:id="rId61"/>
    <p:sldId id="369" r:id="rId62"/>
    <p:sldId id="307" r:id="rId63"/>
    <p:sldId id="460" r:id="rId64"/>
    <p:sldId id="309" r:id="rId65"/>
    <p:sldId id="374" r:id="rId66"/>
    <p:sldId id="317" r:id="rId67"/>
    <p:sldId id="316" r:id="rId68"/>
    <p:sldId id="375" r:id="rId69"/>
    <p:sldId id="318" r:id="rId70"/>
    <p:sldId id="319" r:id="rId71"/>
    <p:sldId id="320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68900" autoAdjust="0"/>
  </p:normalViewPr>
  <p:slideViewPr>
    <p:cSldViewPr snapToGrid="0" snapToObjects="1">
      <p:cViewPr varScale="1">
        <p:scale>
          <a:sx n="73" d="100"/>
          <a:sy n="73" d="100"/>
        </p:scale>
        <p:origin x="171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93F8F8-4959-4928-B713-CB6ADC584739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E89A495-BC83-409A-AC2B-549EAA78055A}">
      <dgm:prSet/>
      <dgm:spPr/>
      <dgm:t>
        <a:bodyPr/>
        <a:lstStyle/>
        <a:p>
          <a:r>
            <a:rPr lang="en-US" dirty="0"/>
            <a:t>Last week - </a:t>
          </a:r>
          <a:r>
            <a:rPr lang="en-US" b="0" dirty="0"/>
            <a:t>strategy choice depended on problem shape</a:t>
          </a:r>
          <a:r>
            <a:rPr lang="en-US" dirty="0"/>
            <a:t>:</a:t>
          </a:r>
        </a:p>
      </dgm:t>
    </dgm:pt>
    <dgm:pt modelId="{7FD91A43-CF2C-4D46-A04A-75868E7E334A}" type="parTrans" cxnId="{79E17C93-E7F9-40E3-9A0D-3C2F7A18BBDC}">
      <dgm:prSet/>
      <dgm:spPr/>
      <dgm:t>
        <a:bodyPr/>
        <a:lstStyle/>
        <a:p>
          <a:endParaRPr lang="en-US"/>
        </a:p>
      </dgm:t>
    </dgm:pt>
    <dgm:pt modelId="{94898D6C-C872-4685-971A-1DF3E13535F0}" type="sibTrans" cxnId="{79E17C93-E7F9-40E3-9A0D-3C2F7A18BBDC}">
      <dgm:prSet/>
      <dgm:spPr/>
      <dgm:t>
        <a:bodyPr/>
        <a:lstStyle/>
        <a:p>
          <a:endParaRPr lang="en-US"/>
        </a:p>
      </dgm:t>
    </dgm:pt>
    <dgm:pt modelId="{43E234C2-131F-41F6-810F-8E386D4486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correctness</a:t>
          </a:r>
          <a:endParaRPr lang="en-US" dirty="0"/>
        </a:p>
      </dgm:t>
    </dgm:pt>
    <dgm:pt modelId="{097FCB5F-8F6F-4173-9D4E-5BC862BA5408}" type="parTrans" cxnId="{C8661701-0263-4E59-A142-0C8CEA51A6EF}">
      <dgm:prSet/>
      <dgm:spPr/>
      <dgm:t>
        <a:bodyPr/>
        <a:lstStyle/>
        <a:p>
          <a:endParaRPr lang="en-US"/>
        </a:p>
      </dgm:t>
    </dgm:pt>
    <dgm:pt modelId="{A1CEA6FC-FD6A-4DFA-BE24-F224EAE40B4A}" type="sibTrans" cxnId="{C8661701-0263-4E59-A142-0C8CEA51A6EF}">
      <dgm:prSet/>
      <dgm:spPr/>
      <dgm:t>
        <a:bodyPr/>
        <a:lstStyle/>
        <a:p>
          <a:endParaRPr lang="en-US"/>
        </a:p>
      </dgm:t>
    </dgm:pt>
    <dgm:pt modelId="{96B31E06-2C67-4CBA-9E5C-47A94AFC356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readability</a:t>
          </a:r>
        </a:p>
      </dgm:t>
    </dgm:pt>
    <dgm:pt modelId="{A6379C35-2B5D-48D0-A9A1-63E037771C60}" type="parTrans" cxnId="{17459374-9855-4215-B2DB-0C17E9272E2F}">
      <dgm:prSet/>
      <dgm:spPr/>
      <dgm:t>
        <a:bodyPr/>
        <a:lstStyle/>
        <a:p>
          <a:endParaRPr lang="en-US"/>
        </a:p>
      </dgm:t>
    </dgm:pt>
    <dgm:pt modelId="{4D933EC1-4163-4969-B913-6448CD38BACA}" type="sibTrans" cxnId="{17459374-9855-4215-B2DB-0C17E9272E2F}">
      <dgm:prSet/>
      <dgm:spPr/>
      <dgm:t>
        <a:bodyPr/>
        <a:lstStyle/>
        <a:p>
          <a:endParaRPr lang="en-US"/>
        </a:p>
      </dgm:t>
    </dgm:pt>
    <dgm:pt modelId="{4F1C514D-EC92-48AE-92A9-0965E25050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growth</a:t>
          </a:r>
        </a:p>
      </dgm:t>
    </dgm:pt>
    <dgm:pt modelId="{A24A4648-ADA6-4C5B-B1F0-F82753815B57}" type="parTrans" cxnId="{18C354FA-360D-4C87-B1F0-19F3D81DA0F2}">
      <dgm:prSet/>
      <dgm:spPr/>
      <dgm:t>
        <a:bodyPr/>
        <a:lstStyle/>
        <a:p>
          <a:endParaRPr lang="en-US"/>
        </a:p>
      </dgm:t>
    </dgm:pt>
    <dgm:pt modelId="{D8770B32-775A-48CF-ADCE-7D0E9A46DD89}" type="sibTrans" cxnId="{18C354FA-360D-4C87-B1F0-19F3D81DA0F2}">
      <dgm:prSet/>
      <dgm:spPr/>
      <dgm:t>
        <a:bodyPr/>
        <a:lstStyle/>
        <a:p>
          <a:endParaRPr lang="en-US"/>
        </a:p>
      </dgm:t>
    </dgm:pt>
    <dgm:pt modelId="{3E790714-56A3-46D1-A6C0-E2F69D91D6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fit to data</a:t>
          </a:r>
        </a:p>
      </dgm:t>
    </dgm:pt>
    <dgm:pt modelId="{CE318FAD-8979-4A1B-B8FC-EB55F5752AE7}" type="parTrans" cxnId="{F261DC3A-C3BE-4C37-B5ED-7605D95C03DE}">
      <dgm:prSet/>
      <dgm:spPr/>
      <dgm:t>
        <a:bodyPr/>
        <a:lstStyle/>
        <a:p>
          <a:endParaRPr lang="en-US"/>
        </a:p>
      </dgm:t>
    </dgm:pt>
    <dgm:pt modelId="{5F9D1389-3B32-40FE-BF20-FEFC88429240}" type="sibTrans" cxnId="{F261DC3A-C3BE-4C37-B5ED-7605D95C03DE}">
      <dgm:prSet/>
      <dgm:spPr/>
      <dgm:t>
        <a:bodyPr/>
        <a:lstStyle/>
        <a:p>
          <a:endParaRPr lang="en-US"/>
        </a:p>
      </dgm:t>
    </dgm:pt>
    <dgm:pt modelId="{55B49D55-D319-4B9F-A36B-CE11E8AC998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limitations</a:t>
          </a:r>
        </a:p>
      </dgm:t>
    </dgm:pt>
    <dgm:pt modelId="{1A050BF0-D216-40FF-9B05-1D64635C9390}" type="parTrans" cxnId="{66DB06AF-CCC4-499B-9ACA-627A796465EF}">
      <dgm:prSet/>
      <dgm:spPr/>
      <dgm:t>
        <a:bodyPr/>
        <a:lstStyle/>
        <a:p>
          <a:endParaRPr lang="en-US"/>
        </a:p>
      </dgm:t>
    </dgm:pt>
    <dgm:pt modelId="{92FD2D72-4202-49D9-BBFF-71FC3DB27D20}" type="sibTrans" cxnId="{66DB06AF-CCC4-499B-9ACA-627A796465EF}">
      <dgm:prSet/>
      <dgm:spPr/>
      <dgm:t>
        <a:bodyPr/>
        <a:lstStyle/>
        <a:p>
          <a:endParaRPr lang="en-US"/>
        </a:p>
      </dgm:t>
    </dgm:pt>
    <dgm:pt modelId="{83D3C41A-A349-4495-A934-4E419417A58A}" type="pres">
      <dgm:prSet presAssocID="{6393F8F8-4959-4928-B713-CB6ADC584739}" presName="linear" presStyleCnt="0">
        <dgm:presLayoutVars>
          <dgm:dir/>
          <dgm:animLvl val="lvl"/>
          <dgm:resizeHandles val="exact"/>
        </dgm:presLayoutVars>
      </dgm:prSet>
      <dgm:spPr/>
    </dgm:pt>
    <dgm:pt modelId="{A6D737D4-75FA-45BA-8DF8-335747CBED5A}" type="pres">
      <dgm:prSet presAssocID="{FE89A495-BC83-409A-AC2B-549EAA78055A}" presName="parentLin" presStyleCnt="0"/>
      <dgm:spPr/>
    </dgm:pt>
    <dgm:pt modelId="{9101E35E-8AC9-4664-B614-F6663981EC26}" type="pres">
      <dgm:prSet presAssocID="{FE89A495-BC83-409A-AC2B-549EAA78055A}" presName="parentLeftMargin" presStyleLbl="node1" presStyleIdx="0" presStyleCnt="1"/>
      <dgm:spPr/>
    </dgm:pt>
    <dgm:pt modelId="{91615320-4CF6-4AA6-903B-2DA45376792B}" type="pres">
      <dgm:prSet presAssocID="{FE89A495-BC83-409A-AC2B-549EAA78055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F5EF893-41E9-44A1-8F73-4C7294540170}" type="pres">
      <dgm:prSet presAssocID="{FE89A495-BC83-409A-AC2B-549EAA78055A}" presName="negativeSpace" presStyleCnt="0"/>
      <dgm:spPr/>
    </dgm:pt>
    <dgm:pt modelId="{682F3400-ACEA-4BF2-B7EA-1224E7E39347}" type="pres">
      <dgm:prSet presAssocID="{FE89A495-BC83-409A-AC2B-549EAA78055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8661701-0263-4E59-A142-0C8CEA51A6EF}" srcId="{FE89A495-BC83-409A-AC2B-549EAA78055A}" destId="{43E234C2-131F-41F6-810F-8E386D448650}" srcOrd="0" destOrd="0" parTransId="{097FCB5F-8F6F-4173-9D4E-5BC862BA5408}" sibTransId="{A1CEA6FC-FD6A-4DFA-BE24-F224EAE40B4A}"/>
    <dgm:cxn modelId="{F261DC3A-C3BE-4C37-B5ED-7605D95C03DE}" srcId="{FE89A495-BC83-409A-AC2B-549EAA78055A}" destId="{3E790714-56A3-46D1-A6C0-E2F69D91D6A8}" srcOrd="3" destOrd="0" parTransId="{CE318FAD-8979-4A1B-B8FC-EB55F5752AE7}" sibTransId="{5F9D1389-3B32-40FE-BF20-FEFC88429240}"/>
    <dgm:cxn modelId="{1FD1695B-A184-47B6-84F2-1342EF2F305E}" type="presOf" srcId="{43E234C2-131F-41F6-810F-8E386D448650}" destId="{682F3400-ACEA-4BF2-B7EA-1224E7E39347}" srcOrd="0" destOrd="0" presId="urn:microsoft.com/office/officeart/2005/8/layout/list1"/>
    <dgm:cxn modelId="{13DD3843-50EA-4902-B452-3507B465678A}" type="presOf" srcId="{FE89A495-BC83-409A-AC2B-549EAA78055A}" destId="{9101E35E-8AC9-4664-B614-F6663981EC26}" srcOrd="0" destOrd="0" presId="urn:microsoft.com/office/officeart/2005/8/layout/list1"/>
    <dgm:cxn modelId="{25AC224A-C684-4C2A-A27C-E4045CB5D86E}" type="presOf" srcId="{96B31E06-2C67-4CBA-9E5C-47A94AFC356B}" destId="{682F3400-ACEA-4BF2-B7EA-1224E7E39347}" srcOrd="0" destOrd="1" presId="urn:microsoft.com/office/officeart/2005/8/layout/list1"/>
    <dgm:cxn modelId="{17459374-9855-4215-B2DB-0C17E9272E2F}" srcId="{FE89A495-BC83-409A-AC2B-549EAA78055A}" destId="{96B31E06-2C67-4CBA-9E5C-47A94AFC356B}" srcOrd="1" destOrd="0" parTransId="{A6379C35-2B5D-48D0-A9A1-63E037771C60}" sibTransId="{4D933EC1-4163-4969-B913-6448CD38BACA}"/>
    <dgm:cxn modelId="{BFD71D57-CF26-4F07-95E9-7BFFABA1F37E}" type="presOf" srcId="{FE89A495-BC83-409A-AC2B-549EAA78055A}" destId="{91615320-4CF6-4AA6-903B-2DA45376792B}" srcOrd="1" destOrd="0" presId="urn:microsoft.com/office/officeart/2005/8/layout/list1"/>
    <dgm:cxn modelId="{27799F80-95B5-4303-9786-9B7D672C9C8A}" type="presOf" srcId="{55B49D55-D319-4B9F-A36B-CE11E8AC998E}" destId="{682F3400-ACEA-4BF2-B7EA-1224E7E39347}" srcOrd="0" destOrd="4" presId="urn:microsoft.com/office/officeart/2005/8/layout/list1"/>
    <dgm:cxn modelId="{FF0F9582-4334-4696-97C4-0C35A2B335E0}" type="presOf" srcId="{3E790714-56A3-46D1-A6C0-E2F69D91D6A8}" destId="{682F3400-ACEA-4BF2-B7EA-1224E7E39347}" srcOrd="0" destOrd="3" presId="urn:microsoft.com/office/officeart/2005/8/layout/list1"/>
    <dgm:cxn modelId="{47BD9D88-B90C-4D0A-8EB4-45D769ACEE5C}" type="presOf" srcId="{4F1C514D-EC92-48AE-92A9-0965E2505078}" destId="{682F3400-ACEA-4BF2-B7EA-1224E7E39347}" srcOrd="0" destOrd="2" presId="urn:microsoft.com/office/officeart/2005/8/layout/list1"/>
    <dgm:cxn modelId="{79E17C93-E7F9-40E3-9A0D-3C2F7A18BBDC}" srcId="{6393F8F8-4959-4928-B713-CB6ADC584739}" destId="{FE89A495-BC83-409A-AC2B-549EAA78055A}" srcOrd="0" destOrd="0" parTransId="{7FD91A43-CF2C-4D46-A04A-75868E7E334A}" sibTransId="{94898D6C-C872-4685-971A-1DF3E13535F0}"/>
    <dgm:cxn modelId="{CA991D9A-4031-45A9-BA22-A1FD1FDC8659}" type="presOf" srcId="{6393F8F8-4959-4928-B713-CB6ADC584739}" destId="{83D3C41A-A349-4495-A934-4E419417A58A}" srcOrd="0" destOrd="0" presId="urn:microsoft.com/office/officeart/2005/8/layout/list1"/>
    <dgm:cxn modelId="{66DB06AF-CCC4-499B-9ACA-627A796465EF}" srcId="{FE89A495-BC83-409A-AC2B-549EAA78055A}" destId="{55B49D55-D319-4B9F-A36B-CE11E8AC998E}" srcOrd="4" destOrd="0" parTransId="{1A050BF0-D216-40FF-9B05-1D64635C9390}" sibTransId="{92FD2D72-4202-49D9-BBFF-71FC3DB27D20}"/>
    <dgm:cxn modelId="{18C354FA-360D-4C87-B1F0-19F3D81DA0F2}" srcId="{FE89A495-BC83-409A-AC2B-549EAA78055A}" destId="{4F1C514D-EC92-48AE-92A9-0965E2505078}" srcOrd="2" destOrd="0" parTransId="{A24A4648-ADA6-4C5B-B1F0-F82753815B57}" sibTransId="{D8770B32-775A-48CF-ADCE-7D0E9A46DD89}"/>
    <dgm:cxn modelId="{69FB4434-E68D-4920-BE13-A5528C41C68F}" type="presParOf" srcId="{83D3C41A-A349-4495-A934-4E419417A58A}" destId="{A6D737D4-75FA-45BA-8DF8-335747CBED5A}" srcOrd="0" destOrd="0" presId="urn:microsoft.com/office/officeart/2005/8/layout/list1"/>
    <dgm:cxn modelId="{4D5B5848-27C1-4189-80AC-3CBB6E4DBD67}" type="presParOf" srcId="{A6D737D4-75FA-45BA-8DF8-335747CBED5A}" destId="{9101E35E-8AC9-4664-B614-F6663981EC26}" srcOrd="0" destOrd="0" presId="urn:microsoft.com/office/officeart/2005/8/layout/list1"/>
    <dgm:cxn modelId="{E788DEB0-F021-41DA-9B7E-AF8DF23576B9}" type="presParOf" srcId="{A6D737D4-75FA-45BA-8DF8-335747CBED5A}" destId="{91615320-4CF6-4AA6-903B-2DA45376792B}" srcOrd="1" destOrd="0" presId="urn:microsoft.com/office/officeart/2005/8/layout/list1"/>
    <dgm:cxn modelId="{1B3D4287-7FA3-4D17-9516-E910800EBD16}" type="presParOf" srcId="{83D3C41A-A349-4495-A934-4E419417A58A}" destId="{8F5EF893-41E9-44A1-8F73-4C7294540170}" srcOrd="1" destOrd="0" presId="urn:microsoft.com/office/officeart/2005/8/layout/list1"/>
    <dgm:cxn modelId="{0465D55C-84AF-4D0A-8A84-61E55AC3B301}" type="presParOf" srcId="{83D3C41A-A349-4495-A934-4E419417A58A}" destId="{682F3400-ACEA-4BF2-B7EA-1224E7E3934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972B69-4B4F-436A-B547-1FADC4FB29B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75A4D4B-BFE9-4B6F-9A81-9F9C96F5DA38}">
      <dgm:prSet/>
      <dgm:spPr/>
      <dgm:t>
        <a:bodyPr/>
        <a:lstStyle/>
        <a:p>
          <a:r>
            <a:rPr lang="en-US" dirty="0"/>
            <a:t>define nodes and edges</a:t>
          </a:r>
        </a:p>
      </dgm:t>
    </dgm:pt>
    <dgm:pt modelId="{4FAABBF4-AB55-44FE-B6F0-B4BF829D004F}" type="parTrans" cxnId="{7F9DA8A4-8191-4121-8DA1-F0552EB3E440}">
      <dgm:prSet/>
      <dgm:spPr/>
      <dgm:t>
        <a:bodyPr/>
        <a:lstStyle/>
        <a:p>
          <a:endParaRPr lang="en-US"/>
        </a:p>
      </dgm:t>
    </dgm:pt>
    <dgm:pt modelId="{7E1354BB-EC61-4A45-99C9-75C6202CC56A}" type="sibTrans" cxnId="{7F9DA8A4-8191-4121-8DA1-F0552EB3E440}">
      <dgm:prSet/>
      <dgm:spPr/>
      <dgm:t>
        <a:bodyPr/>
        <a:lstStyle/>
        <a:p>
          <a:endParaRPr lang="en-US"/>
        </a:p>
      </dgm:t>
    </dgm:pt>
    <dgm:pt modelId="{762E9E27-EBBE-45D3-A44F-AE222DD7783A}">
      <dgm:prSet/>
      <dgm:spPr/>
      <dgm:t>
        <a:bodyPr/>
        <a:lstStyle/>
        <a:p>
          <a:r>
            <a:rPr lang="en-US" dirty="0"/>
            <a:t>build an adjacency list</a:t>
          </a:r>
        </a:p>
      </dgm:t>
    </dgm:pt>
    <dgm:pt modelId="{203BC3C2-4EA4-4614-9D8F-A2DB4A40B60B}" type="parTrans" cxnId="{08457868-B762-493F-9740-7F181E8ACDFB}">
      <dgm:prSet/>
      <dgm:spPr/>
      <dgm:t>
        <a:bodyPr/>
        <a:lstStyle/>
        <a:p>
          <a:endParaRPr lang="en-US"/>
        </a:p>
      </dgm:t>
    </dgm:pt>
    <dgm:pt modelId="{A1583ABF-C6A3-4E56-95A5-DF031DF4AF31}" type="sibTrans" cxnId="{08457868-B762-493F-9740-7F181E8ACDFB}">
      <dgm:prSet/>
      <dgm:spPr/>
      <dgm:t>
        <a:bodyPr/>
        <a:lstStyle/>
        <a:p>
          <a:endParaRPr lang="en-US"/>
        </a:p>
      </dgm:t>
    </dgm:pt>
    <dgm:pt modelId="{433C7199-25DA-4DB3-8FD9-B136F5EE1469}">
      <dgm:prSet/>
      <dgm:spPr/>
      <dgm:t>
        <a:bodyPr/>
        <a:lstStyle/>
        <a:p>
          <a:r>
            <a:rPr lang="en-US" dirty="0"/>
            <a:t>trace BFS or DFS</a:t>
          </a:r>
        </a:p>
      </dgm:t>
    </dgm:pt>
    <dgm:pt modelId="{E5C98F26-600E-4157-B9BA-27214D5B1DF1}" type="parTrans" cxnId="{D065D188-A909-4DB1-9A8B-3BAA14EDD6E2}">
      <dgm:prSet/>
      <dgm:spPr/>
      <dgm:t>
        <a:bodyPr/>
        <a:lstStyle/>
        <a:p>
          <a:endParaRPr lang="en-US"/>
        </a:p>
      </dgm:t>
    </dgm:pt>
    <dgm:pt modelId="{BCBD9A0A-4210-45C8-85F6-8254A5BF0F7F}" type="sibTrans" cxnId="{D065D188-A909-4DB1-9A8B-3BAA14EDD6E2}">
      <dgm:prSet/>
      <dgm:spPr/>
      <dgm:t>
        <a:bodyPr/>
        <a:lstStyle/>
        <a:p>
          <a:endParaRPr lang="en-US"/>
        </a:p>
      </dgm:t>
    </dgm:pt>
    <dgm:pt modelId="{CEA18326-C714-4A9C-9072-3D137A5E39D7}">
      <dgm:prSet/>
      <dgm:spPr/>
      <dgm:t>
        <a:bodyPr/>
        <a:lstStyle/>
        <a:p>
          <a:r>
            <a:rPr lang="en-US" dirty="0"/>
            <a:t>explain traversal evidence</a:t>
          </a:r>
        </a:p>
      </dgm:t>
    </dgm:pt>
    <dgm:pt modelId="{0CEBE07C-11EE-4347-95BD-56C8B3DB52AF}" type="parTrans" cxnId="{8B658DD0-56FB-4A1C-AC50-594210465EC1}">
      <dgm:prSet/>
      <dgm:spPr/>
      <dgm:t>
        <a:bodyPr/>
        <a:lstStyle/>
        <a:p>
          <a:endParaRPr lang="en-US"/>
        </a:p>
      </dgm:t>
    </dgm:pt>
    <dgm:pt modelId="{CCD52302-FC7E-425B-A46B-A8030D60DDDE}" type="sibTrans" cxnId="{8B658DD0-56FB-4A1C-AC50-594210465EC1}">
      <dgm:prSet/>
      <dgm:spPr/>
      <dgm:t>
        <a:bodyPr/>
        <a:lstStyle/>
        <a:p>
          <a:endParaRPr lang="en-US"/>
        </a:p>
      </dgm:t>
    </dgm:pt>
    <dgm:pt modelId="{C48C0BF8-C9DA-4EBB-943D-4E321DAEB9FC}">
      <dgm:prSet/>
      <dgm:spPr/>
      <dgm:t>
        <a:bodyPr/>
        <a:lstStyle/>
        <a:p>
          <a:r>
            <a:rPr lang="en-US" dirty="0"/>
            <a:t>name what the graph le</a:t>
          </a:r>
        </a:p>
      </dgm:t>
    </dgm:pt>
    <dgm:pt modelId="{E59F4878-C5A2-4B2F-B7FE-101EAF72ABC7}" type="parTrans" cxnId="{96C31F6F-7BE1-46D3-BCA5-71B0D3449E2A}">
      <dgm:prSet/>
      <dgm:spPr/>
      <dgm:t>
        <a:bodyPr/>
        <a:lstStyle/>
        <a:p>
          <a:endParaRPr lang="en-US"/>
        </a:p>
      </dgm:t>
    </dgm:pt>
    <dgm:pt modelId="{304A8572-762D-4EA2-A457-6E32228CCB90}" type="sibTrans" cxnId="{96C31F6F-7BE1-46D3-BCA5-71B0D3449E2A}">
      <dgm:prSet/>
      <dgm:spPr/>
      <dgm:t>
        <a:bodyPr/>
        <a:lstStyle/>
        <a:p>
          <a:endParaRPr lang="en-US"/>
        </a:p>
      </dgm:t>
    </dgm:pt>
    <dgm:pt modelId="{C74AEAA8-95AA-4DD2-B5BF-AF2613DDA678}" type="pres">
      <dgm:prSet presAssocID="{A8972B69-4B4F-436A-B547-1FADC4FB29B4}" presName="linear" presStyleCnt="0">
        <dgm:presLayoutVars>
          <dgm:animLvl val="lvl"/>
          <dgm:resizeHandles val="exact"/>
        </dgm:presLayoutVars>
      </dgm:prSet>
      <dgm:spPr/>
    </dgm:pt>
    <dgm:pt modelId="{C717DEE2-2529-4048-A027-0347422F7B4B}" type="pres">
      <dgm:prSet presAssocID="{A75A4D4B-BFE9-4B6F-9A81-9F9C96F5DA3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287A08D-B1A3-4BC4-BB02-712CE914270A}" type="pres">
      <dgm:prSet presAssocID="{7E1354BB-EC61-4A45-99C9-75C6202CC56A}" presName="spacer" presStyleCnt="0"/>
      <dgm:spPr/>
    </dgm:pt>
    <dgm:pt modelId="{183EE0D5-5538-40BA-915B-CD7C8B64CA4A}" type="pres">
      <dgm:prSet presAssocID="{762E9E27-EBBE-45D3-A44F-AE222DD7783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497948C-E719-4475-B451-C4D9AAF3F57B}" type="pres">
      <dgm:prSet presAssocID="{A1583ABF-C6A3-4E56-95A5-DF031DF4AF31}" presName="spacer" presStyleCnt="0"/>
      <dgm:spPr/>
    </dgm:pt>
    <dgm:pt modelId="{A0608188-2D70-432D-9373-5C72BF557EDA}" type="pres">
      <dgm:prSet presAssocID="{433C7199-25DA-4DB3-8FD9-B136F5EE146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8683908-C924-4705-BDCB-D5F0A79D5F8B}" type="pres">
      <dgm:prSet presAssocID="{BCBD9A0A-4210-45C8-85F6-8254A5BF0F7F}" presName="spacer" presStyleCnt="0"/>
      <dgm:spPr/>
    </dgm:pt>
    <dgm:pt modelId="{F0F5511A-3BB8-4688-9645-9ECA6DE8EDA4}" type="pres">
      <dgm:prSet presAssocID="{CEA18326-C714-4A9C-9072-3D137A5E39D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F5525E8-4FF6-426E-9C04-3749C1A9BD53}" type="pres">
      <dgm:prSet presAssocID="{CCD52302-FC7E-425B-A46B-A8030D60DDDE}" presName="spacer" presStyleCnt="0"/>
      <dgm:spPr/>
    </dgm:pt>
    <dgm:pt modelId="{F00A6A64-B757-4B8A-ABA9-4781CFD9BAAE}" type="pres">
      <dgm:prSet presAssocID="{C48C0BF8-C9DA-4EBB-943D-4E321DAEB9F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4B4F023-05F6-4739-ADAD-11AD72795B45}" type="presOf" srcId="{C48C0BF8-C9DA-4EBB-943D-4E321DAEB9FC}" destId="{F00A6A64-B757-4B8A-ABA9-4781CFD9BAAE}" srcOrd="0" destOrd="0" presId="urn:microsoft.com/office/officeart/2005/8/layout/vList2"/>
    <dgm:cxn modelId="{1B680238-4797-4EB3-9278-C543318337F7}" type="presOf" srcId="{CEA18326-C714-4A9C-9072-3D137A5E39D7}" destId="{F0F5511A-3BB8-4688-9645-9ECA6DE8EDA4}" srcOrd="0" destOrd="0" presId="urn:microsoft.com/office/officeart/2005/8/layout/vList2"/>
    <dgm:cxn modelId="{08457868-B762-493F-9740-7F181E8ACDFB}" srcId="{A8972B69-4B4F-436A-B547-1FADC4FB29B4}" destId="{762E9E27-EBBE-45D3-A44F-AE222DD7783A}" srcOrd="1" destOrd="0" parTransId="{203BC3C2-4EA4-4614-9D8F-A2DB4A40B60B}" sibTransId="{A1583ABF-C6A3-4E56-95A5-DF031DF4AF31}"/>
    <dgm:cxn modelId="{B220736C-DC10-49BA-B44B-C60CC61C39F7}" type="presOf" srcId="{433C7199-25DA-4DB3-8FD9-B136F5EE1469}" destId="{A0608188-2D70-432D-9373-5C72BF557EDA}" srcOrd="0" destOrd="0" presId="urn:microsoft.com/office/officeart/2005/8/layout/vList2"/>
    <dgm:cxn modelId="{96C31F6F-7BE1-46D3-BCA5-71B0D3449E2A}" srcId="{A8972B69-4B4F-436A-B547-1FADC4FB29B4}" destId="{C48C0BF8-C9DA-4EBB-943D-4E321DAEB9FC}" srcOrd="4" destOrd="0" parTransId="{E59F4878-C5A2-4B2F-B7FE-101EAF72ABC7}" sibTransId="{304A8572-762D-4EA2-A457-6E32228CCB90}"/>
    <dgm:cxn modelId="{D065D188-A909-4DB1-9A8B-3BAA14EDD6E2}" srcId="{A8972B69-4B4F-436A-B547-1FADC4FB29B4}" destId="{433C7199-25DA-4DB3-8FD9-B136F5EE1469}" srcOrd="2" destOrd="0" parTransId="{E5C98F26-600E-4157-B9BA-27214D5B1DF1}" sibTransId="{BCBD9A0A-4210-45C8-85F6-8254A5BF0F7F}"/>
    <dgm:cxn modelId="{7F9DA8A4-8191-4121-8DA1-F0552EB3E440}" srcId="{A8972B69-4B4F-436A-B547-1FADC4FB29B4}" destId="{A75A4D4B-BFE9-4B6F-9A81-9F9C96F5DA38}" srcOrd="0" destOrd="0" parTransId="{4FAABBF4-AB55-44FE-B6F0-B4BF829D004F}" sibTransId="{7E1354BB-EC61-4A45-99C9-75C6202CC56A}"/>
    <dgm:cxn modelId="{F3DDD4B0-98F6-48B6-ACA5-ADB06939BE37}" type="presOf" srcId="{A8972B69-4B4F-436A-B547-1FADC4FB29B4}" destId="{C74AEAA8-95AA-4DD2-B5BF-AF2613DDA678}" srcOrd="0" destOrd="0" presId="urn:microsoft.com/office/officeart/2005/8/layout/vList2"/>
    <dgm:cxn modelId="{414326CC-859F-45A0-BFF5-899BC45891B2}" type="presOf" srcId="{A75A4D4B-BFE9-4B6F-9A81-9F9C96F5DA38}" destId="{C717DEE2-2529-4048-A027-0347422F7B4B}" srcOrd="0" destOrd="0" presId="urn:microsoft.com/office/officeart/2005/8/layout/vList2"/>
    <dgm:cxn modelId="{8B658DD0-56FB-4A1C-AC50-594210465EC1}" srcId="{A8972B69-4B4F-436A-B547-1FADC4FB29B4}" destId="{CEA18326-C714-4A9C-9072-3D137A5E39D7}" srcOrd="3" destOrd="0" parTransId="{0CEBE07C-11EE-4347-95BD-56C8B3DB52AF}" sibTransId="{CCD52302-FC7E-425B-A46B-A8030D60DDDE}"/>
    <dgm:cxn modelId="{CE717EF6-7F75-45C8-9C3A-0F19C104ECDE}" type="presOf" srcId="{762E9E27-EBBE-45D3-A44F-AE222DD7783A}" destId="{183EE0D5-5538-40BA-915B-CD7C8B64CA4A}" srcOrd="0" destOrd="0" presId="urn:microsoft.com/office/officeart/2005/8/layout/vList2"/>
    <dgm:cxn modelId="{44C282F8-026D-4D0E-88F8-71C8338D4947}" type="presParOf" srcId="{C74AEAA8-95AA-4DD2-B5BF-AF2613DDA678}" destId="{C717DEE2-2529-4048-A027-0347422F7B4B}" srcOrd="0" destOrd="0" presId="urn:microsoft.com/office/officeart/2005/8/layout/vList2"/>
    <dgm:cxn modelId="{A2FC0041-DBBC-4347-B284-15C177BA5CBB}" type="presParOf" srcId="{C74AEAA8-95AA-4DD2-B5BF-AF2613DDA678}" destId="{4287A08D-B1A3-4BC4-BB02-712CE914270A}" srcOrd="1" destOrd="0" presId="urn:microsoft.com/office/officeart/2005/8/layout/vList2"/>
    <dgm:cxn modelId="{425EE243-1FBA-408A-9D00-08E781FB2A29}" type="presParOf" srcId="{C74AEAA8-95AA-4DD2-B5BF-AF2613DDA678}" destId="{183EE0D5-5538-40BA-915B-CD7C8B64CA4A}" srcOrd="2" destOrd="0" presId="urn:microsoft.com/office/officeart/2005/8/layout/vList2"/>
    <dgm:cxn modelId="{B6DE7434-B704-4BB0-B624-6D25E8372AFC}" type="presParOf" srcId="{C74AEAA8-95AA-4DD2-B5BF-AF2613DDA678}" destId="{5497948C-E719-4475-B451-C4D9AAF3F57B}" srcOrd="3" destOrd="0" presId="urn:microsoft.com/office/officeart/2005/8/layout/vList2"/>
    <dgm:cxn modelId="{848E0287-0A99-4702-94B0-F7F018218CFC}" type="presParOf" srcId="{C74AEAA8-95AA-4DD2-B5BF-AF2613DDA678}" destId="{A0608188-2D70-432D-9373-5C72BF557EDA}" srcOrd="4" destOrd="0" presId="urn:microsoft.com/office/officeart/2005/8/layout/vList2"/>
    <dgm:cxn modelId="{355570CF-3DD9-4D40-9768-AF1C5DF5E965}" type="presParOf" srcId="{C74AEAA8-95AA-4DD2-B5BF-AF2613DDA678}" destId="{18683908-C924-4705-BDCB-D5F0A79D5F8B}" srcOrd="5" destOrd="0" presId="urn:microsoft.com/office/officeart/2005/8/layout/vList2"/>
    <dgm:cxn modelId="{E1C5A040-A625-466C-BBBC-67C351EC08E1}" type="presParOf" srcId="{C74AEAA8-95AA-4DD2-B5BF-AF2613DDA678}" destId="{F0F5511A-3BB8-4688-9645-9ECA6DE8EDA4}" srcOrd="6" destOrd="0" presId="urn:microsoft.com/office/officeart/2005/8/layout/vList2"/>
    <dgm:cxn modelId="{F0D263BE-2F63-4CCE-B80F-5C099FBBD195}" type="presParOf" srcId="{C74AEAA8-95AA-4DD2-B5BF-AF2613DDA678}" destId="{CF5525E8-4FF6-426E-9C04-3749C1A9BD53}" srcOrd="7" destOrd="0" presId="urn:microsoft.com/office/officeart/2005/8/layout/vList2"/>
    <dgm:cxn modelId="{C2ABAA9D-9546-4400-B07B-14D052B2148C}" type="presParOf" srcId="{C74AEAA8-95AA-4DD2-B5BF-AF2613DDA678}" destId="{F00A6A64-B757-4B8A-ABA9-4781CFD9BAA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AA8DB5-FF99-401A-91F6-E8075BCA28CE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A235B5A-4798-4E7C-B667-299852863DA5}">
      <dgm:prSet/>
      <dgm:spPr/>
      <dgm:t>
        <a:bodyPr/>
        <a:lstStyle/>
        <a:p>
          <a:pPr>
            <a:defRPr b="1"/>
          </a:pPr>
          <a:r>
            <a:rPr lang="en-US" dirty="0"/>
            <a:t>Problem:</a:t>
          </a:r>
        </a:p>
      </dgm:t>
    </dgm:pt>
    <dgm:pt modelId="{DD75BC40-2176-42E4-9BE1-6A58AFFA1E93}" type="parTrans" cxnId="{C0406F1A-9BF3-4559-86BE-3D48BA1D7F8C}">
      <dgm:prSet/>
      <dgm:spPr/>
      <dgm:t>
        <a:bodyPr/>
        <a:lstStyle/>
        <a:p>
          <a:endParaRPr lang="en-US"/>
        </a:p>
      </dgm:t>
    </dgm:pt>
    <dgm:pt modelId="{8C7FA012-410C-4AC2-A96F-D490BD20D34E}" type="sibTrans" cxnId="{C0406F1A-9BF3-4559-86BE-3D48BA1D7F8C}">
      <dgm:prSet/>
      <dgm:spPr/>
      <dgm:t>
        <a:bodyPr/>
        <a:lstStyle/>
        <a:p>
          <a:endParaRPr lang="en-US"/>
        </a:p>
      </dgm:t>
    </dgm:pt>
    <dgm:pt modelId="{DCC2D82A-496F-46E7-9E8A-A0486B509E04}">
      <dgm:prSet/>
      <dgm:spPr/>
      <dgm:t>
        <a:bodyPr/>
        <a:lstStyle/>
        <a:p>
          <a:pPr>
            <a:buNone/>
          </a:pPr>
          <a:r>
            <a:rPr lang="en-US" b="0" dirty="0"/>
            <a:t>Model a small campus route map with buildings as nodes and sidewalks as edges</a:t>
          </a:r>
          <a:endParaRPr lang="en-US" dirty="0"/>
        </a:p>
      </dgm:t>
    </dgm:pt>
    <dgm:pt modelId="{1E619D72-4575-451A-8238-425288ACFD5D}" type="parTrans" cxnId="{BAEA7038-0028-4D30-B2EA-9EA79EAADE56}">
      <dgm:prSet/>
      <dgm:spPr/>
      <dgm:t>
        <a:bodyPr/>
        <a:lstStyle/>
        <a:p>
          <a:endParaRPr lang="en-US"/>
        </a:p>
      </dgm:t>
    </dgm:pt>
    <dgm:pt modelId="{01A84278-F8B7-40CC-BFB2-6B5D2202F605}" type="sibTrans" cxnId="{BAEA7038-0028-4D30-B2EA-9EA79EAADE56}">
      <dgm:prSet/>
      <dgm:spPr/>
      <dgm:t>
        <a:bodyPr/>
        <a:lstStyle/>
        <a:p>
          <a:endParaRPr lang="en-US"/>
        </a:p>
      </dgm:t>
    </dgm:pt>
    <dgm:pt modelId="{8477E477-1E41-4B0A-BB1B-4D130CB76604}">
      <dgm:prSet/>
      <dgm:spPr/>
      <dgm:t>
        <a:bodyPr/>
        <a:lstStyle/>
        <a:p>
          <a:r>
            <a:rPr lang="en-US"/>
            <a:t>Goal</a:t>
          </a:r>
          <a:endParaRPr lang="en-US" dirty="0"/>
        </a:p>
      </dgm:t>
    </dgm:pt>
    <dgm:pt modelId="{BA84F64B-5E00-4D9D-845F-89BB91336190}" type="parTrans" cxnId="{B4B2B3B3-C6E8-4D80-9020-47736BC413A8}">
      <dgm:prSet/>
      <dgm:spPr/>
      <dgm:t>
        <a:bodyPr/>
        <a:lstStyle/>
        <a:p>
          <a:endParaRPr lang="en-US"/>
        </a:p>
      </dgm:t>
    </dgm:pt>
    <dgm:pt modelId="{89818D42-9F23-49BA-926F-2EA7F1BF1B62}" type="sibTrans" cxnId="{B4B2B3B3-C6E8-4D80-9020-47736BC413A8}">
      <dgm:prSet/>
      <dgm:spPr/>
      <dgm:t>
        <a:bodyPr/>
        <a:lstStyle/>
        <a:p>
          <a:endParaRPr lang="en-US"/>
        </a:p>
      </dgm:t>
    </dgm:pt>
    <dgm:pt modelId="{F9D55C77-E36E-4514-8E70-474B6DD9CCE5}">
      <dgm:prSet/>
      <dgm:spPr/>
      <dgm:t>
        <a:bodyPr/>
        <a:lstStyle/>
        <a:p>
          <a:pPr>
            <a:buNone/>
          </a:pPr>
          <a:r>
            <a:rPr lang="en-US" b="0" dirty="0"/>
            <a:t>Demonstrate:</a:t>
          </a:r>
          <a:endParaRPr lang="en-US" dirty="0"/>
        </a:p>
      </dgm:t>
    </dgm:pt>
    <dgm:pt modelId="{4AA9C821-F785-436F-92ED-9504A44974AF}" type="parTrans" cxnId="{AB1AB01D-90AC-4BDD-9C7F-7B2ADD93144A}">
      <dgm:prSet/>
      <dgm:spPr/>
      <dgm:t>
        <a:bodyPr/>
        <a:lstStyle/>
        <a:p>
          <a:endParaRPr lang="en-US"/>
        </a:p>
      </dgm:t>
    </dgm:pt>
    <dgm:pt modelId="{B6E5B23B-38E7-4960-B0CF-EC13EF3322C4}" type="sibTrans" cxnId="{AB1AB01D-90AC-4BDD-9C7F-7B2ADD93144A}">
      <dgm:prSet/>
      <dgm:spPr/>
      <dgm:t>
        <a:bodyPr/>
        <a:lstStyle/>
        <a:p>
          <a:endParaRPr lang="en-US"/>
        </a:p>
      </dgm:t>
    </dgm:pt>
    <dgm:pt modelId="{A2E9A99F-EC59-4DD7-9717-7A4E0E6AD98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a text diagram of the route map</a:t>
          </a:r>
        </a:p>
      </dgm:t>
    </dgm:pt>
    <dgm:pt modelId="{8A3A8BF5-4826-45C0-8D8B-6EC1ED48AC24}" type="parTrans" cxnId="{5F081629-5FCF-40D5-9B5F-745B55EF9F7C}">
      <dgm:prSet/>
      <dgm:spPr/>
      <dgm:t>
        <a:bodyPr/>
        <a:lstStyle/>
        <a:p>
          <a:endParaRPr lang="en-US"/>
        </a:p>
      </dgm:t>
    </dgm:pt>
    <dgm:pt modelId="{0A061CE5-CDFC-42CF-BB84-83679F27AB30}" type="sibTrans" cxnId="{5F081629-5FCF-40D5-9B5F-745B55EF9F7C}">
      <dgm:prSet/>
      <dgm:spPr/>
      <dgm:t>
        <a:bodyPr/>
        <a:lstStyle/>
        <a:p>
          <a:endParaRPr lang="en-US"/>
        </a:p>
      </dgm:t>
    </dgm:pt>
    <dgm:pt modelId="{22987A57-80FB-46D2-82B8-289783FA5C6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adjacency-list creation</a:t>
          </a:r>
        </a:p>
      </dgm:t>
    </dgm:pt>
    <dgm:pt modelId="{67D5B910-E6C0-4CE2-B91A-4B8A10CBF0B7}" type="parTrans" cxnId="{E3367524-3EED-42F7-B7E2-AC1A662BC140}">
      <dgm:prSet/>
      <dgm:spPr/>
      <dgm:t>
        <a:bodyPr/>
        <a:lstStyle/>
        <a:p>
          <a:endParaRPr lang="en-US"/>
        </a:p>
      </dgm:t>
    </dgm:pt>
    <dgm:pt modelId="{27E627CB-F1B9-40ED-A9B5-32F85C1944FC}" type="sibTrans" cxnId="{E3367524-3EED-42F7-B7E2-AC1A662BC140}">
      <dgm:prSet/>
      <dgm:spPr/>
      <dgm:t>
        <a:bodyPr/>
        <a:lstStyle/>
        <a:p>
          <a:endParaRPr lang="en-US"/>
        </a:p>
      </dgm:t>
    </dgm:pt>
    <dgm:pt modelId="{D616DE10-7871-4D91-B9D4-51CF2D32C93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BFS traversal from one start building</a:t>
          </a:r>
        </a:p>
      </dgm:t>
    </dgm:pt>
    <dgm:pt modelId="{41500957-478B-4101-B1ED-2752F46814D0}" type="parTrans" cxnId="{C2C0D1A0-56C3-42F0-BDAD-6D040E021188}">
      <dgm:prSet/>
      <dgm:spPr/>
      <dgm:t>
        <a:bodyPr/>
        <a:lstStyle/>
        <a:p>
          <a:endParaRPr lang="en-US"/>
        </a:p>
      </dgm:t>
    </dgm:pt>
    <dgm:pt modelId="{7E54929D-C3AF-488F-8AD8-8D502EDBB777}" type="sibTrans" cxnId="{C2C0D1A0-56C3-42F0-BDAD-6D040E021188}">
      <dgm:prSet/>
      <dgm:spPr/>
      <dgm:t>
        <a:bodyPr/>
        <a:lstStyle/>
        <a:p>
          <a:endParaRPr lang="en-US"/>
        </a:p>
      </dgm:t>
    </dgm:pt>
    <dgm:pt modelId="{BC78290A-9FEA-4EAA-AC5A-CE2A12F7A03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DFS traversal from the same start building</a:t>
          </a:r>
        </a:p>
      </dgm:t>
    </dgm:pt>
    <dgm:pt modelId="{3FE3EC35-9516-4BED-AF01-CD6A5C2D0AE2}" type="parTrans" cxnId="{83ABB09F-BDFF-4FE0-9D75-DF0529116E91}">
      <dgm:prSet/>
      <dgm:spPr/>
      <dgm:t>
        <a:bodyPr/>
        <a:lstStyle/>
        <a:p>
          <a:endParaRPr lang="en-US"/>
        </a:p>
      </dgm:t>
    </dgm:pt>
    <dgm:pt modelId="{78F3DF66-440D-4D39-AFA9-4BD5E357903A}" type="sibTrans" cxnId="{83ABB09F-BDFF-4FE0-9D75-DF0529116E91}">
      <dgm:prSet/>
      <dgm:spPr/>
      <dgm:t>
        <a:bodyPr/>
        <a:lstStyle/>
        <a:p>
          <a:endParaRPr lang="en-US"/>
        </a:p>
      </dgm:t>
    </dgm:pt>
    <dgm:pt modelId="{5210DC90-2BA6-45D5-8AAE-1A0ED2466398}" type="pres">
      <dgm:prSet presAssocID="{BAAA8DB5-FF99-401A-91F6-E8075BCA28CE}" presName="Name0" presStyleCnt="0">
        <dgm:presLayoutVars>
          <dgm:dir/>
          <dgm:animLvl val="lvl"/>
          <dgm:resizeHandles val="exact"/>
        </dgm:presLayoutVars>
      </dgm:prSet>
      <dgm:spPr/>
    </dgm:pt>
    <dgm:pt modelId="{E09BFB03-DCE5-4F69-B1EA-8BFFFC32A2F1}" type="pres">
      <dgm:prSet presAssocID="{AA235B5A-4798-4E7C-B667-299852863DA5}" presName="linNode" presStyleCnt="0"/>
      <dgm:spPr/>
    </dgm:pt>
    <dgm:pt modelId="{30D56222-46DC-49B6-93B9-D527764F5239}" type="pres">
      <dgm:prSet presAssocID="{AA235B5A-4798-4E7C-B667-299852863DA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F4F20F46-BD9F-433C-B479-B55A8902755F}" type="pres">
      <dgm:prSet presAssocID="{AA235B5A-4798-4E7C-B667-299852863DA5}" presName="descendantText" presStyleLbl="alignAccFollowNode1" presStyleIdx="0" presStyleCnt="2">
        <dgm:presLayoutVars>
          <dgm:bulletEnabled val="1"/>
        </dgm:presLayoutVars>
      </dgm:prSet>
      <dgm:spPr/>
    </dgm:pt>
    <dgm:pt modelId="{CC14BB53-AFF8-4807-B74B-1D1537452EDE}" type="pres">
      <dgm:prSet presAssocID="{8C7FA012-410C-4AC2-A96F-D490BD20D34E}" presName="sp" presStyleCnt="0"/>
      <dgm:spPr/>
    </dgm:pt>
    <dgm:pt modelId="{08C96191-C635-4119-BDAE-47B734A368C7}" type="pres">
      <dgm:prSet presAssocID="{8477E477-1E41-4B0A-BB1B-4D130CB76604}" presName="linNode" presStyleCnt="0"/>
      <dgm:spPr/>
    </dgm:pt>
    <dgm:pt modelId="{05B628AE-3B1C-4161-A2F2-79CC492C689A}" type="pres">
      <dgm:prSet presAssocID="{8477E477-1E41-4B0A-BB1B-4D130CB76604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9B361A2-D7A8-43A5-AA5B-63BFB24FB360}" type="pres">
      <dgm:prSet presAssocID="{8477E477-1E41-4B0A-BB1B-4D130CB76604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0406F1A-9BF3-4559-86BE-3D48BA1D7F8C}" srcId="{BAAA8DB5-FF99-401A-91F6-E8075BCA28CE}" destId="{AA235B5A-4798-4E7C-B667-299852863DA5}" srcOrd="0" destOrd="0" parTransId="{DD75BC40-2176-42E4-9BE1-6A58AFFA1E93}" sibTransId="{8C7FA012-410C-4AC2-A96F-D490BD20D34E}"/>
    <dgm:cxn modelId="{AB1AB01D-90AC-4BDD-9C7F-7B2ADD93144A}" srcId="{8477E477-1E41-4B0A-BB1B-4D130CB76604}" destId="{F9D55C77-E36E-4514-8E70-474B6DD9CCE5}" srcOrd="0" destOrd="0" parTransId="{4AA9C821-F785-436F-92ED-9504A44974AF}" sibTransId="{B6E5B23B-38E7-4960-B0CF-EC13EF3322C4}"/>
    <dgm:cxn modelId="{E3367524-3EED-42F7-B7E2-AC1A662BC140}" srcId="{F9D55C77-E36E-4514-8E70-474B6DD9CCE5}" destId="{22987A57-80FB-46D2-82B8-289783FA5C6F}" srcOrd="1" destOrd="0" parTransId="{67D5B910-E6C0-4CE2-B91A-4B8A10CBF0B7}" sibTransId="{27E627CB-F1B9-40ED-A9B5-32F85C1944FC}"/>
    <dgm:cxn modelId="{5F081629-5FCF-40D5-9B5F-745B55EF9F7C}" srcId="{F9D55C77-E36E-4514-8E70-474B6DD9CCE5}" destId="{A2E9A99F-EC59-4DD7-9717-7A4E0E6AD983}" srcOrd="0" destOrd="0" parTransId="{8A3A8BF5-4826-45C0-8D8B-6EC1ED48AC24}" sibTransId="{0A061CE5-CDFC-42CF-BB84-83679F27AB30}"/>
    <dgm:cxn modelId="{BAEA7038-0028-4D30-B2EA-9EA79EAADE56}" srcId="{AA235B5A-4798-4E7C-B667-299852863DA5}" destId="{DCC2D82A-496F-46E7-9E8A-A0486B509E04}" srcOrd="0" destOrd="0" parTransId="{1E619D72-4575-451A-8238-425288ACFD5D}" sibTransId="{01A84278-F8B7-40CC-BFB2-6B5D2202F605}"/>
    <dgm:cxn modelId="{6F408241-520C-4B48-9413-C67B2E314D09}" type="presOf" srcId="{A2E9A99F-EC59-4DD7-9717-7A4E0E6AD983}" destId="{19B361A2-D7A8-43A5-AA5B-63BFB24FB360}" srcOrd="0" destOrd="1" presId="urn:microsoft.com/office/officeart/2005/8/layout/vList5"/>
    <dgm:cxn modelId="{62BD157F-8381-4D4E-A28A-47A0D2AAC481}" type="presOf" srcId="{BAAA8DB5-FF99-401A-91F6-E8075BCA28CE}" destId="{5210DC90-2BA6-45D5-8AAE-1A0ED2466398}" srcOrd="0" destOrd="0" presId="urn:microsoft.com/office/officeart/2005/8/layout/vList5"/>
    <dgm:cxn modelId="{56CAA483-5EE7-4B76-A5CC-26EF4817D61F}" type="presOf" srcId="{AA235B5A-4798-4E7C-B667-299852863DA5}" destId="{30D56222-46DC-49B6-93B9-D527764F5239}" srcOrd="0" destOrd="0" presId="urn:microsoft.com/office/officeart/2005/8/layout/vList5"/>
    <dgm:cxn modelId="{62378C95-356B-4F32-A933-DDCF666E42FF}" type="presOf" srcId="{8477E477-1E41-4B0A-BB1B-4D130CB76604}" destId="{05B628AE-3B1C-4161-A2F2-79CC492C689A}" srcOrd="0" destOrd="0" presId="urn:microsoft.com/office/officeart/2005/8/layout/vList5"/>
    <dgm:cxn modelId="{83ABB09F-BDFF-4FE0-9D75-DF0529116E91}" srcId="{F9D55C77-E36E-4514-8E70-474B6DD9CCE5}" destId="{BC78290A-9FEA-4EAA-AC5A-CE2A12F7A037}" srcOrd="3" destOrd="0" parTransId="{3FE3EC35-9516-4BED-AF01-CD6A5C2D0AE2}" sibTransId="{78F3DF66-440D-4D39-AFA9-4BD5E357903A}"/>
    <dgm:cxn modelId="{C2C0D1A0-56C3-42F0-BDAD-6D040E021188}" srcId="{F9D55C77-E36E-4514-8E70-474B6DD9CCE5}" destId="{D616DE10-7871-4D91-B9D4-51CF2D32C93E}" srcOrd="2" destOrd="0" parTransId="{41500957-478B-4101-B1ED-2752F46814D0}" sibTransId="{7E54929D-C3AF-488F-8AD8-8D502EDBB777}"/>
    <dgm:cxn modelId="{A1DCA3A8-1D1C-4379-A71D-2E5F8CC5A4DB}" type="presOf" srcId="{BC78290A-9FEA-4EAA-AC5A-CE2A12F7A037}" destId="{19B361A2-D7A8-43A5-AA5B-63BFB24FB360}" srcOrd="0" destOrd="4" presId="urn:microsoft.com/office/officeart/2005/8/layout/vList5"/>
    <dgm:cxn modelId="{B4B2B3B3-C6E8-4D80-9020-47736BC413A8}" srcId="{BAAA8DB5-FF99-401A-91F6-E8075BCA28CE}" destId="{8477E477-1E41-4B0A-BB1B-4D130CB76604}" srcOrd="1" destOrd="0" parTransId="{BA84F64B-5E00-4D9D-845F-89BB91336190}" sibTransId="{89818D42-9F23-49BA-926F-2EA7F1BF1B62}"/>
    <dgm:cxn modelId="{36FD06C4-C5FD-484E-B771-A85459381CEC}" type="presOf" srcId="{F9D55C77-E36E-4514-8E70-474B6DD9CCE5}" destId="{19B361A2-D7A8-43A5-AA5B-63BFB24FB360}" srcOrd="0" destOrd="0" presId="urn:microsoft.com/office/officeart/2005/8/layout/vList5"/>
    <dgm:cxn modelId="{6FB6D4CA-A29E-4009-83FA-68BB56EAC25D}" type="presOf" srcId="{22987A57-80FB-46D2-82B8-289783FA5C6F}" destId="{19B361A2-D7A8-43A5-AA5B-63BFB24FB360}" srcOrd="0" destOrd="2" presId="urn:microsoft.com/office/officeart/2005/8/layout/vList5"/>
    <dgm:cxn modelId="{63D31FE1-3D3E-4242-8A52-9F53BC716022}" type="presOf" srcId="{DCC2D82A-496F-46E7-9E8A-A0486B509E04}" destId="{F4F20F46-BD9F-433C-B479-B55A8902755F}" srcOrd="0" destOrd="0" presId="urn:microsoft.com/office/officeart/2005/8/layout/vList5"/>
    <dgm:cxn modelId="{A36AD3FB-6477-4D8E-B669-BB89B4C22F2B}" type="presOf" srcId="{D616DE10-7871-4D91-B9D4-51CF2D32C93E}" destId="{19B361A2-D7A8-43A5-AA5B-63BFB24FB360}" srcOrd="0" destOrd="3" presId="urn:microsoft.com/office/officeart/2005/8/layout/vList5"/>
    <dgm:cxn modelId="{52A4E1E3-8DC0-4013-9FFD-C198B88771A5}" type="presParOf" srcId="{5210DC90-2BA6-45D5-8AAE-1A0ED2466398}" destId="{E09BFB03-DCE5-4F69-B1EA-8BFFFC32A2F1}" srcOrd="0" destOrd="0" presId="urn:microsoft.com/office/officeart/2005/8/layout/vList5"/>
    <dgm:cxn modelId="{40323A4D-B556-4197-BB18-1C9D72054432}" type="presParOf" srcId="{E09BFB03-DCE5-4F69-B1EA-8BFFFC32A2F1}" destId="{30D56222-46DC-49B6-93B9-D527764F5239}" srcOrd="0" destOrd="0" presId="urn:microsoft.com/office/officeart/2005/8/layout/vList5"/>
    <dgm:cxn modelId="{7AD647DC-16F5-4BDC-B6C4-F236A4859AC3}" type="presParOf" srcId="{E09BFB03-DCE5-4F69-B1EA-8BFFFC32A2F1}" destId="{F4F20F46-BD9F-433C-B479-B55A8902755F}" srcOrd="1" destOrd="0" presId="urn:microsoft.com/office/officeart/2005/8/layout/vList5"/>
    <dgm:cxn modelId="{32D669A0-DB8A-497F-8BD7-8C3975D8902E}" type="presParOf" srcId="{5210DC90-2BA6-45D5-8AAE-1A0ED2466398}" destId="{CC14BB53-AFF8-4807-B74B-1D1537452EDE}" srcOrd="1" destOrd="0" presId="urn:microsoft.com/office/officeart/2005/8/layout/vList5"/>
    <dgm:cxn modelId="{0D207507-C50D-4D5B-B769-BC01B413712D}" type="presParOf" srcId="{5210DC90-2BA6-45D5-8AAE-1A0ED2466398}" destId="{08C96191-C635-4119-BDAE-47B734A368C7}" srcOrd="2" destOrd="0" presId="urn:microsoft.com/office/officeart/2005/8/layout/vList5"/>
    <dgm:cxn modelId="{768088A2-5113-410F-891B-8344B0FB88E8}" type="presParOf" srcId="{08C96191-C635-4119-BDAE-47B734A368C7}" destId="{05B628AE-3B1C-4161-A2F2-79CC492C689A}" srcOrd="0" destOrd="0" presId="urn:microsoft.com/office/officeart/2005/8/layout/vList5"/>
    <dgm:cxn modelId="{CDA62C63-BBBD-4BC2-BFFC-40727FC21FBE}" type="presParOf" srcId="{08C96191-C635-4119-BDAE-47B734A368C7}" destId="{19B361A2-D7A8-43A5-AA5B-63BFB24FB36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50E9AF-05F3-4A3F-BA18-B74008995350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5D04C3B-1303-4690-826F-07DDD27B4301}">
      <dgm:prSet/>
      <dgm:spPr/>
      <dgm:t>
        <a:bodyPr/>
        <a:lstStyle/>
        <a:p>
          <a:r>
            <a:rPr lang="en-US" b="0" dirty="0"/>
            <a:t>at least 6 nodes</a:t>
          </a:r>
          <a:endParaRPr lang="en-US" dirty="0"/>
        </a:p>
      </dgm:t>
    </dgm:pt>
    <dgm:pt modelId="{BBECC7BE-6559-427C-BECE-7F4878B40822}" type="parTrans" cxnId="{9A17ACFE-9369-4C05-9174-178D8CDDA75E}">
      <dgm:prSet/>
      <dgm:spPr/>
      <dgm:t>
        <a:bodyPr/>
        <a:lstStyle/>
        <a:p>
          <a:endParaRPr lang="en-US"/>
        </a:p>
      </dgm:t>
    </dgm:pt>
    <dgm:pt modelId="{F1CF1792-00F4-4406-86B6-7DBC329734BE}" type="sibTrans" cxnId="{9A17ACFE-9369-4C05-9174-178D8CDDA75E}">
      <dgm:prSet/>
      <dgm:spPr/>
      <dgm:t>
        <a:bodyPr/>
        <a:lstStyle/>
        <a:p>
          <a:endParaRPr lang="en-US"/>
        </a:p>
      </dgm:t>
    </dgm:pt>
    <dgm:pt modelId="{48B912CE-093D-4772-B259-2132202237A1}">
      <dgm:prSet/>
      <dgm:spPr/>
      <dgm:t>
        <a:bodyPr/>
        <a:lstStyle/>
        <a:p>
          <a:pPr>
            <a:buNone/>
          </a:pPr>
          <a:r>
            <a:rPr lang="en-US" b="0" dirty="0"/>
            <a:t>at least 7 edges</a:t>
          </a:r>
        </a:p>
      </dgm:t>
    </dgm:pt>
    <dgm:pt modelId="{16E062F6-C646-4AB0-85A3-F1528EFD4248}" type="parTrans" cxnId="{1C2377BC-A78C-46AD-8AF2-C7A43E0847AA}">
      <dgm:prSet/>
      <dgm:spPr/>
      <dgm:t>
        <a:bodyPr/>
        <a:lstStyle/>
        <a:p>
          <a:endParaRPr lang="en-US"/>
        </a:p>
      </dgm:t>
    </dgm:pt>
    <dgm:pt modelId="{6A84F045-FDD7-4D55-9DAD-57BF2AB4A021}" type="sibTrans" cxnId="{1C2377BC-A78C-46AD-8AF2-C7A43E0847AA}">
      <dgm:prSet/>
      <dgm:spPr/>
      <dgm:t>
        <a:bodyPr/>
        <a:lstStyle/>
        <a:p>
          <a:endParaRPr lang="en-US"/>
        </a:p>
      </dgm:t>
    </dgm:pt>
    <dgm:pt modelId="{E06FE9E2-5BBE-4BF0-93BE-D0272D9FA928}">
      <dgm:prSet/>
      <dgm:spPr/>
      <dgm:t>
        <a:bodyPr/>
        <a:lstStyle/>
        <a:p>
          <a:pPr>
            <a:buNone/>
          </a:pPr>
          <a:r>
            <a:rPr lang="en-US" b="0" dirty="0"/>
            <a:t>adjacency list</a:t>
          </a:r>
        </a:p>
      </dgm:t>
    </dgm:pt>
    <dgm:pt modelId="{EF4BE3FB-4905-424C-8916-66E9D5DD51C3}" type="parTrans" cxnId="{02F3F034-9A70-48BC-9E52-6D00D9516221}">
      <dgm:prSet/>
      <dgm:spPr/>
      <dgm:t>
        <a:bodyPr/>
        <a:lstStyle/>
        <a:p>
          <a:endParaRPr lang="en-US"/>
        </a:p>
      </dgm:t>
    </dgm:pt>
    <dgm:pt modelId="{FB8EABC3-51C9-4C8D-8380-2B284603CC93}" type="sibTrans" cxnId="{02F3F034-9A70-48BC-9E52-6D00D9516221}">
      <dgm:prSet/>
      <dgm:spPr/>
      <dgm:t>
        <a:bodyPr/>
        <a:lstStyle/>
        <a:p>
          <a:endParaRPr lang="en-US"/>
        </a:p>
      </dgm:t>
    </dgm:pt>
    <dgm:pt modelId="{DE3023B6-C00B-4F94-8929-A1DE5417F789}">
      <dgm:prSet/>
      <dgm:spPr/>
      <dgm:t>
        <a:bodyPr/>
        <a:lstStyle/>
        <a:p>
          <a:pPr>
            <a:buNone/>
          </a:pPr>
          <a:r>
            <a:rPr lang="en-US" b="0" dirty="0"/>
            <a:t>diagram or text representation</a:t>
          </a:r>
        </a:p>
      </dgm:t>
    </dgm:pt>
    <dgm:pt modelId="{DB424FA8-E792-459B-9A18-921DF3C1AE4F}" type="parTrans" cxnId="{216D71B7-8ADC-437E-A001-30370146EEE0}">
      <dgm:prSet/>
      <dgm:spPr/>
      <dgm:t>
        <a:bodyPr/>
        <a:lstStyle/>
        <a:p>
          <a:endParaRPr lang="en-US"/>
        </a:p>
      </dgm:t>
    </dgm:pt>
    <dgm:pt modelId="{8852E991-30BC-42D4-AA59-CA1AE5404428}" type="sibTrans" cxnId="{216D71B7-8ADC-437E-A001-30370146EEE0}">
      <dgm:prSet/>
      <dgm:spPr/>
      <dgm:t>
        <a:bodyPr/>
        <a:lstStyle/>
        <a:p>
          <a:endParaRPr lang="en-US"/>
        </a:p>
      </dgm:t>
    </dgm:pt>
    <dgm:pt modelId="{2DC6077E-DDA1-4593-AE47-97E5070E2798}">
      <dgm:prSet/>
      <dgm:spPr/>
      <dgm:t>
        <a:bodyPr/>
        <a:lstStyle/>
        <a:p>
          <a:pPr>
            <a:buNone/>
          </a:pPr>
          <a:r>
            <a:rPr lang="en-US" b="0" dirty="0"/>
            <a:t>BFS or DFS traversal</a:t>
          </a:r>
        </a:p>
      </dgm:t>
    </dgm:pt>
    <dgm:pt modelId="{83605564-7D4C-4C06-8DC4-81DB9BB1A1C3}" type="parTrans" cxnId="{B58AA31A-0810-4FEF-8446-2028A475590B}">
      <dgm:prSet/>
      <dgm:spPr/>
      <dgm:t>
        <a:bodyPr/>
        <a:lstStyle/>
        <a:p>
          <a:endParaRPr lang="en-US"/>
        </a:p>
      </dgm:t>
    </dgm:pt>
    <dgm:pt modelId="{317147ED-4AC3-4D28-A26B-71E3812240E9}" type="sibTrans" cxnId="{B58AA31A-0810-4FEF-8446-2028A475590B}">
      <dgm:prSet/>
      <dgm:spPr/>
      <dgm:t>
        <a:bodyPr/>
        <a:lstStyle/>
        <a:p>
          <a:endParaRPr lang="en-US"/>
        </a:p>
      </dgm:t>
    </dgm:pt>
    <dgm:pt modelId="{1A83C8B6-A6B6-448D-842E-DA49C5BFDBD6}">
      <dgm:prSet/>
      <dgm:spPr/>
      <dgm:t>
        <a:bodyPr/>
        <a:lstStyle/>
        <a:p>
          <a:pPr>
            <a:buNone/>
          </a:pPr>
          <a:r>
            <a:rPr lang="en-US" b="0" dirty="0"/>
            <a:t>traversal table</a:t>
          </a:r>
        </a:p>
      </dgm:t>
    </dgm:pt>
    <dgm:pt modelId="{A09C6B71-23F6-4AD1-B655-7B938CEE3DFE}" type="parTrans" cxnId="{357DF1D5-B8AF-4808-B3CC-37815A6808B6}">
      <dgm:prSet/>
      <dgm:spPr/>
      <dgm:t>
        <a:bodyPr/>
        <a:lstStyle/>
        <a:p>
          <a:endParaRPr lang="en-US"/>
        </a:p>
      </dgm:t>
    </dgm:pt>
    <dgm:pt modelId="{FD8012CA-05B0-449F-9402-4539786DDF93}" type="sibTrans" cxnId="{357DF1D5-B8AF-4808-B3CC-37815A6808B6}">
      <dgm:prSet/>
      <dgm:spPr/>
      <dgm:t>
        <a:bodyPr/>
        <a:lstStyle/>
        <a:p>
          <a:endParaRPr lang="en-US"/>
        </a:p>
      </dgm:t>
    </dgm:pt>
    <dgm:pt modelId="{ED7F97D1-F6C5-46F2-AE97-4B2E760704A1}">
      <dgm:prSet/>
      <dgm:spPr/>
      <dgm:t>
        <a:bodyPr/>
        <a:lstStyle/>
        <a:p>
          <a:pPr>
            <a:buNone/>
          </a:pPr>
          <a:r>
            <a:rPr lang="en-US" b="0" dirty="0"/>
            <a:t>model limitation</a:t>
          </a:r>
        </a:p>
      </dgm:t>
    </dgm:pt>
    <dgm:pt modelId="{316E1168-49C6-4484-B8E0-D58F15900DB4}" type="parTrans" cxnId="{413E812B-3694-4449-B3AC-C540724D9E9C}">
      <dgm:prSet/>
      <dgm:spPr/>
      <dgm:t>
        <a:bodyPr/>
        <a:lstStyle/>
        <a:p>
          <a:endParaRPr lang="en-US"/>
        </a:p>
      </dgm:t>
    </dgm:pt>
    <dgm:pt modelId="{DE7641D9-C057-4E6B-8774-7D45CF5C63EE}" type="sibTrans" cxnId="{413E812B-3694-4449-B3AC-C540724D9E9C}">
      <dgm:prSet/>
      <dgm:spPr/>
      <dgm:t>
        <a:bodyPr/>
        <a:lstStyle/>
        <a:p>
          <a:endParaRPr lang="en-US"/>
        </a:p>
      </dgm:t>
    </dgm:pt>
    <dgm:pt modelId="{2E98CC93-1A2E-481C-BF15-BF1375DE5190}" type="pres">
      <dgm:prSet presAssocID="{3F50E9AF-05F3-4A3F-BA18-B74008995350}" presName="diagram" presStyleCnt="0">
        <dgm:presLayoutVars>
          <dgm:dir/>
          <dgm:resizeHandles val="exact"/>
        </dgm:presLayoutVars>
      </dgm:prSet>
      <dgm:spPr/>
    </dgm:pt>
    <dgm:pt modelId="{35F771C1-05FC-4D74-B572-26CBF75E68BC}" type="pres">
      <dgm:prSet presAssocID="{55D04C3B-1303-4690-826F-07DDD27B4301}" presName="node" presStyleLbl="node1" presStyleIdx="0" presStyleCnt="7">
        <dgm:presLayoutVars>
          <dgm:bulletEnabled val="1"/>
        </dgm:presLayoutVars>
      </dgm:prSet>
      <dgm:spPr/>
    </dgm:pt>
    <dgm:pt modelId="{3F562B63-5AFE-4867-9581-E676B95E4C03}" type="pres">
      <dgm:prSet presAssocID="{F1CF1792-00F4-4406-86B6-7DBC329734BE}" presName="sibTrans" presStyleCnt="0"/>
      <dgm:spPr/>
    </dgm:pt>
    <dgm:pt modelId="{B845CC12-B8FB-4D24-BB43-3C1F6FFF6A5C}" type="pres">
      <dgm:prSet presAssocID="{48B912CE-093D-4772-B259-2132202237A1}" presName="node" presStyleLbl="node1" presStyleIdx="1" presStyleCnt="7">
        <dgm:presLayoutVars>
          <dgm:bulletEnabled val="1"/>
        </dgm:presLayoutVars>
      </dgm:prSet>
      <dgm:spPr/>
    </dgm:pt>
    <dgm:pt modelId="{68401B39-D9B5-4529-9BCA-A9D6A157548B}" type="pres">
      <dgm:prSet presAssocID="{6A84F045-FDD7-4D55-9DAD-57BF2AB4A021}" presName="sibTrans" presStyleCnt="0"/>
      <dgm:spPr/>
    </dgm:pt>
    <dgm:pt modelId="{590A1C83-666F-4FEF-83FB-BF1B0FC11F89}" type="pres">
      <dgm:prSet presAssocID="{E06FE9E2-5BBE-4BF0-93BE-D0272D9FA928}" presName="node" presStyleLbl="node1" presStyleIdx="2" presStyleCnt="7">
        <dgm:presLayoutVars>
          <dgm:bulletEnabled val="1"/>
        </dgm:presLayoutVars>
      </dgm:prSet>
      <dgm:spPr/>
    </dgm:pt>
    <dgm:pt modelId="{73016E67-438D-42A9-B5A9-9DBFEFC56749}" type="pres">
      <dgm:prSet presAssocID="{FB8EABC3-51C9-4C8D-8380-2B284603CC93}" presName="sibTrans" presStyleCnt="0"/>
      <dgm:spPr/>
    </dgm:pt>
    <dgm:pt modelId="{DEA0B5D8-80CF-4F6A-9592-7D2A288FE713}" type="pres">
      <dgm:prSet presAssocID="{DE3023B6-C00B-4F94-8929-A1DE5417F789}" presName="node" presStyleLbl="node1" presStyleIdx="3" presStyleCnt="7">
        <dgm:presLayoutVars>
          <dgm:bulletEnabled val="1"/>
        </dgm:presLayoutVars>
      </dgm:prSet>
      <dgm:spPr/>
    </dgm:pt>
    <dgm:pt modelId="{DE880B01-7783-42D7-BBD1-08AC09B5BF30}" type="pres">
      <dgm:prSet presAssocID="{8852E991-30BC-42D4-AA59-CA1AE5404428}" presName="sibTrans" presStyleCnt="0"/>
      <dgm:spPr/>
    </dgm:pt>
    <dgm:pt modelId="{7DBFEB26-728C-47DB-B27F-29B025BC96BD}" type="pres">
      <dgm:prSet presAssocID="{2DC6077E-DDA1-4593-AE47-97E5070E2798}" presName="node" presStyleLbl="node1" presStyleIdx="4" presStyleCnt="7">
        <dgm:presLayoutVars>
          <dgm:bulletEnabled val="1"/>
        </dgm:presLayoutVars>
      </dgm:prSet>
      <dgm:spPr/>
    </dgm:pt>
    <dgm:pt modelId="{6CAC33B2-6DB4-4CCB-B428-CD0857D3CE9B}" type="pres">
      <dgm:prSet presAssocID="{317147ED-4AC3-4D28-A26B-71E3812240E9}" presName="sibTrans" presStyleCnt="0"/>
      <dgm:spPr/>
    </dgm:pt>
    <dgm:pt modelId="{01A12AFB-33F9-46B5-8F6D-6FD97784A96B}" type="pres">
      <dgm:prSet presAssocID="{1A83C8B6-A6B6-448D-842E-DA49C5BFDBD6}" presName="node" presStyleLbl="node1" presStyleIdx="5" presStyleCnt="7">
        <dgm:presLayoutVars>
          <dgm:bulletEnabled val="1"/>
        </dgm:presLayoutVars>
      </dgm:prSet>
      <dgm:spPr/>
    </dgm:pt>
    <dgm:pt modelId="{926801EC-EC7A-4221-898E-A52B25E8CA15}" type="pres">
      <dgm:prSet presAssocID="{FD8012CA-05B0-449F-9402-4539786DDF93}" presName="sibTrans" presStyleCnt="0"/>
      <dgm:spPr/>
    </dgm:pt>
    <dgm:pt modelId="{963452F5-1C81-43DF-BF2B-7C1C3EF0766B}" type="pres">
      <dgm:prSet presAssocID="{ED7F97D1-F6C5-46F2-AE97-4B2E760704A1}" presName="node" presStyleLbl="node1" presStyleIdx="6" presStyleCnt="7">
        <dgm:presLayoutVars>
          <dgm:bulletEnabled val="1"/>
        </dgm:presLayoutVars>
      </dgm:prSet>
      <dgm:spPr/>
    </dgm:pt>
  </dgm:ptLst>
  <dgm:cxnLst>
    <dgm:cxn modelId="{B58AA31A-0810-4FEF-8446-2028A475590B}" srcId="{3F50E9AF-05F3-4A3F-BA18-B74008995350}" destId="{2DC6077E-DDA1-4593-AE47-97E5070E2798}" srcOrd="4" destOrd="0" parTransId="{83605564-7D4C-4C06-8DC4-81DB9BB1A1C3}" sibTransId="{317147ED-4AC3-4D28-A26B-71E3812240E9}"/>
    <dgm:cxn modelId="{413E812B-3694-4449-B3AC-C540724D9E9C}" srcId="{3F50E9AF-05F3-4A3F-BA18-B74008995350}" destId="{ED7F97D1-F6C5-46F2-AE97-4B2E760704A1}" srcOrd="6" destOrd="0" parTransId="{316E1168-49C6-4484-B8E0-D58F15900DB4}" sibTransId="{DE7641D9-C057-4E6B-8774-7D45CF5C63EE}"/>
    <dgm:cxn modelId="{02F3F034-9A70-48BC-9E52-6D00D9516221}" srcId="{3F50E9AF-05F3-4A3F-BA18-B74008995350}" destId="{E06FE9E2-5BBE-4BF0-93BE-D0272D9FA928}" srcOrd="2" destOrd="0" parTransId="{EF4BE3FB-4905-424C-8916-66E9D5DD51C3}" sibTransId="{FB8EABC3-51C9-4C8D-8380-2B284603CC93}"/>
    <dgm:cxn modelId="{F08E8A3B-94DF-41E6-A2AD-CFC989AEA13B}" type="presOf" srcId="{55D04C3B-1303-4690-826F-07DDD27B4301}" destId="{35F771C1-05FC-4D74-B572-26CBF75E68BC}" srcOrd="0" destOrd="0" presId="urn:microsoft.com/office/officeart/2005/8/layout/default"/>
    <dgm:cxn modelId="{35250764-6988-4BA4-8361-31F897D9F56C}" type="presOf" srcId="{2DC6077E-DDA1-4593-AE47-97E5070E2798}" destId="{7DBFEB26-728C-47DB-B27F-29B025BC96BD}" srcOrd="0" destOrd="0" presId="urn:microsoft.com/office/officeart/2005/8/layout/default"/>
    <dgm:cxn modelId="{7708106C-36BB-41CA-B4AB-425B81B0BC40}" type="presOf" srcId="{DE3023B6-C00B-4F94-8929-A1DE5417F789}" destId="{DEA0B5D8-80CF-4F6A-9592-7D2A288FE713}" srcOrd="0" destOrd="0" presId="urn:microsoft.com/office/officeart/2005/8/layout/default"/>
    <dgm:cxn modelId="{EF8BAE58-EDEF-4A0E-9B67-54E34E84878B}" type="presOf" srcId="{ED7F97D1-F6C5-46F2-AE97-4B2E760704A1}" destId="{963452F5-1C81-43DF-BF2B-7C1C3EF0766B}" srcOrd="0" destOrd="0" presId="urn:microsoft.com/office/officeart/2005/8/layout/default"/>
    <dgm:cxn modelId="{D90164A1-A2AF-4F66-99BA-F630B2C25A6D}" type="presOf" srcId="{3F50E9AF-05F3-4A3F-BA18-B74008995350}" destId="{2E98CC93-1A2E-481C-BF15-BF1375DE5190}" srcOrd="0" destOrd="0" presId="urn:microsoft.com/office/officeart/2005/8/layout/default"/>
    <dgm:cxn modelId="{3A9F37A2-DCB4-4328-840A-2A09AF787871}" type="presOf" srcId="{1A83C8B6-A6B6-448D-842E-DA49C5BFDBD6}" destId="{01A12AFB-33F9-46B5-8F6D-6FD97784A96B}" srcOrd="0" destOrd="0" presId="urn:microsoft.com/office/officeart/2005/8/layout/default"/>
    <dgm:cxn modelId="{097F54B6-03A7-4DC6-BB19-FCB09E3ABF12}" type="presOf" srcId="{E06FE9E2-5BBE-4BF0-93BE-D0272D9FA928}" destId="{590A1C83-666F-4FEF-83FB-BF1B0FC11F89}" srcOrd="0" destOrd="0" presId="urn:microsoft.com/office/officeart/2005/8/layout/default"/>
    <dgm:cxn modelId="{216D71B7-8ADC-437E-A001-30370146EEE0}" srcId="{3F50E9AF-05F3-4A3F-BA18-B74008995350}" destId="{DE3023B6-C00B-4F94-8929-A1DE5417F789}" srcOrd="3" destOrd="0" parTransId="{DB424FA8-E792-459B-9A18-921DF3C1AE4F}" sibTransId="{8852E991-30BC-42D4-AA59-CA1AE5404428}"/>
    <dgm:cxn modelId="{1C2377BC-A78C-46AD-8AF2-C7A43E0847AA}" srcId="{3F50E9AF-05F3-4A3F-BA18-B74008995350}" destId="{48B912CE-093D-4772-B259-2132202237A1}" srcOrd="1" destOrd="0" parTransId="{16E062F6-C646-4AB0-85A3-F1528EFD4248}" sibTransId="{6A84F045-FDD7-4D55-9DAD-57BF2AB4A021}"/>
    <dgm:cxn modelId="{357DF1D5-B8AF-4808-B3CC-37815A6808B6}" srcId="{3F50E9AF-05F3-4A3F-BA18-B74008995350}" destId="{1A83C8B6-A6B6-448D-842E-DA49C5BFDBD6}" srcOrd="5" destOrd="0" parTransId="{A09C6B71-23F6-4AD1-B655-7B938CEE3DFE}" sibTransId="{FD8012CA-05B0-449F-9402-4539786DDF93}"/>
    <dgm:cxn modelId="{32D53BF2-C3BE-47E3-985E-E3AAC7EACAFE}" type="presOf" srcId="{48B912CE-093D-4772-B259-2132202237A1}" destId="{B845CC12-B8FB-4D24-BB43-3C1F6FFF6A5C}" srcOrd="0" destOrd="0" presId="urn:microsoft.com/office/officeart/2005/8/layout/default"/>
    <dgm:cxn modelId="{9A17ACFE-9369-4C05-9174-178D8CDDA75E}" srcId="{3F50E9AF-05F3-4A3F-BA18-B74008995350}" destId="{55D04C3B-1303-4690-826F-07DDD27B4301}" srcOrd="0" destOrd="0" parTransId="{BBECC7BE-6559-427C-BECE-7F4878B40822}" sibTransId="{F1CF1792-00F4-4406-86B6-7DBC329734BE}"/>
    <dgm:cxn modelId="{EACAEFAF-E66C-443F-8D9F-1C5813128F5F}" type="presParOf" srcId="{2E98CC93-1A2E-481C-BF15-BF1375DE5190}" destId="{35F771C1-05FC-4D74-B572-26CBF75E68BC}" srcOrd="0" destOrd="0" presId="urn:microsoft.com/office/officeart/2005/8/layout/default"/>
    <dgm:cxn modelId="{FCA55648-60A8-4076-B584-A716DC93F65E}" type="presParOf" srcId="{2E98CC93-1A2E-481C-BF15-BF1375DE5190}" destId="{3F562B63-5AFE-4867-9581-E676B95E4C03}" srcOrd="1" destOrd="0" presId="urn:microsoft.com/office/officeart/2005/8/layout/default"/>
    <dgm:cxn modelId="{C5A35570-7BED-4B71-A848-9A3AB3453C2F}" type="presParOf" srcId="{2E98CC93-1A2E-481C-BF15-BF1375DE5190}" destId="{B845CC12-B8FB-4D24-BB43-3C1F6FFF6A5C}" srcOrd="2" destOrd="0" presId="urn:microsoft.com/office/officeart/2005/8/layout/default"/>
    <dgm:cxn modelId="{49D05F10-D5B2-4A52-9E84-CC3E39C5A63E}" type="presParOf" srcId="{2E98CC93-1A2E-481C-BF15-BF1375DE5190}" destId="{68401B39-D9B5-4529-9BCA-A9D6A157548B}" srcOrd="3" destOrd="0" presId="urn:microsoft.com/office/officeart/2005/8/layout/default"/>
    <dgm:cxn modelId="{35F8ADE0-B222-433E-8479-FA834972AC65}" type="presParOf" srcId="{2E98CC93-1A2E-481C-BF15-BF1375DE5190}" destId="{590A1C83-666F-4FEF-83FB-BF1B0FC11F89}" srcOrd="4" destOrd="0" presId="urn:microsoft.com/office/officeart/2005/8/layout/default"/>
    <dgm:cxn modelId="{D0001862-9786-4047-A406-22FB1E7EB559}" type="presParOf" srcId="{2E98CC93-1A2E-481C-BF15-BF1375DE5190}" destId="{73016E67-438D-42A9-B5A9-9DBFEFC56749}" srcOrd="5" destOrd="0" presId="urn:microsoft.com/office/officeart/2005/8/layout/default"/>
    <dgm:cxn modelId="{F65212E2-B48A-44AB-A925-287333055770}" type="presParOf" srcId="{2E98CC93-1A2E-481C-BF15-BF1375DE5190}" destId="{DEA0B5D8-80CF-4F6A-9592-7D2A288FE713}" srcOrd="6" destOrd="0" presId="urn:microsoft.com/office/officeart/2005/8/layout/default"/>
    <dgm:cxn modelId="{7F87048E-9666-47CE-BF3A-39ADCB95323E}" type="presParOf" srcId="{2E98CC93-1A2E-481C-BF15-BF1375DE5190}" destId="{DE880B01-7783-42D7-BBD1-08AC09B5BF30}" srcOrd="7" destOrd="0" presId="urn:microsoft.com/office/officeart/2005/8/layout/default"/>
    <dgm:cxn modelId="{E9E37FCF-E0F2-40EE-8A40-40ED7CE40C52}" type="presParOf" srcId="{2E98CC93-1A2E-481C-BF15-BF1375DE5190}" destId="{7DBFEB26-728C-47DB-B27F-29B025BC96BD}" srcOrd="8" destOrd="0" presId="urn:microsoft.com/office/officeart/2005/8/layout/default"/>
    <dgm:cxn modelId="{7FD62360-04A7-4FE0-86A9-8407E50831F2}" type="presParOf" srcId="{2E98CC93-1A2E-481C-BF15-BF1375DE5190}" destId="{6CAC33B2-6DB4-4CCB-B428-CD0857D3CE9B}" srcOrd="9" destOrd="0" presId="urn:microsoft.com/office/officeart/2005/8/layout/default"/>
    <dgm:cxn modelId="{025ECDED-7F17-4069-A6FB-DDB58F97A3C2}" type="presParOf" srcId="{2E98CC93-1A2E-481C-BF15-BF1375DE5190}" destId="{01A12AFB-33F9-46B5-8F6D-6FD97784A96B}" srcOrd="10" destOrd="0" presId="urn:microsoft.com/office/officeart/2005/8/layout/default"/>
    <dgm:cxn modelId="{0557994D-5811-4755-A27D-8E3F684F56C7}" type="presParOf" srcId="{2E98CC93-1A2E-481C-BF15-BF1375DE5190}" destId="{926801EC-EC7A-4221-898E-A52B25E8CA15}" srcOrd="11" destOrd="0" presId="urn:microsoft.com/office/officeart/2005/8/layout/default"/>
    <dgm:cxn modelId="{CFF81550-15CE-41ED-8C23-F14988BD836D}" type="presParOf" srcId="{2E98CC93-1A2E-481C-BF15-BF1375DE5190}" destId="{963452F5-1C81-43DF-BF2B-7C1C3EF0766B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40F5F2-94FA-4CD6-8BF7-63040BA0352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86DCDB-D26F-4965-A378-9E795C7D775F}">
      <dgm:prSet/>
      <dgm:spPr/>
      <dgm:t>
        <a:bodyPr/>
        <a:lstStyle/>
        <a:p>
          <a:pPr>
            <a:buNone/>
          </a:pPr>
          <a:r>
            <a:rPr lang="en-US" dirty="0"/>
            <a:t>For Lab 06:</a:t>
          </a:r>
        </a:p>
      </dgm:t>
    </dgm:pt>
    <dgm:pt modelId="{F2CCADF5-E015-411F-940B-AB7D39FAA7E3}" type="parTrans" cxnId="{EAC7EA03-237A-4177-AF39-F258BD03A84C}">
      <dgm:prSet/>
      <dgm:spPr/>
      <dgm:t>
        <a:bodyPr/>
        <a:lstStyle/>
        <a:p>
          <a:endParaRPr lang="en-US"/>
        </a:p>
      </dgm:t>
    </dgm:pt>
    <dgm:pt modelId="{B3C1317B-62C2-4315-A086-9B12A0C575B2}" type="sibTrans" cxnId="{EAC7EA03-237A-4177-AF39-F258BD03A84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DAB3EFD-C8EA-4F2F-961D-33487B9B38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choose a system</a:t>
          </a:r>
          <a:endParaRPr lang="en-US" dirty="0"/>
        </a:p>
      </dgm:t>
    </dgm:pt>
    <dgm:pt modelId="{73AD42D8-AA3A-4E33-9B90-29603715FDE0}" type="parTrans" cxnId="{32E31762-0749-4460-8A35-25E82B824E60}">
      <dgm:prSet/>
      <dgm:spPr/>
      <dgm:t>
        <a:bodyPr/>
        <a:lstStyle/>
        <a:p>
          <a:endParaRPr lang="en-US"/>
        </a:p>
      </dgm:t>
    </dgm:pt>
    <dgm:pt modelId="{E807C405-E54E-43CB-8BFA-0F5B35E6C200}" type="sibTrans" cxnId="{32E31762-0749-4460-8A35-25E82B824E60}">
      <dgm:prSet/>
      <dgm:spPr/>
      <dgm:t>
        <a:bodyPr/>
        <a:lstStyle/>
        <a:p>
          <a:endParaRPr lang="en-US"/>
        </a:p>
      </dgm:t>
    </dgm:pt>
    <dgm:pt modelId="{0EE1327F-833E-49A5-BF81-E7450665B48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identify nodes and edges</a:t>
          </a:r>
        </a:p>
      </dgm:t>
    </dgm:pt>
    <dgm:pt modelId="{ADABA5C9-035D-45FB-B4BB-4D3E304B636B}" type="parTrans" cxnId="{BD2DE88A-E50F-4304-9D0A-86333C86BCD3}">
      <dgm:prSet/>
      <dgm:spPr/>
      <dgm:t>
        <a:bodyPr/>
        <a:lstStyle/>
        <a:p>
          <a:endParaRPr lang="en-US"/>
        </a:p>
      </dgm:t>
    </dgm:pt>
    <dgm:pt modelId="{A921A7F6-6C6C-4C9E-B83F-7FDE4E609688}" type="sibTrans" cxnId="{BD2DE88A-E50F-4304-9D0A-86333C86BCD3}">
      <dgm:prSet/>
      <dgm:spPr/>
      <dgm:t>
        <a:bodyPr/>
        <a:lstStyle/>
        <a:p>
          <a:endParaRPr lang="en-US"/>
        </a:p>
      </dgm:t>
    </dgm:pt>
    <dgm:pt modelId="{B9B1EFB3-ED78-4204-A5D4-7F11836D214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build an adjacency list</a:t>
          </a:r>
        </a:p>
      </dgm:t>
    </dgm:pt>
    <dgm:pt modelId="{94C1CF93-5497-401B-BA75-91841C08BE60}" type="parTrans" cxnId="{3A01EADE-A103-4957-9BCB-E65251FAB881}">
      <dgm:prSet/>
      <dgm:spPr/>
      <dgm:t>
        <a:bodyPr/>
        <a:lstStyle/>
        <a:p>
          <a:endParaRPr lang="en-US"/>
        </a:p>
      </dgm:t>
    </dgm:pt>
    <dgm:pt modelId="{9ECB1F16-5FF6-4ECC-B1CD-92D4FB4939B6}" type="sibTrans" cxnId="{3A01EADE-A103-4957-9BCB-E65251FAB881}">
      <dgm:prSet/>
      <dgm:spPr/>
      <dgm:t>
        <a:bodyPr/>
        <a:lstStyle/>
        <a:p>
          <a:endParaRPr lang="en-US"/>
        </a:p>
      </dgm:t>
    </dgm:pt>
    <dgm:pt modelId="{0C58DC21-F5FB-448B-B4B7-B39BB4893E9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create a diagram or text representation</a:t>
          </a:r>
        </a:p>
      </dgm:t>
    </dgm:pt>
    <dgm:pt modelId="{0E8BF87A-CC49-4050-984A-95781709BB83}" type="parTrans" cxnId="{0F6AFD84-EC78-4E9A-93E5-13E4F6617978}">
      <dgm:prSet/>
      <dgm:spPr/>
      <dgm:t>
        <a:bodyPr/>
        <a:lstStyle/>
        <a:p>
          <a:endParaRPr lang="en-US"/>
        </a:p>
      </dgm:t>
    </dgm:pt>
    <dgm:pt modelId="{6335E96B-D16E-4EB2-A6EB-5106772C7DD3}" type="sibTrans" cxnId="{0F6AFD84-EC78-4E9A-93E5-13E4F6617978}">
      <dgm:prSet/>
      <dgm:spPr/>
      <dgm:t>
        <a:bodyPr/>
        <a:lstStyle/>
        <a:p>
          <a:endParaRPr lang="en-US"/>
        </a:p>
      </dgm:t>
    </dgm:pt>
    <dgm:pt modelId="{727289DA-7AA5-4300-91A2-6BF3AC00261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run or simulate BFS or DFS</a:t>
          </a:r>
        </a:p>
      </dgm:t>
    </dgm:pt>
    <dgm:pt modelId="{78747B8F-0E4B-4A88-A36F-96E2BC25106F}" type="parTrans" cxnId="{BC235129-048C-490C-9A8B-D62DC5A605C4}">
      <dgm:prSet/>
      <dgm:spPr/>
      <dgm:t>
        <a:bodyPr/>
        <a:lstStyle/>
        <a:p>
          <a:endParaRPr lang="en-US"/>
        </a:p>
      </dgm:t>
    </dgm:pt>
    <dgm:pt modelId="{12CE8220-FE0E-4C3A-A205-D13698A9CCD0}" type="sibTrans" cxnId="{BC235129-048C-490C-9A8B-D62DC5A605C4}">
      <dgm:prSet/>
      <dgm:spPr/>
      <dgm:t>
        <a:bodyPr/>
        <a:lstStyle/>
        <a:p>
          <a:endParaRPr lang="en-US"/>
        </a:p>
      </dgm:t>
    </dgm:pt>
    <dgm:pt modelId="{B350FFE8-A715-4340-BED4-A964C5A9E5E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dirty="0"/>
            <a:t>explain what the model leaves out</a:t>
          </a:r>
        </a:p>
      </dgm:t>
    </dgm:pt>
    <dgm:pt modelId="{6F98BA97-5261-4B16-924D-A00BFEF3832C}" type="parTrans" cxnId="{468EE3C9-014C-4F2D-A8BD-EEBD2CF0ED17}">
      <dgm:prSet/>
      <dgm:spPr/>
      <dgm:t>
        <a:bodyPr/>
        <a:lstStyle/>
        <a:p>
          <a:endParaRPr lang="en-US"/>
        </a:p>
      </dgm:t>
    </dgm:pt>
    <dgm:pt modelId="{5D7356DE-D8F7-438E-A439-15B375E89455}" type="sibTrans" cxnId="{468EE3C9-014C-4F2D-A8BD-EEBD2CF0ED17}">
      <dgm:prSet/>
      <dgm:spPr/>
      <dgm:t>
        <a:bodyPr/>
        <a:lstStyle/>
        <a:p>
          <a:endParaRPr lang="en-US"/>
        </a:p>
      </dgm:t>
    </dgm:pt>
    <dgm:pt modelId="{A4CEFACC-AFAC-472E-9C7D-78289EFB63D1}" type="pres">
      <dgm:prSet presAssocID="{4840F5F2-94FA-4CD6-8BF7-63040BA0352C}" presName="Name0" presStyleCnt="0">
        <dgm:presLayoutVars>
          <dgm:animLvl val="lvl"/>
          <dgm:resizeHandles val="exact"/>
        </dgm:presLayoutVars>
      </dgm:prSet>
      <dgm:spPr/>
    </dgm:pt>
    <dgm:pt modelId="{15D43CAF-FB9C-4C2E-A178-B5846807A9A3}" type="pres">
      <dgm:prSet presAssocID="{EC86DCDB-D26F-4965-A378-9E795C7D775F}" presName="compositeNode" presStyleCnt="0">
        <dgm:presLayoutVars>
          <dgm:bulletEnabled val="1"/>
        </dgm:presLayoutVars>
      </dgm:prSet>
      <dgm:spPr/>
    </dgm:pt>
    <dgm:pt modelId="{0579B2E2-F254-4758-975D-BCCCEBEB091F}" type="pres">
      <dgm:prSet presAssocID="{EC86DCDB-D26F-4965-A378-9E795C7D775F}" presName="bgRect" presStyleLbl="bgAccFollowNode1" presStyleIdx="0" presStyleCnt="1"/>
      <dgm:spPr/>
    </dgm:pt>
    <dgm:pt modelId="{6E066B6B-870C-47BB-B0D4-7DDBD6CCC405}" type="pres">
      <dgm:prSet presAssocID="{B3C1317B-62C2-4315-A086-9B12A0C575B2}" presName="sibTransNodeCircle" presStyleLbl="alignNode1" presStyleIdx="0" presStyleCnt="2">
        <dgm:presLayoutVars>
          <dgm:chMax val="0"/>
          <dgm:bulletEnabled/>
        </dgm:presLayoutVars>
      </dgm:prSet>
      <dgm:spPr/>
    </dgm:pt>
    <dgm:pt modelId="{661C993E-716A-4EDE-A4B7-74802377363E}" type="pres">
      <dgm:prSet presAssocID="{EC86DCDB-D26F-4965-A378-9E795C7D775F}" presName="bottomLine" presStyleLbl="alignNode1" presStyleIdx="1" presStyleCnt="2">
        <dgm:presLayoutVars/>
      </dgm:prSet>
      <dgm:spPr/>
    </dgm:pt>
    <dgm:pt modelId="{4F1D6665-5290-476B-9B2D-0218BE499140}" type="pres">
      <dgm:prSet presAssocID="{EC86DCDB-D26F-4965-A378-9E795C7D775F}" presName="nodeText" presStyleLbl="bgAccFollowNode1" presStyleIdx="0" presStyleCnt="1">
        <dgm:presLayoutVars>
          <dgm:bulletEnabled val="1"/>
        </dgm:presLayoutVars>
      </dgm:prSet>
      <dgm:spPr/>
    </dgm:pt>
  </dgm:ptLst>
  <dgm:cxnLst>
    <dgm:cxn modelId="{EAC7EA03-237A-4177-AF39-F258BD03A84C}" srcId="{4840F5F2-94FA-4CD6-8BF7-63040BA0352C}" destId="{EC86DCDB-D26F-4965-A378-9E795C7D775F}" srcOrd="0" destOrd="0" parTransId="{F2CCADF5-E015-411F-940B-AB7D39FAA7E3}" sibTransId="{B3C1317B-62C2-4315-A086-9B12A0C575B2}"/>
    <dgm:cxn modelId="{8253020C-73C0-474F-97F1-8CED4FD21AA0}" type="presOf" srcId="{B350FFE8-A715-4340-BED4-A964C5A9E5EC}" destId="{4F1D6665-5290-476B-9B2D-0218BE499140}" srcOrd="0" destOrd="6" presId="urn:microsoft.com/office/officeart/2016/7/layout/BasicLinearProcessNumbered"/>
    <dgm:cxn modelId="{BC235129-048C-490C-9A8B-D62DC5A605C4}" srcId="{EC86DCDB-D26F-4965-A378-9E795C7D775F}" destId="{727289DA-7AA5-4300-91A2-6BF3AC002612}" srcOrd="4" destOrd="0" parTransId="{78747B8F-0E4B-4A88-A36F-96E2BC25106F}" sibTransId="{12CE8220-FE0E-4C3A-A205-D13698A9CCD0}"/>
    <dgm:cxn modelId="{17595D5F-4DE4-4F45-BB49-7071125E3710}" type="presOf" srcId="{B3C1317B-62C2-4315-A086-9B12A0C575B2}" destId="{6E066B6B-870C-47BB-B0D4-7DDBD6CCC405}" srcOrd="0" destOrd="0" presId="urn:microsoft.com/office/officeart/2016/7/layout/BasicLinearProcessNumbered"/>
    <dgm:cxn modelId="{32E31762-0749-4460-8A35-25E82B824E60}" srcId="{EC86DCDB-D26F-4965-A378-9E795C7D775F}" destId="{5DAB3EFD-C8EA-4F2F-961D-33487B9B3831}" srcOrd="0" destOrd="0" parTransId="{73AD42D8-AA3A-4E33-9B90-29603715FDE0}" sibTransId="{E807C405-E54E-43CB-8BFA-0F5B35E6C200}"/>
    <dgm:cxn modelId="{49258759-432A-4EBB-B687-D2F3F3273EC3}" type="presOf" srcId="{EC86DCDB-D26F-4965-A378-9E795C7D775F}" destId="{4F1D6665-5290-476B-9B2D-0218BE499140}" srcOrd="1" destOrd="0" presId="urn:microsoft.com/office/officeart/2016/7/layout/BasicLinearProcessNumbered"/>
    <dgm:cxn modelId="{4407757B-29D9-4C55-895A-CAA661BC86C6}" type="presOf" srcId="{0C58DC21-F5FB-448B-B4B7-B39BB4893E9E}" destId="{4F1D6665-5290-476B-9B2D-0218BE499140}" srcOrd="0" destOrd="4" presId="urn:microsoft.com/office/officeart/2016/7/layout/BasicLinearProcessNumbered"/>
    <dgm:cxn modelId="{29E32D80-53E6-4E66-B57D-3FC32696A914}" type="presOf" srcId="{5DAB3EFD-C8EA-4F2F-961D-33487B9B3831}" destId="{4F1D6665-5290-476B-9B2D-0218BE499140}" srcOrd="0" destOrd="1" presId="urn:microsoft.com/office/officeart/2016/7/layout/BasicLinearProcessNumbered"/>
    <dgm:cxn modelId="{0F6AFD84-EC78-4E9A-93E5-13E4F6617978}" srcId="{EC86DCDB-D26F-4965-A378-9E795C7D775F}" destId="{0C58DC21-F5FB-448B-B4B7-B39BB4893E9E}" srcOrd="3" destOrd="0" parTransId="{0E8BF87A-CC49-4050-984A-95781709BB83}" sibTransId="{6335E96B-D16E-4EB2-A6EB-5106772C7DD3}"/>
    <dgm:cxn modelId="{BD2DE88A-E50F-4304-9D0A-86333C86BCD3}" srcId="{EC86DCDB-D26F-4965-A378-9E795C7D775F}" destId="{0EE1327F-833E-49A5-BF81-E7450665B483}" srcOrd="1" destOrd="0" parTransId="{ADABA5C9-035D-45FB-B4BB-4D3E304B636B}" sibTransId="{A921A7F6-6C6C-4C9E-B83F-7FDE4E609688}"/>
    <dgm:cxn modelId="{DBCAB18E-D95F-4068-999A-1A7F3D9E9AAF}" type="presOf" srcId="{4840F5F2-94FA-4CD6-8BF7-63040BA0352C}" destId="{A4CEFACC-AFAC-472E-9C7D-78289EFB63D1}" srcOrd="0" destOrd="0" presId="urn:microsoft.com/office/officeart/2016/7/layout/BasicLinearProcessNumbered"/>
    <dgm:cxn modelId="{2A2AFA8F-1CEF-45AF-A649-ED90DD9F56F6}" type="presOf" srcId="{0EE1327F-833E-49A5-BF81-E7450665B483}" destId="{4F1D6665-5290-476B-9B2D-0218BE499140}" srcOrd="0" destOrd="2" presId="urn:microsoft.com/office/officeart/2016/7/layout/BasicLinearProcessNumbered"/>
    <dgm:cxn modelId="{73A6B191-4E8A-4A4A-9F4B-9BBDBA147589}" type="presOf" srcId="{727289DA-7AA5-4300-91A2-6BF3AC002612}" destId="{4F1D6665-5290-476B-9B2D-0218BE499140}" srcOrd="0" destOrd="5" presId="urn:microsoft.com/office/officeart/2016/7/layout/BasicLinearProcessNumbered"/>
    <dgm:cxn modelId="{19957AA2-0EF5-426A-AEE8-9C759DEB4B95}" type="presOf" srcId="{EC86DCDB-D26F-4965-A378-9E795C7D775F}" destId="{0579B2E2-F254-4758-975D-BCCCEBEB091F}" srcOrd="0" destOrd="0" presId="urn:microsoft.com/office/officeart/2016/7/layout/BasicLinearProcessNumbered"/>
    <dgm:cxn modelId="{468EE3C9-014C-4F2D-A8BD-EEBD2CF0ED17}" srcId="{EC86DCDB-D26F-4965-A378-9E795C7D775F}" destId="{B350FFE8-A715-4340-BED4-A964C5A9E5EC}" srcOrd="5" destOrd="0" parTransId="{6F98BA97-5261-4B16-924D-A00BFEF3832C}" sibTransId="{5D7356DE-D8F7-438E-A439-15B375E89455}"/>
    <dgm:cxn modelId="{3A01EADE-A103-4957-9BCB-E65251FAB881}" srcId="{EC86DCDB-D26F-4965-A378-9E795C7D775F}" destId="{B9B1EFB3-ED78-4204-A5D4-7F11836D2147}" srcOrd="2" destOrd="0" parTransId="{94C1CF93-5497-401B-BA75-91841C08BE60}" sibTransId="{9ECB1F16-5FF6-4ECC-B1CD-92D4FB4939B6}"/>
    <dgm:cxn modelId="{134D96F6-6BCC-4D07-94BA-67E2AA8B6D1F}" type="presOf" srcId="{B9B1EFB3-ED78-4204-A5D4-7F11836D2147}" destId="{4F1D6665-5290-476B-9B2D-0218BE499140}" srcOrd="0" destOrd="3" presId="urn:microsoft.com/office/officeart/2016/7/layout/BasicLinearProcessNumbered"/>
    <dgm:cxn modelId="{62C420E6-AB07-4C07-B2EB-BAE7F1C95841}" type="presParOf" srcId="{A4CEFACC-AFAC-472E-9C7D-78289EFB63D1}" destId="{15D43CAF-FB9C-4C2E-A178-B5846807A9A3}" srcOrd="0" destOrd="0" presId="urn:microsoft.com/office/officeart/2016/7/layout/BasicLinearProcessNumbered"/>
    <dgm:cxn modelId="{3A84E957-B8F0-4904-9475-D0C2C191683F}" type="presParOf" srcId="{15D43CAF-FB9C-4C2E-A178-B5846807A9A3}" destId="{0579B2E2-F254-4758-975D-BCCCEBEB091F}" srcOrd="0" destOrd="0" presId="urn:microsoft.com/office/officeart/2016/7/layout/BasicLinearProcessNumbered"/>
    <dgm:cxn modelId="{5B6BBE3F-852E-43DD-B04A-D69445C81C71}" type="presParOf" srcId="{15D43CAF-FB9C-4C2E-A178-B5846807A9A3}" destId="{6E066B6B-870C-47BB-B0D4-7DDBD6CCC405}" srcOrd="1" destOrd="0" presId="urn:microsoft.com/office/officeart/2016/7/layout/BasicLinearProcessNumbered"/>
    <dgm:cxn modelId="{F3E2039E-6180-4865-8B0E-0D9841205EAE}" type="presParOf" srcId="{15D43CAF-FB9C-4C2E-A178-B5846807A9A3}" destId="{661C993E-716A-4EDE-A4B7-74802377363E}" srcOrd="2" destOrd="0" presId="urn:microsoft.com/office/officeart/2016/7/layout/BasicLinearProcessNumbered"/>
    <dgm:cxn modelId="{D80A3FA2-14B2-4876-9B62-C1D54E266A0A}" type="presParOf" srcId="{15D43CAF-FB9C-4C2E-A178-B5846807A9A3}" destId="{4F1D6665-5290-476B-9B2D-0218BE49914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F3400-ACEA-4BF2-B7EA-1224E7E39347}">
      <dsp:nvSpPr>
        <dsp:cNvPr id="0" name=""/>
        <dsp:cNvSpPr/>
      </dsp:nvSpPr>
      <dsp:spPr>
        <a:xfrm>
          <a:off x="0" y="870438"/>
          <a:ext cx="6447234" cy="249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377" tIns="499872" rIns="50037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0" kern="1200" dirty="0"/>
            <a:t>correctness</a:t>
          </a: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0" kern="1200" dirty="0"/>
            <a:t>readability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0" kern="1200" dirty="0"/>
            <a:t>growth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0" kern="1200" dirty="0"/>
            <a:t>fit to data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0" kern="1200" dirty="0"/>
            <a:t>limitations</a:t>
          </a:r>
        </a:p>
      </dsp:txBody>
      <dsp:txXfrm>
        <a:off x="0" y="870438"/>
        <a:ext cx="6447234" cy="2494800"/>
      </dsp:txXfrm>
    </dsp:sp>
    <dsp:sp modelId="{91615320-4CF6-4AA6-903B-2DA45376792B}">
      <dsp:nvSpPr>
        <dsp:cNvPr id="0" name=""/>
        <dsp:cNvSpPr/>
      </dsp:nvSpPr>
      <dsp:spPr>
        <a:xfrm>
          <a:off x="322361" y="516198"/>
          <a:ext cx="4513063" cy="7084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583" tIns="0" rIns="17058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Last week - </a:t>
          </a:r>
          <a:r>
            <a:rPr lang="en-US" sz="2400" b="0" kern="1200" dirty="0"/>
            <a:t>strategy choice depended on problem shape</a:t>
          </a:r>
          <a:r>
            <a:rPr lang="en-US" sz="2400" kern="1200" dirty="0"/>
            <a:t>:</a:t>
          </a:r>
        </a:p>
      </dsp:txBody>
      <dsp:txXfrm>
        <a:off x="356946" y="550783"/>
        <a:ext cx="4443893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17DEE2-2529-4048-A027-0347422F7B4B}">
      <dsp:nvSpPr>
        <dsp:cNvPr id="0" name=""/>
        <dsp:cNvSpPr/>
      </dsp:nvSpPr>
      <dsp:spPr>
        <a:xfrm>
          <a:off x="0" y="419535"/>
          <a:ext cx="5019610" cy="7253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define nodes and edges</a:t>
          </a:r>
        </a:p>
      </dsp:txBody>
      <dsp:txXfrm>
        <a:off x="35411" y="454946"/>
        <a:ext cx="4948788" cy="654577"/>
      </dsp:txXfrm>
    </dsp:sp>
    <dsp:sp modelId="{183EE0D5-5538-40BA-915B-CD7C8B64CA4A}">
      <dsp:nvSpPr>
        <dsp:cNvPr id="0" name=""/>
        <dsp:cNvSpPr/>
      </dsp:nvSpPr>
      <dsp:spPr>
        <a:xfrm>
          <a:off x="0" y="1234215"/>
          <a:ext cx="5019610" cy="725399"/>
        </a:xfrm>
        <a:prstGeom prst="roundRect">
          <a:avLst/>
        </a:prstGeom>
        <a:gradFill rotWithShape="0">
          <a:gsLst>
            <a:gs pos="0">
              <a:schemeClr val="accent2">
                <a:hueOff val="-2474057"/>
                <a:satOff val="8986"/>
                <a:lumOff val="834"/>
                <a:alphaOff val="0"/>
                <a:tint val="96000"/>
                <a:lumMod val="100000"/>
              </a:schemeClr>
            </a:gs>
            <a:gs pos="78000">
              <a:schemeClr val="accent2">
                <a:hueOff val="-2474057"/>
                <a:satOff val="8986"/>
                <a:lumOff val="83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build an adjacency list</a:t>
          </a:r>
        </a:p>
      </dsp:txBody>
      <dsp:txXfrm>
        <a:off x="35411" y="1269626"/>
        <a:ext cx="4948788" cy="654577"/>
      </dsp:txXfrm>
    </dsp:sp>
    <dsp:sp modelId="{A0608188-2D70-432D-9373-5C72BF557EDA}">
      <dsp:nvSpPr>
        <dsp:cNvPr id="0" name=""/>
        <dsp:cNvSpPr/>
      </dsp:nvSpPr>
      <dsp:spPr>
        <a:xfrm>
          <a:off x="0" y="2048895"/>
          <a:ext cx="5019610" cy="725399"/>
        </a:xfrm>
        <a:prstGeom prst="roundRect">
          <a:avLst/>
        </a:prstGeom>
        <a:gradFill rotWithShape="0">
          <a:gsLst>
            <a:gs pos="0">
              <a:schemeClr val="accent2">
                <a:hueOff val="-4948115"/>
                <a:satOff val="17972"/>
                <a:lumOff val="1667"/>
                <a:alphaOff val="0"/>
                <a:tint val="96000"/>
                <a:lumMod val="100000"/>
              </a:schemeClr>
            </a:gs>
            <a:gs pos="78000">
              <a:schemeClr val="accent2">
                <a:hueOff val="-4948115"/>
                <a:satOff val="17972"/>
                <a:lumOff val="166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trace BFS or DFS</a:t>
          </a:r>
        </a:p>
      </dsp:txBody>
      <dsp:txXfrm>
        <a:off x="35411" y="2084306"/>
        <a:ext cx="4948788" cy="654577"/>
      </dsp:txXfrm>
    </dsp:sp>
    <dsp:sp modelId="{F0F5511A-3BB8-4688-9645-9ECA6DE8EDA4}">
      <dsp:nvSpPr>
        <dsp:cNvPr id="0" name=""/>
        <dsp:cNvSpPr/>
      </dsp:nvSpPr>
      <dsp:spPr>
        <a:xfrm>
          <a:off x="0" y="2863575"/>
          <a:ext cx="5019610" cy="725399"/>
        </a:xfrm>
        <a:prstGeom prst="roundRect">
          <a:avLst/>
        </a:prstGeom>
        <a:gradFill rotWithShape="0">
          <a:gsLst>
            <a:gs pos="0">
              <a:schemeClr val="accent2">
                <a:hueOff val="-7422172"/>
                <a:satOff val="26958"/>
                <a:lumOff val="2501"/>
                <a:alphaOff val="0"/>
                <a:tint val="96000"/>
                <a:lumMod val="100000"/>
              </a:schemeClr>
            </a:gs>
            <a:gs pos="78000">
              <a:schemeClr val="accent2">
                <a:hueOff val="-7422172"/>
                <a:satOff val="26958"/>
                <a:lumOff val="250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explain traversal evidence</a:t>
          </a:r>
        </a:p>
      </dsp:txBody>
      <dsp:txXfrm>
        <a:off x="35411" y="2898986"/>
        <a:ext cx="4948788" cy="654577"/>
      </dsp:txXfrm>
    </dsp:sp>
    <dsp:sp modelId="{F00A6A64-B757-4B8A-ABA9-4781CFD9BAAE}">
      <dsp:nvSpPr>
        <dsp:cNvPr id="0" name=""/>
        <dsp:cNvSpPr/>
      </dsp:nvSpPr>
      <dsp:spPr>
        <a:xfrm>
          <a:off x="0" y="3678255"/>
          <a:ext cx="5019610" cy="725399"/>
        </a:xfrm>
        <a:prstGeom prst="roundRect">
          <a:avLst/>
        </a:prstGeom>
        <a:gradFill rotWithShape="0">
          <a:gsLst>
            <a:gs pos="0">
              <a:schemeClr val="accent2">
                <a:hueOff val="-9896230"/>
                <a:satOff val="35944"/>
                <a:lumOff val="3335"/>
                <a:alphaOff val="0"/>
                <a:tint val="96000"/>
                <a:lumMod val="100000"/>
              </a:schemeClr>
            </a:gs>
            <a:gs pos="78000">
              <a:schemeClr val="accent2">
                <a:hueOff val="-9896230"/>
                <a:satOff val="35944"/>
                <a:lumOff val="33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name what the graph le</a:t>
          </a:r>
        </a:p>
      </dsp:txBody>
      <dsp:txXfrm>
        <a:off x="35411" y="3713666"/>
        <a:ext cx="4948788" cy="6545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20F46-BD9F-433C-B479-B55A8902755F}">
      <dsp:nvSpPr>
        <dsp:cNvPr id="0" name=""/>
        <dsp:cNvSpPr/>
      </dsp:nvSpPr>
      <dsp:spPr>
        <a:xfrm rot="5400000">
          <a:off x="4106539" y="-1309916"/>
          <a:ext cx="1597417" cy="461670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kern="1200" dirty="0"/>
            <a:t>Model a small campus route map with buildings as nodes and sidewalks as edges</a:t>
          </a:r>
          <a:endParaRPr lang="en-US" sz="1600" kern="1200" dirty="0"/>
        </a:p>
      </dsp:txBody>
      <dsp:txXfrm rot="-5400000">
        <a:off x="2596896" y="277706"/>
        <a:ext cx="4538725" cy="1441459"/>
      </dsp:txXfrm>
    </dsp:sp>
    <dsp:sp modelId="{30D56222-46DC-49B6-93B9-D527764F5239}">
      <dsp:nvSpPr>
        <dsp:cNvPr id="0" name=""/>
        <dsp:cNvSpPr/>
      </dsp:nvSpPr>
      <dsp:spPr>
        <a:xfrm>
          <a:off x="0" y="49"/>
          <a:ext cx="2596896" cy="19967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700" kern="1200" dirty="0"/>
            <a:t>Problem:</a:t>
          </a:r>
        </a:p>
      </dsp:txBody>
      <dsp:txXfrm>
        <a:off x="97474" y="97523"/>
        <a:ext cx="2401948" cy="1801823"/>
      </dsp:txXfrm>
    </dsp:sp>
    <dsp:sp modelId="{19B361A2-D7A8-43A5-AA5B-63BFB24FB360}">
      <dsp:nvSpPr>
        <dsp:cNvPr id="0" name=""/>
        <dsp:cNvSpPr/>
      </dsp:nvSpPr>
      <dsp:spPr>
        <a:xfrm rot="5400000">
          <a:off x="4106539" y="786694"/>
          <a:ext cx="1597417" cy="4616704"/>
        </a:xfrm>
        <a:prstGeom prst="round2SameRect">
          <a:avLst/>
        </a:prstGeom>
        <a:solidFill>
          <a:schemeClr val="accent2">
            <a:tint val="40000"/>
            <a:alpha val="90000"/>
            <a:hueOff val="-11155272"/>
            <a:satOff val="48624"/>
            <a:lumOff val="358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1155272"/>
              <a:satOff val="48624"/>
              <a:lumOff val="3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kern="1200" dirty="0"/>
            <a:t>Demonstrate: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a text diagram of the route map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adjacency-list creation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BFS traversal from one start building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0" kern="1200" dirty="0"/>
            <a:t>DFS traversal from the same start building</a:t>
          </a:r>
        </a:p>
      </dsp:txBody>
      <dsp:txXfrm rot="-5400000">
        <a:off x="2596896" y="2374317"/>
        <a:ext cx="4538725" cy="1441459"/>
      </dsp:txXfrm>
    </dsp:sp>
    <dsp:sp modelId="{05B628AE-3B1C-4161-A2F2-79CC492C689A}">
      <dsp:nvSpPr>
        <dsp:cNvPr id="0" name=""/>
        <dsp:cNvSpPr/>
      </dsp:nvSpPr>
      <dsp:spPr>
        <a:xfrm>
          <a:off x="0" y="2096660"/>
          <a:ext cx="2596896" cy="1996771"/>
        </a:xfrm>
        <a:prstGeom prst="roundRect">
          <a:avLst/>
        </a:prstGeom>
        <a:solidFill>
          <a:schemeClr val="accent2">
            <a:hueOff val="-9896230"/>
            <a:satOff val="35944"/>
            <a:lumOff val="33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Goal</a:t>
          </a:r>
          <a:endParaRPr lang="en-US" sz="3700" kern="1200" dirty="0"/>
        </a:p>
      </dsp:txBody>
      <dsp:txXfrm>
        <a:off x="97474" y="2194134"/>
        <a:ext cx="2401948" cy="18018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771C1-05FC-4D74-B572-26CBF75E68BC}">
      <dsp:nvSpPr>
        <dsp:cNvPr id="0" name=""/>
        <dsp:cNvSpPr/>
      </dsp:nvSpPr>
      <dsp:spPr>
        <a:xfrm>
          <a:off x="120890" y="1099"/>
          <a:ext cx="1939287" cy="11635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at least 6 nodes</a:t>
          </a:r>
          <a:endParaRPr lang="en-US" sz="2100" kern="1200" dirty="0"/>
        </a:p>
      </dsp:txBody>
      <dsp:txXfrm>
        <a:off x="120890" y="1099"/>
        <a:ext cx="1939287" cy="1163572"/>
      </dsp:txXfrm>
    </dsp:sp>
    <dsp:sp modelId="{B845CC12-B8FB-4D24-BB43-3C1F6FFF6A5C}">
      <dsp:nvSpPr>
        <dsp:cNvPr id="0" name=""/>
        <dsp:cNvSpPr/>
      </dsp:nvSpPr>
      <dsp:spPr>
        <a:xfrm>
          <a:off x="2254106" y="1099"/>
          <a:ext cx="1939287" cy="1163572"/>
        </a:xfrm>
        <a:prstGeom prst="rect">
          <a:avLst/>
        </a:prstGeom>
        <a:gradFill rotWithShape="0">
          <a:gsLst>
            <a:gs pos="0">
              <a:schemeClr val="accent5">
                <a:hueOff val="-1649372"/>
                <a:satOff val="5991"/>
                <a:lumOff val="556"/>
                <a:alphaOff val="0"/>
                <a:tint val="96000"/>
                <a:lumMod val="100000"/>
              </a:schemeClr>
            </a:gs>
            <a:gs pos="78000">
              <a:schemeClr val="accent5">
                <a:hueOff val="-1649372"/>
                <a:satOff val="5991"/>
                <a:lumOff val="55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at least 7 edges</a:t>
          </a:r>
        </a:p>
      </dsp:txBody>
      <dsp:txXfrm>
        <a:off x="2254106" y="1099"/>
        <a:ext cx="1939287" cy="1163572"/>
      </dsp:txXfrm>
    </dsp:sp>
    <dsp:sp modelId="{590A1C83-666F-4FEF-83FB-BF1B0FC11F89}">
      <dsp:nvSpPr>
        <dsp:cNvPr id="0" name=""/>
        <dsp:cNvSpPr/>
      </dsp:nvSpPr>
      <dsp:spPr>
        <a:xfrm>
          <a:off x="4387322" y="1099"/>
          <a:ext cx="1939287" cy="1163572"/>
        </a:xfrm>
        <a:prstGeom prst="rect">
          <a:avLst/>
        </a:prstGeom>
        <a:gradFill rotWithShape="0">
          <a:gsLst>
            <a:gs pos="0">
              <a:schemeClr val="accent5">
                <a:hueOff val="-3298743"/>
                <a:satOff val="11981"/>
                <a:lumOff val="1112"/>
                <a:alphaOff val="0"/>
                <a:tint val="96000"/>
                <a:lumMod val="100000"/>
              </a:schemeClr>
            </a:gs>
            <a:gs pos="78000">
              <a:schemeClr val="accent5">
                <a:hueOff val="-3298743"/>
                <a:satOff val="11981"/>
                <a:lumOff val="111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adjacency list</a:t>
          </a:r>
        </a:p>
      </dsp:txBody>
      <dsp:txXfrm>
        <a:off x="4387322" y="1099"/>
        <a:ext cx="1939287" cy="1163572"/>
      </dsp:txXfrm>
    </dsp:sp>
    <dsp:sp modelId="{DEA0B5D8-80CF-4F6A-9592-7D2A288FE713}">
      <dsp:nvSpPr>
        <dsp:cNvPr id="0" name=""/>
        <dsp:cNvSpPr/>
      </dsp:nvSpPr>
      <dsp:spPr>
        <a:xfrm>
          <a:off x="120890" y="1358600"/>
          <a:ext cx="1939287" cy="1163572"/>
        </a:xfrm>
        <a:prstGeom prst="rect">
          <a:avLst/>
        </a:prstGeom>
        <a:gradFill rotWithShape="0">
          <a:gsLst>
            <a:gs pos="0">
              <a:schemeClr val="accent5">
                <a:hueOff val="-4948115"/>
                <a:satOff val="17972"/>
                <a:lumOff val="1667"/>
                <a:alphaOff val="0"/>
                <a:tint val="96000"/>
                <a:lumMod val="100000"/>
              </a:schemeClr>
            </a:gs>
            <a:gs pos="78000">
              <a:schemeClr val="accent5">
                <a:hueOff val="-4948115"/>
                <a:satOff val="17972"/>
                <a:lumOff val="166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diagram or text representation</a:t>
          </a:r>
        </a:p>
      </dsp:txBody>
      <dsp:txXfrm>
        <a:off x="120890" y="1358600"/>
        <a:ext cx="1939287" cy="1163572"/>
      </dsp:txXfrm>
    </dsp:sp>
    <dsp:sp modelId="{7DBFEB26-728C-47DB-B27F-29B025BC96BD}">
      <dsp:nvSpPr>
        <dsp:cNvPr id="0" name=""/>
        <dsp:cNvSpPr/>
      </dsp:nvSpPr>
      <dsp:spPr>
        <a:xfrm>
          <a:off x="2254106" y="1358600"/>
          <a:ext cx="1939287" cy="1163572"/>
        </a:xfrm>
        <a:prstGeom prst="rect">
          <a:avLst/>
        </a:prstGeom>
        <a:gradFill rotWithShape="0">
          <a:gsLst>
            <a:gs pos="0">
              <a:schemeClr val="accent5">
                <a:hueOff val="-6597487"/>
                <a:satOff val="23963"/>
                <a:lumOff val="2223"/>
                <a:alphaOff val="0"/>
                <a:tint val="96000"/>
                <a:lumMod val="100000"/>
              </a:schemeClr>
            </a:gs>
            <a:gs pos="78000">
              <a:schemeClr val="accent5">
                <a:hueOff val="-6597487"/>
                <a:satOff val="23963"/>
                <a:lumOff val="222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BFS or DFS traversal</a:t>
          </a:r>
        </a:p>
      </dsp:txBody>
      <dsp:txXfrm>
        <a:off x="2254106" y="1358600"/>
        <a:ext cx="1939287" cy="1163572"/>
      </dsp:txXfrm>
    </dsp:sp>
    <dsp:sp modelId="{01A12AFB-33F9-46B5-8F6D-6FD97784A96B}">
      <dsp:nvSpPr>
        <dsp:cNvPr id="0" name=""/>
        <dsp:cNvSpPr/>
      </dsp:nvSpPr>
      <dsp:spPr>
        <a:xfrm>
          <a:off x="4387322" y="1358600"/>
          <a:ext cx="1939287" cy="1163572"/>
        </a:xfrm>
        <a:prstGeom prst="rect">
          <a:avLst/>
        </a:prstGeom>
        <a:gradFill rotWithShape="0">
          <a:gsLst>
            <a:gs pos="0">
              <a:schemeClr val="accent5">
                <a:hueOff val="-8246858"/>
                <a:satOff val="29953"/>
                <a:lumOff val="2779"/>
                <a:alphaOff val="0"/>
                <a:tint val="96000"/>
                <a:lumMod val="100000"/>
              </a:schemeClr>
            </a:gs>
            <a:gs pos="78000">
              <a:schemeClr val="accent5">
                <a:hueOff val="-8246858"/>
                <a:satOff val="29953"/>
                <a:lumOff val="27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traversal table</a:t>
          </a:r>
        </a:p>
      </dsp:txBody>
      <dsp:txXfrm>
        <a:off x="4387322" y="1358600"/>
        <a:ext cx="1939287" cy="1163572"/>
      </dsp:txXfrm>
    </dsp:sp>
    <dsp:sp modelId="{963452F5-1C81-43DF-BF2B-7C1C3EF0766B}">
      <dsp:nvSpPr>
        <dsp:cNvPr id="0" name=""/>
        <dsp:cNvSpPr/>
      </dsp:nvSpPr>
      <dsp:spPr>
        <a:xfrm>
          <a:off x="2254106" y="2716101"/>
          <a:ext cx="1939287" cy="1163572"/>
        </a:xfrm>
        <a:prstGeom prst="rect">
          <a:avLst/>
        </a:prstGeom>
        <a:gradFill rotWithShape="0">
          <a:gsLst>
            <a:gs pos="0">
              <a:schemeClr val="accent5">
                <a:hueOff val="-9896230"/>
                <a:satOff val="35944"/>
                <a:lumOff val="3335"/>
                <a:alphaOff val="0"/>
                <a:tint val="96000"/>
                <a:lumMod val="100000"/>
              </a:schemeClr>
            </a:gs>
            <a:gs pos="78000">
              <a:schemeClr val="accent5">
                <a:hueOff val="-9896230"/>
                <a:satOff val="35944"/>
                <a:lumOff val="33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/>
            <a:t>model limitation</a:t>
          </a:r>
        </a:p>
      </dsp:txBody>
      <dsp:txXfrm>
        <a:off x="2254106" y="2716101"/>
        <a:ext cx="1939287" cy="11635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79B2E2-F254-4758-975D-BCCCEBEB091F}">
      <dsp:nvSpPr>
        <dsp:cNvPr id="0" name=""/>
        <dsp:cNvSpPr/>
      </dsp:nvSpPr>
      <dsp:spPr>
        <a:xfrm>
          <a:off x="0" y="0"/>
          <a:ext cx="6588035" cy="439544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3629" tIns="330200" rIns="51362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For Lab 06: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0" kern="1200" dirty="0"/>
            <a:t>choose a system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0" kern="1200" dirty="0"/>
            <a:t>identify nodes and edges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0" kern="1200" dirty="0"/>
            <a:t>build an adjacency list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0" kern="1200" dirty="0"/>
            <a:t>create a diagram or text representation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0" kern="1200" dirty="0"/>
            <a:t>run or simulate BFS or DFS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0" kern="1200" dirty="0"/>
            <a:t>explain what the model leaves out</a:t>
          </a:r>
        </a:p>
      </dsp:txBody>
      <dsp:txXfrm>
        <a:off x="0" y="1670268"/>
        <a:ext cx="6588035" cy="2637265"/>
      </dsp:txXfrm>
    </dsp:sp>
    <dsp:sp modelId="{6E066B6B-870C-47BB-B0D4-7DDBD6CCC405}">
      <dsp:nvSpPr>
        <dsp:cNvPr id="0" name=""/>
        <dsp:cNvSpPr/>
      </dsp:nvSpPr>
      <dsp:spPr>
        <a:xfrm>
          <a:off x="2634701" y="439544"/>
          <a:ext cx="1318632" cy="13186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06" tIns="12700" rIns="10280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827810" y="632653"/>
        <a:ext cx="932414" cy="932414"/>
      </dsp:txXfrm>
    </dsp:sp>
    <dsp:sp modelId="{661C993E-716A-4EDE-A4B7-74802377363E}">
      <dsp:nvSpPr>
        <dsp:cNvPr id="0" name=""/>
        <dsp:cNvSpPr/>
      </dsp:nvSpPr>
      <dsp:spPr>
        <a:xfrm>
          <a:off x="0" y="4395371"/>
          <a:ext cx="6588035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43E5A-6629-4B53-8BAD-0FC37077EB1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2475-516A-409A-944E-F435F3DFCCF2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3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35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** Instructor Notes ** </a:t>
            </a:r>
          </a:p>
          <a:p>
            <a:r>
              <a:rPr lang="en-US" dirty="0"/>
              <a:t>Step through the coding solution(s) for the Lab.</a:t>
            </a:r>
            <a:br>
              <a:rPr lang="en-US" dirty="0"/>
            </a:br>
            <a:r>
              <a:rPr lang="en-US" dirty="0"/>
              <a:t>Be sure to state that this is only *one* solution of many. </a:t>
            </a:r>
            <a:br>
              <a:rPr lang="en-US" dirty="0"/>
            </a:br>
            <a:r>
              <a:rPr lang="en-US" dirty="0"/>
              <a:t>NOT the best or only solution.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16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one student-safe example if available.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bridge is that strategy depends on representation.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Week 6 begins with a representation choice: model the system as connected parts.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week, the shape we care about is connection.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73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students name connected systems: maps, workflows, course prerequisites, social networks, game rooms, web pages, file dependencies.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to make "connection" concrete enough to represent and traverse.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model is called a graph.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7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Emphasize "model." A graph is not the full real system.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 simplified representation that highlights relationships.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primary Week 6 mental model.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model helps us see, but it also leaves things out.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56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4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mirrors Lab 06.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do not need advanced centrality calculations for success.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need a clear graph model and visible traversal behavior.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anchor the lesson in the reading.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70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 students that not all areas receive equal depth.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 and traversal are the core for this course week.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metrics are mostly recognition and optional context.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reading challenge is vocabulary.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20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D27C6-EBD2-4FB1-C883-5408B7F5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C2E10-5E6E-0517-05F7-674A71307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867EE-5D49-1933-F097-B467078C8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responds to the risk that students will use everyday meanings too loosely.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lesson should repeatedly ask: "What does this term mean in the graph model?"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reading also includes formulas.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D311B-7D83-A5EC-5FF2-765150912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16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488C3-76A2-C106-7F0F-29EC25EE8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70FD9-412B-63C6-D68D-7D6A081B0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5621F-473A-D7E9-A73E-7AF6EC11B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08064-B91F-98FC-17F8-278B3CA1D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1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F3FE1-1FA2-F13A-C5B5-1369E9C1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3B20C-E730-F123-488F-45A84510B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24D3D-94AE-1D86-75B9-356B7E6BB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explicit: some formulas are complex and advanced.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should not treat formula mastery as the Week 6 goal.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practical goal is graph representation, BFS/DFS traversal, and explanation.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required core begins with graph basics.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90AEC-D918-EF78-92A9-8483F4D69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97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59F90-2A46-A0C0-BDD5-4099E93B8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23602-DA71-C858-C23A-3A9FE4789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425F9-FA77-4F39-38ED-BA095D70E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D32A0-717E-4EE2-D45E-F997EB45DB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1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B5FC-A292-3BF2-39EB-0C52735C0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A6899-BE10-E719-8F54-5981D584C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CEC3B-D3A6-D6C8-282C-7F6B36075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 each term to a tiny example.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 campus map, buildings are nodes and sidewalks are edges.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reading also discusses neighborhoods and ego-centered networks.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4391B-A64C-1E2E-B9D0-0B04C25B8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65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54FA-4F54-206D-64B8-A4E051264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8F41A-E080-D22F-5E3C-07CAD2AF5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9A13C-8DB7-1E77-24C9-693C7789E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"hop" as a friendly bridge.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One-hop neighbors are directly connected.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Two-hop nodes are reachable through one intermediate node.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prepares BFS.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required traversal section is the main lab bridge.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59047-054B-CFC3-9AF3-78FAB015E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66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9B7EB-233B-2CC0-D574-2D7490CA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17BDE-D92E-C6EF-59D3-A6063E8A3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F3315-DD89-52B0-8735-81FD19988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 BFS and DFS as ways to move through the graph.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are not just code recipes.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produce visible behavior that can be traced.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with the basic pieces of the model.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9145B-F3E6-773C-E7FF-F68869C69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88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113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both words because the textbook may use vertex. For students, "node" will probably be friendlier.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Nodes matter because edges connect them.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5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to distinguish the node from the edge in two examples.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prevents a common confusion where students list things but not relationships.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Together, nodes and edges form a graph.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50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key term distinction.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real campus has distances, weather, stairs, doors, crowds, and accessibility.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graph may choose to model only direct routes.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graph types model different relationship rules.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997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this practical. A simple graph is enough for most Lab 06 submissions.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students ask about self-loops, explain that a node connecting to itself is possible in graph theory but usually not needed for the lab.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relationships have direction.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5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a prerequisite example: Course A can lead to Course B, but Course B does not lead backward to Course A.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prepares the lab option on prerequisites and workflows.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relationships work both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181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clear that undirected edges usually need to appear in both directions if represented as an adjacency list.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major Lab 06 watch-for.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edges also carry a cost or value.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081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this recognition-level unless students are ready. Lab 06 does not require weighted path algorithms.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Emphasize that if a model does not include weights, it cannot claim shortest time or lowest cost.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we need a practical way to store graph connections.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825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one of the most important implementation slides.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should be able to read the adjacency list as "from this node, these neighbors are directly reachable."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adjacency list should match the diagram.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489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834A-7384-5BC7-832D-C440B0DA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AC338-9072-5564-76B0-8A7070BE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2CE0E-50C2-B136-E27D-FA6E5FB79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D731B-4236-3B3C-A94F-152712C09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203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practical debugging slide.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often draw a graph and write an adjacency list that do not match.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also a good AI-assisted critique use case after the student drafts the model.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traversing, ask what the model leaves out.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502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core to Lab 06. Students must include what their graph leaves out.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 this to professional honesty: a model can be useful without being complete.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use graph vocabulary to talk about neighborhoods.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631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525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 campus map idea. From Parking, Library and Student Center may be one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 away. Cafeteria might be two hops away depending on the edges.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prepares BFS as outward exploration.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Ego networks focus on one selected node.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743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briefly.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useful vocabulary, especially for social networks and communication networks, but it should not consume the lesson.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common graph question is the shortest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427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precise: if the graph is unweighted, shortest may mean fewest edges.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graph is weighted, shortest may mean lowest total weight.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teach Dijkstra's algorithm unless as brief reserve language.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BFS can help explore by layers in unweighted graphs.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558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EE1E-F872-FD29-7ED4-9EE6AA7B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F6A6F-75EC-7A41-3AC9-7292D51CD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DE3BE-CE1C-9758-13C0-A571867A4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18F78-BCBF-D544-C57A-39C2F816F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242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connects textbook neighborhood language to student lab work.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Ask: "If we start at this node, what is one hop away? What is two hops away?"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optional reading extends this into network metrics.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496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another pressure-release slide.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formulas may look intimidating.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do not need to calculate centrality metrics for Lab 06.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metric is simple enough to recognize immediately: degree.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481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only if time allows.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Degree is easy to count visually.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Density is more abstract and should be kept conceptual.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centrality measures describe different kinds of structural importance.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358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high-value caution.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Especially in social network analysis, metrics can be misleading if interpreted without context.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turn this into a full ethics lecture but plant the idea.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return to the required traversal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630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250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may expect traversal to be one fixed answer.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clear that traversal order can change when start node, neighbor order, or method changes.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BFS explores outward by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961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"ripples in water" or "layers from the start" if helpful.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plain-English anchor.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BFS usually uses a queue.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25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queue state as the nodes waiting to be visited next.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do not need to love the queue mechanics, but they need to see why BFS visits by layers.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DFS follows one path more deeply.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221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CEBCF-5962-ED94-AE8E-BDF7C60A4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3AEF0-23CF-8694-31BA-7A9A8FA00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32ABF-4A87-EB7A-EE54-8BDF6358B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B0EE3-46A7-2AA8-6BAA-CB91E1387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73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a hallway or maze analogy if useful. Emphasize that DFS is not "random";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follows a rule based on neighbor order and stack/call behavior.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DFS evidence often uses a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097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stack state as the nodes waiting while the traversal follows a path.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students compare BFS and DFS tables, they can see the same graph explored in different orders.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same graph can produce different traversal orders.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241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F6C5-53F8-AD96-F118-917B7164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80437-711F-01EC-8AE0-B1ABAC4A4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BF03A-3304-1EE0-EE7D-9EF15CBB9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F3B37-4ED4-CCFB-666C-CAC8B3F13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155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overstate.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BFS is often associated with shortest paths in unweighted graphs,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this course should keep the claim careful and beginner-friendly.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Traversal order depends on neighbor order too.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395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common source of confusion.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correct BFS implementations may show different orders if neighbors are listed differently.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 this directly to Lab 06 explanation requirements.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optional material shows how graph ideas scale into network analysis.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343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references the optional Python/visualization reading without requiring students to use graph libraries.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 diagrams or Markdown diagrams are acceptable for Lab 06.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Social network analysis is one applied context.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243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this as context. The fraud detection case study and fraud analytics are skipped for this course week.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encourage students to use sensitive personal data in Lab 06.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caution is that graph metrics do not replace judgment.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838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connects optional closeness/fairness language to responsible reasoning.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not metric calculation; it is interpretive caution.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return to what students must do in Lab 06.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7260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is important for cognitive load. It tells students where to put their effort.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demo now shows the required pieces in a small graph.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108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578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 existing Lab 06 demo.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campus route scenario is intentionally different from the student lab options.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inspect the graph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6249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to compare the text diagram and adjacency list before running the traversals. This reinforces model consistency.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 how queue and stack states change.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1718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8D881-DCBC-85D1-7FC8-353781AB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C17E1-0AB1-166D-C3BE-0FD4CE3D9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B7538-1127-628D-6726-99E3C1AB1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CE51-6150-654E-33CC-CA4956692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053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questions prepare students for their own traversal table and explanation.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 let the demo become only "run the code and admire the output."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explanation should name why BFS and DFS differ.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395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Encourage students to preserve this logic while using their own words: 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graph, 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method, 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order, 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reason.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transfer this to Lab 06.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7466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Stress that students should not copy the campus route demo.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should use the same modeling and traversal pattern with a different system.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lab requires both a model and evidence.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686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practical submission checklist.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Remind students that a node list without relationships is not enough.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README makes the graph reasoning visible.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72579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should understand that the README is not extra paperwork. It is where they explain the model.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clarify the AI-use boundary.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1319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clear that AI should not replace the student's graph design.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can help critique or clarify after the student has a draft.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matches the student-facing AI-use rule.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close with the main lesson.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542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807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Week 6 takeaway.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Graphs are useful precisely because they force relationships to become visible.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make the immediate next action concrete.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950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Students should compare this slide directly to their submission before turning it in.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assign the immediate lab action.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3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Remind students that a simple, well-explained model is better than a fancy model they cannot explain.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**Transition Cue:**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 students for the next reading once Week 7 reading details are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2217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**Instructor Notes:**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to prepare students for the breadth of Week 7.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next reading touches unsupervised learning, recommendation engines, cryptography basics, and recommended decision-tree material.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 students that the Week 7 goal is not to master all of those fields.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to see how small algorithmic choices appear inside AI/data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6160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6 – </a:t>
            </a:r>
            <a:r>
              <a:rPr lang="en-US" b="1" dirty="0"/>
              <a:t>Graph Traversal and Modeling</a:t>
            </a:r>
            <a:endParaRPr lang="en-US" dirty="0"/>
          </a:p>
          <a:p>
            <a:r>
              <a:rPr lang="en-US" i="1" dirty="0"/>
              <a:t>“Modeling Connected Things”</a:t>
            </a:r>
          </a:p>
        </p:txBody>
      </p:sp>
    </p:spTree>
    <p:extLst>
      <p:ext uri="{BB962C8B-B14F-4D97-AF65-F5344CB8AC3E}">
        <p14:creationId xmlns:p14="http://schemas.microsoft.com/office/powerpoint/2010/main" val="379502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3D0C-6852-20C9-BE87-D0EBE466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 dirty="0"/>
              <a:t>Terms to Remember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27554BC-B3B8-5E0F-2BAA-2455CB83A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190573"/>
              </p:ext>
            </p:extLst>
          </p:nvPr>
        </p:nvGraphicFramePr>
        <p:xfrm>
          <a:off x="965201" y="1709057"/>
          <a:ext cx="6807200" cy="3568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889">
                  <a:extLst>
                    <a:ext uri="{9D8B030D-6E8A-4147-A177-3AD203B41FA5}">
                      <a16:colId xmlns:a16="http://schemas.microsoft.com/office/drawing/2014/main" val="2834818674"/>
                    </a:ext>
                  </a:extLst>
                </a:gridCol>
                <a:gridCol w="2093081">
                  <a:extLst>
                    <a:ext uri="{9D8B030D-6E8A-4147-A177-3AD203B41FA5}">
                      <a16:colId xmlns:a16="http://schemas.microsoft.com/office/drawing/2014/main" val="2769425876"/>
                    </a:ext>
                  </a:extLst>
                </a:gridCol>
                <a:gridCol w="3788230">
                  <a:extLst>
                    <a:ext uri="{9D8B030D-6E8A-4147-A177-3AD203B41FA5}">
                      <a16:colId xmlns:a16="http://schemas.microsoft.com/office/drawing/2014/main" val="2598474551"/>
                    </a:ext>
                  </a:extLst>
                </a:gridCol>
              </a:tblGrid>
              <a:tr h="334133">
                <a:tc>
                  <a:txBody>
                    <a:bodyPr/>
                    <a:lstStyle/>
                    <a:p>
                      <a:r>
                        <a:rPr lang="en-US" sz="1500"/>
                        <a:t>Term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General Meaning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Graph / Network Meaning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58550183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r>
                        <a:rPr lang="en-US" sz="1300" b="1" dirty="0"/>
                        <a:t>Network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Any connected system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graph model of connected nodes and edges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286987966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r>
                        <a:rPr lang="en-US" sz="1300" b="1" dirty="0"/>
                        <a:t>Node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point or object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specific item in the graph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4271159523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r>
                        <a:rPr lang="en-US" sz="1300" b="1" dirty="0"/>
                        <a:t>Vertex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corner or point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Another term for node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3521909586"/>
                  </a:ext>
                </a:extLst>
              </a:tr>
              <a:tr h="300411">
                <a:tc>
                  <a:txBody>
                    <a:bodyPr/>
                    <a:lstStyle/>
                    <a:p>
                      <a:r>
                        <a:rPr lang="en-US" sz="1300" b="1" dirty="0"/>
                        <a:t>Edge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Outside boundary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relationship or connection between nodes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119661996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r>
                        <a:rPr lang="en-US" sz="1300" b="1" dirty="0"/>
                        <a:t>Link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connection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Another term for edge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329069432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r>
                        <a:rPr lang="en-US" sz="1300" b="1" dirty="0"/>
                        <a:t>Neighbor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Something nearby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A node directly connected to another node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245940545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r>
                        <a:rPr lang="en-US" sz="1300" b="1" dirty="0"/>
                        <a:t>Path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route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sequence of connected nodes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85780329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/>
                        <a:t>Traversal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Moving through something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Visiting graph nodes using an algorithm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915929785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r>
                        <a:rPr lang="en-US" sz="1300" b="1" dirty="0"/>
                        <a:t>Centrality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Importance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metric estimating structural importance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1497806748"/>
                  </a:ext>
                </a:extLst>
              </a:tr>
              <a:tr h="308820">
                <a:tc>
                  <a:txBody>
                    <a:bodyPr/>
                    <a:lstStyle/>
                    <a:p>
                      <a:r>
                        <a:rPr lang="en-US" sz="1300" b="1" dirty="0"/>
                        <a:t>Density</a:t>
                      </a:r>
                    </a:p>
                  </a:txBody>
                  <a:tcPr marL="75939" marR="75939" marT="37970" marB="3797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compact something is</a:t>
                      </a:r>
                    </a:p>
                  </a:txBody>
                  <a:tcPr marL="75939" marR="75939" marT="37970" marB="3797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many possible connections actually exist</a:t>
                      </a:r>
                    </a:p>
                  </a:txBody>
                  <a:tcPr marL="75939" marR="75939" marT="37970" marB="37970"/>
                </a:tc>
                <a:extLst>
                  <a:ext uri="{0D108BD9-81ED-4DB2-BD59-A6C34878D82A}">
                    <a16:rowId xmlns:a16="http://schemas.microsoft.com/office/drawing/2014/main" val="2095033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793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1AD2-E72F-7796-291A-36CD121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sz="3300"/>
              <a:t>What We Will Use Today</a:t>
            </a:r>
            <a:endParaRPr lang="en-US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EC5C-1292-A4A2-1E2D-A19D199A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499468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Graph vocabulary</a:t>
            </a:r>
          </a:p>
          <a:p>
            <a:r>
              <a:rPr lang="en-US" dirty="0"/>
              <a:t>Directed, Undirected, Simple, and Weighted graph recognition</a:t>
            </a:r>
          </a:p>
          <a:p>
            <a:r>
              <a:rPr lang="en-US" dirty="0"/>
              <a:t>Adjacency-list representation</a:t>
            </a:r>
          </a:p>
          <a:p>
            <a:r>
              <a:rPr lang="en-US" dirty="0"/>
              <a:t>Neighborhoods and shortest-path intuition</a:t>
            </a:r>
          </a:p>
          <a:p>
            <a:r>
              <a:rPr lang="en-US" dirty="0"/>
              <a:t>BFS and DFS traversal</a:t>
            </a:r>
          </a:p>
          <a:p>
            <a:r>
              <a:rPr lang="en-US" dirty="0"/>
              <a:t>Queue and Stack state as evidence</a:t>
            </a:r>
          </a:p>
          <a:p>
            <a:r>
              <a:rPr lang="en-US" dirty="0"/>
              <a:t>Model-limit explanation</a:t>
            </a:r>
          </a:p>
        </p:txBody>
      </p:sp>
      <p:pic>
        <p:nvPicPr>
          <p:cNvPr id="28" name="Picture 27" descr="Computer script on a screen">
            <a:extLst>
              <a:ext uri="{FF2B5EF4-FFF2-40B4-BE49-F238E27FC236}">
                <a16:creationId xmlns:a16="http://schemas.microsoft.com/office/drawing/2014/main" id="{38D50984-DDEB-A743-533E-89C11F357B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23" r="5019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42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E6D73-36C1-785B-BF1E-F70A56E4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/>
              <a:t>What We Will “Touch On” and Revisit Later</a:t>
            </a:r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A78D41-48A5-98C1-1F53-FB08BC3F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90"/>
            <a:ext cx="3915323" cy="3701270"/>
          </a:xfrm>
        </p:spPr>
        <p:txBody>
          <a:bodyPr>
            <a:normAutofit/>
          </a:bodyPr>
          <a:lstStyle/>
          <a:p>
            <a:r>
              <a:rPr lang="en-US" sz="2000" dirty="0"/>
              <a:t>similarity and recommendation</a:t>
            </a:r>
          </a:p>
          <a:p>
            <a:r>
              <a:rPr lang="en-US" sz="2000" dirty="0"/>
              <a:t>ranking and centrality ideas</a:t>
            </a:r>
          </a:p>
          <a:p>
            <a:r>
              <a:rPr lang="en-US" sz="2000" dirty="0"/>
              <a:t>AI/data relationship modeling</a:t>
            </a:r>
          </a:p>
          <a:p>
            <a:r>
              <a:rPr lang="en-US" sz="2000" dirty="0"/>
              <a:t>explainability and limits of graph-based claims</a:t>
            </a:r>
          </a:p>
          <a:p>
            <a:r>
              <a:rPr lang="en-US" sz="2000" dirty="0"/>
              <a:t>optional social network analysis context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634669AE-52A5-F086-9BDE-17982042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5562" y="2159000"/>
            <a:ext cx="2359152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1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CC1AB3-4E10-DC1D-19E9-262AA9AD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Review Coding Lab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9DC68C51-4C04-4FB3-8831-97CAFAF5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43" b="6549"/>
          <a:stretch>
            <a:fillRect/>
          </a:stretch>
        </p:blipFill>
        <p:spPr>
          <a:xfrm>
            <a:off x="739476" y="609600"/>
            <a:ext cx="6216024" cy="3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7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6879-C24F-12E9-F810-6CB9C4BF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en-US" dirty="0"/>
              <a:t>Review: </a:t>
            </a:r>
            <a:br>
              <a:rPr lang="en-US" dirty="0"/>
            </a:br>
            <a:r>
              <a:rPr lang="en-US" dirty="0"/>
              <a:t>What Lab 05 Taught 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B8EF8-7380-591B-7DE8-88F9DC487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410733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9139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1FA1E9A-A320-AF42-F414-B26C9B32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Today’s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45FF-FF75-2BF2-8B20-6A1AB01A6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9855" y="816638"/>
            <a:ext cx="3245645" cy="5224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How can we model connected parts so an algorithm can move through them?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491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paper folded as graph">
            <a:extLst>
              <a:ext uri="{FF2B5EF4-FFF2-40B4-BE49-F238E27FC236}">
                <a16:creationId xmlns:a16="http://schemas.microsoft.com/office/drawing/2014/main" id="{6EE821E8-DE74-871D-12DE-2E2D70B5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51" r="20117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C3605-5D8E-7724-C17B-D795FFF0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300"/>
              <a:t>Graphs Model Relationships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EF0FB-4C3E-DCBF-358C-F3A4B6BA6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/>
              <a:t>A graph is a model of connected things.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500"/>
              <a:t>It can represent:</a:t>
            </a:r>
          </a:p>
          <a:p>
            <a:pPr>
              <a:lnSpc>
                <a:spcPct val="90000"/>
              </a:lnSpc>
            </a:pPr>
            <a:r>
              <a:rPr lang="en-US" sz="1500"/>
              <a:t>places connected by routes</a:t>
            </a:r>
          </a:p>
          <a:p>
            <a:pPr>
              <a:lnSpc>
                <a:spcPct val="90000"/>
              </a:lnSpc>
            </a:pPr>
            <a:r>
              <a:rPr lang="en-US" sz="1500"/>
              <a:t>tasks connected by dependencies</a:t>
            </a:r>
          </a:p>
          <a:p>
            <a:pPr>
              <a:lnSpc>
                <a:spcPct val="90000"/>
              </a:lnSpc>
            </a:pPr>
            <a:r>
              <a:rPr lang="en-US" sz="1500"/>
              <a:t>people connected by communication</a:t>
            </a:r>
          </a:p>
          <a:p>
            <a:pPr>
              <a:lnSpc>
                <a:spcPct val="90000"/>
              </a:lnSpc>
            </a:pPr>
            <a:r>
              <a:rPr lang="en-US" sz="1500"/>
              <a:t>steps connected in a workflow</a:t>
            </a:r>
          </a:p>
          <a:p>
            <a:pPr>
              <a:lnSpc>
                <a:spcPct val="90000"/>
              </a:lnSpc>
            </a:pPr>
            <a:r>
              <a:rPr lang="en-US" sz="1500"/>
              <a:t>rooms connected by paths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12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410D77-E7C1-DDF5-0FD1-14A5194B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859383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Graph Model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80B5E40-3F99-8B5E-957A-739276C4F1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415" t="-1640" r="415" b="-1640"/>
          <a:stretch>
            <a:fillRect/>
          </a:stretch>
        </p:blipFill>
        <p:spPr>
          <a:xfrm>
            <a:off x="609599" y="431075"/>
            <a:ext cx="6347714" cy="44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0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BB2258-2A42-7358-855B-3C842DFCA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What Counts as Success Today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8FB340-C6CC-FE68-2C30-7F4BB1919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748217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2066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8413C-E473-7BB1-5818-2D164CEF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0655-1F44-A7A1-AD87-667B4768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1189368"/>
            <a:ext cx="4865966" cy="1070505"/>
          </a:xfrm>
        </p:spPr>
        <p:txBody>
          <a:bodyPr>
            <a:normAutofit fontScale="90000"/>
          </a:bodyPr>
          <a:lstStyle/>
          <a:p>
            <a:r>
              <a:rPr lang="en-US" dirty="0"/>
              <a:t>Graph Algorithm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B117B-7548-ADF5-1699-217128A6553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7145" r="17145"/>
          <a:stretch/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29E677-A23F-A29E-45EE-905BCE0D8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508069"/>
            <a:ext cx="4865966" cy="3533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reading covers:</a:t>
            </a:r>
          </a:p>
          <a:p>
            <a:pPr>
              <a:buFont typeface="+mj-lt"/>
              <a:buAutoNum type="arabicPeriod"/>
            </a:pPr>
            <a:r>
              <a:rPr lang="en-US" dirty="0"/>
              <a:t>graph representation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network theory analysis</a:t>
            </a:r>
          </a:p>
          <a:p>
            <a:pPr>
              <a:buFont typeface="+mj-lt"/>
              <a:buAutoNum type="arabicPeriod"/>
            </a:pPr>
            <a:r>
              <a:rPr lang="en-US" dirty="0"/>
              <a:t>graph traversals</a:t>
            </a:r>
          </a:p>
          <a:p>
            <a:pPr>
              <a:buFont typeface="+mj-lt"/>
              <a:buAutoNum type="arabicPeriod"/>
            </a:pPr>
            <a:r>
              <a:rPr lang="en-US" dirty="0"/>
              <a:t>case study</a:t>
            </a:r>
          </a:p>
          <a:p>
            <a:pPr>
              <a:buFont typeface="+mj-lt"/>
              <a:buAutoNum type="arabicPeriod"/>
            </a:pPr>
            <a:r>
              <a:rPr lang="en-US" dirty="0"/>
              <a:t>neighborhood techniques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5F1924-E7B7-D63D-AEF2-560B04790698}"/>
              </a:ext>
            </a:extLst>
          </p:cNvPr>
          <p:cNvSpPr txBox="1">
            <a:spLocks/>
          </p:cNvSpPr>
          <p:nvPr/>
        </p:nvSpPr>
        <p:spPr>
          <a:xfrm>
            <a:off x="1835960" y="213080"/>
            <a:ext cx="2686558" cy="50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Textbook Review</a:t>
            </a: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24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6C73-69C3-626A-703D-C93E9FA0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134C-4760-3759-3C74-2FD636B8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1189369"/>
            <a:ext cx="4865966" cy="745462"/>
          </a:xfrm>
        </p:spPr>
        <p:txBody>
          <a:bodyPr>
            <a:normAutofit/>
          </a:bodyPr>
          <a:lstStyle/>
          <a:p>
            <a:r>
              <a:rPr lang="en-US" dirty="0"/>
              <a:t>Terms Become Precise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59658-8254-95D5-AF6E-BB73B658925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7145" r="17145"/>
          <a:stretch/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AA5EC3E-D19F-3ACB-04EC-D3951C018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Some familiar words become technical:</a:t>
            </a:r>
          </a:p>
          <a:p>
            <a:r>
              <a:rPr lang="en-US" dirty="0"/>
              <a:t>network</a:t>
            </a:r>
          </a:p>
          <a:p>
            <a:r>
              <a:rPr lang="en-US" dirty="0"/>
              <a:t>node</a:t>
            </a:r>
          </a:p>
          <a:p>
            <a:r>
              <a:rPr lang="en-US" dirty="0"/>
              <a:t>edge</a:t>
            </a:r>
          </a:p>
          <a:p>
            <a:r>
              <a:rPr lang="en-US" dirty="0"/>
              <a:t>neighbor</a:t>
            </a:r>
          </a:p>
          <a:p>
            <a:r>
              <a:rPr lang="en-US" dirty="0"/>
              <a:t>path</a:t>
            </a:r>
          </a:p>
          <a:p>
            <a:r>
              <a:rPr lang="en-US" dirty="0"/>
              <a:t>traversal</a:t>
            </a:r>
          </a:p>
          <a:p>
            <a:r>
              <a:rPr lang="en-US" dirty="0"/>
              <a:t>density</a:t>
            </a:r>
          </a:p>
          <a:p>
            <a:r>
              <a:rPr lang="en-US" dirty="0"/>
              <a:t>Centrality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Use the graph meaning during this lesson</a:t>
            </a:r>
          </a:p>
          <a:p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4C60CC-729C-828E-AEC9-3C7C62A2F892}"/>
              </a:ext>
            </a:extLst>
          </p:cNvPr>
          <p:cNvSpPr txBox="1">
            <a:spLocks/>
          </p:cNvSpPr>
          <p:nvPr/>
        </p:nvSpPr>
        <p:spPr>
          <a:xfrm>
            <a:off x="1835960" y="213080"/>
            <a:ext cx="2686558" cy="50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Textbook Review</a:t>
            </a: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993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7847-1232-6B3F-A21B-0DCE4E2C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B6E33D-843F-271E-EFF2-47D29CDF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Term Precision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E00A114-93BD-6A59-5FAC-C50F4822F1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415" t="582" r="415" b="582"/>
          <a:stretch>
            <a:fillRect/>
          </a:stretch>
        </p:blipFill>
        <p:spPr>
          <a:xfrm>
            <a:off x="609599" y="609599"/>
            <a:ext cx="6347714" cy="406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8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6683-8763-5136-F09A-34982B5E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69EC-9B12-2FC5-7522-828B6FE9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1189369"/>
            <a:ext cx="4865966" cy="745462"/>
          </a:xfrm>
        </p:spPr>
        <p:txBody>
          <a:bodyPr>
            <a:normAutofit fontScale="90000"/>
          </a:bodyPr>
          <a:lstStyle/>
          <a:p>
            <a:r>
              <a:rPr lang="en-US" dirty="0"/>
              <a:t>Do Not Panic Over Formulas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77036-1778-762B-6CA0-3568479826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7145" r="17145"/>
          <a:stretch/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4BE774A-F1AC-EE54-3028-2DD5B62B8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4" y="2560320"/>
            <a:ext cx="5225665" cy="3481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reading includes advanced graph formulas.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this week:</a:t>
            </a:r>
          </a:p>
          <a:p>
            <a:r>
              <a:rPr lang="en-US" dirty="0"/>
              <a:t>notice the term</a:t>
            </a:r>
          </a:p>
          <a:p>
            <a:r>
              <a:rPr lang="en-US" dirty="0"/>
              <a:t>read for the idea</a:t>
            </a:r>
          </a:p>
          <a:p>
            <a:r>
              <a:rPr lang="en-US" dirty="0"/>
              <a:t>connect it to a simple graph</a:t>
            </a:r>
          </a:p>
          <a:p>
            <a:r>
              <a:rPr lang="en-US" dirty="0"/>
              <a:t>do not try to master every formula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A7D9317-CF3D-3788-F156-4041D394C845}"/>
              </a:ext>
            </a:extLst>
          </p:cNvPr>
          <p:cNvSpPr txBox="1">
            <a:spLocks/>
          </p:cNvSpPr>
          <p:nvPr/>
        </p:nvSpPr>
        <p:spPr>
          <a:xfrm>
            <a:off x="1835960" y="213080"/>
            <a:ext cx="2686558" cy="50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Textbook Review</a:t>
            </a: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608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D359-B816-7BDC-B7AC-A046476DB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78666A-29B2-7C3F-DFB7-688BB640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Formula Posture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D615ACC-1AFF-570A-767F-F77279A241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-304" t="3270" r="-304" b="3270"/>
          <a:stretch>
            <a:fillRect/>
          </a:stretch>
        </p:blipFill>
        <p:spPr>
          <a:xfrm>
            <a:off x="609599" y="609599"/>
            <a:ext cx="6347714" cy="413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8DF8E-B1DD-B1BC-075D-95460127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999F-3EAB-232E-C8C7-ED8C9529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1189369"/>
            <a:ext cx="4865966" cy="745462"/>
          </a:xfrm>
        </p:spPr>
        <p:txBody>
          <a:bodyPr>
            <a:normAutofit/>
          </a:bodyPr>
          <a:lstStyle/>
          <a:p>
            <a:r>
              <a:rPr lang="en-US" dirty="0"/>
              <a:t>Graph Basics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44E8F-417C-0FDF-1986-C094EA5419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7145" r="17145"/>
          <a:stretch/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16E0CB7-C07A-F4E1-24EF-BE44ED236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Core graph pieces: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vertices or nodes</a:t>
            </a:r>
          </a:p>
          <a:p>
            <a:r>
              <a:rPr lang="en-US" dirty="0"/>
              <a:t>edges or links</a:t>
            </a:r>
          </a:p>
          <a:p>
            <a:r>
              <a:rPr lang="en-US" dirty="0"/>
              <a:t>network structure</a:t>
            </a:r>
          </a:p>
          <a:p>
            <a:r>
              <a:rPr lang="en-US" dirty="0"/>
              <a:t>simple, directed, undirected, weighted types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0FC0EB8-3F9C-9CBA-3365-2E79D1E59E48}"/>
              </a:ext>
            </a:extLst>
          </p:cNvPr>
          <p:cNvSpPr txBox="1">
            <a:spLocks/>
          </p:cNvSpPr>
          <p:nvPr/>
        </p:nvSpPr>
        <p:spPr>
          <a:xfrm>
            <a:off x="1835960" y="213080"/>
            <a:ext cx="2686558" cy="50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Textbook Review</a:t>
            </a: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4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F64D2-B57A-C71F-C5A8-DBAD55E8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FD45-C20A-018C-E024-44DC95B3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1189369"/>
            <a:ext cx="4865966" cy="745462"/>
          </a:xfrm>
        </p:spPr>
        <p:txBody>
          <a:bodyPr>
            <a:normAutofit/>
          </a:bodyPr>
          <a:lstStyle/>
          <a:p>
            <a:r>
              <a:rPr lang="en-US" dirty="0"/>
              <a:t>Neighborhoods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82168-93C9-3C8A-A69B-2477BA30B36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7145" r="17145"/>
          <a:stretch/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4BE4F48-B87D-1E28-8FE1-391385CDC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neighborhood asks:</a:t>
            </a:r>
          </a:p>
          <a:p>
            <a:r>
              <a:rPr lang="en-US" dirty="0"/>
              <a:t>What is directly connected?</a:t>
            </a:r>
          </a:p>
          <a:p>
            <a:r>
              <a:rPr lang="en-US" dirty="0"/>
              <a:t>What is one hop away?</a:t>
            </a:r>
          </a:p>
          <a:p>
            <a:r>
              <a:rPr lang="en-US" dirty="0"/>
              <a:t>What is two hops away?</a:t>
            </a:r>
          </a:p>
          <a:p>
            <a:r>
              <a:rPr lang="en-US" dirty="0"/>
              <a:t>What can be reached from here?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D2DAD19-04C8-198E-11E9-7F596742B4B5}"/>
              </a:ext>
            </a:extLst>
          </p:cNvPr>
          <p:cNvSpPr txBox="1">
            <a:spLocks/>
          </p:cNvSpPr>
          <p:nvPr/>
        </p:nvSpPr>
        <p:spPr>
          <a:xfrm>
            <a:off x="1835960" y="213080"/>
            <a:ext cx="2686558" cy="50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Textbook Review</a:t>
            </a: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272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7F407-5106-1C84-B476-96914299A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AC4C-9906-F9C1-70F5-77B18D8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1189369"/>
            <a:ext cx="4865966" cy="745462"/>
          </a:xfrm>
        </p:spPr>
        <p:txBody>
          <a:bodyPr>
            <a:normAutofit/>
          </a:bodyPr>
          <a:lstStyle/>
          <a:p>
            <a:r>
              <a:rPr lang="en-US" dirty="0"/>
              <a:t>Traversals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62AB7-6544-4CB5-6CF1-9B2F5C9D30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7145" r="17145"/>
          <a:stretch/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EC6C301-3A6B-C0F4-A21D-740BC3755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reading introduces: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breadth-first search (BFS)</a:t>
            </a:r>
          </a:p>
          <a:p>
            <a:r>
              <a:rPr lang="en-US" dirty="0"/>
              <a:t>depth-first search (DFS)</a:t>
            </a:r>
          </a:p>
          <a:p>
            <a:r>
              <a:rPr lang="en-US" dirty="0"/>
              <a:t>traversal order</a:t>
            </a:r>
          </a:p>
          <a:p>
            <a:r>
              <a:rPr lang="en-US" dirty="0"/>
              <a:t>specific searches using traversal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C73A1D-7BDC-3142-9CB0-DE0BCAA530D3}"/>
              </a:ext>
            </a:extLst>
          </p:cNvPr>
          <p:cNvSpPr txBox="1">
            <a:spLocks/>
          </p:cNvSpPr>
          <p:nvPr/>
        </p:nvSpPr>
        <p:spPr>
          <a:xfrm>
            <a:off x="1835960" y="213080"/>
            <a:ext cx="2686558" cy="500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Textbook Review</a:t>
            </a:r>
            <a:endParaRPr 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394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 descr="Digital business graph and charts">
            <a:extLst>
              <a:ext uri="{FF2B5EF4-FFF2-40B4-BE49-F238E27FC236}">
                <a16:creationId xmlns:a16="http://schemas.microsoft.com/office/drawing/2014/main" id="{1F1D2F87-C015-36EC-96FF-C6BB653D7BE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rcRect l="39291" r="23620" b="1"/>
          <a:stretch>
            <a:fillRect/>
          </a:stretch>
        </p:blipFill>
        <p:spPr>
          <a:xfrm>
            <a:off x="3814762" y="-1"/>
            <a:ext cx="5326856" cy="6858001"/>
          </a:xfrm>
          <a:custGeom>
            <a:avLst/>
            <a:gdLst/>
            <a:ahLst/>
            <a:cxnLst/>
            <a:rect l="l" t="t" r="r" b="b"/>
            <a:pathLst>
              <a:path w="7102474" h="6858001">
                <a:moveTo>
                  <a:pt x="417180" y="0"/>
                </a:moveTo>
                <a:lnTo>
                  <a:pt x="7102474" y="0"/>
                </a:lnTo>
                <a:lnTo>
                  <a:pt x="7102474" y="6858001"/>
                </a:lnTo>
                <a:lnTo>
                  <a:pt x="65002" y="6858001"/>
                </a:lnTo>
                <a:lnTo>
                  <a:pt x="1840421" y="4521201"/>
                </a:lnTo>
                <a:close/>
                <a:moveTo>
                  <a:pt x="0" y="0"/>
                </a:moveTo>
                <a:lnTo>
                  <a:pt x="417180" y="0"/>
                </a:lnTo>
                <a:lnTo>
                  <a:pt x="0" y="44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BFF8A41-8161-7F2E-C384-3F6C3C17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49" y="1678666"/>
            <a:ext cx="3842636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 dirty="0"/>
              <a:t>Graph Basics and Representation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D2D849-17D8-45A4-9FB8-B955CD22B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0A4A95-757B-4092-A077-CA7C3ADE4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2D2FAE71-B8B1-4745-A59A-A88D3FE48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E4C67344-C816-4380-85F7-CCFD7F8BA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5A0B04CD-E5BD-4922-BE66-2D5B3A0DE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CF4C9BE8-5C78-476D-9042-ECD8BE635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7D6A31B3-BF49-4DB2-8306-DD2E4B889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A903E87B-DD97-4095-B106-3218D6AF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54CB26F-45F0-4288-A3B1-32535127B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1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75DD1-DAA5-1DA3-15BE-9EB97302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725C6A-9D41-324F-6903-3A94B3BDF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Node Or Vertex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BD972-7D8D-ACBD-E222-EEDEF7C85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/>
              <a:t>A node is one thing in the graph.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500"/>
              <a:t>Examples:</a:t>
            </a:r>
          </a:p>
          <a:p>
            <a:pPr>
              <a:lnSpc>
                <a:spcPct val="90000"/>
              </a:lnSpc>
            </a:pPr>
            <a:r>
              <a:rPr lang="en-US" sz="1500"/>
              <a:t>building</a:t>
            </a:r>
          </a:p>
          <a:p>
            <a:pPr>
              <a:lnSpc>
                <a:spcPct val="90000"/>
              </a:lnSpc>
            </a:pPr>
            <a:r>
              <a:rPr lang="en-US" sz="1500"/>
              <a:t>person</a:t>
            </a:r>
          </a:p>
          <a:p>
            <a:pPr>
              <a:lnSpc>
                <a:spcPct val="90000"/>
              </a:lnSpc>
            </a:pPr>
            <a:r>
              <a:rPr lang="en-US" sz="1500"/>
              <a:t>task</a:t>
            </a:r>
          </a:p>
          <a:p>
            <a:pPr>
              <a:lnSpc>
                <a:spcPct val="90000"/>
              </a:lnSpc>
            </a:pPr>
            <a:r>
              <a:rPr lang="en-US" sz="1500"/>
              <a:t>course</a:t>
            </a:r>
          </a:p>
          <a:p>
            <a:pPr>
              <a:lnSpc>
                <a:spcPct val="90000"/>
              </a:lnSpc>
            </a:pPr>
            <a:r>
              <a:rPr lang="en-US" sz="1500"/>
              <a:t>web page</a:t>
            </a:r>
          </a:p>
          <a:p>
            <a:pPr>
              <a:lnSpc>
                <a:spcPct val="90000"/>
              </a:lnSpc>
            </a:pPr>
            <a:r>
              <a:rPr lang="en-US" sz="1500"/>
              <a:t>game room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500" i="1"/>
              <a:t>Vertex</a:t>
            </a:r>
            <a:r>
              <a:rPr lang="en-US" sz="1500"/>
              <a:t> is another term for </a:t>
            </a:r>
            <a:r>
              <a:rPr lang="en-US" sz="1500" i="1"/>
              <a:t>node</a:t>
            </a:r>
            <a:r>
              <a:rPr lang="en-US" sz="1500"/>
              <a:t>.</a:t>
            </a:r>
          </a:p>
        </p:txBody>
      </p:sp>
      <p:pic>
        <p:nvPicPr>
          <p:cNvPr id="13" name="Picture 12" descr="Pins pinned on a white surface and connecting a black thread">
            <a:extLst>
              <a:ext uri="{FF2B5EF4-FFF2-40B4-BE49-F238E27FC236}">
                <a16:creationId xmlns:a16="http://schemas.microsoft.com/office/drawing/2014/main" id="{D47EF8C1-FFC0-E690-A44C-BC893415C5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51" r="45966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634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7A678-0D7F-4245-50C7-0BFD11A4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7A5B5D-DBDF-F731-EA70-088C7061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Edge Or Link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2E5BC5-034A-741F-3609-72EC57C1E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48640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edge is a connection between nodes.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sidewalk between buildings</a:t>
            </a:r>
          </a:p>
          <a:p>
            <a:r>
              <a:rPr lang="en-US" dirty="0"/>
              <a:t>prerequisite relationship</a:t>
            </a:r>
          </a:p>
          <a:p>
            <a:r>
              <a:rPr lang="en-US" dirty="0"/>
              <a:t>communication link</a:t>
            </a:r>
          </a:p>
          <a:p>
            <a:r>
              <a:rPr lang="en-US" dirty="0"/>
              <a:t>workflow transition</a:t>
            </a:r>
          </a:p>
          <a:p>
            <a:r>
              <a:rPr lang="en-US" dirty="0"/>
              <a:t>door between rooms</a:t>
            </a:r>
          </a:p>
        </p:txBody>
      </p:sp>
      <p:pic>
        <p:nvPicPr>
          <p:cNvPr id="7" name="Picture 6" descr="Close-up of chain link">
            <a:extLst>
              <a:ext uri="{FF2B5EF4-FFF2-40B4-BE49-F238E27FC236}">
                <a16:creationId xmlns:a16="http://schemas.microsoft.com/office/drawing/2014/main" id="{9D47CA01-4340-D52B-DBC4-15A71836EB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18" r="39099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58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C81C2-D82B-C581-310F-59304A49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FA917F-95AD-2D1B-A152-98AE3FF87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Network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E37ACA-E701-46B2-163F-89BC0FCB2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48640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graph work, a network means:</a:t>
            </a:r>
          </a:p>
          <a:p>
            <a:r>
              <a:rPr lang="en-US" dirty="0"/>
              <a:t>defined nodes</a:t>
            </a:r>
          </a:p>
          <a:p>
            <a:r>
              <a:rPr lang="en-US" dirty="0"/>
              <a:t>defined edges</a:t>
            </a:r>
          </a:p>
          <a:p>
            <a:r>
              <a:rPr lang="en-US" dirty="0"/>
              <a:t>a model of relationships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does not mean "everything about the real system."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BF08B-2E35-EC1F-29DD-DC882082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96" r="19081" b="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81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10614-408C-98F8-98F7-A645C956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E4F7C3-CAB8-8C38-C090-ACF99514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Simple Graph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23C580-5BFD-0DE0-BA22-424BD7EB0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simple graph usually avoids:</a:t>
            </a:r>
          </a:p>
          <a:p>
            <a:r>
              <a:rPr lang="en-US" dirty="0"/>
              <a:t>duplicate edges</a:t>
            </a:r>
          </a:p>
          <a:p>
            <a:r>
              <a:rPr lang="en-US" dirty="0"/>
              <a:t>self-loops</a:t>
            </a:r>
          </a:p>
          <a:p>
            <a:r>
              <a:rPr lang="en-US" dirty="0"/>
              <a:t>extra edge complexity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often a good beginner model.</a:t>
            </a:r>
          </a:p>
        </p:txBody>
      </p:sp>
      <p:pic>
        <p:nvPicPr>
          <p:cNvPr id="7" name="Picture 6" descr="Yellow paper folded as graph">
            <a:extLst>
              <a:ext uri="{FF2B5EF4-FFF2-40B4-BE49-F238E27FC236}">
                <a16:creationId xmlns:a16="http://schemas.microsoft.com/office/drawing/2014/main" id="{F2D04DFD-6438-2255-1D54-C6B2741787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53" r="29464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3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E655B-D43B-008F-E4B9-B7CE4B9E9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484B6C-B7BE-1E34-635A-0A5BB7D55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Directed Graph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D8EA6B-8F08-D6BA-49F4-28E077DB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directed graph has one-way relationships.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course prerequisite</a:t>
            </a:r>
          </a:p>
          <a:p>
            <a:r>
              <a:rPr lang="en-US" dirty="0"/>
              <a:t>workflow step</a:t>
            </a:r>
          </a:p>
          <a:p>
            <a:r>
              <a:rPr lang="en-US" dirty="0"/>
              <a:t>escalation path</a:t>
            </a:r>
          </a:p>
          <a:p>
            <a:r>
              <a:rPr lang="en-US" dirty="0"/>
              <a:t>one-way route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Direction changes what can be reached.</a:t>
            </a:r>
          </a:p>
        </p:txBody>
      </p:sp>
      <p:pic>
        <p:nvPicPr>
          <p:cNvPr id="7" name="Picture 6" descr="Financial graphs on a dark display">
            <a:extLst>
              <a:ext uri="{FF2B5EF4-FFF2-40B4-BE49-F238E27FC236}">
                <a16:creationId xmlns:a16="http://schemas.microsoft.com/office/drawing/2014/main" id="{23286472-6C16-1D05-F42A-01F352823F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58" r="3446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44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BF2C8-FA2D-7B3A-FA19-2B1B23FBD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34A4BA-5050-C11B-1890-E4EB3E2F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Undirected Graph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A73EB7-57EE-6B3B-F85C-99B487D76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1" y="2160589"/>
            <a:ext cx="3447217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undirected graph has two-way relationships.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sidewalk between buildings</a:t>
            </a:r>
          </a:p>
          <a:p>
            <a:r>
              <a:rPr lang="en-US" dirty="0"/>
              <a:t>hallway between rooms</a:t>
            </a:r>
          </a:p>
          <a:p>
            <a:r>
              <a:rPr lang="en-US" dirty="0"/>
              <a:t>mutual connection</a:t>
            </a:r>
          </a:p>
          <a:p>
            <a:r>
              <a:rPr lang="en-US" dirty="0"/>
              <a:t>two-way transit route</a:t>
            </a:r>
          </a:p>
        </p:txBody>
      </p:sp>
      <p:pic>
        <p:nvPicPr>
          <p:cNvPr id="7" name="Picture 6" descr="A picture of an electromagnetic radiation">
            <a:extLst>
              <a:ext uri="{FF2B5EF4-FFF2-40B4-BE49-F238E27FC236}">
                <a16:creationId xmlns:a16="http://schemas.microsoft.com/office/drawing/2014/main" id="{4E5863F2-A87C-050E-5E54-A5E6D08320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791" r="29680" b="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35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5A2F2-C433-346E-B593-97C777B4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78905D-7982-3CCA-EA7C-B6EFE703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Weighted Graph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6E6C72-FCD5-04E4-7D26-D4EA11EE0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weighted graph adds a value to edges.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Weights may represent:</a:t>
            </a:r>
          </a:p>
          <a:p>
            <a:r>
              <a:rPr lang="en-US" dirty="0"/>
              <a:t>distance</a:t>
            </a:r>
          </a:p>
          <a:p>
            <a:r>
              <a:rPr lang="en-US" dirty="0"/>
              <a:t>time</a:t>
            </a:r>
          </a:p>
          <a:p>
            <a:r>
              <a:rPr lang="en-US" dirty="0"/>
              <a:t>cost</a:t>
            </a:r>
          </a:p>
          <a:p>
            <a:r>
              <a:rPr lang="en-US" dirty="0"/>
              <a:t>risk</a:t>
            </a:r>
          </a:p>
          <a:p>
            <a:r>
              <a:rPr lang="en-US" dirty="0"/>
              <a:t>strength of connection</a:t>
            </a:r>
          </a:p>
        </p:txBody>
      </p:sp>
      <p:pic>
        <p:nvPicPr>
          <p:cNvPr id="7" name="Picture 6" descr="Graph on document with pen">
            <a:extLst>
              <a:ext uri="{FF2B5EF4-FFF2-40B4-BE49-F238E27FC236}">
                <a16:creationId xmlns:a16="http://schemas.microsoft.com/office/drawing/2014/main" id="{6DF2AA94-AA1D-B808-9511-40797C0B7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70" r="23447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98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32F23-42FE-A530-1A47-773F5B01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1D6988-FD1B-174D-F3CF-168D0541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667E4E-0745-AEAF-1FC5-BDF3C216B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9091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adjacency list stores each node with its neighbors.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BFE39E-AD71-14D4-9D4C-BDAE176D5F2F}"/>
              </a:ext>
            </a:extLst>
          </p:cNvPr>
          <p:cNvSpPr txBox="1"/>
          <p:nvPr/>
        </p:nvSpPr>
        <p:spPr>
          <a:xfrm>
            <a:off x="1079862" y="3326087"/>
            <a:ext cx="5020492" cy="1200329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Parking: Library, Student Center</a:t>
            </a:r>
          </a:p>
          <a:p>
            <a:r>
              <a:rPr lang="en-US" dirty="0">
                <a:solidFill>
                  <a:schemeClr val="bg1"/>
                </a:solidFill>
              </a:rPr>
              <a:t>Library: Parking, Science Hall, Cafeteria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609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CBD8-5C72-4D77-9595-E9AC53361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09B004-0A1F-7318-2FD3-F29A3BEC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Adjacency List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D76EA90-D9F4-FE21-441E-B3AA163FB30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-370" b="-370"/>
          <a:stretch>
            <a:fillRect/>
          </a:stretch>
        </p:blipFill>
        <p:spPr>
          <a:xfrm>
            <a:off x="609599" y="609600"/>
            <a:ext cx="6347714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6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F208-64BB-2390-8BDC-552143C4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C119A3-B7CF-88F0-F810-50EA67E96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And Adjacency List Must Agree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86DE69-AD63-80D8-6F3A-7123B4BCA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2160590"/>
            <a:ext cx="6953795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Check the model both ways: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Does every diagram connection appear in the adjacency list?</a:t>
            </a:r>
          </a:p>
          <a:p>
            <a:r>
              <a:rPr lang="en-US" dirty="0"/>
              <a:t>Does every adjacency-list connection appear in the diagram?</a:t>
            </a:r>
          </a:p>
          <a:p>
            <a:r>
              <a:rPr lang="en-US" dirty="0"/>
              <a:t>Are directed edges shown clearly?</a:t>
            </a:r>
          </a:p>
          <a:p>
            <a:r>
              <a:rPr lang="en-US" dirty="0"/>
              <a:t>Are two-way edges listed both ways?</a:t>
            </a:r>
          </a:p>
        </p:txBody>
      </p:sp>
    </p:spTree>
    <p:extLst>
      <p:ext uri="{BB962C8B-B14F-4D97-AF65-F5344CB8AC3E}">
        <p14:creationId xmlns:p14="http://schemas.microsoft.com/office/powerpoint/2010/main" val="4031147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BAA33-FB21-9A05-7B93-3D2E016DF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BA6ABE-FC6E-4F46-24D9-9A2378F2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A Graph is a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699EAC-FB8F-6948-05D4-4A35460D8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656222" cy="38807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 graph may leave out:</a:t>
            </a:r>
          </a:p>
          <a:p>
            <a:r>
              <a:rPr lang="en-US" dirty="0"/>
              <a:t>distance</a:t>
            </a:r>
          </a:p>
          <a:p>
            <a:r>
              <a:rPr lang="en-US" dirty="0"/>
              <a:t>time</a:t>
            </a:r>
          </a:p>
          <a:p>
            <a:r>
              <a:rPr lang="en-US" dirty="0"/>
              <a:t>priority</a:t>
            </a:r>
          </a:p>
          <a:p>
            <a:r>
              <a:rPr lang="en-US" dirty="0"/>
              <a:t>capacity</a:t>
            </a:r>
          </a:p>
          <a:p>
            <a:r>
              <a:rPr lang="en-US" dirty="0"/>
              <a:t>direction</a:t>
            </a:r>
          </a:p>
          <a:p>
            <a:r>
              <a:rPr lang="en-US" dirty="0"/>
              <a:t>human judgment</a:t>
            </a:r>
          </a:p>
          <a:p>
            <a:r>
              <a:rPr lang="en-US" dirty="0"/>
              <a:t>real-world messiness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model is useful, but incomplete.</a:t>
            </a:r>
          </a:p>
        </p:txBody>
      </p:sp>
      <p:pic>
        <p:nvPicPr>
          <p:cNvPr id="7" name="Picture 6" descr="Six pins pointed on several spots on a road map">
            <a:extLst>
              <a:ext uri="{FF2B5EF4-FFF2-40B4-BE49-F238E27FC236}">
                <a16:creationId xmlns:a16="http://schemas.microsoft.com/office/drawing/2014/main" id="{792AB7B5-FC0D-D198-37BF-6F6150CC99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45" r="32672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93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933D6-8AAA-A784-D09B-89A53BC9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02D3182-625F-1F74-DCD5-FCF1296C9F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10" t="9091" r="4497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724D69-D02B-28A9-667C-5341E345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1678666"/>
            <a:ext cx="3066142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/>
              <a:t>Network</a:t>
            </a:r>
            <a:br>
              <a:rPr lang="en-US" sz="4200"/>
            </a:br>
            <a:r>
              <a:rPr lang="en-US" sz="4200"/>
              <a:t>Analysis</a:t>
            </a:r>
            <a:br>
              <a:rPr lang="en-US" sz="4200"/>
            </a:br>
            <a:r>
              <a:rPr lang="en-US" sz="4200"/>
              <a:t>Orientation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1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84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377FC-CE1E-ABA9-D28C-6ED76022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CDEA3A-9C28-E021-DB3C-1F9B742C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sz="3300"/>
              <a:t>Neighborhood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A67D34-CCA6-C3BF-4F71-5E2D2FB9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neighborhood is what can be reached near a node.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Think:</a:t>
            </a:r>
          </a:p>
          <a:p>
            <a:r>
              <a:rPr lang="en-US" dirty="0"/>
              <a:t>direct neighbors</a:t>
            </a:r>
          </a:p>
          <a:p>
            <a:r>
              <a:rPr lang="en-US" dirty="0"/>
              <a:t>one hop away</a:t>
            </a:r>
          </a:p>
          <a:p>
            <a:r>
              <a:rPr lang="en-US" dirty="0"/>
              <a:t>two hops away</a:t>
            </a:r>
          </a:p>
          <a:p>
            <a:r>
              <a:rPr lang="en-US" dirty="0"/>
              <a:t>beyond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Houses in a subdivision">
            <a:extLst>
              <a:ext uri="{FF2B5EF4-FFF2-40B4-BE49-F238E27FC236}">
                <a16:creationId xmlns:a16="http://schemas.microsoft.com/office/drawing/2014/main" id="{EFECB7E5-F89E-A95F-C718-B1062409E3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07" r="2441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02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5E486-B7B7-A16F-B4DE-225E11F0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network formed by white dots">
            <a:extLst>
              <a:ext uri="{FF2B5EF4-FFF2-40B4-BE49-F238E27FC236}">
                <a16:creationId xmlns:a16="http://schemas.microsoft.com/office/drawing/2014/main" id="{63D420EE-67BB-4B5D-B1C4-7464114252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89" r="-1" b="-1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B1D19F3-78DB-DD2B-37AC-2615870BB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sz="3300"/>
              <a:t>Ego-Centered Network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0651CB-F6A5-FCFA-19B7-495CA31BA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An ego-centered network starts with one focal node.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It asks: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who or what is directly connected?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what is one hop away?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what is two hops away?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what pattern surrounds this node?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10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765B1B-4CBB-909C-933F-751E26F8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D078C-491E-78ED-F5EB-F44DFDDD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Shortest Path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26A855-86F1-E77A-6276-976804832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Shortest path asks:</a:t>
            </a:r>
          </a:p>
          <a:p>
            <a:r>
              <a:rPr lang="en-US" dirty="0"/>
              <a:t>what route uses the fewest steps?</a:t>
            </a:r>
          </a:p>
          <a:p>
            <a:r>
              <a:rPr lang="en-US" dirty="0"/>
              <a:t>what route has the lowest cost?</a:t>
            </a:r>
          </a:p>
          <a:p>
            <a:r>
              <a:rPr lang="en-US" dirty="0"/>
              <a:t>what route reaches the target most directly?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answer depends on the model.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White arrows going to the red target">
            <a:extLst>
              <a:ext uri="{FF2B5EF4-FFF2-40B4-BE49-F238E27FC236}">
                <a16:creationId xmlns:a16="http://schemas.microsoft.com/office/drawing/2014/main" id="{B3405E0C-BDED-BB70-D681-499C8A3E9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35" r="12482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5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E681-386E-C584-8703-D1E0E6E56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852E07-94C9-C5EC-9763-1912D86F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Shortest Path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A133932-501D-9B37-C25F-2F0035A0581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-211" b="-211"/>
          <a:stretch>
            <a:fillRect/>
          </a:stretch>
        </p:blipFill>
        <p:spPr>
          <a:xfrm>
            <a:off x="609599" y="609599"/>
            <a:ext cx="6347714" cy="413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0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61AD9-ADFA-3F92-BF0F-B4800975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igures of houses in different position and sizes">
            <a:extLst>
              <a:ext uri="{FF2B5EF4-FFF2-40B4-BE49-F238E27FC236}">
                <a16:creationId xmlns:a16="http://schemas.microsoft.com/office/drawing/2014/main" id="{7C3B4ED3-7767-EDF9-20F5-235FB2B9D7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87" r="34380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0233F89-4F5C-281B-2051-CDF38036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sz="3300"/>
              <a:t>Creating A Neighborhood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0CD89-B530-63FA-1955-9448DD31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create a neighborhood: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choose a start node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direct neighbors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neighbors of neighbors</a:t>
            </a:r>
          </a:p>
          <a:p>
            <a:pPr>
              <a:buFont typeface="+mj-lt"/>
              <a:buAutoNum type="arabicPeriod"/>
            </a:pPr>
            <a:r>
              <a:rPr lang="en-US" dirty="0"/>
              <a:t>decide how far to expand</a:t>
            </a:r>
          </a:p>
          <a:p>
            <a:pPr>
              <a:buFont typeface="+mj-lt"/>
              <a:buAutoNum type="arabicPeriod"/>
            </a:pPr>
            <a:r>
              <a:rPr lang="en-US" dirty="0"/>
              <a:t>state what the neighborhood means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99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757D7-06C2-A27B-EA07-1BC7DE63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85736C-1287-07EF-849A-C9C58271D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88" r="36181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674807B-CE40-5388-2CE9-A24CBC98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Optional Metrics: </a:t>
            </a:r>
            <a:br>
              <a:rPr lang="en-US" sz="2800"/>
            </a:br>
            <a:r>
              <a:rPr lang="en-US" sz="2800" i="1"/>
              <a:t>Recognition Only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F65988-0977-BAF4-1C99-611997381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/>
              <a:t>The optional reading includes: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triangle</a:t>
            </a:r>
          </a:p>
          <a:p>
            <a:pPr>
              <a:lnSpc>
                <a:spcPct val="90000"/>
              </a:lnSpc>
            </a:pPr>
            <a:r>
              <a:rPr lang="en-US" sz="1500"/>
              <a:t>density</a:t>
            </a:r>
          </a:p>
          <a:p>
            <a:pPr>
              <a:lnSpc>
                <a:spcPct val="90000"/>
              </a:lnSpc>
            </a:pPr>
            <a:r>
              <a:rPr lang="en-US" sz="1500"/>
              <a:t>degree</a:t>
            </a:r>
          </a:p>
          <a:p>
            <a:pPr>
              <a:lnSpc>
                <a:spcPct val="90000"/>
              </a:lnSpc>
            </a:pPr>
            <a:r>
              <a:rPr lang="en-US" sz="1500"/>
              <a:t>betweenness</a:t>
            </a:r>
          </a:p>
          <a:p>
            <a:pPr>
              <a:lnSpc>
                <a:spcPct val="90000"/>
              </a:lnSpc>
            </a:pPr>
            <a:r>
              <a:rPr lang="en-US" sz="1500"/>
              <a:t>closeness</a:t>
            </a:r>
          </a:p>
          <a:p>
            <a:pPr>
              <a:lnSpc>
                <a:spcPct val="90000"/>
              </a:lnSpc>
            </a:pPr>
            <a:r>
              <a:rPr lang="en-US" sz="1500"/>
              <a:t>eigenvector centrality</a:t>
            </a:r>
          </a:p>
          <a:p>
            <a:pPr marL="0" indent="0">
              <a:lnSpc>
                <a:spcPct val="90000"/>
              </a:lnSpc>
              <a:buNone/>
            </a:pPr>
            <a:endParaRPr lang="en-US" sz="1500"/>
          </a:p>
          <a:p>
            <a:pPr marL="0" indent="0">
              <a:lnSpc>
                <a:spcPct val="90000"/>
              </a:lnSpc>
              <a:buNone/>
            </a:pPr>
            <a:r>
              <a:rPr lang="en-US" sz="1500" i="1"/>
              <a:t>For this course: recognize the ideas.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65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DFEED-2053-2B14-0CA8-FEC4B814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9D3471-22AF-B212-EF00-CFAC5C7F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Degree And Density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00D686-DA6D-4E28-60B9-6AA269C62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Degree:</a:t>
            </a:r>
          </a:p>
          <a:p>
            <a:r>
              <a:rPr lang="en-US" dirty="0"/>
              <a:t>How many edges connect to a node?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Density:</a:t>
            </a:r>
          </a:p>
          <a:p>
            <a:r>
              <a:rPr lang="en-US" dirty="0"/>
              <a:t>How many possible connections actually exist?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Both describe structure.</a:t>
            </a:r>
          </a:p>
        </p:txBody>
      </p:sp>
      <p:pic>
        <p:nvPicPr>
          <p:cNvPr id="7" name="Picture 6" descr="Hand with red strings">
            <a:extLst>
              <a:ext uri="{FF2B5EF4-FFF2-40B4-BE49-F238E27FC236}">
                <a16:creationId xmlns:a16="http://schemas.microsoft.com/office/drawing/2014/main" id="{615B9472-1A1A-74EA-3B82-E89337FF0C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02" r="28315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95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BC6C1-39EF-2588-8098-1BF7A37E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F0A14C-8BDE-44AF-876A-ADC55556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833" y="609600"/>
            <a:ext cx="2387667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Centrality Is Not Importance By Itself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080414-5FF0-BF7D-A9EF-B3848FE5A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0807" y="2160589"/>
            <a:ext cx="2382442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/>
              <a:t>Centrality measures estimate structural position.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/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They do not automatically prove:</a:t>
            </a:r>
          </a:p>
          <a:p>
            <a:pPr>
              <a:lnSpc>
                <a:spcPct val="90000"/>
              </a:lnSpc>
            </a:pPr>
            <a:r>
              <a:rPr lang="en-US" sz="1300"/>
              <a:t>value</a:t>
            </a:r>
          </a:p>
          <a:p>
            <a:pPr>
              <a:lnSpc>
                <a:spcPct val="90000"/>
              </a:lnSpc>
            </a:pPr>
            <a:r>
              <a:rPr lang="en-US" sz="1300"/>
              <a:t>authority</a:t>
            </a:r>
          </a:p>
          <a:p>
            <a:pPr>
              <a:lnSpc>
                <a:spcPct val="90000"/>
              </a:lnSpc>
            </a:pPr>
            <a:r>
              <a:rPr lang="en-US" sz="1300"/>
              <a:t>quality</a:t>
            </a:r>
          </a:p>
          <a:p>
            <a:pPr>
              <a:lnSpc>
                <a:spcPct val="90000"/>
              </a:lnSpc>
            </a:pPr>
            <a:r>
              <a:rPr lang="en-US" sz="1300"/>
              <a:t>fairness</a:t>
            </a:r>
          </a:p>
          <a:p>
            <a:pPr>
              <a:lnSpc>
                <a:spcPct val="90000"/>
              </a:lnSpc>
            </a:pPr>
            <a:r>
              <a:rPr lang="en-US" sz="1300"/>
              <a:t>truth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/>
          </a:p>
          <a:p>
            <a:pPr marL="0" indent="0">
              <a:lnSpc>
                <a:spcPct val="90000"/>
              </a:lnSpc>
              <a:buNone/>
            </a:pPr>
            <a:r>
              <a:rPr lang="en-US" sz="1300"/>
              <a:t>Metrics need interpretation.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/>
          </a:p>
        </p:txBody>
      </p:sp>
      <p:pic>
        <p:nvPicPr>
          <p:cNvPr id="7" name="Picture 6" descr="A digital balance scale using circles">
            <a:extLst>
              <a:ext uri="{FF2B5EF4-FFF2-40B4-BE49-F238E27FC236}">
                <a16:creationId xmlns:a16="http://schemas.microsoft.com/office/drawing/2014/main" id="{D6F8EED4-3ACE-FE49-2E5E-C05377728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62" r="30844" b="1"/>
          <a:stretch>
            <a:fillRect/>
          </a:stretch>
        </p:blipFill>
        <p:spPr>
          <a:xfrm>
            <a:off x="953589" y="804672"/>
            <a:ext cx="3089787" cy="523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51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 descr="An early morning coffee with bread and a newspaper on top of the table">
            <a:extLst>
              <a:ext uri="{FF2B5EF4-FFF2-40B4-BE49-F238E27FC236}">
                <a16:creationId xmlns:a16="http://schemas.microsoft.com/office/drawing/2014/main" id="{2CA68A41-59AC-F3FD-75C1-FCADEBC3CA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73" r="33544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908760-A3AD-E66A-3E04-035F758D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Break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4AA2D-3713-F440-C083-19BB24F18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5422" y="4050833"/>
            <a:ext cx="2920080" cy="10968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800" dirty="0"/>
              <a:t>10 Minute “Human” </a:t>
            </a:r>
            <a:br>
              <a:rPr lang="en-US" sz="1800" dirty="0"/>
            </a:br>
            <a:r>
              <a:rPr lang="en-US" sz="1800" dirty="0"/>
              <a:t>bio-break</a:t>
            </a:r>
          </a:p>
        </p:txBody>
      </p:sp>
    </p:spTree>
    <p:extLst>
      <p:ext uri="{BB962C8B-B14F-4D97-AF65-F5344CB8AC3E}">
        <p14:creationId xmlns:p14="http://schemas.microsoft.com/office/powerpoint/2010/main" val="12444076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081EEEC-7400-E37E-0DC8-16511E04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224750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Graph Traversals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Graphic 7" descr="Upward trend">
            <a:extLst>
              <a:ext uri="{FF2B5EF4-FFF2-40B4-BE49-F238E27FC236}">
                <a16:creationId xmlns:a16="http://schemas.microsoft.com/office/drawing/2014/main" id="{9FEF5BA6-C825-B12C-5AC2-9C85D5853D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53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E8F29-914B-2E2D-A7E3-34648E86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EC6F44-244F-D171-CC35-58D040CF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Traversal</a:t>
            </a:r>
          </a:p>
        </p:txBody>
      </p:sp>
      <p:pic>
        <p:nvPicPr>
          <p:cNvPr id="7" name="Picture 6" descr="Web of wires connecting pins">
            <a:extLst>
              <a:ext uri="{FF2B5EF4-FFF2-40B4-BE49-F238E27FC236}">
                <a16:creationId xmlns:a16="http://schemas.microsoft.com/office/drawing/2014/main" id="{E7B15B35-7316-A372-CCCE-FF857E9791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80" r="37137" b="-2"/>
          <a:stretch>
            <a:fillRect/>
          </a:stretch>
        </p:blipFill>
        <p:spPr>
          <a:xfrm>
            <a:off x="654258" y="1168399"/>
            <a:ext cx="2719940" cy="4610101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074AB-37C7-633D-8D42-6F739E8A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Traversal means visiting nodes by following edges.</a:t>
            </a:r>
          </a:p>
          <a:p>
            <a:pPr marL="0" indent="0">
              <a:buNone/>
            </a:pP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Traversal depends on:</a:t>
            </a:r>
          </a:p>
          <a:p>
            <a:r>
              <a:rPr lang="en-US">
                <a:solidFill>
                  <a:srgbClr val="FFFFFF"/>
                </a:solidFill>
              </a:rPr>
              <a:t>start node</a:t>
            </a:r>
          </a:p>
          <a:p>
            <a:r>
              <a:rPr lang="en-US">
                <a:solidFill>
                  <a:srgbClr val="FFFFFF"/>
                </a:solidFill>
              </a:rPr>
              <a:t>graph structure</a:t>
            </a:r>
          </a:p>
          <a:p>
            <a:r>
              <a:rPr lang="en-US">
                <a:solidFill>
                  <a:srgbClr val="FFFFFF"/>
                </a:solidFill>
              </a:rPr>
              <a:t>neighbor order</a:t>
            </a:r>
          </a:p>
          <a:p>
            <a:r>
              <a:rPr lang="en-US">
                <a:solidFill>
                  <a:srgbClr val="FFFFFF"/>
                </a:solidFill>
              </a:rPr>
              <a:t>traversal method</a:t>
            </a:r>
          </a:p>
        </p:txBody>
      </p:sp>
    </p:spTree>
    <p:extLst>
      <p:ext uri="{BB962C8B-B14F-4D97-AF65-F5344CB8AC3E}">
        <p14:creationId xmlns:p14="http://schemas.microsoft.com/office/powerpoint/2010/main" val="31241945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2F28A-BCF7-2FB1-E8F3-CDCE3A16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853602DA-C201-6BF4-7315-0A14667B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Breadth-First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FE0A60-8C99-ED0A-2131-FBCBB358C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BFS explores outward by layers.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tends to visit:</a:t>
            </a:r>
          </a:p>
          <a:p>
            <a:r>
              <a:rPr lang="en-US" dirty="0"/>
              <a:t>the start node</a:t>
            </a:r>
          </a:p>
          <a:p>
            <a:r>
              <a:rPr lang="en-US" dirty="0"/>
              <a:t>direct neighbors</a:t>
            </a:r>
          </a:p>
          <a:p>
            <a:r>
              <a:rPr lang="en-US" dirty="0"/>
              <a:t>neighbors of neighbors</a:t>
            </a:r>
          </a:p>
          <a:p>
            <a:r>
              <a:rPr lang="en-US" dirty="0"/>
              <a:t>later layers</a:t>
            </a:r>
          </a:p>
        </p:txBody>
      </p:sp>
    </p:spTree>
    <p:extLst>
      <p:ext uri="{BB962C8B-B14F-4D97-AF65-F5344CB8AC3E}">
        <p14:creationId xmlns:p14="http://schemas.microsoft.com/office/powerpoint/2010/main" val="22090561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B8670-155C-89DA-8784-6D5CF7B3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A7BF25D-8E1E-99B0-C6FA-FE1DB5D2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49" y="4571999"/>
            <a:ext cx="575535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BFS Evidence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C795EC2-A380-6A5F-BA86-42556E1B0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686457"/>
              </p:ext>
            </p:extLst>
          </p:nvPr>
        </p:nvGraphicFramePr>
        <p:xfrm>
          <a:off x="1200150" y="1369274"/>
          <a:ext cx="5718874" cy="2123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845">
                  <a:extLst>
                    <a:ext uri="{9D8B030D-6E8A-4147-A177-3AD203B41FA5}">
                      <a16:colId xmlns:a16="http://schemas.microsoft.com/office/drawing/2014/main" val="4243553885"/>
                    </a:ext>
                  </a:extLst>
                </a:gridCol>
                <a:gridCol w="1543477">
                  <a:extLst>
                    <a:ext uri="{9D8B030D-6E8A-4147-A177-3AD203B41FA5}">
                      <a16:colId xmlns:a16="http://schemas.microsoft.com/office/drawing/2014/main" val="2191347124"/>
                    </a:ext>
                  </a:extLst>
                </a:gridCol>
                <a:gridCol w="1616283">
                  <a:extLst>
                    <a:ext uri="{9D8B030D-6E8A-4147-A177-3AD203B41FA5}">
                      <a16:colId xmlns:a16="http://schemas.microsoft.com/office/drawing/2014/main" val="1268058076"/>
                    </a:ext>
                  </a:extLst>
                </a:gridCol>
                <a:gridCol w="1434269">
                  <a:extLst>
                    <a:ext uri="{9D8B030D-6E8A-4147-A177-3AD203B41FA5}">
                      <a16:colId xmlns:a16="http://schemas.microsoft.com/office/drawing/2014/main" val="1136902586"/>
                    </a:ext>
                  </a:extLst>
                </a:gridCol>
              </a:tblGrid>
              <a:tr h="969770">
                <a:tc>
                  <a:txBody>
                    <a:bodyPr/>
                    <a:lstStyle/>
                    <a:p>
                      <a:r>
                        <a:rPr lang="en-US" sz="2600"/>
                        <a:t>Step</a:t>
                      </a:r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Current Node</a:t>
                      </a:r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QUEUE State</a:t>
                      </a:r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Visited Nodes</a:t>
                      </a:r>
                    </a:p>
                  </a:txBody>
                  <a:tcPr marL="131050" marR="131050" marT="65525" marB="65525"/>
                </a:tc>
                <a:extLst>
                  <a:ext uri="{0D108BD9-81ED-4DB2-BD59-A6C34878D82A}">
                    <a16:rowId xmlns:a16="http://schemas.microsoft.com/office/drawing/2014/main" val="3203106860"/>
                  </a:ext>
                </a:extLst>
              </a:tr>
              <a:tr h="576620">
                <a:tc>
                  <a:txBody>
                    <a:bodyPr/>
                    <a:lstStyle/>
                    <a:p>
                      <a:r>
                        <a:rPr lang="en-US" sz="2600"/>
                        <a:t>1</a:t>
                      </a:r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1050" marR="131050" marT="65525" marB="65525"/>
                </a:tc>
                <a:extLst>
                  <a:ext uri="{0D108BD9-81ED-4DB2-BD59-A6C34878D82A}">
                    <a16:rowId xmlns:a16="http://schemas.microsoft.com/office/drawing/2014/main" val="1463337603"/>
                  </a:ext>
                </a:extLst>
              </a:tr>
              <a:tr h="576620">
                <a:tc>
                  <a:txBody>
                    <a:bodyPr/>
                    <a:lstStyle/>
                    <a:p>
                      <a:r>
                        <a:rPr lang="en-US" sz="2600"/>
                        <a:t>2 …</a:t>
                      </a:r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1050" marR="131050" marT="65525" marB="65525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1050" marR="131050" marT="65525" marB="65525"/>
                </a:tc>
                <a:extLst>
                  <a:ext uri="{0D108BD9-81ED-4DB2-BD59-A6C34878D82A}">
                    <a16:rowId xmlns:a16="http://schemas.microsoft.com/office/drawing/2014/main" val="1407152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7181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AB416-69C6-1729-DDEE-0650EF4E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9CCAE1-E669-51A0-7C5F-30780747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BFS Evidence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969B153-55E2-5C77-3C56-F1CEFEF5F41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058" b="1058"/>
          <a:stretch>
            <a:fillRect/>
          </a:stretch>
        </p:blipFill>
        <p:spPr>
          <a:xfrm>
            <a:off x="609599" y="609600"/>
            <a:ext cx="6347714" cy="402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8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7D87F-72DF-D355-B520-9888DB22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61E6E37F-29AF-C45F-787B-2BB0F361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Depth-First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F450EF-AB40-2D9F-02C9-AEB0651B0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DFS follows a path deeply before backing up.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tends to:</a:t>
            </a:r>
          </a:p>
          <a:p>
            <a:r>
              <a:rPr lang="en-US" dirty="0"/>
              <a:t>choose a neighbor</a:t>
            </a:r>
          </a:p>
          <a:p>
            <a:r>
              <a:rPr lang="en-US" dirty="0"/>
              <a:t>continue from that neighbor</a:t>
            </a:r>
          </a:p>
          <a:p>
            <a:r>
              <a:rPr lang="en-US" dirty="0"/>
              <a:t>keep going until it cannot</a:t>
            </a:r>
          </a:p>
          <a:p>
            <a:r>
              <a:rPr lang="en-US" dirty="0"/>
              <a:t>backtrack and try another path</a:t>
            </a:r>
          </a:p>
        </p:txBody>
      </p:sp>
    </p:spTree>
    <p:extLst>
      <p:ext uri="{BB962C8B-B14F-4D97-AF65-F5344CB8AC3E}">
        <p14:creationId xmlns:p14="http://schemas.microsoft.com/office/powerpoint/2010/main" val="3052192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D79A8-5744-CC9E-D287-A5751D4E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E056EDAA-4D07-1925-215C-78671E827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49" y="4571999"/>
            <a:ext cx="575535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DFS Evidence</a:t>
            </a:r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82DF82B9-63DB-55BE-AD3F-385224C3DE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3418430"/>
              </p:ext>
            </p:extLst>
          </p:nvPr>
        </p:nvGraphicFramePr>
        <p:xfrm>
          <a:off x="1200150" y="1355586"/>
          <a:ext cx="5718874" cy="2150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350">
                  <a:extLst>
                    <a:ext uri="{9D8B030D-6E8A-4147-A177-3AD203B41FA5}">
                      <a16:colId xmlns:a16="http://schemas.microsoft.com/office/drawing/2014/main" val="4243553885"/>
                    </a:ext>
                  </a:extLst>
                </a:gridCol>
                <a:gridCol w="1563380">
                  <a:extLst>
                    <a:ext uri="{9D8B030D-6E8A-4147-A177-3AD203B41FA5}">
                      <a16:colId xmlns:a16="http://schemas.microsoft.com/office/drawing/2014/main" val="2191347124"/>
                    </a:ext>
                  </a:extLst>
                </a:gridCol>
                <a:gridCol w="1563380">
                  <a:extLst>
                    <a:ext uri="{9D8B030D-6E8A-4147-A177-3AD203B41FA5}">
                      <a16:colId xmlns:a16="http://schemas.microsoft.com/office/drawing/2014/main" val="1268058076"/>
                    </a:ext>
                  </a:extLst>
                </a:gridCol>
                <a:gridCol w="1452764">
                  <a:extLst>
                    <a:ext uri="{9D8B030D-6E8A-4147-A177-3AD203B41FA5}">
                      <a16:colId xmlns:a16="http://schemas.microsoft.com/office/drawing/2014/main" val="1136902586"/>
                    </a:ext>
                  </a:extLst>
                </a:gridCol>
              </a:tblGrid>
              <a:tr h="982275">
                <a:tc>
                  <a:txBody>
                    <a:bodyPr/>
                    <a:lstStyle/>
                    <a:p>
                      <a:r>
                        <a:rPr lang="en-US" sz="2600"/>
                        <a:t>Step</a:t>
                      </a:r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Current Node</a:t>
                      </a:r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STACK State</a:t>
                      </a:r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Visited Nodes</a:t>
                      </a:r>
                    </a:p>
                  </a:txBody>
                  <a:tcPr marL="132740" marR="132740" marT="66370" marB="66370"/>
                </a:tc>
                <a:extLst>
                  <a:ext uri="{0D108BD9-81ED-4DB2-BD59-A6C34878D82A}">
                    <a16:rowId xmlns:a16="http://schemas.microsoft.com/office/drawing/2014/main" val="3203106860"/>
                  </a:ext>
                </a:extLst>
              </a:tr>
              <a:tr h="584056">
                <a:tc>
                  <a:txBody>
                    <a:bodyPr/>
                    <a:lstStyle/>
                    <a:p>
                      <a:r>
                        <a:rPr lang="en-US" sz="2600"/>
                        <a:t>1</a:t>
                      </a:r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2740" marR="132740" marT="66370" marB="66370"/>
                </a:tc>
                <a:extLst>
                  <a:ext uri="{0D108BD9-81ED-4DB2-BD59-A6C34878D82A}">
                    <a16:rowId xmlns:a16="http://schemas.microsoft.com/office/drawing/2014/main" val="1463337603"/>
                  </a:ext>
                </a:extLst>
              </a:tr>
              <a:tr h="584056">
                <a:tc>
                  <a:txBody>
                    <a:bodyPr/>
                    <a:lstStyle/>
                    <a:p>
                      <a:r>
                        <a:rPr lang="en-US" sz="2600"/>
                        <a:t>2 …</a:t>
                      </a:r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2740" marR="132740" marT="66370" marB="66370"/>
                </a:tc>
                <a:tc>
                  <a:txBody>
                    <a:bodyPr/>
                    <a:lstStyle/>
                    <a:p>
                      <a:endParaRPr lang="en-US" sz="2600"/>
                    </a:p>
                  </a:txBody>
                  <a:tcPr marL="132740" marR="132740" marT="66370" marB="66370"/>
                </a:tc>
                <a:extLst>
                  <a:ext uri="{0D108BD9-81ED-4DB2-BD59-A6C34878D82A}">
                    <a16:rowId xmlns:a16="http://schemas.microsoft.com/office/drawing/2014/main" val="1407152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0669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1F254-1C4B-1FF3-3B8D-7F4A82CF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E85B55-DCB6-DAF3-31AB-84FCE13A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7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DFS Evidence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D9258C6-7B1B-B78D-18F1-120158882AD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582" b="582"/>
          <a:stretch>
            <a:fillRect/>
          </a:stretch>
        </p:blipFill>
        <p:spPr>
          <a:xfrm>
            <a:off x="609599" y="609599"/>
            <a:ext cx="6347714" cy="406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9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C99D0-6459-B0D6-2BB3-7F9D848A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5CA5488E-5214-A5B7-F740-40A2B15C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49" y="4571999"/>
            <a:ext cx="575535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/>
              <a:t>BFS vs DFS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75FD774-D085-66DB-E490-884D7E7C52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96638"/>
              </p:ext>
            </p:extLst>
          </p:nvPr>
        </p:nvGraphicFramePr>
        <p:xfrm>
          <a:off x="1200150" y="1041966"/>
          <a:ext cx="5718873" cy="277762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675860">
                  <a:extLst>
                    <a:ext uri="{9D8B030D-6E8A-4147-A177-3AD203B41FA5}">
                      <a16:colId xmlns:a16="http://schemas.microsoft.com/office/drawing/2014/main" val="4258528839"/>
                    </a:ext>
                  </a:extLst>
                </a:gridCol>
                <a:gridCol w="2101623">
                  <a:extLst>
                    <a:ext uri="{9D8B030D-6E8A-4147-A177-3AD203B41FA5}">
                      <a16:colId xmlns:a16="http://schemas.microsoft.com/office/drawing/2014/main" val="4144064784"/>
                    </a:ext>
                  </a:extLst>
                </a:gridCol>
                <a:gridCol w="1941390">
                  <a:extLst>
                    <a:ext uri="{9D8B030D-6E8A-4147-A177-3AD203B41FA5}">
                      <a16:colId xmlns:a16="http://schemas.microsoft.com/office/drawing/2014/main" val="870659709"/>
                    </a:ext>
                  </a:extLst>
                </a:gridCol>
              </a:tblGrid>
              <a:tr h="628482"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Question</a:t>
                      </a:r>
                    </a:p>
                  </a:txBody>
                  <a:tcPr marL="92294" marR="131849" marT="26370" marB="1977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b="1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BFS</a:t>
                      </a:r>
                    </a:p>
                  </a:txBody>
                  <a:tcPr marL="92294" marR="131849" marT="26370" marB="1977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DFS</a:t>
                      </a:r>
                    </a:p>
                  </a:txBody>
                  <a:tcPr marL="92294" marR="131849" marT="26370" marB="19777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78731"/>
                  </a:ext>
                </a:extLst>
              </a:tr>
              <a:tr h="5405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Explores how?</a:t>
                      </a:r>
                    </a:p>
                  </a:txBody>
                  <a:tcPr marL="92294" marR="131849" marT="26370" marB="197774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outward by layers</a:t>
                      </a:r>
                    </a:p>
                  </a:txBody>
                  <a:tcPr marL="92294" marR="131849" marT="26370" marB="19777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deeply by path</a:t>
                      </a:r>
                    </a:p>
                  </a:txBody>
                  <a:tcPr marL="92294" marR="131849" marT="26370" marB="19777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404523"/>
                  </a:ext>
                </a:extLst>
              </a:tr>
              <a:tr h="804281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Common state</a:t>
                      </a:r>
                    </a:p>
                  </a:txBody>
                  <a:tcPr marL="92294" marR="131849" marT="26370" marB="197774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queue</a:t>
                      </a:r>
                    </a:p>
                  </a:txBody>
                  <a:tcPr marL="92294" marR="131849" marT="26370" marB="19777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stack or call stack</a:t>
                      </a:r>
                    </a:p>
                  </a:txBody>
                  <a:tcPr marL="92294" marR="131849" marT="26370" marB="19777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974898"/>
                  </a:ext>
                </a:extLst>
              </a:tr>
              <a:tr h="804281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Useful for</a:t>
                      </a:r>
                    </a:p>
                  </a:txBody>
                  <a:tcPr marL="92294" marR="131849" marT="26370" marB="197774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near/reachable layers</a:t>
                      </a:r>
                    </a:p>
                  </a:txBody>
                  <a:tcPr marL="92294" marR="131849" marT="26370" marB="19777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path exploration</a:t>
                      </a:r>
                    </a:p>
                  </a:txBody>
                  <a:tcPr marL="92294" marR="131849" marT="26370" marB="19777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4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6505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765CB-A3F5-01D2-ADA0-150A50445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D7EAB0-E5EF-4DFB-AECF-5E1226CD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Neighbor Order Matters</a:t>
            </a:r>
          </a:p>
        </p:txBody>
      </p:sp>
      <p:pic>
        <p:nvPicPr>
          <p:cNvPr id="9" name="Graphic 8" descr="Relationship">
            <a:extLst>
              <a:ext uri="{FF2B5EF4-FFF2-40B4-BE49-F238E27FC236}">
                <a16:creationId xmlns:a16="http://schemas.microsoft.com/office/drawing/2014/main" id="{2B1FC80A-F7E9-C286-C20E-CCC27C783F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38" y="2027159"/>
            <a:ext cx="2892580" cy="28925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2912E1-3BB1-525E-2091-80F8FF39A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>
                <a:solidFill>
                  <a:srgbClr val="FFFFFF"/>
                </a:solidFill>
              </a:rPr>
              <a:t>Traversal order can change when: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the start node changes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the neighbor order changes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the graph is directed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the traversal method changes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>
                <a:solidFill>
                  <a:srgbClr val="FFFFFF"/>
                </a:solidFill>
              </a:rPr>
              <a:t>The evidence should name the conditions.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0266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705E17-377F-229E-4ABA-0F8370C8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3B55E9D-F8B4-2108-F50A-AB3556A56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51" r="25916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6163072-D4BE-477E-AD5F-FDF26E723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1678666"/>
            <a:ext cx="3066142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/>
              <a:t>Optional Network Context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317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19C98-7CCA-8C3D-C3E2-C2B3A031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inancial graphs on a dark display">
            <a:extLst>
              <a:ext uri="{FF2B5EF4-FFF2-40B4-BE49-F238E27FC236}">
                <a16:creationId xmlns:a16="http://schemas.microsoft.com/office/drawing/2014/main" id="{FC67EB30-CC56-FA63-B7B0-495898C3FB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22" r="25830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B17B991-6580-709D-685D-51F948FA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dirty="0"/>
              <a:t>Visualizing A Graph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087D6C-17BA-2D72-11EC-086A47BF0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graph can be shown as: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diagram</a:t>
            </a:r>
          </a:p>
          <a:p>
            <a:r>
              <a:rPr lang="en-US" dirty="0"/>
              <a:t>adjacency list</a:t>
            </a:r>
          </a:p>
          <a:p>
            <a:r>
              <a:rPr lang="en-US" dirty="0"/>
              <a:t>traversal table</a:t>
            </a:r>
          </a:p>
          <a:p>
            <a:r>
              <a:rPr lang="en-US" dirty="0"/>
              <a:t>Python output</a:t>
            </a:r>
          </a:p>
          <a:p>
            <a:r>
              <a:rPr lang="en-US" dirty="0"/>
              <a:t>library visualization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view reveals something different.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592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A66AC-E09C-29F5-F443-E8213B31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C9DDBD-991C-AC9B-5F99-5D35A12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Social Network Analysis Context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F83BAD-8687-E2A0-5000-E1F142EFE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695411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Social network analysis uses graphs to study relationships.</a:t>
            </a:r>
          </a:p>
          <a:p>
            <a:pPr marL="0" indent="0">
              <a:buNone/>
            </a:pPr>
            <a:r>
              <a:rPr lang="en-US" dirty="0"/>
              <a:t>It may ask:</a:t>
            </a:r>
          </a:p>
          <a:p>
            <a:r>
              <a:rPr lang="en-US" dirty="0"/>
              <a:t>who is connected?</a:t>
            </a:r>
          </a:p>
          <a:p>
            <a:r>
              <a:rPr lang="en-US" dirty="0"/>
              <a:t>who bridges groups?</a:t>
            </a:r>
          </a:p>
          <a:p>
            <a:r>
              <a:rPr lang="en-US" dirty="0"/>
              <a:t>where are clusters?</a:t>
            </a:r>
          </a:p>
          <a:p>
            <a:r>
              <a:rPr lang="en-US" dirty="0"/>
              <a:t>how dense is the network?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caution when interpreting results.</a:t>
            </a:r>
          </a:p>
        </p:txBody>
      </p:sp>
      <p:pic>
        <p:nvPicPr>
          <p:cNvPr id="7" name="Picture 6" descr="Digital map with light leak background">
            <a:extLst>
              <a:ext uri="{FF2B5EF4-FFF2-40B4-BE49-F238E27FC236}">
                <a16:creationId xmlns:a16="http://schemas.microsoft.com/office/drawing/2014/main" id="{BFF710FB-1B81-F053-7429-761671C77A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30" r="24987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499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C7E8E-8E16-E5A2-CF5A-662369C6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wo people holding each other's hands">
            <a:extLst>
              <a:ext uri="{FF2B5EF4-FFF2-40B4-BE49-F238E27FC236}">
                <a16:creationId xmlns:a16="http://schemas.microsoft.com/office/drawing/2014/main" id="{92DBDCAA-7918-CE7C-E4A9-3948882A5F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80" r="24688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0D3DC7-0EF5-AA6D-FA53-3A660D38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rPr lang="en-US" dirty="0"/>
              <a:t>Fairness And Closeness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5DBFF2-AEBF-5036-0106-34EE02FFC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Graph metrics can influence decisions.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Ask: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What data created the graph?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What relationships were included?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What relationships were ignored?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Who could be misrepresented?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767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86A7E-B585-C4A2-07A5-A4E5434A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91D6AB-7AA2-2523-3D4D-7B3D5D96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What To Deeply Learn vs Recognize</a:t>
            </a:r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A27125CE-609D-4FB6-FCE3-5EF53C6FD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2F4F3D-C8F4-DEAB-E2DD-B67F3A34E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7" y="2160589"/>
            <a:ext cx="3213882" cy="376857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Deeply learn now:</a:t>
            </a:r>
          </a:p>
          <a:p>
            <a:pPr>
              <a:lnSpc>
                <a:spcPct val="90000"/>
              </a:lnSpc>
            </a:pPr>
            <a:r>
              <a:rPr lang="en-US" dirty="0"/>
              <a:t>nodes and edges</a:t>
            </a:r>
          </a:p>
          <a:p>
            <a:pPr>
              <a:lnSpc>
                <a:spcPct val="90000"/>
              </a:lnSpc>
            </a:pPr>
            <a:r>
              <a:rPr lang="en-US" dirty="0"/>
              <a:t>adjacency list</a:t>
            </a:r>
          </a:p>
          <a:p>
            <a:pPr>
              <a:lnSpc>
                <a:spcPct val="90000"/>
              </a:lnSpc>
            </a:pPr>
            <a:r>
              <a:rPr lang="en-US" dirty="0"/>
              <a:t>BFS and DFS</a:t>
            </a:r>
          </a:p>
          <a:p>
            <a:pPr>
              <a:lnSpc>
                <a:spcPct val="90000"/>
              </a:lnSpc>
            </a:pPr>
            <a:r>
              <a:rPr lang="en-US" dirty="0"/>
              <a:t>traversal evidence</a:t>
            </a:r>
          </a:p>
          <a:p>
            <a:pPr>
              <a:lnSpc>
                <a:spcPct val="90000"/>
              </a:lnSpc>
            </a:pPr>
            <a:r>
              <a:rPr lang="en-US" dirty="0"/>
              <a:t>model limits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Recognize for later:</a:t>
            </a:r>
          </a:p>
          <a:p>
            <a:pPr>
              <a:lnSpc>
                <a:spcPct val="90000"/>
              </a:lnSpc>
            </a:pPr>
            <a:r>
              <a:rPr lang="en-US" dirty="0"/>
              <a:t>centrality metrics</a:t>
            </a:r>
          </a:p>
          <a:p>
            <a:pPr>
              <a:lnSpc>
                <a:spcPct val="90000"/>
              </a:lnSpc>
            </a:pPr>
            <a:r>
              <a:rPr lang="en-US" dirty="0"/>
              <a:t>SNA</a:t>
            </a:r>
          </a:p>
          <a:p>
            <a:pPr>
              <a:lnSpc>
                <a:spcPct val="90000"/>
              </a:lnSpc>
            </a:pPr>
            <a:r>
              <a:rPr lang="en-US" dirty="0"/>
              <a:t>graph libraries</a:t>
            </a:r>
          </a:p>
        </p:txBody>
      </p:sp>
    </p:spTree>
    <p:extLst>
      <p:ext uri="{BB962C8B-B14F-4D97-AF65-F5344CB8AC3E}">
        <p14:creationId xmlns:p14="http://schemas.microsoft.com/office/powerpoint/2010/main" val="500363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 descr="Camera lens close up">
            <a:extLst>
              <a:ext uri="{FF2B5EF4-FFF2-40B4-BE49-F238E27FC236}">
                <a16:creationId xmlns:a16="http://schemas.microsoft.com/office/drawing/2014/main" id="{3F92D707-4F6F-1707-563F-DAA7E83D0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58" r="36459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FC93F9C-2692-8651-EDC7-6D41F5D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578920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EAD0D-5DF0-3C27-244F-69BE59250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en-US" dirty="0"/>
              <a:t>Demo Scenario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2E2C4B-768E-D97F-9F33-8764314B3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05313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77947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Demo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sz="2000" dirty="0"/>
              <a:t>text diagram</a:t>
            </a:r>
          </a:p>
          <a:p>
            <a:r>
              <a:rPr lang="en-US" sz="2000" dirty="0"/>
              <a:t>adjacency list</a:t>
            </a:r>
          </a:p>
          <a:p>
            <a:r>
              <a:rPr lang="en-US" sz="2000" dirty="0"/>
              <a:t>BFS traversal table</a:t>
            </a:r>
          </a:p>
          <a:p>
            <a:r>
              <a:rPr lang="en-US" sz="2000" dirty="0"/>
              <a:t>DFS traversal table</a:t>
            </a:r>
          </a:p>
          <a:p>
            <a:r>
              <a:rPr lang="en-US" sz="2000" dirty="0"/>
              <a:t>traversal summary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0A8CDE13-EC6E-831B-0134-AE933CD2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30" r="39188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29E87-22C1-F630-A88D-907362D1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81CED9-61B6-00C4-6337-E24263FE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904301"/>
            <a:ext cx="6216024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Demo Evidence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E267B22-932A-6723-AB98-EE08CEDE181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-847" b="-847"/>
          <a:stretch>
            <a:fillRect/>
          </a:stretch>
        </p:blipFill>
        <p:spPr>
          <a:xfrm>
            <a:off x="609599" y="609599"/>
            <a:ext cx="6347714" cy="418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85B7-E617-7232-3D45-118C5B1A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>
            <a:normAutofit/>
          </a:bodyPr>
          <a:lstStyle/>
          <a:p>
            <a:r>
              <a:rPr lang="en-US" dirty="0"/>
              <a:t>Demo Key Questions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535B9FB5-37B4-40C3-ED3B-16C1A740EDF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14761" r="65334" b="1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8CB4BA4-5207-43FB-9FA5-62223EF71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AC4-941F-5169-DAA0-DF23E55C8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r>
              <a:rPr lang="en-US" dirty="0"/>
              <a:t>What is the current node?</a:t>
            </a:r>
          </a:p>
          <a:p>
            <a:r>
              <a:rPr lang="en-US" dirty="0"/>
              <a:t>What neighbors are available?</a:t>
            </a:r>
          </a:p>
          <a:p>
            <a:r>
              <a:rPr lang="en-US" dirty="0"/>
              <a:t>What is waiting in the queue or stack?</a:t>
            </a:r>
          </a:p>
          <a:p>
            <a:r>
              <a:rPr lang="en-US" dirty="0"/>
              <a:t>What has already been visited?</a:t>
            </a:r>
          </a:p>
          <a:p>
            <a:r>
              <a:rPr lang="en-US" dirty="0"/>
              <a:t>What does the model leave out?</a:t>
            </a:r>
          </a:p>
        </p:txBody>
      </p:sp>
    </p:spTree>
    <p:extLst>
      <p:ext uri="{BB962C8B-B14F-4D97-AF65-F5344CB8AC3E}">
        <p14:creationId xmlns:p14="http://schemas.microsoft.com/office/powerpoint/2010/main" val="18026417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D0E5-C82A-2821-F372-34D79453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35" y="609600"/>
            <a:ext cx="4865966" cy="1320800"/>
          </a:xfrm>
        </p:spPr>
        <p:txBody>
          <a:bodyPr>
            <a:normAutofit/>
          </a:bodyPr>
          <a:lstStyle/>
          <a:p>
            <a:r>
              <a:rPr lang="en-US" dirty="0"/>
              <a:t>Demo Explanation</a:t>
            </a:r>
          </a:p>
        </p:txBody>
      </p:sp>
      <p:pic>
        <p:nvPicPr>
          <p:cNvPr id="5" name="Picture 4" descr="Dark blue shattered geometric chain">
            <a:extLst>
              <a:ext uri="{FF2B5EF4-FFF2-40B4-BE49-F238E27FC236}">
                <a16:creationId xmlns:a16="http://schemas.microsoft.com/office/drawing/2014/main" id="{377F6D4D-BE10-60D9-4BD4-003EB5B6667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72987" r="10239" b="-1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8CB4BA4-5207-43FB-9FA5-62223EF71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13BE1-56FB-86D8-D85E-F894C535F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535" y="2160589"/>
            <a:ext cx="486596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/>
              <a:t>“The graph model stayed the same, but BFS and DFS visited nodes in different orders because BFS explores outward by layers while DFS follows a path more deeply before backing up”</a:t>
            </a:r>
          </a:p>
        </p:txBody>
      </p:sp>
    </p:spTree>
    <p:extLst>
      <p:ext uri="{BB962C8B-B14F-4D97-AF65-F5344CB8AC3E}">
        <p14:creationId xmlns:p14="http://schemas.microsoft.com/office/powerpoint/2010/main" val="29782299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F827-0A5A-D6D9-6C73-5ACE2242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rPr lang="en-US" dirty="0"/>
              <a:t>From Demo to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31B9-CEED-D579-BC3C-E6F2B784D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Lab 06, you will model a different system.</a:t>
            </a:r>
          </a:p>
          <a:p>
            <a:pPr marL="0" indent="0">
              <a:buNone/>
            </a:pPr>
            <a:r>
              <a:rPr lang="en-US" dirty="0"/>
              <a:t>Options include:</a:t>
            </a:r>
          </a:p>
          <a:p>
            <a:r>
              <a:rPr lang="en-US" dirty="0"/>
              <a:t>workflow steps</a:t>
            </a:r>
          </a:p>
          <a:p>
            <a:r>
              <a:rPr lang="en-US" dirty="0"/>
              <a:t>escalation paths</a:t>
            </a:r>
          </a:p>
          <a:p>
            <a:r>
              <a:rPr lang="en-US" dirty="0"/>
              <a:t>transit stops</a:t>
            </a:r>
          </a:p>
          <a:p>
            <a:r>
              <a:rPr lang="en-US" dirty="0"/>
              <a:t>game rooms</a:t>
            </a:r>
          </a:p>
          <a:p>
            <a:r>
              <a:rPr lang="en-US" dirty="0"/>
              <a:t>prerequisites</a:t>
            </a:r>
          </a:p>
          <a:p>
            <a:r>
              <a:rPr lang="en-US" dirty="0"/>
              <a:t>communication network</a:t>
            </a:r>
          </a:p>
          <a:p>
            <a:r>
              <a:rPr lang="en-US" dirty="0"/>
              <a:t>grid movement map</a:t>
            </a:r>
          </a:p>
        </p:txBody>
      </p:sp>
      <p:pic>
        <p:nvPicPr>
          <p:cNvPr id="5" name="Picture 4" descr="A row of samples for medical testing">
            <a:extLst>
              <a:ext uri="{FF2B5EF4-FFF2-40B4-BE49-F238E27FC236}">
                <a16:creationId xmlns:a16="http://schemas.microsoft.com/office/drawing/2014/main" id="{5406C1C5-46D3-5662-C887-3DA2319E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75" r="4376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347200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F3BB-9144-7EF6-2ED8-962EDA3E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en-US" dirty="0"/>
              <a:t>Lab 06 Evidence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C08685-C928-B3FF-5B04-42F716AF4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166537"/>
              </p:ext>
            </p:extLst>
          </p:nvPr>
        </p:nvGraphicFramePr>
        <p:xfrm>
          <a:off x="508000" y="2160589"/>
          <a:ext cx="6447501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77580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9D7-DC22-67B7-C127-E213A7D7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r>
              <a:rPr lang="en-US" b="1" dirty="0"/>
              <a:t>README Evidence</a:t>
            </a:r>
            <a:endParaRPr lang="en-US" dirty="0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ECC9DEAD-0143-BEB6-CDDF-ECA972867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A1EC-C9C7-D8BC-8C60-91337D1A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7" y="2160589"/>
            <a:ext cx="3406016" cy="3768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README should show:</a:t>
            </a:r>
          </a:p>
          <a:p>
            <a:r>
              <a:rPr lang="en-US" dirty="0"/>
              <a:t>What the graph models</a:t>
            </a:r>
          </a:p>
          <a:p>
            <a:r>
              <a:rPr lang="en-US" dirty="0"/>
              <a:t>What the nodes represent</a:t>
            </a:r>
          </a:p>
          <a:p>
            <a:r>
              <a:rPr lang="en-US" dirty="0"/>
              <a:t>What the edges represent</a:t>
            </a:r>
          </a:p>
          <a:p>
            <a:r>
              <a:rPr lang="en-US" dirty="0"/>
              <a:t>What traversal you used</a:t>
            </a:r>
          </a:p>
          <a:p>
            <a:r>
              <a:rPr lang="en-US" dirty="0"/>
              <a:t>What the traversal shows</a:t>
            </a:r>
          </a:p>
          <a:p>
            <a:r>
              <a:rPr lang="en-US" dirty="0"/>
              <a:t>What the graph leaves out</a:t>
            </a:r>
          </a:p>
          <a:p>
            <a:r>
              <a:rPr lang="en-US" dirty="0"/>
              <a:t>AI-use note, if applicable</a:t>
            </a:r>
          </a:p>
        </p:txBody>
      </p:sp>
    </p:spTree>
    <p:extLst>
      <p:ext uri="{BB962C8B-B14F-4D97-AF65-F5344CB8AC3E}">
        <p14:creationId xmlns:p14="http://schemas.microsoft.com/office/powerpoint/2010/main" val="19239636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FEC8-C36E-8138-AFF9-1BCB8E92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AI Use In Lab 0n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F7C5D-76E8-1B83-C806-C3C793996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538657" cy="38807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Manual first:</a:t>
            </a:r>
          </a:p>
          <a:p>
            <a:r>
              <a:rPr lang="en-US" dirty="0"/>
              <a:t>draft your graph</a:t>
            </a:r>
          </a:p>
          <a:p>
            <a:r>
              <a:rPr lang="en-US" dirty="0"/>
              <a:t>write your adjacency list</a:t>
            </a:r>
          </a:p>
          <a:p>
            <a:r>
              <a:rPr lang="en-US" dirty="0"/>
              <a:t>choose your start node</a:t>
            </a:r>
          </a:p>
          <a:p>
            <a:r>
              <a:rPr lang="en-US" dirty="0"/>
              <a:t>attempt traversal evidence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AI-assisted after:</a:t>
            </a:r>
          </a:p>
          <a:p>
            <a:r>
              <a:rPr lang="en-US" dirty="0"/>
              <a:t>check diagram/list consistency</a:t>
            </a:r>
          </a:p>
          <a:p>
            <a:r>
              <a:rPr lang="en-US" dirty="0"/>
              <a:t>explain BFS or DFS vocabulary</a:t>
            </a:r>
          </a:p>
          <a:p>
            <a:r>
              <a:rPr lang="en-US" dirty="0"/>
              <a:t>critique model limits</a:t>
            </a: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638035A6-8F2B-CFAB-F2A0-C40F7D534C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18" r="25100" b="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854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lorful rolled magazines">
            <a:extLst>
              <a:ext uri="{FF2B5EF4-FFF2-40B4-BE49-F238E27FC236}">
                <a16:creationId xmlns:a16="http://schemas.microsoft.com/office/drawing/2014/main" id="{771DCBED-D310-6C5A-AFAE-9D7EAA4A69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rcRect l="29767" r="18385" b="-2"/>
          <a:stretch>
            <a:fillRect/>
          </a:stretch>
        </p:blipFill>
        <p:spPr>
          <a:xfrm>
            <a:off x="3814762" y="-1"/>
            <a:ext cx="5326856" cy="6858001"/>
          </a:xfrm>
          <a:custGeom>
            <a:avLst/>
            <a:gdLst/>
            <a:ahLst/>
            <a:cxnLst/>
            <a:rect l="l" t="t" r="r" b="b"/>
            <a:pathLst>
              <a:path w="7102474" h="6858001">
                <a:moveTo>
                  <a:pt x="417180" y="0"/>
                </a:moveTo>
                <a:lnTo>
                  <a:pt x="7102474" y="0"/>
                </a:lnTo>
                <a:lnTo>
                  <a:pt x="7102474" y="6858001"/>
                </a:lnTo>
                <a:lnTo>
                  <a:pt x="65002" y="6858001"/>
                </a:lnTo>
                <a:lnTo>
                  <a:pt x="1840421" y="4521201"/>
                </a:lnTo>
                <a:close/>
                <a:moveTo>
                  <a:pt x="0" y="0"/>
                </a:moveTo>
                <a:lnTo>
                  <a:pt x="417180" y="0"/>
                </a:lnTo>
                <a:lnTo>
                  <a:pt x="0" y="44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861510-CA61-0D1A-72BB-E420D0840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49" y="1678666"/>
            <a:ext cx="3842636" cy="2369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/>
              <a:t>Wrap 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DDF35-D014-F980-031E-B5A95948C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1" y="4050831"/>
            <a:ext cx="3834913" cy="1096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315479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C146-617D-4E39-D705-22B72B38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r>
              <a:rPr lang="en-US" b="1" dirty="0"/>
              <a:t>What To Carry Forward</a:t>
            </a:r>
            <a:endParaRPr lang="en-US" dirty="0"/>
          </a:p>
        </p:txBody>
      </p:sp>
      <p:pic>
        <p:nvPicPr>
          <p:cNvPr id="7" name="Graphic 6" descr="Finger Print">
            <a:extLst>
              <a:ext uri="{FF2B5EF4-FFF2-40B4-BE49-F238E27FC236}">
                <a16:creationId xmlns:a16="http://schemas.microsoft.com/office/drawing/2014/main" id="{9CDA5D42-CD20-71ED-88DF-C280BC621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33235-9D16-6582-9577-58004FB83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6" y="2160589"/>
            <a:ext cx="3575833" cy="4087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Graphs help us reason about connected systems.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Carry forward:</a:t>
            </a:r>
          </a:p>
          <a:p>
            <a:r>
              <a:rPr lang="en-US" dirty="0"/>
              <a:t>Model the relationships</a:t>
            </a:r>
          </a:p>
          <a:p>
            <a:r>
              <a:rPr lang="en-US" dirty="0"/>
              <a:t>Make connections explicit</a:t>
            </a:r>
          </a:p>
          <a:p>
            <a:r>
              <a:rPr lang="en-US" dirty="0"/>
              <a:t>Trace the traversal</a:t>
            </a:r>
          </a:p>
          <a:p>
            <a:r>
              <a:rPr lang="en-US" dirty="0"/>
              <a:t>Explain what the model shows</a:t>
            </a:r>
          </a:p>
          <a:p>
            <a:r>
              <a:rPr lang="en-US" dirty="0"/>
              <a:t>State what the model leaves out</a:t>
            </a:r>
          </a:p>
        </p:txBody>
      </p:sp>
    </p:spTree>
    <p:extLst>
      <p:ext uri="{BB962C8B-B14F-4D97-AF65-F5344CB8AC3E}">
        <p14:creationId xmlns:p14="http://schemas.microsoft.com/office/powerpoint/2010/main" val="12796929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9555-1E16-8E8B-E548-105BA59C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Lab 0n Success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F21A-F8C1-15AA-C705-4530AE58A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r>
              <a:rPr lang="en-US" dirty="0"/>
              <a:t>Represents relationships clearly</a:t>
            </a:r>
          </a:p>
          <a:p>
            <a:r>
              <a:rPr lang="en-US" dirty="0"/>
              <a:t>Uses graph vocabulary correctly</a:t>
            </a:r>
          </a:p>
          <a:p>
            <a:r>
              <a:rPr lang="en-US" dirty="0"/>
              <a:t>Includes adjacency-list evidence</a:t>
            </a:r>
          </a:p>
          <a:p>
            <a:r>
              <a:rPr lang="en-US" dirty="0"/>
              <a:t>Shows BFS or DFS behavior</a:t>
            </a:r>
          </a:p>
          <a:p>
            <a:r>
              <a:rPr lang="en-US" dirty="0"/>
              <a:t>Explains model limits</a:t>
            </a:r>
          </a:p>
        </p:txBody>
      </p:sp>
      <p:pic>
        <p:nvPicPr>
          <p:cNvPr id="5" name="Picture 4" descr="Beakers with solution on shelf in lab">
            <a:extLst>
              <a:ext uri="{FF2B5EF4-FFF2-40B4-BE49-F238E27FC236}">
                <a16:creationId xmlns:a16="http://schemas.microsoft.com/office/drawing/2014/main" id="{255A690D-4CB8-0C66-184B-33949F8D6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87" r="24330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131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5D3F-E078-FC55-695F-976B83CD5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E882C46-7257-FC97-CBC6-E983CBE66D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7556721"/>
              </p:ext>
            </p:extLst>
          </p:nvPr>
        </p:nvGraphicFramePr>
        <p:xfrm>
          <a:off x="609598" y="1645920"/>
          <a:ext cx="6588035" cy="4395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792683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9F70-8F60-D3FC-3A79-9DFB4AC2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b="1"/>
              <a:t>How To Use The Textbook For Next Week's Reading</a:t>
            </a:r>
            <a:endParaRPr lang="en-US" sz="2500"/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CB844410-8630-6014-129E-F9F9F6F08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08" y="1899262"/>
            <a:ext cx="2896429" cy="28964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DEBDE-72CE-C2D6-1555-027E1505B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7981" y="1990769"/>
            <a:ext cx="3723973" cy="4488405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Next week connects algorithms to AI, data, recommendations, and security.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As you read: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Focus on representation before advanced methods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Notice how similarity and recommendation depend on chosen features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Skim advanced ML language for recognition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Learn the security vocabulary without trying to master cryptography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Watch for limitations such as cold start, sparse data, and weakest link</a:t>
            </a:r>
          </a:p>
        </p:txBody>
      </p:sp>
    </p:spTree>
    <p:extLst>
      <p:ext uri="{BB962C8B-B14F-4D97-AF65-F5344CB8AC3E}">
        <p14:creationId xmlns:p14="http://schemas.microsoft.com/office/powerpoint/2010/main" val="23699964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1A93-6BD2-677B-DBB4-F66B1592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752" y="4514446"/>
            <a:ext cx="3224749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7752</TotalTime>
  <Words>4096</Words>
  <Application>Microsoft Office PowerPoint</Application>
  <PresentationFormat>On-screen Show (4:3)</PresentationFormat>
  <Paragraphs>861</Paragraphs>
  <Slides>71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Aptos</vt:lpstr>
      <vt:lpstr>Arial</vt:lpstr>
      <vt:lpstr>Trebuchet MS</vt:lpstr>
      <vt:lpstr>Wingdings 3</vt:lpstr>
      <vt:lpstr>Facet</vt:lpstr>
      <vt:lpstr>Introduction To Algorithms</vt:lpstr>
      <vt:lpstr>Terms to Remember</vt:lpstr>
      <vt:lpstr>What We Will Use Today</vt:lpstr>
      <vt:lpstr>What We Will “Touch On” and Revisit Later</vt:lpstr>
      <vt:lpstr>Review Coding Lab</vt:lpstr>
      <vt:lpstr>Review:  What Lab 05 Taught Us</vt:lpstr>
      <vt:lpstr>Today’s Question</vt:lpstr>
      <vt:lpstr>Graphs Model Relationships</vt:lpstr>
      <vt:lpstr>Graph Model</vt:lpstr>
      <vt:lpstr>What Counts as Success Today</vt:lpstr>
      <vt:lpstr>Graph Algorithm Overview</vt:lpstr>
      <vt:lpstr>Terms Become Precise</vt:lpstr>
      <vt:lpstr>Term Precision</vt:lpstr>
      <vt:lpstr>Do Not Panic Over Formulas</vt:lpstr>
      <vt:lpstr>Formula Posture</vt:lpstr>
      <vt:lpstr>Graph Basics</vt:lpstr>
      <vt:lpstr>Neighborhoods</vt:lpstr>
      <vt:lpstr>Traversals</vt:lpstr>
      <vt:lpstr>Graph Basics and Representation</vt:lpstr>
      <vt:lpstr>Node Or Vertex</vt:lpstr>
      <vt:lpstr>Edge Or Link</vt:lpstr>
      <vt:lpstr>Network</vt:lpstr>
      <vt:lpstr>Simple Graph</vt:lpstr>
      <vt:lpstr>Directed Graph</vt:lpstr>
      <vt:lpstr>Undirected Graph</vt:lpstr>
      <vt:lpstr>Weighted Graph</vt:lpstr>
      <vt:lpstr>Adjacency List</vt:lpstr>
      <vt:lpstr>Adjacency List</vt:lpstr>
      <vt:lpstr>Diagram And Adjacency List Must Agree</vt:lpstr>
      <vt:lpstr>A Graph is a Model</vt:lpstr>
      <vt:lpstr>Network Analysis Orientation</vt:lpstr>
      <vt:lpstr>Neighborhood</vt:lpstr>
      <vt:lpstr>Ego-Centered Network</vt:lpstr>
      <vt:lpstr>Shortest Path</vt:lpstr>
      <vt:lpstr>Shortest Path</vt:lpstr>
      <vt:lpstr>Creating A Neighborhood</vt:lpstr>
      <vt:lpstr>Optional Metrics:  Recognition Only</vt:lpstr>
      <vt:lpstr>Degree And Density</vt:lpstr>
      <vt:lpstr>Centrality Is Not Importance By Itself</vt:lpstr>
      <vt:lpstr>Break</vt:lpstr>
      <vt:lpstr>Graph Traversals</vt:lpstr>
      <vt:lpstr>Traversal</vt:lpstr>
      <vt:lpstr>Breadth-First Search</vt:lpstr>
      <vt:lpstr>BFS Evidence</vt:lpstr>
      <vt:lpstr>BFS Evidence</vt:lpstr>
      <vt:lpstr>Depth-First Search</vt:lpstr>
      <vt:lpstr>DFS Evidence</vt:lpstr>
      <vt:lpstr>DFS Evidence</vt:lpstr>
      <vt:lpstr>BFS vs DFS</vt:lpstr>
      <vt:lpstr>Neighbor Order Matters</vt:lpstr>
      <vt:lpstr>Optional Network Context</vt:lpstr>
      <vt:lpstr>Visualizing A Graph</vt:lpstr>
      <vt:lpstr>Social Network Analysis Context</vt:lpstr>
      <vt:lpstr>Fairness And Closeness</vt:lpstr>
      <vt:lpstr>What To Deeply Learn vs Recognize</vt:lpstr>
      <vt:lpstr>Demo</vt:lpstr>
      <vt:lpstr>Demo Scenario</vt:lpstr>
      <vt:lpstr>Demo Evidence</vt:lpstr>
      <vt:lpstr>Demo Evidence</vt:lpstr>
      <vt:lpstr>Demo Key Questions</vt:lpstr>
      <vt:lpstr>Demo Explanation</vt:lpstr>
      <vt:lpstr>From Demo to Lab</vt:lpstr>
      <vt:lpstr>Lab 06 Evidence</vt:lpstr>
      <vt:lpstr>README Evidence</vt:lpstr>
      <vt:lpstr>AI Use In Lab 0n</vt:lpstr>
      <vt:lpstr>Wrap up</vt:lpstr>
      <vt:lpstr>What To Carry Forward</vt:lpstr>
      <vt:lpstr>Lab 0n Success Check</vt:lpstr>
      <vt:lpstr>Next Step</vt:lpstr>
      <vt:lpstr>How To Use The Textbook For Next Week's Reading</vt:lpstr>
      <vt:lpstr>Thank you!  Have Fun!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139</cp:revision>
  <dcterms:created xsi:type="dcterms:W3CDTF">2013-01-27T09:14:16Z</dcterms:created>
  <dcterms:modified xsi:type="dcterms:W3CDTF">2026-06-05T14:31:31Z</dcterms:modified>
  <cp:category/>
</cp:coreProperties>
</file>