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1"/>
  </p:sldMasterIdLst>
  <p:notesMasterIdLst>
    <p:notesMasterId r:id="rId73"/>
  </p:notesMasterIdLst>
  <p:handoutMasterIdLst>
    <p:handoutMasterId r:id="rId74"/>
  </p:handoutMasterIdLst>
  <p:sldIdLst>
    <p:sldId id="256" r:id="rId2"/>
    <p:sldId id="259" r:id="rId3"/>
    <p:sldId id="260" r:id="rId4"/>
    <p:sldId id="364" r:id="rId5"/>
    <p:sldId id="322" r:id="rId6"/>
    <p:sldId id="321" r:id="rId7"/>
    <p:sldId id="264" r:id="rId8"/>
    <p:sldId id="420" r:id="rId9"/>
    <p:sldId id="417" r:id="rId10"/>
    <p:sldId id="323" r:id="rId11"/>
    <p:sldId id="269" r:id="rId12"/>
    <p:sldId id="421" r:id="rId13"/>
    <p:sldId id="485" r:id="rId14"/>
    <p:sldId id="422" r:id="rId15"/>
    <p:sldId id="486" r:id="rId16"/>
    <p:sldId id="423" r:id="rId17"/>
    <p:sldId id="424" r:id="rId18"/>
    <p:sldId id="425" r:id="rId19"/>
    <p:sldId id="376" r:id="rId20"/>
    <p:sldId id="426" r:id="rId21"/>
    <p:sldId id="461" r:id="rId22"/>
    <p:sldId id="462" r:id="rId23"/>
    <p:sldId id="463" r:id="rId24"/>
    <p:sldId id="464" r:id="rId25"/>
    <p:sldId id="465" r:id="rId26"/>
    <p:sldId id="466" r:id="rId27"/>
    <p:sldId id="467" r:id="rId28"/>
    <p:sldId id="487" r:id="rId29"/>
    <p:sldId id="468" r:id="rId30"/>
    <p:sldId id="469" r:id="rId31"/>
    <p:sldId id="428" r:id="rId32"/>
    <p:sldId id="470" r:id="rId33"/>
    <p:sldId id="471" r:id="rId34"/>
    <p:sldId id="472" r:id="rId35"/>
    <p:sldId id="488" r:id="rId36"/>
    <p:sldId id="473" r:id="rId37"/>
    <p:sldId id="474" r:id="rId38"/>
    <p:sldId id="475" r:id="rId39"/>
    <p:sldId id="429" r:id="rId40"/>
    <p:sldId id="363" r:id="rId41"/>
    <p:sldId id="430" r:id="rId42"/>
    <p:sldId id="432" r:id="rId43"/>
    <p:sldId id="476" r:id="rId44"/>
    <p:sldId id="477" r:id="rId45"/>
    <p:sldId id="489" r:id="rId46"/>
    <p:sldId id="478" r:id="rId47"/>
    <p:sldId id="479" r:id="rId48"/>
    <p:sldId id="490" r:id="rId49"/>
    <p:sldId id="480" r:id="rId50"/>
    <p:sldId id="481" r:id="rId51"/>
    <p:sldId id="431" r:id="rId52"/>
    <p:sldId id="433" r:id="rId53"/>
    <p:sldId id="484" r:id="rId54"/>
    <p:sldId id="482" r:id="rId55"/>
    <p:sldId id="483" r:id="rId56"/>
    <p:sldId id="434" r:id="rId57"/>
    <p:sldId id="367" r:id="rId58"/>
    <p:sldId id="418" r:id="rId59"/>
    <p:sldId id="491" r:id="rId60"/>
    <p:sldId id="378" r:id="rId61"/>
    <p:sldId id="369" r:id="rId62"/>
    <p:sldId id="307" r:id="rId63"/>
    <p:sldId id="460" r:id="rId64"/>
    <p:sldId id="309" r:id="rId65"/>
    <p:sldId id="374" r:id="rId66"/>
    <p:sldId id="317" r:id="rId67"/>
    <p:sldId id="316" r:id="rId68"/>
    <p:sldId id="375" r:id="rId69"/>
    <p:sldId id="318" r:id="rId70"/>
    <p:sldId id="319" r:id="rId71"/>
    <p:sldId id="320" r:id="rId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68900" autoAdjust="0"/>
  </p:normalViewPr>
  <p:slideViewPr>
    <p:cSldViewPr snapToGrid="0" snapToObjects="1">
      <p:cViewPr varScale="1">
        <p:scale>
          <a:sx n="73" d="100"/>
          <a:sy n="73" d="100"/>
        </p:scale>
        <p:origin x="2040" y="54"/>
      </p:cViewPr>
      <p:guideLst>
        <p:guide orient="horz" pos="2160"/>
        <p:guide pos="2880"/>
      </p:guideLst>
    </p:cSldViewPr>
  </p:slideViewPr>
  <p:outlineViewPr>
    <p:cViewPr>
      <p:scale>
        <a:sx n="33" d="100"/>
        <a:sy n="33" d="100"/>
      </p:scale>
      <p:origin x="0" y="-1152"/>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0" d="100"/>
          <a:sy n="80" d="100"/>
        </p:scale>
        <p:origin x="4002" y="11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93F8F8-4959-4928-B713-CB6ADC584739}"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en-US"/>
        </a:p>
      </dgm:t>
    </dgm:pt>
    <dgm:pt modelId="{FE89A495-BC83-409A-AC2B-549EAA78055A}">
      <dgm:prSet/>
      <dgm:spPr/>
      <dgm:t>
        <a:bodyPr/>
        <a:lstStyle/>
        <a:p>
          <a:r>
            <a:rPr lang="en-US" dirty="0"/>
            <a:t>Last week - </a:t>
          </a:r>
          <a:r>
            <a:rPr lang="en-US" b="0" dirty="0"/>
            <a:t>strategy choice depended on problem shape</a:t>
          </a:r>
          <a:r>
            <a:rPr lang="en-US" dirty="0"/>
            <a:t>:</a:t>
          </a:r>
        </a:p>
      </dgm:t>
    </dgm:pt>
    <dgm:pt modelId="{7FD91A43-CF2C-4D46-A04A-75868E7E334A}" type="parTrans" cxnId="{79E17C93-E7F9-40E3-9A0D-3C2F7A18BBDC}">
      <dgm:prSet/>
      <dgm:spPr/>
      <dgm:t>
        <a:bodyPr/>
        <a:lstStyle/>
        <a:p>
          <a:endParaRPr lang="en-US"/>
        </a:p>
      </dgm:t>
    </dgm:pt>
    <dgm:pt modelId="{94898D6C-C872-4685-971A-1DF3E13535F0}" type="sibTrans" cxnId="{79E17C93-E7F9-40E3-9A0D-3C2F7A18BBDC}">
      <dgm:prSet/>
      <dgm:spPr/>
      <dgm:t>
        <a:bodyPr/>
        <a:lstStyle/>
        <a:p>
          <a:endParaRPr lang="en-US"/>
        </a:p>
      </dgm:t>
    </dgm:pt>
    <dgm:pt modelId="{43E234C2-131F-41F6-810F-8E386D448650}">
      <dgm:prSet/>
      <dgm:spPr/>
      <dgm:t>
        <a:bodyPr/>
        <a:lstStyle/>
        <a:p>
          <a:pPr>
            <a:buFont typeface="Arial" panose="020B0604020202020204" pitchFamily="34" charset="0"/>
            <a:buChar char="•"/>
          </a:pPr>
          <a:r>
            <a:rPr lang="en-US" b="0" dirty="0"/>
            <a:t>correctness</a:t>
          </a:r>
          <a:endParaRPr lang="en-US" dirty="0"/>
        </a:p>
      </dgm:t>
    </dgm:pt>
    <dgm:pt modelId="{097FCB5F-8F6F-4173-9D4E-5BC862BA5408}" type="parTrans" cxnId="{C8661701-0263-4E59-A142-0C8CEA51A6EF}">
      <dgm:prSet/>
      <dgm:spPr/>
      <dgm:t>
        <a:bodyPr/>
        <a:lstStyle/>
        <a:p>
          <a:endParaRPr lang="en-US"/>
        </a:p>
      </dgm:t>
    </dgm:pt>
    <dgm:pt modelId="{A1CEA6FC-FD6A-4DFA-BE24-F224EAE40B4A}" type="sibTrans" cxnId="{C8661701-0263-4E59-A142-0C8CEA51A6EF}">
      <dgm:prSet/>
      <dgm:spPr/>
      <dgm:t>
        <a:bodyPr/>
        <a:lstStyle/>
        <a:p>
          <a:endParaRPr lang="en-US"/>
        </a:p>
      </dgm:t>
    </dgm:pt>
    <dgm:pt modelId="{96B31E06-2C67-4CBA-9E5C-47A94AFC356B}">
      <dgm:prSet/>
      <dgm:spPr/>
      <dgm:t>
        <a:bodyPr/>
        <a:lstStyle/>
        <a:p>
          <a:pPr>
            <a:buFont typeface="Arial" panose="020B0604020202020204" pitchFamily="34" charset="0"/>
            <a:buChar char="•"/>
          </a:pPr>
          <a:r>
            <a:rPr lang="en-US" b="0" dirty="0"/>
            <a:t>readability</a:t>
          </a:r>
        </a:p>
      </dgm:t>
    </dgm:pt>
    <dgm:pt modelId="{A6379C35-2B5D-48D0-A9A1-63E037771C60}" type="parTrans" cxnId="{17459374-9855-4215-B2DB-0C17E9272E2F}">
      <dgm:prSet/>
      <dgm:spPr/>
      <dgm:t>
        <a:bodyPr/>
        <a:lstStyle/>
        <a:p>
          <a:endParaRPr lang="en-US"/>
        </a:p>
      </dgm:t>
    </dgm:pt>
    <dgm:pt modelId="{4D933EC1-4163-4969-B913-6448CD38BACA}" type="sibTrans" cxnId="{17459374-9855-4215-B2DB-0C17E9272E2F}">
      <dgm:prSet/>
      <dgm:spPr/>
      <dgm:t>
        <a:bodyPr/>
        <a:lstStyle/>
        <a:p>
          <a:endParaRPr lang="en-US"/>
        </a:p>
      </dgm:t>
    </dgm:pt>
    <dgm:pt modelId="{4F1C514D-EC92-48AE-92A9-0965E2505078}">
      <dgm:prSet/>
      <dgm:spPr/>
      <dgm:t>
        <a:bodyPr/>
        <a:lstStyle/>
        <a:p>
          <a:pPr>
            <a:buFont typeface="Arial" panose="020B0604020202020204" pitchFamily="34" charset="0"/>
            <a:buChar char="•"/>
          </a:pPr>
          <a:r>
            <a:rPr lang="en-US" b="0" dirty="0"/>
            <a:t>growth</a:t>
          </a:r>
        </a:p>
      </dgm:t>
    </dgm:pt>
    <dgm:pt modelId="{A24A4648-ADA6-4C5B-B1F0-F82753815B57}" type="parTrans" cxnId="{18C354FA-360D-4C87-B1F0-19F3D81DA0F2}">
      <dgm:prSet/>
      <dgm:spPr/>
      <dgm:t>
        <a:bodyPr/>
        <a:lstStyle/>
        <a:p>
          <a:endParaRPr lang="en-US"/>
        </a:p>
      </dgm:t>
    </dgm:pt>
    <dgm:pt modelId="{D8770B32-775A-48CF-ADCE-7D0E9A46DD89}" type="sibTrans" cxnId="{18C354FA-360D-4C87-B1F0-19F3D81DA0F2}">
      <dgm:prSet/>
      <dgm:spPr/>
      <dgm:t>
        <a:bodyPr/>
        <a:lstStyle/>
        <a:p>
          <a:endParaRPr lang="en-US"/>
        </a:p>
      </dgm:t>
    </dgm:pt>
    <dgm:pt modelId="{3E790714-56A3-46D1-A6C0-E2F69D91D6A8}">
      <dgm:prSet/>
      <dgm:spPr/>
      <dgm:t>
        <a:bodyPr/>
        <a:lstStyle/>
        <a:p>
          <a:pPr>
            <a:buFont typeface="Arial" panose="020B0604020202020204" pitchFamily="34" charset="0"/>
            <a:buChar char="•"/>
          </a:pPr>
          <a:r>
            <a:rPr lang="en-US" b="0" dirty="0"/>
            <a:t>fit to data</a:t>
          </a:r>
        </a:p>
      </dgm:t>
    </dgm:pt>
    <dgm:pt modelId="{CE318FAD-8979-4A1B-B8FC-EB55F5752AE7}" type="parTrans" cxnId="{F261DC3A-C3BE-4C37-B5ED-7605D95C03DE}">
      <dgm:prSet/>
      <dgm:spPr/>
      <dgm:t>
        <a:bodyPr/>
        <a:lstStyle/>
        <a:p>
          <a:endParaRPr lang="en-US"/>
        </a:p>
      </dgm:t>
    </dgm:pt>
    <dgm:pt modelId="{5F9D1389-3B32-40FE-BF20-FEFC88429240}" type="sibTrans" cxnId="{F261DC3A-C3BE-4C37-B5ED-7605D95C03DE}">
      <dgm:prSet/>
      <dgm:spPr/>
      <dgm:t>
        <a:bodyPr/>
        <a:lstStyle/>
        <a:p>
          <a:endParaRPr lang="en-US"/>
        </a:p>
      </dgm:t>
    </dgm:pt>
    <dgm:pt modelId="{55B49D55-D319-4B9F-A36B-CE11E8AC998E}">
      <dgm:prSet/>
      <dgm:spPr/>
      <dgm:t>
        <a:bodyPr/>
        <a:lstStyle/>
        <a:p>
          <a:pPr>
            <a:buFont typeface="Arial" panose="020B0604020202020204" pitchFamily="34" charset="0"/>
            <a:buChar char="•"/>
          </a:pPr>
          <a:r>
            <a:rPr lang="en-US" b="0" dirty="0"/>
            <a:t>limitations</a:t>
          </a:r>
        </a:p>
      </dgm:t>
    </dgm:pt>
    <dgm:pt modelId="{1A050BF0-D216-40FF-9B05-1D64635C9390}" type="parTrans" cxnId="{66DB06AF-CCC4-499B-9ACA-627A796465EF}">
      <dgm:prSet/>
      <dgm:spPr/>
      <dgm:t>
        <a:bodyPr/>
        <a:lstStyle/>
        <a:p>
          <a:endParaRPr lang="en-US"/>
        </a:p>
      </dgm:t>
    </dgm:pt>
    <dgm:pt modelId="{92FD2D72-4202-49D9-BBFF-71FC3DB27D20}" type="sibTrans" cxnId="{66DB06AF-CCC4-499B-9ACA-627A796465EF}">
      <dgm:prSet/>
      <dgm:spPr/>
      <dgm:t>
        <a:bodyPr/>
        <a:lstStyle/>
        <a:p>
          <a:endParaRPr lang="en-US"/>
        </a:p>
      </dgm:t>
    </dgm:pt>
    <dgm:pt modelId="{83D3C41A-A349-4495-A934-4E419417A58A}" type="pres">
      <dgm:prSet presAssocID="{6393F8F8-4959-4928-B713-CB6ADC584739}" presName="linear" presStyleCnt="0">
        <dgm:presLayoutVars>
          <dgm:dir/>
          <dgm:animLvl val="lvl"/>
          <dgm:resizeHandles val="exact"/>
        </dgm:presLayoutVars>
      </dgm:prSet>
      <dgm:spPr/>
    </dgm:pt>
    <dgm:pt modelId="{A6D737D4-75FA-45BA-8DF8-335747CBED5A}" type="pres">
      <dgm:prSet presAssocID="{FE89A495-BC83-409A-AC2B-549EAA78055A}" presName="parentLin" presStyleCnt="0"/>
      <dgm:spPr/>
    </dgm:pt>
    <dgm:pt modelId="{9101E35E-8AC9-4664-B614-F6663981EC26}" type="pres">
      <dgm:prSet presAssocID="{FE89A495-BC83-409A-AC2B-549EAA78055A}" presName="parentLeftMargin" presStyleLbl="node1" presStyleIdx="0" presStyleCnt="1"/>
      <dgm:spPr/>
    </dgm:pt>
    <dgm:pt modelId="{91615320-4CF6-4AA6-903B-2DA45376792B}" type="pres">
      <dgm:prSet presAssocID="{FE89A495-BC83-409A-AC2B-549EAA78055A}" presName="parentText" presStyleLbl="node1" presStyleIdx="0" presStyleCnt="1">
        <dgm:presLayoutVars>
          <dgm:chMax val="0"/>
          <dgm:bulletEnabled val="1"/>
        </dgm:presLayoutVars>
      </dgm:prSet>
      <dgm:spPr/>
    </dgm:pt>
    <dgm:pt modelId="{8F5EF893-41E9-44A1-8F73-4C7294540170}" type="pres">
      <dgm:prSet presAssocID="{FE89A495-BC83-409A-AC2B-549EAA78055A}" presName="negativeSpace" presStyleCnt="0"/>
      <dgm:spPr/>
    </dgm:pt>
    <dgm:pt modelId="{682F3400-ACEA-4BF2-B7EA-1224E7E39347}" type="pres">
      <dgm:prSet presAssocID="{FE89A495-BC83-409A-AC2B-549EAA78055A}" presName="childText" presStyleLbl="conFgAcc1" presStyleIdx="0" presStyleCnt="1">
        <dgm:presLayoutVars>
          <dgm:bulletEnabled val="1"/>
        </dgm:presLayoutVars>
      </dgm:prSet>
      <dgm:spPr/>
    </dgm:pt>
  </dgm:ptLst>
  <dgm:cxnLst>
    <dgm:cxn modelId="{C8661701-0263-4E59-A142-0C8CEA51A6EF}" srcId="{FE89A495-BC83-409A-AC2B-549EAA78055A}" destId="{43E234C2-131F-41F6-810F-8E386D448650}" srcOrd="0" destOrd="0" parTransId="{097FCB5F-8F6F-4173-9D4E-5BC862BA5408}" sibTransId="{A1CEA6FC-FD6A-4DFA-BE24-F224EAE40B4A}"/>
    <dgm:cxn modelId="{F261DC3A-C3BE-4C37-B5ED-7605D95C03DE}" srcId="{FE89A495-BC83-409A-AC2B-549EAA78055A}" destId="{3E790714-56A3-46D1-A6C0-E2F69D91D6A8}" srcOrd="3" destOrd="0" parTransId="{CE318FAD-8979-4A1B-B8FC-EB55F5752AE7}" sibTransId="{5F9D1389-3B32-40FE-BF20-FEFC88429240}"/>
    <dgm:cxn modelId="{1FD1695B-A184-47B6-84F2-1342EF2F305E}" type="presOf" srcId="{43E234C2-131F-41F6-810F-8E386D448650}" destId="{682F3400-ACEA-4BF2-B7EA-1224E7E39347}" srcOrd="0" destOrd="0" presId="urn:microsoft.com/office/officeart/2005/8/layout/list1"/>
    <dgm:cxn modelId="{13DD3843-50EA-4902-B452-3507B465678A}" type="presOf" srcId="{FE89A495-BC83-409A-AC2B-549EAA78055A}" destId="{9101E35E-8AC9-4664-B614-F6663981EC26}" srcOrd="0" destOrd="0" presId="urn:microsoft.com/office/officeart/2005/8/layout/list1"/>
    <dgm:cxn modelId="{25AC224A-C684-4C2A-A27C-E4045CB5D86E}" type="presOf" srcId="{96B31E06-2C67-4CBA-9E5C-47A94AFC356B}" destId="{682F3400-ACEA-4BF2-B7EA-1224E7E39347}" srcOrd="0" destOrd="1" presId="urn:microsoft.com/office/officeart/2005/8/layout/list1"/>
    <dgm:cxn modelId="{17459374-9855-4215-B2DB-0C17E9272E2F}" srcId="{FE89A495-BC83-409A-AC2B-549EAA78055A}" destId="{96B31E06-2C67-4CBA-9E5C-47A94AFC356B}" srcOrd="1" destOrd="0" parTransId="{A6379C35-2B5D-48D0-A9A1-63E037771C60}" sibTransId="{4D933EC1-4163-4969-B913-6448CD38BACA}"/>
    <dgm:cxn modelId="{BFD71D57-CF26-4F07-95E9-7BFFABA1F37E}" type="presOf" srcId="{FE89A495-BC83-409A-AC2B-549EAA78055A}" destId="{91615320-4CF6-4AA6-903B-2DA45376792B}" srcOrd="1" destOrd="0" presId="urn:microsoft.com/office/officeart/2005/8/layout/list1"/>
    <dgm:cxn modelId="{27799F80-95B5-4303-9786-9B7D672C9C8A}" type="presOf" srcId="{55B49D55-D319-4B9F-A36B-CE11E8AC998E}" destId="{682F3400-ACEA-4BF2-B7EA-1224E7E39347}" srcOrd="0" destOrd="4" presId="urn:microsoft.com/office/officeart/2005/8/layout/list1"/>
    <dgm:cxn modelId="{FF0F9582-4334-4696-97C4-0C35A2B335E0}" type="presOf" srcId="{3E790714-56A3-46D1-A6C0-E2F69D91D6A8}" destId="{682F3400-ACEA-4BF2-B7EA-1224E7E39347}" srcOrd="0" destOrd="3" presId="urn:microsoft.com/office/officeart/2005/8/layout/list1"/>
    <dgm:cxn modelId="{47BD9D88-B90C-4D0A-8EB4-45D769ACEE5C}" type="presOf" srcId="{4F1C514D-EC92-48AE-92A9-0965E2505078}" destId="{682F3400-ACEA-4BF2-B7EA-1224E7E39347}" srcOrd="0" destOrd="2" presId="urn:microsoft.com/office/officeart/2005/8/layout/list1"/>
    <dgm:cxn modelId="{79E17C93-E7F9-40E3-9A0D-3C2F7A18BBDC}" srcId="{6393F8F8-4959-4928-B713-CB6ADC584739}" destId="{FE89A495-BC83-409A-AC2B-549EAA78055A}" srcOrd="0" destOrd="0" parTransId="{7FD91A43-CF2C-4D46-A04A-75868E7E334A}" sibTransId="{94898D6C-C872-4685-971A-1DF3E13535F0}"/>
    <dgm:cxn modelId="{CA991D9A-4031-45A9-BA22-A1FD1FDC8659}" type="presOf" srcId="{6393F8F8-4959-4928-B713-CB6ADC584739}" destId="{83D3C41A-A349-4495-A934-4E419417A58A}" srcOrd="0" destOrd="0" presId="urn:microsoft.com/office/officeart/2005/8/layout/list1"/>
    <dgm:cxn modelId="{66DB06AF-CCC4-499B-9ACA-627A796465EF}" srcId="{FE89A495-BC83-409A-AC2B-549EAA78055A}" destId="{55B49D55-D319-4B9F-A36B-CE11E8AC998E}" srcOrd="4" destOrd="0" parTransId="{1A050BF0-D216-40FF-9B05-1D64635C9390}" sibTransId="{92FD2D72-4202-49D9-BBFF-71FC3DB27D20}"/>
    <dgm:cxn modelId="{18C354FA-360D-4C87-B1F0-19F3D81DA0F2}" srcId="{FE89A495-BC83-409A-AC2B-549EAA78055A}" destId="{4F1C514D-EC92-48AE-92A9-0965E2505078}" srcOrd="2" destOrd="0" parTransId="{A24A4648-ADA6-4C5B-B1F0-F82753815B57}" sibTransId="{D8770B32-775A-48CF-ADCE-7D0E9A46DD89}"/>
    <dgm:cxn modelId="{69FB4434-E68D-4920-BE13-A5528C41C68F}" type="presParOf" srcId="{83D3C41A-A349-4495-A934-4E419417A58A}" destId="{A6D737D4-75FA-45BA-8DF8-335747CBED5A}" srcOrd="0" destOrd="0" presId="urn:microsoft.com/office/officeart/2005/8/layout/list1"/>
    <dgm:cxn modelId="{4D5B5848-27C1-4189-80AC-3CBB6E4DBD67}" type="presParOf" srcId="{A6D737D4-75FA-45BA-8DF8-335747CBED5A}" destId="{9101E35E-8AC9-4664-B614-F6663981EC26}" srcOrd="0" destOrd="0" presId="urn:microsoft.com/office/officeart/2005/8/layout/list1"/>
    <dgm:cxn modelId="{E788DEB0-F021-41DA-9B7E-AF8DF23576B9}" type="presParOf" srcId="{A6D737D4-75FA-45BA-8DF8-335747CBED5A}" destId="{91615320-4CF6-4AA6-903B-2DA45376792B}" srcOrd="1" destOrd="0" presId="urn:microsoft.com/office/officeart/2005/8/layout/list1"/>
    <dgm:cxn modelId="{1B3D4287-7FA3-4D17-9516-E910800EBD16}" type="presParOf" srcId="{83D3C41A-A349-4495-A934-4E419417A58A}" destId="{8F5EF893-41E9-44A1-8F73-4C7294540170}" srcOrd="1" destOrd="0" presId="urn:microsoft.com/office/officeart/2005/8/layout/list1"/>
    <dgm:cxn modelId="{0465D55C-84AF-4D0A-8A84-61E55AC3B301}" type="presParOf" srcId="{83D3C41A-A349-4495-A934-4E419417A58A}" destId="{682F3400-ACEA-4BF2-B7EA-1224E7E39347}" srcOrd="2"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8972B69-4B4F-436A-B547-1FADC4FB29B4}"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A75A4D4B-BFE9-4B6F-9A81-9F9C96F5DA38}">
      <dgm:prSet/>
      <dgm:spPr/>
      <dgm:t>
        <a:bodyPr/>
        <a:lstStyle/>
        <a:p>
          <a:r>
            <a:rPr lang="en-US" dirty="0"/>
            <a:t>define nodes and edges</a:t>
          </a:r>
        </a:p>
      </dgm:t>
    </dgm:pt>
    <dgm:pt modelId="{4FAABBF4-AB55-44FE-B6F0-B4BF829D004F}" type="parTrans" cxnId="{7F9DA8A4-8191-4121-8DA1-F0552EB3E440}">
      <dgm:prSet/>
      <dgm:spPr/>
      <dgm:t>
        <a:bodyPr/>
        <a:lstStyle/>
        <a:p>
          <a:endParaRPr lang="en-US"/>
        </a:p>
      </dgm:t>
    </dgm:pt>
    <dgm:pt modelId="{7E1354BB-EC61-4A45-99C9-75C6202CC56A}" type="sibTrans" cxnId="{7F9DA8A4-8191-4121-8DA1-F0552EB3E440}">
      <dgm:prSet/>
      <dgm:spPr/>
      <dgm:t>
        <a:bodyPr/>
        <a:lstStyle/>
        <a:p>
          <a:endParaRPr lang="en-US"/>
        </a:p>
      </dgm:t>
    </dgm:pt>
    <dgm:pt modelId="{762E9E27-EBBE-45D3-A44F-AE222DD7783A}">
      <dgm:prSet/>
      <dgm:spPr/>
      <dgm:t>
        <a:bodyPr/>
        <a:lstStyle/>
        <a:p>
          <a:r>
            <a:rPr lang="en-US" dirty="0"/>
            <a:t>build an adjacency list</a:t>
          </a:r>
        </a:p>
      </dgm:t>
    </dgm:pt>
    <dgm:pt modelId="{203BC3C2-4EA4-4614-9D8F-A2DB4A40B60B}" type="parTrans" cxnId="{08457868-B762-493F-9740-7F181E8ACDFB}">
      <dgm:prSet/>
      <dgm:spPr/>
      <dgm:t>
        <a:bodyPr/>
        <a:lstStyle/>
        <a:p>
          <a:endParaRPr lang="en-US"/>
        </a:p>
      </dgm:t>
    </dgm:pt>
    <dgm:pt modelId="{A1583ABF-C6A3-4E56-95A5-DF031DF4AF31}" type="sibTrans" cxnId="{08457868-B762-493F-9740-7F181E8ACDFB}">
      <dgm:prSet/>
      <dgm:spPr/>
      <dgm:t>
        <a:bodyPr/>
        <a:lstStyle/>
        <a:p>
          <a:endParaRPr lang="en-US"/>
        </a:p>
      </dgm:t>
    </dgm:pt>
    <dgm:pt modelId="{433C7199-25DA-4DB3-8FD9-B136F5EE1469}">
      <dgm:prSet/>
      <dgm:spPr/>
      <dgm:t>
        <a:bodyPr/>
        <a:lstStyle/>
        <a:p>
          <a:r>
            <a:rPr lang="en-US" dirty="0"/>
            <a:t>trace BFS or DFS</a:t>
          </a:r>
        </a:p>
      </dgm:t>
    </dgm:pt>
    <dgm:pt modelId="{E5C98F26-600E-4157-B9BA-27214D5B1DF1}" type="parTrans" cxnId="{D065D188-A909-4DB1-9A8B-3BAA14EDD6E2}">
      <dgm:prSet/>
      <dgm:spPr/>
      <dgm:t>
        <a:bodyPr/>
        <a:lstStyle/>
        <a:p>
          <a:endParaRPr lang="en-US"/>
        </a:p>
      </dgm:t>
    </dgm:pt>
    <dgm:pt modelId="{BCBD9A0A-4210-45C8-85F6-8254A5BF0F7F}" type="sibTrans" cxnId="{D065D188-A909-4DB1-9A8B-3BAA14EDD6E2}">
      <dgm:prSet/>
      <dgm:spPr/>
      <dgm:t>
        <a:bodyPr/>
        <a:lstStyle/>
        <a:p>
          <a:endParaRPr lang="en-US"/>
        </a:p>
      </dgm:t>
    </dgm:pt>
    <dgm:pt modelId="{CEA18326-C714-4A9C-9072-3D137A5E39D7}">
      <dgm:prSet/>
      <dgm:spPr/>
      <dgm:t>
        <a:bodyPr/>
        <a:lstStyle/>
        <a:p>
          <a:r>
            <a:rPr lang="en-US" dirty="0"/>
            <a:t>explain traversal evidence</a:t>
          </a:r>
        </a:p>
      </dgm:t>
    </dgm:pt>
    <dgm:pt modelId="{0CEBE07C-11EE-4347-95BD-56C8B3DB52AF}" type="parTrans" cxnId="{8B658DD0-56FB-4A1C-AC50-594210465EC1}">
      <dgm:prSet/>
      <dgm:spPr/>
      <dgm:t>
        <a:bodyPr/>
        <a:lstStyle/>
        <a:p>
          <a:endParaRPr lang="en-US"/>
        </a:p>
      </dgm:t>
    </dgm:pt>
    <dgm:pt modelId="{CCD52302-FC7E-425B-A46B-A8030D60DDDE}" type="sibTrans" cxnId="{8B658DD0-56FB-4A1C-AC50-594210465EC1}">
      <dgm:prSet/>
      <dgm:spPr/>
      <dgm:t>
        <a:bodyPr/>
        <a:lstStyle/>
        <a:p>
          <a:endParaRPr lang="en-US"/>
        </a:p>
      </dgm:t>
    </dgm:pt>
    <dgm:pt modelId="{C48C0BF8-C9DA-4EBB-943D-4E321DAEB9FC}">
      <dgm:prSet/>
      <dgm:spPr/>
      <dgm:t>
        <a:bodyPr/>
        <a:lstStyle/>
        <a:p>
          <a:r>
            <a:rPr lang="en-US" dirty="0"/>
            <a:t>name what the graph le</a:t>
          </a:r>
        </a:p>
      </dgm:t>
    </dgm:pt>
    <dgm:pt modelId="{E59F4878-C5A2-4B2F-B7FE-101EAF72ABC7}" type="parTrans" cxnId="{96C31F6F-7BE1-46D3-BCA5-71B0D3449E2A}">
      <dgm:prSet/>
      <dgm:spPr/>
      <dgm:t>
        <a:bodyPr/>
        <a:lstStyle/>
        <a:p>
          <a:endParaRPr lang="en-US"/>
        </a:p>
      </dgm:t>
    </dgm:pt>
    <dgm:pt modelId="{304A8572-762D-4EA2-A457-6E32228CCB90}" type="sibTrans" cxnId="{96C31F6F-7BE1-46D3-BCA5-71B0D3449E2A}">
      <dgm:prSet/>
      <dgm:spPr/>
      <dgm:t>
        <a:bodyPr/>
        <a:lstStyle/>
        <a:p>
          <a:endParaRPr lang="en-US"/>
        </a:p>
      </dgm:t>
    </dgm:pt>
    <dgm:pt modelId="{C74AEAA8-95AA-4DD2-B5BF-AF2613DDA678}" type="pres">
      <dgm:prSet presAssocID="{A8972B69-4B4F-436A-B547-1FADC4FB29B4}" presName="linear" presStyleCnt="0">
        <dgm:presLayoutVars>
          <dgm:animLvl val="lvl"/>
          <dgm:resizeHandles val="exact"/>
        </dgm:presLayoutVars>
      </dgm:prSet>
      <dgm:spPr/>
    </dgm:pt>
    <dgm:pt modelId="{C717DEE2-2529-4048-A027-0347422F7B4B}" type="pres">
      <dgm:prSet presAssocID="{A75A4D4B-BFE9-4B6F-9A81-9F9C96F5DA38}" presName="parentText" presStyleLbl="node1" presStyleIdx="0" presStyleCnt="5">
        <dgm:presLayoutVars>
          <dgm:chMax val="0"/>
          <dgm:bulletEnabled val="1"/>
        </dgm:presLayoutVars>
      </dgm:prSet>
      <dgm:spPr/>
    </dgm:pt>
    <dgm:pt modelId="{4287A08D-B1A3-4BC4-BB02-712CE914270A}" type="pres">
      <dgm:prSet presAssocID="{7E1354BB-EC61-4A45-99C9-75C6202CC56A}" presName="spacer" presStyleCnt="0"/>
      <dgm:spPr/>
    </dgm:pt>
    <dgm:pt modelId="{183EE0D5-5538-40BA-915B-CD7C8B64CA4A}" type="pres">
      <dgm:prSet presAssocID="{762E9E27-EBBE-45D3-A44F-AE222DD7783A}" presName="parentText" presStyleLbl="node1" presStyleIdx="1" presStyleCnt="5">
        <dgm:presLayoutVars>
          <dgm:chMax val="0"/>
          <dgm:bulletEnabled val="1"/>
        </dgm:presLayoutVars>
      </dgm:prSet>
      <dgm:spPr/>
    </dgm:pt>
    <dgm:pt modelId="{5497948C-E719-4475-B451-C4D9AAF3F57B}" type="pres">
      <dgm:prSet presAssocID="{A1583ABF-C6A3-4E56-95A5-DF031DF4AF31}" presName="spacer" presStyleCnt="0"/>
      <dgm:spPr/>
    </dgm:pt>
    <dgm:pt modelId="{A0608188-2D70-432D-9373-5C72BF557EDA}" type="pres">
      <dgm:prSet presAssocID="{433C7199-25DA-4DB3-8FD9-B136F5EE1469}" presName="parentText" presStyleLbl="node1" presStyleIdx="2" presStyleCnt="5">
        <dgm:presLayoutVars>
          <dgm:chMax val="0"/>
          <dgm:bulletEnabled val="1"/>
        </dgm:presLayoutVars>
      </dgm:prSet>
      <dgm:spPr/>
    </dgm:pt>
    <dgm:pt modelId="{18683908-C924-4705-BDCB-D5F0A79D5F8B}" type="pres">
      <dgm:prSet presAssocID="{BCBD9A0A-4210-45C8-85F6-8254A5BF0F7F}" presName="spacer" presStyleCnt="0"/>
      <dgm:spPr/>
    </dgm:pt>
    <dgm:pt modelId="{F0F5511A-3BB8-4688-9645-9ECA6DE8EDA4}" type="pres">
      <dgm:prSet presAssocID="{CEA18326-C714-4A9C-9072-3D137A5E39D7}" presName="parentText" presStyleLbl="node1" presStyleIdx="3" presStyleCnt="5">
        <dgm:presLayoutVars>
          <dgm:chMax val="0"/>
          <dgm:bulletEnabled val="1"/>
        </dgm:presLayoutVars>
      </dgm:prSet>
      <dgm:spPr/>
    </dgm:pt>
    <dgm:pt modelId="{CF5525E8-4FF6-426E-9C04-3749C1A9BD53}" type="pres">
      <dgm:prSet presAssocID="{CCD52302-FC7E-425B-A46B-A8030D60DDDE}" presName="spacer" presStyleCnt="0"/>
      <dgm:spPr/>
    </dgm:pt>
    <dgm:pt modelId="{F00A6A64-B757-4B8A-ABA9-4781CFD9BAAE}" type="pres">
      <dgm:prSet presAssocID="{C48C0BF8-C9DA-4EBB-943D-4E321DAEB9FC}" presName="parentText" presStyleLbl="node1" presStyleIdx="4" presStyleCnt="5">
        <dgm:presLayoutVars>
          <dgm:chMax val="0"/>
          <dgm:bulletEnabled val="1"/>
        </dgm:presLayoutVars>
      </dgm:prSet>
      <dgm:spPr/>
    </dgm:pt>
  </dgm:ptLst>
  <dgm:cxnLst>
    <dgm:cxn modelId="{14B4F023-05F6-4739-ADAD-11AD72795B45}" type="presOf" srcId="{C48C0BF8-C9DA-4EBB-943D-4E321DAEB9FC}" destId="{F00A6A64-B757-4B8A-ABA9-4781CFD9BAAE}" srcOrd="0" destOrd="0" presId="urn:microsoft.com/office/officeart/2005/8/layout/vList2"/>
    <dgm:cxn modelId="{1B680238-4797-4EB3-9278-C543318337F7}" type="presOf" srcId="{CEA18326-C714-4A9C-9072-3D137A5E39D7}" destId="{F0F5511A-3BB8-4688-9645-9ECA6DE8EDA4}" srcOrd="0" destOrd="0" presId="urn:microsoft.com/office/officeart/2005/8/layout/vList2"/>
    <dgm:cxn modelId="{08457868-B762-493F-9740-7F181E8ACDFB}" srcId="{A8972B69-4B4F-436A-B547-1FADC4FB29B4}" destId="{762E9E27-EBBE-45D3-A44F-AE222DD7783A}" srcOrd="1" destOrd="0" parTransId="{203BC3C2-4EA4-4614-9D8F-A2DB4A40B60B}" sibTransId="{A1583ABF-C6A3-4E56-95A5-DF031DF4AF31}"/>
    <dgm:cxn modelId="{B220736C-DC10-49BA-B44B-C60CC61C39F7}" type="presOf" srcId="{433C7199-25DA-4DB3-8FD9-B136F5EE1469}" destId="{A0608188-2D70-432D-9373-5C72BF557EDA}" srcOrd="0" destOrd="0" presId="urn:microsoft.com/office/officeart/2005/8/layout/vList2"/>
    <dgm:cxn modelId="{96C31F6F-7BE1-46D3-BCA5-71B0D3449E2A}" srcId="{A8972B69-4B4F-436A-B547-1FADC4FB29B4}" destId="{C48C0BF8-C9DA-4EBB-943D-4E321DAEB9FC}" srcOrd="4" destOrd="0" parTransId="{E59F4878-C5A2-4B2F-B7FE-101EAF72ABC7}" sibTransId="{304A8572-762D-4EA2-A457-6E32228CCB90}"/>
    <dgm:cxn modelId="{D065D188-A909-4DB1-9A8B-3BAA14EDD6E2}" srcId="{A8972B69-4B4F-436A-B547-1FADC4FB29B4}" destId="{433C7199-25DA-4DB3-8FD9-B136F5EE1469}" srcOrd="2" destOrd="0" parTransId="{E5C98F26-600E-4157-B9BA-27214D5B1DF1}" sibTransId="{BCBD9A0A-4210-45C8-85F6-8254A5BF0F7F}"/>
    <dgm:cxn modelId="{7F9DA8A4-8191-4121-8DA1-F0552EB3E440}" srcId="{A8972B69-4B4F-436A-B547-1FADC4FB29B4}" destId="{A75A4D4B-BFE9-4B6F-9A81-9F9C96F5DA38}" srcOrd="0" destOrd="0" parTransId="{4FAABBF4-AB55-44FE-B6F0-B4BF829D004F}" sibTransId="{7E1354BB-EC61-4A45-99C9-75C6202CC56A}"/>
    <dgm:cxn modelId="{F3DDD4B0-98F6-48B6-ACA5-ADB06939BE37}" type="presOf" srcId="{A8972B69-4B4F-436A-B547-1FADC4FB29B4}" destId="{C74AEAA8-95AA-4DD2-B5BF-AF2613DDA678}" srcOrd="0" destOrd="0" presId="urn:microsoft.com/office/officeart/2005/8/layout/vList2"/>
    <dgm:cxn modelId="{414326CC-859F-45A0-BFF5-899BC45891B2}" type="presOf" srcId="{A75A4D4B-BFE9-4B6F-9A81-9F9C96F5DA38}" destId="{C717DEE2-2529-4048-A027-0347422F7B4B}" srcOrd="0" destOrd="0" presId="urn:microsoft.com/office/officeart/2005/8/layout/vList2"/>
    <dgm:cxn modelId="{8B658DD0-56FB-4A1C-AC50-594210465EC1}" srcId="{A8972B69-4B4F-436A-B547-1FADC4FB29B4}" destId="{CEA18326-C714-4A9C-9072-3D137A5E39D7}" srcOrd="3" destOrd="0" parTransId="{0CEBE07C-11EE-4347-95BD-56C8B3DB52AF}" sibTransId="{CCD52302-FC7E-425B-A46B-A8030D60DDDE}"/>
    <dgm:cxn modelId="{CE717EF6-7F75-45C8-9C3A-0F19C104ECDE}" type="presOf" srcId="{762E9E27-EBBE-45D3-A44F-AE222DD7783A}" destId="{183EE0D5-5538-40BA-915B-CD7C8B64CA4A}" srcOrd="0" destOrd="0" presId="urn:microsoft.com/office/officeart/2005/8/layout/vList2"/>
    <dgm:cxn modelId="{44C282F8-026D-4D0E-88F8-71C8338D4947}" type="presParOf" srcId="{C74AEAA8-95AA-4DD2-B5BF-AF2613DDA678}" destId="{C717DEE2-2529-4048-A027-0347422F7B4B}" srcOrd="0" destOrd="0" presId="urn:microsoft.com/office/officeart/2005/8/layout/vList2"/>
    <dgm:cxn modelId="{A2FC0041-DBBC-4347-B284-15C177BA5CBB}" type="presParOf" srcId="{C74AEAA8-95AA-4DD2-B5BF-AF2613DDA678}" destId="{4287A08D-B1A3-4BC4-BB02-712CE914270A}" srcOrd="1" destOrd="0" presId="urn:microsoft.com/office/officeart/2005/8/layout/vList2"/>
    <dgm:cxn modelId="{425EE243-1FBA-408A-9D00-08E781FB2A29}" type="presParOf" srcId="{C74AEAA8-95AA-4DD2-B5BF-AF2613DDA678}" destId="{183EE0D5-5538-40BA-915B-CD7C8B64CA4A}" srcOrd="2" destOrd="0" presId="urn:microsoft.com/office/officeart/2005/8/layout/vList2"/>
    <dgm:cxn modelId="{B6DE7434-B704-4BB0-B624-6D25E8372AFC}" type="presParOf" srcId="{C74AEAA8-95AA-4DD2-B5BF-AF2613DDA678}" destId="{5497948C-E719-4475-B451-C4D9AAF3F57B}" srcOrd="3" destOrd="0" presId="urn:microsoft.com/office/officeart/2005/8/layout/vList2"/>
    <dgm:cxn modelId="{848E0287-0A99-4702-94B0-F7F018218CFC}" type="presParOf" srcId="{C74AEAA8-95AA-4DD2-B5BF-AF2613DDA678}" destId="{A0608188-2D70-432D-9373-5C72BF557EDA}" srcOrd="4" destOrd="0" presId="urn:microsoft.com/office/officeart/2005/8/layout/vList2"/>
    <dgm:cxn modelId="{355570CF-3DD9-4D40-9768-AF1C5DF5E965}" type="presParOf" srcId="{C74AEAA8-95AA-4DD2-B5BF-AF2613DDA678}" destId="{18683908-C924-4705-BDCB-D5F0A79D5F8B}" srcOrd="5" destOrd="0" presId="urn:microsoft.com/office/officeart/2005/8/layout/vList2"/>
    <dgm:cxn modelId="{E1C5A040-A625-466C-BBBC-67C351EC08E1}" type="presParOf" srcId="{C74AEAA8-95AA-4DD2-B5BF-AF2613DDA678}" destId="{F0F5511A-3BB8-4688-9645-9ECA6DE8EDA4}" srcOrd="6" destOrd="0" presId="urn:microsoft.com/office/officeart/2005/8/layout/vList2"/>
    <dgm:cxn modelId="{F0D263BE-2F63-4CCE-B80F-5C099FBBD195}" type="presParOf" srcId="{C74AEAA8-95AA-4DD2-B5BF-AF2613DDA678}" destId="{CF5525E8-4FF6-426E-9C04-3749C1A9BD53}" srcOrd="7" destOrd="0" presId="urn:microsoft.com/office/officeart/2005/8/layout/vList2"/>
    <dgm:cxn modelId="{C2ABAA9D-9546-4400-B07B-14D052B2148C}" type="presParOf" srcId="{C74AEAA8-95AA-4DD2-B5BF-AF2613DDA678}" destId="{F00A6A64-B757-4B8A-ABA9-4781CFD9BAAE}"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AAA8DB5-FF99-401A-91F6-E8075BCA28CE}" type="doc">
      <dgm:prSet loTypeId="urn:microsoft.com/office/officeart/2005/8/layout/vList5" loCatId="list" qsTypeId="urn:microsoft.com/office/officeart/2005/8/quickstyle/simple1" qsCatId="simple" csTypeId="urn:microsoft.com/office/officeart/2005/8/colors/colorful2" csCatId="colorful" phldr="1"/>
      <dgm:spPr/>
      <dgm:t>
        <a:bodyPr/>
        <a:lstStyle/>
        <a:p>
          <a:endParaRPr lang="en-US"/>
        </a:p>
      </dgm:t>
    </dgm:pt>
    <dgm:pt modelId="{AA235B5A-4798-4E7C-B667-299852863DA5}">
      <dgm:prSet/>
      <dgm:spPr/>
      <dgm:t>
        <a:bodyPr/>
        <a:lstStyle/>
        <a:p>
          <a:pPr>
            <a:defRPr b="1"/>
          </a:pPr>
          <a:r>
            <a:rPr lang="en-US" dirty="0"/>
            <a:t>Problem:</a:t>
          </a:r>
        </a:p>
      </dgm:t>
    </dgm:pt>
    <dgm:pt modelId="{DD75BC40-2176-42E4-9BE1-6A58AFFA1E93}" type="parTrans" cxnId="{C0406F1A-9BF3-4559-86BE-3D48BA1D7F8C}">
      <dgm:prSet/>
      <dgm:spPr/>
      <dgm:t>
        <a:bodyPr/>
        <a:lstStyle/>
        <a:p>
          <a:endParaRPr lang="en-US"/>
        </a:p>
      </dgm:t>
    </dgm:pt>
    <dgm:pt modelId="{8C7FA012-410C-4AC2-A96F-D490BD20D34E}" type="sibTrans" cxnId="{C0406F1A-9BF3-4559-86BE-3D48BA1D7F8C}">
      <dgm:prSet/>
      <dgm:spPr/>
      <dgm:t>
        <a:bodyPr/>
        <a:lstStyle/>
        <a:p>
          <a:endParaRPr lang="en-US"/>
        </a:p>
      </dgm:t>
    </dgm:pt>
    <dgm:pt modelId="{DCC2D82A-496F-46E7-9E8A-A0486B509E04}">
      <dgm:prSet/>
      <dgm:spPr/>
      <dgm:t>
        <a:bodyPr/>
        <a:lstStyle/>
        <a:p>
          <a:pPr>
            <a:buNone/>
          </a:pPr>
          <a:r>
            <a:rPr lang="en-US" b="0" dirty="0"/>
            <a:t>Model a small campus route map with buildings as nodes and sidewalks as edges</a:t>
          </a:r>
          <a:endParaRPr lang="en-US" dirty="0"/>
        </a:p>
      </dgm:t>
    </dgm:pt>
    <dgm:pt modelId="{1E619D72-4575-451A-8238-425288ACFD5D}" type="parTrans" cxnId="{BAEA7038-0028-4D30-B2EA-9EA79EAADE56}">
      <dgm:prSet/>
      <dgm:spPr/>
      <dgm:t>
        <a:bodyPr/>
        <a:lstStyle/>
        <a:p>
          <a:endParaRPr lang="en-US"/>
        </a:p>
      </dgm:t>
    </dgm:pt>
    <dgm:pt modelId="{01A84278-F8B7-40CC-BFB2-6B5D2202F605}" type="sibTrans" cxnId="{BAEA7038-0028-4D30-B2EA-9EA79EAADE56}">
      <dgm:prSet/>
      <dgm:spPr/>
      <dgm:t>
        <a:bodyPr/>
        <a:lstStyle/>
        <a:p>
          <a:endParaRPr lang="en-US"/>
        </a:p>
      </dgm:t>
    </dgm:pt>
    <dgm:pt modelId="{8477E477-1E41-4B0A-BB1B-4D130CB76604}">
      <dgm:prSet/>
      <dgm:spPr/>
      <dgm:t>
        <a:bodyPr/>
        <a:lstStyle/>
        <a:p>
          <a:r>
            <a:rPr lang="en-US"/>
            <a:t>Goal</a:t>
          </a:r>
          <a:endParaRPr lang="en-US" dirty="0"/>
        </a:p>
      </dgm:t>
    </dgm:pt>
    <dgm:pt modelId="{BA84F64B-5E00-4D9D-845F-89BB91336190}" type="parTrans" cxnId="{B4B2B3B3-C6E8-4D80-9020-47736BC413A8}">
      <dgm:prSet/>
      <dgm:spPr/>
      <dgm:t>
        <a:bodyPr/>
        <a:lstStyle/>
        <a:p>
          <a:endParaRPr lang="en-US"/>
        </a:p>
      </dgm:t>
    </dgm:pt>
    <dgm:pt modelId="{89818D42-9F23-49BA-926F-2EA7F1BF1B62}" type="sibTrans" cxnId="{B4B2B3B3-C6E8-4D80-9020-47736BC413A8}">
      <dgm:prSet/>
      <dgm:spPr/>
      <dgm:t>
        <a:bodyPr/>
        <a:lstStyle/>
        <a:p>
          <a:endParaRPr lang="en-US"/>
        </a:p>
      </dgm:t>
    </dgm:pt>
    <dgm:pt modelId="{F9D55C77-E36E-4514-8E70-474B6DD9CCE5}">
      <dgm:prSet/>
      <dgm:spPr/>
      <dgm:t>
        <a:bodyPr/>
        <a:lstStyle/>
        <a:p>
          <a:pPr>
            <a:buNone/>
          </a:pPr>
          <a:r>
            <a:rPr lang="en-US" b="0" dirty="0"/>
            <a:t>Demonstrate:</a:t>
          </a:r>
          <a:endParaRPr lang="en-US" dirty="0"/>
        </a:p>
      </dgm:t>
    </dgm:pt>
    <dgm:pt modelId="{4AA9C821-F785-436F-92ED-9504A44974AF}" type="parTrans" cxnId="{AB1AB01D-90AC-4BDD-9C7F-7B2ADD93144A}">
      <dgm:prSet/>
      <dgm:spPr/>
      <dgm:t>
        <a:bodyPr/>
        <a:lstStyle/>
        <a:p>
          <a:endParaRPr lang="en-US"/>
        </a:p>
      </dgm:t>
    </dgm:pt>
    <dgm:pt modelId="{B6E5B23B-38E7-4960-B0CF-EC13EF3322C4}" type="sibTrans" cxnId="{AB1AB01D-90AC-4BDD-9C7F-7B2ADD93144A}">
      <dgm:prSet/>
      <dgm:spPr/>
      <dgm:t>
        <a:bodyPr/>
        <a:lstStyle/>
        <a:p>
          <a:endParaRPr lang="en-US"/>
        </a:p>
      </dgm:t>
    </dgm:pt>
    <dgm:pt modelId="{A2E9A99F-EC59-4DD7-9717-7A4E0E6AD983}">
      <dgm:prSet/>
      <dgm:spPr/>
      <dgm:t>
        <a:bodyPr/>
        <a:lstStyle/>
        <a:p>
          <a:pPr>
            <a:buFont typeface="Arial" panose="020B0604020202020204" pitchFamily="34" charset="0"/>
            <a:buChar char="•"/>
          </a:pPr>
          <a:r>
            <a:rPr lang="en-US" b="0" dirty="0"/>
            <a:t>a text diagram of the route map</a:t>
          </a:r>
        </a:p>
      </dgm:t>
    </dgm:pt>
    <dgm:pt modelId="{8A3A8BF5-4826-45C0-8D8B-6EC1ED48AC24}" type="parTrans" cxnId="{5F081629-5FCF-40D5-9B5F-745B55EF9F7C}">
      <dgm:prSet/>
      <dgm:spPr/>
      <dgm:t>
        <a:bodyPr/>
        <a:lstStyle/>
        <a:p>
          <a:endParaRPr lang="en-US"/>
        </a:p>
      </dgm:t>
    </dgm:pt>
    <dgm:pt modelId="{0A061CE5-CDFC-42CF-BB84-83679F27AB30}" type="sibTrans" cxnId="{5F081629-5FCF-40D5-9B5F-745B55EF9F7C}">
      <dgm:prSet/>
      <dgm:spPr/>
      <dgm:t>
        <a:bodyPr/>
        <a:lstStyle/>
        <a:p>
          <a:endParaRPr lang="en-US"/>
        </a:p>
      </dgm:t>
    </dgm:pt>
    <dgm:pt modelId="{22987A57-80FB-46D2-82B8-289783FA5C6F}">
      <dgm:prSet/>
      <dgm:spPr/>
      <dgm:t>
        <a:bodyPr/>
        <a:lstStyle/>
        <a:p>
          <a:pPr>
            <a:buFont typeface="Arial" panose="020B0604020202020204" pitchFamily="34" charset="0"/>
            <a:buChar char="•"/>
          </a:pPr>
          <a:r>
            <a:rPr lang="en-US" b="0" dirty="0"/>
            <a:t>adjacency-list creation</a:t>
          </a:r>
        </a:p>
      </dgm:t>
    </dgm:pt>
    <dgm:pt modelId="{67D5B910-E6C0-4CE2-B91A-4B8A10CBF0B7}" type="parTrans" cxnId="{E3367524-3EED-42F7-B7E2-AC1A662BC140}">
      <dgm:prSet/>
      <dgm:spPr/>
      <dgm:t>
        <a:bodyPr/>
        <a:lstStyle/>
        <a:p>
          <a:endParaRPr lang="en-US"/>
        </a:p>
      </dgm:t>
    </dgm:pt>
    <dgm:pt modelId="{27E627CB-F1B9-40ED-A9B5-32F85C1944FC}" type="sibTrans" cxnId="{E3367524-3EED-42F7-B7E2-AC1A662BC140}">
      <dgm:prSet/>
      <dgm:spPr/>
      <dgm:t>
        <a:bodyPr/>
        <a:lstStyle/>
        <a:p>
          <a:endParaRPr lang="en-US"/>
        </a:p>
      </dgm:t>
    </dgm:pt>
    <dgm:pt modelId="{D616DE10-7871-4D91-B9D4-51CF2D32C93E}">
      <dgm:prSet/>
      <dgm:spPr/>
      <dgm:t>
        <a:bodyPr/>
        <a:lstStyle/>
        <a:p>
          <a:pPr>
            <a:buFont typeface="Arial" panose="020B0604020202020204" pitchFamily="34" charset="0"/>
            <a:buChar char="•"/>
          </a:pPr>
          <a:r>
            <a:rPr lang="en-US" b="0" dirty="0"/>
            <a:t>BFS traversal from one start building</a:t>
          </a:r>
        </a:p>
      </dgm:t>
    </dgm:pt>
    <dgm:pt modelId="{41500957-478B-4101-B1ED-2752F46814D0}" type="parTrans" cxnId="{C2C0D1A0-56C3-42F0-BDAD-6D040E021188}">
      <dgm:prSet/>
      <dgm:spPr/>
      <dgm:t>
        <a:bodyPr/>
        <a:lstStyle/>
        <a:p>
          <a:endParaRPr lang="en-US"/>
        </a:p>
      </dgm:t>
    </dgm:pt>
    <dgm:pt modelId="{7E54929D-C3AF-488F-8AD8-8D502EDBB777}" type="sibTrans" cxnId="{C2C0D1A0-56C3-42F0-BDAD-6D040E021188}">
      <dgm:prSet/>
      <dgm:spPr/>
      <dgm:t>
        <a:bodyPr/>
        <a:lstStyle/>
        <a:p>
          <a:endParaRPr lang="en-US"/>
        </a:p>
      </dgm:t>
    </dgm:pt>
    <dgm:pt modelId="{BC78290A-9FEA-4EAA-AC5A-CE2A12F7A037}">
      <dgm:prSet/>
      <dgm:spPr/>
      <dgm:t>
        <a:bodyPr/>
        <a:lstStyle/>
        <a:p>
          <a:pPr>
            <a:buFont typeface="Arial" panose="020B0604020202020204" pitchFamily="34" charset="0"/>
            <a:buChar char="•"/>
          </a:pPr>
          <a:r>
            <a:rPr lang="en-US" b="0" dirty="0"/>
            <a:t>DFS traversal from the same start building</a:t>
          </a:r>
        </a:p>
      </dgm:t>
    </dgm:pt>
    <dgm:pt modelId="{3FE3EC35-9516-4BED-AF01-CD6A5C2D0AE2}" type="parTrans" cxnId="{83ABB09F-BDFF-4FE0-9D75-DF0529116E91}">
      <dgm:prSet/>
      <dgm:spPr/>
      <dgm:t>
        <a:bodyPr/>
        <a:lstStyle/>
        <a:p>
          <a:endParaRPr lang="en-US"/>
        </a:p>
      </dgm:t>
    </dgm:pt>
    <dgm:pt modelId="{78F3DF66-440D-4D39-AFA9-4BD5E357903A}" type="sibTrans" cxnId="{83ABB09F-BDFF-4FE0-9D75-DF0529116E91}">
      <dgm:prSet/>
      <dgm:spPr/>
      <dgm:t>
        <a:bodyPr/>
        <a:lstStyle/>
        <a:p>
          <a:endParaRPr lang="en-US"/>
        </a:p>
      </dgm:t>
    </dgm:pt>
    <dgm:pt modelId="{5210DC90-2BA6-45D5-8AAE-1A0ED2466398}" type="pres">
      <dgm:prSet presAssocID="{BAAA8DB5-FF99-401A-91F6-E8075BCA28CE}" presName="Name0" presStyleCnt="0">
        <dgm:presLayoutVars>
          <dgm:dir/>
          <dgm:animLvl val="lvl"/>
          <dgm:resizeHandles val="exact"/>
        </dgm:presLayoutVars>
      </dgm:prSet>
      <dgm:spPr/>
    </dgm:pt>
    <dgm:pt modelId="{E09BFB03-DCE5-4F69-B1EA-8BFFFC32A2F1}" type="pres">
      <dgm:prSet presAssocID="{AA235B5A-4798-4E7C-B667-299852863DA5}" presName="linNode" presStyleCnt="0"/>
      <dgm:spPr/>
    </dgm:pt>
    <dgm:pt modelId="{30D56222-46DC-49B6-93B9-D527764F5239}" type="pres">
      <dgm:prSet presAssocID="{AA235B5A-4798-4E7C-B667-299852863DA5}" presName="parentText" presStyleLbl="node1" presStyleIdx="0" presStyleCnt="2">
        <dgm:presLayoutVars>
          <dgm:chMax val="1"/>
          <dgm:bulletEnabled val="1"/>
        </dgm:presLayoutVars>
      </dgm:prSet>
      <dgm:spPr/>
    </dgm:pt>
    <dgm:pt modelId="{F4F20F46-BD9F-433C-B479-B55A8902755F}" type="pres">
      <dgm:prSet presAssocID="{AA235B5A-4798-4E7C-B667-299852863DA5}" presName="descendantText" presStyleLbl="alignAccFollowNode1" presStyleIdx="0" presStyleCnt="2">
        <dgm:presLayoutVars>
          <dgm:bulletEnabled val="1"/>
        </dgm:presLayoutVars>
      </dgm:prSet>
      <dgm:spPr/>
    </dgm:pt>
    <dgm:pt modelId="{CC14BB53-AFF8-4807-B74B-1D1537452EDE}" type="pres">
      <dgm:prSet presAssocID="{8C7FA012-410C-4AC2-A96F-D490BD20D34E}" presName="sp" presStyleCnt="0"/>
      <dgm:spPr/>
    </dgm:pt>
    <dgm:pt modelId="{08C96191-C635-4119-BDAE-47B734A368C7}" type="pres">
      <dgm:prSet presAssocID="{8477E477-1E41-4B0A-BB1B-4D130CB76604}" presName="linNode" presStyleCnt="0"/>
      <dgm:spPr/>
    </dgm:pt>
    <dgm:pt modelId="{05B628AE-3B1C-4161-A2F2-79CC492C689A}" type="pres">
      <dgm:prSet presAssocID="{8477E477-1E41-4B0A-BB1B-4D130CB76604}" presName="parentText" presStyleLbl="node1" presStyleIdx="1" presStyleCnt="2">
        <dgm:presLayoutVars>
          <dgm:chMax val="1"/>
          <dgm:bulletEnabled val="1"/>
        </dgm:presLayoutVars>
      </dgm:prSet>
      <dgm:spPr/>
    </dgm:pt>
    <dgm:pt modelId="{19B361A2-D7A8-43A5-AA5B-63BFB24FB360}" type="pres">
      <dgm:prSet presAssocID="{8477E477-1E41-4B0A-BB1B-4D130CB76604}" presName="descendantText" presStyleLbl="alignAccFollowNode1" presStyleIdx="1" presStyleCnt="2">
        <dgm:presLayoutVars>
          <dgm:bulletEnabled val="1"/>
        </dgm:presLayoutVars>
      </dgm:prSet>
      <dgm:spPr/>
    </dgm:pt>
  </dgm:ptLst>
  <dgm:cxnLst>
    <dgm:cxn modelId="{C0406F1A-9BF3-4559-86BE-3D48BA1D7F8C}" srcId="{BAAA8DB5-FF99-401A-91F6-E8075BCA28CE}" destId="{AA235B5A-4798-4E7C-B667-299852863DA5}" srcOrd="0" destOrd="0" parTransId="{DD75BC40-2176-42E4-9BE1-6A58AFFA1E93}" sibTransId="{8C7FA012-410C-4AC2-A96F-D490BD20D34E}"/>
    <dgm:cxn modelId="{AB1AB01D-90AC-4BDD-9C7F-7B2ADD93144A}" srcId="{8477E477-1E41-4B0A-BB1B-4D130CB76604}" destId="{F9D55C77-E36E-4514-8E70-474B6DD9CCE5}" srcOrd="0" destOrd="0" parTransId="{4AA9C821-F785-436F-92ED-9504A44974AF}" sibTransId="{B6E5B23B-38E7-4960-B0CF-EC13EF3322C4}"/>
    <dgm:cxn modelId="{E3367524-3EED-42F7-B7E2-AC1A662BC140}" srcId="{F9D55C77-E36E-4514-8E70-474B6DD9CCE5}" destId="{22987A57-80FB-46D2-82B8-289783FA5C6F}" srcOrd="1" destOrd="0" parTransId="{67D5B910-E6C0-4CE2-B91A-4B8A10CBF0B7}" sibTransId="{27E627CB-F1B9-40ED-A9B5-32F85C1944FC}"/>
    <dgm:cxn modelId="{5F081629-5FCF-40D5-9B5F-745B55EF9F7C}" srcId="{F9D55C77-E36E-4514-8E70-474B6DD9CCE5}" destId="{A2E9A99F-EC59-4DD7-9717-7A4E0E6AD983}" srcOrd="0" destOrd="0" parTransId="{8A3A8BF5-4826-45C0-8D8B-6EC1ED48AC24}" sibTransId="{0A061CE5-CDFC-42CF-BB84-83679F27AB30}"/>
    <dgm:cxn modelId="{BAEA7038-0028-4D30-B2EA-9EA79EAADE56}" srcId="{AA235B5A-4798-4E7C-B667-299852863DA5}" destId="{DCC2D82A-496F-46E7-9E8A-A0486B509E04}" srcOrd="0" destOrd="0" parTransId="{1E619D72-4575-451A-8238-425288ACFD5D}" sibTransId="{01A84278-F8B7-40CC-BFB2-6B5D2202F605}"/>
    <dgm:cxn modelId="{6F408241-520C-4B48-9413-C67B2E314D09}" type="presOf" srcId="{A2E9A99F-EC59-4DD7-9717-7A4E0E6AD983}" destId="{19B361A2-D7A8-43A5-AA5B-63BFB24FB360}" srcOrd="0" destOrd="1" presId="urn:microsoft.com/office/officeart/2005/8/layout/vList5"/>
    <dgm:cxn modelId="{62BD157F-8381-4D4E-A28A-47A0D2AAC481}" type="presOf" srcId="{BAAA8DB5-FF99-401A-91F6-E8075BCA28CE}" destId="{5210DC90-2BA6-45D5-8AAE-1A0ED2466398}" srcOrd="0" destOrd="0" presId="urn:microsoft.com/office/officeart/2005/8/layout/vList5"/>
    <dgm:cxn modelId="{56CAA483-5EE7-4B76-A5CC-26EF4817D61F}" type="presOf" srcId="{AA235B5A-4798-4E7C-B667-299852863DA5}" destId="{30D56222-46DC-49B6-93B9-D527764F5239}" srcOrd="0" destOrd="0" presId="urn:microsoft.com/office/officeart/2005/8/layout/vList5"/>
    <dgm:cxn modelId="{62378C95-356B-4F32-A933-DDCF666E42FF}" type="presOf" srcId="{8477E477-1E41-4B0A-BB1B-4D130CB76604}" destId="{05B628AE-3B1C-4161-A2F2-79CC492C689A}" srcOrd="0" destOrd="0" presId="urn:microsoft.com/office/officeart/2005/8/layout/vList5"/>
    <dgm:cxn modelId="{83ABB09F-BDFF-4FE0-9D75-DF0529116E91}" srcId="{F9D55C77-E36E-4514-8E70-474B6DD9CCE5}" destId="{BC78290A-9FEA-4EAA-AC5A-CE2A12F7A037}" srcOrd="3" destOrd="0" parTransId="{3FE3EC35-9516-4BED-AF01-CD6A5C2D0AE2}" sibTransId="{78F3DF66-440D-4D39-AFA9-4BD5E357903A}"/>
    <dgm:cxn modelId="{C2C0D1A0-56C3-42F0-BDAD-6D040E021188}" srcId="{F9D55C77-E36E-4514-8E70-474B6DD9CCE5}" destId="{D616DE10-7871-4D91-B9D4-51CF2D32C93E}" srcOrd="2" destOrd="0" parTransId="{41500957-478B-4101-B1ED-2752F46814D0}" sibTransId="{7E54929D-C3AF-488F-8AD8-8D502EDBB777}"/>
    <dgm:cxn modelId="{A1DCA3A8-1D1C-4379-A71D-2E5F8CC5A4DB}" type="presOf" srcId="{BC78290A-9FEA-4EAA-AC5A-CE2A12F7A037}" destId="{19B361A2-D7A8-43A5-AA5B-63BFB24FB360}" srcOrd="0" destOrd="4" presId="urn:microsoft.com/office/officeart/2005/8/layout/vList5"/>
    <dgm:cxn modelId="{B4B2B3B3-C6E8-4D80-9020-47736BC413A8}" srcId="{BAAA8DB5-FF99-401A-91F6-E8075BCA28CE}" destId="{8477E477-1E41-4B0A-BB1B-4D130CB76604}" srcOrd="1" destOrd="0" parTransId="{BA84F64B-5E00-4D9D-845F-89BB91336190}" sibTransId="{89818D42-9F23-49BA-926F-2EA7F1BF1B62}"/>
    <dgm:cxn modelId="{36FD06C4-C5FD-484E-B771-A85459381CEC}" type="presOf" srcId="{F9D55C77-E36E-4514-8E70-474B6DD9CCE5}" destId="{19B361A2-D7A8-43A5-AA5B-63BFB24FB360}" srcOrd="0" destOrd="0" presId="urn:microsoft.com/office/officeart/2005/8/layout/vList5"/>
    <dgm:cxn modelId="{6FB6D4CA-A29E-4009-83FA-68BB56EAC25D}" type="presOf" srcId="{22987A57-80FB-46D2-82B8-289783FA5C6F}" destId="{19B361A2-D7A8-43A5-AA5B-63BFB24FB360}" srcOrd="0" destOrd="2" presId="urn:microsoft.com/office/officeart/2005/8/layout/vList5"/>
    <dgm:cxn modelId="{63D31FE1-3D3E-4242-8A52-9F53BC716022}" type="presOf" srcId="{DCC2D82A-496F-46E7-9E8A-A0486B509E04}" destId="{F4F20F46-BD9F-433C-B479-B55A8902755F}" srcOrd="0" destOrd="0" presId="urn:microsoft.com/office/officeart/2005/8/layout/vList5"/>
    <dgm:cxn modelId="{A36AD3FB-6477-4D8E-B669-BB89B4C22F2B}" type="presOf" srcId="{D616DE10-7871-4D91-B9D4-51CF2D32C93E}" destId="{19B361A2-D7A8-43A5-AA5B-63BFB24FB360}" srcOrd="0" destOrd="3" presId="urn:microsoft.com/office/officeart/2005/8/layout/vList5"/>
    <dgm:cxn modelId="{52A4E1E3-8DC0-4013-9FFD-C198B88771A5}" type="presParOf" srcId="{5210DC90-2BA6-45D5-8AAE-1A0ED2466398}" destId="{E09BFB03-DCE5-4F69-B1EA-8BFFFC32A2F1}" srcOrd="0" destOrd="0" presId="urn:microsoft.com/office/officeart/2005/8/layout/vList5"/>
    <dgm:cxn modelId="{40323A4D-B556-4197-BB18-1C9D72054432}" type="presParOf" srcId="{E09BFB03-DCE5-4F69-B1EA-8BFFFC32A2F1}" destId="{30D56222-46DC-49B6-93B9-D527764F5239}" srcOrd="0" destOrd="0" presId="urn:microsoft.com/office/officeart/2005/8/layout/vList5"/>
    <dgm:cxn modelId="{7AD647DC-16F5-4BDC-B6C4-F236A4859AC3}" type="presParOf" srcId="{E09BFB03-DCE5-4F69-B1EA-8BFFFC32A2F1}" destId="{F4F20F46-BD9F-433C-B479-B55A8902755F}" srcOrd="1" destOrd="0" presId="urn:microsoft.com/office/officeart/2005/8/layout/vList5"/>
    <dgm:cxn modelId="{32D669A0-DB8A-497F-8BD7-8C3975D8902E}" type="presParOf" srcId="{5210DC90-2BA6-45D5-8AAE-1A0ED2466398}" destId="{CC14BB53-AFF8-4807-B74B-1D1537452EDE}" srcOrd="1" destOrd="0" presId="urn:microsoft.com/office/officeart/2005/8/layout/vList5"/>
    <dgm:cxn modelId="{0D207507-C50D-4D5B-B769-BC01B413712D}" type="presParOf" srcId="{5210DC90-2BA6-45D5-8AAE-1A0ED2466398}" destId="{08C96191-C635-4119-BDAE-47B734A368C7}" srcOrd="2" destOrd="0" presId="urn:microsoft.com/office/officeart/2005/8/layout/vList5"/>
    <dgm:cxn modelId="{768088A2-5113-410F-891B-8344B0FB88E8}" type="presParOf" srcId="{08C96191-C635-4119-BDAE-47B734A368C7}" destId="{05B628AE-3B1C-4161-A2F2-79CC492C689A}" srcOrd="0" destOrd="0" presId="urn:microsoft.com/office/officeart/2005/8/layout/vList5"/>
    <dgm:cxn modelId="{CDA62C63-BBBD-4BC2-BFFC-40727FC21FBE}" type="presParOf" srcId="{08C96191-C635-4119-BDAE-47B734A368C7}" destId="{19B361A2-D7A8-43A5-AA5B-63BFB24FB360}"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F50E9AF-05F3-4A3F-BA18-B74008995350}" type="doc">
      <dgm:prSet loTypeId="urn:microsoft.com/office/officeart/2005/8/layout/default" loCatId="list" qsTypeId="urn:microsoft.com/office/officeart/2005/8/quickstyle/simple4" qsCatId="simple" csTypeId="urn:microsoft.com/office/officeart/2005/8/colors/colorful5" csCatId="colorful" phldr="1"/>
      <dgm:spPr/>
      <dgm:t>
        <a:bodyPr/>
        <a:lstStyle/>
        <a:p>
          <a:endParaRPr lang="en-US"/>
        </a:p>
      </dgm:t>
    </dgm:pt>
    <dgm:pt modelId="{55D04C3B-1303-4690-826F-07DDD27B4301}">
      <dgm:prSet/>
      <dgm:spPr/>
      <dgm:t>
        <a:bodyPr/>
        <a:lstStyle/>
        <a:p>
          <a:r>
            <a:rPr lang="en-US" b="0" dirty="0"/>
            <a:t>at least 6 nodes</a:t>
          </a:r>
          <a:endParaRPr lang="en-US" dirty="0"/>
        </a:p>
      </dgm:t>
    </dgm:pt>
    <dgm:pt modelId="{BBECC7BE-6559-427C-BECE-7F4878B40822}" type="parTrans" cxnId="{9A17ACFE-9369-4C05-9174-178D8CDDA75E}">
      <dgm:prSet/>
      <dgm:spPr/>
      <dgm:t>
        <a:bodyPr/>
        <a:lstStyle/>
        <a:p>
          <a:endParaRPr lang="en-US"/>
        </a:p>
      </dgm:t>
    </dgm:pt>
    <dgm:pt modelId="{F1CF1792-00F4-4406-86B6-7DBC329734BE}" type="sibTrans" cxnId="{9A17ACFE-9369-4C05-9174-178D8CDDA75E}">
      <dgm:prSet/>
      <dgm:spPr/>
      <dgm:t>
        <a:bodyPr/>
        <a:lstStyle/>
        <a:p>
          <a:endParaRPr lang="en-US"/>
        </a:p>
      </dgm:t>
    </dgm:pt>
    <dgm:pt modelId="{48B912CE-093D-4772-B259-2132202237A1}">
      <dgm:prSet/>
      <dgm:spPr/>
      <dgm:t>
        <a:bodyPr/>
        <a:lstStyle/>
        <a:p>
          <a:pPr>
            <a:buNone/>
          </a:pPr>
          <a:r>
            <a:rPr lang="en-US" b="0" dirty="0"/>
            <a:t>at least 7 edges</a:t>
          </a:r>
        </a:p>
      </dgm:t>
    </dgm:pt>
    <dgm:pt modelId="{16E062F6-C646-4AB0-85A3-F1528EFD4248}" type="parTrans" cxnId="{1C2377BC-A78C-46AD-8AF2-C7A43E0847AA}">
      <dgm:prSet/>
      <dgm:spPr/>
      <dgm:t>
        <a:bodyPr/>
        <a:lstStyle/>
        <a:p>
          <a:endParaRPr lang="en-US"/>
        </a:p>
      </dgm:t>
    </dgm:pt>
    <dgm:pt modelId="{6A84F045-FDD7-4D55-9DAD-57BF2AB4A021}" type="sibTrans" cxnId="{1C2377BC-A78C-46AD-8AF2-C7A43E0847AA}">
      <dgm:prSet/>
      <dgm:spPr/>
      <dgm:t>
        <a:bodyPr/>
        <a:lstStyle/>
        <a:p>
          <a:endParaRPr lang="en-US"/>
        </a:p>
      </dgm:t>
    </dgm:pt>
    <dgm:pt modelId="{E06FE9E2-5BBE-4BF0-93BE-D0272D9FA928}">
      <dgm:prSet/>
      <dgm:spPr/>
      <dgm:t>
        <a:bodyPr/>
        <a:lstStyle/>
        <a:p>
          <a:pPr>
            <a:buNone/>
          </a:pPr>
          <a:r>
            <a:rPr lang="en-US" b="0" dirty="0"/>
            <a:t>adjacency list</a:t>
          </a:r>
        </a:p>
      </dgm:t>
    </dgm:pt>
    <dgm:pt modelId="{EF4BE3FB-4905-424C-8916-66E9D5DD51C3}" type="parTrans" cxnId="{02F3F034-9A70-48BC-9E52-6D00D9516221}">
      <dgm:prSet/>
      <dgm:spPr/>
      <dgm:t>
        <a:bodyPr/>
        <a:lstStyle/>
        <a:p>
          <a:endParaRPr lang="en-US"/>
        </a:p>
      </dgm:t>
    </dgm:pt>
    <dgm:pt modelId="{FB8EABC3-51C9-4C8D-8380-2B284603CC93}" type="sibTrans" cxnId="{02F3F034-9A70-48BC-9E52-6D00D9516221}">
      <dgm:prSet/>
      <dgm:spPr/>
      <dgm:t>
        <a:bodyPr/>
        <a:lstStyle/>
        <a:p>
          <a:endParaRPr lang="en-US"/>
        </a:p>
      </dgm:t>
    </dgm:pt>
    <dgm:pt modelId="{DE3023B6-C00B-4F94-8929-A1DE5417F789}">
      <dgm:prSet/>
      <dgm:spPr/>
      <dgm:t>
        <a:bodyPr/>
        <a:lstStyle/>
        <a:p>
          <a:pPr>
            <a:buNone/>
          </a:pPr>
          <a:r>
            <a:rPr lang="en-US" b="0" dirty="0"/>
            <a:t>diagram or text representation</a:t>
          </a:r>
        </a:p>
      </dgm:t>
    </dgm:pt>
    <dgm:pt modelId="{DB424FA8-E792-459B-9A18-921DF3C1AE4F}" type="parTrans" cxnId="{216D71B7-8ADC-437E-A001-30370146EEE0}">
      <dgm:prSet/>
      <dgm:spPr/>
      <dgm:t>
        <a:bodyPr/>
        <a:lstStyle/>
        <a:p>
          <a:endParaRPr lang="en-US"/>
        </a:p>
      </dgm:t>
    </dgm:pt>
    <dgm:pt modelId="{8852E991-30BC-42D4-AA59-CA1AE5404428}" type="sibTrans" cxnId="{216D71B7-8ADC-437E-A001-30370146EEE0}">
      <dgm:prSet/>
      <dgm:spPr/>
      <dgm:t>
        <a:bodyPr/>
        <a:lstStyle/>
        <a:p>
          <a:endParaRPr lang="en-US"/>
        </a:p>
      </dgm:t>
    </dgm:pt>
    <dgm:pt modelId="{2DC6077E-DDA1-4593-AE47-97E5070E2798}">
      <dgm:prSet/>
      <dgm:spPr/>
      <dgm:t>
        <a:bodyPr/>
        <a:lstStyle/>
        <a:p>
          <a:pPr>
            <a:buNone/>
          </a:pPr>
          <a:r>
            <a:rPr lang="en-US" b="0" dirty="0"/>
            <a:t>BFS or DFS traversal</a:t>
          </a:r>
        </a:p>
      </dgm:t>
    </dgm:pt>
    <dgm:pt modelId="{83605564-7D4C-4C06-8DC4-81DB9BB1A1C3}" type="parTrans" cxnId="{B58AA31A-0810-4FEF-8446-2028A475590B}">
      <dgm:prSet/>
      <dgm:spPr/>
      <dgm:t>
        <a:bodyPr/>
        <a:lstStyle/>
        <a:p>
          <a:endParaRPr lang="en-US"/>
        </a:p>
      </dgm:t>
    </dgm:pt>
    <dgm:pt modelId="{317147ED-4AC3-4D28-A26B-71E3812240E9}" type="sibTrans" cxnId="{B58AA31A-0810-4FEF-8446-2028A475590B}">
      <dgm:prSet/>
      <dgm:spPr/>
      <dgm:t>
        <a:bodyPr/>
        <a:lstStyle/>
        <a:p>
          <a:endParaRPr lang="en-US"/>
        </a:p>
      </dgm:t>
    </dgm:pt>
    <dgm:pt modelId="{1A83C8B6-A6B6-448D-842E-DA49C5BFDBD6}">
      <dgm:prSet/>
      <dgm:spPr/>
      <dgm:t>
        <a:bodyPr/>
        <a:lstStyle/>
        <a:p>
          <a:pPr>
            <a:buNone/>
          </a:pPr>
          <a:r>
            <a:rPr lang="en-US" b="0" dirty="0"/>
            <a:t>traversal table</a:t>
          </a:r>
        </a:p>
      </dgm:t>
    </dgm:pt>
    <dgm:pt modelId="{A09C6B71-23F6-4AD1-B655-7B938CEE3DFE}" type="parTrans" cxnId="{357DF1D5-B8AF-4808-B3CC-37815A6808B6}">
      <dgm:prSet/>
      <dgm:spPr/>
      <dgm:t>
        <a:bodyPr/>
        <a:lstStyle/>
        <a:p>
          <a:endParaRPr lang="en-US"/>
        </a:p>
      </dgm:t>
    </dgm:pt>
    <dgm:pt modelId="{FD8012CA-05B0-449F-9402-4539786DDF93}" type="sibTrans" cxnId="{357DF1D5-B8AF-4808-B3CC-37815A6808B6}">
      <dgm:prSet/>
      <dgm:spPr/>
      <dgm:t>
        <a:bodyPr/>
        <a:lstStyle/>
        <a:p>
          <a:endParaRPr lang="en-US"/>
        </a:p>
      </dgm:t>
    </dgm:pt>
    <dgm:pt modelId="{ED7F97D1-F6C5-46F2-AE97-4B2E760704A1}">
      <dgm:prSet/>
      <dgm:spPr/>
      <dgm:t>
        <a:bodyPr/>
        <a:lstStyle/>
        <a:p>
          <a:pPr>
            <a:buNone/>
          </a:pPr>
          <a:r>
            <a:rPr lang="en-US" b="0" dirty="0"/>
            <a:t>model limitation</a:t>
          </a:r>
        </a:p>
      </dgm:t>
    </dgm:pt>
    <dgm:pt modelId="{316E1168-49C6-4484-B8E0-D58F15900DB4}" type="parTrans" cxnId="{413E812B-3694-4449-B3AC-C540724D9E9C}">
      <dgm:prSet/>
      <dgm:spPr/>
      <dgm:t>
        <a:bodyPr/>
        <a:lstStyle/>
        <a:p>
          <a:endParaRPr lang="en-US"/>
        </a:p>
      </dgm:t>
    </dgm:pt>
    <dgm:pt modelId="{DE7641D9-C057-4E6B-8774-7D45CF5C63EE}" type="sibTrans" cxnId="{413E812B-3694-4449-B3AC-C540724D9E9C}">
      <dgm:prSet/>
      <dgm:spPr/>
      <dgm:t>
        <a:bodyPr/>
        <a:lstStyle/>
        <a:p>
          <a:endParaRPr lang="en-US"/>
        </a:p>
      </dgm:t>
    </dgm:pt>
    <dgm:pt modelId="{2E98CC93-1A2E-481C-BF15-BF1375DE5190}" type="pres">
      <dgm:prSet presAssocID="{3F50E9AF-05F3-4A3F-BA18-B74008995350}" presName="diagram" presStyleCnt="0">
        <dgm:presLayoutVars>
          <dgm:dir/>
          <dgm:resizeHandles val="exact"/>
        </dgm:presLayoutVars>
      </dgm:prSet>
      <dgm:spPr/>
    </dgm:pt>
    <dgm:pt modelId="{35F771C1-05FC-4D74-B572-26CBF75E68BC}" type="pres">
      <dgm:prSet presAssocID="{55D04C3B-1303-4690-826F-07DDD27B4301}" presName="node" presStyleLbl="node1" presStyleIdx="0" presStyleCnt="7">
        <dgm:presLayoutVars>
          <dgm:bulletEnabled val="1"/>
        </dgm:presLayoutVars>
      </dgm:prSet>
      <dgm:spPr/>
    </dgm:pt>
    <dgm:pt modelId="{3F562B63-5AFE-4867-9581-E676B95E4C03}" type="pres">
      <dgm:prSet presAssocID="{F1CF1792-00F4-4406-86B6-7DBC329734BE}" presName="sibTrans" presStyleCnt="0"/>
      <dgm:spPr/>
    </dgm:pt>
    <dgm:pt modelId="{B845CC12-B8FB-4D24-BB43-3C1F6FFF6A5C}" type="pres">
      <dgm:prSet presAssocID="{48B912CE-093D-4772-B259-2132202237A1}" presName="node" presStyleLbl="node1" presStyleIdx="1" presStyleCnt="7">
        <dgm:presLayoutVars>
          <dgm:bulletEnabled val="1"/>
        </dgm:presLayoutVars>
      </dgm:prSet>
      <dgm:spPr/>
    </dgm:pt>
    <dgm:pt modelId="{68401B39-D9B5-4529-9BCA-A9D6A157548B}" type="pres">
      <dgm:prSet presAssocID="{6A84F045-FDD7-4D55-9DAD-57BF2AB4A021}" presName="sibTrans" presStyleCnt="0"/>
      <dgm:spPr/>
    </dgm:pt>
    <dgm:pt modelId="{590A1C83-666F-4FEF-83FB-BF1B0FC11F89}" type="pres">
      <dgm:prSet presAssocID="{E06FE9E2-5BBE-4BF0-93BE-D0272D9FA928}" presName="node" presStyleLbl="node1" presStyleIdx="2" presStyleCnt="7">
        <dgm:presLayoutVars>
          <dgm:bulletEnabled val="1"/>
        </dgm:presLayoutVars>
      </dgm:prSet>
      <dgm:spPr/>
    </dgm:pt>
    <dgm:pt modelId="{73016E67-438D-42A9-B5A9-9DBFEFC56749}" type="pres">
      <dgm:prSet presAssocID="{FB8EABC3-51C9-4C8D-8380-2B284603CC93}" presName="sibTrans" presStyleCnt="0"/>
      <dgm:spPr/>
    </dgm:pt>
    <dgm:pt modelId="{DEA0B5D8-80CF-4F6A-9592-7D2A288FE713}" type="pres">
      <dgm:prSet presAssocID="{DE3023B6-C00B-4F94-8929-A1DE5417F789}" presName="node" presStyleLbl="node1" presStyleIdx="3" presStyleCnt="7">
        <dgm:presLayoutVars>
          <dgm:bulletEnabled val="1"/>
        </dgm:presLayoutVars>
      </dgm:prSet>
      <dgm:spPr/>
    </dgm:pt>
    <dgm:pt modelId="{DE880B01-7783-42D7-BBD1-08AC09B5BF30}" type="pres">
      <dgm:prSet presAssocID="{8852E991-30BC-42D4-AA59-CA1AE5404428}" presName="sibTrans" presStyleCnt="0"/>
      <dgm:spPr/>
    </dgm:pt>
    <dgm:pt modelId="{7DBFEB26-728C-47DB-B27F-29B025BC96BD}" type="pres">
      <dgm:prSet presAssocID="{2DC6077E-DDA1-4593-AE47-97E5070E2798}" presName="node" presStyleLbl="node1" presStyleIdx="4" presStyleCnt="7">
        <dgm:presLayoutVars>
          <dgm:bulletEnabled val="1"/>
        </dgm:presLayoutVars>
      </dgm:prSet>
      <dgm:spPr/>
    </dgm:pt>
    <dgm:pt modelId="{6CAC33B2-6DB4-4CCB-B428-CD0857D3CE9B}" type="pres">
      <dgm:prSet presAssocID="{317147ED-4AC3-4D28-A26B-71E3812240E9}" presName="sibTrans" presStyleCnt="0"/>
      <dgm:spPr/>
    </dgm:pt>
    <dgm:pt modelId="{01A12AFB-33F9-46B5-8F6D-6FD97784A96B}" type="pres">
      <dgm:prSet presAssocID="{1A83C8B6-A6B6-448D-842E-DA49C5BFDBD6}" presName="node" presStyleLbl="node1" presStyleIdx="5" presStyleCnt="7">
        <dgm:presLayoutVars>
          <dgm:bulletEnabled val="1"/>
        </dgm:presLayoutVars>
      </dgm:prSet>
      <dgm:spPr/>
    </dgm:pt>
    <dgm:pt modelId="{926801EC-EC7A-4221-898E-A52B25E8CA15}" type="pres">
      <dgm:prSet presAssocID="{FD8012CA-05B0-449F-9402-4539786DDF93}" presName="sibTrans" presStyleCnt="0"/>
      <dgm:spPr/>
    </dgm:pt>
    <dgm:pt modelId="{963452F5-1C81-43DF-BF2B-7C1C3EF0766B}" type="pres">
      <dgm:prSet presAssocID="{ED7F97D1-F6C5-46F2-AE97-4B2E760704A1}" presName="node" presStyleLbl="node1" presStyleIdx="6" presStyleCnt="7">
        <dgm:presLayoutVars>
          <dgm:bulletEnabled val="1"/>
        </dgm:presLayoutVars>
      </dgm:prSet>
      <dgm:spPr/>
    </dgm:pt>
  </dgm:ptLst>
  <dgm:cxnLst>
    <dgm:cxn modelId="{B58AA31A-0810-4FEF-8446-2028A475590B}" srcId="{3F50E9AF-05F3-4A3F-BA18-B74008995350}" destId="{2DC6077E-DDA1-4593-AE47-97E5070E2798}" srcOrd="4" destOrd="0" parTransId="{83605564-7D4C-4C06-8DC4-81DB9BB1A1C3}" sibTransId="{317147ED-4AC3-4D28-A26B-71E3812240E9}"/>
    <dgm:cxn modelId="{413E812B-3694-4449-B3AC-C540724D9E9C}" srcId="{3F50E9AF-05F3-4A3F-BA18-B74008995350}" destId="{ED7F97D1-F6C5-46F2-AE97-4B2E760704A1}" srcOrd="6" destOrd="0" parTransId="{316E1168-49C6-4484-B8E0-D58F15900DB4}" sibTransId="{DE7641D9-C057-4E6B-8774-7D45CF5C63EE}"/>
    <dgm:cxn modelId="{02F3F034-9A70-48BC-9E52-6D00D9516221}" srcId="{3F50E9AF-05F3-4A3F-BA18-B74008995350}" destId="{E06FE9E2-5BBE-4BF0-93BE-D0272D9FA928}" srcOrd="2" destOrd="0" parTransId="{EF4BE3FB-4905-424C-8916-66E9D5DD51C3}" sibTransId="{FB8EABC3-51C9-4C8D-8380-2B284603CC93}"/>
    <dgm:cxn modelId="{F08E8A3B-94DF-41E6-A2AD-CFC989AEA13B}" type="presOf" srcId="{55D04C3B-1303-4690-826F-07DDD27B4301}" destId="{35F771C1-05FC-4D74-B572-26CBF75E68BC}" srcOrd="0" destOrd="0" presId="urn:microsoft.com/office/officeart/2005/8/layout/default"/>
    <dgm:cxn modelId="{35250764-6988-4BA4-8361-31F897D9F56C}" type="presOf" srcId="{2DC6077E-DDA1-4593-AE47-97E5070E2798}" destId="{7DBFEB26-728C-47DB-B27F-29B025BC96BD}" srcOrd="0" destOrd="0" presId="urn:microsoft.com/office/officeart/2005/8/layout/default"/>
    <dgm:cxn modelId="{7708106C-36BB-41CA-B4AB-425B81B0BC40}" type="presOf" srcId="{DE3023B6-C00B-4F94-8929-A1DE5417F789}" destId="{DEA0B5D8-80CF-4F6A-9592-7D2A288FE713}" srcOrd="0" destOrd="0" presId="urn:microsoft.com/office/officeart/2005/8/layout/default"/>
    <dgm:cxn modelId="{EF8BAE58-EDEF-4A0E-9B67-54E34E84878B}" type="presOf" srcId="{ED7F97D1-F6C5-46F2-AE97-4B2E760704A1}" destId="{963452F5-1C81-43DF-BF2B-7C1C3EF0766B}" srcOrd="0" destOrd="0" presId="urn:microsoft.com/office/officeart/2005/8/layout/default"/>
    <dgm:cxn modelId="{D90164A1-A2AF-4F66-99BA-F630B2C25A6D}" type="presOf" srcId="{3F50E9AF-05F3-4A3F-BA18-B74008995350}" destId="{2E98CC93-1A2E-481C-BF15-BF1375DE5190}" srcOrd="0" destOrd="0" presId="urn:microsoft.com/office/officeart/2005/8/layout/default"/>
    <dgm:cxn modelId="{3A9F37A2-DCB4-4328-840A-2A09AF787871}" type="presOf" srcId="{1A83C8B6-A6B6-448D-842E-DA49C5BFDBD6}" destId="{01A12AFB-33F9-46B5-8F6D-6FD97784A96B}" srcOrd="0" destOrd="0" presId="urn:microsoft.com/office/officeart/2005/8/layout/default"/>
    <dgm:cxn modelId="{097F54B6-03A7-4DC6-BB19-FCB09E3ABF12}" type="presOf" srcId="{E06FE9E2-5BBE-4BF0-93BE-D0272D9FA928}" destId="{590A1C83-666F-4FEF-83FB-BF1B0FC11F89}" srcOrd="0" destOrd="0" presId="urn:microsoft.com/office/officeart/2005/8/layout/default"/>
    <dgm:cxn modelId="{216D71B7-8ADC-437E-A001-30370146EEE0}" srcId="{3F50E9AF-05F3-4A3F-BA18-B74008995350}" destId="{DE3023B6-C00B-4F94-8929-A1DE5417F789}" srcOrd="3" destOrd="0" parTransId="{DB424FA8-E792-459B-9A18-921DF3C1AE4F}" sibTransId="{8852E991-30BC-42D4-AA59-CA1AE5404428}"/>
    <dgm:cxn modelId="{1C2377BC-A78C-46AD-8AF2-C7A43E0847AA}" srcId="{3F50E9AF-05F3-4A3F-BA18-B74008995350}" destId="{48B912CE-093D-4772-B259-2132202237A1}" srcOrd="1" destOrd="0" parTransId="{16E062F6-C646-4AB0-85A3-F1528EFD4248}" sibTransId="{6A84F045-FDD7-4D55-9DAD-57BF2AB4A021}"/>
    <dgm:cxn modelId="{357DF1D5-B8AF-4808-B3CC-37815A6808B6}" srcId="{3F50E9AF-05F3-4A3F-BA18-B74008995350}" destId="{1A83C8B6-A6B6-448D-842E-DA49C5BFDBD6}" srcOrd="5" destOrd="0" parTransId="{A09C6B71-23F6-4AD1-B655-7B938CEE3DFE}" sibTransId="{FD8012CA-05B0-449F-9402-4539786DDF93}"/>
    <dgm:cxn modelId="{32D53BF2-C3BE-47E3-985E-E3AAC7EACAFE}" type="presOf" srcId="{48B912CE-093D-4772-B259-2132202237A1}" destId="{B845CC12-B8FB-4D24-BB43-3C1F6FFF6A5C}" srcOrd="0" destOrd="0" presId="urn:microsoft.com/office/officeart/2005/8/layout/default"/>
    <dgm:cxn modelId="{9A17ACFE-9369-4C05-9174-178D8CDDA75E}" srcId="{3F50E9AF-05F3-4A3F-BA18-B74008995350}" destId="{55D04C3B-1303-4690-826F-07DDD27B4301}" srcOrd="0" destOrd="0" parTransId="{BBECC7BE-6559-427C-BECE-7F4878B40822}" sibTransId="{F1CF1792-00F4-4406-86B6-7DBC329734BE}"/>
    <dgm:cxn modelId="{EACAEFAF-E66C-443F-8D9F-1C5813128F5F}" type="presParOf" srcId="{2E98CC93-1A2E-481C-BF15-BF1375DE5190}" destId="{35F771C1-05FC-4D74-B572-26CBF75E68BC}" srcOrd="0" destOrd="0" presId="urn:microsoft.com/office/officeart/2005/8/layout/default"/>
    <dgm:cxn modelId="{FCA55648-60A8-4076-B584-A716DC93F65E}" type="presParOf" srcId="{2E98CC93-1A2E-481C-BF15-BF1375DE5190}" destId="{3F562B63-5AFE-4867-9581-E676B95E4C03}" srcOrd="1" destOrd="0" presId="urn:microsoft.com/office/officeart/2005/8/layout/default"/>
    <dgm:cxn modelId="{C5A35570-7BED-4B71-A848-9A3AB3453C2F}" type="presParOf" srcId="{2E98CC93-1A2E-481C-BF15-BF1375DE5190}" destId="{B845CC12-B8FB-4D24-BB43-3C1F6FFF6A5C}" srcOrd="2" destOrd="0" presId="urn:microsoft.com/office/officeart/2005/8/layout/default"/>
    <dgm:cxn modelId="{49D05F10-D5B2-4A52-9E84-CC3E39C5A63E}" type="presParOf" srcId="{2E98CC93-1A2E-481C-BF15-BF1375DE5190}" destId="{68401B39-D9B5-4529-9BCA-A9D6A157548B}" srcOrd="3" destOrd="0" presId="urn:microsoft.com/office/officeart/2005/8/layout/default"/>
    <dgm:cxn modelId="{35F8ADE0-B222-433E-8479-FA834972AC65}" type="presParOf" srcId="{2E98CC93-1A2E-481C-BF15-BF1375DE5190}" destId="{590A1C83-666F-4FEF-83FB-BF1B0FC11F89}" srcOrd="4" destOrd="0" presId="urn:microsoft.com/office/officeart/2005/8/layout/default"/>
    <dgm:cxn modelId="{D0001862-9786-4047-A406-22FB1E7EB559}" type="presParOf" srcId="{2E98CC93-1A2E-481C-BF15-BF1375DE5190}" destId="{73016E67-438D-42A9-B5A9-9DBFEFC56749}" srcOrd="5" destOrd="0" presId="urn:microsoft.com/office/officeart/2005/8/layout/default"/>
    <dgm:cxn modelId="{F65212E2-B48A-44AB-A925-287333055770}" type="presParOf" srcId="{2E98CC93-1A2E-481C-BF15-BF1375DE5190}" destId="{DEA0B5D8-80CF-4F6A-9592-7D2A288FE713}" srcOrd="6" destOrd="0" presId="urn:microsoft.com/office/officeart/2005/8/layout/default"/>
    <dgm:cxn modelId="{7F87048E-9666-47CE-BF3A-39ADCB95323E}" type="presParOf" srcId="{2E98CC93-1A2E-481C-BF15-BF1375DE5190}" destId="{DE880B01-7783-42D7-BBD1-08AC09B5BF30}" srcOrd="7" destOrd="0" presId="urn:microsoft.com/office/officeart/2005/8/layout/default"/>
    <dgm:cxn modelId="{E9E37FCF-E0F2-40EE-8A40-40ED7CE40C52}" type="presParOf" srcId="{2E98CC93-1A2E-481C-BF15-BF1375DE5190}" destId="{7DBFEB26-728C-47DB-B27F-29B025BC96BD}" srcOrd="8" destOrd="0" presId="urn:microsoft.com/office/officeart/2005/8/layout/default"/>
    <dgm:cxn modelId="{7FD62360-04A7-4FE0-86A9-8407E50831F2}" type="presParOf" srcId="{2E98CC93-1A2E-481C-BF15-BF1375DE5190}" destId="{6CAC33B2-6DB4-4CCB-B428-CD0857D3CE9B}" srcOrd="9" destOrd="0" presId="urn:microsoft.com/office/officeart/2005/8/layout/default"/>
    <dgm:cxn modelId="{025ECDED-7F17-4069-A6FB-DDB58F97A3C2}" type="presParOf" srcId="{2E98CC93-1A2E-481C-BF15-BF1375DE5190}" destId="{01A12AFB-33F9-46B5-8F6D-6FD97784A96B}" srcOrd="10" destOrd="0" presId="urn:microsoft.com/office/officeart/2005/8/layout/default"/>
    <dgm:cxn modelId="{0557994D-5811-4755-A27D-8E3F684F56C7}" type="presParOf" srcId="{2E98CC93-1A2E-481C-BF15-BF1375DE5190}" destId="{926801EC-EC7A-4221-898E-A52B25E8CA15}" srcOrd="11" destOrd="0" presId="urn:microsoft.com/office/officeart/2005/8/layout/default"/>
    <dgm:cxn modelId="{CFF81550-15CE-41ED-8C23-F14988BD836D}" type="presParOf" srcId="{2E98CC93-1A2E-481C-BF15-BF1375DE5190}" destId="{963452F5-1C81-43DF-BF2B-7C1C3EF0766B}" srcOrd="12"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840F5F2-94FA-4CD6-8BF7-63040BA0352C}" type="doc">
      <dgm:prSet loTypeId="urn:microsoft.com/office/officeart/2016/7/layout/BasicLinearProcessNumbered" loCatId="process" qsTypeId="urn:microsoft.com/office/officeart/2005/8/quickstyle/simple1" qsCatId="simple" csTypeId="urn:microsoft.com/office/officeart/2005/8/colors/accent1_2" csCatId="accent1" phldr="1"/>
      <dgm:spPr/>
      <dgm:t>
        <a:bodyPr/>
        <a:lstStyle/>
        <a:p>
          <a:endParaRPr lang="en-US"/>
        </a:p>
      </dgm:t>
    </dgm:pt>
    <dgm:pt modelId="{EC86DCDB-D26F-4965-A378-9E795C7D775F}">
      <dgm:prSet/>
      <dgm:spPr/>
      <dgm:t>
        <a:bodyPr/>
        <a:lstStyle/>
        <a:p>
          <a:pPr>
            <a:buNone/>
          </a:pPr>
          <a:r>
            <a:rPr lang="en-US" dirty="0"/>
            <a:t>For Lab 06:</a:t>
          </a:r>
        </a:p>
      </dgm:t>
    </dgm:pt>
    <dgm:pt modelId="{F2CCADF5-E015-411F-940B-AB7D39FAA7E3}" type="parTrans" cxnId="{EAC7EA03-237A-4177-AF39-F258BD03A84C}">
      <dgm:prSet/>
      <dgm:spPr/>
      <dgm:t>
        <a:bodyPr/>
        <a:lstStyle/>
        <a:p>
          <a:endParaRPr lang="en-US"/>
        </a:p>
      </dgm:t>
    </dgm:pt>
    <dgm:pt modelId="{B3C1317B-62C2-4315-A086-9B12A0C575B2}" type="sibTrans" cxnId="{EAC7EA03-237A-4177-AF39-F258BD03A84C}">
      <dgm:prSet phldrT="1" phldr="0"/>
      <dgm:spPr/>
      <dgm:t>
        <a:bodyPr/>
        <a:lstStyle/>
        <a:p>
          <a:r>
            <a:rPr lang="en-US"/>
            <a:t>1</a:t>
          </a:r>
        </a:p>
      </dgm:t>
    </dgm:pt>
    <dgm:pt modelId="{5DAB3EFD-C8EA-4F2F-961D-33487B9B3831}">
      <dgm:prSet/>
      <dgm:spPr/>
      <dgm:t>
        <a:bodyPr/>
        <a:lstStyle/>
        <a:p>
          <a:pPr>
            <a:buFont typeface="Arial" panose="020B0604020202020204" pitchFamily="34" charset="0"/>
            <a:buChar char="•"/>
          </a:pPr>
          <a:r>
            <a:rPr lang="en-US" b="0" dirty="0"/>
            <a:t>choose a system</a:t>
          </a:r>
          <a:endParaRPr lang="en-US" dirty="0"/>
        </a:p>
      </dgm:t>
    </dgm:pt>
    <dgm:pt modelId="{73AD42D8-AA3A-4E33-9B90-29603715FDE0}" type="parTrans" cxnId="{32E31762-0749-4460-8A35-25E82B824E60}">
      <dgm:prSet/>
      <dgm:spPr/>
      <dgm:t>
        <a:bodyPr/>
        <a:lstStyle/>
        <a:p>
          <a:endParaRPr lang="en-US"/>
        </a:p>
      </dgm:t>
    </dgm:pt>
    <dgm:pt modelId="{E807C405-E54E-43CB-8BFA-0F5B35E6C200}" type="sibTrans" cxnId="{32E31762-0749-4460-8A35-25E82B824E60}">
      <dgm:prSet/>
      <dgm:spPr/>
      <dgm:t>
        <a:bodyPr/>
        <a:lstStyle/>
        <a:p>
          <a:endParaRPr lang="en-US"/>
        </a:p>
      </dgm:t>
    </dgm:pt>
    <dgm:pt modelId="{0EE1327F-833E-49A5-BF81-E7450665B483}">
      <dgm:prSet/>
      <dgm:spPr/>
      <dgm:t>
        <a:bodyPr/>
        <a:lstStyle/>
        <a:p>
          <a:pPr>
            <a:buFont typeface="Arial" panose="020B0604020202020204" pitchFamily="34" charset="0"/>
            <a:buChar char="•"/>
          </a:pPr>
          <a:r>
            <a:rPr lang="en-US" b="0" dirty="0"/>
            <a:t>identify nodes and edges</a:t>
          </a:r>
        </a:p>
      </dgm:t>
    </dgm:pt>
    <dgm:pt modelId="{ADABA5C9-035D-45FB-B4BB-4D3E304B636B}" type="parTrans" cxnId="{BD2DE88A-E50F-4304-9D0A-86333C86BCD3}">
      <dgm:prSet/>
      <dgm:spPr/>
      <dgm:t>
        <a:bodyPr/>
        <a:lstStyle/>
        <a:p>
          <a:endParaRPr lang="en-US"/>
        </a:p>
      </dgm:t>
    </dgm:pt>
    <dgm:pt modelId="{A921A7F6-6C6C-4C9E-B83F-7FDE4E609688}" type="sibTrans" cxnId="{BD2DE88A-E50F-4304-9D0A-86333C86BCD3}">
      <dgm:prSet/>
      <dgm:spPr/>
      <dgm:t>
        <a:bodyPr/>
        <a:lstStyle/>
        <a:p>
          <a:endParaRPr lang="en-US"/>
        </a:p>
      </dgm:t>
    </dgm:pt>
    <dgm:pt modelId="{B9B1EFB3-ED78-4204-A5D4-7F11836D2147}">
      <dgm:prSet/>
      <dgm:spPr/>
      <dgm:t>
        <a:bodyPr/>
        <a:lstStyle/>
        <a:p>
          <a:pPr>
            <a:buFont typeface="Arial" panose="020B0604020202020204" pitchFamily="34" charset="0"/>
            <a:buChar char="•"/>
          </a:pPr>
          <a:r>
            <a:rPr lang="en-US" b="0" dirty="0"/>
            <a:t>build an adjacency list</a:t>
          </a:r>
        </a:p>
      </dgm:t>
    </dgm:pt>
    <dgm:pt modelId="{94C1CF93-5497-401B-BA75-91841C08BE60}" type="parTrans" cxnId="{3A01EADE-A103-4957-9BCB-E65251FAB881}">
      <dgm:prSet/>
      <dgm:spPr/>
      <dgm:t>
        <a:bodyPr/>
        <a:lstStyle/>
        <a:p>
          <a:endParaRPr lang="en-US"/>
        </a:p>
      </dgm:t>
    </dgm:pt>
    <dgm:pt modelId="{9ECB1F16-5FF6-4ECC-B1CD-92D4FB4939B6}" type="sibTrans" cxnId="{3A01EADE-A103-4957-9BCB-E65251FAB881}">
      <dgm:prSet/>
      <dgm:spPr/>
      <dgm:t>
        <a:bodyPr/>
        <a:lstStyle/>
        <a:p>
          <a:endParaRPr lang="en-US"/>
        </a:p>
      </dgm:t>
    </dgm:pt>
    <dgm:pt modelId="{0C58DC21-F5FB-448B-B4B7-B39BB4893E9E}">
      <dgm:prSet/>
      <dgm:spPr/>
      <dgm:t>
        <a:bodyPr/>
        <a:lstStyle/>
        <a:p>
          <a:pPr>
            <a:buFont typeface="Arial" panose="020B0604020202020204" pitchFamily="34" charset="0"/>
            <a:buChar char="•"/>
          </a:pPr>
          <a:r>
            <a:rPr lang="en-US" b="0" dirty="0"/>
            <a:t>create a diagram or text representation</a:t>
          </a:r>
        </a:p>
      </dgm:t>
    </dgm:pt>
    <dgm:pt modelId="{0E8BF87A-CC49-4050-984A-95781709BB83}" type="parTrans" cxnId="{0F6AFD84-EC78-4E9A-93E5-13E4F6617978}">
      <dgm:prSet/>
      <dgm:spPr/>
      <dgm:t>
        <a:bodyPr/>
        <a:lstStyle/>
        <a:p>
          <a:endParaRPr lang="en-US"/>
        </a:p>
      </dgm:t>
    </dgm:pt>
    <dgm:pt modelId="{6335E96B-D16E-4EB2-A6EB-5106772C7DD3}" type="sibTrans" cxnId="{0F6AFD84-EC78-4E9A-93E5-13E4F6617978}">
      <dgm:prSet/>
      <dgm:spPr/>
      <dgm:t>
        <a:bodyPr/>
        <a:lstStyle/>
        <a:p>
          <a:endParaRPr lang="en-US"/>
        </a:p>
      </dgm:t>
    </dgm:pt>
    <dgm:pt modelId="{727289DA-7AA5-4300-91A2-6BF3AC002612}">
      <dgm:prSet/>
      <dgm:spPr/>
      <dgm:t>
        <a:bodyPr/>
        <a:lstStyle/>
        <a:p>
          <a:pPr>
            <a:buFont typeface="Arial" panose="020B0604020202020204" pitchFamily="34" charset="0"/>
            <a:buChar char="•"/>
          </a:pPr>
          <a:r>
            <a:rPr lang="en-US" b="0" dirty="0"/>
            <a:t>run or simulate BFS or DFS</a:t>
          </a:r>
        </a:p>
      </dgm:t>
    </dgm:pt>
    <dgm:pt modelId="{78747B8F-0E4B-4A88-A36F-96E2BC25106F}" type="parTrans" cxnId="{BC235129-048C-490C-9A8B-D62DC5A605C4}">
      <dgm:prSet/>
      <dgm:spPr/>
      <dgm:t>
        <a:bodyPr/>
        <a:lstStyle/>
        <a:p>
          <a:endParaRPr lang="en-US"/>
        </a:p>
      </dgm:t>
    </dgm:pt>
    <dgm:pt modelId="{12CE8220-FE0E-4C3A-A205-D13698A9CCD0}" type="sibTrans" cxnId="{BC235129-048C-490C-9A8B-D62DC5A605C4}">
      <dgm:prSet/>
      <dgm:spPr/>
      <dgm:t>
        <a:bodyPr/>
        <a:lstStyle/>
        <a:p>
          <a:endParaRPr lang="en-US"/>
        </a:p>
      </dgm:t>
    </dgm:pt>
    <dgm:pt modelId="{B350FFE8-A715-4340-BED4-A964C5A9E5EC}">
      <dgm:prSet/>
      <dgm:spPr/>
      <dgm:t>
        <a:bodyPr/>
        <a:lstStyle/>
        <a:p>
          <a:pPr>
            <a:buFont typeface="Arial" panose="020B0604020202020204" pitchFamily="34" charset="0"/>
            <a:buChar char="•"/>
          </a:pPr>
          <a:r>
            <a:rPr lang="en-US" b="0" dirty="0"/>
            <a:t>explain what the model leaves out</a:t>
          </a:r>
        </a:p>
      </dgm:t>
    </dgm:pt>
    <dgm:pt modelId="{6F98BA97-5261-4B16-924D-A00BFEF3832C}" type="parTrans" cxnId="{468EE3C9-014C-4F2D-A8BD-EEBD2CF0ED17}">
      <dgm:prSet/>
      <dgm:spPr/>
      <dgm:t>
        <a:bodyPr/>
        <a:lstStyle/>
        <a:p>
          <a:endParaRPr lang="en-US"/>
        </a:p>
      </dgm:t>
    </dgm:pt>
    <dgm:pt modelId="{5D7356DE-D8F7-438E-A439-15B375E89455}" type="sibTrans" cxnId="{468EE3C9-014C-4F2D-A8BD-EEBD2CF0ED17}">
      <dgm:prSet/>
      <dgm:spPr/>
      <dgm:t>
        <a:bodyPr/>
        <a:lstStyle/>
        <a:p>
          <a:endParaRPr lang="en-US"/>
        </a:p>
      </dgm:t>
    </dgm:pt>
    <dgm:pt modelId="{A4CEFACC-AFAC-472E-9C7D-78289EFB63D1}" type="pres">
      <dgm:prSet presAssocID="{4840F5F2-94FA-4CD6-8BF7-63040BA0352C}" presName="Name0" presStyleCnt="0">
        <dgm:presLayoutVars>
          <dgm:animLvl val="lvl"/>
          <dgm:resizeHandles val="exact"/>
        </dgm:presLayoutVars>
      </dgm:prSet>
      <dgm:spPr/>
    </dgm:pt>
    <dgm:pt modelId="{15D43CAF-FB9C-4C2E-A178-B5846807A9A3}" type="pres">
      <dgm:prSet presAssocID="{EC86DCDB-D26F-4965-A378-9E795C7D775F}" presName="compositeNode" presStyleCnt="0">
        <dgm:presLayoutVars>
          <dgm:bulletEnabled val="1"/>
        </dgm:presLayoutVars>
      </dgm:prSet>
      <dgm:spPr/>
    </dgm:pt>
    <dgm:pt modelId="{0579B2E2-F254-4758-975D-BCCCEBEB091F}" type="pres">
      <dgm:prSet presAssocID="{EC86DCDB-D26F-4965-A378-9E795C7D775F}" presName="bgRect" presStyleLbl="bgAccFollowNode1" presStyleIdx="0" presStyleCnt="1"/>
      <dgm:spPr/>
    </dgm:pt>
    <dgm:pt modelId="{6E066B6B-870C-47BB-B0D4-7DDBD6CCC405}" type="pres">
      <dgm:prSet presAssocID="{B3C1317B-62C2-4315-A086-9B12A0C575B2}" presName="sibTransNodeCircle" presStyleLbl="alignNode1" presStyleIdx="0" presStyleCnt="2">
        <dgm:presLayoutVars>
          <dgm:chMax val="0"/>
          <dgm:bulletEnabled/>
        </dgm:presLayoutVars>
      </dgm:prSet>
      <dgm:spPr/>
    </dgm:pt>
    <dgm:pt modelId="{661C993E-716A-4EDE-A4B7-74802377363E}" type="pres">
      <dgm:prSet presAssocID="{EC86DCDB-D26F-4965-A378-9E795C7D775F}" presName="bottomLine" presStyleLbl="alignNode1" presStyleIdx="1" presStyleCnt="2">
        <dgm:presLayoutVars/>
      </dgm:prSet>
      <dgm:spPr/>
    </dgm:pt>
    <dgm:pt modelId="{4F1D6665-5290-476B-9B2D-0218BE499140}" type="pres">
      <dgm:prSet presAssocID="{EC86DCDB-D26F-4965-A378-9E795C7D775F}" presName="nodeText" presStyleLbl="bgAccFollowNode1" presStyleIdx="0" presStyleCnt="1">
        <dgm:presLayoutVars>
          <dgm:bulletEnabled val="1"/>
        </dgm:presLayoutVars>
      </dgm:prSet>
      <dgm:spPr/>
    </dgm:pt>
  </dgm:ptLst>
  <dgm:cxnLst>
    <dgm:cxn modelId="{EAC7EA03-237A-4177-AF39-F258BD03A84C}" srcId="{4840F5F2-94FA-4CD6-8BF7-63040BA0352C}" destId="{EC86DCDB-D26F-4965-A378-9E795C7D775F}" srcOrd="0" destOrd="0" parTransId="{F2CCADF5-E015-411F-940B-AB7D39FAA7E3}" sibTransId="{B3C1317B-62C2-4315-A086-9B12A0C575B2}"/>
    <dgm:cxn modelId="{8253020C-73C0-474F-97F1-8CED4FD21AA0}" type="presOf" srcId="{B350FFE8-A715-4340-BED4-A964C5A9E5EC}" destId="{4F1D6665-5290-476B-9B2D-0218BE499140}" srcOrd="0" destOrd="6" presId="urn:microsoft.com/office/officeart/2016/7/layout/BasicLinearProcessNumbered"/>
    <dgm:cxn modelId="{BC235129-048C-490C-9A8B-D62DC5A605C4}" srcId="{EC86DCDB-D26F-4965-A378-9E795C7D775F}" destId="{727289DA-7AA5-4300-91A2-6BF3AC002612}" srcOrd="4" destOrd="0" parTransId="{78747B8F-0E4B-4A88-A36F-96E2BC25106F}" sibTransId="{12CE8220-FE0E-4C3A-A205-D13698A9CCD0}"/>
    <dgm:cxn modelId="{17595D5F-4DE4-4F45-BB49-7071125E3710}" type="presOf" srcId="{B3C1317B-62C2-4315-A086-9B12A0C575B2}" destId="{6E066B6B-870C-47BB-B0D4-7DDBD6CCC405}" srcOrd="0" destOrd="0" presId="urn:microsoft.com/office/officeart/2016/7/layout/BasicLinearProcessNumbered"/>
    <dgm:cxn modelId="{32E31762-0749-4460-8A35-25E82B824E60}" srcId="{EC86DCDB-D26F-4965-A378-9E795C7D775F}" destId="{5DAB3EFD-C8EA-4F2F-961D-33487B9B3831}" srcOrd="0" destOrd="0" parTransId="{73AD42D8-AA3A-4E33-9B90-29603715FDE0}" sibTransId="{E807C405-E54E-43CB-8BFA-0F5B35E6C200}"/>
    <dgm:cxn modelId="{49258759-432A-4EBB-B687-D2F3F3273EC3}" type="presOf" srcId="{EC86DCDB-D26F-4965-A378-9E795C7D775F}" destId="{4F1D6665-5290-476B-9B2D-0218BE499140}" srcOrd="1" destOrd="0" presId="urn:microsoft.com/office/officeart/2016/7/layout/BasicLinearProcessNumbered"/>
    <dgm:cxn modelId="{4407757B-29D9-4C55-895A-CAA661BC86C6}" type="presOf" srcId="{0C58DC21-F5FB-448B-B4B7-B39BB4893E9E}" destId="{4F1D6665-5290-476B-9B2D-0218BE499140}" srcOrd="0" destOrd="4" presId="urn:microsoft.com/office/officeart/2016/7/layout/BasicLinearProcessNumbered"/>
    <dgm:cxn modelId="{29E32D80-53E6-4E66-B57D-3FC32696A914}" type="presOf" srcId="{5DAB3EFD-C8EA-4F2F-961D-33487B9B3831}" destId="{4F1D6665-5290-476B-9B2D-0218BE499140}" srcOrd="0" destOrd="1" presId="urn:microsoft.com/office/officeart/2016/7/layout/BasicLinearProcessNumbered"/>
    <dgm:cxn modelId="{0F6AFD84-EC78-4E9A-93E5-13E4F6617978}" srcId="{EC86DCDB-D26F-4965-A378-9E795C7D775F}" destId="{0C58DC21-F5FB-448B-B4B7-B39BB4893E9E}" srcOrd="3" destOrd="0" parTransId="{0E8BF87A-CC49-4050-984A-95781709BB83}" sibTransId="{6335E96B-D16E-4EB2-A6EB-5106772C7DD3}"/>
    <dgm:cxn modelId="{BD2DE88A-E50F-4304-9D0A-86333C86BCD3}" srcId="{EC86DCDB-D26F-4965-A378-9E795C7D775F}" destId="{0EE1327F-833E-49A5-BF81-E7450665B483}" srcOrd="1" destOrd="0" parTransId="{ADABA5C9-035D-45FB-B4BB-4D3E304B636B}" sibTransId="{A921A7F6-6C6C-4C9E-B83F-7FDE4E609688}"/>
    <dgm:cxn modelId="{DBCAB18E-D95F-4068-999A-1A7F3D9E9AAF}" type="presOf" srcId="{4840F5F2-94FA-4CD6-8BF7-63040BA0352C}" destId="{A4CEFACC-AFAC-472E-9C7D-78289EFB63D1}" srcOrd="0" destOrd="0" presId="urn:microsoft.com/office/officeart/2016/7/layout/BasicLinearProcessNumbered"/>
    <dgm:cxn modelId="{2A2AFA8F-1CEF-45AF-A649-ED90DD9F56F6}" type="presOf" srcId="{0EE1327F-833E-49A5-BF81-E7450665B483}" destId="{4F1D6665-5290-476B-9B2D-0218BE499140}" srcOrd="0" destOrd="2" presId="urn:microsoft.com/office/officeart/2016/7/layout/BasicLinearProcessNumbered"/>
    <dgm:cxn modelId="{73A6B191-4E8A-4A4A-9F4B-9BBDBA147589}" type="presOf" srcId="{727289DA-7AA5-4300-91A2-6BF3AC002612}" destId="{4F1D6665-5290-476B-9B2D-0218BE499140}" srcOrd="0" destOrd="5" presId="urn:microsoft.com/office/officeart/2016/7/layout/BasicLinearProcessNumbered"/>
    <dgm:cxn modelId="{19957AA2-0EF5-426A-AEE8-9C759DEB4B95}" type="presOf" srcId="{EC86DCDB-D26F-4965-A378-9E795C7D775F}" destId="{0579B2E2-F254-4758-975D-BCCCEBEB091F}" srcOrd="0" destOrd="0" presId="urn:microsoft.com/office/officeart/2016/7/layout/BasicLinearProcessNumbered"/>
    <dgm:cxn modelId="{468EE3C9-014C-4F2D-A8BD-EEBD2CF0ED17}" srcId="{EC86DCDB-D26F-4965-A378-9E795C7D775F}" destId="{B350FFE8-A715-4340-BED4-A964C5A9E5EC}" srcOrd="5" destOrd="0" parTransId="{6F98BA97-5261-4B16-924D-A00BFEF3832C}" sibTransId="{5D7356DE-D8F7-438E-A439-15B375E89455}"/>
    <dgm:cxn modelId="{3A01EADE-A103-4957-9BCB-E65251FAB881}" srcId="{EC86DCDB-D26F-4965-A378-9E795C7D775F}" destId="{B9B1EFB3-ED78-4204-A5D4-7F11836D2147}" srcOrd="2" destOrd="0" parTransId="{94C1CF93-5497-401B-BA75-91841C08BE60}" sibTransId="{9ECB1F16-5FF6-4ECC-B1CD-92D4FB4939B6}"/>
    <dgm:cxn modelId="{134D96F6-6BCC-4D07-94BA-67E2AA8B6D1F}" type="presOf" srcId="{B9B1EFB3-ED78-4204-A5D4-7F11836D2147}" destId="{4F1D6665-5290-476B-9B2D-0218BE499140}" srcOrd="0" destOrd="3" presId="urn:microsoft.com/office/officeart/2016/7/layout/BasicLinearProcessNumbered"/>
    <dgm:cxn modelId="{62C420E6-AB07-4C07-B2EB-BAE7F1C95841}" type="presParOf" srcId="{A4CEFACC-AFAC-472E-9C7D-78289EFB63D1}" destId="{15D43CAF-FB9C-4C2E-A178-B5846807A9A3}" srcOrd="0" destOrd="0" presId="urn:microsoft.com/office/officeart/2016/7/layout/BasicLinearProcessNumbered"/>
    <dgm:cxn modelId="{3A84E957-B8F0-4904-9475-D0C2C191683F}" type="presParOf" srcId="{15D43CAF-FB9C-4C2E-A178-B5846807A9A3}" destId="{0579B2E2-F254-4758-975D-BCCCEBEB091F}" srcOrd="0" destOrd="0" presId="urn:microsoft.com/office/officeart/2016/7/layout/BasicLinearProcessNumbered"/>
    <dgm:cxn modelId="{5B6BBE3F-852E-43DD-B04A-D69445C81C71}" type="presParOf" srcId="{15D43CAF-FB9C-4C2E-A178-B5846807A9A3}" destId="{6E066B6B-870C-47BB-B0D4-7DDBD6CCC405}" srcOrd="1" destOrd="0" presId="urn:microsoft.com/office/officeart/2016/7/layout/BasicLinearProcessNumbered"/>
    <dgm:cxn modelId="{F3E2039E-6180-4865-8B0E-0D9841205EAE}" type="presParOf" srcId="{15D43CAF-FB9C-4C2E-A178-B5846807A9A3}" destId="{661C993E-716A-4EDE-A4B7-74802377363E}" srcOrd="2" destOrd="0" presId="urn:microsoft.com/office/officeart/2016/7/layout/BasicLinearProcessNumbered"/>
    <dgm:cxn modelId="{D80A3FA2-14B2-4876-9B62-C1D54E266A0A}" type="presParOf" srcId="{15D43CAF-FB9C-4C2E-A178-B5846807A9A3}" destId="{4F1D6665-5290-476B-9B2D-0218BE499140}"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2F3400-ACEA-4BF2-B7EA-1224E7E39347}">
      <dsp:nvSpPr>
        <dsp:cNvPr id="0" name=""/>
        <dsp:cNvSpPr/>
      </dsp:nvSpPr>
      <dsp:spPr>
        <a:xfrm>
          <a:off x="0" y="870438"/>
          <a:ext cx="6447234" cy="2494800"/>
        </a:xfrm>
        <a:prstGeom prst="rect">
          <a:avLst/>
        </a:prstGeom>
        <a:solidFill>
          <a:schemeClr val="lt1">
            <a:alpha val="90000"/>
            <a:hueOff val="0"/>
            <a:satOff val="0"/>
            <a:lumOff val="0"/>
            <a:alphaOff val="0"/>
          </a:schemeClr>
        </a:solidFill>
        <a:ln w="19050" cap="rnd"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00377" tIns="499872" rIns="500377" bIns="170688" numCol="1" spcCol="1270" anchor="t" anchorCtr="0">
          <a:noAutofit/>
        </a:bodyPr>
        <a:lstStyle/>
        <a:p>
          <a:pPr marL="228600" lvl="1" indent="-228600" algn="l" defTabSz="1066800">
            <a:lnSpc>
              <a:spcPct val="90000"/>
            </a:lnSpc>
            <a:spcBef>
              <a:spcPct val="0"/>
            </a:spcBef>
            <a:spcAft>
              <a:spcPct val="15000"/>
            </a:spcAft>
            <a:buFont typeface="Arial" panose="020B0604020202020204" pitchFamily="34" charset="0"/>
            <a:buChar char="•"/>
          </a:pPr>
          <a:r>
            <a:rPr lang="en-US" sz="2400" b="0" kern="1200" dirty="0"/>
            <a:t>correctness</a:t>
          </a:r>
          <a:endParaRPr lang="en-US" sz="2400" kern="1200" dirty="0"/>
        </a:p>
        <a:p>
          <a:pPr marL="228600" lvl="1" indent="-228600" algn="l" defTabSz="1066800">
            <a:lnSpc>
              <a:spcPct val="90000"/>
            </a:lnSpc>
            <a:spcBef>
              <a:spcPct val="0"/>
            </a:spcBef>
            <a:spcAft>
              <a:spcPct val="15000"/>
            </a:spcAft>
            <a:buFont typeface="Arial" panose="020B0604020202020204" pitchFamily="34" charset="0"/>
            <a:buChar char="•"/>
          </a:pPr>
          <a:r>
            <a:rPr lang="en-US" sz="2400" b="0" kern="1200" dirty="0"/>
            <a:t>readability</a:t>
          </a:r>
        </a:p>
        <a:p>
          <a:pPr marL="228600" lvl="1" indent="-228600" algn="l" defTabSz="1066800">
            <a:lnSpc>
              <a:spcPct val="90000"/>
            </a:lnSpc>
            <a:spcBef>
              <a:spcPct val="0"/>
            </a:spcBef>
            <a:spcAft>
              <a:spcPct val="15000"/>
            </a:spcAft>
            <a:buFont typeface="Arial" panose="020B0604020202020204" pitchFamily="34" charset="0"/>
            <a:buChar char="•"/>
          </a:pPr>
          <a:r>
            <a:rPr lang="en-US" sz="2400" b="0" kern="1200" dirty="0"/>
            <a:t>growth</a:t>
          </a:r>
        </a:p>
        <a:p>
          <a:pPr marL="228600" lvl="1" indent="-228600" algn="l" defTabSz="1066800">
            <a:lnSpc>
              <a:spcPct val="90000"/>
            </a:lnSpc>
            <a:spcBef>
              <a:spcPct val="0"/>
            </a:spcBef>
            <a:spcAft>
              <a:spcPct val="15000"/>
            </a:spcAft>
            <a:buFont typeface="Arial" panose="020B0604020202020204" pitchFamily="34" charset="0"/>
            <a:buChar char="•"/>
          </a:pPr>
          <a:r>
            <a:rPr lang="en-US" sz="2400" b="0" kern="1200" dirty="0"/>
            <a:t>fit to data</a:t>
          </a:r>
        </a:p>
        <a:p>
          <a:pPr marL="228600" lvl="1" indent="-228600" algn="l" defTabSz="1066800">
            <a:lnSpc>
              <a:spcPct val="90000"/>
            </a:lnSpc>
            <a:spcBef>
              <a:spcPct val="0"/>
            </a:spcBef>
            <a:spcAft>
              <a:spcPct val="15000"/>
            </a:spcAft>
            <a:buFont typeface="Arial" panose="020B0604020202020204" pitchFamily="34" charset="0"/>
            <a:buChar char="•"/>
          </a:pPr>
          <a:r>
            <a:rPr lang="en-US" sz="2400" b="0" kern="1200" dirty="0"/>
            <a:t>limitations</a:t>
          </a:r>
        </a:p>
      </dsp:txBody>
      <dsp:txXfrm>
        <a:off x="0" y="870438"/>
        <a:ext cx="6447234" cy="2494800"/>
      </dsp:txXfrm>
    </dsp:sp>
    <dsp:sp modelId="{91615320-4CF6-4AA6-903B-2DA45376792B}">
      <dsp:nvSpPr>
        <dsp:cNvPr id="0" name=""/>
        <dsp:cNvSpPr/>
      </dsp:nvSpPr>
      <dsp:spPr>
        <a:xfrm>
          <a:off x="322361" y="516198"/>
          <a:ext cx="4513063" cy="708480"/>
        </a:xfrm>
        <a:prstGeom prst="roundRect">
          <a:avLst/>
        </a:prstGeom>
        <a:solidFill>
          <a:schemeClr val="accent5">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583" tIns="0" rIns="170583" bIns="0" numCol="1" spcCol="1270" anchor="ctr" anchorCtr="0">
          <a:noAutofit/>
        </a:bodyPr>
        <a:lstStyle/>
        <a:p>
          <a:pPr marL="0" lvl="0" indent="0" algn="l" defTabSz="1066800">
            <a:lnSpc>
              <a:spcPct val="90000"/>
            </a:lnSpc>
            <a:spcBef>
              <a:spcPct val="0"/>
            </a:spcBef>
            <a:spcAft>
              <a:spcPct val="35000"/>
            </a:spcAft>
            <a:buNone/>
          </a:pPr>
          <a:r>
            <a:rPr lang="en-US" sz="2400" kern="1200" dirty="0"/>
            <a:t>Last week - </a:t>
          </a:r>
          <a:r>
            <a:rPr lang="en-US" sz="2400" b="0" kern="1200" dirty="0"/>
            <a:t>strategy choice depended on problem shape</a:t>
          </a:r>
          <a:r>
            <a:rPr lang="en-US" sz="2400" kern="1200" dirty="0"/>
            <a:t>:</a:t>
          </a:r>
        </a:p>
      </dsp:txBody>
      <dsp:txXfrm>
        <a:off x="356946" y="550783"/>
        <a:ext cx="4443893" cy="6393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17DEE2-2529-4048-A027-0347422F7B4B}">
      <dsp:nvSpPr>
        <dsp:cNvPr id="0" name=""/>
        <dsp:cNvSpPr/>
      </dsp:nvSpPr>
      <dsp:spPr>
        <a:xfrm>
          <a:off x="0" y="419535"/>
          <a:ext cx="5019610" cy="725399"/>
        </a:xfrm>
        <a:prstGeom prst="roundRect">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define nodes and edges</a:t>
          </a:r>
        </a:p>
      </dsp:txBody>
      <dsp:txXfrm>
        <a:off x="35411" y="454946"/>
        <a:ext cx="4948788" cy="654577"/>
      </dsp:txXfrm>
    </dsp:sp>
    <dsp:sp modelId="{183EE0D5-5538-40BA-915B-CD7C8B64CA4A}">
      <dsp:nvSpPr>
        <dsp:cNvPr id="0" name=""/>
        <dsp:cNvSpPr/>
      </dsp:nvSpPr>
      <dsp:spPr>
        <a:xfrm>
          <a:off x="0" y="1234215"/>
          <a:ext cx="5019610" cy="725399"/>
        </a:xfrm>
        <a:prstGeom prst="roundRect">
          <a:avLst/>
        </a:prstGeom>
        <a:gradFill rotWithShape="0">
          <a:gsLst>
            <a:gs pos="0">
              <a:schemeClr val="accent2">
                <a:hueOff val="-2474057"/>
                <a:satOff val="8986"/>
                <a:lumOff val="834"/>
                <a:alphaOff val="0"/>
                <a:tint val="96000"/>
                <a:lumMod val="100000"/>
              </a:schemeClr>
            </a:gs>
            <a:gs pos="78000">
              <a:schemeClr val="accent2">
                <a:hueOff val="-2474057"/>
                <a:satOff val="8986"/>
                <a:lumOff val="834"/>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build an adjacency list</a:t>
          </a:r>
        </a:p>
      </dsp:txBody>
      <dsp:txXfrm>
        <a:off x="35411" y="1269626"/>
        <a:ext cx="4948788" cy="654577"/>
      </dsp:txXfrm>
    </dsp:sp>
    <dsp:sp modelId="{A0608188-2D70-432D-9373-5C72BF557EDA}">
      <dsp:nvSpPr>
        <dsp:cNvPr id="0" name=""/>
        <dsp:cNvSpPr/>
      </dsp:nvSpPr>
      <dsp:spPr>
        <a:xfrm>
          <a:off x="0" y="2048895"/>
          <a:ext cx="5019610" cy="725399"/>
        </a:xfrm>
        <a:prstGeom prst="roundRect">
          <a:avLst/>
        </a:prstGeom>
        <a:gradFill rotWithShape="0">
          <a:gsLst>
            <a:gs pos="0">
              <a:schemeClr val="accent2">
                <a:hueOff val="-4948115"/>
                <a:satOff val="17972"/>
                <a:lumOff val="1667"/>
                <a:alphaOff val="0"/>
                <a:tint val="96000"/>
                <a:lumMod val="100000"/>
              </a:schemeClr>
            </a:gs>
            <a:gs pos="78000">
              <a:schemeClr val="accent2">
                <a:hueOff val="-4948115"/>
                <a:satOff val="17972"/>
                <a:lumOff val="1667"/>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trace BFS or DFS</a:t>
          </a:r>
        </a:p>
      </dsp:txBody>
      <dsp:txXfrm>
        <a:off x="35411" y="2084306"/>
        <a:ext cx="4948788" cy="654577"/>
      </dsp:txXfrm>
    </dsp:sp>
    <dsp:sp modelId="{F0F5511A-3BB8-4688-9645-9ECA6DE8EDA4}">
      <dsp:nvSpPr>
        <dsp:cNvPr id="0" name=""/>
        <dsp:cNvSpPr/>
      </dsp:nvSpPr>
      <dsp:spPr>
        <a:xfrm>
          <a:off x="0" y="2863575"/>
          <a:ext cx="5019610" cy="725399"/>
        </a:xfrm>
        <a:prstGeom prst="roundRect">
          <a:avLst/>
        </a:prstGeom>
        <a:gradFill rotWithShape="0">
          <a:gsLst>
            <a:gs pos="0">
              <a:schemeClr val="accent2">
                <a:hueOff val="-7422172"/>
                <a:satOff val="26958"/>
                <a:lumOff val="2501"/>
                <a:alphaOff val="0"/>
                <a:tint val="96000"/>
                <a:lumMod val="100000"/>
              </a:schemeClr>
            </a:gs>
            <a:gs pos="78000">
              <a:schemeClr val="accent2">
                <a:hueOff val="-7422172"/>
                <a:satOff val="26958"/>
                <a:lumOff val="2501"/>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explain traversal evidence</a:t>
          </a:r>
        </a:p>
      </dsp:txBody>
      <dsp:txXfrm>
        <a:off x="35411" y="2898986"/>
        <a:ext cx="4948788" cy="654577"/>
      </dsp:txXfrm>
    </dsp:sp>
    <dsp:sp modelId="{F00A6A64-B757-4B8A-ABA9-4781CFD9BAAE}">
      <dsp:nvSpPr>
        <dsp:cNvPr id="0" name=""/>
        <dsp:cNvSpPr/>
      </dsp:nvSpPr>
      <dsp:spPr>
        <a:xfrm>
          <a:off x="0" y="3678255"/>
          <a:ext cx="5019610" cy="725399"/>
        </a:xfrm>
        <a:prstGeom prst="roundRect">
          <a:avLst/>
        </a:prstGeom>
        <a:gradFill rotWithShape="0">
          <a:gsLst>
            <a:gs pos="0">
              <a:schemeClr val="accent2">
                <a:hueOff val="-9896230"/>
                <a:satOff val="35944"/>
                <a:lumOff val="3335"/>
                <a:alphaOff val="0"/>
                <a:tint val="96000"/>
                <a:lumMod val="100000"/>
              </a:schemeClr>
            </a:gs>
            <a:gs pos="78000">
              <a:schemeClr val="accent2">
                <a:hueOff val="-9896230"/>
                <a:satOff val="35944"/>
                <a:lumOff val="3335"/>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name what the graph le</a:t>
          </a:r>
        </a:p>
      </dsp:txBody>
      <dsp:txXfrm>
        <a:off x="35411" y="3713666"/>
        <a:ext cx="4948788" cy="6545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F20F46-BD9F-433C-B479-B55A8902755F}">
      <dsp:nvSpPr>
        <dsp:cNvPr id="0" name=""/>
        <dsp:cNvSpPr/>
      </dsp:nvSpPr>
      <dsp:spPr>
        <a:xfrm rot="5400000">
          <a:off x="4106539" y="-1309916"/>
          <a:ext cx="1597417" cy="4616704"/>
        </a:xfrm>
        <a:prstGeom prst="round2SameRect">
          <a:avLst/>
        </a:prstGeom>
        <a:solidFill>
          <a:schemeClr val="accent2">
            <a:tint val="40000"/>
            <a:alpha val="90000"/>
            <a:hueOff val="0"/>
            <a:satOff val="0"/>
            <a:lumOff val="0"/>
            <a:alphaOff val="0"/>
          </a:schemeClr>
        </a:solidFill>
        <a:ln w="19050" cap="rnd"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30480" rIns="60960" bIns="30480" numCol="1" spcCol="1270" anchor="ctr" anchorCtr="0">
          <a:noAutofit/>
        </a:bodyPr>
        <a:lstStyle/>
        <a:p>
          <a:pPr marL="171450" lvl="1" indent="-171450" algn="l" defTabSz="711200">
            <a:lnSpc>
              <a:spcPct val="90000"/>
            </a:lnSpc>
            <a:spcBef>
              <a:spcPct val="0"/>
            </a:spcBef>
            <a:spcAft>
              <a:spcPct val="15000"/>
            </a:spcAft>
            <a:buNone/>
          </a:pPr>
          <a:r>
            <a:rPr lang="en-US" sz="1600" b="0" kern="1200" dirty="0"/>
            <a:t>Model a small campus route map with buildings as nodes and sidewalks as edges</a:t>
          </a:r>
          <a:endParaRPr lang="en-US" sz="1600" kern="1200" dirty="0"/>
        </a:p>
      </dsp:txBody>
      <dsp:txXfrm rot="-5400000">
        <a:off x="2596896" y="277706"/>
        <a:ext cx="4538725" cy="1441459"/>
      </dsp:txXfrm>
    </dsp:sp>
    <dsp:sp modelId="{30D56222-46DC-49B6-93B9-D527764F5239}">
      <dsp:nvSpPr>
        <dsp:cNvPr id="0" name=""/>
        <dsp:cNvSpPr/>
      </dsp:nvSpPr>
      <dsp:spPr>
        <a:xfrm>
          <a:off x="0" y="49"/>
          <a:ext cx="2596896" cy="1996771"/>
        </a:xfrm>
        <a:prstGeom prst="roundRect">
          <a:avLst/>
        </a:prstGeom>
        <a:solidFill>
          <a:schemeClr val="accent2">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70485" rIns="140970" bIns="70485" numCol="1" spcCol="1270" anchor="ctr" anchorCtr="0">
          <a:noAutofit/>
        </a:bodyPr>
        <a:lstStyle/>
        <a:p>
          <a:pPr marL="0" lvl="0" indent="0" algn="ctr" defTabSz="1644650">
            <a:lnSpc>
              <a:spcPct val="90000"/>
            </a:lnSpc>
            <a:spcBef>
              <a:spcPct val="0"/>
            </a:spcBef>
            <a:spcAft>
              <a:spcPct val="35000"/>
            </a:spcAft>
            <a:buNone/>
            <a:defRPr b="1"/>
          </a:pPr>
          <a:r>
            <a:rPr lang="en-US" sz="3700" kern="1200" dirty="0"/>
            <a:t>Problem:</a:t>
          </a:r>
        </a:p>
      </dsp:txBody>
      <dsp:txXfrm>
        <a:off x="97474" y="97523"/>
        <a:ext cx="2401948" cy="1801823"/>
      </dsp:txXfrm>
    </dsp:sp>
    <dsp:sp modelId="{19B361A2-D7A8-43A5-AA5B-63BFB24FB360}">
      <dsp:nvSpPr>
        <dsp:cNvPr id="0" name=""/>
        <dsp:cNvSpPr/>
      </dsp:nvSpPr>
      <dsp:spPr>
        <a:xfrm rot="5400000">
          <a:off x="4106539" y="786694"/>
          <a:ext cx="1597417" cy="4616704"/>
        </a:xfrm>
        <a:prstGeom prst="round2SameRect">
          <a:avLst/>
        </a:prstGeom>
        <a:solidFill>
          <a:schemeClr val="accent2">
            <a:tint val="40000"/>
            <a:alpha val="90000"/>
            <a:hueOff val="-11155272"/>
            <a:satOff val="48624"/>
            <a:lumOff val="3588"/>
            <a:alphaOff val="0"/>
          </a:schemeClr>
        </a:solidFill>
        <a:ln w="19050" cap="rnd" cmpd="sng" algn="ctr">
          <a:solidFill>
            <a:schemeClr val="accent2">
              <a:tint val="40000"/>
              <a:alpha val="90000"/>
              <a:hueOff val="-11155272"/>
              <a:satOff val="48624"/>
              <a:lumOff val="358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30480" rIns="60960" bIns="30480" numCol="1" spcCol="1270" anchor="ctr" anchorCtr="0">
          <a:noAutofit/>
        </a:bodyPr>
        <a:lstStyle/>
        <a:p>
          <a:pPr marL="171450" lvl="1" indent="-171450" algn="l" defTabSz="711200">
            <a:lnSpc>
              <a:spcPct val="90000"/>
            </a:lnSpc>
            <a:spcBef>
              <a:spcPct val="0"/>
            </a:spcBef>
            <a:spcAft>
              <a:spcPct val="15000"/>
            </a:spcAft>
            <a:buNone/>
          </a:pPr>
          <a:r>
            <a:rPr lang="en-US" sz="1600" b="0" kern="1200" dirty="0"/>
            <a:t>Demonstrate:</a:t>
          </a:r>
          <a:endParaRPr lang="en-US" sz="1600" kern="1200" dirty="0"/>
        </a:p>
        <a:p>
          <a:pPr marL="342900" lvl="2" indent="-171450" algn="l" defTabSz="711200">
            <a:lnSpc>
              <a:spcPct val="90000"/>
            </a:lnSpc>
            <a:spcBef>
              <a:spcPct val="0"/>
            </a:spcBef>
            <a:spcAft>
              <a:spcPct val="15000"/>
            </a:spcAft>
            <a:buFont typeface="Arial" panose="020B0604020202020204" pitchFamily="34" charset="0"/>
            <a:buChar char="•"/>
          </a:pPr>
          <a:r>
            <a:rPr lang="en-US" sz="1600" b="0" kern="1200" dirty="0"/>
            <a:t>a text diagram of the route map</a:t>
          </a:r>
        </a:p>
        <a:p>
          <a:pPr marL="342900" lvl="2" indent="-171450" algn="l" defTabSz="711200">
            <a:lnSpc>
              <a:spcPct val="90000"/>
            </a:lnSpc>
            <a:spcBef>
              <a:spcPct val="0"/>
            </a:spcBef>
            <a:spcAft>
              <a:spcPct val="15000"/>
            </a:spcAft>
            <a:buFont typeface="Arial" panose="020B0604020202020204" pitchFamily="34" charset="0"/>
            <a:buChar char="•"/>
          </a:pPr>
          <a:r>
            <a:rPr lang="en-US" sz="1600" b="0" kern="1200" dirty="0"/>
            <a:t>adjacency-list creation</a:t>
          </a:r>
        </a:p>
        <a:p>
          <a:pPr marL="342900" lvl="2" indent="-171450" algn="l" defTabSz="711200">
            <a:lnSpc>
              <a:spcPct val="90000"/>
            </a:lnSpc>
            <a:spcBef>
              <a:spcPct val="0"/>
            </a:spcBef>
            <a:spcAft>
              <a:spcPct val="15000"/>
            </a:spcAft>
            <a:buFont typeface="Arial" panose="020B0604020202020204" pitchFamily="34" charset="0"/>
            <a:buChar char="•"/>
          </a:pPr>
          <a:r>
            <a:rPr lang="en-US" sz="1600" b="0" kern="1200" dirty="0"/>
            <a:t>BFS traversal from one start building</a:t>
          </a:r>
        </a:p>
        <a:p>
          <a:pPr marL="342900" lvl="2" indent="-171450" algn="l" defTabSz="711200">
            <a:lnSpc>
              <a:spcPct val="90000"/>
            </a:lnSpc>
            <a:spcBef>
              <a:spcPct val="0"/>
            </a:spcBef>
            <a:spcAft>
              <a:spcPct val="15000"/>
            </a:spcAft>
            <a:buFont typeface="Arial" panose="020B0604020202020204" pitchFamily="34" charset="0"/>
            <a:buChar char="•"/>
          </a:pPr>
          <a:r>
            <a:rPr lang="en-US" sz="1600" b="0" kern="1200" dirty="0"/>
            <a:t>DFS traversal from the same start building</a:t>
          </a:r>
        </a:p>
      </dsp:txBody>
      <dsp:txXfrm rot="-5400000">
        <a:off x="2596896" y="2374317"/>
        <a:ext cx="4538725" cy="1441459"/>
      </dsp:txXfrm>
    </dsp:sp>
    <dsp:sp modelId="{05B628AE-3B1C-4161-A2F2-79CC492C689A}">
      <dsp:nvSpPr>
        <dsp:cNvPr id="0" name=""/>
        <dsp:cNvSpPr/>
      </dsp:nvSpPr>
      <dsp:spPr>
        <a:xfrm>
          <a:off x="0" y="2096660"/>
          <a:ext cx="2596896" cy="1996771"/>
        </a:xfrm>
        <a:prstGeom prst="roundRect">
          <a:avLst/>
        </a:prstGeom>
        <a:solidFill>
          <a:schemeClr val="accent2">
            <a:hueOff val="-9896230"/>
            <a:satOff val="35944"/>
            <a:lumOff val="333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70485" rIns="140970" bIns="70485" numCol="1" spcCol="1270" anchor="ctr" anchorCtr="0">
          <a:noAutofit/>
        </a:bodyPr>
        <a:lstStyle/>
        <a:p>
          <a:pPr marL="0" lvl="0" indent="0" algn="ctr" defTabSz="1644650">
            <a:lnSpc>
              <a:spcPct val="90000"/>
            </a:lnSpc>
            <a:spcBef>
              <a:spcPct val="0"/>
            </a:spcBef>
            <a:spcAft>
              <a:spcPct val="35000"/>
            </a:spcAft>
            <a:buNone/>
          </a:pPr>
          <a:r>
            <a:rPr lang="en-US" sz="3700" kern="1200"/>
            <a:t>Goal</a:t>
          </a:r>
          <a:endParaRPr lang="en-US" sz="3700" kern="1200" dirty="0"/>
        </a:p>
      </dsp:txBody>
      <dsp:txXfrm>
        <a:off x="97474" y="2194134"/>
        <a:ext cx="2401948" cy="180182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F771C1-05FC-4D74-B572-26CBF75E68BC}">
      <dsp:nvSpPr>
        <dsp:cNvPr id="0" name=""/>
        <dsp:cNvSpPr/>
      </dsp:nvSpPr>
      <dsp:spPr>
        <a:xfrm>
          <a:off x="120890" y="1099"/>
          <a:ext cx="1939287" cy="1163572"/>
        </a:xfrm>
        <a:prstGeom prst="rect">
          <a:avLst/>
        </a:prstGeom>
        <a:gradFill rotWithShape="0">
          <a:gsLst>
            <a:gs pos="0">
              <a:schemeClr val="accent5">
                <a:hueOff val="0"/>
                <a:satOff val="0"/>
                <a:lumOff val="0"/>
                <a:alphaOff val="0"/>
                <a:tint val="96000"/>
                <a:lumMod val="100000"/>
              </a:schemeClr>
            </a:gs>
            <a:gs pos="78000">
              <a:schemeClr val="accent5">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at least 6 nodes</a:t>
          </a:r>
          <a:endParaRPr lang="en-US" sz="2100" kern="1200" dirty="0"/>
        </a:p>
      </dsp:txBody>
      <dsp:txXfrm>
        <a:off x="120890" y="1099"/>
        <a:ext cx="1939287" cy="1163572"/>
      </dsp:txXfrm>
    </dsp:sp>
    <dsp:sp modelId="{B845CC12-B8FB-4D24-BB43-3C1F6FFF6A5C}">
      <dsp:nvSpPr>
        <dsp:cNvPr id="0" name=""/>
        <dsp:cNvSpPr/>
      </dsp:nvSpPr>
      <dsp:spPr>
        <a:xfrm>
          <a:off x="2254106" y="1099"/>
          <a:ext cx="1939287" cy="1163572"/>
        </a:xfrm>
        <a:prstGeom prst="rect">
          <a:avLst/>
        </a:prstGeom>
        <a:gradFill rotWithShape="0">
          <a:gsLst>
            <a:gs pos="0">
              <a:schemeClr val="accent5">
                <a:hueOff val="-1649372"/>
                <a:satOff val="5991"/>
                <a:lumOff val="556"/>
                <a:alphaOff val="0"/>
                <a:tint val="96000"/>
                <a:lumMod val="100000"/>
              </a:schemeClr>
            </a:gs>
            <a:gs pos="78000">
              <a:schemeClr val="accent5">
                <a:hueOff val="-1649372"/>
                <a:satOff val="5991"/>
                <a:lumOff val="556"/>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at least 7 edges</a:t>
          </a:r>
        </a:p>
      </dsp:txBody>
      <dsp:txXfrm>
        <a:off x="2254106" y="1099"/>
        <a:ext cx="1939287" cy="1163572"/>
      </dsp:txXfrm>
    </dsp:sp>
    <dsp:sp modelId="{590A1C83-666F-4FEF-83FB-BF1B0FC11F89}">
      <dsp:nvSpPr>
        <dsp:cNvPr id="0" name=""/>
        <dsp:cNvSpPr/>
      </dsp:nvSpPr>
      <dsp:spPr>
        <a:xfrm>
          <a:off x="4387322" y="1099"/>
          <a:ext cx="1939287" cy="1163572"/>
        </a:xfrm>
        <a:prstGeom prst="rect">
          <a:avLst/>
        </a:prstGeom>
        <a:gradFill rotWithShape="0">
          <a:gsLst>
            <a:gs pos="0">
              <a:schemeClr val="accent5">
                <a:hueOff val="-3298743"/>
                <a:satOff val="11981"/>
                <a:lumOff val="1112"/>
                <a:alphaOff val="0"/>
                <a:tint val="96000"/>
                <a:lumMod val="100000"/>
              </a:schemeClr>
            </a:gs>
            <a:gs pos="78000">
              <a:schemeClr val="accent5">
                <a:hueOff val="-3298743"/>
                <a:satOff val="11981"/>
                <a:lumOff val="1112"/>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adjacency list</a:t>
          </a:r>
        </a:p>
      </dsp:txBody>
      <dsp:txXfrm>
        <a:off x="4387322" y="1099"/>
        <a:ext cx="1939287" cy="1163572"/>
      </dsp:txXfrm>
    </dsp:sp>
    <dsp:sp modelId="{DEA0B5D8-80CF-4F6A-9592-7D2A288FE713}">
      <dsp:nvSpPr>
        <dsp:cNvPr id="0" name=""/>
        <dsp:cNvSpPr/>
      </dsp:nvSpPr>
      <dsp:spPr>
        <a:xfrm>
          <a:off x="120890" y="1358600"/>
          <a:ext cx="1939287" cy="1163572"/>
        </a:xfrm>
        <a:prstGeom prst="rect">
          <a:avLst/>
        </a:prstGeom>
        <a:gradFill rotWithShape="0">
          <a:gsLst>
            <a:gs pos="0">
              <a:schemeClr val="accent5">
                <a:hueOff val="-4948115"/>
                <a:satOff val="17972"/>
                <a:lumOff val="1667"/>
                <a:alphaOff val="0"/>
                <a:tint val="96000"/>
                <a:lumMod val="100000"/>
              </a:schemeClr>
            </a:gs>
            <a:gs pos="78000">
              <a:schemeClr val="accent5">
                <a:hueOff val="-4948115"/>
                <a:satOff val="17972"/>
                <a:lumOff val="1667"/>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diagram or text representation</a:t>
          </a:r>
        </a:p>
      </dsp:txBody>
      <dsp:txXfrm>
        <a:off x="120890" y="1358600"/>
        <a:ext cx="1939287" cy="1163572"/>
      </dsp:txXfrm>
    </dsp:sp>
    <dsp:sp modelId="{7DBFEB26-728C-47DB-B27F-29B025BC96BD}">
      <dsp:nvSpPr>
        <dsp:cNvPr id="0" name=""/>
        <dsp:cNvSpPr/>
      </dsp:nvSpPr>
      <dsp:spPr>
        <a:xfrm>
          <a:off x="2254106" y="1358600"/>
          <a:ext cx="1939287" cy="1163572"/>
        </a:xfrm>
        <a:prstGeom prst="rect">
          <a:avLst/>
        </a:prstGeom>
        <a:gradFill rotWithShape="0">
          <a:gsLst>
            <a:gs pos="0">
              <a:schemeClr val="accent5">
                <a:hueOff val="-6597487"/>
                <a:satOff val="23963"/>
                <a:lumOff val="2223"/>
                <a:alphaOff val="0"/>
                <a:tint val="96000"/>
                <a:lumMod val="100000"/>
              </a:schemeClr>
            </a:gs>
            <a:gs pos="78000">
              <a:schemeClr val="accent5">
                <a:hueOff val="-6597487"/>
                <a:satOff val="23963"/>
                <a:lumOff val="2223"/>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BFS or DFS traversal</a:t>
          </a:r>
        </a:p>
      </dsp:txBody>
      <dsp:txXfrm>
        <a:off x="2254106" y="1358600"/>
        <a:ext cx="1939287" cy="1163572"/>
      </dsp:txXfrm>
    </dsp:sp>
    <dsp:sp modelId="{01A12AFB-33F9-46B5-8F6D-6FD97784A96B}">
      <dsp:nvSpPr>
        <dsp:cNvPr id="0" name=""/>
        <dsp:cNvSpPr/>
      </dsp:nvSpPr>
      <dsp:spPr>
        <a:xfrm>
          <a:off x="4387322" y="1358600"/>
          <a:ext cx="1939287" cy="1163572"/>
        </a:xfrm>
        <a:prstGeom prst="rect">
          <a:avLst/>
        </a:prstGeom>
        <a:gradFill rotWithShape="0">
          <a:gsLst>
            <a:gs pos="0">
              <a:schemeClr val="accent5">
                <a:hueOff val="-8246858"/>
                <a:satOff val="29953"/>
                <a:lumOff val="2779"/>
                <a:alphaOff val="0"/>
                <a:tint val="96000"/>
                <a:lumMod val="100000"/>
              </a:schemeClr>
            </a:gs>
            <a:gs pos="78000">
              <a:schemeClr val="accent5">
                <a:hueOff val="-8246858"/>
                <a:satOff val="29953"/>
                <a:lumOff val="2779"/>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traversal table</a:t>
          </a:r>
        </a:p>
      </dsp:txBody>
      <dsp:txXfrm>
        <a:off x="4387322" y="1358600"/>
        <a:ext cx="1939287" cy="1163572"/>
      </dsp:txXfrm>
    </dsp:sp>
    <dsp:sp modelId="{963452F5-1C81-43DF-BF2B-7C1C3EF0766B}">
      <dsp:nvSpPr>
        <dsp:cNvPr id="0" name=""/>
        <dsp:cNvSpPr/>
      </dsp:nvSpPr>
      <dsp:spPr>
        <a:xfrm>
          <a:off x="2254106" y="2716101"/>
          <a:ext cx="1939287" cy="1163572"/>
        </a:xfrm>
        <a:prstGeom prst="rect">
          <a:avLst/>
        </a:prstGeom>
        <a:gradFill rotWithShape="0">
          <a:gsLst>
            <a:gs pos="0">
              <a:schemeClr val="accent5">
                <a:hueOff val="-9896230"/>
                <a:satOff val="35944"/>
                <a:lumOff val="3335"/>
                <a:alphaOff val="0"/>
                <a:tint val="96000"/>
                <a:lumMod val="100000"/>
              </a:schemeClr>
            </a:gs>
            <a:gs pos="78000">
              <a:schemeClr val="accent5">
                <a:hueOff val="-9896230"/>
                <a:satOff val="35944"/>
                <a:lumOff val="3335"/>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0" kern="1200" dirty="0"/>
            <a:t>model limitation</a:t>
          </a:r>
        </a:p>
      </dsp:txBody>
      <dsp:txXfrm>
        <a:off x="2254106" y="2716101"/>
        <a:ext cx="1939287" cy="116357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79B2E2-F254-4758-975D-BCCCEBEB091F}">
      <dsp:nvSpPr>
        <dsp:cNvPr id="0" name=""/>
        <dsp:cNvSpPr/>
      </dsp:nvSpPr>
      <dsp:spPr>
        <a:xfrm>
          <a:off x="0" y="0"/>
          <a:ext cx="6588035" cy="4395443"/>
        </a:xfrm>
        <a:prstGeom prst="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13629" tIns="330200" rIns="513629" bIns="330200" numCol="1" spcCol="1270" anchor="t" anchorCtr="0">
          <a:noAutofit/>
        </a:bodyPr>
        <a:lstStyle/>
        <a:p>
          <a:pPr marL="0" lvl="0" indent="0" algn="l" defTabSz="977900">
            <a:lnSpc>
              <a:spcPct val="90000"/>
            </a:lnSpc>
            <a:spcBef>
              <a:spcPct val="0"/>
            </a:spcBef>
            <a:spcAft>
              <a:spcPct val="35000"/>
            </a:spcAft>
            <a:buNone/>
          </a:pPr>
          <a:r>
            <a:rPr lang="en-US" sz="2200" kern="1200" dirty="0"/>
            <a:t>For Lab 06:</a:t>
          </a:r>
        </a:p>
        <a:p>
          <a:pPr marL="171450" lvl="1" indent="-171450" algn="l" defTabSz="755650">
            <a:lnSpc>
              <a:spcPct val="90000"/>
            </a:lnSpc>
            <a:spcBef>
              <a:spcPct val="0"/>
            </a:spcBef>
            <a:spcAft>
              <a:spcPct val="15000"/>
            </a:spcAft>
            <a:buFont typeface="Arial" panose="020B0604020202020204" pitchFamily="34" charset="0"/>
            <a:buChar char="•"/>
          </a:pPr>
          <a:r>
            <a:rPr lang="en-US" sz="1700" b="0" kern="1200" dirty="0"/>
            <a:t>choose a system</a:t>
          </a:r>
          <a:endParaRPr lang="en-US" sz="1700" kern="1200" dirty="0"/>
        </a:p>
        <a:p>
          <a:pPr marL="171450" lvl="1" indent="-171450" algn="l" defTabSz="755650">
            <a:lnSpc>
              <a:spcPct val="90000"/>
            </a:lnSpc>
            <a:spcBef>
              <a:spcPct val="0"/>
            </a:spcBef>
            <a:spcAft>
              <a:spcPct val="15000"/>
            </a:spcAft>
            <a:buFont typeface="Arial" panose="020B0604020202020204" pitchFamily="34" charset="0"/>
            <a:buChar char="•"/>
          </a:pPr>
          <a:r>
            <a:rPr lang="en-US" sz="1700" b="0" kern="1200" dirty="0"/>
            <a:t>identify nodes and edges</a:t>
          </a:r>
        </a:p>
        <a:p>
          <a:pPr marL="171450" lvl="1" indent="-171450" algn="l" defTabSz="755650">
            <a:lnSpc>
              <a:spcPct val="90000"/>
            </a:lnSpc>
            <a:spcBef>
              <a:spcPct val="0"/>
            </a:spcBef>
            <a:spcAft>
              <a:spcPct val="15000"/>
            </a:spcAft>
            <a:buFont typeface="Arial" panose="020B0604020202020204" pitchFamily="34" charset="0"/>
            <a:buChar char="•"/>
          </a:pPr>
          <a:r>
            <a:rPr lang="en-US" sz="1700" b="0" kern="1200" dirty="0"/>
            <a:t>build an adjacency list</a:t>
          </a:r>
        </a:p>
        <a:p>
          <a:pPr marL="171450" lvl="1" indent="-171450" algn="l" defTabSz="755650">
            <a:lnSpc>
              <a:spcPct val="90000"/>
            </a:lnSpc>
            <a:spcBef>
              <a:spcPct val="0"/>
            </a:spcBef>
            <a:spcAft>
              <a:spcPct val="15000"/>
            </a:spcAft>
            <a:buFont typeface="Arial" panose="020B0604020202020204" pitchFamily="34" charset="0"/>
            <a:buChar char="•"/>
          </a:pPr>
          <a:r>
            <a:rPr lang="en-US" sz="1700" b="0" kern="1200" dirty="0"/>
            <a:t>create a diagram or text representation</a:t>
          </a:r>
        </a:p>
        <a:p>
          <a:pPr marL="171450" lvl="1" indent="-171450" algn="l" defTabSz="755650">
            <a:lnSpc>
              <a:spcPct val="90000"/>
            </a:lnSpc>
            <a:spcBef>
              <a:spcPct val="0"/>
            </a:spcBef>
            <a:spcAft>
              <a:spcPct val="15000"/>
            </a:spcAft>
            <a:buFont typeface="Arial" panose="020B0604020202020204" pitchFamily="34" charset="0"/>
            <a:buChar char="•"/>
          </a:pPr>
          <a:r>
            <a:rPr lang="en-US" sz="1700" b="0" kern="1200" dirty="0"/>
            <a:t>run or simulate BFS or DFS</a:t>
          </a:r>
        </a:p>
        <a:p>
          <a:pPr marL="171450" lvl="1" indent="-171450" algn="l" defTabSz="755650">
            <a:lnSpc>
              <a:spcPct val="90000"/>
            </a:lnSpc>
            <a:spcBef>
              <a:spcPct val="0"/>
            </a:spcBef>
            <a:spcAft>
              <a:spcPct val="15000"/>
            </a:spcAft>
            <a:buFont typeface="Arial" panose="020B0604020202020204" pitchFamily="34" charset="0"/>
            <a:buChar char="•"/>
          </a:pPr>
          <a:r>
            <a:rPr lang="en-US" sz="1700" b="0" kern="1200" dirty="0"/>
            <a:t>explain what the model leaves out</a:t>
          </a:r>
        </a:p>
      </dsp:txBody>
      <dsp:txXfrm>
        <a:off x="0" y="1670268"/>
        <a:ext cx="6588035" cy="2637265"/>
      </dsp:txXfrm>
    </dsp:sp>
    <dsp:sp modelId="{6E066B6B-870C-47BB-B0D4-7DDBD6CCC405}">
      <dsp:nvSpPr>
        <dsp:cNvPr id="0" name=""/>
        <dsp:cNvSpPr/>
      </dsp:nvSpPr>
      <dsp:spPr>
        <a:xfrm>
          <a:off x="2634701" y="439544"/>
          <a:ext cx="1318632" cy="1318632"/>
        </a:xfrm>
        <a:prstGeom prst="ellips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06" tIns="12700" rIns="102806"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2827810" y="632653"/>
        <a:ext cx="932414" cy="932414"/>
      </dsp:txXfrm>
    </dsp:sp>
    <dsp:sp modelId="{661C993E-716A-4EDE-A4B7-74802377363E}">
      <dsp:nvSpPr>
        <dsp:cNvPr id="0" name=""/>
        <dsp:cNvSpPr/>
      </dsp:nvSpPr>
      <dsp:spPr>
        <a:xfrm>
          <a:off x="0" y="4395371"/>
          <a:ext cx="6588035" cy="72"/>
        </a:xfrm>
        <a:prstGeom prst="rect">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759AF9F-1092-690D-006F-EBCE2C96B71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1FC0900-FCC2-2A2A-613C-A277F4B712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4943E5A-6629-4B53-8BAD-0FC37077EB14}" type="datetimeFigureOut">
              <a:rPr lang="en-US" smtClean="0"/>
              <a:t>6/21/2026</a:t>
            </a:fld>
            <a:endParaRPr lang="en-US"/>
          </a:p>
        </p:txBody>
      </p:sp>
      <p:sp>
        <p:nvSpPr>
          <p:cNvPr id="4" name="Footer Placeholder 3">
            <a:extLst>
              <a:ext uri="{FF2B5EF4-FFF2-40B4-BE49-F238E27FC236}">
                <a16:creationId xmlns:a16="http://schemas.microsoft.com/office/drawing/2014/main" id="{6A2D7F8D-A102-3CF3-78CD-2CA4C36115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D03618-FB8B-BA92-AF2F-43138FFAD9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05D54-93E9-4845-A874-0CB2F7E46362}" type="slidenum">
              <a:rPr lang="en-US" smtClean="0"/>
              <a:t>‹#›</a:t>
            </a:fld>
            <a:endParaRPr lang="en-US"/>
          </a:p>
        </p:txBody>
      </p:sp>
    </p:spTree>
    <p:extLst>
      <p:ext uri="{BB962C8B-B14F-4D97-AF65-F5344CB8AC3E}">
        <p14:creationId xmlns:p14="http://schemas.microsoft.com/office/powerpoint/2010/main" val="925368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382475-516A-409A-944E-F435F3DFCCF2}" type="datetimeFigureOut">
              <a:rPr lang="en-US" smtClean="0"/>
              <a:t>6/21/2026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16ACA2-47E6-42D2-BEC8-EDC49A1A9FA1}" type="slidenum">
              <a:rPr lang="en-US" smtClean="0"/>
              <a:t>‹#›</a:t>
            </a:fld>
            <a:endParaRPr lang="en-US"/>
          </a:p>
        </p:txBody>
      </p:sp>
    </p:spTree>
    <p:extLst>
      <p:ext uri="{BB962C8B-B14F-4D97-AF65-F5344CB8AC3E}">
        <p14:creationId xmlns:p14="http://schemas.microsoft.com/office/powerpoint/2010/main" val="3406224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1</a:t>
            </a:fld>
            <a:endParaRPr lang="en-US"/>
          </a:p>
        </p:txBody>
      </p:sp>
    </p:spTree>
    <p:extLst>
      <p:ext uri="{BB962C8B-B14F-4D97-AF65-F5344CB8AC3E}">
        <p14:creationId xmlns:p14="http://schemas.microsoft.com/office/powerpoint/2010/main" val="3005234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a:t>
            </a:fld>
            <a:endParaRPr lang="en-US"/>
          </a:p>
        </p:txBody>
      </p:sp>
    </p:spTree>
    <p:extLst>
      <p:ext uri="{BB962C8B-B14F-4D97-AF65-F5344CB8AC3E}">
        <p14:creationId xmlns:p14="http://schemas.microsoft.com/office/powerpoint/2010/main" val="3749331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a:t>
            </a:fld>
            <a:endParaRPr lang="en-US"/>
          </a:p>
        </p:txBody>
      </p:sp>
    </p:spTree>
    <p:extLst>
      <p:ext uri="{BB962C8B-B14F-4D97-AF65-F5344CB8AC3E}">
        <p14:creationId xmlns:p14="http://schemas.microsoft.com/office/powerpoint/2010/main" val="1229613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a:t>
            </a:fld>
            <a:endParaRPr lang="en-US"/>
          </a:p>
        </p:txBody>
      </p:sp>
    </p:spTree>
    <p:extLst>
      <p:ext uri="{BB962C8B-B14F-4D97-AF65-F5344CB8AC3E}">
        <p14:creationId xmlns:p14="http://schemas.microsoft.com/office/powerpoint/2010/main" val="12634355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Instructor Notes ** </a:t>
            </a:r>
          </a:p>
          <a:p>
            <a:r>
              <a:rPr lang="en-US" dirty="0"/>
              <a:t>Step through the coding solution(s) for the Lab.</a:t>
            </a:r>
            <a:br>
              <a:rPr lang="en-US" dirty="0"/>
            </a:br>
            <a:r>
              <a:rPr lang="en-US" dirty="0"/>
              <a:t>Be sure to state that this is only *one* solution of many. </a:t>
            </a:r>
            <a:br>
              <a:rPr lang="en-US" dirty="0"/>
            </a:br>
            <a:r>
              <a:rPr lang="en-US" dirty="0"/>
              <a:t>NOT the best or only solution.</a:t>
            </a:r>
          </a:p>
          <a:p>
            <a:endParaRPr lang="en-US" dirty="0"/>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a:t>
            </a:fld>
            <a:endParaRPr lang="en-US"/>
          </a:p>
        </p:txBody>
      </p:sp>
    </p:spTree>
    <p:extLst>
      <p:ext uri="{BB962C8B-B14F-4D97-AF65-F5344CB8AC3E}">
        <p14:creationId xmlns:p14="http://schemas.microsoft.com/office/powerpoint/2010/main" val="2991616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one student-safe example if available. </a:t>
            </a:r>
          </a:p>
          <a:p>
            <a:r>
              <a:rPr lang="en-US" sz="1200" b="0" kern="1200" dirty="0">
                <a:solidFill>
                  <a:schemeClr val="tx1"/>
                </a:solidFill>
                <a:effectLst/>
                <a:latin typeface="+mn-lt"/>
                <a:ea typeface="+mn-ea"/>
                <a:cs typeface="+mn-cs"/>
              </a:rPr>
              <a:t>The bridge is that strategy depends on representation. </a:t>
            </a:r>
          </a:p>
          <a:p>
            <a:r>
              <a:rPr lang="en-US" sz="1200" b="0" kern="1200" dirty="0">
                <a:solidFill>
                  <a:schemeClr val="tx1"/>
                </a:solidFill>
                <a:effectLst/>
                <a:latin typeface="+mn-lt"/>
                <a:ea typeface="+mn-ea"/>
                <a:cs typeface="+mn-cs"/>
              </a:rPr>
              <a:t>Week 6 begins with a representation choice: model the system as connected parts.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week, the shape we care about is connection.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a:t>
            </a:fld>
            <a:endParaRPr lang="en-US"/>
          </a:p>
        </p:txBody>
      </p:sp>
    </p:spTree>
    <p:extLst>
      <p:ext uri="{BB962C8B-B14F-4D97-AF65-F5344CB8AC3E}">
        <p14:creationId xmlns:p14="http://schemas.microsoft.com/office/powerpoint/2010/main" val="1276573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Let students name connected systems: maps, workflows, course prerequisites, social networks, game rooms, web pages, file dependencies.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goal is to make "connection" concrete enough to represent and traverse.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model is called a graph.</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7</a:t>
            </a:fld>
            <a:endParaRPr lang="en-US"/>
          </a:p>
        </p:txBody>
      </p:sp>
    </p:spTree>
    <p:extLst>
      <p:ext uri="{BB962C8B-B14F-4D97-AF65-F5344CB8AC3E}">
        <p14:creationId xmlns:p14="http://schemas.microsoft.com/office/powerpoint/2010/main" val="143017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Emphasize "model." A graph is not the full real system. </a:t>
            </a:r>
          </a:p>
          <a:p>
            <a:r>
              <a:rPr lang="en-US" sz="1200" b="0" kern="1200" dirty="0">
                <a:solidFill>
                  <a:schemeClr val="tx1"/>
                </a:solidFill>
                <a:effectLst/>
                <a:latin typeface="+mn-lt"/>
                <a:ea typeface="+mn-ea"/>
                <a:cs typeface="+mn-cs"/>
              </a:rPr>
              <a:t>It is a simplified representation that highlights relationships.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primary Week 6 mental model.</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 model helps us see, but it also leaves things out.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8</a:t>
            </a:fld>
            <a:endParaRPr lang="en-US"/>
          </a:p>
        </p:txBody>
      </p:sp>
    </p:spTree>
    <p:extLst>
      <p:ext uri="{BB962C8B-B14F-4D97-AF65-F5344CB8AC3E}">
        <p14:creationId xmlns:p14="http://schemas.microsoft.com/office/powerpoint/2010/main" val="637556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9</a:t>
            </a:fld>
            <a:endParaRPr lang="en-US"/>
          </a:p>
        </p:txBody>
      </p:sp>
    </p:spTree>
    <p:extLst>
      <p:ext uri="{BB962C8B-B14F-4D97-AF65-F5344CB8AC3E}">
        <p14:creationId xmlns:p14="http://schemas.microsoft.com/office/powerpoint/2010/main" val="20486248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mirrors Lab 06. </a:t>
            </a:r>
          </a:p>
          <a:p>
            <a:r>
              <a:rPr lang="en-US" sz="1200" b="0" kern="1200" dirty="0">
                <a:solidFill>
                  <a:schemeClr val="tx1"/>
                </a:solidFill>
                <a:effectLst/>
                <a:latin typeface="+mn-lt"/>
                <a:ea typeface="+mn-ea"/>
                <a:cs typeface="+mn-cs"/>
              </a:rPr>
              <a:t>Students do not need advanced centrality calculations for success. </a:t>
            </a:r>
          </a:p>
          <a:p>
            <a:r>
              <a:rPr lang="en-US" sz="1200" b="0" kern="1200" dirty="0">
                <a:solidFill>
                  <a:schemeClr val="tx1"/>
                </a:solidFill>
                <a:effectLst/>
                <a:latin typeface="+mn-lt"/>
                <a:ea typeface="+mn-ea"/>
                <a:cs typeface="+mn-cs"/>
              </a:rPr>
              <a:t>They need a clear graph model and visible traversal behavior.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anchor the lesson in the reading.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10</a:t>
            </a:fld>
            <a:endParaRPr lang="en-US"/>
          </a:p>
        </p:txBody>
      </p:sp>
    </p:spTree>
    <p:extLst>
      <p:ext uri="{BB962C8B-B14F-4D97-AF65-F5344CB8AC3E}">
        <p14:creationId xmlns:p14="http://schemas.microsoft.com/office/powerpoint/2010/main" val="22923700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Tell students that not all areas receive equal depth. </a:t>
            </a:r>
          </a:p>
          <a:p>
            <a:r>
              <a:rPr lang="en-US" sz="1200" b="0" kern="1200" dirty="0">
                <a:solidFill>
                  <a:schemeClr val="tx1"/>
                </a:solidFill>
                <a:effectLst/>
                <a:latin typeface="+mn-lt"/>
                <a:ea typeface="+mn-ea"/>
                <a:cs typeface="+mn-cs"/>
              </a:rPr>
              <a:t>Representation and traversal are the core for this course week. </a:t>
            </a:r>
          </a:p>
          <a:p>
            <a:r>
              <a:rPr lang="en-US" sz="1200" b="0" kern="1200" dirty="0">
                <a:solidFill>
                  <a:schemeClr val="tx1"/>
                </a:solidFill>
                <a:effectLst/>
                <a:latin typeface="+mn-lt"/>
                <a:ea typeface="+mn-ea"/>
                <a:cs typeface="+mn-cs"/>
              </a:rPr>
              <a:t>Network metrics are mostly recognition and optional context.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first reading challenge is vocabulary.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11</a:t>
            </a:fld>
            <a:endParaRPr lang="en-US"/>
          </a:p>
        </p:txBody>
      </p:sp>
    </p:spTree>
    <p:extLst>
      <p:ext uri="{BB962C8B-B14F-4D97-AF65-F5344CB8AC3E}">
        <p14:creationId xmlns:p14="http://schemas.microsoft.com/office/powerpoint/2010/main" val="532020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D27C6-EBD2-4FB1-C883-5408B7F5C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C2E10-5E6E-0517-05F7-674A71307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3867EE-5D49-1933-F097-B467078C8445}"/>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responds to the risk that students will use everyday meanings too loosely. </a:t>
            </a:r>
          </a:p>
          <a:p>
            <a:r>
              <a:rPr lang="en-US" sz="1200" b="0" kern="1200" dirty="0">
                <a:solidFill>
                  <a:schemeClr val="tx1"/>
                </a:solidFill>
                <a:effectLst/>
                <a:latin typeface="+mn-lt"/>
                <a:ea typeface="+mn-ea"/>
                <a:cs typeface="+mn-cs"/>
              </a:rPr>
              <a:t>The lesson should repeatedly ask: "What does this term mean in the graph model?"</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also includes formulas.</a:t>
            </a:r>
          </a:p>
          <a:p>
            <a:endParaRPr lang="en-US" dirty="0"/>
          </a:p>
        </p:txBody>
      </p:sp>
      <p:sp>
        <p:nvSpPr>
          <p:cNvPr id="4" name="Slide Number Placeholder 3">
            <a:extLst>
              <a:ext uri="{FF2B5EF4-FFF2-40B4-BE49-F238E27FC236}">
                <a16:creationId xmlns:a16="http://schemas.microsoft.com/office/drawing/2014/main" id="{C6DD311B-7D83-A5EC-5FF2-7651509122F2}"/>
              </a:ext>
            </a:extLst>
          </p:cNvPr>
          <p:cNvSpPr>
            <a:spLocks noGrp="1"/>
          </p:cNvSpPr>
          <p:nvPr>
            <p:ph type="sldNum" sz="quarter" idx="5"/>
          </p:nvPr>
        </p:nvSpPr>
        <p:spPr/>
        <p:txBody>
          <a:bodyPr/>
          <a:lstStyle/>
          <a:p>
            <a:fld id="{1916ACA2-47E6-42D2-BEC8-EDC49A1A9FA1}" type="slidenum">
              <a:rPr lang="en-US" smtClean="0"/>
              <a:t>12</a:t>
            </a:fld>
            <a:endParaRPr lang="en-US"/>
          </a:p>
        </p:txBody>
      </p:sp>
    </p:spTree>
    <p:extLst>
      <p:ext uri="{BB962C8B-B14F-4D97-AF65-F5344CB8AC3E}">
        <p14:creationId xmlns:p14="http://schemas.microsoft.com/office/powerpoint/2010/main" val="5730161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488C3-76A2-C106-7F0F-29EC25EE8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D70FD9-412B-63C6-D68D-7D6A081B00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15621F-473A-D7E9-A73E-7AF6EC11B1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208064-B91F-98FC-17F8-278B3CA1D945}"/>
              </a:ext>
            </a:extLst>
          </p:cNvPr>
          <p:cNvSpPr>
            <a:spLocks noGrp="1"/>
          </p:cNvSpPr>
          <p:nvPr>
            <p:ph type="sldNum" sz="quarter" idx="5"/>
          </p:nvPr>
        </p:nvSpPr>
        <p:spPr/>
        <p:txBody>
          <a:bodyPr/>
          <a:lstStyle/>
          <a:p>
            <a:fld id="{1916ACA2-47E6-42D2-BEC8-EDC49A1A9FA1}" type="slidenum">
              <a:rPr lang="en-US" smtClean="0"/>
              <a:t>13</a:t>
            </a:fld>
            <a:endParaRPr lang="en-US"/>
          </a:p>
        </p:txBody>
      </p:sp>
    </p:spTree>
    <p:extLst>
      <p:ext uri="{BB962C8B-B14F-4D97-AF65-F5344CB8AC3E}">
        <p14:creationId xmlns:p14="http://schemas.microsoft.com/office/powerpoint/2010/main" val="371551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F3FE1-1FA2-F13A-C5B5-1369E9C1FB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B3B20C-E730-F123-488F-45A84510BB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824D3D-94AE-1D86-75B9-356B7E6BB0B2}"/>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 explicit: some formulas are complex and advanced. </a:t>
            </a:r>
          </a:p>
          <a:p>
            <a:r>
              <a:rPr lang="en-US" sz="1200" b="0" kern="1200" dirty="0">
                <a:solidFill>
                  <a:schemeClr val="tx1"/>
                </a:solidFill>
                <a:effectLst/>
                <a:latin typeface="+mn-lt"/>
                <a:ea typeface="+mn-ea"/>
                <a:cs typeface="+mn-cs"/>
              </a:rPr>
              <a:t>Students should not treat formula mastery as the Week 6 goal.</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practical goal is graph representation, BFS/DFS traversal, and explanation.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required core begins with graph basics.</a:t>
            </a:r>
          </a:p>
          <a:p>
            <a:endParaRPr lang="en-US" dirty="0"/>
          </a:p>
        </p:txBody>
      </p:sp>
      <p:sp>
        <p:nvSpPr>
          <p:cNvPr id="4" name="Slide Number Placeholder 3">
            <a:extLst>
              <a:ext uri="{FF2B5EF4-FFF2-40B4-BE49-F238E27FC236}">
                <a16:creationId xmlns:a16="http://schemas.microsoft.com/office/drawing/2014/main" id="{1BD90AEC-D918-EF78-92A9-8483F4D69EED}"/>
              </a:ext>
            </a:extLst>
          </p:cNvPr>
          <p:cNvSpPr>
            <a:spLocks noGrp="1"/>
          </p:cNvSpPr>
          <p:nvPr>
            <p:ph type="sldNum" sz="quarter" idx="5"/>
          </p:nvPr>
        </p:nvSpPr>
        <p:spPr/>
        <p:txBody>
          <a:bodyPr/>
          <a:lstStyle/>
          <a:p>
            <a:fld id="{1916ACA2-47E6-42D2-BEC8-EDC49A1A9FA1}" type="slidenum">
              <a:rPr lang="en-US" smtClean="0"/>
              <a:t>14</a:t>
            </a:fld>
            <a:endParaRPr lang="en-US"/>
          </a:p>
        </p:txBody>
      </p:sp>
    </p:spTree>
    <p:extLst>
      <p:ext uri="{BB962C8B-B14F-4D97-AF65-F5344CB8AC3E}">
        <p14:creationId xmlns:p14="http://schemas.microsoft.com/office/powerpoint/2010/main" val="33354979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59F90-2A46-A0C0-BDD5-4099E93B8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D23602-DA71-C858-C23A-3A9FE47899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0425F9-FA77-4F39-38ED-BA095D70E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BD32A0-717E-4EE2-D45E-F997EB45DBFA}"/>
              </a:ext>
            </a:extLst>
          </p:cNvPr>
          <p:cNvSpPr>
            <a:spLocks noGrp="1"/>
          </p:cNvSpPr>
          <p:nvPr>
            <p:ph type="sldNum" sz="quarter" idx="5"/>
          </p:nvPr>
        </p:nvSpPr>
        <p:spPr/>
        <p:txBody>
          <a:bodyPr/>
          <a:lstStyle/>
          <a:p>
            <a:fld id="{1916ACA2-47E6-42D2-BEC8-EDC49A1A9FA1}" type="slidenum">
              <a:rPr lang="en-US" smtClean="0"/>
              <a:t>15</a:t>
            </a:fld>
            <a:endParaRPr lang="en-US"/>
          </a:p>
        </p:txBody>
      </p:sp>
    </p:spTree>
    <p:extLst>
      <p:ext uri="{BB962C8B-B14F-4D97-AF65-F5344CB8AC3E}">
        <p14:creationId xmlns:p14="http://schemas.microsoft.com/office/powerpoint/2010/main" val="2291619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7B5FC-A292-3BF2-39EB-0C52735C0E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AA6899-BE10-E719-8F54-5981D584C2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BCEC3B-D3A6-D6C8-282C-7F6B36075675}"/>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Tie each term to a tiny example. </a:t>
            </a:r>
          </a:p>
          <a:p>
            <a:r>
              <a:rPr lang="en-US" sz="1200" b="0" kern="1200" dirty="0">
                <a:solidFill>
                  <a:schemeClr val="tx1"/>
                </a:solidFill>
                <a:effectLst/>
                <a:latin typeface="+mn-lt"/>
                <a:ea typeface="+mn-ea"/>
                <a:cs typeface="+mn-cs"/>
              </a:rPr>
              <a:t>For a campus map, buildings are nodes and sidewalks are edges.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also discusses neighborhoods and ego-centered networks.</a:t>
            </a:r>
          </a:p>
          <a:p>
            <a:endParaRPr lang="en-US" dirty="0"/>
          </a:p>
        </p:txBody>
      </p:sp>
      <p:sp>
        <p:nvSpPr>
          <p:cNvPr id="4" name="Slide Number Placeholder 3">
            <a:extLst>
              <a:ext uri="{FF2B5EF4-FFF2-40B4-BE49-F238E27FC236}">
                <a16:creationId xmlns:a16="http://schemas.microsoft.com/office/drawing/2014/main" id="{F194391B-A64C-1E2E-B9D0-0B04C25B826A}"/>
              </a:ext>
            </a:extLst>
          </p:cNvPr>
          <p:cNvSpPr>
            <a:spLocks noGrp="1"/>
          </p:cNvSpPr>
          <p:nvPr>
            <p:ph type="sldNum" sz="quarter" idx="5"/>
          </p:nvPr>
        </p:nvSpPr>
        <p:spPr/>
        <p:txBody>
          <a:bodyPr/>
          <a:lstStyle/>
          <a:p>
            <a:fld id="{1916ACA2-47E6-42D2-BEC8-EDC49A1A9FA1}" type="slidenum">
              <a:rPr lang="en-US" smtClean="0"/>
              <a:t>16</a:t>
            </a:fld>
            <a:endParaRPr lang="en-US"/>
          </a:p>
        </p:txBody>
      </p:sp>
    </p:spTree>
    <p:extLst>
      <p:ext uri="{BB962C8B-B14F-4D97-AF65-F5344CB8AC3E}">
        <p14:creationId xmlns:p14="http://schemas.microsoft.com/office/powerpoint/2010/main" val="438665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054FA-4F54-206D-64B8-A4E0512647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8F41A-E080-D22F-5E3C-07CAD2AF5A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59A13C-8DB7-1E77-24C9-693C7789ED3B}"/>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"hop" as a friendly bridge. </a:t>
            </a:r>
          </a:p>
          <a:p>
            <a:r>
              <a:rPr lang="en-US" sz="1200" b="0" kern="1200" dirty="0">
                <a:solidFill>
                  <a:schemeClr val="tx1"/>
                </a:solidFill>
                <a:effectLst/>
                <a:latin typeface="+mn-lt"/>
                <a:ea typeface="+mn-ea"/>
                <a:cs typeface="+mn-cs"/>
              </a:rPr>
              <a:t>One-hop neighbors are directly connected.</a:t>
            </a:r>
          </a:p>
          <a:p>
            <a:r>
              <a:rPr lang="en-US" sz="1200" b="0" kern="1200" dirty="0">
                <a:solidFill>
                  <a:schemeClr val="tx1"/>
                </a:solidFill>
                <a:effectLst/>
                <a:latin typeface="+mn-lt"/>
                <a:ea typeface="+mn-ea"/>
                <a:cs typeface="+mn-cs"/>
              </a:rPr>
              <a:t>Two-hop nodes are reachable through one intermediate node.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prepares BFS.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required traversal section is the main lab bridge.</a:t>
            </a:r>
          </a:p>
          <a:p>
            <a:endParaRPr lang="en-US" dirty="0"/>
          </a:p>
        </p:txBody>
      </p:sp>
      <p:sp>
        <p:nvSpPr>
          <p:cNvPr id="4" name="Slide Number Placeholder 3">
            <a:extLst>
              <a:ext uri="{FF2B5EF4-FFF2-40B4-BE49-F238E27FC236}">
                <a16:creationId xmlns:a16="http://schemas.microsoft.com/office/drawing/2014/main" id="{D4659047-054B-CFC3-9AF3-78FAB015EC6B}"/>
              </a:ext>
            </a:extLst>
          </p:cNvPr>
          <p:cNvSpPr>
            <a:spLocks noGrp="1"/>
          </p:cNvSpPr>
          <p:nvPr>
            <p:ph type="sldNum" sz="quarter" idx="5"/>
          </p:nvPr>
        </p:nvSpPr>
        <p:spPr/>
        <p:txBody>
          <a:bodyPr/>
          <a:lstStyle/>
          <a:p>
            <a:fld id="{1916ACA2-47E6-42D2-BEC8-EDC49A1A9FA1}" type="slidenum">
              <a:rPr lang="en-US" smtClean="0"/>
              <a:t>17</a:t>
            </a:fld>
            <a:endParaRPr lang="en-US"/>
          </a:p>
        </p:txBody>
      </p:sp>
    </p:spTree>
    <p:extLst>
      <p:ext uri="{BB962C8B-B14F-4D97-AF65-F5344CB8AC3E}">
        <p14:creationId xmlns:p14="http://schemas.microsoft.com/office/powerpoint/2010/main" val="6777668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9B7EB-233B-2CC0-D574-2D7490CAD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17BDE-D92E-C6EF-59D3-A6063E8A34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F3315-DD89-52B0-8735-81FD19988276}"/>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Frame BFS and DFS as ways to move through the graph. </a:t>
            </a:r>
          </a:p>
          <a:p>
            <a:r>
              <a:rPr lang="en-US" sz="1200" b="0" kern="1200" dirty="0">
                <a:solidFill>
                  <a:schemeClr val="tx1"/>
                </a:solidFill>
                <a:effectLst/>
                <a:latin typeface="+mn-lt"/>
                <a:ea typeface="+mn-ea"/>
                <a:cs typeface="+mn-cs"/>
              </a:rPr>
              <a:t>They are not just code recipes. </a:t>
            </a:r>
          </a:p>
          <a:p>
            <a:r>
              <a:rPr lang="en-US" sz="1200" b="0" kern="1200" dirty="0">
                <a:solidFill>
                  <a:schemeClr val="tx1"/>
                </a:solidFill>
                <a:effectLst/>
                <a:latin typeface="+mn-lt"/>
                <a:ea typeface="+mn-ea"/>
                <a:cs typeface="+mn-cs"/>
              </a:rPr>
              <a:t>They produce visible behavior that can be traced.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the basic pieces of the model.</a:t>
            </a:r>
          </a:p>
          <a:p>
            <a:endParaRPr lang="en-US" dirty="0"/>
          </a:p>
        </p:txBody>
      </p:sp>
      <p:sp>
        <p:nvSpPr>
          <p:cNvPr id="4" name="Slide Number Placeholder 3">
            <a:extLst>
              <a:ext uri="{FF2B5EF4-FFF2-40B4-BE49-F238E27FC236}">
                <a16:creationId xmlns:a16="http://schemas.microsoft.com/office/drawing/2014/main" id="{F2B9145B-F3E6-773C-E7FF-F68869C69505}"/>
              </a:ext>
            </a:extLst>
          </p:cNvPr>
          <p:cNvSpPr>
            <a:spLocks noGrp="1"/>
          </p:cNvSpPr>
          <p:nvPr>
            <p:ph type="sldNum" sz="quarter" idx="5"/>
          </p:nvPr>
        </p:nvSpPr>
        <p:spPr/>
        <p:txBody>
          <a:bodyPr/>
          <a:lstStyle/>
          <a:p>
            <a:fld id="{1916ACA2-47E6-42D2-BEC8-EDC49A1A9FA1}" type="slidenum">
              <a:rPr lang="en-US" smtClean="0"/>
              <a:t>18</a:t>
            </a:fld>
            <a:endParaRPr lang="en-US"/>
          </a:p>
        </p:txBody>
      </p:sp>
    </p:spTree>
    <p:extLst>
      <p:ext uri="{BB962C8B-B14F-4D97-AF65-F5344CB8AC3E}">
        <p14:creationId xmlns:p14="http://schemas.microsoft.com/office/powerpoint/2010/main" val="2514388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19</a:t>
            </a:fld>
            <a:endParaRPr lang="en-US"/>
          </a:p>
        </p:txBody>
      </p:sp>
    </p:spTree>
    <p:extLst>
      <p:ext uri="{BB962C8B-B14F-4D97-AF65-F5344CB8AC3E}">
        <p14:creationId xmlns:p14="http://schemas.microsoft.com/office/powerpoint/2010/main" val="23938113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both words because the textbook may use vertex. For students, "node" will probably be friendlier.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Nodes matter because edges connect them.</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20</a:t>
            </a:fld>
            <a:endParaRPr lang="en-US"/>
          </a:p>
        </p:txBody>
      </p:sp>
    </p:spTree>
    <p:extLst>
      <p:ext uri="{BB962C8B-B14F-4D97-AF65-F5344CB8AC3E}">
        <p14:creationId xmlns:p14="http://schemas.microsoft.com/office/powerpoint/2010/main" val="1810350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Ask students to distinguish the node from the edge in two examples. </a:t>
            </a:r>
          </a:p>
          <a:p>
            <a:r>
              <a:rPr lang="en-US" sz="1200" b="0" kern="1200" dirty="0">
                <a:solidFill>
                  <a:schemeClr val="tx1"/>
                </a:solidFill>
                <a:effectLst/>
                <a:latin typeface="+mn-lt"/>
                <a:ea typeface="+mn-ea"/>
                <a:cs typeface="+mn-cs"/>
              </a:rPr>
              <a:t>This prevents a common confusion where students list things but not relationships.</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Together, nodes and edges form a graph.</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21</a:t>
            </a:fld>
            <a:endParaRPr lang="en-US"/>
          </a:p>
        </p:txBody>
      </p:sp>
    </p:spTree>
    <p:extLst>
      <p:ext uri="{BB962C8B-B14F-4D97-AF65-F5344CB8AC3E}">
        <p14:creationId xmlns:p14="http://schemas.microsoft.com/office/powerpoint/2010/main" val="1901950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key term distinction. </a:t>
            </a:r>
          </a:p>
          <a:p>
            <a:r>
              <a:rPr lang="en-US" sz="1200" b="0" kern="1200" dirty="0">
                <a:solidFill>
                  <a:schemeClr val="tx1"/>
                </a:solidFill>
                <a:effectLst/>
                <a:latin typeface="+mn-lt"/>
                <a:ea typeface="+mn-ea"/>
                <a:cs typeface="+mn-cs"/>
              </a:rPr>
              <a:t>A real campus has distances, weather, stairs, doors, crowds, and accessibility. </a:t>
            </a:r>
          </a:p>
          <a:p>
            <a:r>
              <a:rPr lang="en-US" sz="1200" b="0" kern="1200" dirty="0">
                <a:solidFill>
                  <a:schemeClr val="tx1"/>
                </a:solidFill>
                <a:effectLst/>
                <a:latin typeface="+mn-lt"/>
                <a:ea typeface="+mn-ea"/>
                <a:cs typeface="+mn-cs"/>
              </a:rPr>
              <a:t>A graph may choose to model only direct routes.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Different graph types model different relationship rules.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22</a:t>
            </a:fld>
            <a:endParaRPr lang="en-US"/>
          </a:p>
        </p:txBody>
      </p:sp>
    </p:spTree>
    <p:extLst>
      <p:ext uri="{BB962C8B-B14F-4D97-AF65-F5344CB8AC3E}">
        <p14:creationId xmlns:p14="http://schemas.microsoft.com/office/powerpoint/2010/main" val="36157997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practical. A simple graph is enough for most Lab 06 submissions.</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If students ask about self-loops, explain that a node connecting to itself is possible in graph theory but usually not needed for the lab.</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Some relationships have direction.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23</a:t>
            </a:fld>
            <a:endParaRPr lang="en-US"/>
          </a:p>
        </p:txBody>
      </p:sp>
    </p:spTree>
    <p:extLst>
      <p:ext uri="{BB962C8B-B14F-4D97-AF65-F5344CB8AC3E}">
        <p14:creationId xmlns:p14="http://schemas.microsoft.com/office/powerpoint/2010/main" val="200735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prerequisite example: Course A can lead to Course B, but Course B does not lead backward to Course A.</a:t>
            </a:r>
          </a:p>
          <a:p>
            <a:r>
              <a:rPr lang="en-US" sz="1200" b="0" kern="1200" dirty="0">
                <a:solidFill>
                  <a:schemeClr val="tx1"/>
                </a:solidFill>
                <a:effectLst/>
                <a:latin typeface="+mn-lt"/>
                <a:ea typeface="+mn-ea"/>
                <a:cs typeface="+mn-cs"/>
              </a:rPr>
              <a:t>This prepares the lab option on prerequisites and workflows.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Other relationships work both ways.</a:t>
            </a:r>
          </a:p>
        </p:txBody>
      </p:sp>
      <p:sp>
        <p:nvSpPr>
          <p:cNvPr id="4" name="Slide Number Placeholder 3"/>
          <p:cNvSpPr>
            <a:spLocks noGrp="1"/>
          </p:cNvSpPr>
          <p:nvPr>
            <p:ph type="sldNum" sz="quarter" idx="5"/>
          </p:nvPr>
        </p:nvSpPr>
        <p:spPr/>
        <p:txBody>
          <a:bodyPr/>
          <a:lstStyle/>
          <a:p>
            <a:fld id="{1916ACA2-47E6-42D2-BEC8-EDC49A1A9FA1}" type="slidenum">
              <a:rPr lang="en-US" smtClean="0"/>
              <a:t>24</a:t>
            </a:fld>
            <a:endParaRPr lang="en-US"/>
          </a:p>
        </p:txBody>
      </p:sp>
    </p:spTree>
    <p:extLst>
      <p:ext uri="{BB962C8B-B14F-4D97-AF65-F5344CB8AC3E}">
        <p14:creationId xmlns:p14="http://schemas.microsoft.com/office/powerpoint/2010/main" val="13591181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clear that undirected edges usually need to appear in both directions if represented as an adjacency list.</a:t>
            </a:r>
          </a:p>
          <a:p>
            <a:r>
              <a:rPr lang="en-US" sz="1200" b="0" kern="1200" dirty="0">
                <a:solidFill>
                  <a:schemeClr val="tx1"/>
                </a:solidFill>
                <a:effectLst/>
                <a:latin typeface="+mn-lt"/>
                <a:ea typeface="+mn-ea"/>
                <a:cs typeface="+mn-cs"/>
              </a:rPr>
              <a:t>This is a major Lab 06 watch-for.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Some edges also carry a cost or value.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25</a:t>
            </a:fld>
            <a:endParaRPr lang="en-US"/>
          </a:p>
        </p:txBody>
      </p:sp>
    </p:spTree>
    <p:extLst>
      <p:ext uri="{BB962C8B-B14F-4D97-AF65-F5344CB8AC3E}">
        <p14:creationId xmlns:p14="http://schemas.microsoft.com/office/powerpoint/2010/main" val="34453081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recognition-level unless students are ready. Lab 06 does not require weighted path algorithms.</a:t>
            </a:r>
          </a:p>
          <a:p>
            <a:r>
              <a:rPr lang="en-US" sz="1200" b="0" kern="1200" dirty="0">
                <a:solidFill>
                  <a:schemeClr val="tx1"/>
                </a:solidFill>
                <a:effectLst/>
                <a:latin typeface="+mn-lt"/>
                <a:ea typeface="+mn-ea"/>
                <a:cs typeface="+mn-cs"/>
              </a:rPr>
              <a:t>Emphasize that if a model does not include weights, it cannot claim shortest time or lowest cost.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we need a practical way to store graph connections.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26</a:t>
            </a:fld>
            <a:endParaRPr lang="en-US"/>
          </a:p>
        </p:txBody>
      </p:sp>
    </p:spTree>
    <p:extLst>
      <p:ext uri="{BB962C8B-B14F-4D97-AF65-F5344CB8AC3E}">
        <p14:creationId xmlns:p14="http://schemas.microsoft.com/office/powerpoint/2010/main" val="36703825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one of the most important implementation slides. </a:t>
            </a:r>
          </a:p>
          <a:p>
            <a:r>
              <a:rPr lang="en-US" sz="1200" b="0" kern="1200" dirty="0">
                <a:solidFill>
                  <a:schemeClr val="tx1"/>
                </a:solidFill>
                <a:effectLst/>
                <a:latin typeface="+mn-lt"/>
                <a:ea typeface="+mn-ea"/>
                <a:cs typeface="+mn-cs"/>
              </a:rPr>
              <a:t>Students should be able to read the adjacency list as "from this node, these neighbors are directly reachable."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adjacency list should match the diagram.</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27</a:t>
            </a:fld>
            <a:endParaRPr lang="en-US"/>
          </a:p>
        </p:txBody>
      </p:sp>
    </p:spTree>
    <p:extLst>
      <p:ext uri="{BB962C8B-B14F-4D97-AF65-F5344CB8AC3E}">
        <p14:creationId xmlns:p14="http://schemas.microsoft.com/office/powerpoint/2010/main" val="40107489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0834A-7384-5BC7-832D-C440B0DA1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2AC338-9072-5564-76B0-8A7070BED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82CE0E-50C2-B136-E27D-FA6E5FB79B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4D731B-4236-3B3C-A94F-152712C095EF}"/>
              </a:ext>
            </a:extLst>
          </p:cNvPr>
          <p:cNvSpPr>
            <a:spLocks noGrp="1"/>
          </p:cNvSpPr>
          <p:nvPr>
            <p:ph type="sldNum" sz="quarter" idx="5"/>
          </p:nvPr>
        </p:nvSpPr>
        <p:spPr/>
        <p:txBody>
          <a:bodyPr/>
          <a:lstStyle/>
          <a:p>
            <a:fld id="{1916ACA2-47E6-42D2-BEC8-EDC49A1A9FA1}" type="slidenum">
              <a:rPr lang="en-US" smtClean="0"/>
              <a:t>28</a:t>
            </a:fld>
            <a:endParaRPr lang="en-US"/>
          </a:p>
        </p:txBody>
      </p:sp>
    </p:spTree>
    <p:extLst>
      <p:ext uri="{BB962C8B-B14F-4D97-AF65-F5344CB8AC3E}">
        <p14:creationId xmlns:p14="http://schemas.microsoft.com/office/powerpoint/2010/main" val="4474203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practical debugging slide. </a:t>
            </a:r>
          </a:p>
          <a:p>
            <a:r>
              <a:rPr lang="en-US" sz="1200" b="0" kern="1200" dirty="0">
                <a:solidFill>
                  <a:schemeClr val="tx1"/>
                </a:solidFill>
                <a:effectLst/>
                <a:latin typeface="+mn-lt"/>
                <a:ea typeface="+mn-ea"/>
                <a:cs typeface="+mn-cs"/>
              </a:rPr>
              <a:t>Students often draw a graph and write an adjacency list that do not match.</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also a good AI-assisted critique use case after the student drafts the model.</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traversing, ask what the model leaves out.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29</a:t>
            </a:fld>
            <a:endParaRPr lang="en-US"/>
          </a:p>
        </p:txBody>
      </p:sp>
    </p:spTree>
    <p:extLst>
      <p:ext uri="{BB962C8B-B14F-4D97-AF65-F5344CB8AC3E}">
        <p14:creationId xmlns:p14="http://schemas.microsoft.com/office/powerpoint/2010/main" val="21092502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core to Lab 06. Students must include what their graph leaves out.</a:t>
            </a:r>
          </a:p>
          <a:p>
            <a:r>
              <a:rPr lang="en-US" sz="1200" b="0" kern="1200" dirty="0">
                <a:solidFill>
                  <a:schemeClr val="tx1"/>
                </a:solidFill>
                <a:effectLst/>
                <a:latin typeface="+mn-lt"/>
                <a:ea typeface="+mn-ea"/>
                <a:cs typeface="+mn-cs"/>
              </a:rPr>
              <a:t>Connect this to professional honesty: a model can be useful without being complete.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use graph vocabulary to talk about neighborhoods.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30</a:t>
            </a:fld>
            <a:endParaRPr lang="en-US"/>
          </a:p>
        </p:txBody>
      </p:sp>
    </p:spTree>
    <p:extLst>
      <p:ext uri="{BB962C8B-B14F-4D97-AF65-F5344CB8AC3E}">
        <p14:creationId xmlns:p14="http://schemas.microsoft.com/office/powerpoint/2010/main" val="10335631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31</a:t>
            </a:fld>
            <a:endParaRPr lang="en-US"/>
          </a:p>
        </p:txBody>
      </p:sp>
    </p:spTree>
    <p:extLst>
      <p:ext uri="{BB962C8B-B14F-4D97-AF65-F5344CB8AC3E}">
        <p14:creationId xmlns:p14="http://schemas.microsoft.com/office/powerpoint/2010/main" val="41904525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campus map idea. From Parking, Library and Student Center may be one</a:t>
            </a:r>
          </a:p>
          <a:p>
            <a:r>
              <a:rPr lang="en-US" sz="1200" b="0" kern="1200" dirty="0">
                <a:solidFill>
                  <a:schemeClr val="tx1"/>
                </a:solidFill>
                <a:effectLst/>
                <a:latin typeface="+mn-lt"/>
                <a:ea typeface="+mn-ea"/>
                <a:cs typeface="+mn-cs"/>
              </a:rPr>
              <a:t>hop away. Cafeteria might be two hops away depending on the edges.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prepares BFS as outward exploration.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Ego networks focus on one selected node.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32</a:t>
            </a:fld>
            <a:endParaRPr lang="en-US"/>
          </a:p>
        </p:txBody>
      </p:sp>
    </p:spTree>
    <p:extLst>
      <p:ext uri="{BB962C8B-B14F-4D97-AF65-F5344CB8AC3E}">
        <p14:creationId xmlns:p14="http://schemas.microsoft.com/office/powerpoint/2010/main" val="11268743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this briefly. </a:t>
            </a:r>
          </a:p>
          <a:p>
            <a:r>
              <a:rPr lang="en-US" sz="1200" b="0" kern="1200" dirty="0">
                <a:solidFill>
                  <a:schemeClr val="tx1"/>
                </a:solidFill>
                <a:effectLst/>
                <a:latin typeface="+mn-lt"/>
                <a:ea typeface="+mn-ea"/>
                <a:cs typeface="+mn-cs"/>
              </a:rPr>
              <a:t>It is useful vocabulary, especially for social networks and communication networks, but it should not consume the lesson.</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One common graph question is the shortest path.</a:t>
            </a:r>
          </a:p>
        </p:txBody>
      </p:sp>
      <p:sp>
        <p:nvSpPr>
          <p:cNvPr id="4" name="Slide Number Placeholder 3"/>
          <p:cNvSpPr>
            <a:spLocks noGrp="1"/>
          </p:cNvSpPr>
          <p:nvPr>
            <p:ph type="sldNum" sz="quarter" idx="5"/>
          </p:nvPr>
        </p:nvSpPr>
        <p:spPr/>
        <p:txBody>
          <a:bodyPr/>
          <a:lstStyle/>
          <a:p>
            <a:fld id="{1916ACA2-47E6-42D2-BEC8-EDC49A1A9FA1}" type="slidenum">
              <a:rPr lang="en-US" smtClean="0"/>
              <a:t>33</a:t>
            </a:fld>
            <a:endParaRPr lang="en-US"/>
          </a:p>
        </p:txBody>
      </p:sp>
    </p:spTree>
    <p:extLst>
      <p:ext uri="{BB962C8B-B14F-4D97-AF65-F5344CB8AC3E}">
        <p14:creationId xmlns:p14="http://schemas.microsoft.com/office/powerpoint/2010/main" val="14019427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 precise: if the graph is unweighted, shortest may mean fewest edges. </a:t>
            </a:r>
          </a:p>
          <a:p>
            <a:r>
              <a:rPr lang="en-US" sz="1200" b="0" kern="1200" dirty="0">
                <a:solidFill>
                  <a:schemeClr val="tx1"/>
                </a:solidFill>
                <a:effectLst/>
                <a:latin typeface="+mn-lt"/>
                <a:ea typeface="+mn-ea"/>
                <a:cs typeface="+mn-cs"/>
              </a:rPr>
              <a:t>If the graph is weighted, shortest may mean lowest total weight.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teach Dijkstra's algorithm unless as brief reserve language.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BFS can help explore by layers in unweighted graphs.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34</a:t>
            </a:fld>
            <a:endParaRPr lang="en-US"/>
          </a:p>
        </p:txBody>
      </p:sp>
    </p:spTree>
    <p:extLst>
      <p:ext uri="{BB962C8B-B14F-4D97-AF65-F5344CB8AC3E}">
        <p14:creationId xmlns:p14="http://schemas.microsoft.com/office/powerpoint/2010/main" val="40747558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4EE1E-F872-FD29-7ED4-9EE6AA7BB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5F6A6F-75EC-7A41-3AC9-7292D51C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DE3BE-CE1C-9758-13C0-A571867A4C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218F78-BCBF-D544-C57A-39C2F816F29D}"/>
              </a:ext>
            </a:extLst>
          </p:cNvPr>
          <p:cNvSpPr>
            <a:spLocks noGrp="1"/>
          </p:cNvSpPr>
          <p:nvPr>
            <p:ph type="sldNum" sz="quarter" idx="5"/>
          </p:nvPr>
        </p:nvSpPr>
        <p:spPr/>
        <p:txBody>
          <a:bodyPr/>
          <a:lstStyle/>
          <a:p>
            <a:fld id="{1916ACA2-47E6-42D2-BEC8-EDC49A1A9FA1}" type="slidenum">
              <a:rPr lang="en-US" smtClean="0"/>
              <a:t>35</a:t>
            </a:fld>
            <a:endParaRPr lang="en-US"/>
          </a:p>
        </p:txBody>
      </p:sp>
    </p:spTree>
    <p:extLst>
      <p:ext uri="{BB962C8B-B14F-4D97-AF65-F5344CB8AC3E}">
        <p14:creationId xmlns:p14="http://schemas.microsoft.com/office/powerpoint/2010/main" val="18887242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connects textbook neighborhood language to student lab work.</a:t>
            </a:r>
          </a:p>
          <a:p>
            <a:r>
              <a:rPr lang="en-US" sz="1200" b="0" kern="1200" dirty="0">
                <a:solidFill>
                  <a:schemeClr val="tx1"/>
                </a:solidFill>
                <a:effectLst/>
                <a:latin typeface="+mn-lt"/>
                <a:ea typeface="+mn-ea"/>
                <a:cs typeface="+mn-cs"/>
              </a:rPr>
              <a:t>Ask: "If we start at this node, what is one hop away? What is two hops away?"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optional reading extends this into network metrics.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36</a:t>
            </a:fld>
            <a:endParaRPr lang="en-US"/>
          </a:p>
        </p:txBody>
      </p:sp>
    </p:spTree>
    <p:extLst>
      <p:ext uri="{BB962C8B-B14F-4D97-AF65-F5344CB8AC3E}">
        <p14:creationId xmlns:p14="http://schemas.microsoft.com/office/powerpoint/2010/main" val="22341496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another pressure-release slide. </a:t>
            </a:r>
          </a:p>
          <a:p>
            <a:r>
              <a:rPr lang="en-US" sz="1200" b="0" kern="1200" dirty="0">
                <a:solidFill>
                  <a:schemeClr val="tx1"/>
                </a:solidFill>
                <a:effectLst/>
                <a:latin typeface="+mn-lt"/>
                <a:ea typeface="+mn-ea"/>
                <a:cs typeface="+mn-cs"/>
              </a:rPr>
              <a:t>The formulas may look intimidating. </a:t>
            </a:r>
          </a:p>
          <a:p>
            <a:r>
              <a:rPr lang="en-US" sz="1200" b="0" kern="1200" dirty="0">
                <a:solidFill>
                  <a:schemeClr val="tx1"/>
                </a:solidFill>
                <a:effectLst/>
                <a:latin typeface="+mn-lt"/>
                <a:ea typeface="+mn-ea"/>
                <a:cs typeface="+mn-cs"/>
              </a:rPr>
              <a:t>Students do not need to calculate centrality metrics for Lab 06.</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One metric is simple enough to recognize immediately: degree.</a:t>
            </a:r>
          </a:p>
        </p:txBody>
      </p:sp>
      <p:sp>
        <p:nvSpPr>
          <p:cNvPr id="4" name="Slide Number Placeholder 3"/>
          <p:cNvSpPr>
            <a:spLocks noGrp="1"/>
          </p:cNvSpPr>
          <p:nvPr>
            <p:ph type="sldNum" sz="quarter" idx="5"/>
          </p:nvPr>
        </p:nvSpPr>
        <p:spPr/>
        <p:txBody>
          <a:bodyPr/>
          <a:lstStyle/>
          <a:p>
            <a:fld id="{1916ACA2-47E6-42D2-BEC8-EDC49A1A9FA1}" type="slidenum">
              <a:rPr lang="en-US" smtClean="0"/>
              <a:t>37</a:t>
            </a:fld>
            <a:endParaRPr lang="en-US"/>
          </a:p>
        </p:txBody>
      </p:sp>
    </p:spTree>
    <p:extLst>
      <p:ext uri="{BB962C8B-B14F-4D97-AF65-F5344CB8AC3E}">
        <p14:creationId xmlns:p14="http://schemas.microsoft.com/office/powerpoint/2010/main" val="17859481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only if time allows. </a:t>
            </a:r>
          </a:p>
          <a:p>
            <a:r>
              <a:rPr lang="en-US" sz="1200" b="0" kern="1200" dirty="0">
                <a:solidFill>
                  <a:schemeClr val="tx1"/>
                </a:solidFill>
                <a:effectLst/>
                <a:latin typeface="+mn-lt"/>
                <a:ea typeface="+mn-ea"/>
                <a:cs typeface="+mn-cs"/>
              </a:rPr>
              <a:t>Degree is easy to count visually. </a:t>
            </a:r>
          </a:p>
          <a:p>
            <a:r>
              <a:rPr lang="en-US" sz="1200" b="0" kern="1200" dirty="0">
                <a:solidFill>
                  <a:schemeClr val="tx1"/>
                </a:solidFill>
                <a:effectLst/>
                <a:latin typeface="+mn-lt"/>
                <a:ea typeface="+mn-ea"/>
                <a:cs typeface="+mn-cs"/>
              </a:rPr>
              <a:t>Density is more abstract and should be kept conceptual.</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Other centrality measures describe different kinds of structural importance.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38</a:t>
            </a:fld>
            <a:endParaRPr lang="en-US"/>
          </a:p>
        </p:txBody>
      </p:sp>
    </p:spTree>
    <p:extLst>
      <p:ext uri="{BB962C8B-B14F-4D97-AF65-F5344CB8AC3E}">
        <p14:creationId xmlns:p14="http://schemas.microsoft.com/office/powerpoint/2010/main" val="255873582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high-value caution. </a:t>
            </a:r>
          </a:p>
          <a:p>
            <a:r>
              <a:rPr lang="en-US" sz="1200" b="0" kern="1200" dirty="0">
                <a:solidFill>
                  <a:schemeClr val="tx1"/>
                </a:solidFill>
                <a:effectLst/>
                <a:latin typeface="+mn-lt"/>
                <a:ea typeface="+mn-ea"/>
                <a:cs typeface="+mn-cs"/>
              </a:rPr>
              <a:t>Especially in social network analysis, metrics can be misleading if interpreted without context.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turn this into a full ethics lecture but plant the idea.</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return to the required traversal algorithms.</a:t>
            </a:r>
          </a:p>
        </p:txBody>
      </p:sp>
      <p:sp>
        <p:nvSpPr>
          <p:cNvPr id="4" name="Slide Number Placeholder 3"/>
          <p:cNvSpPr>
            <a:spLocks noGrp="1"/>
          </p:cNvSpPr>
          <p:nvPr>
            <p:ph type="sldNum" sz="quarter" idx="5"/>
          </p:nvPr>
        </p:nvSpPr>
        <p:spPr/>
        <p:txBody>
          <a:bodyPr/>
          <a:lstStyle/>
          <a:p>
            <a:fld id="{1916ACA2-47E6-42D2-BEC8-EDC49A1A9FA1}" type="slidenum">
              <a:rPr lang="en-US" smtClean="0"/>
              <a:t>39</a:t>
            </a:fld>
            <a:endParaRPr lang="en-US"/>
          </a:p>
        </p:txBody>
      </p:sp>
    </p:spTree>
    <p:extLst>
      <p:ext uri="{BB962C8B-B14F-4D97-AF65-F5344CB8AC3E}">
        <p14:creationId xmlns:p14="http://schemas.microsoft.com/office/powerpoint/2010/main" val="29389630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40</a:t>
            </a:fld>
            <a:endParaRPr lang="en-US"/>
          </a:p>
        </p:txBody>
      </p:sp>
    </p:spTree>
    <p:extLst>
      <p:ext uri="{BB962C8B-B14F-4D97-AF65-F5344CB8AC3E}">
        <p14:creationId xmlns:p14="http://schemas.microsoft.com/office/powerpoint/2010/main" val="263332505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expect traversal to be one fixed answer. </a:t>
            </a:r>
          </a:p>
          <a:p>
            <a:r>
              <a:rPr lang="en-US" sz="1200" b="0" kern="1200" dirty="0">
                <a:solidFill>
                  <a:schemeClr val="tx1"/>
                </a:solidFill>
                <a:effectLst/>
                <a:latin typeface="+mn-lt"/>
                <a:ea typeface="+mn-ea"/>
                <a:cs typeface="+mn-cs"/>
              </a:rPr>
              <a:t>Make clear that traversal order can change when start node, neighbor order, or method changes.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BFS explores outward by layers.</a:t>
            </a:r>
          </a:p>
        </p:txBody>
      </p:sp>
      <p:sp>
        <p:nvSpPr>
          <p:cNvPr id="4" name="Slide Number Placeholder 3"/>
          <p:cNvSpPr>
            <a:spLocks noGrp="1"/>
          </p:cNvSpPr>
          <p:nvPr>
            <p:ph type="sldNum" sz="quarter" idx="5"/>
          </p:nvPr>
        </p:nvSpPr>
        <p:spPr/>
        <p:txBody>
          <a:bodyPr/>
          <a:lstStyle/>
          <a:p>
            <a:fld id="{1916ACA2-47E6-42D2-BEC8-EDC49A1A9FA1}" type="slidenum">
              <a:rPr lang="en-US" smtClean="0"/>
              <a:t>42</a:t>
            </a:fld>
            <a:endParaRPr lang="en-US"/>
          </a:p>
        </p:txBody>
      </p:sp>
    </p:spTree>
    <p:extLst>
      <p:ext uri="{BB962C8B-B14F-4D97-AF65-F5344CB8AC3E}">
        <p14:creationId xmlns:p14="http://schemas.microsoft.com/office/powerpoint/2010/main" val="18724961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"ripples in water" or "layers from the start" if helpful. </a:t>
            </a:r>
          </a:p>
          <a:p>
            <a:r>
              <a:rPr lang="en-US" sz="1200" b="0" kern="1200" dirty="0">
                <a:solidFill>
                  <a:schemeClr val="tx1"/>
                </a:solidFill>
                <a:effectLst/>
                <a:latin typeface="+mn-lt"/>
                <a:ea typeface="+mn-ea"/>
                <a:cs typeface="+mn-cs"/>
              </a:rPr>
              <a:t>This is the plain-English anchor.</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BFS usually uses a queue.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43</a:t>
            </a:fld>
            <a:endParaRPr lang="en-US"/>
          </a:p>
        </p:txBody>
      </p:sp>
    </p:spTree>
    <p:extLst>
      <p:ext uri="{BB962C8B-B14F-4D97-AF65-F5344CB8AC3E}">
        <p14:creationId xmlns:p14="http://schemas.microsoft.com/office/powerpoint/2010/main" val="2812925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queue state as the nodes waiting to be visited next. </a:t>
            </a:r>
          </a:p>
          <a:p>
            <a:r>
              <a:rPr lang="en-US" sz="1200" b="0" kern="1200" dirty="0">
                <a:solidFill>
                  <a:schemeClr val="tx1"/>
                </a:solidFill>
                <a:effectLst/>
                <a:latin typeface="+mn-lt"/>
                <a:ea typeface="+mn-ea"/>
                <a:cs typeface="+mn-cs"/>
              </a:rPr>
              <a:t>Students do not need to love the queue mechanics, but they need to see why BFS visits by layers.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DFS follows one path more deeply.</a:t>
            </a:r>
          </a:p>
        </p:txBody>
      </p:sp>
      <p:sp>
        <p:nvSpPr>
          <p:cNvPr id="4" name="Slide Number Placeholder 3"/>
          <p:cNvSpPr>
            <a:spLocks noGrp="1"/>
          </p:cNvSpPr>
          <p:nvPr>
            <p:ph type="sldNum" sz="quarter" idx="5"/>
          </p:nvPr>
        </p:nvSpPr>
        <p:spPr/>
        <p:txBody>
          <a:bodyPr/>
          <a:lstStyle/>
          <a:p>
            <a:fld id="{1916ACA2-47E6-42D2-BEC8-EDC49A1A9FA1}" type="slidenum">
              <a:rPr lang="en-US" smtClean="0"/>
              <a:t>44</a:t>
            </a:fld>
            <a:endParaRPr lang="en-US"/>
          </a:p>
        </p:txBody>
      </p:sp>
    </p:spTree>
    <p:extLst>
      <p:ext uri="{BB962C8B-B14F-4D97-AF65-F5344CB8AC3E}">
        <p14:creationId xmlns:p14="http://schemas.microsoft.com/office/powerpoint/2010/main" val="23316221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CEBCF-5962-ED94-AE8E-BDF7C60A4F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3AEF0-23CF-8694-31BA-7A9A8FA00A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332ABF-4A87-EB7A-EE54-8BDF6358B7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0B0EE3-46A7-2AA8-6BAA-CB91E13879BB}"/>
              </a:ext>
            </a:extLst>
          </p:cNvPr>
          <p:cNvSpPr>
            <a:spLocks noGrp="1"/>
          </p:cNvSpPr>
          <p:nvPr>
            <p:ph type="sldNum" sz="quarter" idx="5"/>
          </p:nvPr>
        </p:nvSpPr>
        <p:spPr/>
        <p:txBody>
          <a:bodyPr/>
          <a:lstStyle/>
          <a:p>
            <a:fld id="{1916ACA2-47E6-42D2-BEC8-EDC49A1A9FA1}" type="slidenum">
              <a:rPr lang="en-US" smtClean="0"/>
              <a:t>45</a:t>
            </a:fld>
            <a:endParaRPr lang="en-US"/>
          </a:p>
        </p:txBody>
      </p:sp>
    </p:spTree>
    <p:extLst>
      <p:ext uri="{BB962C8B-B14F-4D97-AF65-F5344CB8AC3E}">
        <p14:creationId xmlns:p14="http://schemas.microsoft.com/office/powerpoint/2010/main" val="40825733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hallway or maze analogy if useful. Emphasize that DFS is not "random"; </a:t>
            </a:r>
          </a:p>
          <a:p>
            <a:r>
              <a:rPr lang="en-US" sz="1200" b="0" kern="1200" dirty="0">
                <a:solidFill>
                  <a:schemeClr val="tx1"/>
                </a:solidFill>
                <a:effectLst/>
                <a:latin typeface="+mn-lt"/>
                <a:ea typeface="+mn-ea"/>
                <a:cs typeface="+mn-cs"/>
              </a:rPr>
              <a:t>it follows a rule based on neighbor order and stack/call behavior.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DFS evidence often uses a stack.</a:t>
            </a:r>
          </a:p>
        </p:txBody>
      </p:sp>
      <p:sp>
        <p:nvSpPr>
          <p:cNvPr id="4" name="Slide Number Placeholder 3"/>
          <p:cNvSpPr>
            <a:spLocks noGrp="1"/>
          </p:cNvSpPr>
          <p:nvPr>
            <p:ph type="sldNum" sz="quarter" idx="5"/>
          </p:nvPr>
        </p:nvSpPr>
        <p:spPr/>
        <p:txBody>
          <a:bodyPr/>
          <a:lstStyle/>
          <a:p>
            <a:fld id="{1916ACA2-47E6-42D2-BEC8-EDC49A1A9FA1}" type="slidenum">
              <a:rPr lang="en-US" smtClean="0"/>
              <a:t>46</a:t>
            </a:fld>
            <a:endParaRPr lang="en-US"/>
          </a:p>
        </p:txBody>
      </p:sp>
    </p:spTree>
    <p:extLst>
      <p:ext uri="{BB962C8B-B14F-4D97-AF65-F5344CB8AC3E}">
        <p14:creationId xmlns:p14="http://schemas.microsoft.com/office/powerpoint/2010/main" val="157120978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stack state as the nodes waiting while the traversal follows a path.</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If students compare BFS and DFS tables, they can see the same graph explored in different orders.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same graph can produce different traversal orders.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47</a:t>
            </a:fld>
            <a:endParaRPr lang="en-US"/>
          </a:p>
        </p:txBody>
      </p:sp>
    </p:spTree>
    <p:extLst>
      <p:ext uri="{BB962C8B-B14F-4D97-AF65-F5344CB8AC3E}">
        <p14:creationId xmlns:p14="http://schemas.microsoft.com/office/powerpoint/2010/main" val="33912241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FF6C5-53F8-AD96-F118-917B7164CD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D80437-711F-01EC-8AE0-B1ABAC4A49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ABF03A-3304-1EE0-EE7D-9EF15CBB96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3F3B37-4ED4-CCFB-666C-CAC8B3F1396E}"/>
              </a:ext>
            </a:extLst>
          </p:cNvPr>
          <p:cNvSpPr>
            <a:spLocks noGrp="1"/>
          </p:cNvSpPr>
          <p:nvPr>
            <p:ph type="sldNum" sz="quarter" idx="5"/>
          </p:nvPr>
        </p:nvSpPr>
        <p:spPr/>
        <p:txBody>
          <a:bodyPr/>
          <a:lstStyle/>
          <a:p>
            <a:fld id="{1916ACA2-47E6-42D2-BEC8-EDC49A1A9FA1}" type="slidenum">
              <a:rPr lang="en-US" smtClean="0"/>
              <a:t>48</a:t>
            </a:fld>
            <a:endParaRPr lang="en-US"/>
          </a:p>
        </p:txBody>
      </p:sp>
    </p:spTree>
    <p:extLst>
      <p:ext uri="{BB962C8B-B14F-4D97-AF65-F5344CB8AC3E}">
        <p14:creationId xmlns:p14="http://schemas.microsoft.com/office/powerpoint/2010/main" val="3973415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overstate. </a:t>
            </a:r>
          </a:p>
          <a:p>
            <a:r>
              <a:rPr lang="en-US" sz="1200" b="0" kern="1200" dirty="0">
                <a:solidFill>
                  <a:schemeClr val="tx1"/>
                </a:solidFill>
                <a:effectLst/>
                <a:latin typeface="+mn-lt"/>
                <a:ea typeface="+mn-ea"/>
                <a:cs typeface="+mn-cs"/>
              </a:rPr>
              <a:t>BFS is often associated with shortest paths in unweighted graphs, </a:t>
            </a:r>
          </a:p>
          <a:p>
            <a:r>
              <a:rPr lang="en-US" sz="1200" b="0" kern="1200" dirty="0">
                <a:solidFill>
                  <a:schemeClr val="tx1"/>
                </a:solidFill>
                <a:effectLst/>
                <a:latin typeface="+mn-lt"/>
                <a:ea typeface="+mn-ea"/>
                <a:cs typeface="+mn-cs"/>
              </a:rPr>
              <a:t>but this course should keep the claim careful and beginner-friendly.</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Traversal order depends on neighbor order too.</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49</a:t>
            </a:fld>
            <a:endParaRPr lang="en-US"/>
          </a:p>
        </p:txBody>
      </p:sp>
    </p:spTree>
    <p:extLst>
      <p:ext uri="{BB962C8B-B14F-4D97-AF65-F5344CB8AC3E}">
        <p14:creationId xmlns:p14="http://schemas.microsoft.com/office/powerpoint/2010/main" val="93733950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common source of confusion. </a:t>
            </a:r>
          </a:p>
          <a:p>
            <a:r>
              <a:rPr lang="en-US" sz="1200" b="0" kern="1200" dirty="0">
                <a:solidFill>
                  <a:schemeClr val="tx1"/>
                </a:solidFill>
                <a:effectLst/>
                <a:latin typeface="+mn-lt"/>
                <a:ea typeface="+mn-ea"/>
                <a:cs typeface="+mn-cs"/>
              </a:rPr>
              <a:t>Two correct BFS implementations may show different orders if neighbors are listed differently.</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Connect this directly to Lab 06 explanation requirements.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optional material shows how graph ideas scale into network analysis.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50</a:t>
            </a:fld>
            <a:endParaRPr lang="en-US"/>
          </a:p>
        </p:txBody>
      </p:sp>
    </p:spTree>
    <p:extLst>
      <p:ext uri="{BB962C8B-B14F-4D97-AF65-F5344CB8AC3E}">
        <p14:creationId xmlns:p14="http://schemas.microsoft.com/office/powerpoint/2010/main" val="248943433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references the optional Python/visualization reading without requiring students to use graph libraries.</a:t>
            </a:r>
          </a:p>
          <a:p>
            <a:r>
              <a:rPr lang="en-US" sz="1200" b="0" kern="1200" dirty="0">
                <a:solidFill>
                  <a:schemeClr val="tx1"/>
                </a:solidFill>
                <a:effectLst/>
                <a:latin typeface="+mn-lt"/>
                <a:ea typeface="+mn-ea"/>
                <a:cs typeface="+mn-cs"/>
              </a:rPr>
              <a:t>Manual diagrams or Markdown diagrams are acceptable for Lab 06.</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Social network analysis is one applied context.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52</a:t>
            </a:fld>
            <a:endParaRPr lang="en-US"/>
          </a:p>
        </p:txBody>
      </p:sp>
    </p:spTree>
    <p:extLst>
      <p:ext uri="{BB962C8B-B14F-4D97-AF65-F5344CB8AC3E}">
        <p14:creationId xmlns:p14="http://schemas.microsoft.com/office/powerpoint/2010/main" val="348202438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as context. The fraud detection case study and fraud analytics are skipped for this course week.</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encourage students to use sensitive personal data in Lab 06.</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key caution is that graph metrics do not replace judgment.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53</a:t>
            </a:fld>
            <a:endParaRPr lang="en-US"/>
          </a:p>
        </p:txBody>
      </p:sp>
    </p:spTree>
    <p:extLst>
      <p:ext uri="{BB962C8B-B14F-4D97-AF65-F5344CB8AC3E}">
        <p14:creationId xmlns:p14="http://schemas.microsoft.com/office/powerpoint/2010/main" val="27938838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connects optional closeness/fairness language to responsible reasoning.</a:t>
            </a:r>
          </a:p>
          <a:p>
            <a:r>
              <a:rPr lang="en-US" sz="1200" b="0" kern="1200" dirty="0">
                <a:solidFill>
                  <a:schemeClr val="tx1"/>
                </a:solidFill>
                <a:effectLst/>
                <a:latin typeface="+mn-lt"/>
                <a:ea typeface="+mn-ea"/>
                <a:cs typeface="+mn-cs"/>
              </a:rPr>
              <a:t>The goal is not metric calculation; it is interpretive caution.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return to what students must do in Lab 06.</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54</a:t>
            </a:fld>
            <a:endParaRPr lang="en-US"/>
          </a:p>
        </p:txBody>
      </p:sp>
    </p:spTree>
    <p:extLst>
      <p:ext uri="{BB962C8B-B14F-4D97-AF65-F5344CB8AC3E}">
        <p14:creationId xmlns:p14="http://schemas.microsoft.com/office/powerpoint/2010/main" val="24599726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is important for cognitive load. It tells students where to put their effort.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demo now shows the required pieces in a small graph.</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55</a:t>
            </a:fld>
            <a:endParaRPr lang="en-US"/>
          </a:p>
        </p:txBody>
      </p:sp>
    </p:spTree>
    <p:extLst>
      <p:ext uri="{BB962C8B-B14F-4D97-AF65-F5344CB8AC3E}">
        <p14:creationId xmlns:p14="http://schemas.microsoft.com/office/powerpoint/2010/main" val="79251083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56</a:t>
            </a:fld>
            <a:endParaRPr lang="en-US"/>
          </a:p>
        </p:txBody>
      </p:sp>
    </p:spTree>
    <p:extLst>
      <p:ext uri="{BB962C8B-B14F-4D97-AF65-F5344CB8AC3E}">
        <p14:creationId xmlns:p14="http://schemas.microsoft.com/office/powerpoint/2010/main" val="312565780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existing Lab 06 demo. </a:t>
            </a:r>
          </a:p>
          <a:p>
            <a:r>
              <a:rPr lang="en-US" sz="1200" b="0" kern="1200" dirty="0">
                <a:solidFill>
                  <a:schemeClr val="tx1"/>
                </a:solidFill>
                <a:effectLst/>
                <a:latin typeface="+mn-lt"/>
                <a:ea typeface="+mn-ea"/>
                <a:cs typeface="+mn-cs"/>
              </a:rPr>
              <a:t>The campus route scenario is intentionally different from the student lab options.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First, inspect the graph model.</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57</a:t>
            </a:fld>
            <a:endParaRPr lang="en-US"/>
          </a:p>
        </p:txBody>
      </p:sp>
    </p:spTree>
    <p:extLst>
      <p:ext uri="{BB962C8B-B14F-4D97-AF65-F5344CB8AC3E}">
        <p14:creationId xmlns:p14="http://schemas.microsoft.com/office/powerpoint/2010/main" val="356896249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Ask students to compare the text diagram and adjacency list before running the traversals. This reinforces model consistency.</a:t>
            </a: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Watch how queue and stack states change.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58</a:t>
            </a:fld>
            <a:endParaRPr lang="en-US"/>
          </a:p>
        </p:txBody>
      </p:sp>
    </p:spTree>
    <p:extLst>
      <p:ext uri="{BB962C8B-B14F-4D97-AF65-F5344CB8AC3E}">
        <p14:creationId xmlns:p14="http://schemas.microsoft.com/office/powerpoint/2010/main" val="25351171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8D881-DCBC-85D1-7FC8-353781AB60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2C17E1-0AB1-166D-C3BE-0FD4CE3D9A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B7538-1127-628D-6726-99E3C1AB13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9ECE51-6150-654E-33CC-CA49566929FA}"/>
              </a:ext>
            </a:extLst>
          </p:cNvPr>
          <p:cNvSpPr>
            <a:spLocks noGrp="1"/>
          </p:cNvSpPr>
          <p:nvPr>
            <p:ph type="sldNum" sz="quarter" idx="5"/>
          </p:nvPr>
        </p:nvSpPr>
        <p:spPr/>
        <p:txBody>
          <a:bodyPr/>
          <a:lstStyle/>
          <a:p>
            <a:fld id="{1916ACA2-47E6-42D2-BEC8-EDC49A1A9FA1}" type="slidenum">
              <a:rPr lang="en-US" smtClean="0"/>
              <a:t>59</a:t>
            </a:fld>
            <a:endParaRPr lang="en-US"/>
          </a:p>
        </p:txBody>
      </p:sp>
    </p:spTree>
    <p:extLst>
      <p:ext uri="{BB962C8B-B14F-4D97-AF65-F5344CB8AC3E}">
        <p14:creationId xmlns:p14="http://schemas.microsoft.com/office/powerpoint/2010/main" val="250060531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questions prepare students for their own traversal table and explanation.</a:t>
            </a:r>
          </a:p>
          <a:p>
            <a:r>
              <a:rPr lang="en-US" sz="1200" b="0" kern="1200" dirty="0">
                <a:solidFill>
                  <a:schemeClr val="tx1"/>
                </a:solidFill>
                <a:effectLst/>
                <a:latin typeface="+mn-lt"/>
                <a:ea typeface="+mn-ea"/>
                <a:cs typeface="+mn-cs"/>
              </a:rPr>
              <a:t>Do not let the demo become only "run the code and admire the output."</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explanation should name why BFS and DFS differ.</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60</a:t>
            </a:fld>
            <a:endParaRPr lang="en-US"/>
          </a:p>
        </p:txBody>
      </p:sp>
    </p:spTree>
    <p:extLst>
      <p:ext uri="{BB962C8B-B14F-4D97-AF65-F5344CB8AC3E}">
        <p14:creationId xmlns:p14="http://schemas.microsoft.com/office/powerpoint/2010/main" val="155933959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Encourage students to preserve this logic while using their own words: </a:t>
            </a:r>
          </a:p>
          <a:p>
            <a:pPr marL="171450" indent="-171450">
              <a:buFontTx/>
              <a:buChar char="-"/>
            </a:pPr>
            <a:r>
              <a:rPr lang="en-US" sz="1200" b="0" kern="1200" dirty="0">
                <a:solidFill>
                  <a:schemeClr val="tx1"/>
                </a:solidFill>
                <a:effectLst/>
                <a:latin typeface="+mn-lt"/>
                <a:ea typeface="+mn-ea"/>
                <a:cs typeface="+mn-cs"/>
              </a:rPr>
              <a:t>same graph, </a:t>
            </a:r>
          </a:p>
          <a:p>
            <a:pPr marL="171450" indent="-171450">
              <a:buFontTx/>
              <a:buChar char="-"/>
            </a:pPr>
            <a:r>
              <a:rPr lang="en-US" sz="1200" b="0" kern="1200" dirty="0">
                <a:solidFill>
                  <a:schemeClr val="tx1"/>
                </a:solidFill>
                <a:effectLst/>
                <a:latin typeface="+mn-lt"/>
                <a:ea typeface="+mn-ea"/>
                <a:cs typeface="+mn-cs"/>
              </a:rPr>
              <a:t>different method, </a:t>
            </a:r>
          </a:p>
          <a:p>
            <a:pPr marL="171450" indent="-171450">
              <a:buFontTx/>
              <a:buChar char="-"/>
            </a:pPr>
            <a:r>
              <a:rPr lang="en-US" sz="1200" b="0" kern="1200" dirty="0">
                <a:solidFill>
                  <a:schemeClr val="tx1"/>
                </a:solidFill>
                <a:effectLst/>
                <a:latin typeface="+mn-lt"/>
                <a:ea typeface="+mn-ea"/>
                <a:cs typeface="+mn-cs"/>
              </a:rPr>
              <a:t>different order, </a:t>
            </a:r>
          </a:p>
          <a:p>
            <a:pPr marL="171450" indent="-171450">
              <a:buFontTx/>
              <a:buChar char="-"/>
            </a:pPr>
            <a:r>
              <a:rPr lang="en-US" sz="1200" b="0" kern="1200" dirty="0">
                <a:solidFill>
                  <a:schemeClr val="tx1"/>
                </a:solidFill>
                <a:effectLst/>
                <a:latin typeface="+mn-lt"/>
                <a:ea typeface="+mn-ea"/>
                <a:cs typeface="+mn-cs"/>
              </a:rPr>
              <a:t>reason.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transfer this to Lab 06.</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61</a:t>
            </a:fld>
            <a:endParaRPr lang="en-US"/>
          </a:p>
        </p:txBody>
      </p:sp>
    </p:spTree>
    <p:extLst>
      <p:ext uri="{BB962C8B-B14F-4D97-AF65-F5344CB8AC3E}">
        <p14:creationId xmlns:p14="http://schemas.microsoft.com/office/powerpoint/2010/main" val="111467466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Stress that students should not copy the campus route demo. </a:t>
            </a:r>
          </a:p>
          <a:p>
            <a:r>
              <a:rPr lang="en-US" sz="1200" b="0" kern="1200" dirty="0">
                <a:solidFill>
                  <a:schemeClr val="tx1"/>
                </a:solidFill>
                <a:effectLst/>
                <a:latin typeface="+mn-lt"/>
                <a:ea typeface="+mn-ea"/>
                <a:cs typeface="+mn-cs"/>
              </a:rPr>
              <a:t>They should use the same modeling and traversal pattern with a different system.</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lab requires both a model and evidence.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62</a:t>
            </a:fld>
            <a:endParaRPr lang="en-US"/>
          </a:p>
        </p:txBody>
      </p:sp>
    </p:spTree>
    <p:extLst>
      <p:ext uri="{BB962C8B-B14F-4D97-AF65-F5344CB8AC3E}">
        <p14:creationId xmlns:p14="http://schemas.microsoft.com/office/powerpoint/2010/main" val="85906866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practical submission checklist. </a:t>
            </a:r>
          </a:p>
          <a:p>
            <a:r>
              <a:rPr lang="en-US" sz="1200" b="0" kern="1200" dirty="0">
                <a:solidFill>
                  <a:schemeClr val="tx1"/>
                </a:solidFill>
                <a:effectLst/>
                <a:latin typeface="+mn-lt"/>
                <a:ea typeface="+mn-ea"/>
                <a:cs typeface="+mn-cs"/>
              </a:rPr>
              <a:t>Remind students that a node list without relationships is not enough.</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README makes the graph reasoning visible.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63</a:t>
            </a:fld>
            <a:endParaRPr lang="en-US"/>
          </a:p>
        </p:txBody>
      </p:sp>
    </p:spTree>
    <p:extLst>
      <p:ext uri="{BB962C8B-B14F-4D97-AF65-F5344CB8AC3E}">
        <p14:creationId xmlns:p14="http://schemas.microsoft.com/office/powerpoint/2010/main" val="2111725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should understand that the README is not extra paperwork. It is where they explain the model.</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clarify the AI-use boundary.</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64</a:t>
            </a:fld>
            <a:endParaRPr lang="en-US"/>
          </a:p>
        </p:txBody>
      </p:sp>
    </p:spTree>
    <p:extLst>
      <p:ext uri="{BB962C8B-B14F-4D97-AF65-F5344CB8AC3E}">
        <p14:creationId xmlns:p14="http://schemas.microsoft.com/office/powerpoint/2010/main" val="41462131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clear that AI should not replace the student's graph design. </a:t>
            </a:r>
          </a:p>
          <a:p>
            <a:r>
              <a:rPr lang="en-US" sz="1200" b="0" kern="1200" dirty="0">
                <a:solidFill>
                  <a:schemeClr val="tx1"/>
                </a:solidFill>
                <a:effectLst/>
                <a:latin typeface="+mn-lt"/>
                <a:ea typeface="+mn-ea"/>
                <a:cs typeface="+mn-cs"/>
              </a:rPr>
              <a:t>AI can help critique or clarify after the student has a draft.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matches the student-facing AI-use rule.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close with the main lesson.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65</a:t>
            </a:fld>
            <a:endParaRPr lang="en-US"/>
          </a:p>
        </p:txBody>
      </p:sp>
    </p:spTree>
    <p:extLst>
      <p:ext uri="{BB962C8B-B14F-4D97-AF65-F5344CB8AC3E}">
        <p14:creationId xmlns:p14="http://schemas.microsoft.com/office/powerpoint/2010/main" val="301765421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66</a:t>
            </a:fld>
            <a:endParaRPr lang="en-US"/>
          </a:p>
        </p:txBody>
      </p:sp>
    </p:spTree>
    <p:extLst>
      <p:ext uri="{BB962C8B-B14F-4D97-AF65-F5344CB8AC3E}">
        <p14:creationId xmlns:p14="http://schemas.microsoft.com/office/powerpoint/2010/main" val="421008075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Week 6 takeaway. </a:t>
            </a:r>
          </a:p>
          <a:p>
            <a:r>
              <a:rPr lang="en-US" sz="1200" b="0" kern="1200" dirty="0">
                <a:solidFill>
                  <a:schemeClr val="tx1"/>
                </a:solidFill>
                <a:effectLst/>
                <a:latin typeface="+mn-lt"/>
                <a:ea typeface="+mn-ea"/>
                <a:cs typeface="+mn-cs"/>
              </a:rPr>
              <a:t>Graphs are useful precisely because they force relationships to become visible.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make the immediate next action concrete.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67</a:t>
            </a:fld>
            <a:endParaRPr lang="en-US"/>
          </a:p>
        </p:txBody>
      </p:sp>
    </p:spTree>
    <p:extLst>
      <p:ext uri="{BB962C8B-B14F-4D97-AF65-F5344CB8AC3E}">
        <p14:creationId xmlns:p14="http://schemas.microsoft.com/office/powerpoint/2010/main" val="2184695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should compare this slide directly to their submission before turning it in.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assign the immediate lab action.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68</a:t>
            </a:fld>
            <a:endParaRPr lang="en-US"/>
          </a:p>
        </p:txBody>
      </p:sp>
    </p:spTree>
    <p:extLst>
      <p:ext uri="{BB962C8B-B14F-4D97-AF65-F5344CB8AC3E}">
        <p14:creationId xmlns:p14="http://schemas.microsoft.com/office/powerpoint/2010/main" val="26933335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Remind students that a simple, well-explained model is better than a fancy model they cannot explain.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Prepare students for the next reading once Week 7 reading details are assigned.</a:t>
            </a:r>
          </a:p>
        </p:txBody>
      </p:sp>
      <p:sp>
        <p:nvSpPr>
          <p:cNvPr id="4" name="Slide Number Placeholder 3"/>
          <p:cNvSpPr>
            <a:spLocks noGrp="1"/>
          </p:cNvSpPr>
          <p:nvPr>
            <p:ph type="sldNum" sz="quarter" idx="5"/>
          </p:nvPr>
        </p:nvSpPr>
        <p:spPr/>
        <p:txBody>
          <a:bodyPr/>
          <a:lstStyle/>
          <a:p>
            <a:fld id="{1916ACA2-47E6-42D2-BEC8-EDC49A1A9FA1}" type="slidenum">
              <a:rPr lang="en-US" smtClean="0"/>
              <a:t>69</a:t>
            </a:fld>
            <a:endParaRPr lang="en-US"/>
          </a:p>
        </p:txBody>
      </p:sp>
    </p:spTree>
    <p:extLst>
      <p:ext uri="{BB962C8B-B14F-4D97-AF65-F5344CB8AC3E}">
        <p14:creationId xmlns:p14="http://schemas.microsoft.com/office/powerpoint/2010/main" val="129612217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this slide to prepare students for the breadth of Week 7. </a:t>
            </a:r>
          </a:p>
          <a:p>
            <a:r>
              <a:rPr lang="en-US" sz="1200" b="0" kern="1200" dirty="0">
                <a:solidFill>
                  <a:schemeClr val="tx1"/>
                </a:solidFill>
                <a:effectLst/>
                <a:latin typeface="+mn-lt"/>
                <a:ea typeface="+mn-ea"/>
                <a:cs typeface="+mn-cs"/>
              </a:rPr>
              <a:t>The next reading touches unsupervised learning, recommendation engines, cryptography basics, and recommended decision-tree material.</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Tell students that the Week 7 goal is not to master all of those fields. </a:t>
            </a:r>
          </a:p>
          <a:p>
            <a:r>
              <a:rPr lang="en-US" sz="1200" b="0" kern="1200" dirty="0">
                <a:solidFill>
                  <a:schemeClr val="tx1"/>
                </a:solidFill>
                <a:effectLst/>
                <a:latin typeface="+mn-lt"/>
                <a:ea typeface="+mn-ea"/>
                <a:cs typeface="+mn-cs"/>
              </a:rPr>
              <a:t>The goal is to see how small algorithmic choices appear inside AI/data systems.</a:t>
            </a:r>
          </a:p>
        </p:txBody>
      </p:sp>
      <p:sp>
        <p:nvSpPr>
          <p:cNvPr id="4" name="Slide Number Placeholder 3"/>
          <p:cNvSpPr>
            <a:spLocks noGrp="1"/>
          </p:cNvSpPr>
          <p:nvPr>
            <p:ph type="sldNum" sz="quarter" idx="5"/>
          </p:nvPr>
        </p:nvSpPr>
        <p:spPr/>
        <p:txBody>
          <a:bodyPr/>
          <a:lstStyle/>
          <a:p>
            <a:fld id="{1916ACA2-47E6-42D2-BEC8-EDC49A1A9FA1}" type="slidenum">
              <a:rPr lang="en-US" smtClean="0"/>
              <a:t>70</a:t>
            </a:fld>
            <a:endParaRPr lang="en-US"/>
          </a:p>
        </p:txBody>
      </p:sp>
    </p:spTree>
    <p:extLst>
      <p:ext uri="{BB962C8B-B14F-4D97-AF65-F5344CB8AC3E}">
        <p14:creationId xmlns:p14="http://schemas.microsoft.com/office/powerpoint/2010/main" val="218036160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71</a:t>
            </a:fld>
            <a:endParaRPr lang="en-US"/>
          </a:p>
        </p:txBody>
      </p:sp>
    </p:spTree>
    <p:extLst>
      <p:ext uri="{BB962C8B-B14F-4D97-AF65-F5344CB8AC3E}">
        <p14:creationId xmlns:p14="http://schemas.microsoft.com/office/powerpoint/2010/main" val="23841965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71316" cy="6874935"/>
            <a:chOff x="-8466" y="-8468"/>
            <a:chExt cx="9171316" cy="6874935"/>
          </a:xfrm>
        </p:grpSpPr>
        <p:cxnSp>
          <p:nvCxnSpPr>
            <p:cNvPr id="28" name="Straight Connector 27"/>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0" name="Freeform 2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Freeform 3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Freeform 3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Freeform 3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Freeform 3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Freeform 34"/>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Freeform 35"/>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Freeform 1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lumMod val="75000"/>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816E1E9-1B50-BC39-BE3A-AFDDF27CC4C7}"/>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1285939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42DEB143-89C9-076B-466C-73BE156FD58B}"/>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15984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3A015F4D-DE23-F2FC-1853-93512C13AB1B}"/>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2557367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816E11E5-B722-B4E0-8233-E8E58F314BD6}"/>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9992119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CADA43D-D69A-D7AE-81F9-ED5E4E7A18A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328912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541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pic>
        <p:nvPicPr>
          <p:cNvPr id="6" name="Picture 5">
            <a:extLst>
              <a:ext uri="{FF2B5EF4-FFF2-40B4-BE49-F238E27FC236}">
                <a16:creationId xmlns:a16="http://schemas.microsoft.com/office/drawing/2014/main" id="{4AA1305F-50C0-9117-EE66-5430C74994B7}"/>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9144144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6914F403-DB38-13CA-CC40-CAE2A088327D}"/>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424124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91B8750C-22DC-D652-EE9D-9D81650FC9D5}"/>
              </a:ext>
            </a:extLst>
          </p:cNvPr>
          <p:cNvPicPr>
            <a:picLocks noChangeAspect="1"/>
          </p:cNvPicPr>
          <p:nvPr userDrawn="1"/>
        </p:nvPicPr>
        <p:blipFill>
          <a:blip r:embed="rId2"/>
          <a:stretch>
            <a:fillRect/>
          </a:stretch>
        </p:blipFill>
        <p:spPr>
          <a:xfrm>
            <a:off x="6238240" y="185696"/>
            <a:ext cx="726014" cy="319446"/>
          </a:xfrm>
          <a:prstGeom prst="rect">
            <a:avLst/>
          </a:prstGeom>
        </p:spPr>
      </p:pic>
    </p:spTree>
    <p:extLst>
      <p:ext uri="{BB962C8B-B14F-4D97-AF65-F5344CB8AC3E}">
        <p14:creationId xmlns:p14="http://schemas.microsoft.com/office/powerpoint/2010/main" val="2316369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7419628F-1787-26D4-A797-33B21045805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9235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8" name="Picture 7">
            <a:extLst>
              <a:ext uri="{FF2B5EF4-FFF2-40B4-BE49-F238E27FC236}">
                <a16:creationId xmlns:a16="http://schemas.microsoft.com/office/drawing/2014/main" id="{8C05115D-2B3B-A0F2-8B96-FF372AE7620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586779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E69252F8-DFBE-EC79-0D43-E7702CC2845C}"/>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190797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7" name="Picture 6">
            <a:extLst>
              <a:ext uri="{FF2B5EF4-FFF2-40B4-BE49-F238E27FC236}">
                <a16:creationId xmlns:a16="http://schemas.microsoft.com/office/drawing/2014/main" id="{4A252413-6471-13E8-59E6-F7EEDC0F07B7}"/>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7778940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10449300-3D10-A0CB-2DB5-98F274AC663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749122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DBAFCF80-E27A-06C5-A850-78E5A5D2C2BD}"/>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0049507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21973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71317" cy="6874935"/>
            <a:chOff x="-8467" y="-8468"/>
            <a:chExt cx="9171317" cy="6874935"/>
          </a:xfrm>
        </p:grpSpPr>
        <p:cxnSp>
          <p:nvCxnSpPr>
            <p:cNvPr id="7" name="Straight Connector 6"/>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9" name="Freeform 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Freeform 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6/21/2026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34359453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60.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97F88-6791-2CCC-FDDE-DEB157237E3D}"/>
              </a:ext>
            </a:extLst>
          </p:cNvPr>
          <p:cNvSpPr>
            <a:spLocks noGrp="1"/>
          </p:cNvSpPr>
          <p:nvPr>
            <p:ph type="ctrTitle"/>
          </p:nvPr>
        </p:nvSpPr>
        <p:spPr/>
        <p:txBody>
          <a:bodyPr/>
          <a:lstStyle/>
          <a:p>
            <a:r>
              <a:rPr lang="en-US" dirty="0"/>
              <a:t>Introduction To Algorithms</a:t>
            </a:r>
          </a:p>
        </p:txBody>
      </p:sp>
      <p:sp>
        <p:nvSpPr>
          <p:cNvPr id="3" name="Subtitle 2">
            <a:extLst>
              <a:ext uri="{FF2B5EF4-FFF2-40B4-BE49-F238E27FC236}">
                <a16:creationId xmlns:a16="http://schemas.microsoft.com/office/drawing/2014/main" id="{33F15B13-1D93-97F4-3DBC-B06CC6F12095}"/>
              </a:ext>
            </a:extLst>
          </p:cNvPr>
          <p:cNvSpPr>
            <a:spLocks noGrp="1"/>
          </p:cNvSpPr>
          <p:nvPr>
            <p:ph type="subTitle" idx="1"/>
          </p:nvPr>
        </p:nvSpPr>
        <p:spPr/>
        <p:txBody>
          <a:bodyPr>
            <a:normAutofit/>
          </a:bodyPr>
          <a:lstStyle/>
          <a:p>
            <a:r>
              <a:rPr lang="en-US" dirty="0"/>
              <a:t>Week 6 – </a:t>
            </a:r>
            <a:r>
              <a:rPr lang="en-US" b="1" dirty="0"/>
              <a:t>Graph Traversal and Modeling</a:t>
            </a:r>
            <a:endParaRPr lang="en-US" dirty="0"/>
          </a:p>
          <a:p>
            <a:r>
              <a:rPr lang="en-US" i="1" dirty="0"/>
              <a:t>“Modeling Connected Things”</a:t>
            </a:r>
          </a:p>
        </p:txBody>
      </p:sp>
    </p:spTree>
    <p:extLst>
      <p:ext uri="{BB962C8B-B14F-4D97-AF65-F5344CB8AC3E}">
        <p14:creationId xmlns:p14="http://schemas.microsoft.com/office/powerpoint/2010/main" val="3795026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F3D0C-6852-20C9-BE87-D0EBE466BC7A}"/>
              </a:ext>
            </a:extLst>
          </p:cNvPr>
          <p:cNvSpPr>
            <a:spLocks noGrp="1"/>
          </p:cNvSpPr>
          <p:nvPr>
            <p:ph type="title"/>
          </p:nvPr>
        </p:nvSpPr>
        <p:spPr>
          <a:xfrm>
            <a:off x="965199" y="609600"/>
            <a:ext cx="7648121" cy="1099457"/>
          </a:xfrm>
        </p:spPr>
        <p:txBody>
          <a:bodyPr>
            <a:normAutofit/>
          </a:bodyPr>
          <a:lstStyle/>
          <a:p>
            <a:r>
              <a:rPr lang="en-US" dirty="0"/>
              <a:t>Terms to Remember</a:t>
            </a:r>
          </a:p>
        </p:txBody>
      </p:sp>
      <p:graphicFrame>
        <p:nvGraphicFramePr>
          <p:cNvPr id="6" name="Content Placeholder 5">
            <a:extLst>
              <a:ext uri="{FF2B5EF4-FFF2-40B4-BE49-F238E27FC236}">
                <a16:creationId xmlns:a16="http://schemas.microsoft.com/office/drawing/2014/main" id="{F27554BC-B3B8-5E0F-2BAA-2455CB83A9CF}"/>
              </a:ext>
            </a:extLst>
          </p:cNvPr>
          <p:cNvGraphicFramePr>
            <a:graphicFrameLocks noGrp="1"/>
          </p:cNvGraphicFramePr>
          <p:nvPr>
            <p:ph idx="1"/>
            <p:extLst>
              <p:ext uri="{D42A27DB-BD31-4B8C-83A1-F6EECF244321}">
                <p14:modId xmlns:p14="http://schemas.microsoft.com/office/powerpoint/2010/main" val="3813190573"/>
              </p:ext>
            </p:extLst>
          </p:nvPr>
        </p:nvGraphicFramePr>
        <p:xfrm>
          <a:off x="965201" y="1709057"/>
          <a:ext cx="6807200" cy="3568910"/>
        </p:xfrm>
        <a:graphic>
          <a:graphicData uri="http://schemas.openxmlformats.org/drawingml/2006/table">
            <a:tbl>
              <a:tblPr firstRow="1" bandRow="1">
                <a:tableStyleId>{5C22544A-7EE6-4342-B048-85BDC9FD1C3A}</a:tableStyleId>
              </a:tblPr>
              <a:tblGrid>
                <a:gridCol w="925889">
                  <a:extLst>
                    <a:ext uri="{9D8B030D-6E8A-4147-A177-3AD203B41FA5}">
                      <a16:colId xmlns:a16="http://schemas.microsoft.com/office/drawing/2014/main" val="2834818674"/>
                    </a:ext>
                  </a:extLst>
                </a:gridCol>
                <a:gridCol w="2093081">
                  <a:extLst>
                    <a:ext uri="{9D8B030D-6E8A-4147-A177-3AD203B41FA5}">
                      <a16:colId xmlns:a16="http://schemas.microsoft.com/office/drawing/2014/main" val="2769425876"/>
                    </a:ext>
                  </a:extLst>
                </a:gridCol>
                <a:gridCol w="3788230">
                  <a:extLst>
                    <a:ext uri="{9D8B030D-6E8A-4147-A177-3AD203B41FA5}">
                      <a16:colId xmlns:a16="http://schemas.microsoft.com/office/drawing/2014/main" val="2598474551"/>
                    </a:ext>
                  </a:extLst>
                </a:gridCol>
              </a:tblGrid>
              <a:tr h="334133">
                <a:tc>
                  <a:txBody>
                    <a:bodyPr/>
                    <a:lstStyle/>
                    <a:p>
                      <a:r>
                        <a:rPr lang="en-US" sz="1500"/>
                        <a:t>Term</a:t>
                      </a:r>
                    </a:p>
                  </a:txBody>
                  <a:tcPr marL="75939" marR="75939" marT="37970" marB="37970"/>
                </a:tc>
                <a:tc>
                  <a:txBody>
                    <a:bodyPr/>
                    <a:lstStyle/>
                    <a:p>
                      <a:r>
                        <a:rPr lang="en-US" sz="1500" dirty="0"/>
                        <a:t>General Meaning</a:t>
                      </a:r>
                    </a:p>
                  </a:txBody>
                  <a:tcPr marL="75939" marR="75939" marT="37970" marB="37970"/>
                </a:tc>
                <a:tc>
                  <a:txBody>
                    <a:bodyPr/>
                    <a:lstStyle/>
                    <a:p>
                      <a:r>
                        <a:rPr lang="en-US" sz="1500" dirty="0"/>
                        <a:t>Graph / Network Meaning</a:t>
                      </a:r>
                    </a:p>
                  </a:txBody>
                  <a:tcPr marL="75939" marR="75939" marT="37970" marB="37970"/>
                </a:tc>
                <a:extLst>
                  <a:ext uri="{0D108BD9-81ED-4DB2-BD59-A6C34878D82A}">
                    <a16:rowId xmlns:a16="http://schemas.microsoft.com/office/drawing/2014/main" val="2585501838"/>
                  </a:ext>
                </a:extLst>
              </a:tr>
              <a:tr h="308820">
                <a:tc>
                  <a:txBody>
                    <a:bodyPr/>
                    <a:lstStyle/>
                    <a:p>
                      <a:r>
                        <a:rPr lang="en-US" sz="1300" b="1" dirty="0"/>
                        <a:t>Network</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Any connected system</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graph model of connected nodes and edges</a:t>
                      </a:r>
                    </a:p>
                  </a:txBody>
                  <a:tcPr marL="75939" marR="75939" marT="37970" marB="37970"/>
                </a:tc>
                <a:extLst>
                  <a:ext uri="{0D108BD9-81ED-4DB2-BD59-A6C34878D82A}">
                    <a16:rowId xmlns:a16="http://schemas.microsoft.com/office/drawing/2014/main" val="2286987966"/>
                  </a:ext>
                </a:extLst>
              </a:tr>
              <a:tr h="308820">
                <a:tc>
                  <a:txBody>
                    <a:bodyPr/>
                    <a:lstStyle/>
                    <a:p>
                      <a:r>
                        <a:rPr lang="en-US" sz="1300" b="1" dirty="0"/>
                        <a:t>Node</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point or object</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specific item in the graph</a:t>
                      </a:r>
                    </a:p>
                  </a:txBody>
                  <a:tcPr marL="75939" marR="75939" marT="37970" marB="37970"/>
                </a:tc>
                <a:extLst>
                  <a:ext uri="{0D108BD9-81ED-4DB2-BD59-A6C34878D82A}">
                    <a16:rowId xmlns:a16="http://schemas.microsoft.com/office/drawing/2014/main" val="4271159523"/>
                  </a:ext>
                </a:extLst>
              </a:tr>
              <a:tr h="308820">
                <a:tc>
                  <a:txBody>
                    <a:bodyPr/>
                    <a:lstStyle/>
                    <a:p>
                      <a:r>
                        <a:rPr lang="en-US" sz="1300" b="1" dirty="0"/>
                        <a:t>Vertex</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corner or point</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Another term for node</a:t>
                      </a:r>
                    </a:p>
                  </a:txBody>
                  <a:tcPr marL="75939" marR="75939" marT="37970" marB="37970"/>
                </a:tc>
                <a:extLst>
                  <a:ext uri="{0D108BD9-81ED-4DB2-BD59-A6C34878D82A}">
                    <a16:rowId xmlns:a16="http://schemas.microsoft.com/office/drawing/2014/main" val="3521909586"/>
                  </a:ext>
                </a:extLst>
              </a:tr>
              <a:tr h="300411">
                <a:tc>
                  <a:txBody>
                    <a:bodyPr/>
                    <a:lstStyle/>
                    <a:p>
                      <a:r>
                        <a:rPr lang="en-US" sz="1300" b="1" dirty="0"/>
                        <a:t>Edge</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Outside boundary</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relationship or connection between nodes</a:t>
                      </a:r>
                    </a:p>
                  </a:txBody>
                  <a:tcPr marL="75939" marR="75939" marT="37970" marB="37970"/>
                </a:tc>
                <a:extLst>
                  <a:ext uri="{0D108BD9-81ED-4DB2-BD59-A6C34878D82A}">
                    <a16:rowId xmlns:a16="http://schemas.microsoft.com/office/drawing/2014/main" val="1196619962"/>
                  </a:ext>
                </a:extLst>
              </a:tr>
              <a:tr h="300446">
                <a:tc>
                  <a:txBody>
                    <a:bodyPr/>
                    <a:lstStyle/>
                    <a:p>
                      <a:r>
                        <a:rPr lang="en-US" sz="1300" b="1" dirty="0"/>
                        <a:t>Link</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connection</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Another term for edge</a:t>
                      </a:r>
                    </a:p>
                  </a:txBody>
                  <a:tcPr marL="75939" marR="75939" marT="37970" marB="37970"/>
                </a:tc>
                <a:extLst>
                  <a:ext uri="{0D108BD9-81ED-4DB2-BD59-A6C34878D82A}">
                    <a16:rowId xmlns:a16="http://schemas.microsoft.com/office/drawing/2014/main" val="3290694328"/>
                  </a:ext>
                </a:extLst>
              </a:tr>
              <a:tr h="308820">
                <a:tc>
                  <a:txBody>
                    <a:bodyPr/>
                    <a:lstStyle/>
                    <a:p>
                      <a:r>
                        <a:rPr lang="en-US" sz="1300" b="1" dirty="0"/>
                        <a:t>Neighbor</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dirty="0"/>
                        <a:t>Something nearby</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dirty="0"/>
                        <a:t>A node directly connected to another node</a:t>
                      </a:r>
                    </a:p>
                  </a:txBody>
                  <a:tcPr marL="75939" marR="75939" marT="37970" marB="37970"/>
                </a:tc>
                <a:extLst>
                  <a:ext uri="{0D108BD9-81ED-4DB2-BD59-A6C34878D82A}">
                    <a16:rowId xmlns:a16="http://schemas.microsoft.com/office/drawing/2014/main" val="2245940545"/>
                  </a:ext>
                </a:extLst>
              </a:tr>
              <a:tr h="308820">
                <a:tc>
                  <a:txBody>
                    <a:bodyPr/>
                    <a:lstStyle/>
                    <a:p>
                      <a:r>
                        <a:rPr lang="en-US" sz="1300" b="1" dirty="0"/>
                        <a:t>Path</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route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sequence of connected nodes</a:t>
                      </a:r>
                    </a:p>
                  </a:txBody>
                  <a:tcPr marL="75939" marR="75939" marT="37970" marB="37970"/>
                </a:tc>
                <a:extLst>
                  <a:ext uri="{0D108BD9-81ED-4DB2-BD59-A6C34878D82A}">
                    <a16:rowId xmlns:a16="http://schemas.microsoft.com/office/drawing/2014/main" val="2857803298"/>
                  </a:ext>
                </a:extLst>
              </a:tr>
              <a:tr h="30882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1" dirty="0"/>
                        <a:t>Traversal</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Moving through something</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Visiting graph nodes using an algorithm</a:t>
                      </a:r>
                    </a:p>
                  </a:txBody>
                  <a:tcPr marL="75939" marR="75939" marT="37970" marB="37970"/>
                </a:tc>
                <a:extLst>
                  <a:ext uri="{0D108BD9-81ED-4DB2-BD59-A6C34878D82A}">
                    <a16:rowId xmlns:a16="http://schemas.microsoft.com/office/drawing/2014/main" val="2915929785"/>
                  </a:ext>
                </a:extLst>
              </a:tr>
              <a:tr h="308820">
                <a:tc>
                  <a:txBody>
                    <a:bodyPr/>
                    <a:lstStyle/>
                    <a:p>
                      <a:r>
                        <a:rPr lang="en-US" sz="1300" b="1" dirty="0"/>
                        <a:t>Centrality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Importance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metric estimating structural importance</a:t>
                      </a:r>
                    </a:p>
                  </a:txBody>
                  <a:tcPr marL="75939" marR="75939" marT="37970" marB="37970"/>
                </a:tc>
                <a:extLst>
                  <a:ext uri="{0D108BD9-81ED-4DB2-BD59-A6C34878D82A}">
                    <a16:rowId xmlns:a16="http://schemas.microsoft.com/office/drawing/2014/main" val="1497806748"/>
                  </a:ext>
                </a:extLst>
              </a:tr>
              <a:tr h="308820">
                <a:tc>
                  <a:txBody>
                    <a:bodyPr/>
                    <a:lstStyle/>
                    <a:p>
                      <a:r>
                        <a:rPr lang="en-US" sz="1300" b="1" dirty="0"/>
                        <a:t>Density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How compact something is</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How many possible connections actually exist</a:t>
                      </a:r>
                    </a:p>
                  </a:txBody>
                  <a:tcPr marL="75939" marR="75939" marT="37970" marB="37970"/>
                </a:tc>
                <a:extLst>
                  <a:ext uri="{0D108BD9-81ED-4DB2-BD59-A6C34878D82A}">
                    <a16:rowId xmlns:a16="http://schemas.microsoft.com/office/drawing/2014/main" val="2095033334"/>
                  </a:ext>
                </a:extLst>
              </a:tr>
            </a:tbl>
          </a:graphicData>
        </a:graphic>
      </p:graphicFrame>
    </p:spTree>
    <p:extLst>
      <p:ext uri="{BB962C8B-B14F-4D97-AF65-F5344CB8AC3E}">
        <p14:creationId xmlns:p14="http://schemas.microsoft.com/office/powerpoint/2010/main" val="496793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C1AD2-E72F-7796-291A-36CD1216022D}"/>
              </a:ext>
            </a:extLst>
          </p:cNvPr>
          <p:cNvSpPr>
            <a:spLocks noGrp="1"/>
          </p:cNvSpPr>
          <p:nvPr>
            <p:ph type="title"/>
          </p:nvPr>
        </p:nvSpPr>
        <p:spPr>
          <a:xfrm>
            <a:off x="4152550" y="609600"/>
            <a:ext cx="2802951" cy="1320800"/>
          </a:xfrm>
        </p:spPr>
        <p:txBody>
          <a:bodyPr>
            <a:normAutofit/>
          </a:bodyPr>
          <a:lstStyle/>
          <a:p>
            <a:r>
              <a:rPr lang="en-US" sz="3300"/>
              <a:t>What We Will Use Today</a:t>
            </a:r>
            <a:endParaRPr lang="en-US" sz="3300" dirty="0"/>
          </a:p>
        </p:txBody>
      </p:sp>
      <p:sp>
        <p:nvSpPr>
          <p:cNvPr id="3" name="Content Placeholder 2">
            <a:extLst>
              <a:ext uri="{FF2B5EF4-FFF2-40B4-BE49-F238E27FC236}">
                <a16:creationId xmlns:a16="http://schemas.microsoft.com/office/drawing/2014/main" id="{186EEC5C-1292-A4A2-1E2D-A19D199A8749}"/>
              </a:ext>
            </a:extLst>
          </p:cNvPr>
          <p:cNvSpPr>
            <a:spLocks noGrp="1"/>
          </p:cNvSpPr>
          <p:nvPr>
            <p:ph idx="1"/>
          </p:nvPr>
        </p:nvSpPr>
        <p:spPr>
          <a:xfrm>
            <a:off x="3907172" y="2160589"/>
            <a:ext cx="3499468" cy="3880773"/>
          </a:xfrm>
        </p:spPr>
        <p:txBody>
          <a:bodyPr>
            <a:normAutofit lnSpcReduction="10000"/>
          </a:bodyPr>
          <a:lstStyle/>
          <a:p>
            <a:r>
              <a:rPr lang="en-US" dirty="0"/>
              <a:t>Graph vocabulary</a:t>
            </a:r>
          </a:p>
          <a:p>
            <a:r>
              <a:rPr lang="en-US" dirty="0"/>
              <a:t>Directed, Undirected, Simple, and Weighted graph recognition</a:t>
            </a:r>
          </a:p>
          <a:p>
            <a:r>
              <a:rPr lang="en-US" dirty="0"/>
              <a:t>Adjacency-list representation</a:t>
            </a:r>
          </a:p>
          <a:p>
            <a:r>
              <a:rPr lang="en-US" dirty="0"/>
              <a:t>Neighborhoods and shortest-path intuition</a:t>
            </a:r>
          </a:p>
          <a:p>
            <a:r>
              <a:rPr lang="en-US" dirty="0"/>
              <a:t>BFS and DFS traversal</a:t>
            </a:r>
          </a:p>
          <a:p>
            <a:r>
              <a:rPr lang="en-US" dirty="0"/>
              <a:t>Queue and Stack state as evidence</a:t>
            </a:r>
          </a:p>
          <a:p>
            <a:r>
              <a:rPr lang="en-US" dirty="0"/>
              <a:t>Model-limit explanation</a:t>
            </a:r>
          </a:p>
        </p:txBody>
      </p:sp>
      <p:pic>
        <p:nvPicPr>
          <p:cNvPr id="28" name="Picture 27">
            <a:extLst>
              <a:ext uri="{FF2B5EF4-FFF2-40B4-BE49-F238E27FC236}">
                <a16:creationId xmlns:a16="http://schemas.microsoft.com/office/drawing/2014/main" id="{38D50984-DDEB-A743-533E-89C11F357B8D}"/>
              </a:ext>
              <a:ext uri="{C183D7F6-B498-43B3-948B-1728B52AA6E4}">
                <adec:decorative xmlns:adec="http://schemas.microsoft.com/office/drawing/2017/decorative" val="1"/>
              </a:ext>
            </a:extLst>
          </p:cNvPr>
          <p:cNvPicPr>
            <a:picLocks noChangeAspect="1"/>
          </p:cNvPicPr>
          <p:nvPr/>
        </p:nvPicPr>
        <p:blipFill>
          <a:blip r:embed="rId3"/>
          <a:srcRect l="10423" r="5019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3" name="Isosceles Triangle 32">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576427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E6D73-36C1-785B-BF1E-F70A56E45447}"/>
              </a:ext>
            </a:extLst>
          </p:cNvPr>
          <p:cNvSpPr>
            <a:spLocks noGrp="1"/>
          </p:cNvSpPr>
          <p:nvPr>
            <p:ph type="title"/>
          </p:nvPr>
        </p:nvSpPr>
        <p:spPr>
          <a:xfrm>
            <a:off x="508000" y="609600"/>
            <a:ext cx="6447501" cy="1320800"/>
          </a:xfrm>
        </p:spPr>
        <p:txBody>
          <a:bodyPr anchor="t">
            <a:normAutofit/>
          </a:bodyPr>
          <a:lstStyle/>
          <a:p>
            <a:r>
              <a:rPr lang="en-US"/>
              <a:t>What We Will “Touch On” and Revisit Later</a:t>
            </a:r>
            <a:endParaRPr lang="en-US" dirty="0"/>
          </a:p>
        </p:txBody>
      </p:sp>
      <p:sp>
        <p:nvSpPr>
          <p:cNvPr id="24" name="Content Placeholder 2">
            <a:extLst>
              <a:ext uri="{FF2B5EF4-FFF2-40B4-BE49-F238E27FC236}">
                <a16:creationId xmlns:a16="http://schemas.microsoft.com/office/drawing/2014/main" id="{A8A78D41-48A5-98C1-1F53-FB08BC3F6B1D}"/>
              </a:ext>
            </a:extLst>
          </p:cNvPr>
          <p:cNvSpPr>
            <a:spLocks noGrp="1"/>
          </p:cNvSpPr>
          <p:nvPr>
            <p:ph idx="1"/>
          </p:nvPr>
        </p:nvSpPr>
        <p:spPr>
          <a:xfrm>
            <a:off x="508000" y="2160590"/>
            <a:ext cx="3915323" cy="3701270"/>
          </a:xfrm>
        </p:spPr>
        <p:txBody>
          <a:bodyPr>
            <a:normAutofit/>
          </a:bodyPr>
          <a:lstStyle/>
          <a:p>
            <a:r>
              <a:rPr lang="en-US" sz="2000" dirty="0"/>
              <a:t>similarity and recommendation</a:t>
            </a:r>
          </a:p>
          <a:p>
            <a:r>
              <a:rPr lang="en-US" sz="2000" dirty="0"/>
              <a:t>ranking and centrality ideas</a:t>
            </a:r>
          </a:p>
          <a:p>
            <a:r>
              <a:rPr lang="en-US" sz="2000" dirty="0"/>
              <a:t>AI/data relationship modeling</a:t>
            </a:r>
          </a:p>
          <a:p>
            <a:r>
              <a:rPr lang="en-US" sz="2000" dirty="0"/>
              <a:t>explainability and limits of graph-based claims</a:t>
            </a:r>
          </a:p>
          <a:p>
            <a:r>
              <a:rPr lang="en-US" sz="2000" dirty="0"/>
              <a:t>optional social network analysis context</a:t>
            </a:r>
          </a:p>
        </p:txBody>
      </p:sp>
      <p:pic>
        <p:nvPicPr>
          <p:cNvPr id="7" name="Graphic 6" descr="Disconnected">
            <a:extLst>
              <a:ext uri="{FF2B5EF4-FFF2-40B4-BE49-F238E27FC236}">
                <a16:creationId xmlns:a16="http://schemas.microsoft.com/office/drawing/2014/main" id="{634669AE-52A5-F086-9BDE-17982042AD8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672713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5" name="Straight Connector 24">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58CC1AB3-4E10-DC1D-19E9-262AA9AD4807}"/>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a:t>Review Coding Lab</a:t>
            </a:r>
          </a:p>
        </p:txBody>
      </p:sp>
      <p:pic>
        <p:nvPicPr>
          <p:cNvPr id="5" name="Picture 4" descr="Photograph of computer screen displaying lines of programming code with syntax highlighting in blue, yellow, and white colors. Code appears related to object selection and operation modifiers, emphasizing programming and software development context.">
            <a:extLst>
              <a:ext uri="{FF2B5EF4-FFF2-40B4-BE49-F238E27FC236}">
                <a16:creationId xmlns:a16="http://schemas.microsoft.com/office/drawing/2014/main" id="{9DC68C51-4C04-4FB3-8831-97CAFAF56E58}"/>
              </a:ext>
            </a:extLst>
          </p:cNvPr>
          <p:cNvPicPr>
            <a:picLocks noChangeAspect="1"/>
          </p:cNvPicPr>
          <p:nvPr/>
        </p:nvPicPr>
        <p:blipFill>
          <a:blip r:embed="rId3"/>
          <a:srcRect t="5843" b="6549"/>
          <a:stretch>
            <a:fillRect/>
          </a:stretch>
        </p:blipFill>
        <p:spPr>
          <a:xfrm>
            <a:off x="739476" y="609600"/>
            <a:ext cx="6216024" cy="3635025"/>
          </a:xfrm>
          <a:prstGeom prst="rect">
            <a:avLst/>
          </a:prstGeom>
        </p:spPr>
      </p:pic>
    </p:spTree>
    <p:extLst>
      <p:ext uri="{BB962C8B-B14F-4D97-AF65-F5344CB8AC3E}">
        <p14:creationId xmlns:p14="http://schemas.microsoft.com/office/powerpoint/2010/main" val="417527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16879-C24F-12E9-F810-6CB9C4BFAB98}"/>
              </a:ext>
            </a:extLst>
          </p:cNvPr>
          <p:cNvSpPr>
            <a:spLocks noGrp="1"/>
          </p:cNvSpPr>
          <p:nvPr>
            <p:ph type="title"/>
          </p:nvPr>
        </p:nvSpPr>
        <p:spPr>
          <a:xfrm>
            <a:off x="508000" y="609600"/>
            <a:ext cx="6447501" cy="1320800"/>
          </a:xfrm>
        </p:spPr>
        <p:txBody>
          <a:bodyPr>
            <a:normAutofit/>
          </a:bodyPr>
          <a:lstStyle/>
          <a:p>
            <a:r>
              <a:rPr lang="en-US" dirty="0"/>
              <a:t>Review: </a:t>
            </a:r>
            <a:br>
              <a:rPr lang="en-US" dirty="0"/>
            </a:br>
            <a:r>
              <a:rPr lang="en-US" dirty="0"/>
              <a:t>What Lab 05 Taught Us</a:t>
            </a:r>
          </a:p>
        </p:txBody>
      </p:sp>
      <p:graphicFrame>
        <p:nvGraphicFramePr>
          <p:cNvPr id="5" name="Content Placeholder 2">
            <a:extLst>
              <a:ext uri="{FF2B5EF4-FFF2-40B4-BE49-F238E27FC236}">
                <a16:creationId xmlns:a16="http://schemas.microsoft.com/office/drawing/2014/main" id="{A5DB8EF8-7380-591B-7DE8-88F9DC4878C8}"/>
              </a:ext>
            </a:extLst>
          </p:cNvPr>
          <p:cNvGraphicFramePr>
            <a:graphicFrameLocks noGrp="1"/>
          </p:cNvGraphicFramePr>
          <p:nvPr>
            <p:ph idx="1"/>
            <p:extLst>
              <p:ext uri="{D42A27DB-BD31-4B8C-83A1-F6EECF244321}">
                <p14:modId xmlns:p14="http://schemas.microsoft.com/office/powerpoint/2010/main" val="122410733"/>
              </p:ext>
            </p:extLst>
          </p:nvPr>
        </p:nvGraphicFramePr>
        <p:xfrm>
          <a:off x="508397" y="2160588"/>
          <a:ext cx="6447234" cy="38814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91397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1FA1E9A-A320-AF42-F414-B26C9B324438}"/>
              </a:ext>
            </a:extLst>
          </p:cNvPr>
          <p:cNvSpPr>
            <a:spLocks noGrp="1"/>
          </p:cNvSpPr>
          <p:nvPr>
            <p:ph type="title"/>
          </p:nvPr>
        </p:nvSpPr>
        <p:spPr>
          <a:xfrm>
            <a:off x="482600" y="816638"/>
            <a:ext cx="2525519" cy="5224724"/>
          </a:xfrm>
        </p:spPr>
        <p:txBody>
          <a:bodyPr anchor="ctr">
            <a:normAutofit/>
          </a:bodyPr>
          <a:lstStyle/>
          <a:p>
            <a:r>
              <a:rPr lang="en-US" dirty="0"/>
              <a:t>Today’s Question</a:t>
            </a:r>
          </a:p>
        </p:txBody>
      </p:sp>
      <p:sp>
        <p:nvSpPr>
          <p:cNvPr id="3" name="Content Placeholder 2">
            <a:extLst>
              <a:ext uri="{FF2B5EF4-FFF2-40B4-BE49-F238E27FC236}">
                <a16:creationId xmlns:a16="http://schemas.microsoft.com/office/drawing/2014/main" id="{874F45FF-FF75-2BF2-8B20-6A1AB01A627A}"/>
              </a:ext>
            </a:extLst>
          </p:cNvPr>
          <p:cNvSpPr>
            <a:spLocks noGrp="1"/>
          </p:cNvSpPr>
          <p:nvPr>
            <p:ph idx="1"/>
          </p:nvPr>
        </p:nvSpPr>
        <p:spPr>
          <a:xfrm>
            <a:off x="3709855" y="816638"/>
            <a:ext cx="3245645" cy="5224724"/>
          </a:xfrm>
        </p:spPr>
        <p:txBody>
          <a:bodyPr anchor="ctr">
            <a:normAutofit/>
          </a:bodyPr>
          <a:lstStyle/>
          <a:p>
            <a:pPr marL="0" indent="0">
              <a:buNone/>
            </a:pPr>
            <a:r>
              <a:rPr lang="en-US" sz="2400" b="1" dirty="0"/>
              <a:t>How can we model connected parts so an algorithm can move through them?</a:t>
            </a:r>
            <a:endParaRPr lang="en-US" sz="2400" dirty="0"/>
          </a:p>
        </p:txBody>
      </p:sp>
    </p:spTree>
    <p:extLst>
      <p:ext uri="{BB962C8B-B14F-4D97-AF65-F5344CB8AC3E}">
        <p14:creationId xmlns:p14="http://schemas.microsoft.com/office/powerpoint/2010/main" val="396491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125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paper folded as graph">
            <a:extLst>
              <a:ext uri="{FF2B5EF4-FFF2-40B4-BE49-F238E27FC236}">
                <a16:creationId xmlns:a16="http://schemas.microsoft.com/office/drawing/2014/main" id="{6EE821E8-DE74-871D-12DE-2E2D70B54BDF}"/>
              </a:ext>
            </a:extLst>
          </p:cNvPr>
          <p:cNvPicPr>
            <a:picLocks noChangeAspect="1"/>
          </p:cNvPicPr>
          <p:nvPr/>
        </p:nvPicPr>
        <p:blipFill>
          <a:blip r:embed="rId3"/>
          <a:srcRect l="22051" r="20117"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8D8C3605-5D8E-7724-C17B-D795FFF08E28}"/>
              </a:ext>
            </a:extLst>
          </p:cNvPr>
          <p:cNvSpPr>
            <a:spLocks noGrp="1"/>
          </p:cNvSpPr>
          <p:nvPr>
            <p:ph type="title"/>
          </p:nvPr>
        </p:nvSpPr>
        <p:spPr>
          <a:xfrm>
            <a:off x="507999" y="609600"/>
            <a:ext cx="2888343" cy="1320800"/>
          </a:xfrm>
        </p:spPr>
        <p:txBody>
          <a:bodyPr vert="horz" lIns="91440" tIns="45720" rIns="91440" bIns="45720" rtlCol="0">
            <a:normAutofit/>
          </a:bodyPr>
          <a:lstStyle/>
          <a:p>
            <a:r>
              <a:rPr lang="en-US" sz="3300"/>
              <a:t>Graphs Model Relationships</a:t>
            </a:r>
          </a:p>
        </p:txBody>
      </p:sp>
      <p:sp>
        <p:nvSpPr>
          <p:cNvPr id="4" name="Content Placeholder 3">
            <a:extLst>
              <a:ext uri="{FF2B5EF4-FFF2-40B4-BE49-F238E27FC236}">
                <a16:creationId xmlns:a16="http://schemas.microsoft.com/office/drawing/2014/main" id="{C78EF0FB-4C3E-DCBF-358C-F3A4B6BA6AE2}"/>
              </a:ext>
            </a:extLst>
          </p:cNvPr>
          <p:cNvSpPr>
            <a:spLocks noGrp="1"/>
          </p:cNvSpPr>
          <p:nvPr>
            <p:ph idx="1"/>
          </p:nvPr>
        </p:nvSpPr>
        <p:spPr>
          <a:xfrm>
            <a:off x="508000" y="2160589"/>
            <a:ext cx="2888342" cy="3880773"/>
          </a:xfrm>
        </p:spPr>
        <p:txBody>
          <a:bodyPr>
            <a:normAutofit/>
          </a:bodyPr>
          <a:lstStyle/>
          <a:p>
            <a:pPr marL="0" indent="0">
              <a:lnSpc>
                <a:spcPct val="90000"/>
              </a:lnSpc>
              <a:buNone/>
            </a:pPr>
            <a:r>
              <a:rPr lang="en-US" sz="1500"/>
              <a:t>A graph is a model of connected things.</a:t>
            </a:r>
          </a:p>
          <a:p>
            <a:pPr marL="0" indent="0">
              <a:lnSpc>
                <a:spcPct val="90000"/>
              </a:lnSpc>
              <a:buNone/>
            </a:pPr>
            <a:endParaRPr lang="en-US" sz="1500"/>
          </a:p>
          <a:p>
            <a:pPr marL="0" indent="0">
              <a:lnSpc>
                <a:spcPct val="90000"/>
              </a:lnSpc>
              <a:buNone/>
            </a:pPr>
            <a:r>
              <a:rPr lang="en-US" sz="1500"/>
              <a:t>It can represent:</a:t>
            </a:r>
          </a:p>
          <a:p>
            <a:pPr>
              <a:lnSpc>
                <a:spcPct val="90000"/>
              </a:lnSpc>
            </a:pPr>
            <a:r>
              <a:rPr lang="en-US" sz="1500"/>
              <a:t>places connected by routes</a:t>
            </a:r>
          </a:p>
          <a:p>
            <a:pPr>
              <a:lnSpc>
                <a:spcPct val="90000"/>
              </a:lnSpc>
            </a:pPr>
            <a:r>
              <a:rPr lang="en-US" sz="1500"/>
              <a:t>tasks connected by dependencies</a:t>
            </a:r>
          </a:p>
          <a:p>
            <a:pPr>
              <a:lnSpc>
                <a:spcPct val="90000"/>
              </a:lnSpc>
            </a:pPr>
            <a:r>
              <a:rPr lang="en-US" sz="1500"/>
              <a:t>people connected by communication</a:t>
            </a:r>
          </a:p>
          <a:p>
            <a:pPr>
              <a:lnSpc>
                <a:spcPct val="90000"/>
              </a:lnSpc>
            </a:pPr>
            <a:r>
              <a:rPr lang="en-US" sz="1500"/>
              <a:t>steps connected in a workflow</a:t>
            </a:r>
          </a:p>
          <a:p>
            <a:pPr>
              <a:lnSpc>
                <a:spcPct val="90000"/>
              </a:lnSpc>
            </a:pPr>
            <a:r>
              <a:rPr lang="en-US" sz="1500"/>
              <a:t>rooms connected by paths</a:t>
            </a:r>
          </a:p>
        </p:txBody>
      </p:sp>
      <p:cxnSp>
        <p:nvCxnSpPr>
          <p:cNvPr id="10" name="Straight Connector 9">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8"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327129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410D77-E7C1-DDF5-0FD1-14A5194BF474}"/>
              </a:ext>
            </a:extLst>
          </p:cNvPr>
          <p:cNvSpPr>
            <a:spLocks noGrp="1"/>
          </p:cNvSpPr>
          <p:nvPr>
            <p:ph type="title"/>
          </p:nvPr>
        </p:nvSpPr>
        <p:spPr>
          <a:xfrm>
            <a:off x="739476" y="4859383"/>
            <a:ext cx="6216024" cy="1096648"/>
          </a:xfrm>
        </p:spPr>
        <p:txBody>
          <a:bodyPr vert="horz" lIns="91440" tIns="45720" rIns="91440" bIns="45720" rtlCol="0" anchor="b">
            <a:normAutofit/>
          </a:bodyPr>
          <a:lstStyle/>
          <a:p>
            <a:r>
              <a:rPr lang="en-US" sz="4200" dirty="0"/>
              <a:t>Graph Model</a:t>
            </a:r>
          </a:p>
        </p:txBody>
      </p:sp>
      <p:pic>
        <p:nvPicPr>
          <p:cNvPr id="5" name="Picture Placeholder 4" descr="Diagram illustrating conversion of real-world entities into graph models, divided into three sections: buildings as nodes connected by walking paths, tasks as nodes linked by dependencies, and people as nodes connected by communication links. Each section uses distinct colors and icons to represent entities and their graph equivalents, emphasizing how graphs model relationships.">
            <a:extLst>
              <a:ext uri="{FF2B5EF4-FFF2-40B4-BE49-F238E27FC236}">
                <a16:creationId xmlns:a16="http://schemas.microsoft.com/office/drawing/2014/main" id="{880B5E40-3F99-8B5E-957A-739276C4F170}"/>
              </a:ext>
            </a:extLst>
          </p:cNvPr>
          <p:cNvPicPr>
            <a:picLocks noGrp="1" noChangeAspect="1"/>
          </p:cNvPicPr>
          <p:nvPr>
            <p:ph type="pic" idx="1"/>
          </p:nvPr>
        </p:nvPicPr>
        <p:blipFill>
          <a:blip r:embed="rId3"/>
          <a:srcRect l="415" t="-1640" r="415" b="-1640"/>
          <a:stretch>
            <a:fillRect/>
          </a:stretch>
        </p:blipFill>
        <p:spPr>
          <a:xfrm>
            <a:off x="609599" y="431075"/>
            <a:ext cx="6347714" cy="4428308"/>
          </a:xfrm>
          <a:prstGeom prst="rect">
            <a:avLst/>
          </a:prstGeom>
        </p:spPr>
      </p:pic>
    </p:spTree>
    <p:extLst>
      <p:ext uri="{BB962C8B-B14F-4D97-AF65-F5344CB8AC3E}">
        <p14:creationId xmlns:p14="http://schemas.microsoft.com/office/powerpoint/2010/main" val="1783001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B5BB2258-2A42-7358-855B-3C842DFCA6C1}"/>
              </a:ext>
            </a:extLst>
          </p:cNvPr>
          <p:cNvSpPr>
            <a:spLocks noGrp="1"/>
          </p:cNvSpPr>
          <p:nvPr>
            <p:ph type="title"/>
          </p:nvPr>
        </p:nvSpPr>
        <p:spPr>
          <a:xfrm>
            <a:off x="489360" y="1382486"/>
            <a:ext cx="2660686" cy="4093028"/>
          </a:xfrm>
        </p:spPr>
        <p:txBody>
          <a:bodyPr anchor="ctr">
            <a:normAutofit/>
          </a:bodyPr>
          <a:lstStyle/>
          <a:p>
            <a:r>
              <a:rPr lang="en-US" sz="3800"/>
              <a:t>What Counts as Success Today</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4E8FB340-C6CC-FE68-2C30-7F4BB19196CF}"/>
              </a:ext>
            </a:extLst>
          </p:cNvPr>
          <p:cNvGraphicFramePr>
            <a:graphicFrameLocks noGrp="1"/>
          </p:cNvGraphicFramePr>
          <p:nvPr>
            <p:ph idx="1"/>
            <p:extLst>
              <p:ext uri="{D42A27DB-BD31-4B8C-83A1-F6EECF244321}">
                <p14:modId xmlns:p14="http://schemas.microsoft.com/office/powerpoint/2010/main" val="3986748217"/>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066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8413C-E473-7BB1-5818-2D164CEF8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D30655-1F44-A7A1-AD87-667B476811F2}"/>
              </a:ext>
            </a:extLst>
          </p:cNvPr>
          <p:cNvSpPr>
            <a:spLocks noGrp="1"/>
          </p:cNvSpPr>
          <p:nvPr>
            <p:ph type="title"/>
          </p:nvPr>
        </p:nvSpPr>
        <p:spPr>
          <a:xfrm>
            <a:off x="2089535" y="1189368"/>
            <a:ext cx="4865966" cy="1070505"/>
          </a:xfrm>
        </p:spPr>
        <p:txBody>
          <a:bodyPr>
            <a:normAutofit fontScale="90000"/>
          </a:bodyPr>
          <a:lstStyle/>
          <a:p>
            <a:r>
              <a:rPr lang="en-US" dirty="0"/>
              <a:t>Graph Algorithm Overview</a:t>
            </a:r>
          </a:p>
        </p:txBody>
      </p:sp>
      <p:sp>
        <p:nvSpPr>
          <p:cNvPr id="13" name="Content Placeholder 2">
            <a:extLst>
              <a:ext uri="{FF2B5EF4-FFF2-40B4-BE49-F238E27FC236}">
                <a16:creationId xmlns:a16="http://schemas.microsoft.com/office/drawing/2014/main" id="{F729E677-A23F-A29E-45EE-905BCE0D8D91}"/>
              </a:ext>
            </a:extLst>
          </p:cNvPr>
          <p:cNvSpPr>
            <a:spLocks noGrp="1"/>
          </p:cNvSpPr>
          <p:nvPr>
            <p:ph idx="1"/>
          </p:nvPr>
        </p:nvSpPr>
        <p:spPr>
          <a:xfrm>
            <a:off x="2089535" y="2508069"/>
            <a:ext cx="4865966" cy="3533293"/>
          </a:xfrm>
        </p:spPr>
        <p:txBody>
          <a:bodyPr>
            <a:normAutofit/>
          </a:bodyPr>
          <a:lstStyle/>
          <a:p>
            <a:pPr marL="0" indent="0">
              <a:buNone/>
            </a:pPr>
            <a:r>
              <a:rPr lang="en-US" dirty="0"/>
              <a:t>The reading covers:</a:t>
            </a:r>
          </a:p>
          <a:p>
            <a:pPr>
              <a:buFont typeface="+mj-lt"/>
              <a:buAutoNum type="arabicPeriod"/>
            </a:pPr>
            <a:r>
              <a:rPr lang="en-US" dirty="0"/>
              <a:t>graph representation</a:t>
            </a:r>
          </a:p>
          <a:p>
            <a:pPr>
              <a:buFont typeface="+mj-lt"/>
              <a:buAutoNum type="arabicPeriod"/>
            </a:pPr>
            <a:r>
              <a:rPr lang="en-US" dirty="0"/>
              <a:t>network theory analysis</a:t>
            </a:r>
          </a:p>
          <a:p>
            <a:pPr>
              <a:buFont typeface="+mj-lt"/>
              <a:buAutoNum type="arabicPeriod"/>
            </a:pPr>
            <a:r>
              <a:rPr lang="en-US" dirty="0"/>
              <a:t>graph traversals</a:t>
            </a:r>
          </a:p>
          <a:p>
            <a:pPr>
              <a:buFont typeface="+mj-lt"/>
              <a:buAutoNum type="arabicPeriod"/>
            </a:pPr>
            <a:r>
              <a:rPr lang="en-US" dirty="0"/>
              <a:t>case study</a:t>
            </a:r>
          </a:p>
          <a:p>
            <a:pPr>
              <a:buFont typeface="+mj-lt"/>
              <a:buAutoNum type="arabicPeriod"/>
            </a:pPr>
            <a:r>
              <a:rPr lang="en-US" dirty="0"/>
              <a:t>neighborhood techniques</a:t>
            </a:r>
          </a:p>
        </p:txBody>
      </p:sp>
      <p:sp>
        <p:nvSpPr>
          <p:cNvPr id="3" name="Text Placeholder 3">
            <a:extLst>
              <a:ext uri="{FF2B5EF4-FFF2-40B4-BE49-F238E27FC236}">
                <a16:creationId xmlns:a16="http://schemas.microsoft.com/office/drawing/2014/main" id="{F85F1924-E7B7-D63D-AEF2-560B04790698}"/>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413FD806-1CC4-0C87-6C09-D17118D6EDE4}"/>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1856241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31E6C73-69C3-626A-703D-C93E9FA08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A3134C-4760-3759-3C74-2FD636B87E03}"/>
              </a:ext>
            </a:extLst>
          </p:cNvPr>
          <p:cNvSpPr>
            <a:spLocks noGrp="1"/>
          </p:cNvSpPr>
          <p:nvPr>
            <p:ph type="title"/>
          </p:nvPr>
        </p:nvSpPr>
        <p:spPr>
          <a:xfrm>
            <a:off x="2137171" y="609600"/>
            <a:ext cx="4818330" cy="1320800"/>
          </a:xfrm>
        </p:spPr>
        <p:txBody>
          <a:bodyPr>
            <a:normAutofit/>
          </a:bodyPr>
          <a:lstStyle/>
          <a:p>
            <a:r>
              <a:rPr lang="en-US" dirty="0"/>
              <a:t>Terms Become Precise</a:t>
            </a:r>
          </a:p>
        </p:txBody>
      </p:sp>
      <p:sp>
        <p:nvSpPr>
          <p:cNvPr id="18" name="Isosceles Triangle 17">
            <a:extLst>
              <a:ext uri="{FF2B5EF4-FFF2-40B4-BE49-F238E27FC236}">
                <a16:creationId xmlns:a16="http://schemas.microsoft.com/office/drawing/2014/main" id="{9F8803AC-EE0E-40C2-AD46-FD84FAD82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3187" y="3822970"/>
            <a:ext cx="372084" cy="2918298"/>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5" name="Picture 4">
            <a:extLst>
              <a:ext uri="{FF2B5EF4-FFF2-40B4-BE49-F238E27FC236}">
                <a16:creationId xmlns:a16="http://schemas.microsoft.com/office/drawing/2014/main" id="{0F159658-8254-95D5-AF6E-BB73B6589254}"/>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20" y="1"/>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
        <p:nvSpPr>
          <p:cNvPr id="20" name="Isosceles Triangle 19">
            <a:extLst>
              <a:ext uri="{FF2B5EF4-FFF2-40B4-BE49-F238E27FC236}">
                <a16:creationId xmlns:a16="http://schemas.microsoft.com/office/drawing/2014/main" id="{051A3413-562D-435C-AAE4-56808F0CB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13201"/>
            <a:ext cx="357491" cy="2844800"/>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AAA5EC3E-D19F-3ACB-04EC-D3951C018F0E}"/>
              </a:ext>
            </a:extLst>
          </p:cNvPr>
          <p:cNvSpPr>
            <a:spLocks noGrp="1"/>
          </p:cNvSpPr>
          <p:nvPr>
            <p:ph idx="1"/>
          </p:nvPr>
        </p:nvSpPr>
        <p:spPr>
          <a:xfrm>
            <a:off x="2137171" y="2160589"/>
            <a:ext cx="4818330" cy="3880773"/>
          </a:xfrm>
        </p:spPr>
        <p:txBody>
          <a:bodyPr>
            <a:normAutofit/>
          </a:bodyPr>
          <a:lstStyle/>
          <a:p>
            <a:pPr marL="0" indent="0">
              <a:lnSpc>
                <a:spcPct val="90000"/>
              </a:lnSpc>
              <a:buNone/>
            </a:pPr>
            <a:r>
              <a:rPr lang="en-US" sz="1500"/>
              <a:t>Some familiar words become technical:</a:t>
            </a:r>
          </a:p>
          <a:p>
            <a:pPr>
              <a:lnSpc>
                <a:spcPct val="90000"/>
              </a:lnSpc>
            </a:pPr>
            <a:r>
              <a:rPr lang="en-US" sz="1500"/>
              <a:t>network</a:t>
            </a:r>
          </a:p>
          <a:p>
            <a:pPr>
              <a:lnSpc>
                <a:spcPct val="90000"/>
              </a:lnSpc>
            </a:pPr>
            <a:r>
              <a:rPr lang="en-US" sz="1500"/>
              <a:t>node</a:t>
            </a:r>
          </a:p>
          <a:p>
            <a:pPr>
              <a:lnSpc>
                <a:spcPct val="90000"/>
              </a:lnSpc>
            </a:pPr>
            <a:r>
              <a:rPr lang="en-US" sz="1500"/>
              <a:t>edge</a:t>
            </a:r>
          </a:p>
          <a:p>
            <a:pPr>
              <a:lnSpc>
                <a:spcPct val="90000"/>
              </a:lnSpc>
            </a:pPr>
            <a:r>
              <a:rPr lang="en-US" sz="1500"/>
              <a:t>neighbor</a:t>
            </a:r>
          </a:p>
          <a:p>
            <a:pPr>
              <a:lnSpc>
                <a:spcPct val="90000"/>
              </a:lnSpc>
            </a:pPr>
            <a:r>
              <a:rPr lang="en-US" sz="1500"/>
              <a:t>path</a:t>
            </a:r>
          </a:p>
          <a:p>
            <a:pPr>
              <a:lnSpc>
                <a:spcPct val="90000"/>
              </a:lnSpc>
            </a:pPr>
            <a:r>
              <a:rPr lang="en-US" sz="1500"/>
              <a:t>traversal</a:t>
            </a:r>
          </a:p>
          <a:p>
            <a:pPr>
              <a:lnSpc>
                <a:spcPct val="90000"/>
              </a:lnSpc>
            </a:pPr>
            <a:r>
              <a:rPr lang="en-US" sz="1500"/>
              <a:t>density</a:t>
            </a:r>
          </a:p>
          <a:p>
            <a:pPr>
              <a:lnSpc>
                <a:spcPct val="90000"/>
              </a:lnSpc>
            </a:pPr>
            <a:r>
              <a:rPr lang="en-US" sz="1500"/>
              <a:t>Centrality</a:t>
            </a:r>
          </a:p>
          <a:p>
            <a:pPr marL="0" indent="0">
              <a:lnSpc>
                <a:spcPct val="90000"/>
              </a:lnSpc>
              <a:buNone/>
            </a:pPr>
            <a:endParaRPr lang="en-US" sz="1500"/>
          </a:p>
          <a:p>
            <a:pPr marL="0" indent="0">
              <a:lnSpc>
                <a:spcPct val="90000"/>
              </a:lnSpc>
              <a:buNone/>
            </a:pPr>
            <a:r>
              <a:rPr lang="en-US" sz="1500" i="1"/>
              <a:t>Use the graph meaning during this lesson</a:t>
            </a:r>
          </a:p>
          <a:p>
            <a:pPr>
              <a:lnSpc>
                <a:spcPct val="90000"/>
              </a:lnSpc>
            </a:pPr>
            <a:endParaRPr lang="en-US" sz="1500"/>
          </a:p>
        </p:txBody>
      </p:sp>
      <p:sp>
        <p:nvSpPr>
          <p:cNvPr id="3" name="Text Placeholder 3">
            <a:extLst>
              <a:ext uri="{FF2B5EF4-FFF2-40B4-BE49-F238E27FC236}">
                <a16:creationId xmlns:a16="http://schemas.microsoft.com/office/drawing/2014/main" id="{194C60CC-729C-828E-AEC9-3C7C62A2F892}"/>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1839993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27847-1232-6B3F-A21B-0DCE4E2CDF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0B6E33D-843F-271E-EFF2-47D29CDF655D}"/>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Term Precision</a:t>
            </a:r>
          </a:p>
        </p:txBody>
      </p:sp>
      <p:pic>
        <p:nvPicPr>
          <p:cNvPr id="5" name="Picture Placeholder 4" descr="A two-column infographic compares everyday meanings with graph theory meanings for &quot;Network&quot; and &quot;Neighbor.&quot; The left column uses icons of people and a house to define terms as connected people or someone nearby, while the right column shows node-link diagrams illustrating nodes connected by edges and directly connected nodes, emphasizing how words change meaning in graph context.">
            <a:extLst>
              <a:ext uri="{FF2B5EF4-FFF2-40B4-BE49-F238E27FC236}">
                <a16:creationId xmlns:a16="http://schemas.microsoft.com/office/drawing/2014/main" id="{4E00A114-93BD-6A59-5FAC-C50F4822F1D6}"/>
              </a:ext>
            </a:extLst>
          </p:cNvPr>
          <p:cNvPicPr>
            <a:picLocks noGrp="1" noChangeAspect="1"/>
          </p:cNvPicPr>
          <p:nvPr>
            <p:ph type="pic" idx="1"/>
          </p:nvPr>
        </p:nvPicPr>
        <p:blipFill>
          <a:blip r:embed="rId3"/>
          <a:srcRect l="415" t="582" r="415" b="582"/>
          <a:stretch>
            <a:fillRect/>
          </a:stretch>
        </p:blipFill>
        <p:spPr>
          <a:xfrm>
            <a:off x="609599" y="609599"/>
            <a:ext cx="6347714" cy="4066903"/>
          </a:xfrm>
          <a:prstGeom prst="rect">
            <a:avLst/>
          </a:prstGeom>
        </p:spPr>
      </p:pic>
    </p:spTree>
    <p:extLst>
      <p:ext uri="{BB962C8B-B14F-4D97-AF65-F5344CB8AC3E}">
        <p14:creationId xmlns:p14="http://schemas.microsoft.com/office/powerpoint/2010/main" val="3896686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76683-8763-5136-F09A-34982B5E5A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4F69EC-9B12-2FC5-7522-828B6FE97041}"/>
              </a:ext>
            </a:extLst>
          </p:cNvPr>
          <p:cNvSpPr>
            <a:spLocks noGrp="1"/>
          </p:cNvSpPr>
          <p:nvPr>
            <p:ph type="title"/>
          </p:nvPr>
        </p:nvSpPr>
        <p:spPr>
          <a:xfrm>
            <a:off x="2089535" y="1189369"/>
            <a:ext cx="4865966" cy="745462"/>
          </a:xfrm>
        </p:spPr>
        <p:txBody>
          <a:bodyPr>
            <a:normAutofit fontScale="90000"/>
          </a:bodyPr>
          <a:lstStyle/>
          <a:p>
            <a:r>
              <a:rPr lang="en-US" dirty="0"/>
              <a:t>Do Not Panic Over Formulas</a:t>
            </a:r>
          </a:p>
        </p:txBody>
      </p:sp>
      <p:sp>
        <p:nvSpPr>
          <p:cNvPr id="13" name="Content Placeholder 2">
            <a:extLst>
              <a:ext uri="{FF2B5EF4-FFF2-40B4-BE49-F238E27FC236}">
                <a16:creationId xmlns:a16="http://schemas.microsoft.com/office/drawing/2014/main" id="{84BE774A-F1AC-EE54-3028-2DD5B62B82B1}"/>
              </a:ext>
            </a:extLst>
          </p:cNvPr>
          <p:cNvSpPr>
            <a:spLocks noGrp="1"/>
          </p:cNvSpPr>
          <p:nvPr>
            <p:ph idx="1"/>
          </p:nvPr>
        </p:nvSpPr>
        <p:spPr>
          <a:xfrm>
            <a:off x="2089534" y="2560320"/>
            <a:ext cx="5225665" cy="3481042"/>
          </a:xfrm>
        </p:spPr>
        <p:txBody>
          <a:bodyPr>
            <a:normAutofit/>
          </a:bodyPr>
          <a:lstStyle/>
          <a:p>
            <a:pPr marL="0" indent="0">
              <a:buNone/>
            </a:pPr>
            <a:r>
              <a:rPr lang="en-US" dirty="0"/>
              <a:t>The reading includes advanced graph formulas.</a:t>
            </a:r>
          </a:p>
          <a:p>
            <a:pPr marL="0" indent="0">
              <a:buNone/>
            </a:pPr>
            <a:endParaRPr lang="en-US" dirty="0"/>
          </a:p>
          <a:p>
            <a:pPr marL="0" indent="0">
              <a:buNone/>
            </a:pPr>
            <a:r>
              <a:rPr lang="en-US" dirty="0"/>
              <a:t>For this week:</a:t>
            </a:r>
          </a:p>
          <a:p>
            <a:r>
              <a:rPr lang="en-US" dirty="0"/>
              <a:t>notice the term</a:t>
            </a:r>
          </a:p>
          <a:p>
            <a:r>
              <a:rPr lang="en-US" dirty="0"/>
              <a:t>read for the idea</a:t>
            </a:r>
          </a:p>
          <a:p>
            <a:r>
              <a:rPr lang="en-US" dirty="0"/>
              <a:t>connect it to a simple graph</a:t>
            </a:r>
          </a:p>
          <a:p>
            <a:r>
              <a:rPr lang="en-US" dirty="0"/>
              <a:t>do not try to master every formula</a:t>
            </a:r>
          </a:p>
        </p:txBody>
      </p:sp>
      <p:sp>
        <p:nvSpPr>
          <p:cNvPr id="3" name="Text Placeholder 3">
            <a:extLst>
              <a:ext uri="{FF2B5EF4-FFF2-40B4-BE49-F238E27FC236}">
                <a16:creationId xmlns:a16="http://schemas.microsoft.com/office/drawing/2014/main" id="{5A7D9317-CF3D-3788-F156-4041D394C845}"/>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D637E3F4-8EB5-86D8-7957-0B35EDA4DDB1}"/>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5443"/>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41876089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3D359-B816-7BDC-B7AC-A046476DBE8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D78666A-29B2-7C3F-DFB7-688BB640E3EC}"/>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Formula Posture</a:t>
            </a:r>
          </a:p>
        </p:txBody>
      </p:sp>
      <p:pic>
        <p:nvPicPr>
          <p:cNvPr id="5" name="Picture Placeholder 4" descr="Diagram showing a comparison between advanced mathematical references and a simple graph with 5 labeled nodes (A, B, C, D, E) and 6 edges connecting them. Node C is highlighted in green with emphasis marks, illustrating focus on building intuition with basic nodes and edges before using complex formulas.">
            <a:extLst>
              <a:ext uri="{FF2B5EF4-FFF2-40B4-BE49-F238E27FC236}">
                <a16:creationId xmlns:a16="http://schemas.microsoft.com/office/drawing/2014/main" id="{ED615ACC-1AFF-570A-767F-F77279A24154}"/>
              </a:ext>
            </a:extLst>
          </p:cNvPr>
          <p:cNvPicPr>
            <a:picLocks noGrp="1" noChangeAspect="1"/>
          </p:cNvPicPr>
          <p:nvPr>
            <p:ph type="pic" idx="1"/>
          </p:nvPr>
        </p:nvPicPr>
        <p:blipFill>
          <a:blip r:embed="rId3"/>
          <a:srcRect l="-304" t="3270" r="-304" b="3270"/>
          <a:stretch>
            <a:fillRect/>
          </a:stretch>
        </p:blipFill>
        <p:spPr>
          <a:xfrm>
            <a:off x="609599" y="609599"/>
            <a:ext cx="6347714" cy="4132217"/>
          </a:xfrm>
          <a:prstGeom prst="rect">
            <a:avLst/>
          </a:prstGeom>
        </p:spPr>
      </p:pic>
    </p:spTree>
    <p:extLst>
      <p:ext uri="{BB962C8B-B14F-4D97-AF65-F5344CB8AC3E}">
        <p14:creationId xmlns:p14="http://schemas.microsoft.com/office/powerpoint/2010/main" val="12534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8DF8E-B1DD-B1BC-075D-95460127A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2999F-3EAB-232E-C8C7-ED8C95290080}"/>
              </a:ext>
            </a:extLst>
          </p:cNvPr>
          <p:cNvSpPr>
            <a:spLocks noGrp="1"/>
          </p:cNvSpPr>
          <p:nvPr>
            <p:ph type="title"/>
          </p:nvPr>
        </p:nvSpPr>
        <p:spPr>
          <a:xfrm>
            <a:off x="2089535" y="1189369"/>
            <a:ext cx="4865966" cy="745462"/>
          </a:xfrm>
        </p:spPr>
        <p:txBody>
          <a:bodyPr>
            <a:normAutofit/>
          </a:bodyPr>
          <a:lstStyle/>
          <a:p>
            <a:r>
              <a:rPr lang="en-US" dirty="0"/>
              <a:t>Graph Basics</a:t>
            </a:r>
          </a:p>
        </p:txBody>
      </p:sp>
      <p:sp>
        <p:nvSpPr>
          <p:cNvPr id="13" name="Content Placeholder 2">
            <a:extLst>
              <a:ext uri="{FF2B5EF4-FFF2-40B4-BE49-F238E27FC236}">
                <a16:creationId xmlns:a16="http://schemas.microsoft.com/office/drawing/2014/main" id="{D16E0CB7-C07A-F4E1-24EF-BE44ED236581}"/>
              </a:ext>
            </a:extLst>
          </p:cNvPr>
          <p:cNvSpPr>
            <a:spLocks noGrp="1"/>
          </p:cNvSpPr>
          <p:nvPr>
            <p:ph idx="1"/>
          </p:nvPr>
        </p:nvSpPr>
        <p:spPr>
          <a:xfrm>
            <a:off x="2089535" y="2160589"/>
            <a:ext cx="4865966" cy="3880773"/>
          </a:xfrm>
        </p:spPr>
        <p:txBody>
          <a:bodyPr>
            <a:normAutofit/>
          </a:bodyPr>
          <a:lstStyle/>
          <a:p>
            <a:pPr marL="0" indent="0">
              <a:buNone/>
            </a:pPr>
            <a:r>
              <a:rPr lang="en-US" dirty="0"/>
              <a:t>Core graph pieces:</a:t>
            </a:r>
          </a:p>
          <a:p>
            <a:pPr marL="0" indent="0">
              <a:buNone/>
            </a:pPr>
            <a:endParaRPr lang="en-US" dirty="0"/>
          </a:p>
          <a:p>
            <a:r>
              <a:rPr lang="en-US" dirty="0"/>
              <a:t>vertices or nodes</a:t>
            </a:r>
          </a:p>
          <a:p>
            <a:r>
              <a:rPr lang="en-US" dirty="0"/>
              <a:t>edges or links</a:t>
            </a:r>
          </a:p>
          <a:p>
            <a:r>
              <a:rPr lang="en-US" dirty="0"/>
              <a:t>network structure</a:t>
            </a:r>
          </a:p>
          <a:p>
            <a:r>
              <a:rPr lang="en-US" dirty="0"/>
              <a:t>simple, directed, undirected, weighted types</a:t>
            </a:r>
          </a:p>
        </p:txBody>
      </p:sp>
      <p:sp>
        <p:nvSpPr>
          <p:cNvPr id="3" name="Text Placeholder 3">
            <a:extLst>
              <a:ext uri="{FF2B5EF4-FFF2-40B4-BE49-F238E27FC236}">
                <a16:creationId xmlns:a16="http://schemas.microsoft.com/office/drawing/2014/main" id="{70FC0EB8-3F9C-9CBA-3365-2E79D1E59E48}"/>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9AC8B239-BEAD-6646-7C86-311044A68C30}"/>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5443"/>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1213646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F64D2-B57A-C71F-C5A8-DBAD55E80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68FD45-C20A-018C-E024-44DC95B3A252}"/>
              </a:ext>
            </a:extLst>
          </p:cNvPr>
          <p:cNvSpPr>
            <a:spLocks noGrp="1"/>
          </p:cNvSpPr>
          <p:nvPr>
            <p:ph type="title"/>
          </p:nvPr>
        </p:nvSpPr>
        <p:spPr>
          <a:xfrm>
            <a:off x="2089535" y="1189369"/>
            <a:ext cx="4865966" cy="745462"/>
          </a:xfrm>
        </p:spPr>
        <p:txBody>
          <a:bodyPr>
            <a:normAutofit/>
          </a:bodyPr>
          <a:lstStyle/>
          <a:p>
            <a:r>
              <a:rPr lang="en-US" dirty="0"/>
              <a:t>Neighborhoods</a:t>
            </a:r>
          </a:p>
        </p:txBody>
      </p:sp>
      <p:sp>
        <p:nvSpPr>
          <p:cNvPr id="13" name="Content Placeholder 2">
            <a:extLst>
              <a:ext uri="{FF2B5EF4-FFF2-40B4-BE49-F238E27FC236}">
                <a16:creationId xmlns:a16="http://schemas.microsoft.com/office/drawing/2014/main" id="{24BE4F48-B87D-1E28-8FE1-391385CDC441}"/>
              </a:ext>
            </a:extLst>
          </p:cNvPr>
          <p:cNvSpPr>
            <a:spLocks noGrp="1"/>
          </p:cNvSpPr>
          <p:nvPr>
            <p:ph idx="1"/>
          </p:nvPr>
        </p:nvSpPr>
        <p:spPr>
          <a:xfrm>
            <a:off x="2089535" y="2160589"/>
            <a:ext cx="4865966" cy="3880773"/>
          </a:xfrm>
        </p:spPr>
        <p:txBody>
          <a:bodyPr>
            <a:normAutofit/>
          </a:bodyPr>
          <a:lstStyle/>
          <a:p>
            <a:pPr marL="0" indent="0">
              <a:buNone/>
            </a:pPr>
            <a:r>
              <a:rPr lang="en-US" dirty="0"/>
              <a:t>A neighborhood asks:</a:t>
            </a:r>
          </a:p>
          <a:p>
            <a:r>
              <a:rPr lang="en-US" dirty="0"/>
              <a:t>What is directly connected?</a:t>
            </a:r>
          </a:p>
          <a:p>
            <a:r>
              <a:rPr lang="en-US" dirty="0"/>
              <a:t>What is one hop away?</a:t>
            </a:r>
          </a:p>
          <a:p>
            <a:r>
              <a:rPr lang="en-US" dirty="0"/>
              <a:t>What is two hops away?</a:t>
            </a:r>
          </a:p>
          <a:p>
            <a:r>
              <a:rPr lang="en-US" dirty="0"/>
              <a:t>What can be reached from here?</a:t>
            </a:r>
          </a:p>
        </p:txBody>
      </p:sp>
      <p:sp>
        <p:nvSpPr>
          <p:cNvPr id="3" name="Text Placeholder 3">
            <a:extLst>
              <a:ext uri="{FF2B5EF4-FFF2-40B4-BE49-F238E27FC236}">
                <a16:creationId xmlns:a16="http://schemas.microsoft.com/office/drawing/2014/main" id="{2D2DAD19-04C8-198E-11E9-7F596742B4B5}"/>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9A23EA6A-25E4-48F5-D120-0615998CA918}"/>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5443"/>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2883272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7F407-5106-1C84-B476-96914299AA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59AC4C-9906-F9C1-70F5-77B18D807F8E}"/>
              </a:ext>
            </a:extLst>
          </p:cNvPr>
          <p:cNvSpPr>
            <a:spLocks noGrp="1"/>
          </p:cNvSpPr>
          <p:nvPr>
            <p:ph type="title"/>
          </p:nvPr>
        </p:nvSpPr>
        <p:spPr>
          <a:xfrm>
            <a:off x="2089535" y="1189369"/>
            <a:ext cx="4865966" cy="745462"/>
          </a:xfrm>
        </p:spPr>
        <p:txBody>
          <a:bodyPr>
            <a:normAutofit/>
          </a:bodyPr>
          <a:lstStyle/>
          <a:p>
            <a:r>
              <a:rPr lang="en-US" dirty="0"/>
              <a:t>Traversals</a:t>
            </a:r>
          </a:p>
        </p:txBody>
      </p:sp>
      <p:sp>
        <p:nvSpPr>
          <p:cNvPr id="13" name="Content Placeholder 2">
            <a:extLst>
              <a:ext uri="{FF2B5EF4-FFF2-40B4-BE49-F238E27FC236}">
                <a16:creationId xmlns:a16="http://schemas.microsoft.com/office/drawing/2014/main" id="{6EC6C301-3A6B-C0F4-A21D-740BC375536A}"/>
              </a:ext>
            </a:extLst>
          </p:cNvPr>
          <p:cNvSpPr>
            <a:spLocks noGrp="1"/>
          </p:cNvSpPr>
          <p:nvPr>
            <p:ph idx="1"/>
          </p:nvPr>
        </p:nvSpPr>
        <p:spPr>
          <a:xfrm>
            <a:off x="2089535" y="2160589"/>
            <a:ext cx="4865966" cy="3880773"/>
          </a:xfrm>
        </p:spPr>
        <p:txBody>
          <a:bodyPr>
            <a:normAutofit/>
          </a:bodyPr>
          <a:lstStyle/>
          <a:p>
            <a:pPr marL="0" indent="0">
              <a:buNone/>
            </a:pPr>
            <a:r>
              <a:rPr lang="en-US" dirty="0"/>
              <a:t>The reading introduces:</a:t>
            </a:r>
          </a:p>
          <a:p>
            <a:pPr marL="0" indent="0">
              <a:buNone/>
            </a:pPr>
            <a:endParaRPr lang="en-US" dirty="0"/>
          </a:p>
          <a:p>
            <a:r>
              <a:rPr lang="en-US" dirty="0"/>
              <a:t>breadth-first search (BFS)</a:t>
            </a:r>
          </a:p>
          <a:p>
            <a:r>
              <a:rPr lang="en-US" dirty="0"/>
              <a:t>depth-first search (DFS)</a:t>
            </a:r>
          </a:p>
          <a:p>
            <a:r>
              <a:rPr lang="en-US" dirty="0"/>
              <a:t>traversal order</a:t>
            </a:r>
          </a:p>
          <a:p>
            <a:r>
              <a:rPr lang="en-US" dirty="0"/>
              <a:t>specific searches using traversal</a:t>
            </a:r>
          </a:p>
        </p:txBody>
      </p:sp>
      <p:sp>
        <p:nvSpPr>
          <p:cNvPr id="3" name="Text Placeholder 3">
            <a:extLst>
              <a:ext uri="{FF2B5EF4-FFF2-40B4-BE49-F238E27FC236}">
                <a16:creationId xmlns:a16="http://schemas.microsoft.com/office/drawing/2014/main" id="{A6C73A1D-7BDC-3142-9CB0-DE0BCAA530D3}"/>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9BBDF9EA-B148-8890-C6D5-A2C8CE098738}"/>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5443"/>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1874394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6" name="Picture 5" descr="Digital business graph and charts">
            <a:extLst>
              <a:ext uri="{FF2B5EF4-FFF2-40B4-BE49-F238E27FC236}">
                <a16:creationId xmlns:a16="http://schemas.microsoft.com/office/drawing/2014/main" id="{1F1D2F87-C015-36EC-96FF-C6BB653D7BE8}"/>
              </a:ext>
            </a:extLst>
          </p:cNvPr>
          <p:cNvPicPr>
            <a:picLocks noChangeAspect="1"/>
          </p:cNvPicPr>
          <p:nvPr/>
        </p:nvPicPr>
        <p:blipFill>
          <a:blip r:embed="rId3">
            <a:duotone>
              <a:prstClr val="black"/>
              <a:prstClr val="white"/>
            </a:duotone>
          </a:blip>
          <a:srcRect l="39291" r="23620" b="1"/>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4" name="Title 3">
            <a:extLst>
              <a:ext uri="{FF2B5EF4-FFF2-40B4-BE49-F238E27FC236}">
                <a16:creationId xmlns:a16="http://schemas.microsoft.com/office/drawing/2014/main" id="{6BFF8A41-8161-7F2E-C384-3F6C3C17B0AD}"/>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dirty="0"/>
              <a:t>Graph Basics and Representation</a:t>
            </a:r>
          </a:p>
        </p:txBody>
      </p:sp>
      <p:cxnSp>
        <p:nvCxnSpPr>
          <p:cNvPr id="22" name="Straight Connector 21">
            <a:extLst>
              <a:ext uri="{FF2B5EF4-FFF2-40B4-BE49-F238E27FC236}">
                <a16:creationId xmlns:a16="http://schemas.microsoft.com/office/drawing/2014/main" id="{A3D2D849-17D8-45A4-9FB8-B955CD22BD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A0A4A95-757B-4092-A077-CA7C3ADE49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2D2FAE71-B8B1-4745-A59A-A88D3FE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E4C67344-C816-4380-85F7-CCFD7F8BAA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4">
            <a:extLst>
              <a:ext uri="{FF2B5EF4-FFF2-40B4-BE49-F238E27FC236}">
                <a16:creationId xmlns:a16="http://schemas.microsoft.com/office/drawing/2014/main" id="{5A0B04CD-E5BD-4922-BE66-2D5B3A0DEF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7">
            <a:extLst>
              <a:ext uri="{FF2B5EF4-FFF2-40B4-BE49-F238E27FC236}">
                <a16:creationId xmlns:a16="http://schemas.microsoft.com/office/drawing/2014/main" id="{CF4C9BE8-5C78-476D-9042-ECD8BE635E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8">
            <a:extLst>
              <a:ext uri="{FF2B5EF4-FFF2-40B4-BE49-F238E27FC236}">
                <a16:creationId xmlns:a16="http://schemas.microsoft.com/office/drawing/2014/main" id="{7D6A31B3-BF49-4DB2-8306-DD2E4B8897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9">
            <a:extLst>
              <a:ext uri="{FF2B5EF4-FFF2-40B4-BE49-F238E27FC236}">
                <a16:creationId xmlns:a16="http://schemas.microsoft.com/office/drawing/2014/main" id="{A903E87B-DD97-4095-B106-3218D6AF7F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Isosceles Triangle 29">
            <a:extLst>
              <a:ext uri="{FF2B5EF4-FFF2-40B4-BE49-F238E27FC236}">
                <a16:creationId xmlns:a16="http://schemas.microsoft.com/office/drawing/2014/main" id="{954CB26F-45F0-4288-A3B1-32535127B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563714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A75DD1-DAA5-1DA3-15BE-9EB97302F34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6725C6A-9D41-324F-6903-3A94B3BDF76B}"/>
              </a:ext>
            </a:extLst>
          </p:cNvPr>
          <p:cNvSpPr>
            <a:spLocks noGrp="1"/>
          </p:cNvSpPr>
          <p:nvPr>
            <p:ph type="title"/>
          </p:nvPr>
        </p:nvSpPr>
        <p:spPr>
          <a:xfrm>
            <a:off x="4152550" y="609600"/>
            <a:ext cx="2802951" cy="1320800"/>
          </a:xfrm>
        </p:spPr>
        <p:txBody>
          <a:bodyPr>
            <a:normAutofit/>
          </a:bodyPr>
          <a:lstStyle/>
          <a:p>
            <a:r>
              <a:rPr lang="en-US" dirty="0"/>
              <a:t>Node Or Vertex</a:t>
            </a:r>
          </a:p>
        </p:txBody>
      </p:sp>
      <p:sp>
        <p:nvSpPr>
          <p:cNvPr id="5" name="Content Placeholder 4">
            <a:extLst>
              <a:ext uri="{FF2B5EF4-FFF2-40B4-BE49-F238E27FC236}">
                <a16:creationId xmlns:a16="http://schemas.microsoft.com/office/drawing/2014/main" id="{0EBBD972-7D8D-ACBD-E222-EEDEF7C85BEC}"/>
              </a:ext>
            </a:extLst>
          </p:cNvPr>
          <p:cNvSpPr>
            <a:spLocks noGrp="1"/>
          </p:cNvSpPr>
          <p:nvPr>
            <p:ph idx="1"/>
          </p:nvPr>
        </p:nvSpPr>
        <p:spPr>
          <a:xfrm>
            <a:off x="3907172" y="2160589"/>
            <a:ext cx="3048329" cy="3880773"/>
          </a:xfrm>
        </p:spPr>
        <p:txBody>
          <a:bodyPr>
            <a:normAutofit/>
          </a:bodyPr>
          <a:lstStyle/>
          <a:p>
            <a:pPr marL="0" indent="0">
              <a:lnSpc>
                <a:spcPct val="90000"/>
              </a:lnSpc>
              <a:buNone/>
            </a:pPr>
            <a:r>
              <a:rPr lang="en-US" sz="1500"/>
              <a:t>A node is one thing in the graph.</a:t>
            </a:r>
          </a:p>
          <a:p>
            <a:pPr marL="0" indent="0">
              <a:lnSpc>
                <a:spcPct val="90000"/>
              </a:lnSpc>
              <a:buNone/>
            </a:pPr>
            <a:endParaRPr lang="en-US" sz="1500"/>
          </a:p>
          <a:p>
            <a:pPr marL="0" indent="0">
              <a:lnSpc>
                <a:spcPct val="90000"/>
              </a:lnSpc>
              <a:buNone/>
            </a:pPr>
            <a:r>
              <a:rPr lang="en-US" sz="1500"/>
              <a:t>Examples:</a:t>
            </a:r>
          </a:p>
          <a:p>
            <a:pPr>
              <a:lnSpc>
                <a:spcPct val="90000"/>
              </a:lnSpc>
            </a:pPr>
            <a:r>
              <a:rPr lang="en-US" sz="1500"/>
              <a:t>building</a:t>
            </a:r>
          </a:p>
          <a:p>
            <a:pPr>
              <a:lnSpc>
                <a:spcPct val="90000"/>
              </a:lnSpc>
            </a:pPr>
            <a:r>
              <a:rPr lang="en-US" sz="1500"/>
              <a:t>person</a:t>
            </a:r>
          </a:p>
          <a:p>
            <a:pPr>
              <a:lnSpc>
                <a:spcPct val="90000"/>
              </a:lnSpc>
            </a:pPr>
            <a:r>
              <a:rPr lang="en-US" sz="1500"/>
              <a:t>task</a:t>
            </a:r>
          </a:p>
          <a:p>
            <a:pPr>
              <a:lnSpc>
                <a:spcPct val="90000"/>
              </a:lnSpc>
            </a:pPr>
            <a:r>
              <a:rPr lang="en-US" sz="1500"/>
              <a:t>course</a:t>
            </a:r>
          </a:p>
          <a:p>
            <a:pPr>
              <a:lnSpc>
                <a:spcPct val="90000"/>
              </a:lnSpc>
            </a:pPr>
            <a:r>
              <a:rPr lang="en-US" sz="1500"/>
              <a:t>web page</a:t>
            </a:r>
          </a:p>
          <a:p>
            <a:pPr>
              <a:lnSpc>
                <a:spcPct val="90000"/>
              </a:lnSpc>
            </a:pPr>
            <a:r>
              <a:rPr lang="en-US" sz="1500"/>
              <a:t>game room</a:t>
            </a:r>
          </a:p>
          <a:p>
            <a:pPr marL="0" indent="0">
              <a:lnSpc>
                <a:spcPct val="90000"/>
              </a:lnSpc>
              <a:buNone/>
            </a:pPr>
            <a:endParaRPr lang="en-US" sz="1500"/>
          </a:p>
          <a:p>
            <a:pPr marL="0" indent="0">
              <a:lnSpc>
                <a:spcPct val="90000"/>
              </a:lnSpc>
              <a:buNone/>
            </a:pPr>
            <a:r>
              <a:rPr lang="en-US" sz="1500" i="1"/>
              <a:t>Vertex</a:t>
            </a:r>
            <a:r>
              <a:rPr lang="en-US" sz="1500"/>
              <a:t> is another term for </a:t>
            </a:r>
            <a:r>
              <a:rPr lang="en-US" sz="1500" i="1"/>
              <a:t>node</a:t>
            </a:r>
            <a:r>
              <a:rPr lang="en-US" sz="1500"/>
              <a:t>.</a:t>
            </a:r>
          </a:p>
        </p:txBody>
      </p:sp>
      <p:pic>
        <p:nvPicPr>
          <p:cNvPr id="13" name="Picture 12" descr="Pins pinned on a white surface and connecting a black thread">
            <a:extLst>
              <a:ext uri="{FF2B5EF4-FFF2-40B4-BE49-F238E27FC236}">
                <a16:creationId xmlns:a16="http://schemas.microsoft.com/office/drawing/2014/main" id="{D47EF8C1-FFC0-E690-A44C-BC893415C5BC}"/>
              </a:ext>
            </a:extLst>
          </p:cNvPr>
          <p:cNvPicPr>
            <a:picLocks noChangeAspect="1"/>
          </p:cNvPicPr>
          <p:nvPr/>
        </p:nvPicPr>
        <p:blipFill>
          <a:blip r:embed="rId3"/>
          <a:srcRect l="14651" r="45966"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9" name="Isosceles Triangle 1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406345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A7A678-0D7F-4245-50C7-0BFD11A4F7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A7A5B5D-DBDF-F731-EA70-088C7061DC32}"/>
              </a:ext>
            </a:extLst>
          </p:cNvPr>
          <p:cNvSpPr>
            <a:spLocks noGrp="1"/>
          </p:cNvSpPr>
          <p:nvPr>
            <p:ph type="title"/>
          </p:nvPr>
        </p:nvSpPr>
        <p:spPr>
          <a:xfrm>
            <a:off x="4152550" y="609600"/>
            <a:ext cx="2802951" cy="1320800"/>
          </a:xfrm>
        </p:spPr>
        <p:txBody>
          <a:bodyPr>
            <a:normAutofit/>
          </a:bodyPr>
          <a:lstStyle/>
          <a:p>
            <a:r>
              <a:rPr lang="en-US" dirty="0"/>
              <a:t>Edge Or Link</a:t>
            </a:r>
          </a:p>
        </p:txBody>
      </p:sp>
      <p:sp>
        <p:nvSpPr>
          <p:cNvPr id="5" name="Content Placeholder 4">
            <a:extLst>
              <a:ext uri="{FF2B5EF4-FFF2-40B4-BE49-F238E27FC236}">
                <a16:creationId xmlns:a16="http://schemas.microsoft.com/office/drawing/2014/main" id="{DC2E5BC5-034A-741F-3609-72EC57C1E88F}"/>
              </a:ext>
            </a:extLst>
          </p:cNvPr>
          <p:cNvSpPr>
            <a:spLocks noGrp="1"/>
          </p:cNvSpPr>
          <p:nvPr>
            <p:ph idx="1"/>
          </p:nvPr>
        </p:nvSpPr>
        <p:spPr>
          <a:xfrm>
            <a:off x="3907172" y="2160589"/>
            <a:ext cx="3486405" cy="3880773"/>
          </a:xfrm>
        </p:spPr>
        <p:txBody>
          <a:bodyPr>
            <a:normAutofit/>
          </a:bodyPr>
          <a:lstStyle/>
          <a:p>
            <a:pPr marL="0" indent="0">
              <a:buNone/>
            </a:pPr>
            <a:r>
              <a:rPr lang="en-US" dirty="0"/>
              <a:t>An edge is a connection between nodes.</a:t>
            </a:r>
          </a:p>
          <a:p>
            <a:pPr marL="0" indent="0">
              <a:buNone/>
            </a:pPr>
            <a:r>
              <a:rPr lang="en-US" dirty="0"/>
              <a:t>Examples:</a:t>
            </a:r>
          </a:p>
          <a:p>
            <a:r>
              <a:rPr lang="en-US" dirty="0"/>
              <a:t>sidewalk between buildings</a:t>
            </a:r>
          </a:p>
          <a:p>
            <a:r>
              <a:rPr lang="en-US" dirty="0"/>
              <a:t>prerequisite relationship</a:t>
            </a:r>
          </a:p>
          <a:p>
            <a:r>
              <a:rPr lang="en-US" dirty="0"/>
              <a:t>communication link</a:t>
            </a:r>
          </a:p>
          <a:p>
            <a:r>
              <a:rPr lang="en-US" dirty="0"/>
              <a:t>workflow transition</a:t>
            </a:r>
          </a:p>
          <a:p>
            <a:r>
              <a:rPr lang="en-US" dirty="0"/>
              <a:t>door between rooms</a:t>
            </a:r>
          </a:p>
        </p:txBody>
      </p:sp>
      <p:pic>
        <p:nvPicPr>
          <p:cNvPr id="7" name="Picture 6" descr="Photograph of a close-up section of a metal chain link in black and white. Focus highlights texture and reflections on the chain, with a blurred background creating depth and emphasizing strength and connection.">
            <a:extLst>
              <a:ext uri="{FF2B5EF4-FFF2-40B4-BE49-F238E27FC236}">
                <a16:creationId xmlns:a16="http://schemas.microsoft.com/office/drawing/2014/main" id="{9D47CA01-4340-D52B-DBC4-15A71836EBEA}"/>
              </a:ext>
            </a:extLst>
          </p:cNvPr>
          <p:cNvPicPr>
            <a:picLocks noChangeAspect="1"/>
          </p:cNvPicPr>
          <p:nvPr/>
        </p:nvPicPr>
        <p:blipFill>
          <a:blip r:embed="rId3"/>
          <a:srcRect l="21518" r="39099"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6" name="Isosceles Triangle 15">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70058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5AC81C2-D82B-C581-310F-59304A49914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FA917F-95AD-2D1B-A152-98AE3FF87A34}"/>
              </a:ext>
            </a:extLst>
          </p:cNvPr>
          <p:cNvSpPr>
            <a:spLocks noGrp="1"/>
          </p:cNvSpPr>
          <p:nvPr>
            <p:ph type="title"/>
          </p:nvPr>
        </p:nvSpPr>
        <p:spPr>
          <a:xfrm>
            <a:off x="4152550" y="609600"/>
            <a:ext cx="2802951" cy="1320800"/>
          </a:xfrm>
        </p:spPr>
        <p:txBody>
          <a:bodyPr>
            <a:normAutofit/>
          </a:bodyPr>
          <a:lstStyle/>
          <a:p>
            <a:r>
              <a:rPr lang="en-US" dirty="0"/>
              <a:t>Network</a:t>
            </a:r>
          </a:p>
        </p:txBody>
      </p:sp>
      <p:sp>
        <p:nvSpPr>
          <p:cNvPr id="5" name="Content Placeholder 4">
            <a:extLst>
              <a:ext uri="{FF2B5EF4-FFF2-40B4-BE49-F238E27FC236}">
                <a16:creationId xmlns:a16="http://schemas.microsoft.com/office/drawing/2014/main" id="{D0E37ACA-E701-46B2-163F-89BC0FCB206D}"/>
              </a:ext>
            </a:extLst>
          </p:cNvPr>
          <p:cNvSpPr>
            <a:spLocks noGrp="1"/>
          </p:cNvSpPr>
          <p:nvPr>
            <p:ph idx="1"/>
          </p:nvPr>
        </p:nvSpPr>
        <p:spPr>
          <a:xfrm>
            <a:off x="3907172" y="2160589"/>
            <a:ext cx="3486405" cy="3880773"/>
          </a:xfrm>
        </p:spPr>
        <p:txBody>
          <a:bodyPr>
            <a:normAutofit/>
          </a:bodyPr>
          <a:lstStyle/>
          <a:p>
            <a:pPr marL="0" indent="0">
              <a:buNone/>
            </a:pPr>
            <a:r>
              <a:rPr lang="en-US" dirty="0"/>
              <a:t>In graph work, a network means:</a:t>
            </a:r>
          </a:p>
          <a:p>
            <a:r>
              <a:rPr lang="en-US" dirty="0"/>
              <a:t>defined nodes</a:t>
            </a:r>
          </a:p>
          <a:p>
            <a:r>
              <a:rPr lang="en-US" dirty="0"/>
              <a:t>defined edges</a:t>
            </a:r>
          </a:p>
          <a:p>
            <a:r>
              <a:rPr lang="en-US" dirty="0"/>
              <a:t>a model of relationships</a:t>
            </a:r>
          </a:p>
          <a:p>
            <a:pPr marL="0" indent="0">
              <a:buNone/>
            </a:pPr>
            <a:endParaRPr lang="en-US" dirty="0"/>
          </a:p>
          <a:p>
            <a:pPr marL="0" indent="0">
              <a:buNone/>
            </a:pPr>
            <a:r>
              <a:rPr lang="en-US" dirty="0"/>
              <a:t>It does not mean "everything about the real system."</a:t>
            </a:r>
          </a:p>
        </p:txBody>
      </p:sp>
      <p:pic>
        <p:nvPicPr>
          <p:cNvPr id="7" name="Picture 6" descr="3D digital diagram showing a grid structure composed of intersecting green lines and blue spheres at intersections, representing a lattice or network model. The design highlights spatial relationships and connectivity within a cubic framework, with vertical and horizontal lines forming multiple layers.">
            <a:extLst>
              <a:ext uri="{FF2B5EF4-FFF2-40B4-BE49-F238E27FC236}">
                <a16:creationId xmlns:a16="http://schemas.microsoft.com/office/drawing/2014/main" id="{89DBF08B-2E35-EC1F-29DD-DC882082247B}"/>
              </a:ext>
              <a:ext uri="{C183D7F6-B498-43B3-948B-1728B52AA6E4}">
                <adec:decorative xmlns:adec="http://schemas.microsoft.com/office/drawing/2017/decorative" val="0"/>
              </a:ext>
            </a:extLst>
          </p:cNvPr>
          <p:cNvPicPr>
            <a:picLocks noChangeAspect="1"/>
          </p:cNvPicPr>
          <p:nvPr/>
        </p:nvPicPr>
        <p:blipFill>
          <a:blip r:embed="rId3"/>
          <a:srcRect l="23396" r="19081"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9832810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C10614-408C-98F8-98F7-A645C956DE1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E4F7C3-CAB8-8C38-C090-ACF99514065A}"/>
              </a:ext>
            </a:extLst>
          </p:cNvPr>
          <p:cNvSpPr>
            <a:spLocks noGrp="1"/>
          </p:cNvSpPr>
          <p:nvPr>
            <p:ph type="title"/>
          </p:nvPr>
        </p:nvSpPr>
        <p:spPr>
          <a:xfrm>
            <a:off x="4152550" y="609600"/>
            <a:ext cx="2802951" cy="1320800"/>
          </a:xfrm>
        </p:spPr>
        <p:txBody>
          <a:bodyPr>
            <a:normAutofit/>
          </a:bodyPr>
          <a:lstStyle/>
          <a:p>
            <a:r>
              <a:rPr lang="en-US" dirty="0"/>
              <a:t>Simple Graph</a:t>
            </a:r>
          </a:p>
        </p:txBody>
      </p:sp>
      <p:sp>
        <p:nvSpPr>
          <p:cNvPr id="5" name="Content Placeholder 4">
            <a:extLst>
              <a:ext uri="{FF2B5EF4-FFF2-40B4-BE49-F238E27FC236}">
                <a16:creationId xmlns:a16="http://schemas.microsoft.com/office/drawing/2014/main" id="{7E23C580-5BFD-0DE0-BA22-424BD7EB05CD}"/>
              </a:ext>
            </a:extLst>
          </p:cNvPr>
          <p:cNvSpPr>
            <a:spLocks noGrp="1"/>
          </p:cNvSpPr>
          <p:nvPr>
            <p:ph idx="1"/>
          </p:nvPr>
        </p:nvSpPr>
        <p:spPr>
          <a:xfrm>
            <a:off x="3907172" y="2160589"/>
            <a:ext cx="3048329" cy="3880773"/>
          </a:xfrm>
        </p:spPr>
        <p:txBody>
          <a:bodyPr>
            <a:normAutofit/>
          </a:bodyPr>
          <a:lstStyle/>
          <a:p>
            <a:pPr marL="0" indent="0">
              <a:buNone/>
            </a:pPr>
            <a:r>
              <a:rPr lang="en-US" dirty="0"/>
              <a:t>A simple graph usually avoids:</a:t>
            </a:r>
          </a:p>
          <a:p>
            <a:r>
              <a:rPr lang="en-US" dirty="0"/>
              <a:t>duplicate edges</a:t>
            </a:r>
          </a:p>
          <a:p>
            <a:r>
              <a:rPr lang="en-US" dirty="0"/>
              <a:t>self-loops</a:t>
            </a:r>
          </a:p>
          <a:p>
            <a:r>
              <a:rPr lang="en-US" dirty="0"/>
              <a:t>extra edge complexity</a:t>
            </a:r>
          </a:p>
          <a:p>
            <a:pPr marL="0" indent="0">
              <a:buNone/>
            </a:pPr>
            <a:endParaRPr lang="en-US" dirty="0"/>
          </a:p>
          <a:p>
            <a:pPr marL="0" indent="0">
              <a:buNone/>
            </a:pPr>
            <a:r>
              <a:rPr lang="en-US" dirty="0"/>
              <a:t>It is often a good beginner model.</a:t>
            </a:r>
          </a:p>
        </p:txBody>
      </p:sp>
      <p:pic>
        <p:nvPicPr>
          <p:cNvPr id="7" name="Picture 6" descr="Yellow paper folded as graph">
            <a:extLst>
              <a:ext uri="{FF2B5EF4-FFF2-40B4-BE49-F238E27FC236}">
                <a16:creationId xmlns:a16="http://schemas.microsoft.com/office/drawing/2014/main" id="{F2D04DFD-6438-2255-1D54-C6B27417876E}"/>
              </a:ext>
            </a:extLst>
          </p:cNvPr>
          <p:cNvPicPr>
            <a:picLocks noChangeAspect="1"/>
          </p:cNvPicPr>
          <p:nvPr/>
        </p:nvPicPr>
        <p:blipFill>
          <a:blip r:embed="rId3"/>
          <a:srcRect l="31153" r="29464"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143483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5E655B-D43B-008F-E4B9-B7CE4B9E98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484B6C-B7BE-1E34-635A-0A5BB7D55836}"/>
              </a:ext>
            </a:extLst>
          </p:cNvPr>
          <p:cNvSpPr>
            <a:spLocks noGrp="1"/>
          </p:cNvSpPr>
          <p:nvPr>
            <p:ph type="title"/>
          </p:nvPr>
        </p:nvSpPr>
        <p:spPr>
          <a:xfrm>
            <a:off x="4152550" y="609600"/>
            <a:ext cx="2802951" cy="1320800"/>
          </a:xfrm>
        </p:spPr>
        <p:txBody>
          <a:bodyPr>
            <a:normAutofit/>
          </a:bodyPr>
          <a:lstStyle/>
          <a:p>
            <a:r>
              <a:rPr lang="en-US" dirty="0"/>
              <a:t>Directed Graph</a:t>
            </a:r>
          </a:p>
        </p:txBody>
      </p:sp>
      <p:sp>
        <p:nvSpPr>
          <p:cNvPr id="5" name="Content Placeholder 4">
            <a:extLst>
              <a:ext uri="{FF2B5EF4-FFF2-40B4-BE49-F238E27FC236}">
                <a16:creationId xmlns:a16="http://schemas.microsoft.com/office/drawing/2014/main" id="{01D8EA6B-8F08-D6BA-49F4-28E077DBC5B9}"/>
              </a:ext>
            </a:extLst>
          </p:cNvPr>
          <p:cNvSpPr>
            <a:spLocks noGrp="1"/>
          </p:cNvSpPr>
          <p:nvPr>
            <p:ph idx="1"/>
          </p:nvPr>
        </p:nvSpPr>
        <p:spPr>
          <a:xfrm>
            <a:off x="3907172" y="2160589"/>
            <a:ext cx="3048329" cy="3880773"/>
          </a:xfrm>
        </p:spPr>
        <p:txBody>
          <a:bodyPr>
            <a:normAutofit fontScale="92500" lnSpcReduction="10000"/>
          </a:bodyPr>
          <a:lstStyle/>
          <a:p>
            <a:pPr marL="0" indent="0">
              <a:buNone/>
            </a:pPr>
            <a:r>
              <a:rPr lang="en-US" dirty="0"/>
              <a:t>A directed graph has one-way relationships.</a:t>
            </a:r>
          </a:p>
          <a:p>
            <a:pPr marL="0" indent="0">
              <a:buNone/>
            </a:pPr>
            <a:endParaRPr lang="en-US" dirty="0"/>
          </a:p>
          <a:p>
            <a:pPr marL="0" indent="0">
              <a:buNone/>
            </a:pPr>
            <a:r>
              <a:rPr lang="en-US" dirty="0"/>
              <a:t>Examples:</a:t>
            </a:r>
          </a:p>
          <a:p>
            <a:r>
              <a:rPr lang="en-US" dirty="0"/>
              <a:t>course prerequisite</a:t>
            </a:r>
          </a:p>
          <a:p>
            <a:r>
              <a:rPr lang="en-US" dirty="0"/>
              <a:t>workflow step</a:t>
            </a:r>
          </a:p>
          <a:p>
            <a:r>
              <a:rPr lang="en-US" dirty="0"/>
              <a:t>escalation path</a:t>
            </a:r>
          </a:p>
          <a:p>
            <a:r>
              <a:rPr lang="en-US" dirty="0"/>
              <a:t>one-way route</a:t>
            </a:r>
          </a:p>
          <a:p>
            <a:pPr marL="0" indent="0">
              <a:buNone/>
            </a:pPr>
            <a:endParaRPr lang="en-US" dirty="0"/>
          </a:p>
          <a:p>
            <a:pPr marL="0" indent="0">
              <a:buNone/>
            </a:pPr>
            <a:r>
              <a:rPr lang="en-US" dirty="0"/>
              <a:t>Direction changes what can be reached.</a:t>
            </a:r>
          </a:p>
        </p:txBody>
      </p:sp>
      <p:pic>
        <p:nvPicPr>
          <p:cNvPr id="7" name="Picture 6" descr="Financial graphs on a dark display">
            <a:extLst>
              <a:ext uri="{FF2B5EF4-FFF2-40B4-BE49-F238E27FC236}">
                <a16:creationId xmlns:a16="http://schemas.microsoft.com/office/drawing/2014/main" id="{23286472-6C16-1D05-F42A-01F352823F66}"/>
              </a:ext>
            </a:extLst>
          </p:cNvPr>
          <p:cNvPicPr>
            <a:picLocks noChangeAspect="1"/>
          </p:cNvPicPr>
          <p:nvPr/>
        </p:nvPicPr>
        <p:blipFill>
          <a:blip r:embed="rId3"/>
          <a:srcRect l="28658" r="34467"/>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6" name="Isosceles Triangle 15">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6109444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0BF2C8-FA2D-7B3A-FA19-2B1B23FBD9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C34A4BA-5050-C11B-1890-E4EB3E2F1803}"/>
              </a:ext>
            </a:extLst>
          </p:cNvPr>
          <p:cNvSpPr>
            <a:spLocks noGrp="1"/>
          </p:cNvSpPr>
          <p:nvPr>
            <p:ph type="title"/>
          </p:nvPr>
        </p:nvSpPr>
        <p:spPr>
          <a:xfrm>
            <a:off x="4152550" y="609600"/>
            <a:ext cx="2802951" cy="1320800"/>
          </a:xfrm>
        </p:spPr>
        <p:txBody>
          <a:bodyPr>
            <a:normAutofit/>
          </a:bodyPr>
          <a:lstStyle/>
          <a:p>
            <a:r>
              <a:rPr lang="en-US" dirty="0"/>
              <a:t>Undirected Graph</a:t>
            </a:r>
          </a:p>
        </p:txBody>
      </p:sp>
      <p:sp>
        <p:nvSpPr>
          <p:cNvPr id="5" name="Content Placeholder 4">
            <a:extLst>
              <a:ext uri="{FF2B5EF4-FFF2-40B4-BE49-F238E27FC236}">
                <a16:creationId xmlns:a16="http://schemas.microsoft.com/office/drawing/2014/main" id="{4CA73EB7-57EE-6B3B-F85C-99B487D763C1}"/>
              </a:ext>
            </a:extLst>
          </p:cNvPr>
          <p:cNvSpPr>
            <a:spLocks noGrp="1"/>
          </p:cNvSpPr>
          <p:nvPr>
            <p:ph idx="1"/>
          </p:nvPr>
        </p:nvSpPr>
        <p:spPr>
          <a:xfrm>
            <a:off x="3907171" y="2160589"/>
            <a:ext cx="3447217" cy="3880773"/>
          </a:xfrm>
        </p:spPr>
        <p:txBody>
          <a:bodyPr>
            <a:normAutofit/>
          </a:bodyPr>
          <a:lstStyle/>
          <a:p>
            <a:pPr marL="0" indent="0">
              <a:buNone/>
            </a:pPr>
            <a:r>
              <a:rPr lang="en-US" dirty="0"/>
              <a:t>An undirected graph has two-way relationships.</a:t>
            </a:r>
          </a:p>
          <a:p>
            <a:pPr marL="0" indent="0">
              <a:buNone/>
            </a:pPr>
            <a:endParaRPr lang="en-US" dirty="0"/>
          </a:p>
          <a:p>
            <a:pPr marL="0" indent="0">
              <a:buNone/>
            </a:pPr>
            <a:r>
              <a:rPr lang="en-US" dirty="0"/>
              <a:t>Examples:</a:t>
            </a:r>
          </a:p>
          <a:p>
            <a:r>
              <a:rPr lang="en-US" dirty="0"/>
              <a:t>sidewalk between buildings</a:t>
            </a:r>
          </a:p>
          <a:p>
            <a:r>
              <a:rPr lang="en-US" dirty="0"/>
              <a:t>hallway between rooms</a:t>
            </a:r>
          </a:p>
          <a:p>
            <a:r>
              <a:rPr lang="en-US" dirty="0"/>
              <a:t>mutual connection</a:t>
            </a:r>
          </a:p>
          <a:p>
            <a:r>
              <a:rPr lang="en-US" dirty="0"/>
              <a:t>two-way transit route</a:t>
            </a:r>
          </a:p>
        </p:txBody>
      </p:sp>
      <p:pic>
        <p:nvPicPr>
          <p:cNvPr id="7" name="Picture 6" descr="Electrocardiogram (ECG) graph showing heart electrical activity with repeating wave patterns on grid paper. Key features include distinct peaks and intervals indicating heartbeats and rhythm regularity.">
            <a:extLst>
              <a:ext uri="{FF2B5EF4-FFF2-40B4-BE49-F238E27FC236}">
                <a16:creationId xmlns:a16="http://schemas.microsoft.com/office/drawing/2014/main" id="{4E5863F2-A87C-050E-5E54-A5E6D0832085}"/>
              </a:ext>
            </a:extLst>
          </p:cNvPr>
          <p:cNvPicPr>
            <a:picLocks noChangeAspect="1"/>
          </p:cNvPicPr>
          <p:nvPr/>
        </p:nvPicPr>
        <p:blipFill>
          <a:blip r:embed="rId3"/>
          <a:srcRect l="30791" r="29680"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66835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05A2F2-C433-346E-B593-97C777B429E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178905D-7982-3CCA-EA7C-B6EFE703BB64}"/>
              </a:ext>
            </a:extLst>
          </p:cNvPr>
          <p:cNvSpPr>
            <a:spLocks noGrp="1"/>
          </p:cNvSpPr>
          <p:nvPr>
            <p:ph type="title"/>
          </p:nvPr>
        </p:nvSpPr>
        <p:spPr>
          <a:xfrm>
            <a:off x="4152550" y="609600"/>
            <a:ext cx="2802951" cy="1320800"/>
          </a:xfrm>
        </p:spPr>
        <p:txBody>
          <a:bodyPr>
            <a:normAutofit/>
          </a:bodyPr>
          <a:lstStyle/>
          <a:p>
            <a:r>
              <a:rPr lang="en-US" dirty="0"/>
              <a:t>Weighted Graph</a:t>
            </a:r>
          </a:p>
        </p:txBody>
      </p:sp>
      <p:sp>
        <p:nvSpPr>
          <p:cNvPr id="5" name="Content Placeholder 4">
            <a:extLst>
              <a:ext uri="{FF2B5EF4-FFF2-40B4-BE49-F238E27FC236}">
                <a16:creationId xmlns:a16="http://schemas.microsoft.com/office/drawing/2014/main" id="{476E6C72-FCD5-04E4-7D26-D4EA11EE033C}"/>
              </a:ext>
            </a:extLst>
          </p:cNvPr>
          <p:cNvSpPr>
            <a:spLocks noGrp="1"/>
          </p:cNvSpPr>
          <p:nvPr>
            <p:ph idx="1"/>
          </p:nvPr>
        </p:nvSpPr>
        <p:spPr>
          <a:xfrm>
            <a:off x="3907172" y="2160589"/>
            <a:ext cx="3048329" cy="3880773"/>
          </a:xfrm>
        </p:spPr>
        <p:txBody>
          <a:bodyPr>
            <a:normAutofit/>
          </a:bodyPr>
          <a:lstStyle/>
          <a:p>
            <a:pPr marL="0" indent="0">
              <a:buNone/>
            </a:pPr>
            <a:r>
              <a:rPr lang="en-US" dirty="0"/>
              <a:t>A weighted graph adds a value to edges.</a:t>
            </a:r>
          </a:p>
          <a:p>
            <a:pPr marL="0" indent="0">
              <a:buNone/>
            </a:pPr>
            <a:endParaRPr lang="en-US" dirty="0"/>
          </a:p>
          <a:p>
            <a:pPr marL="0" indent="0">
              <a:buNone/>
            </a:pPr>
            <a:r>
              <a:rPr lang="en-US" dirty="0"/>
              <a:t>Weights may represent:</a:t>
            </a:r>
          </a:p>
          <a:p>
            <a:r>
              <a:rPr lang="en-US" dirty="0"/>
              <a:t>distance</a:t>
            </a:r>
          </a:p>
          <a:p>
            <a:r>
              <a:rPr lang="en-US" dirty="0"/>
              <a:t>time</a:t>
            </a:r>
          </a:p>
          <a:p>
            <a:r>
              <a:rPr lang="en-US" dirty="0"/>
              <a:t>cost</a:t>
            </a:r>
          </a:p>
          <a:p>
            <a:r>
              <a:rPr lang="en-US" dirty="0"/>
              <a:t>risk</a:t>
            </a:r>
          </a:p>
          <a:p>
            <a:r>
              <a:rPr lang="en-US" dirty="0"/>
              <a:t>strength of connection</a:t>
            </a:r>
          </a:p>
        </p:txBody>
      </p:sp>
      <p:pic>
        <p:nvPicPr>
          <p:cNvPr id="7" name="Picture 6" descr="Photograph of a financial line graph showing fluctuating data points with a pen resting near the peak value around 2.47. The graph includes vertical axis labels with values like 2.0 and 2.5, indicating measurement scale, highlighting trends of sharp rises and falls in data.">
            <a:extLst>
              <a:ext uri="{FF2B5EF4-FFF2-40B4-BE49-F238E27FC236}">
                <a16:creationId xmlns:a16="http://schemas.microsoft.com/office/drawing/2014/main" id="{6DF2AA94-AA1D-B808-9511-40797C0B78DE}"/>
              </a:ext>
            </a:extLst>
          </p:cNvPr>
          <p:cNvPicPr>
            <a:picLocks noChangeAspect="1"/>
          </p:cNvPicPr>
          <p:nvPr/>
        </p:nvPicPr>
        <p:blipFill>
          <a:blip r:embed="rId3"/>
          <a:srcRect l="37170" r="23447"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157983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32F23-42FE-A530-1A47-773F5B011B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1D6988-FD1B-174D-F3CF-168D05413038}"/>
              </a:ext>
            </a:extLst>
          </p:cNvPr>
          <p:cNvSpPr>
            <a:spLocks noGrp="1"/>
          </p:cNvSpPr>
          <p:nvPr>
            <p:ph type="title"/>
          </p:nvPr>
        </p:nvSpPr>
        <p:spPr/>
        <p:txBody>
          <a:bodyPr/>
          <a:lstStyle/>
          <a:p>
            <a:r>
              <a:rPr lang="en-US" dirty="0"/>
              <a:t>Adjacency List</a:t>
            </a:r>
          </a:p>
        </p:txBody>
      </p:sp>
      <p:sp>
        <p:nvSpPr>
          <p:cNvPr id="5" name="Content Placeholder 4">
            <a:extLst>
              <a:ext uri="{FF2B5EF4-FFF2-40B4-BE49-F238E27FC236}">
                <a16:creationId xmlns:a16="http://schemas.microsoft.com/office/drawing/2014/main" id="{36667E4E-0745-AEAF-1FC5-BDF3C216BF4F}"/>
              </a:ext>
            </a:extLst>
          </p:cNvPr>
          <p:cNvSpPr>
            <a:spLocks noGrp="1"/>
          </p:cNvSpPr>
          <p:nvPr>
            <p:ph idx="1"/>
          </p:nvPr>
        </p:nvSpPr>
        <p:spPr>
          <a:xfrm>
            <a:off x="609599" y="2160590"/>
            <a:ext cx="6347714" cy="909181"/>
          </a:xfrm>
        </p:spPr>
        <p:txBody>
          <a:bodyPr/>
          <a:lstStyle/>
          <a:p>
            <a:pPr marL="0" indent="0">
              <a:buNone/>
            </a:pPr>
            <a:r>
              <a:rPr lang="en-US" dirty="0"/>
              <a:t>An adjacency list stores each node with its neighbors.</a:t>
            </a:r>
          </a:p>
          <a:p>
            <a:pPr marL="0" indent="0">
              <a:buNone/>
            </a:pPr>
            <a:r>
              <a:rPr lang="en-US" dirty="0"/>
              <a:t>Example:</a:t>
            </a:r>
          </a:p>
        </p:txBody>
      </p:sp>
      <p:sp>
        <p:nvSpPr>
          <p:cNvPr id="2" name="TextBox 1">
            <a:extLst>
              <a:ext uri="{FF2B5EF4-FFF2-40B4-BE49-F238E27FC236}">
                <a16:creationId xmlns:a16="http://schemas.microsoft.com/office/drawing/2014/main" id="{74BFE39E-AD71-14D4-9D4C-BDAE176D5F2F}"/>
              </a:ext>
            </a:extLst>
          </p:cNvPr>
          <p:cNvSpPr txBox="1"/>
          <p:nvPr/>
        </p:nvSpPr>
        <p:spPr>
          <a:xfrm>
            <a:off x="1079862" y="3326087"/>
            <a:ext cx="5020492" cy="1200329"/>
          </a:xfrm>
          <a:prstGeom prst="rect">
            <a:avLst/>
          </a:prstGeom>
          <a:solidFill>
            <a:schemeClr val="tx2"/>
          </a:solidFill>
          <a:ln>
            <a:solidFill>
              <a:schemeClr val="accent1"/>
            </a:solidFill>
          </a:ln>
        </p:spPr>
        <p:txBody>
          <a:bodyPr wrap="square" rtlCol="0">
            <a:spAutoFit/>
          </a:bodyPr>
          <a:lstStyle/>
          <a:p>
            <a:endParaRPr lang="en-US" dirty="0">
              <a:solidFill>
                <a:schemeClr val="bg1"/>
              </a:solidFill>
            </a:endParaRPr>
          </a:p>
          <a:p>
            <a:r>
              <a:rPr lang="en-US" dirty="0">
                <a:solidFill>
                  <a:schemeClr val="bg1"/>
                </a:solidFill>
              </a:rPr>
              <a:t>Parking: Library, Student Center</a:t>
            </a:r>
          </a:p>
          <a:p>
            <a:r>
              <a:rPr lang="en-US" dirty="0">
                <a:solidFill>
                  <a:schemeClr val="bg1"/>
                </a:solidFill>
              </a:rPr>
              <a:t>Library: Parking, Science Hall, Cafeteria</a:t>
            </a:r>
          </a:p>
          <a:p>
            <a:endParaRPr lang="en-US" dirty="0">
              <a:solidFill>
                <a:schemeClr val="bg1"/>
              </a:solidFill>
            </a:endParaRPr>
          </a:p>
        </p:txBody>
      </p:sp>
    </p:spTree>
    <p:extLst>
      <p:ext uri="{BB962C8B-B14F-4D97-AF65-F5344CB8AC3E}">
        <p14:creationId xmlns:p14="http://schemas.microsoft.com/office/powerpoint/2010/main" val="12006097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FCBD8-5C72-4D77-9595-E9AC53361BF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B09B004-0A1F-7318-2FD3-F29A3BEC0BBC}"/>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Adjacency List</a:t>
            </a:r>
          </a:p>
        </p:txBody>
      </p:sp>
      <p:pic>
        <p:nvPicPr>
          <p:cNvPr id="5" name="Picture Placeholder 4" descr="Diagram showing a graph with five nodes labeled A to E connected by edges, alongside an adjacency list representing direct neighbors for each node. The graph highlights edge between nodes A and C in blue, and the adjacency list uses bold and shaded formatting to emphasize nodes A, C, and their corresponding neighbors.">
            <a:extLst>
              <a:ext uri="{FF2B5EF4-FFF2-40B4-BE49-F238E27FC236}">
                <a16:creationId xmlns:a16="http://schemas.microsoft.com/office/drawing/2014/main" id="{0D76EA90-D9F4-FE21-441E-B3AA163FB30B}"/>
              </a:ext>
            </a:extLst>
          </p:cNvPr>
          <p:cNvPicPr>
            <a:picLocks noGrp="1" noChangeAspect="1"/>
          </p:cNvPicPr>
          <p:nvPr>
            <p:ph type="pic" idx="1"/>
          </p:nvPr>
        </p:nvPicPr>
        <p:blipFill>
          <a:blip r:embed="rId3"/>
          <a:srcRect t="-370" b="-370"/>
          <a:stretch>
            <a:fillRect/>
          </a:stretch>
        </p:blipFill>
        <p:spPr>
          <a:xfrm>
            <a:off x="609599" y="609600"/>
            <a:ext cx="6347714" cy="4145280"/>
          </a:xfrm>
          <a:prstGeom prst="rect">
            <a:avLst/>
          </a:prstGeom>
        </p:spPr>
      </p:pic>
    </p:spTree>
    <p:extLst>
      <p:ext uri="{BB962C8B-B14F-4D97-AF65-F5344CB8AC3E}">
        <p14:creationId xmlns:p14="http://schemas.microsoft.com/office/powerpoint/2010/main" val="1566464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7F208-64BB-2390-8BDC-552143C4B97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3C119A3-B7CF-88F0-F810-50EA67E96902}"/>
              </a:ext>
            </a:extLst>
          </p:cNvPr>
          <p:cNvSpPr>
            <a:spLocks noGrp="1"/>
          </p:cNvSpPr>
          <p:nvPr>
            <p:ph type="title"/>
          </p:nvPr>
        </p:nvSpPr>
        <p:spPr/>
        <p:txBody>
          <a:bodyPr/>
          <a:lstStyle/>
          <a:p>
            <a:r>
              <a:rPr lang="en-US" dirty="0"/>
              <a:t>Diagram And Adjacency List Must Agree</a:t>
            </a:r>
          </a:p>
        </p:txBody>
      </p:sp>
      <p:sp>
        <p:nvSpPr>
          <p:cNvPr id="5" name="Content Placeholder 4">
            <a:extLst>
              <a:ext uri="{FF2B5EF4-FFF2-40B4-BE49-F238E27FC236}">
                <a16:creationId xmlns:a16="http://schemas.microsoft.com/office/drawing/2014/main" id="{1686DE69-AD63-80D8-6F3A-7123B4BCAB76}"/>
              </a:ext>
            </a:extLst>
          </p:cNvPr>
          <p:cNvSpPr>
            <a:spLocks noGrp="1"/>
          </p:cNvSpPr>
          <p:nvPr>
            <p:ph idx="1"/>
          </p:nvPr>
        </p:nvSpPr>
        <p:spPr>
          <a:xfrm>
            <a:off x="609598" y="2160590"/>
            <a:ext cx="6953795" cy="3880773"/>
          </a:xfrm>
        </p:spPr>
        <p:txBody>
          <a:bodyPr/>
          <a:lstStyle/>
          <a:p>
            <a:pPr marL="0" indent="0">
              <a:buNone/>
            </a:pPr>
            <a:r>
              <a:rPr lang="en-US" dirty="0"/>
              <a:t>Check the model both ways:</a:t>
            </a:r>
          </a:p>
          <a:p>
            <a:pPr marL="0" indent="0">
              <a:buNone/>
            </a:pPr>
            <a:endParaRPr lang="en-US" dirty="0"/>
          </a:p>
          <a:p>
            <a:r>
              <a:rPr lang="en-US" dirty="0"/>
              <a:t>Does every diagram connection appear in the adjacency list?</a:t>
            </a:r>
          </a:p>
          <a:p>
            <a:r>
              <a:rPr lang="en-US" dirty="0"/>
              <a:t>Does every adjacency-list connection appear in the diagram?</a:t>
            </a:r>
          </a:p>
          <a:p>
            <a:r>
              <a:rPr lang="en-US" dirty="0"/>
              <a:t>Are directed edges shown clearly?</a:t>
            </a:r>
          </a:p>
          <a:p>
            <a:r>
              <a:rPr lang="en-US" dirty="0"/>
              <a:t>Are two-way edges listed both ways?</a:t>
            </a:r>
          </a:p>
        </p:txBody>
      </p:sp>
    </p:spTree>
    <p:extLst>
      <p:ext uri="{BB962C8B-B14F-4D97-AF65-F5344CB8AC3E}">
        <p14:creationId xmlns:p14="http://schemas.microsoft.com/office/powerpoint/2010/main" val="40311471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2BAA33-FB21-9A05-7B93-3D2E016DF04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CBA6ABE-FC6E-4F46-24D9-9A2378F2B35C}"/>
              </a:ext>
            </a:extLst>
          </p:cNvPr>
          <p:cNvSpPr>
            <a:spLocks noGrp="1"/>
          </p:cNvSpPr>
          <p:nvPr>
            <p:ph type="title"/>
          </p:nvPr>
        </p:nvSpPr>
        <p:spPr>
          <a:xfrm>
            <a:off x="4152550" y="609600"/>
            <a:ext cx="2802951" cy="1320800"/>
          </a:xfrm>
        </p:spPr>
        <p:txBody>
          <a:bodyPr>
            <a:normAutofit/>
          </a:bodyPr>
          <a:lstStyle/>
          <a:p>
            <a:r>
              <a:rPr lang="en-US" dirty="0"/>
              <a:t>A Graph is a Model</a:t>
            </a:r>
          </a:p>
        </p:txBody>
      </p:sp>
      <p:sp>
        <p:nvSpPr>
          <p:cNvPr id="5" name="Content Placeholder 4">
            <a:extLst>
              <a:ext uri="{FF2B5EF4-FFF2-40B4-BE49-F238E27FC236}">
                <a16:creationId xmlns:a16="http://schemas.microsoft.com/office/drawing/2014/main" id="{37699EAC-FB8F-6948-05D4-4A35460D833E}"/>
              </a:ext>
            </a:extLst>
          </p:cNvPr>
          <p:cNvSpPr>
            <a:spLocks noGrp="1"/>
          </p:cNvSpPr>
          <p:nvPr>
            <p:ph idx="1"/>
          </p:nvPr>
        </p:nvSpPr>
        <p:spPr>
          <a:xfrm>
            <a:off x="3907172" y="2160589"/>
            <a:ext cx="3656222" cy="3880773"/>
          </a:xfrm>
        </p:spPr>
        <p:txBody>
          <a:bodyPr>
            <a:normAutofit fontScale="92500"/>
          </a:bodyPr>
          <a:lstStyle/>
          <a:p>
            <a:pPr marL="0" indent="0">
              <a:buNone/>
            </a:pPr>
            <a:r>
              <a:rPr lang="en-US" dirty="0"/>
              <a:t>A graph may leave out:</a:t>
            </a:r>
          </a:p>
          <a:p>
            <a:r>
              <a:rPr lang="en-US" dirty="0"/>
              <a:t>distance</a:t>
            </a:r>
          </a:p>
          <a:p>
            <a:r>
              <a:rPr lang="en-US" dirty="0"/>
              <a:t>time</a:t>
            </a:r>
          </a:p>
          <a:p>
            <a:r>
              <a:rPr lang="en-US" dirty="0"/>
              <a:t>priority</a:t>
            </a:r>
          </a:p>
          <a:p>
            <a:r>
              <a:rPr lang="en-US" dirty="0"/>
              <a:t>capacity</a:t>
            </a:r>
          </a:p>
          <a:p>
            <a:r>
              <a:rPr lang="en-US" dirty="0"/>
              <a:t>direction</a:t>
            </a:r>
          </a:p>
          <a:p>
            <a:r>
              <a:rPr lang="en-US" dirty="0"/>
              <a:t>human judgment</a:t>
            </a:r>
          </a:p>
          <a:p>
            <a:r>
              <a:rPr lang="en-US" dirty="0"/>
              <a:t>real-world messiness</a:t>
            </a:r>
          </a:p>
          <a:p>
            <a:pPr marL="0" indent="0">
              <a:buNone/>
            </a:pPr>
            <a:endParaRPr lang="en-US" dirty="0"/>
          </a:p>
          <a:p>
            <a:pPr marL="0" indent="0">
              <a:buNone/>
            </a:pPr>
            <a:r>
              <a:rPr lang="en-US" dirty="0"/>
              <a:t>A model is useful, but incomplete.</a:t>
            </a:r>
          </a:p>
        </p:txBody>
      </p:sp>
      <p:pic>
        <p:nvPicPr>
          <p:cNvPr id="7" name="Picture 6" descr="Six pins pointed on several spots on a road map">
            <a:extLst>
              <a:ext uri="{FF2B5EF4-FFF2-40B4-BE49-F238E27FC236}">
                <a16:creationId xmlns:a16="http://schemas.microsoft.com/office/drawing/2014/main" id="{792AB7B5-FC0D-D198-37BF-6F6150CC9978}"/>
              </a:ext>
            </a:extLst>
          </p:cNvPr>
          <p:cNvPicPr>
            <a:picLocks noChangeAspect="1"/>
          </p:cNvPicPr>
          <p:nvPr/>
        </p:nvPicPr>
        <p:blipFill>
          <a:blip r:embed="rId3"/>
          <a:srcRect l="27945" r="32672"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6" name="Isosceles Triangle 15">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512933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9933D6-8AAA-A784-D09B-89A53BC96939}"/>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4" name="Straight Connector 23">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31">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4" name="Picture 3">
            <a:extLst>
              <a:ext uri="{FF2B5EF4-FFF2-40B4-BE49-F238E27FC236}">
                <a16:creationId xmlns:a16="http://schemas.microsoft.com/office/drawing/2014/main" id="{802D3182-625F-1F74-DCD5-FCF1296C9FBD}"/>
              </a:ext>
              <a:ext uri="{C183D7F6-B498-43B3-948B-1728B52AA6E4}">
                <adec:decorative xmlns:adec="http://schemas.microsoft.com/office/drawing/2017/decorative" val="1"/>
              </a:ext>
            </a:extLst>
          </p:cNvPr>
          <p:cNvPicPr>
            <a:picLocks noChangeAspect="1"/>
          </p:cNvPicPr>
          <p:nvPr/>
        </p:nvPicPr>
        <p:blipFill>
          <a:blip r:embed="rId3"/>
          <a:srcRect l="18710" t="9091" r="4497"/>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6C724D69-D02B-28A9-667C-5341E3458D00}"/>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4200"/>
              <a:t>Network</a:t>
            </a:r>
            <a:br>
              <a:rPr lang="en-US" sz="4200"/>
            </a:br>
            <a:r>
              <a:rPr lang="en-US" sz="4200"/>
              <a:t>Analysis</a:t>
            </a:r>
            <a:br>
              <a:rPr lang="en-US" sz="4200"/>
            </a:br>
            <a:r>
              <a:rPr lang="en-US" sz="4200"/>
              <a:t>Orientation</a:t>
            </a:r>
          </a:p>
        </p:txBody>
      </p:sp>
      <p:cxnSp>
        <p:nvCxnSpPr>
          <p:cNvPr id="35" name="Straight Connector 34">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9"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1"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3"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5"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7"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435848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6377FC-CE1E-ABA9-D28C-6ED76022571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1CDEA3A-9C28-E021-DB3C-1F9B742CAFDF}"/>
              </a:ext>
            </a:extLst>
          </p:cNvPr>
          <p:cNvSpPr>
            <a:spLocks noGrp="1"/>
          </p:cNvSpPr>
          <p:nvPr>
            <p:ph type="title"/>
          </p:nvPr>
        </p:nvSpPr>
        <p:spPr>
          <a:xfrm>
            <a:off x="4152550" y="609600"/>
            <a:ext cx="2802951" cy="1320800"/>
          </a:xfrm>
        </p:spPr>
        <p:txBody>
          <a:bodyPr>
            <a:normAutofit/>
          </a:bodyPr>
          <a:lstStyle/>
          <a:p>
            <a:r>
              <a:rPr lang="en-US" sz="3300"/>
              <a:t>Neighborhood</a:t>
            </a:r>
          </a:p>
        </p:txBody>
      </p:sp>
      <p:sp>
        <p:nvSpPr>
          <p:cNvPr id="5" name="Content Placeholder 4">
            <a:extLst>
              <a:ext uri="{FF2B5EF4-FFF2-40B4-BE49-F238E27FC236}">
                <a16:creationId xmlns:a16="http://schemas.microsoft.com/office/drawing/2014/main" id="{EBA67D34-CCA6-C3BF-4F71-5E2D2FB9BB23}"/>
              </a:ext>
            </a:extLst>
          </p:cNvPr>
          <p:cNvSpPr>
            <a:spLocks noGrp="1"/>
          </p:cNvSpPr>
          <p:nvPr>
            <p:ph idx="1"/>
          </p:nvPr>
        </p:nvSpPr>
        <p:spPr>
          <a:xfrm>
            <a:off x="3907172" y="2160589"/>
            <a:ext cx="3048329" cy="3880773"/>
          </a:xfrm>
        </p:spPr>
        <p:txBody>
          <a:bodyPr>
            <a:normAutofit/>
          </a:bodyPr>
          <a:lstStyle/>
          <a:p>
            <a:pPr marL="0" indent="0">
              <a:buNone/>
            </a:pPr>
            <a:r>
              <a:rPr lang="en-US" dirty="0"/>
              <a:t>A neighborhood is what can be reached near a node.</a:t>
            </a:r>
          </a:p>
          <a:p>
            <a:pPr marL="0" indent="0">
              <a:buNone/>
            </a:pPr>
            <a:endParaRPr lang="en-US" dirty="0"/>
          </a:p>
          <a:p>
            <a:pPr marL="0" indent="0">
              <a:buNone/>
            </a:pPr>
            <a:r>
              <a:rPr lang="en-US" dirty="0"/>
              <a:t>Think:</a:t>
            </a:r>
          </a:p>
          <a:p>
            <a:r>
              <a:rPr lang="en-US" dirty="0"/>
              <a:t>direct neighbors</a:t>
            </a:r>
          </a:p>
          <a:p>
            <a:r>
              <a:rPr lang="en-US" dirty="0"/>
              <a:t>one hop away</a:t>
            </a:r>
          </a:p>
          <a:p>
            <a:r>
              <a:rPr lang="en-US" dirty="0"/>
              <a:t>two hops away</a:t>
            </a:r>
          </a:p>
          <a:p>
            <a:r>
              <a:rPr lang="en-US" dirty="0"/>
              <a:t>beyond</a:t>
            </a:r>
          </a:p>
          <a:p>
            <a:pPr marL="0" indent="0">
              <a:buNone/>
            </a:pPr>
            <a:endParaRPr lang="en-US" dirty="0"/>
          </a:p>
        </p:txBody>
      </p:sp>
      <p:pic>
        <p:nvPicPr>
          <p:cNvPr id="7" name="Picture 6" descr="Aerial photograph of a suburban neighborhood showing rows of single-family houses with green lawns, trees, and curved streets. The layout highlights residential planning with evenly spaced homes, driveways, and a mix of roof colors under daylight.">
            <a:extLst>
              <a:ext uri="{FF2B5EF4-FFF2-40B4-BE49-F238E27FC236}">
                <a16:creationId xmlns:a16="http://schemas.microsoft.com/office/drawing/2014/main" id="{EFECB7E5-F89E-A95F-C718-B1062409E373}"/>
              </a:ext>
            </a:extLst>
          </p:cNvPr>
          <p:cNvPicPr>
            <a:picLocks noChangeAspect="1"/>
          </p:cNvPicPr>
          <p:nvPr/>
        </p:nvPicPr>
        <p:blipFill>
          <a:blip r:embed="rId3"/>
          <a:srcRect l="36207" r="24410"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1976025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75E486-B7B7-A16F-B4DE-225E11F0489C}"/>
            </a:ext>
          </a:extLst>
        </p:cNvPr>
        <p:cNvGrpSpPr/>
        <p:nvPr/>
      </p:nvGrpSpPr>
      <p:grpSpPr>
        <a:xfrm>
          <a:off x="0" y="0"/>
          <a:ext cx="0" cy="0"/>
          <a:chOff x="0" y="0"/>
          <a:chExt cx="0" cy="0"/>
        </a:xfrm>
      </p:grpSpPr>
      <p:pic>
        <p:nvPicPr>
          <p:cNvPr id="7" name="Picture 6" descr="A network formed by white dots">
            <a:extLst>
              <a:ext uri="{FF2B5EF4-FFF2-40B4-BE49-F238E27FC236}">
                <a16:creationId xmlns:a16="http://schemas.microsoft.com/office/drawing/2014/main" id="{63D420EE-67BB-4B5D-B1C4-74641142526C}"/>
              </a:ext>
            </a:extLst>
          </p:cNvPr>
          <p:cNvPicPr>
            <a:picLocks noChangeAspect="1"/>
          </p:cNvPicPr>
          <p:nvPr/>
        </p:nvPicPr>
        <p:blipFill>
          <a:blip r:embed="rId3"/>
          <a:srcRect l="33289" r="-1" b="-1"/>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BB1D19F3-78DB-DD2B-37AC-2615870BB18C}"/>
              </a:ext>
            </a:extLst>
          </p:cNvPr>
          <p:cNvSpPr>
            <a:spLocks noGrp="1"/>
          </p:cNvSpPr>
          <p:nvPr>
            <p:ph type="title"/>
          </p:nvPr>
        </p:nvSpPr>
        <p:spPr>
          <a:xfrm>
            <a:off x="507999" y="609600"/>
            <a:ext cx="2888343" cy="1320800"/>
          </a:xfrm>
        </p:spPr>
        <p:txBody>
          <a:bodyPr>
            <a:normAutofit/>
          </a:bodyPr>
          <a:lstStyle/>
          <a:p>
            <a:r>
              <a:rPr lang="en-US" sz="3300"/>
              <a:t>Ego-Centered Network</a:t>
            </a:r>
          </a:p>
        </p:txBody>
      </p:sp>
      <p:sp>
        <p:nvSpPr>
          <p:cNvPr id="5" name="Content Placeholder 4">
            <a:extLst>
              <a:ext uri="{FF2B5EF4-FFF2-40B4-BE49-F238E27FC236}">
                <a16:creationId xmlns:a16="http://schemas.microsoft.com/office/drawing/2014/main" id="{D30651CB-F6A5-FCFA-19B7-495CA31BA0E7}"/>
              </a:ext>
            </a:extLst>
          </p:cNvPr>
          <p:cNvSpPr>
            <a:spLocks noGrp="1"/>
          </p:cNvSpPr>
          <p:nvPr>
            <p:ph idx="1"/>
          </p:nvPr>
        </p:nvSpPr>
        <p:spPr>
          <a:xfrm>
            <a:off x="508000" y="2160589"/>
            <a:ext cx="2888342" cy="3880773"/>
          </a:xfrm>
        </p:spPr>
        <p:txBody>
          <a:bodyPr>
            <a:normAutofit/>
          </a:bodyPr>
          <a:lstStyle/>
          <a:p>
            <a:pPr marL="0" indent="0">
              <a:lnSpc>
                <a:spcPct val="90000"/>
              </a:lnSpc>
              <a:buNone/>
            </a:pPr>
            <a:r>
              <a:rPr lang="en-US" dirty="0"/>
              <a:t>An ego-centered network starts with one focal node.</a:t>
            </a:r>
            <a:endParaRPr lang="en-US"/>
          </a:p>
          <a:p>
            <a:pPr marL="0" indent="0">
              <a:lnSpc>
                <a:spcPct val="90000"/>
              </a:lnSpc>
              <a:buNone/>
            </a:pPr>
            <a:endParaRPr lang="en-US"/>
          </a:p>
          <a:p>
            <a:pPr marL="0" indent="0">
              <a:lnSpc>
                <a:spcPct val="90000"/>
              </a:lnSpc>
              <a:buNone/>
            </a:pPr>
            <a:r>
              <a:rPr lang="en-US" dirty="0"/>
              <a:t>It asks:</a:t>
            </a:r>
            <a:endParaRPr lang="en-US"/>
          </a:p>
          <a:p>
            <a:pPr>
              <a:lnSpc>
                <a:spcPct val="90000"/>
              </a:lnSpc>
            </a:pPr>
            <a:r>
              <a:rPr lang="en-US" dirty="0"/>
              <a:t>who or what is directly connected?</a:t>
            </a:r>
            <a:endParaRPr lang="en-US"/>
          </a:p>
          <a:p>
            <a:pPr>
              <a:lnSpc>
                <a:spcPct val="90000"/>
              </a:lnSpc>
            </a:pPr>
            <a:r>
              <a:rPr lang="en-US" dirty="0"/>
              <a:t>what is one hop away?</a:t>
            </a:r>
            <a:endParaRPr lang="en-US"/>
          </a:p>
          <a:p>
            <a:pPr>
              <a:lnSpc>
                <a:spcPct val="90000"/>
              </a:lnSpc>
            </a:pPr>
            <a:r>
              <a:rPr lang="en-US" dirty="0"/>
              <a:t>what is two hops away?</a:t>
            </a:r>
            <a:endParaRPr lang="en-US"/>
          </a:p>
          <a:p>
            <a:pPr>
              <a:lnSpc>
                <a:spcPct val="90000"/>
              </a:lnSpc>
            </a:pPr>
            <a:r>
              <a:rPr lang="en-US" dirty="0"/>
              <a:t>what pattern surrounds this node?</a:t>
            </a:r>
            <a:endParaRPr lang="en-US"/>
          </a:p>
          <a:p>
            <a:pPr marL="0" indent="0">
              <a:lnSpc>
                <a:spcPct val="90000"/>
              </a:lnSpc>
              <a:buNone/>
            </a:pPr>
            <a:endParaRPr lang="en-US"/>
          </a:p>
        </p:txBody>
      </p:sp>
      <p:cxnSp>
        <p:nvCxnSpPr>
          <p:cNvPr id="11" name="Straight Connector 10">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98010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765B1B-4CBB-909C-933F-751E26F891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21D078C-491E-78ED-F5EB-F44DFDDD49C9}"/>
              </a:ext>
            </a:extLst>
          </p:cNvPr>
          <p:cNvSpPr>
            <a:spLocks noGrp="1"/>
          </p:cNvSpPr>
          <p:nvPr>
            <p:ph type="title"/>
          </p:nvPr>
        </p:nvSpPr>
        <p:spPr>
          <a:xfrm>
            <a:off x="4152550" y="609600"/>
            <a:ext cx="2802951" cy="1320800"/>
          </a:xfrm>
        </p:spPr>
        <p:txBody>
          <a:bodyPr>
            <a:normAutofit/>
          </a:bodyPr>
          <a:lstStyle/>
          <a:p>
            <a:r>
              <a:rPr lang="en-US" dirty="0"/>
              <a:t>Shortest Path</a:t>
            </a:r>
          </a:p>
        </p:txBody>
      </p:sp>
      <p:sp>
        <p:nvSpPr>
          <p:cNvPr id="5" name="Content Placeholder 4">
            <a:extLst>
              <a:ext uri="{FF2B5EF4-FFF2-40B4-BE49-F238E27FC236}">
                <a16:creationId xmlns:a16="http://schemas.microsoft.com/office/drawing/2014/main" id="{6426A855-86F1-E77A-6276-976804832DA3}"/>
              </a:ext>
            </a:extLst>
          </p:cNvPr>
          <p:cNvSpPr>
            <a:spLocks noGrp="1"/>
          </p:cNvSpPr>
          <p:nvPr>
            <p:ph idx="1"/>
          </p:nvPr>
        </p:nvSpPr>
        <p:spPr>
          <a:xfrm>
            <a:off x="3907172" y="2160589"/>
            <a:ext cx="3048329" cy="3880773"/>
          </a:xfrm>
        </p:spPr>
        <p:txBody>
          <a:bodyPr>
            <a:normAutofit/>
          </a:bodyPr>
          <a:lstStyle/>
          <a:p>
            <a:pPr marL="0" indent="0">
              <a:buNone/>
            </a:pPr>
            <a:r>
              <a:rPr lang="en-US" dirty="0"/>
              <a:t>Shortest path asks:</a:t>
            </a:r>
          </a:p>
          <a:p>
            <a:r>
              <a:rPr lang="en-US" dirty="0"/>
              <a:t>what route uses the fewest steps?</a:t>
            </a:r>
          </a:p>
          <a:p>
            <a:r>
              <a:rPr lang="en-US" dirty="0"/>
              <a:t>what route has the lowest cost?</a:t>
            </a:r>
          </a:p>
          <a:p>
            <a:r>
              <a:rPr lang="en-US" dirty="0"/>
              <a:t>what route reaches the target most directly?</a:t>
            </a:r>
          </a:p>
          <a:p>
            <a:pPr marL="0" indent="0">
              <a:buNone/>
            </a:pPr>
            <a:endParaRPr lang="en-US" dirty="0"/>
          </a:p>
          <a:p>
            <a:pPr marL="0" indent="0">
              <a:buNone/>
            </a:pPr>
            <a:r>
              <a:rPr lang="en-US" dirty="0"/>
              <a:t>The answer depends on the model.</a:t>
            </a:r>
          </a:p>
          <a:p>
            <a:pPr marL="0" indent="0">
              <a:buNone/>
            </a:pPr>
            <a:endParaRPr lang="en-US" dirty="0"/>
          </a:p>
        </p:txBody>
      </p:sp>
      <p:pic>
        <p:nvPicPr>
          <p:cNvPr id="7" name="Picture 6" descr="White arrows going to the red target">
            <a:extLst>
              <a:ext uri="{FF2B5EF4-FFF2-40B4-BE49-F238E27FC236}">
                <a16:creationId xmlns:a16="http://schemas.microsoft.com/office/drawing/2014/main" id="{B3405E0C-BDED-BB70-D681-499C8A3E94E3}"/>
              </a:ext>
            </a:extLst>
          </p:cNvPr>
          <p:cNvPicPr>
            <a:picLocks noChangeAspect="1"/>
          </p:cNvPicPr>
          <p:nvPr/>
        </p:nvPicPr>
        <p:blipFill>
          <a:blip r:embed="rId3"/>
          <a:srcRect l="48135" r="12482"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2" name="Isosceles Triangle 31">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327359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7E681-386E-C584-8703-D1E0E6E56EB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0852E07-94C9-C5EC-9763-1912D86F3479}"/>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Shortest Path</a:t>
            </a:r>
          </a:p>
        </p:txBody>
      </p:sp>
      <p:pic>
        <p:nvPicPr>
          <p:cNvPr id="5" name="Picture Placeholder 4" descr="Diagram of an unweighted graph illustrating shortest path concepts with nodes labeled Start, A, B, C, D, and Goal connected by edges. Two routes are compared: Route 1 (Start → A → C → Goal) highlighted in blue as the shortest path with fewest edges, and Route 2 (Start → B → D → C → Goal) in gray as a longer route, emphasizing that shortest path means fewest edges.">
            <a:extLst>
              <a:ext uri="{FF2B5EF4-FFF2-40B4-BE49-F238E27FC236}">
                <a16:creationId xmlns:a16="http://schemas.microsoft.com/office/drawing/2014/main" id="{2A133932-501D-9B37-C25F-2F0035A0581A}"/>
              </a:ext>
            </a:extLst>
          </p:cNvPr>
          <p:cNvPicPr>
            <a:picLocks noGrp="1" noChangeAspect="1"/>
          </p:cNvPicPr>
          <p:nvPr>
            <p:ph type="pic" idx="1"/>
          </p:nvPr>
        </p:nvPicPr>
        <p:blipFill>
          <a:blip r:embed="rId3"/>
          <a:srcRect t="-211" b="-211"/>
          <a:stretch>
            <a:fillRect/>
          </a:stretch>
        </p:blipFill>
        <p:spPr>
          <a:xfrm>
            <a:off x="609599" y="609599"/>
            <a:ext cx="6347714" cy="4132217"/>
          </a:xfrm>
          <a:prstGeom prst="rect">
            <a:avLst/>
          </a:prstGeom>
        </p:spPr>
      </p:pic>
    </p:spTree>
    <p:extLst>
      <p:ext uri="{BB962C8B-B14F-4D97-AF65-F5344CB8AC3E}">
        <p14:creationId xmlns:p14="http://schemas.microsoft.com/office/powerpoint/2010/main" val="772000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F61AD9-ADFA-3F92-BF0F-B4800975660F}"/>
            </a:ext>
          </a:extLst>
        </p:cNvPr>
        <p:cNvGrpSpPr/>
        <p:nvPr/>
      </p:nvGrpSpPr>
      <p:grpSpPr>
        <a:xfrm>
          <a:off x="0" y="0"/>
          <a:ext cx="0" cy="0"/>
          <a:chOff x="0" y="0"/>
          <a:chExt cx="0" cy="0"/>
        </a:xfrm>
      </p:grpSpPr>
      <p:pic>
        <p:nvPicPr>
          <p:cNvPr id="7" name="Picture 6" descr="Photograph of multiple small white house models scattered on a white surface with one house model in red standing out in the center. The scene symbolizes uniqueness or distinction among similar entities, highlighting contrast through color and arrangement.">
            <a:extLst>
              <a:ext uri="{FF2B5EF4-FFF2-40B4-BE49-F238E27FC236}">
                <a16:creationId xmlns:a16="http://schemas.microsoft.com/office/drawing/2014/main" id="{7C3B4ED3-7767-EDF9-20F5-235FB2B9D7D2}"/>
              </a:ext>
            </a:extLst>
          </p:cNvPr>
          <p:cNvPicPr>
            <a:picLocks noChangeAspect="1"/>
          </p:cNvPicPr>
          <p:nvPr/>
        </p:nvPicPr>
        <p:blipFill>
          <a:blip r:embed="rId3"/>
          <a:srcRect l="16887" r="34380"/>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40233F89-4F5C-281B-2051-CDF380363C05}"/>
              </a:ext>
            </a:extLst>
          </p:cNvPr>
          <p:cNvSpPr>
            <a:spLocks noGrp="1"/>
          </p:cNvSpPr>
          <p:nvPr>
            <p:ph type="title"/>
          </p:nvPr>
        </p:nvSpPr>
        <p:spPr>
          <a:xfrm>
            <a:off x="507999" y="609600"/>
            <a:ext cx="2888343" cy="1320800"/>
          </a:xfrm>
        </p:spPr>
        <p:txBody>
          <a:bodyPr>
            <a:normAutofit/>
          </a:bodyPr>
          <a:lstStyle/>
          <a:p>
            <a:r>
              <a:rPr lang="en-US" sz="3300"/>
              <a:t>Creating A Neighborhood</a:t>
            </a:r>
          </a:p>
        </p:txBody>
      </p:sp>
      <p:sp>
        <p:nvSpPr>
          <p:cNvPr id="5" name="Content Placeholder 4">
            <a:extLst>
              <a:ext uri="{FF2B5EF4-FFF2-40B4-BE49-F238E27FC236}">
                <a16:creationId xmlns:a16="http://schemas.microsoft.com/office/drawing/2014/main" id="{B670CD89-B530-63FA-1955-9448DD31631D}"/>
              </a:ext>
            </a:extLst>
          </p:cNvPr>
          <p:cNvSpPr>
            <a:spLocks noGrp="1"/>
          </p:cNvSpPr>
          <p:nvPr>
            <p:ph idx="1"/>
          </p:nvPr>
        </p:nvSpPr>
        <p:spPr>
          <a:xfrm>
            <a:off x="508000" y="2160589"/>
            <a:ext cx="2888342" cy="3880773"/>
          </a:xfrm>
        </p:spPr>
        <p:txBody>
          <a:bodyPr>
            <a:normAutofit/>
          </a:bodyPr>
          <a:lstStyle/>
          <a:p>
            <a:pPr marL="0" indent="0">
              <a:buNone/>
            </a:pPr>
            <a:r>
              <a:rPr lang="en-US" dirty="0"/>
              <a:t>To create a neighborhood:</a:t>
            </a:r>
          </a:p>
          <a:p>
            <a:pPr marL="0" indent="0">
              <a:buNone/>
            </a:pPr>
            <a:endParaRPr lang="en-US" dirty="0"/>
          </a:p>
          <a:p>
            <a:pPr>
              <a:buFont typeface="+mj-lt"/>
              <a:buAutoNum type="arabicPeriod"/>
            </a:pPr>
            <a:r>
              <a:rPr lang="en-US" dirty="0"/>
              <a:t>choose a start node</a:t>
            </a:r>
          </a:p>
          <a:p>
            <a:pPr>
              <a:buFont typeface="+mj-lt"/>
              <a:buAutoNum type="arabicPeriod"/>
            </a:pPr>
            <a:r>
              <a:rPr lang="en-US" dirty="0"/>
              <a:t>find direct neighbors</a:t>
            </a:r>
          </a:p>
          <a:p>
            <a:pPr>
              <a:buFont typeface="+mj-lt"/>
              <a:buAutoNum type="arabicPeriod"/>
            </a:pPr>
            <a:r>
              <a:rPr lang="en-US" dirty="0"/>
              <a:t>find neighbors of neighbors</a:t>
            </a:r>
          </a:p>
          <a:p>
            <a:pPr>
              <a:buFont typeface="+mj-lt"/>
              <a:buAutoNum type="arabicPeriod"/>
            </a:pPr>
            <a:r>
              <a:rPr lang="en-US" dirty="0"/>
              <a:t>decide how far to expand</a:t>
            </a:r>
          </a:p>
          <a:p>
            <a:pPr>
              <a:buFont typeface="+mj-lt"/>
              <a:buAutoNum type="arabicPeriod"/>
            </a:pPr>
            <a:r>
              <a:rPr lang="en-US" dirty="0"/>
              <a:t>state what the neighborhood means</a:t>
            </a:r>
          </a:p>
        </p:txBody>
      </p:sp>
      <p:cxnSp>
        <p:nvCxnSpPr>
          <p:cNvPr id="16" name="Straight Connector 15">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1990998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2757D7-06C2-A27B-EA07-1BC7DE635F14}"/>
            </a:ext>
          </a:extLst>
        </p:cNvPr>
        <p:cNvGrpSpPr/>
        <p:nvPr/>
      </p:nvGrpSpPr>
      <p:grpSpPr>
        <a:xfrm>
          <a:off x="0" y="0"/>
          <a:ext cx="0" cy="0"/>
          <a:chOff x="0" y="0"/>
          <a:chExt cx="0" cy="0"/>
        </a:xfrm>
      </p:grpSpPr>
      <p:pic>
        <p:nvPicPr>
          <p:cNvPr id="7" name="Picture 6" descr="Abstract digital artwork featuring overlapping translucent blue and purple polygons concentrated on left side, fading into white space on right. Design creates sense of depth and movement through geometric shapes and gradient color transitions.">
            <a:extLst>
              <a:ext uri="{FF2B5EF4-FFF2-40B4-BE49-F238E27FC236}">
                <a16:creationId xmlns:a16="http://schemas.microsoft.com/office/drawing/2014/main" id="{8585736C-1287-07EF-849A-C9C58271D7DC}"/>
              </a:ext>
            </a:extLst>
          </p:cNvPr>
          <p:cNvPicPr>
            <a:picLocks noChangeAspect="1"/>
          </p:cNvPicPr>
          <p:nvPr/>
        </p:nvPicPr>
        <p:blipFill>
          <a:blip r:embed="rId3"/>
          <a:srcRect l="5988" r="36181"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3674807B-CE40-5388-2CE9-A24CBC98D193}"/>
              </a:ext>
            </a:extLst>
          </p:cNvPr>
          <p:cNvSpPr>
            <a:spLocks noGrp="1"/>
          </p:cNvSpPr>
          <p:nvPr>
            <p:ph type="title"/>
          </p:nvPr>
        </p:nvSpPr>
        <p:spPr>
          <a:xfrm>
            <a:off x="507999" y="609600"/>
            <a:ext cx="2888343" cy="1320800"/>
          </a:xfrm>
        </p:spPr>
        <p:txBody>
          <a:bodyPr>
            <a:normAutofit/>
          </a:bodyPr>
          <a:lstStyle/>
          <a:p>
            <a:pPr>
              <a:lnSpc>
                <a:spcPct val="90000"/>
              </a:lnSpc>
            </a:pPr>
            <a:r>
              <a:rPr lang="en-US" sz="2800"/>
              <a:t>Optional Metrics: </a:t>
            </a:r>
            <a:br>
              <a:rPr lang="en-US" sz="2800"/>
            </a:br>
            <a:r>
              <a:rPr lang="en-US" sz="2800" i="1"/>
              <a:t>Recognition Only</a:t>
            </a:r>
          </a:p>
        </p:txBody>
      </p:sp>
      <p:sp>
        <p:nvSpPr>
          <p:cNvPr id="5" name="Content Placeholder 4">
            <a:extLst>
              <a:ext uri="{FF2B5EF4-FFF2-40B4-BE49-F238E27FC236}">
                <a16:creationId xmlns:a16="http://schemas.microsoft.com/office/drawing/2014/main" id="{08F65988-0977-BAF4-1C99-611997381A79}"/>
              </a:ext>
            </a:extLst>
          </p:cNvPr>
          <p:cNvSpPr>
            <a:spLocks noGrp="1"/>
          </p:cNvSpPr>
          <p:nvPr>
            <p:ph idx="1"/>
          </p:nvPr>
        </p:nvSpPr>
        <p:spPr>
          <a:xfrm>
            <a:off x="508000" y="2160589"/>
            <a:ext cx="2888342" cy="3880773"/>
          </a:xfrm>
        </p:spPr>
        <p:txBody>
          <a:bodyPr>
            <a:normAutofit/>
          </a:bodyPr>
          <a:lstStyle/>
          <a:p>
            <a:pPr marL="0" indent="0">
              <a:lnSpc>
                <a:spcPct val="90000"/>
              </a:lnSpc>
              <a:buNone/>
            </a:pPr>
            <a:r>
              <a:rPr lang="en-US" sz="1500"/>
              <a:t>The optional reading includes:</a:t>
            </a:r>
          </a:p>
          <a:p>
            <a:pPr marL="0" indent="0">
              <a:lnSpc>
                <a:spcPct val="90000"/>
              </a:lnSpc>
              <a:buNone/>
            </a:pPr>
            <a:endParaRPr lang="en-US" sz="1500"/>
          </a:p>
          <a:p>
            <a:pPr>
              <a:lnSpc>
                <a:spcPct val="90000"/>
              </a:lnSpc>
            </a:pPr>
            <a:r>
              <a:rPr lang="en-US" sz="1500"/>
              <a:t>triangle</a:t>
            </a:r>
          </a:p>
          <a:p>
            <a:pPr>
              <a:lnSpc>
                <a:spcPct val="90000"/>
              </a:lnSpc>
            </a:pPr>
            <a:r>
              <a:rPr lang="en-US" sz="1500"/>
              <a:t>density</a:t>
            </a:r>
          </a:p>
          <a:p>
            <a:pPr>
              <a:lnSpc>
                <a:spcPct val="90000"/>
              </a:lnSpc>
            </a:pPr>
            <a:r>
              <a:rPr lang="en-US" sz="1500"/>
              <a:t>degree</a:t>
            </a:r>
          </a:p>
          <a:p>
            <a:pPr>
              <a:lnSpc>
                <a:spcPct val="90000"/>
              </a:lnSpc>
            </a:pPr>
            <a:r>
              <a:rPr lang="en-US" sz="1500"/>
              <a:t>betweenness</a:t>
            </a:r>
          </a:p>
          <a:p>
            <a:pPr>
              <a:lnSpc>
                <a:spcPct val="90000"/>
              </a:lnSpc>
            </a:pPr>
            <a:r>
              <a:rPr lang="en-US" sz="1500"/>
              <a:t>closeness</a:t>
            </a:r>
          </a:p>
          <a:p>
            <a:pPr>
              <a:lnSpc>
                <a:spcPct val="90000"/>
              </a:lnSpc>
            </a:pPr>
            <a:r>
              <a:rPr lang="en-US" sz="1500"/>
              <a:t>eigenvector centrality</a:t>
            </a:r>
          </a:p>
          <a:p>
            <a:pPr marL="0" indent="0">
              <a:lnSpc>
                <a:spcPct val="90000"/>
              </a:lnSpc>
              <a:buNone/>
            </a:pPr>
            <a:endParaRPr lang="en-US" sz="1500"/>
          </a:p>
          <a:p>
            <a:pPr marL="0" indent="0">
              <a:lnSpc>
                <a:spcPct val="90000"/>
              </a:lnSpc>
              <a:buNone/>
            </a:pPr>
            <a:r>
              <a:rPr lang="en-US" sz="1500" i="1"/>
              <a:t>For this course: recognize the ideas.</a:t>
            </a:r>
          </a:p>
        </p:txBody>
      </p:sp>
      <p:cxnSp>
        <p:nvCxnSpPr>
          <p:cNvPr id="11" name="Straight Connector 10">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184653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ADFEED-2053-2B14-0CA8-FEC4B81490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39D3471-22AF-B212-EF00-CFAC5C7FF4CB}"/>
              </a:ext>
            </a:extLst>
          </p:cNvPr>
          <p:cNvSpPr>
            <a:spLocks noGrp="1"/>
          </p:cNvSpPr>
          <p:nvPr>
            <p:ph type="title"/>
          </p:nvPr>
        </p:nvSpPr>
        <p:spPr>
          <a:xfrm>
            <a:off x="4152550" y="609600"/>
            <a:ext cx="2802951" cy="1320800"/>
          </a:xfrm>
        </p:spPr>
        <p:txBody>
          <a:bodyPr>
            <a:normAutofit/>
          </a:bodyPr>
          <a:lstStyle/>
          <a:p>
            <a:r>
              <a:rPr lang="en-US" dirty="0"/>
              <a:t>Degree And Density</a:t>
            </a:r>
          </a:p>
        </p:txBody>
      </p:sp>
      <p:sp>
        <p:nvSpPr>
          <p:cNvPr id="5" name="Content Placeholder 4">
            <a:extLst>
              <a:ext uri="{FF2B5EF4-FFF2-40B4-BE49-F238E27FC236}">
                <a16:creationId xmlns:a16="http://schemas.microsoft.com/office/drawing/2014/main" id="{5300D686-DA6D-4E28-60B9-6AA269C62CC6}"/>
              </a:ext>
            </a:extLst>
          </p:cNvPr>
          <p:cNvSpPr>
            <a:spLocks noGrp="1"/>
          </p:cNvSpPr>
          <p:nvPr>
            <p:ph idx="1"/>
          </p:nvPr>
        </p:nvSpPr>
        <p:spPr>
          <a:xfrm>
            <a:off x="3907172" y="2160589"/>
            <a:ext cx="3048329" cy="3880773"/>
          </a:xfrm>
        </p:spPr>
        <p:txBody>
          <a:bodyPr>
            <a:normAutofit/>
          </a:bodyPr>
          <a:lstStyle/>
          <a:p>
            <a:pPr marL="0" indent="0">
              <a:buNone/>
            </a:pPr>
            <a:r>
              <a:rPr lang="en-US" dirty="0"/>
              <a:t>Degree:</a:t>
            </a:r>
          </a:p>
          <a:p>
            <a:r>
              <a:rPr lang="en-US" dirty="0"/>
              <a:t>How many edges connect to a node?</a:t>
            </a:r>
          </a:p>
          <a:p>
            <a:pPr marL="0" indent="0">
              <a:buNone/>
            </a:pPr>
            <a:endParaRPr lang="en-US" dirty="0"/>
          </a:p>
          <a:p>
            <a:pPr marL="0" indent="0">
              <a:buNone/>
            </a:pPr>
            <a:r>
              <a:rPr lang="en-US" dirty="0"/>
              <a:t>Density:</a:t>
            </a:r>
          </a:p>
          <a:p>
            <a:r>
              <a:rPr lang="en-US" dirty="0"/>
              <a:t>How many possible connections actually exist?</a:t>
            </a:r>
          </a:p>
          <a:p>
            <a:pPr marL="0" indent="0">
              <a:buNone/>
            </a:pPr>
            <a:endParaRPr lang="en-US" dirty="0"/>
          </a:p>
          <a:p>
            <a:pPr marL="0" indent="0">
              <a:buNone/>
            </a:pPr>
            <a:r>
              <a:rPr lang="en-US" dirty="0"/>
              <a:t>Both describe structure.</a:t>
            </a:r>
          </a:p>
        </p:txBody>
      </p:sp>
      <p:pic>
        <p:nvPicPr>
          <p:cNvPr id="7" name="Picture 6" descr="Photograph showing hands manipulating red string to form a complex geometric pattern, commonly known as a cat's cradle game. Focus on intertwined string loops stretched between fingers, highlighting dexterity and intricate design against a blurred gray background.">
            <a:extLst>
              <a:ext uri="{FF2B5EF4-FFF2-40B4-BE49-F238E27FC236}">
                <a16:creationId xmlns:a16="http://schemas.microsoft.com/office/drawing/2014/main" id="{615B9472-1A1A-74EA-3B82-E89337FF0C6F}"/>
              </a:ext>
            </a:extLst>
          </p:cNvPr>
          <p:cNvPicPr>
            <a:picLocks noChangeAspect="1"/>
          </p:cNvPicPr>
          <p:nvPr/>
        </p:nvPicPr>
        <p:blipFill>
          <a:blip r:embed="rId3"/>
          <a:srcRect l="32302" r="2831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1597950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8BC6C1-39EF-2588-8098-1BF7A37EB8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9F0A14C-8BDE-44AF-876A-ADC55556FA38}"/>
              </a:ext>
            </a:extLst>
          </p:cNvPr>
          <p:cNvSpPr>
            <a:spLocks noGrp="1"/>
          </p:cNvSpPr>
          <p:nvPr>
            <p:ph type="title"/>
          </p:nvPr>
        </p:nvSpPr>
        <p:spPr>
          <a:xfrm>
            <a:off x="4567833" y="609600"/>
            <a:ext cx="2387667" cy="1320800"/>
          </a:xfrm>
        </p:spPr>
        <p:txBody>
          <a:bodyPr anchor="ctr">
            <a:normAutofit/>
          </a:bodyPr>
          <a:lstStyle/>
          <a:p>
            <a:pPr>
              <a:lnSpc>
                <a:spcPct val="90000"/>
              </a:lnSpc>
            </a:pPr>
            <a:r>
              <a:rPr lang="en-US" sz="2300"/>
              <a:t>Centrality Is Not Importance By Itself</a:t>
            </a:r>
          </a:p>
        </p:txBody>
      </p:sp>
      <p:sp>
        <p:nvSpPr>
          <p:cNvPr id="5" name="Content Placeholder 4">
            <a:extLst>
              <a:ext uri="{FF2B5EF4-FFF2-40B4-BE49-F238E27FC236}">
                <a16:creationId xmlns:a16="http://schemas.microsoft.com/office/drawing/2014/main" id="{B9080414-5FF0-BF7D-A9EF-B3848FE5A3D2}"/>
              </a:ext>
            </a:extLst>
          </p:cNvPr>
          <p:cNvSpPr>
            <a:spLocks noGrp="1"/>
          </p:cNvSpPr>
          <p:nvPr>
            <p:ph idx="1"/>
          </p:nvPr>
        </p:nvSpPr>
        <p:spPr>
          <a:xfrm>
            <a:off x="4570807" y="2160589"/>
            <a:ext cx="2382442" cy="3880773"/>
          </a:xfrm>
        </p:spPr>
        <p:txBody>
          <a:bodyPr>
            <a:normAutofit/>
          </a:bodyPr>
          <a:lstStyle/>
          <a:p>
            <a:pPr marL="0" indent="0">
              <a:lnSpc>
                <a:spcPct val="90000"/>
              </a:lnSpc>
              <a:buNone/>
            </a:pPr>
            <a:r>
              <a:rPr lang="en-US" sz="1300"/>
              <a:t>Centrality measures estimate structural position.</a:t>
            </a:r>
          </a:p>
          <a:p>
            <a:pPr marL="0" indent="0">
              <a:lnSpc>
                <a:spcPct val="90000"/>
              </a:lnSpc>
              <a:buNone/>
            </a:pPr>
            <a:endParaRPr lang="en-US" sz="1300"/>
          </a:p>
          <a:p>
            <a:pPr marL="0" indent="0">
              <a:lnSpc>
                <a:spcPct val="90000"/>
              </a:lnSpc>
              <a:buNone/>
            </a:pPr>
            <a:r>
              <a:rPr lang="en-US" sz="1300"/>
              <a:t>They do not automatically prove:</a:t>
            </a:r>
          </a:p>
          <a:p>
            <a:pPr>
              <a:lnSpc>
                <a:spcPct val="90000"/>
              </a:lnSpc>
            </a:pPr>
            <a:r>
              <a:rPr lang="en-US" sz="1300"/>
              <a:t>value</a:t>
            </a:r>
          </a:p>
          <a:p>
            <a:pPr>
              <a:lnSpc>
                <a:spcPct val="90000"/>
              </a:lnSpc>
            </a:pPr>
            <a:r>
              <a:rPr lang="en-US" sz="1300"/>
              <a:t>authority</a:t>
            </a:r>
          </a:p>
          <a:p>
            <a:pPr>
              <a:lnSpc>
                <a:spcPct val="90000"/>
              </a:lnSpc>
            </a:pPr>
            <a:r>
              <a:rPr lang="en-US" sz="1300"/>
              <a:t>quality</a:t>
            </a:r>
          </a:p>
          <a:p>
            <a:pPr>
              <a:lnSpc>
                <a:spcPct val="90000"/>
              </a:lnSpc>
            </a:pPr>
            <a:r>
              <a:rPr lang="en-US" sz="1300"/>
              <a:t>fairness</a:t>
            </a:r>
          </a:p>
          <a:p>
            <a:pPr>
              <a:lnSpc>
                <a:spcPct val="90000"/>
              </a:lnSpc>
            </a:pPr>
            <a:r>
              <a:rPr lang="en-US" sz="1300"/>
              <a:t>truth</a:t>
            </a:r>
          </a:p>
          <a:p>
            <a:pPr marL="0" indent="0">
              <a:lnSpc>
                <a:spcPct val="90000"/>
              </a:lnSpc>
              <a:buNone/>
            </a:pPr>
            <a:endParaRPr lang="en-US" sz="1300"/>
          </a:p>
          <a:p>
            <a:pPr marL="0" indent="0">
              <a:lnSpc>
                <a:spcPct val="90000"/>
              </a:lnSpc>
              <a:buNone/>
            </a:pPr>
            <a:r>
              <a:rPr lang="en-US" sz="1300"/>
              <a:t>Metrics need interpretation.</a:t>
            </a:r>
          </a:p>
          <a:p>
            <a:pPr marL="0" indent="0">
              <a:lnSpc>
                <a:spcPct val="90000"/>
              </a:lnSpc>
              <a:buNone/>
            </a:pPr>
            <a:endParaRPr lang="en-US" sz="1300"/>
          </a:p>
        </p:txBody>
      </p:sp>
      <p:pic>
        <p:nvPicPr>
          <p:cNvPr id="7" name="Picture 6" descr="Photograph of multiple black metallic spheres balanced on black seesaws arranged in a receding line, creating a sense of depth and symmetry. The composition highlights balance and equilibrium with reflective surfaces and a minimalist gray background.">
            <a:extLst>
              <a:ext uri="{FF2B5EF4-FFF2-40B4-BE49-F238E27FC236}">
                <a16:creationId xmlns:a16="http://schemas.microsoft.com/office/drawing/2014/main" id="{D6F8EED4-3ACE-FE49-2E5E-C05377728C5F}"/>
              </a:ext>
            </a:extLst>
          </p:cNvPr>
          <p:cNvPicPr>
            <a:picLocks noChangeAspect="1"/>
          </p:cNvPicPr>
          <p:nvPr/>
        </p:nvPicPr>
        <p:blipFill>
          <a:blip r:embed="rId3"/>
          <a:srcRect l="33462" r="30844" b="1"/>
          <a:stretch>
            <a:fillRect/>
          </a:stretch>
        </p:blipFill>
        <p:spPr>
          <a:xfrm>
            <a:off x="953589" y="804672"/>
            <a:ext cx="3089787" cy="5237021"/>
          </a:xfrm>
          <a:prstGeom prst="rect">
            <a:avLst/>
          </a:prstGeom>
        </p:spPr>
      </p:pic>
    </p:spTree>
    <p:extLst>
      <p:ext uri="{BB962C8B-B14F-4D97-AF65-F5344CB8AC3E}">
        <p14:creationId xmlns:p14="http://schemas.microsoft.com/office/powerpoint/2010/main" val="5013517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6" name="Picture 5" descr="An early morning coffee with bread and a newspaper on top of the table">
            <a:extLst>
              <a:ext uri="{FF2B5EF4-FFF2-40B4-BE49-F238E27FC236}">
                <a16:creationId xmlns:a16="http://schemas.microsoft.com/office/drawing/2014/main" id="{2CA68A41-59AC-F3FD-75C1-FCADEBC3CAC0}"/>
              </a:ext>
            </a:extLst>
          </p:cNvPr>
          <p:cNvPicPr>
            <a:picLocks noChangeAspect="1"/>
          </p:cNvPicPr>
          <p:nvPr/>
        </p:nvPicPr>
        <p:blipFill>
          <a:blip r:embed="rId3"/>
          <a:srcRect l="27073" r="33544"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 name="Title 1">
            <a:extLst>
              <a:ext uri="{FF2B5EF4-FFF2-40B4-BE49-F238E27FC236}">
                <a16:creationId xmlns:a16="http://schemas.microsoft.com/office/drawing/2014/main" id="{63908760-A3AD-E66A-3E04-035F758D74CE}"/>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r>
              <a:rPr lang="en-US" sz="5400"/>
              <a:t>Break</a:t>
            </a:r>
          </a:p>
        </p:txBody>
      </p:sp>
      <p:sp>
        <p:nvSpPr>
          <p:cNvPr id="4" name="Text Placeholder 3">
            <a:extLst>
              <a:ext uri="{FF2B5EF4-FFF2-40B4-BE49-F238E27FC236}">
                <a16:creationId xmlns:a16="http://schemas.microsoft.com/office/drawing/2014/main" id="{C9D4AA2D-3713-F440-C083-19BB24F18FEB}"/>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r>
              <a:rPr lang="en-US" sz="1800" dirty="0"/>
              <a:t>10 Minute “Human” </a:t>
            </a:r>
            <a:br>
              <a:rPr lang="en-US" sz="1800" dirty="0"/>
            </a:br>
            <a:r>
              <a:rPr lang="en-US" sz="1800" dirty="0"/>
              <a:t>bio-break</a:t>
            </a:r>
          </a:p>
        </p:txBody>
      </p:sp>
    </p:spTree>
    <p:extLst>
      <p:ext uri="{BB962C8B-B14F-4D97-AF65-F5344CB8AC3E}">
        <p14:creationId xmlns:p14="http://schemas.microsoft.com/office/powerpoint/2010/main" val="12444076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1081EEEC-7400-E37E-0DC8-16511E042662}"/>
              </a:ext>
            </a:extLst>
          </p:cNvPr>
          <p:cNvSpPr>
            <a:spLocks noGrp="1"/>
          </p:cNvSpPr>
          <p:nvPr>
            <p:ph type="title"/>
          </p:nvPr>
        </p:nvSpPr>
        <p:spPr>
          <a:xfrm>
            <a:off x="3730752" y="1265314"/>
            <a:ext cx="3224750" cy="3249131"/>
          </a:xfrm>
        </p:spPr>
        <p:txBody>
          <a:bodyPr vert="horz" lIns="91440" tIns="45720" rIns="91440" bIns="45720" rtlCol="0" anchor="b">
            <a:normAutofit/>
          </a:bodyPr>
          <a:lstStyle/>
          <a:p>
            <a:r>
              <a:rPr lang="en-US" sz="5000" dirty="0"/>
              <a:t>Graph Traversals</a:t>
            </a:r>
          </a:p>
        </p:txBody>
      </p:sp>
      <p:sp>
        <p:nvSpPr>
          <p:cNvPr id="23" name="Isosceles Triangle 22">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8" name="Graphic 7" descr="Upward trend">
            <a:extLst>
              <a:ext uri="{FF2B5EF4-FFF2-40B4-BE49-F238E27FC236}">
                <a16:creationId xmlns:a16="http://schemas.microsoft.com/office/drawing/2014/main" id="{9FEF5BA6-C825-B12C-5AC2-9C85D5853D9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2943053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FE8F29-914B-2E2D-A7E3-34648E862632}"/>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8" name="Rectangle 17">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31">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6" name="Freeform: Shape 45">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62EC6F44-244F-D171-CC35-58D040CF4596}"/>
              </a:ext>
            </a:extLst>
          </p:cNvPr>
          <p:cNvSpPr>
            <a:spLocks noGrp="1"/>
          </p:cNvSpPr>
          <p:nvPr>
            <p:ph type="title"/>
          </p:nvPr>
        </p:nvSpPr>
        <p:spPr>
          <a:xfrm>
            <a:off x="5386292" y="609600"/>
            <a:ext cx="3384742" cy="2227730"/>
          </a:xfrm>
        </p:spPr>
        <p:txBody>
          <a:bodyPr anchor="ctr">
            <a:normAutofit/>
          </a:bodyPr>
          <a:lstStyle/>
          <a:p>
            <a:r>
              <a:rPr lang="en-US">
                <a:solidFill>
                  <a:srgbClr val="FFFFFF"/>
                </a:solidFill>
              </a:rPr>
              <a:t>Traversal</a:t>
            </a:r>
          </a:p>
        </p:txBody>
      </p:sp>
      <p:pic>
        <p:nvPicPr>
          <p:cNvPr id="7" name="Picture 6" descr="Photograph of brass pins connected by thin golden threads arranged on a dark wooden surface, forming a geometric network pattern. The setup highlights interconnected nodes and pathways, illustrating concepts of connectivity, structure, or communication.">
            <a:extLst>
              <a:ext uri="{FF2B5EF4-FFF2-40B4-BE49-F238E27FC236}">
                <a16:creationId xmlns:a16="http://schemas.microsoft.com/office/drawing/2014/main" id="{E7B15B35-7316-A372-CCCE-FF857E97912C}"/>
              </a:ext>
            </a:extLst>
          </p:cNvPr>
          <p:cNvPicPr>
            <a:picLocks noChangeAspect="1"/>
          </p:cNvPicPr>
          <p:nvPr/>
        </p:nvPicPr>
        <p:blipFill>
          <a:blip r:embed="rId3"/>
          <a:srcRect l="23480" r="37137" b="-2"/>
          <a:stretch>
            <a:fillRect/>
          </a:stretch>
        </p:blipFill>
        <p:spPr>
          <a:xfrm>
            <a:off x="654258" y="1168399"/>
            <a:ext cx="2719940" cy="4610101"/>
          </a:xfrm>
          <a:prstGeom prst="rect">
            <a:avLst/>
          </a:prstGeom>
        </p:spPr>
      </p:pic>
      <p:sp>
        <p:nvSpPr>
          <p:cNvPr id="5" name="Content Placeholder 4">
            <a:extLst>
              <a:ext uri="{FF2B5EF4-FFF2-40B4-BE49-F238E27FC236}">
                <a16:creationId xmlns:a16="http://schemas.microsoft.com/office/drawing/2014/main" id="{463074AB-37C7-633D-8D42-6F739E8A5B73}"/>
              </a:ext>
            </a:extLst>
          </p:cNvPr>
          <p:cNvSpPr>
            <a:spLocks noGrp="1"/>
          </p:cNvSpPr>
          <p:nvPr>
            <p:ph idx="1"/>
          </p:nvPr>
        </p:nvSpPr>
        <p:spPr>
          <a:xfrm>
            <a:off x="5386293" y="2837329"/>
            <a:ext cx="3384741" cy="3317938"/>
          </a:xfrm>
        </p:spPr>
        <p:txBody>
          <a:bodyPr anchor="t">
            <a:normAutofit/>
          </a:bodyPr>
          <a:lstStyle/>
          <a:p>
            <a:pPr marL="0" indent="0">
              <a:buNone/>
            </a:pPr>
            <a:r>
              <a:rPr lang="en-US">
                <a:solidFill>
                  <a:srgbClr val="FFFFFF"/>
                </a:solidFill>
              </a:rPr>
              <a:t>Traversal means visiting nodes by following edges.</a:t>
            </a:r>
          </a:p>
          <a:p>
            <a:pPr marL="0" indent="0">
              <a:buNone/>
            </a:pPr>
            <a:endParaRPr lang="en-US">
              <a:solidFill>
                <a:srgbClr val="FFFFFF"/>
              </a:solidFill>
            </a:endParaRPr>
          </a:p>
          <a:p>
            <a:pPr marL="0" indent="0">
              <a:buNone/>
            </a:pPr>
            <a:r>
              <a:rPr lang="en-US">
                <a:solidFill>
                  <a:srgbClr val="FFFFFF"/>
                </a:solidFill>
              </a:rPr>
              <a:t>Traversal depends on:</a:t>
            </a:r>
          </a:p>
          <a:p>
            <a:r>
              <a:rPr lang="en-US">
                <a:solidFill>
                  <a:srgbClr val="FFFFFF"/>
                </a:solidFill>
              </a:rPr>
              <a:t>start node</a:t>
            </a:r>
          </a:p>
          <a:p>
            <a:r>
              <a:rPr lang="en-US">
                <a:solidFill>
                  <a:srgbClr val="FFFFFF"/>
                </a:solidFill>
              </a:rPr>
              <a:t>graph structure</a:t>
            </a:r>
          </a:p>
          <a:p>
            <a:r>
              <a:rPr lang="en-US">
                <a:solidFill>
                  <a:srgbClr val="FFFFFF"/>
                </a:solidFill>
              </a:rPr>
              <a:t>neighbor order</a:t>
            </a:r>
          </a:p>
          <a:p>
            <a:r>
              <a:rPr lang="en-US">
                <a:solidFill>
                  <a:srgbClr val="FFFFFF"/>
                </a:solidFill>
              </a:rPr>
              <a:t>traversal method</a:t>
            </a:r>
          </a:p>
        </p:txBody>
      </p:sp>
    </p:spTree>
    <p:extLst>
      <p:ext uri="{BB962C8B-B14F-4D97-AF65-F5344CB8AC3E}">
        <p14:creationId xmlns:p14="http://schemas.microsoft.com/office/powerpoint/2010/main" val="3124194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D2F28A-BCF7-2FB1-E8F3-CDCE3A164B82}"/>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853602DA-C201-6BF4-7315-0A14667B1021}"/>
              </a:ext>
            </a:extLst>
          </p:cNvPr>
          <p:cNvSpPr>
            <a:spLocks noGrp="1"/>
          </p:cNvSpPr>
          <p:nvPr>
            <p:ph type="title"/>
          </p:nvPr>
        </p:nvSpPr>
        <p:spPr>
          <a:xfrm>
            <a:off x="482600" y="816638"/>
            <a:ext cx="2525519" cy="5224724"/>
          </a:xfrm>
        </p:spPr>
        <p:txBody>
          <a:bodyPr anchor="ctr">
            <a:normAutofit/>
          </a:bodyPr>
          <a:lstStyle/>
          <a:p>
            <a:r>
              <a:rPr lang="en-US" dirty="0"/>
              <a:t>Breadth-First Search</a:t>
            </a:r>
          </a:p>
        </p:txBody>
      </p:sp>
      <p:sp>
        <p:nvSpPr>
          <p:cNvPr id="5" name="Content Placeholder 4">
            <a:extLst>
              <a:ext uri="{FF2B5EF4-FFF2-40B4-BE49-F238E27FC236}">
                <a16:creationId xmlns:a16="http://schemas.microsoft.com/office/drawing/2014/main" id="{A6FE0A60-8C99-ED0A-2131-FBCBB358CADA}"/>
              </a:ext>
            </a:extLst>
          </p:cNvPr>
          <p:cNvSpPr>
            <a:spLocks noGrp="1"/>
          </p:cNvSpPr>
          <p:nvPr>
            <p:ph idx="1"/>
          </p:nvPr>
        </p:nvSpPr>
        <p:spPr>
          <a:xfrm>
            <a:off x="3490721" y="816638"/>
            <a:ext cx="3464779" cy="5224724"/>
          </a:xfrm>
        </p:spPr>
        <p:txBody>
          <a:bodyPr anchor="ctr">
            <a:normAutofit/>
          </a:bodyPr>
          <a:lstStyle/>
          <a:p>
            <a:pPr marL="0" indent="0">
              <a:buNone/>
            </a:pPr>
            <a:r>
              <a:rPr lang="en-US" dirty="0"/>
              <a:t>BFS explores outward by layers.</a:t>
            </a:r>
          </a:p>
          <a:p>
            <a:pPr marL="0" indent="0">
              <a:buNone/>
            </a:pPr>
            <a:endParaRPr lang="en-US" dirty="0"/>
          </a:p>
          <a:p>
            <a:pPr marL="0" indent="0">
              <a:buNone/>
            </a:pPr>
            <a:r>
              <a:rPr lang="en-US" dirty="0"/>
              <a:t>It tends to visit:</a:t>
            </a:r>
          </a:p>
          <a:p>
            <a:r>
              <a:rPr lang="en-US" dirty="0"/>
              <a:t>the start node</a:t>
            </a:r>
          </a:p>
          <a:p>
            <a:r>
              <a:rPr lang="en-US" dirty="0"/>
              <a:t>direct neighbors</a:t>
            </a:r>
          </a:p>
          <a:p>
            <a:r>
              <a:rPr lang="en-US" dirty="0"/>
              <a:t>neighbors of neighbors</a:t>
            </a:r>
          </a:p>
          <a:p>
            <a:r>
              <a:rPr lang="en-US" dirty="0"/>
              <a:t>later layers</a:t>
            </a:r>
          </a:p>
        </p:txBody>
      </p:sp>
    </p:spTree>
    <p:extLst>
      <p:ext uri="{BB962C8B-B14F-4D97-AF65-F5344CB8AC3E}">
        <p14:creationId xmlns:p14="http://schemas.microsoft.com/office/powerpoint/2010/main" val="22090561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3B8670-155C-89DA-8784-6D5CF7B30312}"/>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0" name="Straight Connector 9">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8A7BF25D-8E1E-99B0-C6FA-FE1DB5D27FC0}"/>
              </a:ext>
            </a:extLst>
          </p:cNvPr>
          <p:cNvSpPr>
            <a:spLocks noGrp="1"/>
          </p:cNvSpPr>
          <p:nvPr>
            <p:ph type="title"/>
          </p:nvPr>
        </p:nvSpPr>
        <p:spPr>
          <a:xfrm>
            <a:off x="1200149" y="4571999"/>
            <a:ext cx="5755351" cy="1087656"/>
          </a:xfrm>
        </p:spPr>
        <p:txBody>
          <a:bodyPr vert="horz" lIns="91440" tIns="45720" rIns="91440" bIns="45720" rtlCol="0" anchor="b">
            <a:normAutofit/>
          </a:bodyPr>
          <a:lstStyle/>
          <a:p>
            <a:r>
              <a:rPr lang="en-US" sz="4200"/>
              <a:t>BFS Evidence</a:t>
            </a:r>
          </a:p>
        </p:txBody>
      </p:sp>
      <p:graphicFrame>
        <p:nvGraphicFramePr>
          <p:cNvPr id="2" name="Content Placeholder 1">
            <a:extLst>
              <a:ext uri="{FF2B5EF4-FFF2-40B4-BE49-F238E27FC236}">
                <a16:creationId xmlns:a16="http://schemas.microsoft.com/office/drawing/2014/main" id="{EC795EC2-A380-6A5F-BA86-42556E1B0D40}"/>
              </a:ext>
            </a:extLst>
          </p:cNvPr>
          <p:cNvGraphicFramePr>
            <a:graphicFrameLocks noGrp="1"/>
          </p:cNvGraphicFramePr>
          <p:nvPr>
            <p:ph idx="1"/>
            <p:extLst>
              <p:ext uri="{D42A27DB-BD31-4B8C-83A1-F6EECF244321}">
                <p14:modId xmlns:p14="http://schemas.microsoft.com/office/powerpoint/2010/main" val="2991686457"/>
              </p:ext>
            </p:extLst>
          </p:nvPr>
        </p:nvGraphicFramePr>
        <p:xfrm>
          <a:off x="1200150" y="1369274"/>
          <a:ext cx="5718874" cy="2123010"/>
        </p:xfrm>
        <a:graphic>
          <a:graphicData uri="http://schemas.openxmlformats.org/drawingml/2006/table">
            <a:tbl>
              <a:tblPr firstRow="1" bandRow="1">
                <a:tableStyleId>{5C22544A-7EE6-4342-B048-85BDC9FD1C3A}</a:tableStyleId>
              </a:tblPr>
              <a:tblGrid>
                <a:gridCol w="1124845">
                  <a:extLst>
                    <a:ext uri="{9D8B030D-6E8A-4147-A177-3AD203B41FA5}">
                      <a16:colId xmlns:a16="http://schemas.microsoft.com/office/drawing/2014/main" val="4243553885"/>
                    </a:ext>
                  </a:extLst>
                </a:gridCol>
                <a:gridCol w="1543477">
                  <a:extLst>
                    <a:ext uri="{9D8B030D-6E8A-4147-A177-3AD203B41FA5}">
                      <a16:colId xmlns:a16="http://schemas.microsoft.com/office/drawing/2014/main" val="2191347124"/>
                    </a:ext>
                  </a:extLst>
                </a:gridCol>
                <a:gridCol w="1616283">
                  <a:extLst>
                    <a:ext uri="{9D8B030D-6E8A-4147-A177-3AD203B41FA5}">
                      <a16:colId xmlns:a16="http://schemas.microsoft.com/office/drawing/2014/main" val="1268058076"/>
                    </a:ext>
                  </a:extLst>
                </a:gridCol>
                <a:gridCol w="1434269">
                  <a:extLst>
                    <a:ext uri="{9D8B030D-6E8A-4147-A177-3AD203B41FA5}">
                      <a16:colId xmlns:a16="http://schemas.microsoft.com/office/drawing/2014/main" val="1136902586"/>
                    </a:ext>
                  </a:extLst>
                </a:gridCol>
              </a:tblGrid>
              <a:tr h="969770">
                <a:tc>
                  <a:txBody>
                    <a:bodyPr/>
                    <a:lstStyle/>
                    <a:p>
                      <a:r>
                        <a:rPr lang="en-US" sz="2600"/>
                        <a:t>Step</a:t>
                      </a:r>
                    </a:p>
                  </a:txBody>
                  <a:tcPr marL="131050" marR="131050" marT="65525" marB="65525"/>
                </a:tc>
                <a:tc>
                  <a:txBody>
                    <a:bodyPr/>
                    <a:lstStyle/>
                    <a:p>
                      <a:r>
                        <a:rPr lang="en-US" sz="2600"/>
                        <a:t>Current Node</a:t>
                      </a:r>
                    </a:p>
                  </a:txBody>
                  <a:tcPr marL="131050" marR="131050" marT="65525" marB="65525"/>
                </a:tc>
                <a:tc>
                  <a:txBody>
                    <a:bodyPr/>
                    <a:lstStyle/>
                    <a:p>
                      <a:r>
                        <a:rPr lang="en-US" sz="2600"/>
                        <a:t>QUEUE State</a:t>
                      </a:r>
                    </a:p>
                  </a:txBody>
                  <a:tcPr marL="131050" marR="131050" marT="65525" marB="65525"/>
                </a:tc>
                <a:tc>
                  <a:txBody>
                    <a:bodyPr/>
                    <a:lstStyle/>
                    <a:p>
                      <a:r>
                        <a:rPr lang="en-US" sz="2600"/>
                        <a:t>Visited Nodes</a:t>
                      </a:r>
                    </a:p>
                  </a:txBody>
                  <a:tcPr marL="131050" marR="131050" marT="65525" marB="65525"/>
                </a:tc>
                <a:extLst>
                  <a:ext uri="{0D108BD9-81ED-4DB2-BD59-A6C34878D82A}">
                    <a16:rowId xmlns:a16="http://schemas.microsoft.com/office/drawing/2014/main" val="3203106860"/>
                  </a:ext>
                </a:extLst>
              </a:tr>
              <a:tr h="576620">
                <a:tc>
                  <a:txBody>
                    <a:bodyPr/>
                    <a:lstStyle/>
                    <a:p>
                      <a:r>
                        <a:rPr lang="en-US" sz="2600"/>
                        <a:t>1</a:t>
                      </a:r>
                    </a:p>
                  </a:txBody>
                  <a:tcPr marL="131050" marR="131050" marT="65525" marB="65525"/>
                </a:tc>
                <a:tc>
                  <a:txBody>
                    <a:bodyPr/>
                    <a:lstStyle/>
                    <a:p>
                      <a:endParaRPr lang="en-US" sz="2600"/>
                    </a:p>
                  </a:txBody>
                  <a:tcPr marL="131050" marR="131050" marT="65525" marB="65525"/>
                </a:tc>
                <a:tc>
                  <a:txBody>
                    <a:bodyPr/>
                    <a:lstStyle/>
                    <a:p>
                      <a:endParaRPr lang="en-US" sz="2600"/>
                    </a:p>
                  </a:txBody>
                  <a:tcPr marL="131050" marR="131050" marT="65525" marB="65525"/>
                </a:tc>
                <a:tc>
                  <a:txBody>
                    <a:bodyPr/>
                    <a:lstStyle/>
                    <a:p>
                      <a:endParaRPr lang="en-US" sz="2600"/>
                    </a:p>
                  </a:txBody>
                  <a:tcPr marL="131050" marR="131050" marT="65525" marB="65525"/>
                </a:tc>
                <a:extLst>
                  <a:ext uri="{0D108BD9-81ED-4DB2-BD59-A6C34878D82A}">
                    <a16:rowId xmlns:a16="http://schemas.microsoft.com/office/drawing/2014/main" val="1463337603"/>
                  </a:ext>
                </a:extLst>
              </a:tr>
              <a:tr h="576620">
                <a:tc>
                  <a:txBody>
                    <a:bodyPr/>
                    <a:lstStyle/>
                    <a:p>
                      <a:r>
                        <a:rPr lang="en-US" sz="2600"/>
                        <a:t>2 …</a:t>
                      </a:r>
                    </a:p>
                  </a:txBody>
                  <a:tcPr marL="131050" marR="131050" marT="65525" marB="65525"/>
                </a:tc>
                <a:tc>
                  <a:txBody>
                    <a:bodyPr/>
                    <a:lstStyle/>
                    <a:p>
                      <a:endParaRPr lang="en-US" sz="2600"/>
                    </a:p>
                  </a:txBody>
                  <a:tcPr marL="131050" marR="131050" marT="65525" marB="65525"/>
                </a:tc>
                <a:tc>
                  <a:txBody>
                    <a:bodyPr/>
                    <a:lstStyle/>
                    <a:p>
                      <a:endParaRPr lang="en-US" sz="2600"/>
                    </a:p>
                  </a:txBody>
                  <a:tcPr marL="131050" marR="131050" marT="65525" marB="65525"/>
                </a:tc>
                <a:tc>
                  <a:txBody>
                    <a:bodyPr/>
                    <a:lstStyle/>
                    <a:p>
                      <a:endParaRPr lang="en-US" sz="2600"/>
                    </a:p>
                  </a:txBody>
                  <a:tcPr marL="131050" marR="131050" marT="65525" marB="65525"/>
                </a:tc>
                <a:extLst>
                  <a:ext uri="{0D108BD9-81ED-4DB2-BD59-A6C34878D82A}">
                    <a16:rowId xmlns:a16="http://schemas.microsoft.com/office/drawing/2014/main" val="1407152052"/>
                  </a:ext>
                </a:extLst>
              </a:tr>
            </a:tbl>
          </a:graphicData>
        </a:graphic>
      </p:graphicFrame>
    </p:spTree>
    <p:extLst>
      <p:ext uri="{BB962C8B-B14F-4D97-AF65-F5344CB8AC3E}">
        <p14:creationId xmlns:p14="http://schemas.microsoft.com/office/powerpoint/2010/main" val="8687181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AB416-69C6-1729-DDEE-0650EF4E2A5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9CCAE1-E669-51A0-7C5F-307807473F00}"/>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BFS Evidence</a:t>
            </a:r>
          </a:p>
        </p:txBody>
      </p:sp>
      <p:pic>
        <p:nvPicPr>
          <p:cNvPr id="5" name="Picture Placeholder 4" descr="Diagram illustrating BFS layers from start node A with nodes grouped into four layers: A in Layer 0, B and C in Layer 1, D and E in Layer 2, and F in Layer 3, connected by edges. Accompanying table shows BFS queue evidence with steps, visited nodes, and queue contents highlighting exploration order and nearest neighbor traversal.">
            <a:extLst>
              <a:ext uri="{FF2B5EF4-FFF2-40B4-BE49-F238E27FC236}">
                <a16:creationId xmlns:a16="http://schemas.microsoft.com/office/drawing/2014/main" id="{E969B153-55E2-5C77-3C56-F1CEFEF5F411}"/>
              </a:ext>
            </a:extLst>
          </p:cNvPr>
          <p:cNvPicPr>
            <a:picLocks noGrp="1" noChangeAspect="1"/>
          </p:cNvPicPr>
          <p:nvPr>
            <p:ph type="pic" idx="1"/>
          </p:nvPr>
        </p:nvPicPr>
        <p:blipFill>
          <a:blip r:embed="rId3"/>
          <a:srcRect t="1058" b="1058"/>
          <a:stretch>
            <a:fillRect/>
          </a:stretch>
        </p:blipFill>
        <p:spPr>
          <a:xfrm>
            <a:off x="609599" y="609600"/>
            <a:ext cx="6347714" cy="4027714"/>
          </a:xfrm>
          <a:prstGeom prst="rect">
            <a:avLst/>
          </a:prstGeom>
        </p:spPr>
      </p:pic>
    </p:spTree>
    <p:extLst>
      <p:ext uri="{BB962C8B-B14F-4D97-AF65-F5344CB8AC3E}">
        <p14:creationId xmlns:p14="http://schemas.microsoft.com/office/powerpoint/2010/main" val="400398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A7D87F-72DF-D355-B520-9888DB22C1AB}"/>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61E6E37F-29AF-C45F-787B-2BB0F361758C}"/>
              </a:ext>
            </a:extLst>
          </p:cNvPr>
          <p:cNvSpPr>
            <a:spLocks noGrp="1"/>
          </p:cNvSpPr>
          <p:nvPr>
            <p:ph type="title"/>
          </p:nvPr>
        </p:nvSpPr>
        <p:spPr>
          <a:xfrm>
            <a:off x="482600" y="816638"/>
            <a:ext cx="2525519" cy="5224724"/>
          </a:xfrm>
        </p:spPr>
        <p:txBody>
          <a:bodyPr anchor="ctr">
            <a:normAutofit/>
          </a:bodyPr>
          <a:lstStyle/>
          <a:p>
            <a:r>
              <a:rPr lang="en-US" dirty="0"/>
              <a:t>Depth-First Search</a:t>
            </a:r>
          </a:p>
        </p:txBody>
      </p:sp>
      <p:sp>
        <p:nvSpPr>
          <p:cNvPr id="5" name="Content Placeholder 4">
            <a:extLst>
              <a:ext uri="{FF2B5EF4-FFF2-40B4-BE49-F238E27FC236}">
                <a16:creationId xmlns:a16="http://schemas.microsoft.com/office/drawing/2014/main" id="{A2F450EF-AB40-2D9F-02C9-AEB0651B023B}"/>
              </a:ext>
            </a:extLst>
          </p:cNvPr>
          <p:cNvSpPr>
            <a:spLocks noGrp="1"/>
          </p:cNvSpPr>
          <p:nvPr>
            <p:ph idx="1"/>
          </p:nvPr>
        </p:nvSpPr>
        <p:spPr>
          <a:xfrm>
            <a:off x="3490721" y="816638"/>
            <a:ext cx="3464779" cy="5224724"/>
          </a:xfrm>
        </p:spPr>
        <p:txBody>
          <a:bodyPr anchor="ctr">
            <a:normAutofit/>
          </a:bodyPr>
          <a:lstStyle/>
          <a:p>
            <a:pPr marL="0" indent="0">
              <a:buNone/>
            </a:pPr>
            <a:r>
              <a:rPr lang="en-US" dirty="0"/>
              <a:t>DFS follows a path deeply before backing up.</a:t>
            </a:r>
          </a:p>
          <a:p>
            <a:pPr marL="0" indent="0">
              <a:buNone/>
            </a:pPr>
            <a:endParaRPr lang="en-US" dirty="0"/>
          </a:p>
          <a:p>
            <a:pPr marL="0" indent="0">
              <a:buNone/>
            </a:pPr>
            <a:r>
              <a:rPr lang="en-US" dirty="0"/>
              <a:t>It tends to:</a:t>
            </a:r>
          </a:p>
          <a:p>
            <a:r>
              <a:rPr lang="en-US" dirty="0"/>
              <a:t>choose a neighbor</a:t>
            </a:r>
          </a:p>
          <a:p>
            <a:r>
              <a:rPr lang="en-US" dirty="0"/>
              <a:t>continue from that neighbor</a:t>
            </a:r>
          </a:p>
          <a:p>
            <a:r>
              <a:rPr lang="en-US" dirty="0"/>
              <a:t>keep going until it cannot</a:t>
            </a:r>
          </a:p>
          <a:p>
            <a:r>
              <a:rPr lang="en-US" dirty="0"/>
              <a:t>backtrack and try another path</a:t>
            </a:r>
          </a:p>
        </p:txBody>
      </p:sp>
    </p:spTree>
    <p:extLst>
      <p:ext uri="{BB962C8B-B14F-4D97-AF65-F5344CB8AC3E}">
        <p14:creationId xmlns:p14="http://schemas.microsoft.com/office/powerpoint/2010/main" val="30521926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CD79A8-5744-CC9E-D287-A5751D4EF62F}"/>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E056EDAA-4D07-1925-215C-78671E827DF9}"/>
              </a:ext>
            </a:extLst>
          </p:cNvPr>
          <p:cNvSpPr>
            <a:spLocks noGrp="1"/>
          </p:cNvSpPr>
          <p:nvPr>
            <p:ph type="title"/>
          </p:nvPr>
        </p:nvSpPr>
        <p:spPr>
          <a:xfrm>
            <a:off x="1200149" y="4571999"/>
            <a:ext cx="5755351" cy="1087656"/>
          </a:xfrm>
        </p:spPr>
        <p:txBody>
          <a:bodyPr vert="horz" lIns="91440" tIns="45720" rIns="91440" bIns="45720" rtlCol="0" anchor="b">
            <a:normAutofit/>
          </a:bodyPr>
          <a:lstStyle/>
          <a:p>
            <a:r>
              <a:rPr lang="en-US" sz="4200"/>
              <a:t>DFS Evidence</a:t>
            </a:r>
          </a:p>
        </p:txBody>
      </p:sp>
      <p:graphicFrame>
        <p:nvGraphicFramePr>
          <p:cNvPr id="7" name="Content Placeholder 1">
            <a:extLst>
              <a:ext uri="{FF2B5EF4-FFF2-40B4-BE49-F238E27FC236}">
                <a16:creationId xmlns:a16="http://schemas.microsoft.com/office/drawing/2014/main" id="{82DF82B9-63DB-55BE-AD3F-385224C3DEC2}"/>
              </a:ext>
            </a:extLst>
          </p:cNvPr>
          <p:cNvGraphicFramePr>
            <a:graphicFrameLocks/>
          </p:cNvGraphicFramePr>
          <p:nvPr>
            <p:extLst>
              <p:ext uri="{D42A27DB-BD31-4B8C-83A1-F6EECF244321}">
                <p14:modId xmlns:p14="http://schemas.microsoft.com/office/powerpoint/2010/main" val="1733418430"/>
              </p:ext>
            </p:extLst>
          </p:nvPr>
        </p:nvGraphicFramePr>
        <p:xfrm>
          <a:off x="1200150" y="1355586"/>
          <a:ext cx="5718874" cy="2150387"/>
        </p:xfrm>
        <a:graphic>
          <a:graphicData uri="http://schemas.openxmlformats.org/drawingml/2006/table">
            <a:tbl>
              <a:tblPr firstRow="1" bandRow="1">
                <a:tableStyleId>{5C22544A-7EE6-4342-B048-85BDC9FD1C3A}</a:tableStyleId>
              </a:tblPr>
              <a:tblGrid>
                <a:gridCol w="1139350">
                  <a:extLst>
                    <a:ext uri="{9D8B030D-6E8A-4147-A177-3AD203B41FA5}">
                      <a16:colId xmlns:a16="http://schemas.microsoft.com/office/drawing/2014/main" val="4243553885"/>
                    </a:ext>
                  </a:extLst>
                </a:gridCol>
                <a:gridCol w="1563380">
                  <a:extLst>
                    <a:ext uri="{9D8B030D-6E8A-4147-A177-3AD203B41FA5}">
                      <a16:colId xmlns:a16="http://schemas.microsoft.com/office/drawing/2014/main" val="2191347124"/>
                    </a:ext>
                  </a:extLst>
                </a:gridCol>
                <a:gridCol w="1563380">
                  <a:extLst>
                    <a:ext uri="{9D8B030D-6E8A-4147-A177-3AD203B41FA5}">
                      <a16:colId xmlns:a16="http://schemas.microsoft.com/office/drawing/2014/main" val="1268058076"/>
                    </a:ext>
                  </a:extLst>
                </a:gridCol>
                <a:gridCol w="1452764">
                  <a:extLst>
                    <a:ext uri="{9D8B030D-6E8A-4147-A177-3AD203B41FA5}">
                      <a16:colId xmlns:a16="http://schemas.microsoft.com/office/drawing/2014/main" val="1136902586"/>
                    </a:ext>
                  </a:extLst>
                </a:gridCol>
              </a:tblGrid>
              <a:tr h="982275">
                <a:tc>
                  <a:txBody>
                    <a:bodyPr/>
                    <a:lstStyle/>
                    <a:p>
                      <a:r>
                        <a:rPr lang="en-US" sz="2600"/>
                        <a:t>Step</a:t>
                      </a:r>
                    </a:p>
                  </a:txBody>
                  <a:tcPr marL="132740" marR="132740" marT="66370" marB="66370"/>
                </a:tc>
                <a:tc>
                  <a:txBody>
                    <a:bodyPr/>
                    <a:lstStyle/>
                    <a:p>
                      <a:r>
                        <a:rPr lang="en-US" sz="2600"/>
                        <a:t>Current Node</a:t>
                      </a:r>
                    </a:p>
                  </a:txBody>
                  <a:tcPr marL="132740" marR="132740" marT="66370" marB="66370"/>
                </a:tc>
                <a:tc>
                  <a:txBody>
                    <a:bodyPr/>
                    <a:lstStyle/>
                    <a:p>
                      <a:r>
                        <a:rPr lang="en-US" sz="2600"/>
                        <a:t>STACK State</a:t>
                      </a:r>
                    </a:p>
                  </a:txBody>
                  <a:tcPr marL="132740" marR="132740" marT="66370" marB="66370"/>
                </a:tc>
                <a:tc>
                  <a:txBody>
                    <a:bodyPr/>
                    <a:lstStyle/>
                    <a:p>
                      <a:r>
                        <a:rPr lang="en-US" sz="2600"/>
                        <a:t>Visited Nodes</a:t>
                      </a:r>
                    </a:p>
                  </a:txBody>
                  <a:tcPr marL="132740" marR="132740" marT="66370" marB="66370"/>
                </a:tc>
                <a:extLst>
                  <a:ext uri="{0D108BD9-81ED-4DB2-BD59-A6C34878D82A}">
                    <a16:rowId xmlns:a16="http://schemas.microsoft.com/office/drawing/2014/main" val="3203106860"/>
                  </a:ext>
                </a:extLst>
              </a:tr>
              <a:tr h="584056">
                <a:tc>
                  <a:txBody>
                    <a:bodyPr/>
                    <a:lstStyle/>
                    <a:p>
                      <a:r>
                        <a:rPr lang="en-US" sz="2600"/>
                        <a:t>1</a:t>
                      </a:r>
                    </a:p>
                  </a:txBody>
                  <a:tcPr marL="132740" marR="132740" marT="66370" marB="66370"/>
                </a:tc>
                <a:tc>
                  <a:txBody>
                    <a:bodyPr/>
                    <a:lstStyle/>
                    <a:p>
                      <a:endParaRPr lang="en-US" sz="2600"/>
                    </a:p>
                  </a:txBody>
                  <a:tcPr marL="132740" marR="132740" marT="66370" marB="66370"/>
                </a:tc>
                <a:tc>
                  <a:txBody>
                    <a:bodyPr/>
                    <a:lstStyle/>
                    <a:p>
                      <a:endParaRPr lang="en-US" sz="2600"/>
                    </a:p>
                  </a:txBody>
                  <a:tcPr marL="132740" marR="132740" marT="66370" marB="66370"/>
                </a:tc>
                <a:tc>
                  <a:txBody>
                    <a:bodyPr/>
                    <a:lstStyle/>
                    <a:p>
                      <a:endParaRPr lang="en-US" sz="2600"/>
                    </a:p>
                  </a:txBody>
                  <a:tcPr marL="132740" marR="132740" marT="66370" marB="66370"/>
                </a:tc>
                <a:extLst>
                  <a:ext uri="{0D108BD9-81ED-4DB2-BD59-A6C34878D82A}">
                    <a16:rowId xmlns:a16="http://schemas.microsoft.com/office/drawing/2014/main" val="1463337603"/>
                  </a:ext>
                </a:extLst>
              </a:tr>
              <a:tr h="584056">
                <a:tc>
                  <a:txBody>
                    <a:bodyPr/>
                    <a:lstStyle/>
                    <a:p>
                      <a:r>
                        <a:rPr lang="en-US" sz="2600"/>
                        <a:t>2 …</a:t>
                      </a:r>
                    </a:p>
                  </a:txBody>
                  <a:tcPr marL="132740" marR="132740" marT="66370" marB="66370"/>
                </a:tc>
                <a:tc>
                  <a:txBody>
                    <a:bodyPr/>
                    <a:lstStyle/>
                    <a:p>
                      <a:endParaRPr lang="en-US" sz="2600"/>
                    </a:p>
                  </a:txBody>
                  <a:tcPr marL="132740" marR="132740" marT="66370" marB="66370"/>
                </a:tc>
                <a:tc>
                  <a:txBody>
                    <a:bodyPr/>
                    <a:lstStyle/>
                    <a:p>
                      <a:endParaRPr lang="en-US" sz="2600"/>
                    </a:p>
                  </a:txBody>
                  <a:tcPr marL="132740" marR="132740" marT="66370" marB="66370"/>
                </a:tc>
                <a:tc>
                  <a:txBody>
                    <a:bodyPr/>
                    <a:lstStyle/>
                    <a:p>
                      <a:endParaRPr lang="en-US" sz="2600"/>
                    </a:p>
                  </a:txBody>
                  <a:tcPr marL="132740" marR="132740" marT="66370" marB="66370"/>
                </a:tc>
                <a:extLst>
                  <a:ext uri="{0D108BD9-81ED-4DB2-BD59-A6C34878D82A}">
                    <a16:rowId xmlns:a16="http://schemas.microsoft.com/office/drawing/2014/main" val="1407152052"/>
                  </a:ext>
                </a:extLst>
              </a:tr>
            </a:tbl>
          </a:graphicData>
        </a:graphic>
      </p:graphicFrame>
    </p:spTree>
    <p:extLst>
      <p:ext uri="{BB962C8B-B14F-4D97-AF65-F5344CB8AC3E}">
        <p14:creationId xmlns:p14="http://schemas.microsoft.com/office/powerpoint/2010/main" val="36120669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1F254-1C4B-1FF3-3B8D-7F4A82CFD9E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E85B55-DCB6-DAF3-31AB-84FCE13A3922}"/>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DFS Evidence</a:t>
            </a:r>
          </a:p>
        </p:txBody>
      </p:sp>
      <p:pic>
        <p:nvPicPr>
          <p:cNvPr id="5" name="Picture Placeholder 4" descr="Diagram illustrating Depth-First Search (DFS) traversal on a graph with nodes A, B, C, D, E, and F, highlighting current DFS path in green and unvisited branches in gray. Accompanying table shows step-by-step visit order and stack contents, demonstrating DFS explores one path (A → B → D → F) fully before backtracking.">
            <a:extLst>
              <a:ext uri="{FF2B5EF4-FFF2-40B4-BE49-F238E27FC236}">
                <a16:creationId xmlns:a16="http://schemas.microsoft.com/office/drawing/2014/main" id="{7D9258C6-7B1B-B78D-18F1-120158882AD3}"/>
              </a:ext>
            </a:extLst>
          </p:cNvPr>
          <p:cNvPicPr>
            <a:picLocks noGrp="1" noChangeAspect="1"/>
          </p:cNvPicPr>
          <p:nvPr>
            <p:ph type="pic" idx="1"/>
          </p:nvPr>
        </p:nvPicPr>
        <p:blipFill>
          <a:blip r:embed="rId3"/>
          <a:srcRect t="582" b="582"/>
          <a:stretch>
            <a:fillRect/>
          </a:stretch>
        </p:blipFill>
        <p:spPr>
          <a:xfrm>
            <a:off x="609599" y="609599"/>
            <a:ext cx="6347714" cy="4066903"/>
          </a:xfrm>
          <a:prstGeom prst="rect">
            <a:avLst/>
          </a:prstGeom>
        </p:spPr>
      </p:pic>
    </p:spTree>
    <p:extLst>
      <p:ext uri="{BB962C8B-B14F-4D97-AF65-F5344CB8AC3E}">
        <p14:creationId xmlns:p14="http://schemas.microsoft.com/office/powerpoint/2010/main" val="3901090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0C99D0-6459-B0D6-2BB3-7F9D848AC339}"/>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0" name="Straight Connector 9">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5CA5488E-5214-A5B7-F740-40A2B15CB085}"/>
              </a:ext>
            </a:extLst>
          </p:cNvPr>
          <p:cNvSpPr>
            <a:spLocks noGrp="1"/>
          </p:cNvSpPr>
          <p:nvPr>
            <p:ph type="title"/>
          </p:nvPr>
        </p:nvSpPr>
        <p:spPr>
          <a:xfrm>
            <a:off x="1200149" y="4571999"/>
            <a:ext cx="5755351" cy="1087656"/>
          </a:xfrm>
        </p:spPr>
        <p:txBody>
          <a:bodyPr vert="horz" lIns="91440" tIns="45720" rIns="91440" bIns="45720" rtlCol="0" anchor="b">
            <a:normAutofit/>
          </a:bodyPr>
          <a:lstStyle/>
          <a:p>
            <a:r>
              <a:rPr lang="en-US" sz="4200"/>
              <a:t>BFS vs DFS</a:t>
            </a:r>
          </a:p>
        </p:txBody>
      </p:sp>
      <p:graphicFrame>
        <p:nvGraphicFramePr>
          <p:cNvPr id="2" name="Content Placeholder 1">
            <a:extLst>
              <a:ext uri="{FF2B5EF4-FFF2-40B4-BE49-F238E27FC236}">
                <a16:creationId xmlns:a16="http://schemas.microsoft.com/office/drawing/2014/main" id="{F75FD774-D085-66DB-E490-884D7E7C5240}"/>
              </a:ext>
            </a:extLst>
          </p:cNvPr>
          <p:cNvGraphicFramePr>
            <a:graphicFrameLocks noGrp="1"/>
          </p:cNvGraphicFramePr>
          <p:nvPr>
            <p:ph idx="1"/>
            <p:extLst>
              <p:ext uri="{D42A27DB-BD31-4B8C-83A1-F6EECF244321}">
                <p14:modId xmlns:p14="http://schemas.microsoft.com/office/powerpoint/2010/main" val="218096638"/>
              </p:ext>
            </p:extLst>
          </p:nvPr>
        </p:nvGraphicFramePr>
        <p:xfrm>
          <a:off x="1200150" y="1041966"/>
          <a:ext cx="5718873" cy="2777626"/>
        </p:xfrm>
        <a:graphic>
          <a:graphicData uri="http://schemas.openxmlformats.org/drawingml/2006/table">
            <a:tbl>
              <a:tblPr firstRow="1" bandRow="1">
                <a:solidFill>
                  <a:schemeClr val="bg1">
                    <a:lumMod val="95000"/>
                  </a:schemeClr>
                </a:solidFill>
                <a:tableStyleId>{5C22544A-7EE6-4342-B048-85BDC9FD1C3A}</a:tableStyleId>
              </a:tblPr>
              <a:tblGrid>
                <a:gridCol w="1675860">
                  <a:extLst>
                    <a:ext uri="{9D8B030D-6E8A-4147-A177-3AD203B41FA5}">
                      <a16:colId xmlns:a16="http://schemas.microsoft.com/office/drawing/2014/main" val="4258528839"/>
                    </a:ext>
                  </a:extLst>
                </a:gridCol>
                <a:gridCol w="2101623">
                  <a:extLst>
                    <a:ext uri="{9D8B030D-6E8A-4147-A177-3AD203B41FA5}">
                      <a16:colId xmlns:a16="http://schemas.microsoft.com/office/drawing/2014/main" val="4144064784"/>
                    </a:ext>
                  </a:extLst>
                </a:gridCol>
                <a:gridCol w="1941390">
                  <a:extLst>
                    <a:ext uri="{9D8B030D-6E8A-4147-A177-3AD203B41FA5}">
                      <a16:colId xmlns:a16="http://schemas.microsoft.com/office/drawing/2014/main" val="870659709"/>
                    </a:ext>
                  </a:extLst>
                </a:gridCol>
              </a:tblGrid>
              <a:tr h="628482">
                <a:tc>
                  <a:txBody>
                    <a:bodyPr/>
                    <a:lstStyle/>
                    <a:p>
                      <a:r>
                        <a:rPr lang="en-US" sz="2300" b="1" cap="none" spc="0">
                          <a:solidFill>
                            <a:schemeClr val="tx1"/>
                          </a:solidFill>
                        </a:rPr>
                        <a:t>Question</a:t>
                      </a:r>
                    </a:p>
                  </a:txBody>
                  <a:tcPr marL="92294" marR="131849" marT="26370" marB="197774" anchor="b">
                    <a:lnL w="12700" cmpd="sng">
                      <a:noFill/>
                    </a:lnL>
                    <a:lnR w="12700" cmpd="sng">
                      <a:noFill/>
                    </a:lnR>
                    <a:lnT w="9525" cap="flat" cmpd="sng" algn="ctr">
                      <a:noFill/>
                      <a:prstDash val="solid"/>
                    </a:lnT>
                    <a:lnB w="38100" cmpd="sng">
                      <a:noFill/>
                    </a:lnB>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300" b="1" kern="1200" cap="none" spc="0">
                          <a:solidFill>
                            <a:schemeClr val="tx1"/>
                          </a:solidFill>
                          <a:effectLst/>
                          <a:latin typeface="+mn-lt"/>
                          <a:ea typeface="+mn-ea"/>
                          <a:cs typeface="+mn-cs"/>
                        </a:rPr>
                        <a:t>BFS</a:t>
                      </a:r>
                    </a:p>
                  </a:txBody>
                  <a:tcPr marL="92294" marR="131849" marT="26370" marB="197774" anchor="b">
                    <a:lnL w="12700" cmpd="sng">
                      <a:noFill/>
                    </a:lnL>
                    <a:lnR w="12700" cmpd="sng">
                      <a:noFill/>
                    </a:lnR>
                    <a:lnT w="9525" cap="flat" cmpd="sng" algn="ctr">
                      <a:noFill/>
                      <a:prstDash val="solid"/>
                    </a:lnT>
                    <a:lnB w="38100" cmpd="sng">
                      <a:noFill/>
                    </a:lnB>
                    <a:solidFill>
                      <a:schemeClr val="bg1">
                        <a:lumMod val="95000"/>
                      </a:schemeClr>
                    </a:solidFill>
                  </a:tcPr>
                </a:tc>
                <a:tc>
                  <a:txBody>
                    <a:bodyPr/>
                    <a:lstStyle/>
                    <a:p>
                      <a:r>
                        <a:rPr lang="en-US" sz="2300" b="1" cap="none" spc="0">
                          <a:solidFill>
                            <a:schemeClr val="tx1"/>
                          </a:solidFill>
                        </a:rPr>
                        <a:t>DFS</a:t>
                      </a:r>
                    </a:p>
                  </a:txBody>
                  <a:tcPr marL="92294" marR="131849" marT="26370" marB="197774" anchor="b">
                    <a:lnL w="12700" cmpd="sng">
                      <a:noFill/>
                    </a:lnL>
                    <a:lnR w="12700" cmpd="sng">
                      <a:noFill/>
                    </a:lnR>
                    <a:lnT w="9525" cap="flat" cmpd="sng" algn="ctr">
                      <a:noFill/>
                      <a:prstDash val="solid"/>
                    </a:lnT>
                    <a:lnB w="38100" cmpd="sng">
                      <a:noFill/>
                    </a:lnB>
                    <a:solidFill>
                      <a:schemeClr val="bg1">
                        <a:lumMod val="95000"/>
                      </a:schemeClr>
                    </a:solidFill>
                  </a:tcPr>
                </a:tc>
                <a:extLst>
                  <a:ext uri="{0D108BD9-81ED-4DB2-BD59-A6C34878D82A}">
                    <a16:rowId xmlns:a16="http://schemas.microsoft.com/office/drawing/2014/main" val="389278731"/>
                  </a:ext>
                </a:extLst>
              </a:tr>
              <a:tr h="54058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700" b="0" kern="1200" cap="none" spc="0">
                          <a:solidFill>
                            <a:schemeClr val="tx1"/>
                          </a:solidFill>
                          <a:effectLst/>
                          <a:latin typeface="+mn-lt"/>
                          <a:ea typeface="+mn-ea"/>
                          <a:cs typeface="+mn-cs"/>
                        </a:rPr>
                        <a:t>Explores how?</a:t>
                      </a:r>
                    </a:p>
                  </a:txBody>
                  <a:tcPr marL="92294" marR="131849" marT="26370" marB="197774">
                    <a:lnL w="12700" cap="flat" cmpd="sng" algn="ctr">
                      <a:solidFill>
                        <a:schemeClr val="accent1"/>
                      </a:solidFill>
                      <a:prstDash val="solid"/>
                    </a:lnL>
                    <a:lnR w="12700" cmpd="sng">
                      <a:noFill/>
                      <a:prstDash val="solid"/>
                    </a:lnR>
                    <a:lnT w="38100" cmpd="sng">
                      <a:noFill/>
                    </a:lnT>
                    <a:lnB w="9525" cap="flat" cmpd="sng" algn="ctr">
                      <a:noFill/>
                      <a:prstDash val="solid"/>
                    </a:lnB>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700" b="0" kern="1200" cap="none" spc="0">
                          <a:solidFill>
                            <a:schemeClr val="tx1"/>
                          </a:solidFill>
                          <a:effectLst/>
                          <a:latin typeface="+mn-lt"/>
                          <a:ea typeface="+mn-ea"/>
                          <a:cs typeface="+mn-cs"/>
                        </a:rPr>
                        <a:t>outward by layers</a:t>
                      </a:r>
                    </a:p>
                  </a:txBody>
                  <a:tcPr marL="92294" marR="131849" marT="26370" marB="197774">
                    <a:lnL w="12700" cmpd="sng">
                      <a:noFill/>
                      <a:prstDash val="solid"/>
                    </a:lnL>
                    <a:lnR w="12700" cmpd="sng">
                      <a:noFill/>
                      <a:prstDash val="solid"/>
                    </a:lnR>
                    <a:lnT w="38100" cmpd="sng">
                      <a:noFill/>
                    </a:lnT>
                    <a:lnB w="9525" cap="flat" cmpd="sng" algn="ctr">
                      <a:noFill/>
                      <a:prstDash val="solid"/>
                    </a:lnB>
                    <a:solidFill>
                      <a:schemeClr val="bg1">
                        <a:lumMod val="95000"/>
                      </a:schemeClr>
                    </a:solidFill>
                  </a:tcPr>
                </a:tc>
                <a:tc>
                  <a:txBody>
                    <a:bodyPr/>
                    <a:lstStyle/>
                    <a:p>
                      <a:r>
                        <a:rPr lang="en-US" sz="1700" cap="none" spc="0">
                          <a:solidFill>
                            <a:schemeClr val="tx1"/>
                          </a:solidFill>
                        </a:rPr>
                        <a:t>deeply by path</a:t>
                      </a:r>
                    </a:p>
                  </a:txBody>
                  <a:tcPr marL="92294" marR="131849" marT="26370" marB="197774">
                    <a:lnL w="12700" cmpd="sng">
                      <a:noFill/>
                      <a:prstDash val="solid"/>
                    </a:lnL>
                    <a:lnR w="12700" cmpd="sng">
                      <a:noFill/>
                      <a:prstDash val="solid"/>
                    </a:lnR>
                    <a:lnT w="38100" cmpd="sng">
                      <a:noFill/>
                    </a:lnT>
                    <a:lnB w="9525" cap="flat" cmpd="sng" algn="ctr">
                      <a:noFill/>
                      <a:prstDash val="solid"/>
                    </a:lnB>
                    <a:solidFill>
                      <a:schemeClr val="bg1">
                        <a:lumMod val="95000"/>
                      </a:schemeClr>
                    </a:solidFill>
                  </a:tcPr>
                </a:tc>
                <a:extLst>
                  <a:ext uri="{0D108BD9-81ED-4DB2-BD59-A6C34878D82A}">
                    <a16:rowId xmlns:a16="http://schemas.microsoft.com/office/drawing/2014/main" val="1265404523"/>
                  </a:ext>
                </a:extLst>
              </a:tr>
              <a:tr h="804281">
                <a:tc>
                  <a:txBody>
                    <a:bodyPr/>
                    <a:lstStyle/>
                    <a:p>
                      <a:r>
                        <a:rPr lang="en-US" sz="1700" cap="none" spc="0">
                          <a:solidFill>
                            <a:schemeClr val="tx1"/>
                          </a:solidFill>
                        </a:rPr>
                        <a:t>Common state</a:t>
                      </a:r>
                    </a:p>
                  </a:txBody>
                  <a:tcPr marL="92294" marR="131849" marT="26370" marB="197774">
                    <a:lnL w="12700" cap="flat" cmpd="sng" algn="ctr">
                      <a:solidFill>
                        <a:schemeClr val="accent1"/>
                      </a:solidFill>
                      <a:prstDash val="solid"/>
                    </a:lnL>
                    <a:lnR w="12700" cmpd="sng">
                      <a:noFill/>
                      <a:prstDash val="solid"/>
                    </a:lnR>
                    <a:lnT w="9525" cap="flat" cmpd="sng" algn="ctr">
                      <a:noFill/>
                      <a:prstDash val="solid"/>
                    </a:lnT>
                    <a:lnB w="12700" cmpd="sng">
                      <a:noFill/>
                      <a:prstDash val="solid"/>
                    </a:lnB>
                    <a:solidFill>
                      <a:schemeClr val="bg1">
                        <a:lumMod val="85000"/>
                      </a:schemeClr>
                    </a:solidFill>
                  </a:tcPr>
                </a:tc>
                <a:tc>
                  <a:txBody>
                    <a:bodyPr/>
                    <a:lstStyle/>
                    <a:p>
                      <a:r>
                        <a:rPr lang="en-US" sz="1700" cap="none" spc="0">
                          <a:solidFill>
                            <a:schemeClr val="tx1"/>
                          </a:solidFill>
                        </a:rPr>
                        <a:t>queue</a:t>
                      </a:r>
                    </a:p>
                  </a:txBody>
                  <a:tcPr marL="92294" marR="131849" marT="26370" marB="197774">
                    <a:lnL w="12700" cmpd="sng">
                      <a:noFill/>
                      <a:prstDash val="solid"/>
                    </a:lnL>
                    <a:lnR w="12700" cmpd="sng">
                      <a:noFill/>
                      <a:prstDash val="solid"/>
                    </a:lnR>
                    <a:lnT w="9525" cap="flat" cmpd="sng" algn="ctr">
                      <a:noFill/>
                      <a:prstDash val="solid"/>
                    </a:lnT>
                    <a:lnB w="12700" cmpd="sng">
                      <a:noFill/>
                      <a:prstDash val="solid"/>
                    </a:lnB>
                    <a:solidFill>
                      <a:schemeClr val="bg1">
                        <a:lumMod val="85000"/>
                      </a:schemeClr>
                    </a:solidFill>
                  </a:tcPr>
                </a:tc>
                <a:tc>
                  <a:txBody>
                    <a:bodyPr/>
                    <a:lstStyle/>
                    <a:p>
                      <a:r>
                        <a:rPr lang="en-US" sz="1700" cap="none" spc="0">
                          <a:solidFill>
                            <a:schemeClr val="tx1"/>
                          </a:solidFill>
                        </a:rPr>
                        <a:t>stack or call stack</a:t>
                      </a:r>
                    </a:p>
                  </a:txBody>
                  <a:tcPr marL="92294" marR="131849" marT="26370" marB="197774">
                    <a:lnL w="12700" cmpd="sng">
                      <a:noFill/>
                      <a:prstDash val="solid"/>
                    </a:lnL>
                    <a:lnR w="12700" cmpd="sng">
                      <a:noFill/>
                      <a:prstDash val="solid"/>
                    </a:lnR>
                    <a:lnT w="9525" cap="flat" cmpd="sng" algn="ctr">
                      <a:noFill/>
                      <a:prstDash val="solid"/>
                    </a:lnT>
                    <a:lnB w="12700" cmpd="sng">
                      <a:noFill/>
                      <a:prstDash val="solid"/>
                    </a:lnB>
                    <a:solidFill>
                      <a:schemeClr val="bg1">
                        <a:lumMod val="85000"/>
                      </a:schemeClr>
                    </a:solidFill>
                  </a:tcPr>
                </a:tc>
                <a:extLst>
                  <a:ext uri="{0D108BD9-81ED-4DB2-BD59-A6C34878D82A}">
                    <a16:rowId xmlns:a16="http://schemas.microsoft.com/office/drawing/2014/main" val="2322974898"/>
                  </a:ext>
                </a:extLst>
              </a:tr>
              <a:tr h="804281">
                <a:tc>
                  <a:txBody>
                    <a:bodyPr/>
                    <a:lstStyle/>
                    <a:p>
                      <a:r>
                        <a:rPr lang="en-US" sz="1700" cap="none" spc="0">
                          <a:solidFill>
                            <a:schemeClr val="tx1"/>
                          </a:solidFill>
                        </a:rPr>
                        <a:t>Useful for</a:t>
                      </a:r>
                    </a:p>
                  </a:txBody>
                  <a:tcPr marL="92294" marR="131849" marT="26370" marB="197774">
                    <a:lnL w="12700" cap="flat" cmpd="sng" algn="ctr">
                      <a:solidFill>
                        <a:schemeClr val="accent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700" cap="none" spc="0">
                          <a:solidFill>
                            <a:schemeClr val="tx1"/>
                          </a:solidFill>
                        </a:rPr>
                        <a:t>near/reachable layers</a:t>
                      </a:r>
                    </a:p>
                  </a:txBody>
                  <a:tcPr marL="92294" marR="131849" marT="26370" marB="197774">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700" cap="none" spc="0">
                          <a:solidFill>
                            <a:schemeClr val="tx1"/>
                          </a:solidFill>
                        </a:rPr>
                        <a:t>path exploration</a:t>
                      </a:r>
                    </a:p>
                  </a:txBody>
                  <a:tcPr marL="92294" marR="131849" marT="26370" marB="197774">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33704073"/>
                  </a:ext>
                </a:extLst>
              </a:tr>
            </a:tbl>
          </a:graphicData>
        </a:graphic>
      </p:graphicFrame>
    </p:spTree>
    <p:extLst>
      <p:ext uri="{BB962C8B-B14F-4D97-AF65-F5344CB8AC3E}">
        <p14:creationId xmlns:p14="http://schemas.microsoft.com/office/powerpoint/2010/main" val="17816505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2765CB-A3F5-01D2-ADA0-150A5044517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4" name="Rectangle 13">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Freeform: Shape 29">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58D7EAB0-E5EF-4DFB-AECF-5E1226CD38E5}"/>
              </a:ext>
            </a:extLst>
          </p:cNvPr>
          <p:cNvSpPr>
            <a:spLocks noGrp="1"/>
          </p:cNvSpPr>
          <p:nvPr>
            <p:ph type="title"/>
          </p:nvPr>
        </p:nvSpPr>
        <p:spPr>
          <a:xfrm>
            <a:off x="5386292" y="609600"/>
            <a:ext cx="3384742" cy="2227730"/>
          </a:xfrm>
        </p:spPr>
        <p:txBody>
          <a:bodyPr anchor="ctr">
            <a:normAutofit/>
          </a:bodyPr>
          <a:lstStyle/>
          <a:p>
            <a:r>
              <a:rPr lang="en-US">
                <a:solidFill>
                  <a:srgbClr val="FFFFFF"/>
                </a:solidFill>
              </a:rPr>
              <a:t>Neighbor Order Matters</a:t>
            </a:r>
          </a:p>
        </p:txBody>
      </p:sp>
      <p:pic>
        <p:nvPicPr>
          <p:cNvPr id="9" name="Graphic 8" descr="Relationship">
            <a:extLst>
              <a:ext uri="{FF2B5EF4-FFF2-40B4-BE49-F238E27FC236}">
                <a16:creationId xmlns:a16="http://schemas.microsoft.com/office/drawing/2014/main" id="{2B1FC80A-F7E9-C286-C20E-CCC27C783F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938" y="2027159"/>
            <a:ext cx="2892580" cy="2892580"/>
          </a:xfrm>
          <a:prstGeom prst="rect">
            <a:avLst/>
          </a:prstGeom>
        </p:spPr>
      </p:pic>
      <p:sp>
        <p:nvSpPr>
          <p:cNvPr id="5" name="Content Placeholder 4">
            <a:extLst>
              <a:ext uri="{FF2B5EF4-FFF2-40B4-BE49-F238E27FC236}">
                <a16:creationId xmlns:a16="http://schemas.microsoft.com/office/drawing/2014/main" id="{CD2912E1-3BB1-525E-2091-80F8FF39A176}"/>
              </a:ext>
            </a:extLst>
          </p:cNvPr>
          <p:cNvSpPr>
            <a:spLocks noGrp="1"/>
          </p:cNvSpPr>
          <p:nvPr>
            <p:ph idx="1"/>
          </p:nvPr>
        </p:nvSpPr>
        <p:spPr>
          <a:xfrm>
            <a:off x="5386293" y="2837329"/>
            <a:ext cx="3384741" cy="3317938"/>
          </a:xfrm>
        </p:spPr>
        <p:txBody>
          <a:bodyPr anchor="t">
            <a:normAutofit/>
          </a:bodyPr>
          <a:lstStyle/>
          <a:p>
            <a:pPr marL="0" indent="0">
              <a:lnSpc>
                <a:spcPct val="90000"/>
              </a:lnSpc>
              <a:buNone/>
            </a:pPr>
            <a:r>
              <a:rPr lang="en-US" sz="1700">
                <a:solidFill>
                  <a:srgbClr val="FFFFFF"/>
                </a:solidFill>
              </a:rPr>
              <a:t>Traversal order can change when:</a:t>
            </a:r>
          </a:p>
          <a:p>
            <a:pPr>
              <a:lnSpc>
                <a:spcPct val="90000"/>
              </a:lnSpc>
            </a:pPr>
            <a:r>
              <a:rPr lang="en-US" sz="1700">
                <a:solidFill>
                  <a:srgbClr val="FFFFFF"/>
                </a:solidFill>
              </a:rPr>
              <a:t>the start node changes</a:t>
            </a:r>
          </a:p>
          <a:p>
            <a:pPr>
              <a:lnSpc>
                <a:spcPct val="90000"/>
              </a:lnSpc>
            </a:pPr>
            <a:r>
              <a:rPr lang="en-US" sz="1700">
                <a:solidFill>
                  <a:srgbClr val="FFFFFF"/>
                </a:solidFill>
              </a:rPr>
              <a:t>the neighbor order changes</a:t>
            </a:r>
          </a:p>
          <a:p>
            <a:pPr>
              <a:lnSpc>
                <a:spcPct val="90000"/>
              </a:lnSpc>
            </a:pPr>
            <a:r>
              <a:rPr lang="en-US" sz="1700">
                <a:solidFill>
                  <a:srgbClr val="FFFFFF"/>
                </a:solidFill>
              </a:rPr>
              <a:t>the graph is directed</a:t>
            </a:r>
          </a:p>
          <a:p>
            <a:pPr>
              <a:lnSpc>
                <a:spcPct val="90000"/>
              </a:lnSpc>
            </a:pPr>
            <a:r>
              <a:rPr lang="en-US" sz="1700">
                <a:solidFill>
                  <a:srgbClr val="FFFFFF"/>
                </a:solidFill>
              </a:rPr>
              <a:t>the traversal method changes</a:t>
            </a:r>
          </a:p>
          <a:p>
            <a:pPr marL="0" indent="0">
              <a:lnSpc>
                <a:spcPct val="90000"/>
              </a:lnSpc>
              <a:buNone/>
            </a:pPr>
            <a:endParaRPr lang="en-US" sz="1700">
              <a:solidFill>
                <a:srgbClr val="FFFFFF"/>
              </a:solidFill>
            </a:endParaRPr>
          </a:p>
          <a:p>
            <a:pPr marL="0" indent="0">
              <a:lnSpc>
                <a:spcPct val="90000"/>
              </a:lnSpc>
              <a:buNone/>
            </a:pPr>
            <a:r>
              <a:rPr lang="en-US" sz="1700">
                <a:solidFill>
                  <a:srgbClr val="FFFFFF"/>
                </a:solidFill>
              </a:rPr>
              <a:t>The evidence should name the conditions.</a:t>
            </a:r>
          </a:p>
          <a:p>
            <a:pPr marL="0" indent="0">
              <a:lnSpc>
                <a:spcPct val="90000"/>
              </a:lnSpc>
              <a:buNone/>
            </a:pPr>
            <a:endParaRPr lang="en-US" sz="1700">
              <a:solidFill>
                <a:srgbClr val="FFFFFF"/>
              </a:solidFill>
            </a:endParaRPr>
          </a:p>
        </p:txBody>
      </p:sp>
    </p:spTree>
    <p:extLst>
      <p:ext uri="{BB962C8B-B14F-4D97-AF65-F5344CB8AC3E}">
        <p14:creationId xmlns:p14="http://schemas.microsoft.com/office/powerpoint/2010/main" val="5440266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705E17-377F-229E-4ABA-0F8370C83818}"/>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5" name="Straight Connector 24">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Isosceles Triangle 36">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38">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6" name="Picture 5" descr="Photograph showing a network switch panel with multiple Ethernet cables plugged into ports, many with illuminated green indicator lights signaling active connections. Cables are primarily white with a few blue and yellow, each labeled with tags for identification, highlighting organized network infrastructure.">
            <a:extLst>
              <a:ext uri="{FF2B5EF4-FFF2-40B4-BE49-F238E27FC236}">
                <a16:creationId xmlns:a16="http://schemas.microsoft.com/office/drawing/2014/main" id="{C3B55E9D-F8B4-2108-F50A-AB3556A56630}"/>
              </a:ext>
            </a:extLst>
          </p:cNvPr>
          <p:cNvPicPr>
            <a:picLocks noChangeAspect="1"/>
          </p:cNvPicPr>
          <p:nvPr/>
        </p:nvPicPr>
        <p:blipFill>
          <a:blip r:embed="rId2"/>
          <a:srcRect l="25351" r="25916"/>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D6163072-D4BE-477E-AD5F-FDF26E723146}"/>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4200"/>
              <a:t>Optional Network Context</a:t>
            </a: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857317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C19C98-7CCA-8C3D-C3E2-C2B3A0313A7A}"/>
            </a:ext>
          </a:extLst>
        </p:cNvPr>
        <p:cNvGrpSpPr/>
        <p:nvPr/>
      </p:nvGrpSpPr>
      <p:grpSpPr>
        <a:xfrm>
          <a:off x="0" y="0"/>
          <a:ext cx="0" cy="0"/>
          <a:chOff x="0" y="0"/>
          <a:chExt cx="0" cy="0"/>
        </a:xfrm>
      </p:grpSpPr>
      <p:pic>
        <p:nvPicPr>
          <p:cNvPr id="7" name="Picture 6" descr="A digital line graph displaying fluctuating data points connected by white lines against a dark blue and black background with grid lines. The graph highlights specific values such as 289.33, indicating trends and changes over time in a financial or technical context.">
            <a:extLst>
              <a:ext uri="{FF2B5EF4-FFF2-40B4-BE49-F238E27FC236}">
                <a16:creationId xmlns:a16="http://schemas.microsoft.com/office/drawing/2014/main" id="{FC67EB30-CC56-FA63-B7B0-495898C3FBE2}"/>
              </a:ext>
            </a:extLst>
          </p:cNvPr>
          <p:cNvPicPr>
            <a:picLocks noChangeAspect="1"/>
          </p:cNvPicPr>
          <p:nvPr/>
        </p:nvPicPr>
        <p:blipFill>
          <a:blip r:embed="rId3"/>
          <a:srcRect l="20022" r="25830"/>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AB17B991-6580-709D-685D-51F948FA184B}"/>
              </a:ext>
            </a:extLst>
          </p:cNvPr>
          <p:cNvSpPr>
            <a:spLocks noGrp="1"/>
          </p:cNvSpPr>
          <p:nvPr>
            <p:ph type="title"/>
          </p:nvPr>
        </p:nvSpPr>
        <p:spPr>
          <a:xfrm>
            <a:off x="507999" y="609600"/>
            <a:ext cx="2888343" cy="1320800"/>
          </a:xfrm>
        </p:spPr>
        <p:txBody>
          <a:bodyPr>
            <a:normAutofit/>
          </a:bodyPr>
          <a:lstStyle/>
          <a:p>
            <a:r>
              <a:rPr lang="en-US" dirty="0"/>
              <a:t>Visualizing A Graph</a:t>
            </a:r>
          </a:p>
        </p:txBody>
      </p:sp>
      <p:sp>
        <p:nvSpPr>
          <p:cNvPr id="5" name="Content Placeholder 4">
            <a:extLst>
              <a:ext uri="{FF2B5EF4-FFF2-40B4-BE49-F238E27FC236}">
                <a16:creationId xmlns:a16="http://schemas.microsoft.com/office/drawing/2014/main" id="{A4087D6C-17BA-2D72-11EC-086A47BF0C15}"/>
              </a:ext>
            </a:extLst>
          </p:cNvPr>
          <p:cNvSpPr>
            <a:spLocks noGrp="1"/>
          </p:cNvSpPr>
          <p:nvPr>
            <p:ph idx="1"/>
          </p:nvPr>
        </p:nvSpPr>
        <p:spPr>
          <a:xfrm>
            <a:off x="508000" y="2160589"/>
            <a:ext cx="2888342" cy="3880773"/>
          </a:xfrm>
        </p:spPr>
        <p:txBody>
          <a:bodyPr>
            <a:normAutofit/>
          </a:bodyPr>
          <a:lstStyle/>
          <a:p>
            <a:pPr marL="0" indent="0">
              <a:buNone/>
            </a:pPr>
            <a:r>
              <a:rPr lang="en-US" dirty="0"/>
              <a:t>A graph can be shown as:</a:t>
            </a:r>
          </a:p>
          <a:p>
            <a:pPr marL="0" indent="0">
              <a:buNone/>
            </a:pPr>
            <a:endParaRPr lang="en-US" dirty="0"/>
          </a:p>
          <a:p>
            <a:r>
              <a:rPr lang="en-US" dirty="0"/>
              <a:t>diagram</a:t>
            </a:r>
          </a:p>
          <a:p>
            <a:r>
              <a:rPr lang="en-US" dirty="0"/>
              <a:t>adjacency list</a:t>
            </a:r>
          </a:p>
          <a:p>
            <a:r>
              <a:rPr lang="en-US" dirty="0"/>
              <a:t>traversal table</a:t>
            </a:r>
          </a:p>
          <a:p>
            <a:r>
              <a:rPr lang="en-US" dirty="0"/>
              <a:t>Python output</a:t>
            </a:r>
          </a:p>
          <a:p>
            <a:r>
              <a:rPr lang="en-US" dirty="0"/>
              <a:t>library visualization</a:t>
            </a:r>
          </a:p>
          <a:p>
            <a:pPr marL="0" indent="0">
              <a:buNone/>
            </a:pPr>
            <a:endParaRPr lang="en-US" dirty="0"/>
          </a:p>
          <a:p>
            <a:pPr marL="0" indent="0">
              <a:buNone/>
            </a:pPr>
            <a:r>
              <a:rPr lang="en-US" dirty="0"/>
              <a:t>Each view reveals something different.</a:t>
            </a:r>
          </a:p>
        </p:txBody>
      </p:sp>
      <p:cxnSp>
        <p:nvCxnSpPr>
          <p:cNvPr id="11" name="Straight Connector 10">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5732592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7A66AC-E09C-29F5-F443-E8213B317AE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C9DDBD-991C-AC9B-5F99-5D35A12076A7}"/>
              </a:ext>
            </a:extLst>
          </p:cNvPr>
          <p:cNvSpPr>
            <a:spLocks noGrp="1"/>
          </p:cNvSpPr>
          <p:nvPr>
            <p:ph type="title"/>
          </p:nvPr>
        </p:nvSpPr>
        <p:spPr>
          <a:xfrm>
            <a:off x="4152550" y="609600"/>
            <a:ext cx="2802951" cy="1320800"/>
          </a:xfrm>
        </p:spPr>
        <p:txBody>
          <a:bodyPr>
            <a:normAutofit/>
          </a:bodyPr>
          <a:lstStyle/>
          <a:p>
            <a:pPr>
              <a:lnSpc>
                <a:spcPct val="90000"/>
              </a:lnSpc>
            </a:pPr>
            <a:r>
              <a:rPr lang="en-US" sz="2800"/>
              <a:t>Social Network Analysis Context</a:t>
            </a:r>
          </a:p>
        </p:txBody>
      </p:sp>
      <p:sp>
        <p:nvSpPr>
          <p:cNvPr id="5" name="Content Placeholder 4">
            <a:extLst>
              <a:ext uri="{FF2B5EF4-FFF2-40B4-BE49-F238E27FC236}">
                <a16:creationId xmlns:a16="http://schemas.microsoft.com/office/drawing/2014/main" id="{37F83BAD-8687-E2A0-5000-E1F142EFE1D4}"/>
              </a:ext>
            </a:extLst>
          </p:cNvPr>
          <p:cNvSpPr>
            <a:spLocks noGrp="1"/>
          </p:cNvSpPr>
          <p:nvPr>
            <p:ph idx="1"/>
          </p:nvPr>
        </p:nvSpPr>
        <p:spPr>
          <a:xfrm>
            <a:off x="3907172" y="2160589"/>
            <a:ext cx="3695411" cy="3880773"/>
          </a:xfrm>
        </p:spPr>
        <p:txBody>
          <a:bodyPr>
            <a:normAutofit/>
          </a:bodyPr>
          <a:lstStyle/>
          <a:p>
            <a:pPr marL="0" indent="0">
              <a:buNone/>
            </a:pPr>
            <a:r>
              <a:rPr lang="en-US" dirty="0"/>
              <a:t>Social network analysis uses graphs to study relationships.</a:t>
            </a:r>
          </a:p>
          <a:p>
            <a:pPr marL="0" indent="0">
              <a:buNone/>
            </a:pPr>
            <a:r>
              <a:rPr lang="en-US" dirty="0"/>
              <a:t>It may ask:</a:t>
            </a:r>
          </a:p>
          <a:p>
            <a:r>
              <a:rPr lang="en-US" dirty="0"/>
              <a:t>who is connected?</a:t>
            </a:r>
          </a:p>
          <a:p>
            <a:r>
              <a:rPr lang="en-US" dirty="0"/>
              <a:t>who bridges groups?</a:t>
            </a:r>
          </a:p>
          <a:p>
            <a:r>
              <a:rPr lang="en-US" dirty="0"/>
              <a:t>where are clusters?</a:t>
            </a:r>
          </a:p>
          <a:p>
            <a:r>
              <a:rPr lang="en-US" dirty="0"/>
              <a:t>how dense is the network?</a:t>
            </a:r>
          </a:p>
          <a:p>
            <a:pPr marL="0" indent="0">
              <a:buNone/>
            </a:pPr>
            <a:endParaRPr lang="en-US" dirty="0"/>
          </a:p>
          <a:p>
            <a:pPr marL="0" indent="0">
              <a:buNone/>
            </a:pPr>
            <a:r>
              <a:rPr lang="en-US" dirty="0"/>
              <a:t>Use caution when interpreting results.</a:t>
            </a:r>
          </a:p>
        </p:txBody>
      </p:sp>
      <p:pic>
        <p:nvPicPr>
          <p:cNvPr id="7" name="Picture 6" descr="Digital map composed of blue dots representing continents overlaid with blurred multicolored light bokeh effects. The visual suggests global connectivity or data flow, highlighting technological or network themes with a futuristic ambiance.">
            <a:extLst>
              <a:ext uri="{FF2B5EF4-FFF2-40B4-BE49-F238E27FC236}">
                <a16:creationId xmlns:a16="http://schemas.microsoft.com/office/drawing/2014/main" id="{BFF710FB-1B81-F053-7429-761671C77A3A}"/>
              </a:ext>
            </a:extLst>
          </p:cNvPr>
          <p:cNvPicPr>
            <a:picLocks noChangeAspect="1"/>
          </p:cNvPicPr>
          <p:nvPr/>
        </p:nvPicPr>
        <p:blipFill>
          <a:blip r:embed="rId3"/>
          <a:srcRect l="35630" r="24987"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0814499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EC7E8E-8E16-E5A2-CF5A-662369C66204}"/>
            </a:ext>
          </a:extLst>
        </p:cNvPr>
        <p:cNvGrpSpPr/>
        <p:nvPr/>
      </p:nvGrpSpPr>
      <p:grpSpPr>
        <a:xfrm>
          <a:off x="0" y="0"/>
          <a:ext cx="0" cy="0"/>
          <a:chOff x="0" y="0"/>
          <a:chExt cx="0" cy="0"/>
        </a:xfrm>
      </p:grpSpPr>
      <p:pic>
        <p:nvPicPr>
          <p:cNvPr id="7" name="Picture 6" descr="Photograph showing a close-up of two pairs of hands, one elderly and one younger, gently holding each other. The image conveys themes of care, support, and compassion through visible skin textures and tender hand positioning.">
            <a:extLst>
              <a:ext uri="{FF2B5EF4-FFF2-40B4-BE49-F238E27FC236}">
                <a16:creationId xmlns:a16="http://schemas.microsoft.com/office/drawing/2014/main" id="{92DBDCAA-7918-CE7C-E4A9-3948882A5F7E}"/>
              </a:ext>
            </a:extLst>
          </p:cNvPr>
          <p:cNvPicPr>
            <a:picLocks noChangeAspect="1"/>
          </p:cNvPicPr>
          <p:nvPr/>
        </p:nvPicPr>
        <p:blipFill>
          <a:blip r:embed="rId3"/>
          <a:srcRect l="17480" r="24688"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7C0D3DC7-0EF5-AA6D-FA53-3A660D38BF64}"/>
              </a:ext>
            </a:extLst>
          </p:cNvPr>
          <p:cNvSpPr>
            <a:spLocks noGrp="1"/>
          </p:cNvSpPr>
          <p:nvPr>
            <p:ph type="title"/>
          </p:nvPr>
        </p:nvSpPr>
        <p:spPr>
          <a:xfrm>
            <a:off x="507999" y="609600"/>
            <a:ext cx="2888343" cy="1320800"/>
          </a:xfrm>
        </p:spPr>
        <p:txBody>
          <a:bodyPr>
            <a:normAutofit/>
          </a:bodyPr>
          <a:lstStyle/>
          <a:p>
            <a:r>
              <a:rPr lang="en-US" dirty="0"/>
              <a:t>Fairness And Closeness</a:t>
            </a:r>
          </a:p>
        </p:txBody>
      </p:sp>
      <p:sp>
        <p:nvSpPr>
          <p:cNvPr id="5" name="Content Placeholder 4">
            <a:extLst>
              <a:ext uri="{FF2B5EF4-FFF2-40B4-BE49-F238E27FC236}">
                <a16:creationId xmlns:a16="http://schemas.microsoft.com/office/drawing/2014/main" id="{FD5DBFF2-AEBF-5036-0106-34EE02FFC1B0}"/>
              </a:ext>
            </a:extLst>
          </p:cNvPr>
          <p:cNvSpPr>
            <a:spLocks noGrp="1"/>
          </p:cNvSpPr>
          <p:nvPr>
            <p:ph idx="1"/>
          </p:nvPr>
        </p:nvSpPr>
        <p:spPr>
          <a:xfrm>
            <a:off x="508000" y="2160589"/>
            <a:ext cx="2888342" cy="3880773"/>
          </a:xfrm>
        </p:spPr>
        <p:txBody>
          <a:bodyPr>
            <a:normAutofit/>
          </a:bodyPr>
          <a:lstStyle/>
          <a:p>
            <a:pPr marL="0" indent="0">
              <a:lnSpc>
                <a:spcPct val="90000"/>
              </a:lnSpc>
              <a:buNone/>
            </a:pPr>
            <a:r>
              <a:rPr lang="en-US" dirty="0"/>
              <a:t>Graph metrics can influence decisions.</a:t>
            </a:r>
            <a:endParaRPr lang="en-US"/>
          </a:p>
          <a:p>
            <a:pPr marL="0" indent="0">
              <a:lnSpc>
                <a:spcPct val="90000"/>
              </a:lnSpc>
              <a:buNone/>
            </a:pPr>
            <a:endParaRPr lang="en-US"/>
          </a:p>
          <a:p>
            <a:pPr marL="0" indent="0">
              <a:lnSpc>
                <a:spcPct val="90000"/>
              </a:lnSpc>
              <a:buNone/>
            </a:pPr>
            <a:r>
              <a:rPr lang="en-US" dirty="0"/>
              <a:t>Ask:</a:t>
            </a:r>
            <a:endParaRPr lang="en-US"/>
          </a:p>
          <a:p>
            <a:pPr>
              <a:lnSpc>
                <a:spcPct val="90000"/>
              </a:lnSpc>
            </a:pPr>
            <a:r>
              <a:rPr lang="en-US" dirty="0"/>
              <a:t>What data created the graph?</a:t>
            </a:r>
            <a:endParaRPr lang="en-US"/>
          </a:p>
          <a:p>
            <a:pPr>
              <a:lnSpc>
                <a:spcPct val="90000"/>
              </a:lnSpc>
            </a:pPr>
            <a:r>
              <a:rPr lang="en-US" dirty="0"/>
              <a:t>What relationships were included?</a:t>
            </a:r>
            <a:endParaRPr lang="en-US"/>
          </a:p>
          <a:p>
            <a:pPr>
              <a:lnSpc>
                <a:spcPct val="90000"/>
              </a:lnSpc>
            </a:pPr>
            <a:r>
              <a:rPr lang="en-US" dirty="0"/>
              <a:t>What relationships were ignored?</a:t>
            </a:r>
            <a:endParaRPr lang="en-US"/>
          </a:p>
          <a:p>
            <a:pPr>
              <a:lnSpc>
                <a:spcPct val="90000"/>
              </a:lnSpc>
            </a:pPr>
            <a:r>
              <a:rPr lang="en-US" dirty="0"/>
              <a:t>Who could be misrepresented?</a:t>
            </a:r>
            <a:endParaRPr lang="en-US"/>
          </a:p>
          <a:p>
            <a:pPr marL="0" indent="0">
              <a:lnSpc>
                <a:spcPct val="90000"/>
              </a:lnSpc>
              <a:buNone/>
            </a:pPr>
            <a:endParaRPr lang="en-US"/>
          </a:p>
        </p:txBody>
      </p:sp>
      <p:cxnSp>
        <p:nvCxnSpPr>
          <p:cNvPr id="16" name="Straight Connector 15">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9337767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986A7E-B585-C4A2-07A5-A4E5434A1DC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E91D6AB-7AA2-2523-3D4D-7B3D5D965BD0}"/>
              </a:ext>
            </a:extLst>
          </p:cNvPr>
          <p:cNvSpPr>
            <a:spLocks noGrp="1"/>
          </p:cNvSpPr>
          <p:nvPr>
            <p:ph type="title"/>
          </p:nvPr>
        </p:nvSpPr>
        <p:spPr>
          <a:xfrm>
            <a:off x="3747981" y="609600"/>
            <a:ext cx="3207519" cy="1320800"/>
          </a:xfrm>
        </p:spPr>
        <p:txBody>
          <a:bodyPr vert="horz" lIns="91440" tIns="45720" rIns="91440" bIns="45720" rtlCol="0" anchor="ctr">
            <a:normAutofit/>
          </a:bodyPr>
          <a:lstStyle/>
          <a:p>
            <a:pPr>
              <a:lnSpc>
                <a:spcPct val="90000"/>
              </a:lnSpc>
            </a:pPr>
            <a:r>
              <a:rPr lang="en-US" sz="2800"/>
              <a:t>What To Deeply Learn vs Recognize</a:t>
            </a:r>
          </a:p>
        </p:txBody>
      </p:sp>
      <p:pic>
        <p:nvPicPr>
          <p:cNvPr id="9" name="Graphic 8" descr="Head with Gears">
            <a:extLst>
              <a:ext uri="{FF2B5EF4-FFF2-40B4-BE49-F238E27FC236}">
                <a16:creationId xmlns:a16="http://schemas.microsoft.com/office/drawing/2014/main" id="{A27125CE-609D-4FB6-FCE3-5EF53C6FD4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2" name="Content Placeholder 1">
            <a:extLst>
              <a:ext uri="{FF2B5EF4-FFF2-40B4-BE49-F238E27FC236}">
                <a16:creationId xmlns:a16="http://schemas.microsoft.com/office/drawing/2014/main" id="{0A2F4F3D-C8F4-DEAB-E2DD-B67F3A34E5B1}"/>
              </a:ext>
            </a:extLst>
          </p:cNvPr>
          <p:cNvSpPr>
            <a:spLocks noGrp="1"/>
          </p:cNvSpPr>
          <p:nvPr>
            <p:ph idx="1"/>
          </p:nvPr>
        </p:nvSpPr>
        <p:spPr>
          <a:xfrm>
            <a:off x="3739367" y="2160589"/>
            <a:ext cx="3213882" cy="3768573"/>
          </a:xfrm>
        </p:spPr>
        <p:txBody>
          <a:bodyPr>
            <a:normAutofit fontScale="92500" lnSpcReduction="10000"/>
          </a:bodyPr>
          <a:lstStyle/>
          <a:p>
            <a:pPr marL="0" indent="0">
              <a:lnSpc>
                <a:spcPct val="90000"/>
              </a:lnSpc>
              <a:buNone/>
            </a:pPr>
            <a:r>
              <a:rPr lang="en-US" dirty="0"/>
              <a:t>Deeply learn now:</a:t>
            </a:r>
          </a:p>
          <a:p>
            <a:pPr>
              <a:lnSpc>
                <a:spcPct val="90000"/>
              </a:lnSpc>
            </a:pPr>
            <a:r>
              <a:rPr lang="en-US" dirty="0"/>
              <a:t>nodes and edges</a:t>
            </a:r>
          </a:p>
          <a:p>
            <a:pPr>
              <a:lnSpc>
                <a:spcPct val="90000"/>
              </a:lnSpc>
            </a:pPr>
            <a:r>
              <a:rPr lang="en-US" dirty="0"/>
              <a:t>adjacency list</a:t>
            </a:r>
          </a:p>
          <a:p>
            <a:pPr>
              <a:lnSpc>
                <a:spcPct val="90000"/>
              </a:lnSpc>
            </a:pPr>
            <a:r>
              <a:rPr lang="en-US" dirty="0"/>
              <a:t>BFS and DFS</a:t>
            </a:r>
          </a:p>
          <a:p>
            <a:pPr>
              <a:lnSpc>
                <a:spcPct val="90000"/>
              </a:lnSpc>
            </a:pPr>
            <a:r>
              <a:rPr lang="en-US" dirty="0"/>
              <a:t>traversal evidence</a:t>
            </a:r>
          </a:p>
          <a:p>
            <a:pPr>
              <a:lnSpc>
                <a:spcPct val="90000"/>
              </a:lnSpc>
            </a:pPr>
            <a:r>
              <a:rPr lang="en-US" dirty="0"/>
              <a:t>model limits</a:t>
            </a:r>
          </a:p>
          <a:p>
            <a:pPr marL="0" indent="0">
              <a:lnSpc>
                <a:spcPct val="90000"/>
              </a:lnSpc>
              <a:buNone/>
            </a:pPr>
            <a:endParaRPr lang="en-US" dirty="0"/>
          </a:p>
          <a:p>
            <a:pPr marL="0" indent="0">
              <a:lnSpc>
                <a:spcPct val="90000"/>
              </a:lnSpc>
              <a:buNone/>
            </a:pPr>
            <a:r>
              <a:rPr lang="en-US" dirty="0"/>
              <a:t>Recognize for later:</a:t>
            </a:r>
          </a:p>
          <a:p>
            <a:pPr>
              <a:lnSpc>
                <a:spcPct val="90000"/>
              </a:lnSpc>
            </a:pPr>
            <a:r>
              <a:rPr lang="en-US" dirty="0"/>
              <a:t>centrality metrics</a:t>
            </a:r>
          </a:p>
          <a:p>
            <a:pPr>
              <a:lnSpc>
                <a:spcPct val="90000"/>
              </a:lnSpc>
            </a:pPr>
            <a:r>
              <a:rPr lang="en-US" dirty="0"/>
              <a:t>SNA</a:t>
            </a:r>
          </a:p>
          <a:p>
            <a:pPr>
              <a:lnSpc>
                <a:spcPct val="90000"/>
              </a:lnSpc>
            </a:pPr>
            <a:r>
              <a:rPr lang="en-US" dirty="0"/>
              <a:t>graph libraries</a:t>
            </a:r>
          </a:p>
        </p:txBody>
      </p:sp>
    </p:spTree>
    <p:extLst>
      <p:ext uri="{BB962C8B-B14F-4D97-AF65-F5344CB8AC3E}">
        <p14:creationId xmlns:p14="http://schemas.microsoft.com/office/powerpoint/2010/main" val="5003631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a:extLst>
              <a:ext uri="{FF2B5EF4-FFF2-40B4-BE49-F238E27FC236}">
                <a16:creationId xmlns:a16="http://schemas.microsoft.com/office/drawing/2014/main" id="{3F92D707-4F6F-1707-563F-DAA7E83D0FDA}"/>
              </a:ext>
              <a:ext uri="{C183D7F6-B498-43B3-948B-1728B52AA6E4}">
                <adec:decorative xmlns:adec="http://schemas.microsoft.com/office/drawing/2017/decorative" val="1"/>
              </a:ext>
            </a:extLst>
          </p:cNvPr>
          <p:cNvPicPr>
            <a:picLocks noChangeAspect="1"/>
          </p:cNvPicPr>
          <p:nvPr/>
        </p:nvPicPr>
        <p:blipFill>
          <a:blip r:embed="rId3"/>
          <a:srcRect l="24158" r="36459"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Title 3">
            <a:extLst>
              <a:ext uri="{FF2B5EF4-FFF2-40B4-BE49-F238E27FC236}">
                <a16:creationId xmlns:a16="http://schemas.microsoft.com/office/drawing/2014/main" id="{2FC93F9C-2692-8651-EDC7-6D41F5D66139}"/>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r>
              <a:rPr lang="en-US" sz="5400"/>
              <a:t>Demo</a:t>
            </a:r>
          </a:p>
        </p:txBody>
      </p:sp>
    </p:spTree>
    <p:extLst>
      <p:ext uri="{BB962C8B-B14F-4D97-AF65-F5344CB8AC3E}">
        <p14:creationId xmlns:p14="http://schemas.microsoft.com/office/powerpoint/2010/main" val="11578920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0EAD0D-5DF0-3C27-244F-69BE59250638}"/>
              </a:ext>
            </a:extLst>
          </p:cNvPr>
          <p:cNvSpPr>
            <a:spLocks noGrp="1"/>
          </p:cNvSpPr>
          <p:nvPr>
            <p:ph type="title"/>
          </p:nvPr>
        </p:nvSpPr>
        <p:spPr>
          <a:xfrm>
            <a:off x="965199" y="609600"/>
            <a:ext cx="7648121" cy="1099457"/>
          </a:xfrm>
        </p:spPr>
        <p:txBody>
          <a:bodyPr>
            <a:normAutofit/>
          </a:bodyPr>
          <a:lstStyle/>
          <a:p>
            <a:r>
              <a:rPr lang="en-US" dirty="0"/>
              <a:t>Demo Scenario</a:t>
            </a:r>
          </a:p>
        </p:txBody>
      </p:sp>
      <p:sp>
        <p:nvSpPr>
          <p:cNvPr id="21" name="Isosceles Triangle 20">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C82E2C4B-768E-D97F-9F33-8764314B38EF}"/>
              </a:ext>
            </a:extLst>
          </p:cNvPr>
          <p:cNvGraphicFramePr>
            <a:graphicFrameLocks noGrp="1"/>
          </p:cNvGraphicFramePr>
          <p:nvPr>
            <p:ph idx="1"/>
            <p:extLst>
              <p:ext uri="{D42A27DB-BD31-4B8C-83A1-F6EECF244321}">
                <p14:modId xmlns:p14="http://schemas.microsoft.com/office/powerpoint/2010/main" val="1279053133"/>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277947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D85B7-E617-7232-3D45-118C5B1AF291}"/>
              </a:ext>
            </a:extLst>
          </p:cNvPr>
          <p:cNvSpPr>
            <a:spLocks noGrp="1"/>
          </p:cNvSpPr>
          <p:nvPr>
            <p:ph type="title"/>
          </p:nvPr>
        </p:nvSpPr>
        <p:spPr>
          <a:xfrm>
            <a:off x="4152550" y="609600"/>
            <a:ext cx="2802951" cy="1320800"/>
          </a:xfrm>
        </p:spPr>
        <p:txBody>
          <a:bodyPr>
            <a:normAutofit/>
          </a:bodyPr>
          <a:lstStyle/>
          <a:p>
            <a:r>
              <a:rPr lang="en-US" dirty="0"/>
              <a:t>Demo Evidence</a:t>
            </a:r>
          </a:p>
        </p:txBody>
      </p:sp>
      <p:sp>
        <p:nvSpPr>
          <p:cNvPr id="3" name="Content Placeholder 2">
            <a:extLst>
              <a:ext uri="{FF2B5EF4-FFF2-40B4-BE49-F238E27FC236}">
                <a16:creationId xmlns:a16="http://schemas.microsoft.com/office/drawing/2014/main" id="{D4623AC4-941F-5169-DAA0-DF23E55C8058}"/>
              </a:ext>
            </a:extLst>
          </p:cNvPr>
          <p:cNvSpPr>
            <a:spLocks noGrp="1"/>
          </p:cNvSpPr>
          <p:nvPr>
            <p:ph idx="1"/>
          </p:nvPr>
        </p:nvSpPr>
        <p:spPr>
          <a:xfrm>
            <a:off x="3907172" y="2160589"/>
            <a:ext cx="3048329" cy="3880773"/>
          </a:xfrm>
        </p:spPr>
        <p:txBody>
          <a:bodyPr>
            <a:normAutofit/>
          </a:bodyPr>
          <a:lstStyle/>
          <a:p>
            <a:r>
              <a:rPr lang="en-US" sz="2000" dirty="0"/>
              <a:t>text diagram</a:t>
            </a:r>
          </a:p>
          <a:p>
            <a:r>
              <a:rPr lang="en-US" sz="2000" dirty="0"/>
              <a:t>adjacency list</a:t>
            </a:r>
          </a:p>
          <a:p>
            <a:r>
              <a:rPr lang="en-US" sz="2000" dirty="0"/>
              <a:t>BFS traversal table</a:t>
            </a:r>
          </a:p>
          <a:p>
            <a:r>
              <a:rPr lang="en-US" sz="2000" dirty="0"/>
              <a:t>DFS traversal table</a:t>
            </a:r>
          </a:p>
          <a:p>
            <a:r>
              <a:rPr lang="en-US" sz="2000" dirty="0"/>
              <a:t>traversal summary</a:t>
            </a:r>
          </a:p>
        </p:txBody>
      </p:sp>
      <p:pic>
        <p:nvPicPr>
          <p:cNvPr id="5" name="Picture 4" descr="Magnifying glass showing decling performance">
            <a:extLst>
              <a:ext uri="{FF2B5EF4-FFF2-40B4-BE49-F238E27FC236}">
                <a16:creationId xmlns:a16="http://schemas.microsoft.com/office/drawing/2014/main" id="{0A8CDE13-EC6E-831B-0134-AE933CD2D134}"/>
              </a:ext>
            </a:extLst>
          </p:cNvPr>
          <p:cNvPicPr>
            <a:picLocks noChangeAspect="1"/>
          </p:cNvPicPr>
          <p:nvPr/>
        </p:nvPicPr>
        <p:blipFill>
          <a:blip r:embed="rId3"/>
          <a:srcRect l="21430" r="39188"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3323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29E87-22C1-F630-A88D-907362D1DFA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881CED9-61B6-00C4-6337-E24263FEF66D}"/>
              </a:ext>
            </a:extLst>
          </p:cNvPr>
          <p:cNvSpPr>
            <a:spLocks noGrp="1"/>
          </p:cNvSpPr>
          <p:nvPr>
            <p:ph type="title"/>
          </p:nvPr>
        </p:nvSpPr>
        <p:spPr>
          <a:xfrm>
            <a:off x="739476" y="4904301"/>
            <a:ext cx="6216024" cy="1096648"/>
          </a:xfrm>
        </p:spPr>
        <p:txBody>
          <a:bodyPr vert="horz" lIns="91440" tIns="45720" rIns="91440" bIns="45720" rtlCol="0" anchor="b">
            <a:normAutofit/>
          </a:bodyPr>
          <a:lstStyle/>
          <a:p>
            <a:r>
              <a:rPr lang="en-US" sz="4200" dirty="0"/>
              <a:t>Demo Evidence</a:t>
            </a:r>
          </a:p>
        </p:txBody>
      </p:sp>
      <p:pic>
        <p:nvPicPr>
          <p:cNvPr id="5" name="Picture Placeholder 4" descr="Diagram illustrating a campus graph model with nodes representing places and edges representing paths, starting at Library and showing traversal steps through Lab, Office, Cafe, and Parking. Includes an adjacency list with icons and labels for each location, and a traversal table detailing steps, visits, and next destinations, highlighting connections and navigation flow.">
            <a:extLst>
              <a:ext uri="{FF2B5EF4-FFF2-40B4-BE49-F238E27FC236}">
                <a16:creationId xmlns:a16="http://schemas.microsoft.com/office/drawing/2014/main" id="{6E267B22-932A-6723-AB98-EE08CEDE1815}"/>
              </a:ext>
            </a:extLst>
          </p:cNvPr>
          <p:cNvPicPr>
            <a:picLocks noGrp="1" noChangeAspect="1"/>
          </p:cNvPicPr>
          <p:nvPr>
            <p:ph type="pic" idx="1"/>
          </p:nvPr>
        </p:nvPicPr>
        <p:blipFill>
          <a:blip r:embed="rId3"/>
          <a:srcRect t="-847" b="-847"/>
          <a:stretch>
            <a:fillRect/>
          </a:stretch>
        </p:blipFill>
        <p:spPr>
          <a:xfrm>
            <a:off x="609599" y="609599"/>
            <a:ext cx="6347714" cy="4184469"/>
          </a:xfrm>
          <a:prstGeom prst="rect">
            <a:avLst/>
          </a:prstGeom>
        </p:spPr>
      </p:pic>
    </p:spTree>
    <p:extLst>
      <p:ext uri="{BB962C8B-B14F-4D97-AF65-F5344CB8AC3E}">
        <p14:creationId xmlns:p14="http://schemas.microsoft.com/office/powerpoint/2010/main" val="122931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D85B7-E617-7232-3D45-118C5B1AF291}"/>
              </a:ext>
            </a:extLst>
          </p:cNvPr>
          <p:cNvSpPr>
            <a:spLocks noGrp="1"/>
          </p:cNvSpPr>
          <p:nvPr>
            <p:ph type="title"/>
          </p:nvPr>
        </p:nvSpPr>
        <p:spPr>
          <a:xfrm>
            <a:off x="2089535" y="609600"/>
            <a:ext cx="4865966" cy="1320800"/>
          </a:xfrm>
        </p:spPr>
        <p:txBody>
          <a:bodyPr>
            <a:normAutofit/>
          </a:bodyPr>
          <a:lstStyle/>
          <a:p>
            <a:r>
              <a:rPr lang="en-US" dirty="0"/>
              <a:t>Demo Key Questions</a:t>
            </a:r>
          </a:p>
        </p:txBody>
      </p:sp>
      <p:pic>
        <p:nvPicPr>
          <p:cNvPr id="5" name="Picture 4">
            <a:extLst>
              <a:ext uri="{FF2B5EF4-FFF2-40B4-BE49-F238E27FC236}">
                <a16:creationId xmlns:a16="http://schemas.microsoft.com/office/drawing/2014/main" id="{535B9FB5-37B4-40C3-ED3B-16C1A740EDF2}"/>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4761" r="65334"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D4623AC4-941F-5169-DAA0-DF23E55C8058}"/>
              </a:ext>
            </a:extLst>
          </p:cNvPr>
          <p:cNvSpPr>
            <a:spLocks noGrp="1"/>
          </p:cNvSpPr>
          <p:nvPr>
            <p:ph idx="1"/>
          </p:nvPr>
        </p:nvSpPr>
        <p:spPr>
          <a:xfrm>
            <a:off x="2089535" y="2160589"/>
            <a:ext cx="4865966" cy="3880773"/>
          </a:xfrm>
        </p:spPr>
        <p:txBody>
          <a:bodyPr>
            <a:normAutofit/>
          </a:bodyPr>
          <a:lstStyle/>
          <a:p>
            <a:r>
              <a:rPr lang="en-US" dirty="0"/>
              <a:t>What is the current node?</a:t>
            </a:r>
          </a:p>
          <a:p>
            <a:r>
              <a:rPr lang="en-US" dirty="0"/>
              <a:t>What neighbors are available?</a:t>
            </a:r>
          </a:p>
          <a:p>
            <a:r>
              <a:rPr lang="en-US" dirty="0"/>
              <a:t>What is waiting in the queue or stack?</a:t>
            </a:r>
          </a:p>
          <a:p>
            <a:r>
              <a:rPr lang="en-US" dirty="0"/>
              <a:t>What has already been visited?</a:t>
            </a:r>
          </a:p>
          <a:p>
            <a:r>
              <a:rPr lang="en-US" dirty="0"/>
              <a:t>What does the model leave out?</a:t>
            </a:r>
          </a:p>
        </p:txBody>
      </p:sp>
    </p:spTree>
    <p:extLst>
      <p:ext uri="{BB962C8B-B14F-4D97-AF65-F5344CB8AC3E}">
        <p14:creationId xmlns:p14="http://schemas.microsoft.com/office/powerpoint/2010/main" val="18026417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0D0E5-C82A-2821-F372-34D79453A8FE}"/>
              </a:ext>
            </a:extLst>
          </p:cNvPr>
          <p:cNvSpPr>
            <a:spLocks noGrp="1"/>
          </p:cNvSpPr>
          <p:nvPr>
            <p:ph type="title"/>
          </p:nvPr>
        </p:nvSpPr>
        <p:spPr>
          <a:xfrm>
            <a:off x="2089535" y="609600"/>
            <a:ext cx="4865966" cy="1320800"/>
          </a:xfrm>
        </p:spPr>
        <p:txBody>
          <a:bodyPr>
            <a:normAutofit/>
          </a:bodyPr>
          <a:lstStyle/>
          <a:p>
            <a:r>
              <a:rPr lang="en-US" dirty="0"/>
              <a:t>Demo Explanation</a:t>
            </a:r>
          </a:p>
        </p:txBody>
      </p:sp>
      <p:pic>
        <p:nvPicPr>
          <p:cNvPr id="5" name="Picture 4">
            <a:extLst>
              <a:ext uri="{FF2B5EF4-FFF2-40B4-BE49-F238E27FC236}">
                <a16:creationId xmlns:a16="http://schemas.microsoft.com/office/drawing/2014/main" id="{377F6D4D-BE10-60D9-4BD4-003EB5B66673}"/>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72987" r="10239"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8613BE1-56FB-86D8-D85E-F894C535F86F}"/>
              </a:ext>
            </a:extLst>
          </p:cNvPr>
          <p:cNvSpPr>
            <a:spLocks noGrp="1"/>
          </p:cNvSpPr>
          <p:nvPr>
            <p:ph idx="1"/>
          </p:nvPr>
        </p:nvSpPr>
        <p:spPr>
          <a:xfrm>
            <a:off x="2089535" y="2160589"/>
            <a:ext cx="4865966" cy="3880773"/>
          </a:xfrm>
        </p:spPr>
        <p:txBody>
          <a:bodyPr>
            <a:normAutofit/>
          </a:bodyPr>
          <a:lstStyle/>
          <a:p>
            <a:pPr marL="0" indent="0">
              <a:buNone/>
            </a:pPr>
            <a:r>
              <a:rPr lang="en-US" sz="2400" i="1" dirty="0"/>
              <a:t>“The graph model stayed the same, but BFS and DFS visited nodes in different orders because BFS explores outward by layers while DFS follows a path more deeply before backing up”</a:t>
            </a:r>
          </a:p>
        </p:txBody>
      </p:sp>
    </p:spTree>
    <p:extLst>
      <p:ext uri="{BB962C8B-B14F-4D97-AF65-F5344CB8AC3E}">
        <p14:creationId xmlns:p14="http://schemas.microsoft.com/office/powerpoint/2010/main" val="29782299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F827-0A5A-D6D9-6C73-5ACE22424AF2}"/>
              </a:ext>
            </a:extLst>
          </p:cNvPr>
          <p:cNvSpPr>
            <a:spLocks noGrp="1"/>
          </p:cNvSpPr>
          <p:nvPr>
            <p:ph type="title"/>
          </p:nvPr>
        </p:nvSpPr>
        <p:spPr>
          <a:xfrm>
            <a:off x="4152550" y="609600"/>
            <a:ext cx="2802951" cy="1320800"/>
          </a:xfrm>
        </p:spPr>
        <p:txBody>
          <a:bodyPr>
            <a:normAutofit/>
          </a:bodyPr>
          <a:lstStyle/>
          <a:p>
            <a:r>
              <a:rPr lang="en-US" dirty="0"/>
              <a:t>From Demo to Lab</a:t>
            </a:r>
          </a:p>
        </p:txBody>
      </p:sp>
      <p:sp>
        <p:nvSpPr>
          <p:cNvPr id="3" name="Content Placeholder 2">
            <a:extLst>
              <a:ext uri="{FF2B5EF4-FFF2-40B4-BE49-F238E27FC236}">
                <a16:creationId xmlns:a16="http://schemas.microsoft.com/office/drawing/2014/main" id="{B08E31B9-CEED-D579-BC3C-E6F2B784D1BE}"/>
              </a:ext>
            </a:extLst>
          </p:cNvPr>
          <p:cNvSpPr>
            <a:spLocks noGrp="1"/>
          </p:cNvSpPr>
          <p:nvPr>
            <p:ph idx="1"/>
          </p:nvPr>
        </p:nvSpPr>
        <p:spPr>
          <a:xfrm>
            <a:off x="3907172" y="2160589"/>
            <a:ext cx="3048329" cy="3880773"/>
          </a:xfrm>
        </p:spPr>
        <p:txBody>
          <a:bodyPr>
            <a:normAutofit/>
          </a:bodyPr>
          <a:lstStyle/>
          <a:p>
            <a:pPr marL="0" indent="0">
              <a:buNone/>
            </a:pPr>
            <a:r>
              <a:rPr lang="en-US" dirty="0"/>
              <a:t>In Lab 06, you will model a different system.</a:t>
            </a:r>
          </a:p>
          <a:p>
            <a:pPr marL="0" indent="0">
              <a:buNone/>
            </a:pPr>
            <a:r>
              <a:rPr lang="en-US" dirty="0"/>
              <a:t>Options include:</a:t>
            </a:r>
          </a:p>
          <a:p>
            <a:r>
              <a:rPr lang="en-US" dirty="0"/>
              <a:t>workflow steps</a:t>
            </a:r>
          </a:p>
          <a:p>
            <a:r>
              <a:rPr lang="en-US" dirty="0"/>
              <a:t>escalation paths</a:t>
            </a:r>
          </a:p>
          <a:p>
            <a:r>
              <a:rPr lang="en-US" dirty="0"/>
              <a:t>transit stops</a:t>
            </a:r>
          </a:p>
          <a:p>
            <a:r>
              <a:rPr lang="en-US" dirty="0"/>
              <a:t>game rooms</a:t>
            </a:r>
          </a:p>
          <a:p>
            <a:r>
              <a:rPr lang="en-US" dirty="0"/>
              <a:t>prerequisites</a:t>
            </a:r>
          </a:p>
          <a:p>
            <a:r>
              <a:rPr lang="en-US" dirty="0"/>
              <a:t>communication network</a:t>
            </a:r>
          </a:p>
          <a:p>
            <a:r>
              <a:rPr lang="en-US" dirty="0"/>
              <a:t>grid movement map</a:t>
            </a:r>
          </a:p>
        </p:txBody>
      </p:sp>
      <p:pic>
        <p:nvPicPr>
          <p:cNvPr id="5" name="Picture 4" descr="A row of samples for medical testing">
            <a:extLst>
              <a:ext uri="{FF2B5EF4-FFF2-40B4-BE49-F238E27FC236}">
                <a16:creationId xmlns:a16="http://schemas.microsoft.com/office/drawing/2014/main" id="{5406C1C5-46D3-5662-C887-3DA2319E776C}"/>
              </a:ext>
            </a:extLst>
          </p:cNvPr>
          <p:cNvPicPr>
            <a:picLocks noChangeAspect="1"/>
          </p:cNvPicPr>
          <p:nvPr/>
        </p:nvPicPr>
        <p:blipFill>
          <a:blip r:embed="rId3"/>
          <a:srcRect l="51361" r="438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347200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7F3BB-9144-7EF6-2ED8-962EDA3EEBD2}"/>
              </a:ext>
            </a:extLst>
          </p:cNvPr>
          <p:cNvSpPr>
            <a:spLocks noGrp="1"/>
          </p:cNvSpPr>
          <p:nvPr>
            <p:ph type="title"/>
          </p:nvPr>
        </p:nvSpPr>
        <p:spPr>
          <a:xfrm>
            <a:off x="508000" y="609600"/>
            <a:ext cx="6447501" cy="1320800"/>
          </a:xfrm>
        </p:spPr>
        <p:txBody>
          <a:bodyPr>
            <a:normAutofit/>
          </a:bodyPr>
          <a:lstStyle/>
          <a:p>
            <a:r>
              <a:rPr lang="en-US" dirty="0"/>
              <a:t>Lab 06 Evidence</a:t>
            </a:r>
          </a:p>
        </p:txBody>
      </p:sp>
      <p:graphicFrame>
        <p:nvGraphicFramePr>
          <p:cNvPr id="5" name="Content Placeholder 2">
            <a:extLst>
              <a:ext uri="{FF2B5EF4-FFF2-40B4-BE49-F238E27FC236}">
                <a16:creationId xmlns:a16="http://schemas.microsoft.com/office/drawing/2014/main" id="{20C08685-C928-B3FF-5B04-42F716AF4CBA}"/>
              </a:ext>
            </a:extLst>
          </p:cNvPr>
          <p:cNvGraphicFramePr>
            <a:graphicFrameLocks noGrp="1"/>
          </p:cNvGraphicFramePr>
          <p:nvPr>
            <p:ph idx="1"/>
            <p:extLst>
              <p:ext uri="{D42A27DB-BD31-4B8C-83A1-F6EECF244321}">
                <p14:modId xmlns:p14="http://schemas.microsoft.com/office/powerpoint/2010/main" val="2787166537"/>
              </p:ext>
            </p:extLst>
          </p:nvPr>
        </p:nvGraphicFramePr>
        <p:xfrm>
          <a:off x="508000" y="2160589"/>
          <a:ext cx="6447501" cy="3880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077580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FD9D7-DC22-67B7-C127-E213A7D7E5B5}"/>
              </a:ext>
            </a:extLst>
          </p:cNvPr>
          <p:cNvSpPr>
            <a:spLocks noGrp="1"/>
          </p:cNvSpPr>
          <p:nvPr>
            <p:ph type="title"/>
          </p:nvPr>
        </p:nvSpPr>
        <p:spPr>
          <a:xfrm>
            <a:off x="3747981" y="609600"/>
            <a:ext cx="3207519" cy="1320800"/>
          </a:xfrm>
        </p:spPr>
        <p:txBody>
          <a:bodyPr anchor="ctr">
            <a:normAutofit/>
          </a:bodyPr>
          <a:lstStyle/>
          <a:p>
            <a:r>
              <a:rPr lang="en-US" b="1" dirty="0"/>
              <a:t>README Evidence</a:t>
            </a:r>
            <a:endParaRPr lang="en-US" dirty="0"/>
          </a:p>
        </p:txBody>
      </p:sp>
      <p:pic>
        <p:nvPicPr>
          <p:cNvPr id="7" name="Graphic 6" descr="Check List">
            <a:extLst>
              <a:ext uri="{FF2B5EF4-FFF2-40B4-BE49-F238E27FC236}">
                <a16:creationId xmlns:a16="http://schemas.microsoft.com/office/drawing/2014/main" id="{ECC9DEAD-0143-BEB6-CDDF-ECA972867E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170A1EC-C9C7-D8BC-8C60-91337D1A5DBC}"/>
              </a:ext>
            </a:extLst>
          </p:cNvPr>
          <p:cNvSpPr>
            <a:spLocks noGrp="1"/>
          </p:cNvSpPr>
          <p:nvPr>
            <p:ph idx="1"/>
          </p:nvPr>
        </p:nvSpPr>
        <p:spPr>
          <a:xfrm>
            <a:off x="3739367" y="2160589"/>
            <a:ext cx="3406016" cy="3768573"/>
          </a:xfrm>
        </p:spPr>
        <p:txBody>
          <a:bodyPr>
            <a:normAutofit/>
          </a:bodyPr>
          <a:lstStyle/>
          <a:p>
            <a:pPr marL="0" indent="0">
              <a:buNone/>
            </a:pPr>
            <a:r>
              <a:rPr lang="en-US" dirty="0"/>
              <a:t>Your README should show:</a:t>
            </a:r>
          </a:p>
          <a:p>
            <a:r>
              <a:rPr lang="en-US" dirty="0"/>
              <a:t>What the graph models</a:t>
            </a:r>
          </a:p>
          <a:p>
            <a:r>
              <a:rPr lang="en-US" dirty="0"/>
              <a:t>What the nodes represent</a:t>
            </a:r>
          </a:p>
          <a:p>
            <a:r>
              <a:rPr lang="en-US" dirty="0"/>
              <a:t>What the edges represent</a:t>
            </a:r>
          </a:p>
          <a:p>
            <a:r>
              <a:rPr lang="en-US" dirty="0"/>
              <a:t>What traversal you used</a:t>
            </a:r>
          </a:p>
          <a:p>
            <a:r>
              <a:rPr lang="en-US" dirty="0"/>
              <a:t>What the traversal shows</a:t>
            </a:r>
          </a:p>
          <a:p>
            <a:r>
              <a:rPr lang="en-US" dirty="0"/>
              <a:t>What the graph leaves out</a:t>
            </a:r>
          </a:p>
          <a:p>
            <a:r>
              <a:rPr lang="en-US" dirty="0"/>
              <a:t>AI-use note, if applicable</a:t>
            </a:r>
          </a:p>
        </p:txBody>
      </p:sp>
    </p:spTree>
    <p:extLst>
      <p:ext uri="{BB962C8B-B14F-4D97-AF65-F5344CB8AC3E}">
        <p14:creationId xmlns:p14="http://schemas.microsoft.com/office/powerpoint/2010/main" val="192396364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CFEC8-C36E-8138-AFF9-1BCB8E92E2B8}"/>
              </a:ext>
            </a:extLst>
          </p:cNvPr>
          <p:cNvSpPr>
            <a:spLocks noGrp="1"/>
          </p:cNvSpPr>
          <p:nvPr>
            <p:ph type="title"/>
          </p:nvPr>
        </p:nvSpPr>
        <p:spPr>
          <a:xfrm>
            <a:off x="4152550" y="609600"/>
            <a:ext cx="2802951" cy="1320800"/>
          </a:xfrm>
        </p:spPr>
        <p:txBody>
          <a:bodyPr vert="horz" lIns="91440" tIns="45720" rIns="91440" bIns="45720" rtlCol="0">
            <a:normAutofit/>
          </a:bodyPr>
          <a:lstStyle/>
          <a:p>
            <a:r>
              <a:rPr lang="en-US" dirty="0"/>
              <a:t>AI Use In Lab 0n</a:t>
            </a:r>
          </a:p>
        </p:txBody>
      </p:sp>
      <p:sp>
        <p:nvSpPr>
          <p:cNvPr id="4" name="Content Placeholder 3">
            <a:extLst>
              <a:ext uri="{FF2B5EF4-FFF2-40B4-BE49-F238E27FC236}">
                <a16:creationId xmlns:a16="http://schemas.microsoft.com/office/drawing/2014/main" id="{F95F7C5D-76E8-1B83-C806-C3C7939961B9}"/>
              </a:ext>
            </a:extLst>
          </p:cNvPr>
          <p:cNvSpPr>
            <a:spLocks noGrp="1"/>
          </p:cNvSpPr>
          <p:nvPr>
            <p:ph idx="1"/>
          </p:nvPr>
        </p:nvSpPr>
        <p:spPr>
          <a:xfrm>
            <a:off x="3907172" y="2160589"/>
            <a:ext cx="3538657" cy="3880773"/>
          </a:xfrm>
        </p:spPr>
        <p:txBody>
          <a:bodyPr>
            <a:normAutofit fontScale="92500"/>
          </a:bodyPr>
          <a:lstStyle/>
          <a:p>
            <a:pPr marL="0" indent="0">
              <a:buNone/>
            </a:pPr>
            <a:r>
              <a:rPr lang="en-US" dirty="0"/>
              <a:t>Manual first:</a:t>
            </a:r>
          </a:p>
          <a:p>
            <a:r>
              <a:rPr lang="en-US" dirty="0"/>
              <a:t>draft your graph</a:t>
            </a:r>
          </a:p>
          <a:p>
            <a:r>
              <a:rPr lang="en-US" dirty="0"/>
              <a:t>write your adjacency list</a:t>
            </a:r>
          </a:p>
          <a:p>
            <a:r>
              <a:rPr lang="en-US" dirty="0"/>
              <a:t>choose your start node</a:t>
            </a:r>
          </a:p>
          <a:p>
            <a:r>
              <a:rPr lang="en-US" dirty="0"/>
              <a:t>attempt traversal evidence</a:t>
            </a:r>
          </a:p>
          <a:p>
            <a:pPr marL="0" indent="0">
              <a:buNone/>
            </a:pPr>
            <a:endParaRPr lang="en-US" dirty="0"/>
          </a:p>
          <a:p>
            <a:pPr marL="0" indent="0">
              <a:buNone/>
            </a:pPr>
            <a:r>
              <a:rPr lang="en-US" dirty="0"/>
              <a:t>AI-assisted after:</a:t>
            </a:r>
          </a:p>
          <a:p>
            <a:r>
              <a:rPr lang="en-US" dirty="0"/>
              <a:t>check diagram/list consistency</a:t>
            </a:r>
          </a:p>
          <a:p>
            <a:r>
              <a:rPr lang="en-US" dirty="0"/>
              <a:t>explain BFS or DFS vocabulary</a:t>
            </a:r>
          </a:p>
          <a:p>
            <a:r>
              <a:rPr lang="en-US" dirty="0"/>
              <a:t>critique model limits</a:t>
            </a:r>
          </a:p>
        </p:txBody>
      </p:sp>
      <p:pic>
        <p:nvPicPr>
          <p:cNvPr id="5" name="Picture 4" descr="Photograph of a robotic hand interacting with a digital interface displaying lines of code and data in blue and white colors. The scene highlights advanced technology and artificial intelligence concepts, emphasizing automation and machine learning in a futuristic setting.">
            <a:extLst>
              <a:ext uri="{FF2B5EF4-FFF2-40B4-BE49-F238E27FC236}">
                <a16:creationId xmlns:a16="http://schemas.microsoft.com/office/drawing/2014/main" id="{638035A6-8F2B-CFAB-F2A0-C40F7D534C83}"/>
              </a:ext>
            </a:extLst>
          </p:cNvPr>
          <p:cNvPicPr>
            <a:picLocks noChangeAspect="1"/>
          </p:cNvPicPr>
          <p:nvPr/>
        </p:nvPicPr>
        <p:blipFill>
          <a:blip r:embed="rId3"/>
          <a:srcRect l="29618" r="25100"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8915854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71DCBED-D310-6C5A-AFAE-9D7EAA4A6972}"/>
              </a:ext>
              <a:ext uri="{C183D7F6-B498-43B3-948B-1728B52AA6E4}">
                <adec:decorative xmlns:adec="http://schemas.microsoft.com/office/drawing/2017/decorative" val="1"/>
              </a:ext>
            </a:extLst>
          </p:cNvPr>
          <p:cNvPicPr>
            <a:picLocks noChangeAspect="1"/>
          </p:cNvPicPr>
          <p:nvPr/>
        </p:nvPicPr>
        <p:blipFill>
          <a:blip r:embed="rId3">
            <a:duotone>
              <a:prstClr val="black"/>
              <a:prstClr val="white"/>
            </a:duotone>
          </a:blip>
          <a:srcRect l="29767" r="18385" b="-2"/>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2" name="Title 1">
            <a:extLst>
              <a:ext uri="{FF2B5EF4-FFF2-40B4-BE49-F238E27FC236}">
                <a16:creationId xmlns:a16="http://schemas.microsoft.com/office/drawing/2014/main" id="{42861510-CA61-0D1A-72BB-E420D0840410}"/>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a:t>Wrap up</a:t>
            </a:r>
          </a:p>
        </p:txBody>
      </p:sp>
      <p:sp>
        <p:nvSpPr>
          <p:cNvPr id="3" name="Text Placeholder 2">
            <a:extLst>
              <a:ext uri="{FF2B5EF4-FFF2-40B4-BE49-F238E27FC236}">
                <a16:creationId xmlns:a16="http://schemas.microsoft.com/office/drawing/2014/main" id="{1EDDDF35-D014-F980-031E-B5A95948CD4C}"/>
              </a:ext>
            </a:extLst>
          </p:cNvPr>
          <p:cNvSpPr>
            <a:spLocks noGrp="1"/>
          </p:cNvSpPr>
          <p:nvPr>
            <p:ph type="body" idx="1"/>
          </p:nvPr>
        </p:nvSpPr>
        <p:spPr>
          <a:xfrm>
            <a:off x="508001" y="4050831"/>
            <a:ext cx="3834913" cy="1096901"/>
          </a:xfrm>
        </p:spPr>
        <p:txBody>
          <a:bodyPr vert="horz" lIns="91440" tIns="45720" rIns="91440" bIns="45720" rtlCol="0" anchor="t">
            <a:normAutofit/>
          </a:bodyPr>
          <a:lstStyle/>
          <a:p>
            <a:pPr algn="r"/>
            <a:endParaRPr lang="en-US" sz="1400"/>
          </a:p>
        </p:txBody>
      </p:sp>
    </p:spTree>
    <p:extLst>
      <p:ext uri="{BB962C8B-B14F-4D97-AF65-F5344CB8AC3E}">
        <p14:creationId xmlns:p14="http://schemas.microsoft.com/office/powerpoint/2010/main" val="10315479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4C146-617D-4E39-D705-22B72B38BE48}"/>
              </a:ext>
            </a:extLst>
          </p:cNvPr>
          <p:cNvSpPr>
            <a:spLocks noGrp="1"/>
          </p:cNvSpPr>
          <p:nvPr>
            <p:ph type="title"/>
          </p:nvPr>
        </p:nvSpPr>
        <p:spPr>
          <a:xfrm>
            <a:off x="3747981" y="609600"/>
            <a:ext cx="3207519" cy="1320800"/>
          </a:xfrm>
        </p:spPr>
        <p:txBody>
          <a:bodyPr anchor="ctr">
            <a:normAutofit/>
          </a:bodyPr>
          <a:lstStyle/>
          <a:p>
            <a:r>
              <a:rPr lang="en-US" b="1" dirty="0"/>
              <a:t>What To Carry Forward</a:t>
            </a:r>
            <a:endParaRPr lang="en-US" dirty="0"/>
          </a:p>
        </p:txBody>
      </p:sp>
      <p:pic>
        <p:nvPicPr>
          <p:cNvPr id="7" name="Graphic 6" descr="Finger Print">
            <a:extLst>
              <a:ext uri="{FF2B5EF4-FFF2-40B4-BE49-F238E27FC236}">
                <a16:creationId xmlns:a16="http://schemas.microsoft.com/office/drawing/2014/main" id="{9CDA5D42-CD20-71ED-88DF-C280BC6218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6A433235-9D16-6582-9577-58004FB83875}"/>
              </a:ext>
            </a:extLst>
          </p:cNvPr>
          <p:cNvSpPr>
            <a:spLocks noGrp="1"/>
          </p:cNvSpPr>
          <p:nvPr>
            <p:ph idx="1"/>
          </p:nvPr>
        </p:nvSpPr>
        <p:spPr>
          <a:xfrm>
            <a:off x="3739366" y="2160589"/>
            <a:ext cx="3575833" cy="4087811"/>
          </a:xfrm>
        </p:spPr>
        <p:txBody>
          <a:bodyPr>
            <a:normAutofit/>
          </a:bodyPr>
          <a:lstStyle/>
          <a:p>
            <a:pPr marL="0" indent="0">
              <a:buNone/>
            </a:pPr>
            <a:r>
              <a:rPr lang="en-US" dirty="0"/>
              <a:t>Graphs help us reason about connected systems.</a:t>
            </a:r>
          </a:p>
          <a:p>
            <a:pPr marL="0" indent="0">
              <a:buNone/>
            </a:pPr>
            <a:br>
              <a:rPr lang="en-US" dirty="0"/>
            </a:br>
            <a:r>
              <a:rPr lang="en-US" dirty="0"/>
              <a:t>Carry forward:</a:t>
            </a:r>
          </a:p>
          <a:p>
            <a:r>
              <a:rPr lang="en-US" dirty="0"/>
              <a:t>Model the relationships</a:t>
            </a:r>
          </a:p>
          <a:p>
            <a:r>
              <a:rPr lang="en-US" dirty="0"/>
              <a:t>Make connections explicit</a:t>
            </a:r>
          </a:p>
          <a:p>
            <a:r>
              <a:rPr lang="en-US" dirty="0"/>
              <a:t>Trace the traversal</a:t>
            </a:r>
          </a:p>
          <a:p>
            <a:r>
              <a:rPr lang="en-US" dirty="0"/>
              <a:t>Explain what the model shows</a:t>
            </a:r>
          </a:p>
          <a:p>
            <a:r>
              <a:rPr lang="en-US" dirty="0"/>
              <a:t>State what the model leaves out</a:t>
            </a:r>
          </a:p>
        </p:txBody>
      </p:sp>
    </p:spTree>
    <p:extLst>
      <p:ext uri="{BB962C8B-B14F-4D97-AF65-F5344CB8AC3E}">
        <p14:creationId xmlns:p14="http://schemas.microsoft.com/office/powerpoint/2010/main" val="12796929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E9555-1E16-8E8B-E548-105BA59C0BD8}"/>
              </a:ext>
            </a:extLst>
          </p:cNvPr>
          <p:cNvSpPr>
            <a:spLocks noGrp="1"/>
          </p:cNvSpPr>
          <p:nvPr>
            <p:ph type="title"/>
          </p:nvPr>
        </p:nvSpPr>
        <p:spPr>
          <a:xfrm>
            <a:off x="4152550" y="609600"/>
            <a:ext cx="2802951" cy="1320800"/>
          </a:xfrm>
        </p:spPr>
        <p:txBody>
          <a:bodyPr>
            <a:normAutofit/>
          </a:bodyPr>
          <a:lstStyle/>
          <a:p>
            <a:pPr>
              <a:lnSpc>
                <a:spcPct val="90000"/>
              </a:lnSpc>
            </a:pPr>
            <a:r>
              <a:rPr lang="en-US" sz="3100" dirty="0"/>
              <a:t>Lab 0n Success Check</a:t>
            </a:r>
          </a:p>
        </p:txBody>
      </p:sp>
      <p:sp>
        <p:nvSpPr>
          <p:cNvPr id="3" name="Content Placeholder 2">
            <a:extLst>
              <a:ext uri="{FF2B5EF4-FFF2-40B4-BE49-F238E27FC236}">
                <a16:creationId xmlns:a16="http://schemas.microsoft.com/office/drawing/2014/main" id="{77AFF21A-F8C1-15AA-C705-4530AE58A074}"/>
              </a:ext>
            </a:extLst>
          </p:cNvPr>
          <p:cNvSpPr>
            <a:spLocks noGrp="1"/>
          </p:cNvSpPr>
          <p:nvPr>
            <p:ph idx="1"/>
          </p:nvPr>
        </p:nvSpPr>
        <p:spPr>
          <a:xfrm>
            <a:off x="3907172" y="2160589"/>
            <a:ext cx="3048329" cy="3880773"/>
          </a:xfrm>
        </p:spPr>
        <p:txBody>
          <a:bodyPr>
            <a:normAutofit/>
          </a:bodyPr>
          <a:lstStyle/>
          <a:p>
            <a:r>
              <a:rPr lang="en-US" dirty="0"/>
              <a:t>Represents relationships clearly</a:t>
            </a:r>
          </a:p>
          <a:p>
            <a:r>
              <a:rPr lang="en-US" dirty="0"/>
              <a:t>Uses graph vocabulary correctly</a:t>
            </a:r>
          </a:p>
          <a:p>
            <a:r>
              <a:rPr lang="en-US" dirty="0"/>
              <a:t>Includes adjacency-list evidence</a:t>
            </a:r>
          </a:p>
          <a:p>
            <a:r>
              <a:rPr lang="en-US" dirty="0"/>
              <a:t>Shows BFS or DFS behavior</a:t>
            </a:r>
          </a:p>
          <a:p>
            <a:r>
              <a:rPr lang="en-US" dirty="0"/>
              <a:t>Explains model limits</a:t>
            </a:r>
          </a:p>
        </p:txBody>
      </p:sp>
      <p:pic>
        <p:nvPicPr>
          <p:cNvPr id="5" name="Picture 4" descr="Beakers with solution on shelf in lab">
            <a:extLst>
              <a:ext uri="{FF2B5EF4-FFF2-40B4-BE49-F238E27FC236}">
                <a16:creationId xmlns:a16="http://schemas.microsoft.com/office/drawing/2014/main" id="{255A690D-4CB8-0C66-184B-33949F8D651C}"/>
              </a:ext>
            </a:extLst>
          </p:cNvPr>
          <p:cNvPicPr>
            <a:picLocks noChangeAspect="1"/>
          </p:cNvPicPr>
          <p:nvPr/>
        </p:nvPicPr>
        <p:blipFill>
          <a:blip r:embed="rId3"/>
          <a:srcRect l="36287" r="24330"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895131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5D3F-E078-FC55-695F-976B83CD5338}"/>
              </a:ext>
            </a:extLst>
          </p:cNvPr>
          <p:cNvSpPr>
            <a:spLocks noGrp="1"/>
          </p:cNvSpPr>
          <p:nvPr>
            <p:ph type="title"/>
          </p:nvPr>
        </p:nvSpPr>
        <p:spPr/>
        <p:txBody>
          <a:bodyPr/>
          <a:lstStyle/>
          <a:p>
            <a:r>
              <a:rPr lang="en-US" dirty="0"/>
              <a:t>Next Step</a:t>
            </a:r>
          </a:p>
        </p:txBody>
      </p:sp>
      <p:graphicFrame>
        <p:nvGraphicFramePr>
          <p:cNvPr id="7" name="Content Placeholder 2">
            <a:extLst>
              <a:ext uri="{FF2B5EF4-FFF2-40B4-BE49-F238E27FC236}">
                <a16:creationId xmlns:a16="http://schemas.microsoft.com/office/drawing/2014/main" id="{DE882C46-7257-FC97-CBC6-E983CBE66DE3}"/>
              </a:ext>
            </a:extLst>
          </p:cNvPr>
          <p:cNvGraphicFramePr>
            <a:graphicFrameLocks noGrp="1"/>
          </p:cNvGraphicFramePr>
          <p:nvPr>
            <p:ph idx="1"/>
            <p:extLst>
              <p:ext uri="{D42A27DB-BD31-4B8C-83A1-F6EECF244321}">
                <p14:modId xmlns:p14="http://schemas.microsoft.com/office/powerpoint/2010/main" val="877556721"/>
              </p:ext>
            </p:extLst>
          </p:nvPr>
        </p:nvGraphicFramePr>
        <p:xfrm>
          <a:off x="609598" y="1645920"/>
          <a:ext cx="6588035" cy="439544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77926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9F70-8F60-D3FC-3A79-9DFB4AC2D52D}"/>
              </a:ext>
            </a:extLst>
          </p:cNvPr>
          <p:cNvSpPr>
            <a:spLocks noGrp="1"/>
          </p:cNvSpPr>
          <p:nvPr>
            <p:ph type="title"/>
          </p:nvPr>
        </p:nvSpPr>
        <p:spPr>
          <a:xfrm>
            <a:off x="3747981" y="609600"/>
            <a:ext cx="3207519" cy="1320800"/>
          </a:xfrm>
        </p:spPr>
        <p:txBody>
          <a:bodyPr anchor="ctr">
            <a:normAutofit/>
          </a:bodyPr>
          <a:lstStyle/>
          <a:p>
            <a:pPr>
              <a:lnSpc>
                <a:spcPct val="90000"/>
              </a:lnSpc>
            </a:pPr>
            <a:r>
              <a:rPr lang="en-US" sz="2500" b="1"/>
              <a:t>How To Use The Textbook For Next Week's Reading</a:t>
            </a:r>
            <a:endParaRPr lang="en-US" sz="2500"/>
          </a:p>
        </p:txBody>
      </p:sp>
      <p:pic>
        <p:nvPicPr>
          <p:cNvPr id="7" name="Graphic 6" descr="Books">
            <a:extLst>
              <a:ext uri="{FF2B5EF4-FFF2-40B4-BE49-F238E27FC236}">
                <a16:creationId xmlns:a16="http://schemas.microsoft.com/office/drawing/2014/main" id="{CB844410-8630-6014-129E-F9F9F6F089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57DEBDE-72CE-C2D6-1555-027E1505BD1F}"/>
              </a:ext>
            </a:extLst>
          </p:cNvPr>
          <p:cNvSpPr>
            <a:spLocks noGrp="1"/>
          </p:cNvSpPr>
          <p:nvPr>
            <p:ph idx="1"/>
          </p:nvPr>
        </p:nvSpPr>
        <p:spPr>
          <a:xfrm>
            <a:off x="3747981" y="1990769"/>
            <a:ext cx="3723973" cy="4488405"/>
          </a:xfrm>
        </p:spPr>
        <p:txBody>
          <a:bodyPr>
            <a:noAutofit/>
          </a:bodyPr>
          <a:lstStyle/>
          <a:p>
            <a:pPr marL="0" indent="0">
              <a:lnSpc>
                <a:spcPct val="90000"/>
              </a:lnSpc>
              <a:buNone/>
            </a:pPr>
            <a:r>
              <a:rPr lang="en-US" sz="1600" dirty="0"/>
              <a:t>Next week connects algorithms to AI, data, recommendations, and security.</a:t>
            </a:r>
          </a:p>
          <a:p>
            <a:pPr marL="0" indent="0">
              <a:lnSpc>
                <a:spcPct val="90000"/>
              </a:lnSpc>
              <a:buNone/>
            </a:pPr>
            <a:r>
              <a:rPr lang="en-US" sz="1600" dirty="0"/>
              <a:t>As you read:</a:t>
            </a:r>
          </a:p>
          <a:p>
            <a:pPr>
              <a:lnSpc>
                <a:spcPct val="90000"/>
              </a:lnSpc>
            </a:pPr>
            <a:r>
              <a:rPr lang="en-US" sz="1600" dirty="0"/>
              <a:t>Focus on representation before advanced methods</a:t>
            </a:r>
          </a:p>
          <a:p>
            <a:pPr>
              <a:lnSpc>
                <a:spcPct val="90000"/>
              </a:lnSpc>
            </a:pPr>
            <a:r>
              <a:rPr lang="en-US" sz="1600" dirty="0"/>
              <a:t>Notice how similarity and recommendation depend on chosen features</a:t>
            </a:r>
          </a:p>
          <a:p>
            <a:pPr>
              <a:lnSpc>
                <a:spcPct val="90000"/>
              </a:lnSpc>
            </a:pPr>
            <a:r>
              <a:rPr lang="en-US" sz="1600" dirty="0"/>
              <a:t>Skim advanced ML language for recognition</a:t>
            </a:r>
          </a:p>
          <a:p>
            <a:pPr>
              <a:lnSpc>
                <a:spcPct val="90000"/>
              </a:lnSpc>
            </a:pPr>
            <a:r>
              <a:rPr lang="en-US" sz="1600" dirty="0"/>
              <a:t>Learn the security vocabulary without trying to master cryptography</a:t>
            </a:r>
          </a:p>
          <a:p>
            <a:pPr>
              <a:lnSpc>
                <a:spcPct val="90000"/>
              </a:lnSpc>
            </a:pPr>
            <a:r>
              <a:rPr lang="en-US" sz="1600" dirty="0"/>
              <a:t>Watch for limitations such as cold start, sparse data, and weakest link</a:t>
            </a:r>
          </a:p>
        </p:txBody>
      </p:sp>
    </p:spTree>
    <p:extLst>
      <p:ext uri="{BB962C8B-B14F-4D97-AF65-F5344CB8AC3E}">
        <p14:creationId xmlns:p14="http://schemas.microsoft.com/office/powerpoint/2010/main" val="236999644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B291DAF8-8CBA-95A1-BEA8-AAD0C09C5642}"/>
              </a:ext>
            </a:extLst>
          </p:cNvPr>
          <p:cNvSpPr>
            <a:spLocks noGrp="1"/>
          </p:cNvSpPr>
          <p:nvPr>
            <p:ph type="title"/>
          </p:nvPr>
        </p:nvSpPr>
        <p:spPr>
          <a:xfrm>
            <a:off x="3730752" y="1265314"/>
            <a:ext cx="3572668" cy="3249131"/>
          </a:xfrm>
        </p:spPr>
        <p:txBody>
          <a:bodyPr vert="horz" lIns="91440" tIns="45720" rIns="91440" bIns="45720" rtlCol="0" anchor="b">
            <a:normAutofit/>
          </a:bodyPr>
          <a:lstStyle/>
          <a:p>
            <a:pPr>
              <a:lnSpc>
                <a:spcPct val="90000"/>
              </a:lnSpc>
            </a:pPr>
            <a:r>
              <a:rPr lang="en-US" sz="4800" dirty="0"/>
              <a:t>Thank you!</a:t>
            </a:r>
            <a:br>
              <a:rPr lang="en-US" sz="4800" dirty="0"/>
            </a:br>
            <a:br>
              <a:rPr lang="en-US" sz="4800" dirty="0"/>
            </a:br>
            <a:r>
              <a:rPr lang="en-US" sz="4800" dirty="0"/>
              <a:t>Have Fun!</a:t>
            </a:r>
          </a:p>
        </p:txBody>
      </p:sp>
      <p:sp>
        <p:nvSpPr>
          <p:cNvPr id="5" name="Text Placeholder 4">
            <a:extLst>
              <a:ext uri="{FF2B5EF4-FFF2-40B4-BE49-F238E27FC236}">
                <a16:creationId xmlns:a16="http://schemas.microsoft.com/office/drawing/2014/main" id="{8FE61A93-6BD2-677B-DBB4-F66B15926039}"/>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endParaRPr lang="en-US" sz="1800"/>
          </a:p>
        </p:txBody>
      </p:sp>
      <p:sp>
        <p:nvSpPr>
          <p:cNvPr id="24" name="Isosceles Triangle 23">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Graphic 8" descr="Thumbs Up Sign">
            <a:extLst>
              <a:ext uri="{FF2B5EF4-FFF2-40B4-BE49-F238E27FC236}">
                <a16:creationId xmlns:a16="http://schemas.microsoft.com/office/drawing/2014/main" id="{CD1A5982-49F4-6629-1884-3B7061C5B5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842682234"/>
      </p:ext>
    </p:extLst>
  </p:cSld>
  <p:clrMapOvr>
    <a:masterClrMapping/>
  </p:clrMapOvr>
</p:sld>
</file>

<file path=ppt/theme/theme1.xml><?xml version="1.0" encoding="utf-8"?>
<a:theme xmlns:a="http://schemas.openxmlformats.org/drawingml/2006/main" name="Facet">
  <a:themeElements>
    <a:clrScheme name="Southwest Tech">
      <a:dk1>
        <a:srgbClr val="0B4F8A"/>
      </a:dk1>
      <a:lt1>
        <a:sysClr val="window" lastClr="FFFFFF"/>
      </a:lt1>
      <a:dk2>
        <a:srgbClr val="6F6F6F"/>
      </a:dk2>
      <a:lt2>
        <a:srgbClr val="F4F6F8"/>
      </a:lt2>
      <a:accent1>
        <a:srgbClr val="0B4F8A"/>
      </a:accent1>
      <a:accent2>
        <a:srgbClr val="2E73B8"/>
      </a:accent2>
      <a:accent3>
        <a:srgbClr val="F2B705"/>
      </a:accent3>
      <a:accent4>
        <a:srgbClr val="6F6F6F"/>
      </a:accent4>
      <a:accent5>
        <a:srgbClr val="2E73B8"/>
      </a:accent5>
      <a:accent6>
        <a:srgbClr val="F2B705"/>
      </a:accent6>
      <a:hlink>
        <a:srgbClr val="2E73B8"/>
      </a:hlink>
      <a:folHlink>
        <a:srgbClr val="0B4F8A"/>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TM02900688[[fn=Facet]]</Template>
  <TotalTime>7766</TotalTime>
  <Words>4096</Words>
  <Application>Microsoft Office PowerPoint</Application>
  <PresentationFormat>On-screen Show (4:3)</PresentationFormat>
  <Paragraphs>861</Paragraphs>
  <Slides>71</Slides>
  <Notes>69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Aptos</vt:lpstr>
      <vt:lpstr>Arial</vt:lpstr>
      <vt:lpstr>Trebuchet MS</vt:lpstr>
      <vt:lpstr>Wingdings 3</vt:lpstr>
      <vt:lpstr>Facet</vt:lpstr>
      <vt:lpstr>Introduction To Algorithms</vt:lpstr>
      <vt:lpstr>Terms to Remember</vt:lpstr>
      <vt:lpstr>What We Will Use Today</vt:lpstr>
      <vt:lpstr>What We Will “Touch On” and Revisit Later</vt:lpstr>
      <vt:lpstr>Review Coding Lab</vt:lpstr>
      <vt:lpstr>Review:  What Lab 05 Taught Us</vt:lpstr>
      <vt:lpstr>Today’s Question</vt:lpstr>
      <vt:lpstr>Graphs Model Relationships</vt:lpstr>
      <vt:lpstr>Graph Model</vt:lpstr>
      <vt:lpstr>What Counts as Success Today</vt:lpstr>
      <vt:lpstr>Graph Algorithm Overview</vt:lpstr>
      <vt:lpstr>Terms Become Precise</vt:lpstr>
      <vt:lpstr>Term Precision</vt:lpstr>
      <vt:lpstr>Do Not Panic Over Formulas</vt:lpstr>
      <vt:lpstr>Formula Posture</vt:lpstr>
      <vt:lpstr>Graph Basics</vt:lpstr>
      <vt:lpstr>Neighborhoods</vt:lpstr>
      <vt:lpstr>Traversals</vt:lpstr>
      <vt:lpstr>Graph Basics and Representation</vt:lpstr>
      <vt:lpstr>Node Or Vertex</vt:lpstr>
      <vt:lpstr>Edge Or Link</vt:lpstr>
      <vt:lpstr>Network</vt:lpstr>
      <vt:lpstr>Simple Graph</vt:lpstr>
      <vt:lpstr>Directed Graph</vt:lpstr>
      <vt:lpstr>Undirected Graph</vt:lpstr>
      <vt:lpstr>Weighted Graph</vt:lpstr>
      <vt:lpstr>Adjacency List</vt:lpstr>
      <vt:lpstr>Adjacency List</vt:lpstr>
      <vt:lpstr>Diagram And Adjacency List Must Agree</vt:lpstr>
      <vt:lpstr>A Graph is a Model</vt:lpstr>
      <vt:lpstr>Network Analysis Orientation</vt:lpstr>
      <vt:lpstr>Neighborhood</vt:lpstr>
      <vt:lpstr>Ego-Centered Network</vt:lpstr>
      <vt:lpstr>Shortest Path</vt:lpstr>
      <vt:lpstr>Shortest Path</vt:lpstr>
      <vt:lpstr>Creating A Neighborhood</vt:lpstr>
      <vt:lpstr>Optional Metrics:  Recognition Only</vt:lpstr>
      <vt:lpstr>Degree And Density</vt:lpstr>
      <vt:lpstr>Centrality Is Not Importance By Itself</vt:lpstr>
      <vt:lpstr>Break</vt:lpstr>
      <vt:lpstr>Graph Traversals</vt:lpstr>
      <vt:lpstr>Traversal</vt:lpstr>
      <vt:lpstr>Breadth-First Search</vt:lpstr>
      <vt:lpstr>BFS Evidence</vt:lpstr>
      <vt:lpstr>BFS Evidence</vt:lpstr>
      <vt:lpstr>Depth-First Search</vt:lpstr>
      <vt:lpstr>DFS Evidence</vt:lpstr>
      <vt:lpstr>DFS Evidence</vt:lpstr>
      <vt:lpstr>BFS vs DFS</vt:lpstr>
      <vt:lpstr>Neighbor Order Matters</vt:lpstr>
      <vt:lpstr>Optional Network Context</vt:lpstr>
      <vt:lpstr>Visualizing A Graph</vt:lpstr>
      <vt:lpstr>Social Network Analysis Context</vt:lpstr>
      <vt:lpstr>Fairness And Closeness</vt:lpstr>
      <vt:lpstr>What To Deeply Learn vs Recognize</vt:lpstr>
      <vt:lpstr>Demo</vt:lpstr>
      <vt:lpstr>Demo Scenario</vt:lpstr>
      <vt:lpstr>Demo Evidence</vt:lpstr>
      <vt:lpstr>Demo Evidence</vt:lpstr>
      <vt:lpstr>Demo Key Questions</vt:lpstr>
      <vt:lpstr>Demo Explanation</vt:lpstr>
      <vt:lpstr>From Demo to Lab</vt:lpstr>
      <vt:lpstr>Lab 06 Evidence</vt:lpstr>
      <vt:lpstr>README Evidence</vt:lpstr>
      <vt:lpstr>AI Use In Lab 0n</vt:lpstr>
      <vt:lpstr>Wrap up</vt:lpstr>
      <vt:lpstr>What To Carry Forward</vt:lpstr>
      <vt:lpstr>Lab 0n Success Check</vt:lpstr>
      <vt:lpstr>Next Step</vt:lpstr>
      <vt:lpstr>How To Use The Textbook For Next Week's Reading</vt:lpstr>
      <vt:lpstr>Thank you!  Have Fun!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Cash Myers</dc:creator>
  <cp:keywords/>
  <dc:description>generated using python-pptx</dc:description>
  <cp:lastModifiedBy>Cash Myers</cp:lastModifiedBy>
  <cp:revision>140</cp:revision>
  <dcterms:created xsi:type="dcterms:W3CDTF">2013-01-27T09:14:16Z</dcterms:created>
  <dcterms:modified xsi:type="dcterms:W3CDTF">2026-06-21T19:46:54Z</dcterms:modified>
  <cp:category/>
</cp:coreProperties>
</file>