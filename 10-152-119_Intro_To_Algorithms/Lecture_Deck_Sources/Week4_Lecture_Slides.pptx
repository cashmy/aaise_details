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72"/>
  </p:notesMasterIdLst>
  <p:handoutMasterIdLst>
    <p:handoutMasterId r:id="rId73"/>
  </p:handoutMasterIdLst>
  <p:sldIdLst>
    <p:sldId id="256" r:id="rId2"/>
    <p:sldId id="259" r:id="rId3"/>
    <p:sldId id="260" r:id="rId4"/>
    <p:sldId id="364" r:id="rId5"/>
    <p:sldId id="322" r:id="rId6"/>
    <p:sldId id="321" r:id="rId7"/>
    <p:sldId id="264" r:id="rId8"/>
    <p:sldId id="323" r:id="rId9"/>
    <p:sldId id="380" r:id="rId10"/>
    <p:sldId id="379" r:id="rId11"/>
    <p:sldId id="269" r:id="rId12"/>
    <p:sldId id="384" r:id="rId13"/>
    <p:sldId id="383" r:id="rId14"/>
    <p:sldId id="382" r:id="rId15"/>
    <p:sldId id="381" r:id="rId16"/>
    <p:sldId id="376" r:id="rId17"/>
    <p:sldId id="377" r:id="rId18"/>
    <p:sldId id="417" r:id="rId19"/>
    <p:sldId id="393" r:id="rId20"/>
    <p:sldId id="392" r:id="rId21"/>
    <p:sldId id="394" r:id="rId22"/>
    <p:sldId id="395" r:id="rId23"/>
    <p:sldId id="396" r:id="rId24"/>
    <p:sldId id="423" r:id="rId25"/>
    <p:sldId id="424" r:id="rId26"/>
    <p:sldId id="399" r:id="rId27"/>
    <p:sldId id="400" r:id="rId28"/>
    <p:sldId id="401" r:id="rId29"/>
    <p:sldId id="419" r:id="rId30"/>
    <p:sldId id="385" r:id="rId31"/>
    <p:sldId id="386" r:id="rId32"/>
    <p:sldId id="402" r:id="rId33"/>
    <p:sldId id="403" r:id="rId34"/>
    <p:sldId id="404" r:id="rId35"/>
    <p:sldId id="418" r:id="rId36"/>
    <p:sldId id="405" r:id="rId37"/>
    <p:sldId id="363" r:id="rId38"/>
    <p:sldId id="387" r:id="rId39"/>
    <p:sldId id="388" r:id="rId40"/>
    <p:sldId id="406" r:id="rId41"/>
    <p:sldId id="407" r:id="rId42"/>
    <p:sldId id="408" r:id="rId43"/>
    <p:sldId id="425" r:id="rId44"/>
    <p:sldId id="409" r:id="rId45"/>
    <p:sldId id="410" r:id="rId46"/>
    <p:sldId id="411" r:id="rId47"/>
    <p:sldId id="412" r:id="rId48"/>
    <p:sldId id="373" r:id="rId49"/>
    <p:sldId id="389" r:id="rId50"/>
    <p:sldId id="390" r:id="rId51"/>
    <p:sldId id="414" r:id="rId52"/>
    <p:sldId id="421" r:id="rId53"/>
    <p:sldId id="415" r:id="rId54"/>
    <p:sldId id="416" r:id="rId55"/>
    <p:sldId id="463" r:id="rId56"/>
    <p:sldId id="367" r:id="rId57"/>
    <p:sldId id="378" r:id="rId58"/>
    <p:sldId id="422" r:id="rId59"/>
    <p:sldId id="391" r:id="rId60"/>
    <p:sldId id="369" r:id="rId61"/>
    <p:sldId id="307" r:id="rId62"/>
    <p:sldId id="308" r:id="rId63"/>
    <p:sldId id="309" r:id="rId64"/>
    <p:sldId id="374" r:id="rId65"/>
    <p:sldId id="317" r:id="rId66"/>
    <p:sldId id="375" r:id="rId67"/>
    <p:sldId id="316" r:id="rId68"/>
    <p:sldId id="318" r:id="rId69"/>
    <p:sldId id="319" r:id="rId70"/>
    <p:sldId id="320" r:id="rId7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68900" autoAdjust="0"/>
  </p:normalViewPr>
  <p:slideViewPr>
    <p:cSldViewPr snapToGrid="0" snapToObjects="1">
      <p:cViewPr varScale="1">
        <p:scale>
          <a:sx n="73" d="100"/>
          <a:sy n="73" d="100"/>
        </p:scale>
        <p:origin x="1812"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93F8F8-4959-4928-B713-CB6ADC584739}"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FE89A495-BC83-409A-AC2B-549EAA78055A}">
      <dgm:prSet/>
      <dgm:spPr/>
      <dgm:t>
        <a:bodyPr/>
        <a:lstStyle/>
        <a:p>
          <a:r>
            <a:rPr lang="en-US"/>
            <a:t>Last week, we focused on:</a:t>
          </a:r>
        </a:p>
      </dgm:t>
    </dgm:pt>
    <dgm:pt modelId="{7FD91A43-CF2C-4D46-A04A-75868E7E334A}" type="parTrans" cxnId="{79E17C93-E7F9-40E3-9A0D-3C2F7A18BBDC}">
      <dgm:prSet/>
      <dgm:spPr/>
      <dgm:t>
        <a:bodyPr/>
        <a:lstStyle/>
        <a:p>
          <a:endParaRPr lang="en-US"/>
        </a:p>
      </dgm:t>
    </dgm:pt>
    <dgm:pt modelId="{94898D6C-C872-4685-971A-1DF3E13535F0}" type="sibTrans" cxnId="{79E17C93-E7F9-40E3-9A0D-3C2F7A18BBDC}">
      <dgm:prSet/>
      <dgm:spPr/>
      <dgm:t>
        <a:bodyPr/>
        <a:lstStyle/>
        <a:p>
          <a:endParaRPr lang="en-US"/>
        </a:p>
      </dgm:t>
    </dgm:pt>
    <dgm:pt modelId="{43E234C2-131F-41F6-810F-8E386D448650}">
      <dgm:prSet/>
      <dgm:spPr/>
      <dgm:t>
        <a:bodyPr/>
        <a:lstStyle/>
        <a:p>
          <a:pPr>
            <a:buFont typeface="Arial" panose="020B0604020202020204" pitchFamily="34" charset="0"/>
            <a:buChar char="•"/>
          </a:pPr>
          <a:r>
            <a:rPr lang="en-US" b="0" dirty="0"/>
            <a:t>How data was stored</a:t>
          </a:r>
          <a:endParaRPr lang="en-US" dirty="0"/>
        </a:p>
      </dgm:t>
    </dgm:pt>
    <dgm:pt modelId="{097FCB5F-8F6F-4173-9D4E-5BC862BA5408}" type="parTrans" cxnId="{C8661701-0263-4E59-A142-0C8CEA51A6EF}">
      <dgm:prSet/>
      <dgm:spPr/>
      <dgm:t>
        <a:bodyPr/>
        <a:lstStyle/>
        <a:p>
          <a:endParaRPr lang="en-US"/>
        </a:p>
      </dgm:t>
    </dgm:pt>
    <dgm:pt modelId="{A1CEA6FC-FD6A-4DFA-BE24-F224EAE40B4A}" type="sibTrans" cxnId="{C8661701-0263-4E59-A142-0C8CEA51A6EF}">
      <dgm:prSet/>
      <dgm:spPr/>
      <dgm:t>
        <a:bodyPr/>
        <a:lstStyle/>
        <a:p>
          <a:endParaRPr lang="en-US"/>
        </a:p>
      </dgm:t>
    </dgm:pt>
    <dgm:pt modelId="{BB34CD32-B4EA-4B30-A73B-FDE51ECA2F6E}">
      <dgm:prSet/>
      <dgm:spPr/>
      <dgm:t>
        <a:bodyPr/>
        <a:lstStyle/>
        <a:p>
          <a:pPr>
            <a:buFont typeface="Arial" panose="020B0604020202020204" pitchFamily="34" charset="0"/>
            <a:buChar char="•"/>
          </a:pPr>
          <a:r>
            <a:rPr lang="en-US" b="0" dirty="0"/>
            <a:t>What operation mattered most</a:t>
          </a:r>
        </a:p>
      </dgm:t>
    </dgm:pt>
    <dgm:pt modelId="{64F2E051-4601-477F-9568-6195A5BE45E9}" type="parTrans" cxnId="{65EDBE1F-4B51-4B37-B861-1BCDD14CA0E5}">
      <dgm:prSet/>
      <dgm:spPr/>
      <dgm:t>
        <a:bodyPr/>
        <a:lstStyle/>
        <a:p>
          <a:endParaRPr lang="en-US"/>
        </a:p>
      </dgm:t>
    </dgm:pt>
    <dgm:pt modelId="{EB8A9485-47F8-4A67-B9D2-83D4DC58AB9A}" type="sibTrans" cxnId="{65EDBE1F-4B51-4B37-B861-1BCDD14CA0E5}">
      <dgm:prSet/>
      <dgm:spPr/>
      <dgm:t>
        <a:bodyPr/>
        <a:lstStyle/>
        <a:p>
          <a:endParaRPr lang="en-US"/>
        </a:p>
      </dgm:t>
    </dgm:pt>
    <dgm:pt modelId="{5308D7FF-48F5-4907-9018-DD69D91B5FF5}">
      <dgm:prSet/>
      <dgm:spPr/>
      <dgm:t>
        <a:bodyPr/>
        <a:lstStyle/>
        <a:p>
          <a:pPr>
            <a:buFont typeface="Arial" panose="020B0604020202020204" pitchFamily="34" charset="0"/>
            <a:buChar char="•"/>
          </a:pPr>
          <a:r>
            <a:rPr lang="en-US" b="0" dirty="0"/>
            <a:t>Which structure made the operation clearer</a:t>
          </a:r>
        </a:p>
      </dgm:t>
    </dgm:pt>
    <dgm:pt modelId="{5494EE10-7651-465E-B6D1-8625071CC324}" type="parTrans" cxnId="{20C86C71-34A9-43C8-9895-A870AE10C821}">
      <dgm:prSet/>
      <dgm:spPr/>
      <dgm:t>
        <a:bodyPr/>
        <a:lstStyle/>
        <a:p>
          <a:endParaRPr lang="en-US"/>
        </a:p>
      </dgm:t>
    </dgm:pt>
    <dgm:pt modelId="{135354D6-0E8D-4E1D-8CAE-F3462B1A08AF}" type="sibTrans" cxnId="{20C86C71-34A9-43C8-9895-A870AE10C821}">
      <dgm:prSet/>
      <dgm:spPr/>
      <dgm:t>
        <a:bodyPr/>
        <a:lstStyle/>
        <a:p>
          <a:endParaRPr lang="en-US"/>
        </a:p>
      </dgm:t>
    </dgm:pt>
    <dgm:pt modelId="{7D64F66A-5F7C-4C19-BD1F-864F9E34BC47}">
      <dgm:prSet/>
      <dgm:spPr/>
      <dgm:t>
        <a:bodyPr/>
        <a:lstStyle/>
        <a:p>
          <a:pPr>
            <a:buFont typeface="Arial" panose="020B0604020202020204" pitchFamily="34" charset="0"/>
            <a:buChar char="•"/>
          </a:pPr>
          <a:r>
            <a:rPr lang="en-US" b="0" dirty="0"/>
            <a:t>Which structure made the operation easier or faster</a:t>
          </a:r>
        </a:p>
      </dgm:t>
    </dgm:pt>
    <dgm:pt modelId="{E360858F-C236-482E-8B92-E8CAB0FE052C}" type="parTrans" cxnId="{08D6B628-DF4E-4E70-996F-7B16034B65AA}">
      <dgm:prSet/>
      <dgm:spPr/>
      <dgm:t>
        <a:bodyPr/>
        <a:lstStyle/>
        <a:p>
          <a:endParaRPr lang="en-US"/>
        </a:p>
      </dgm:t>
    </dgm:pt>
    <dgm:pt modelId="{00ED3B55-1F96-4576-A3B0-6BCAA8F0180E}" type="sibTrans" cxnId="{08D6B628-DF4E-4E70-996F-7B16034B65AA}">
      <dgm:prSet/>
      <dgm:spPr/>
      <dgm:t>
        <a:bodyPr/>
        <a:lstStyle/>
        <a:p>
          <a:endParaRPr lang="en-US"/>
        </a:p>
      </dgm:t>
    </dgm:pt>
    <dgm:pt modelId="{83D3C41A-A349-4495-A934-4E419417A58A}" type="pres">
      <dgm:prSet presAssocID="{6393F8F8-4959-4928-B713-CB6ADC584739}" presName="linear" presStyleCnt="0">
        <dgm:presLayoutVars>
          <dgm:dir/>
          <dgm:animLvl val="lvl"/>
          <dgm:resizeHandles val="exact"/>
        </dgm:presLayoutVars>
      </dgm:prSet>
      <dgm:spPr/>
    </dgm:pt>
    <dgm:pt modelId="{A6D737D4-75FA-45BA-8DF8-335747CBED5A}" type="pres">
      <dgm:prSet presAssocID="{FE89A495-BC83-409A-AC2B-549EAA78055A}" presName="parentLin" presStyleCnt="0"/>
      <dgm:spPr/>
    </dgm:pt>
    <dgm:pt modelId="{9101E35E-8AC9-4664-B614-F6663981EC26}" type="pres">
      <dgm:prSet presAssocID="{FE89A495-BC83-409A-AC2B-549EAA78055A}" presName="parentLeftMargin" presStyleLbl="node1" presStyleIdx="0" presStyleCnt="1"/>
      <dgm:spPr/>
    </dgm:pt>
    <dgm:pt modelId="{91615320-4CF6-4AA6-903B-2DA45376792B}" type="pres">
      <dgm:prSet presAssocID="{FE89A495-BC83-409A-AC2B-549EAA78055A}" presName="parentText" presStyleLbl="node1" presStyleIdx="0" presStyleCnt="1">
        <dgm:presLayoutVars>
          <dgm:chMax val="0"/>
          <dgm:bulletEnabled val="1"/>
        </dgm:presLayoutVars>
      </dgm:prSet>
      <dgm:spPr/>
    </dgm:pt>
    <dgm:pt modelId="{8F5EF893-41E9-44A1-8F73-4C7294540170}" type="pres">
      <dgm:prSet presAssocID="{FE89A495-BC83-409A-AC2B-549EAA78055A}" presName="negativeSpace" presStyleCnt="0"/>
      <dgm:spPr/>
    </dgm:pt>
    <dgm:pt modelId="{682F3400-ACEA-4BF2-B7EA-1224E7E39347}" type="pres">
      <dgm:prSet presAssocID="{FE89A495-BC83-409A-AC2B-549EAA78055A}" presName="childText" presStyleLbl="conFgAcc1" presStyleIdx="0" presStyleCnt="1">
        <dgm:presLayoutVars>
          <dgm:bulletEnabled val="1"/>
        </dgm:presLayoutVars>
      </dgm:prSet>
      <dgm:spPr/>
    </dgm:pt>
  </dgm:ptLst>
  <dgm:cxnLst>
    <dgm:cxn modelId="{C8661701-0263-4E59-A142-0C8CEA51A6EF}" srcId="{FE89A495-BC83-409A-AC2B-549EAA78055A}" destId="{43E234C2-131F-41F6-810F-8E386D448650}" srcOrd="0" destOrd="0" parTransId="{097FCB5F-8F6F-4173-9D4E-5BC862BA5408}" sibTransId="{A1CEA6FC-FD6A-4DFA-BE24-F224EAE40B4A}"/>
    <dgm:cxn modelId="{893AD811-125B-45E8-80C5-00FD44968E56}" type="presOf" srcId="{BB34CD32-B4EA-4B30-A73B-FDE51ECA2F6E}" destId="{682F3400-ACEA-4BF2-B7EA-1224E7E39347}" srcOrd="0" destOrd="1" presId="urn:microsoft.com/office/officeart/2005/8/layout/list1"/>
    <dgm:cxn modelId="{65EDBE1F-4B51-4B37-B861-1BCDD14CA0E5}" srcId="{FE89A495-BC83-409A-AC2B-549EAA78055A}" destId="{BB34CD32-B4EA-4B30-A73B-FDE51ECA2F6E}" srcOrd="1" destOrd="0" parTransId="{64F2E051-4601-477F-9568-6195A5BE45E9}" sibTransId="{EB8A9485-47F8-4A67-B9D2-83D4DC58AB9A}"/>
    <dgm:cxn modelId="{08D6B628-DF4E-4E70-996F-7B16034B65AA}" srcId="{FE89A495-BC83-409A-AC2B-549EAA78055A}" destId="{7D64F66A-5F7C-4C19-BD1F-864F9E34BC47}" srcOrd="3" destOrd="0" parTransId="{E360858F-C236-482E-8B92-E8CAB0FE052C}" sibTransId="{00ED3B55-1F96-4576-A3B0-6BCAA8F0180E}"/>
    <dgm:cxn modelId="{1FD1695B-A184-47B6-84F2-1342EF2F305E}" type="presOf" srcId="{43E234C2-131F-41F6-810F-8E386D448650}" destId="{682F3400-ACEA-4BF2-B7EA-1224E7E39347}" srcOrd="0" destOrd="0" presId="urn:microsoft.com/office/officeart/2005/8/layout/list1"/>
    <dgm:cxn modelId="{13DD3843-50EA-4902-B452-3507B465678A}" type="presOf" srcId="{FE89A495-BC83-409A-AC2B-549EAA78055A}" destId="{9101E35E-8AC9-4664-B614-F6663981EC26}" srcOrd="0" destOrd="0" presId="urn:microsoft.com/office/officeart/2005/8/layout/list1"/>
    <dgm:cxn modelId="{20C86C71-34A9-43C8-9895-A870AE10C821}" srcId="{FE89A495-BC83-409A-AC2B-549EAA78055A}" destId="{5308D7FF-48F5-4907-9018-DD69D91B5FF5}" srcOrd="2" destOrd="0" parTransId="{5494EE10-7651-465E-B6D1-8625071CC324}" sibTransId="{135354D6-0E8D-4E1D-8CAE-F3462B1A08AF}"/>
    <dgm:cxn modelId="{BFD71D57-CF26-4F07-95E9-7BFFABA1F37E}" type="presOf" srcId="{FE89A495-BC83-409A-AC2B-549EAA78055A}" destId="{91615320-4CF6-4AA6-903B-2DA45376792B}" srcOrd="1" destOrd="0" presId="urn:microsoft.com/office/officeart/2005/8/layout/list1"/>
    <dgm:cxn modelId="{24E07381-2F31-4FBE-8240-802151128138}" type="presOf" srcId="{7D64F66A-5F7C-4C19-BD1F-864F9E34BC47}" destId="{682F3400-ACEA-4BF2-B7EA-1224E7E39347}" srcOrd="0" destOrd="3" presId="urn:microsoft.com/office/officeart/2005/8/layout/list1"/>
    <dgm:cxn modelId="{79E17C93-E7F9-40E3-9A0D-3C2F7A18BBDC}" srcId="{6393F8F8-4959-4928-B713-CB6ADC584739}" destId="{FE89A495-BC83-409A-AC2B-549EAA78055A}" srcOrd="0" destOrd="0" parTransId="{7FD91A43-CF2C-4D46-A04A-75868E7E334A}" sibTransId="{94898D6C-C872-4685-971A-1DF3E13535F0}"/>
    <dgm:cxn modelId="{CA991D9A-4031-45A9-BA22-A1FD1FDC8659}" type="presOf" srcId="{6393F8F8-4959-4928-B713-CB6ADC584739}" destId="{83D3C41A-A349-4495-A934-4E419417A58A}" srcOrd="0" destOrd="0" presId="urn:microsoft.com/office/officeart/2005/8/layout/list1"/>
    <dgm:cxn modelId="{6255DEC2-D965-42F7-9D2B-19547EE540A6}" type="presOf" srcId="{5308D7FF-48F5-4907-9018-DD69D91B5FF5}" destId="{682F3400-ACEA-4BF2-B7EA-1224E7E39347}" srcOrd="0" destOrd="2" presId="urn:microsoft.com/office/officeart/2005/8/layout/list1"/>
    <dgm:cxn modelId="{69FB4434-E68D-4920-BE13-A5528C41C68F}" type="presParOf" srcId="{83D3C41A-A349-4495-A934-4E419417A58A}" destId="{A6D737D4-75FA-45BA-8DF8-335747CBED5A}" srcOrd="0" destOrd="0" presId="urn:microsoft.com/office/officeart/2005/8/layout/list1"/>
    <dgm:cxn modelId="{4D5B5848-27C1-4189-80AC-3CBB6E4DBD67}" type="presParOf" srcId="{A6D737D4-75FA-45BA-8DF8-335747CBED5A}" destId="{9101E35E-8AC9-4664-B614-F6663981EC26}" srcOrd="0" destOrd="0" presId="urn:microsoft.com/office/officeart/2005/8/layout/list1"/>
    <dgm:cxn modelId="{E788DEB0-F021-41DA-9B7E-AF8DF23576B9}" type="presParOf" srcId="{A6D737D4-75FA-45BA-8DF8-335747CBED5A}" destId="{91615320-4CF6-4AA6-903B-2DA45376792B}" srcOrd="1" destOrd="0" presId="urn:microsoft.com/office/officeart/2005/8/layout/list1"/>
    <dgm:cxn modelId="{1B3D4287-7FA3-4D17-9516-E910800EBD16}" type="presParOf" srcId="{83D3C41A-A349-4495-A934-4E419417A58A}" destId="{8F5EF893-41E9-44A1-8F73-4C7294540170}" srcOrd="1" destOrd="0" presId="urn:microsoft.com/office/officeart/2005/8/layout/list1"/>
    <dgm:cxn modelId="{0465D55C-84AF-4D0A-8A84-61E55AC3B301}" type="presParOf" srcId="{83D3C41A-A349-4495-A934-4E419417A58A}" destId="{682F3400-ACEA-4BF2-B7EA-1224E7E3934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972B69-4B4F-436A-B547-1FADC4FB29B4}"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A75A4D4B-BFE9-4B6F-9A81-9F9C96F5DA38}">
      <dgm:prSet/>
      <dgm:spPr/>
      <dgm:t>
        <a:bodyPr/>
        <a:lstStyle/>
        <a:p>
          <a:r>
            <a:rPr lang="en-US" b="0" dirty="0"/>
            <a:t>Explain the difference between sorting and searching</a:t>
          </a:r>
          <a:endParaRPr lang="en-US" dirty="0"/>
        </a:p>
      </dgm:t>
    </dgm:pt>
    <dgm:pt modelId="{4FAABBF4-AB55-44FE-B6F0-B4BF829D004F}" type="parTrans" cxnId="{7F9DA8A4-8191-4121-8DA1-F0552EB3E440}">
      <dgm:prSet/>
      <dgm:spPr/>
      <dgm:t>
        <a:bodyPr/>
        <a:lstStyle/>
        <a:p>
          <a:endParaRPr lang="en-US"/>
        </a:p>
      </dgm:t>
    </dgm:pt>
    <dgm:pt modelId="{7E1354BB-EC61-4A45-99C9-75C6202CC56A}" type="sibTrans" cxnId="{7F9DA8A4-8191-4121-8DA1-F0552EB3E440}">
      <dgm:prSet/>
      <dgm:spPr/>
      <dgm:t>
        <a:bodyPr/>
        <a:lstStyle/>
        <a:p>
          <a:endParaRPr lang="en-US"/>
        </a:p>
      </dgm:t>
    </dgm:pt>
    <dgm:pt modelId="{52F27244-3BCE-41EF-9365-79C938C300A2}">
      <dgm:prSet/>
      <dgm:spPr/>
      <dgm:t>
        <a:bodyPr/>
        <a:lstStyle/>
        <a:p>
          <a:pPr>
            <a:buNone/>
          </a:pPr>
          <a:r>
            <a:rPr lang="en-US" b="0" dirty="0"/>
            <a:t>Recognize several common sorting algorithms and their basic strategies</a:t>
          </a:r>
        </a:p>
      </dgm:t>
    </dgm:pt>
    <dgm:pt modelId="{8412A5EA-8A98-4EC4-9F14-19E428C20C81}" type="parTrans" cxnId="{87DE9EED-B5B6-4FF0-BA51-382C4CEB9BD6}">
      <dgm:prSet/>
      <dgm:spPr/>
      <dgm:t>
        <a:bodyPr/>
        <a:lstStyle/>
        <a:p>
          <a:endParaRPr lang="en-US"/>
        </a:p>
      </dgm:t>
    </dgm:pt>
    <dgm:pt modelId="{2BBBD5AC-79B8-4461-BC87-DE2012B776FD}" type="sibTrans" cxnId="{87DE9EED-B5B6-4FF0-BA51-382C4CEB9BD6}">
      <dgm:prSet/>
      <dgm:spPr/>
      <dgm:t>
        <a:bodyPr/>
        <a:lstStyle/>
        <a:p>
          <a:endParaRPr lang="en-US"/>
        </a:p>
      </dgm:t>
    </dgm:pt>
    <dgm:pt modelId="{E1C0E77E-2CDF-4C21-BDAA-8BF6D431E663}">
      <dgm:prSet/>
      <dgm:spPr/>
      <dgm:t>
        <a:bodyPr/>
        <a:lstStyle/>
        <a:p>
          <a:pPr>
            <a:buNone/>
          </a:pPr>
          <a:r>
            <a:rPr lang="en-US" b="0" dirty="0"/>
            <a:t>Explain why algorithm choice depends on data size, order, and purpose</a:t>
          </a:r>
        </a:p>
      </dgm:t>
    </dgm:pt>
    <dgm:pt modelId="{F9550C6C-2D4D-4F18-AB47-2EC4C9D9A5D5}" type="parTrans" cxnId="{7F1F25D6-53E3-4E77-93A4-0D62AFB0DF23}">
      <dgm:prSet/>
      <dgm:spPr/>
      <dgm:t>
        <a:bodyPr/>
        <a:lstStyle/>
        <a:p>
          <a:endParaRPr lang="en-US"/>
        </a:p>
      </dgm:t>
    </dgm:pt>
    <dgm:pt modelId="{DA7C7191-7DA1-4436-BBE4-03E01484F362}" type="sibTrans" cxnId="{7F1F25D6-53E3-4E77-93A4-0D62AFB0DF23}">
      <dgm:prSet/>
      <dgm:spPr/>
      <dgm:t>
        <a:bodyPr/>
        <a:lstStyle/>
        <a:p>
          <a:endParaRPr lang="en-US"/>
        </a:p>
      </dgm:t>
    </dgm:pt>
    <dgm:pt modelId="{15D6D6CC-BDC4-4AC7-A64D-E82FAB2EEC31}">
      <dgm:prSet/>
      <dgm:spPr/>
      <dgm:t>
        <a:bodyPr/>
        <a:lstStyle/>
        <a:p>
          <a:pPr>
            <a:buNone/>
          </a:pPr>
          <a:r>
            <a:rPr lang="en-US" b="0" dirty="0"/>
            <a:t>Trace linear search and binary search at an introductory level</a:t>
          </a:r>
        </a:p>
      </dgm:t>
    </dgm:pt>
    <dgm:pt modelId="{0F849348-E055-432D-B8D5-B133C123732E}" type="parTrans" cxnId="{6550D085-B4A6-4CCB-BADE-65CE70BB3AB3}">
      <dgm:prSet/>
      <dgm:spPr/>
      <dgm:t>
        <a:bodyPr/>
        <a:lstStyle/>
        <a:p>
          <a:endParaRPr lang="en-US"/>
        </a:p>
      </dgm:t>
    </dgm:pt>
    <dgm:pt modelId="{802AD43C-53FE-4041-84D9-5E71A9464B02}" type="sibTrans" cxnId="{6550D085-B4A6-4CCB-BADE-65CE70BB3AB3}">
      <dgm:prSet/>
      <dgm:spPr/>
      <dgm:t>
        <a:bodyPr/>
        <a:lstStyle/>
        <a:p>
          <a:endParaRPr lang="en-US"/>
        </a:p>
      </dgm:t>
    </dgm:pt>
    <dgm:pt modelId="{FD2F34C4-6ABB-45E1-A7E7-93A7C68A5BD8}">
      <dgm:prSet/>
      <dgm:spPr/>
      <dgm:t>
        <a:bodyPr/>
        <a:lstStyle/>
        <a:p>
          <a:pPr>
            <a:buNone/>
          </a:pPr>
          <a:r>
            <a:rPr lang="en-US" b="0" dirty="0"/>
            <a:t>Explain the sorted-data precondition for binary search</a:t>
          </a:r>
        </a:p>
      </dgm:t>
    </dgm:pt>
    <dgm:pt modelId="{010BC130-B759-4AFE-B50E-641C118D868D}" type="parTrans" cxnId="{47F1045C-FA1D-4833-B866-4074BD7339DA}">
      <dgm:prSet/>
      <dgm:spPr/>
      <dgm:t>
        <a:bodyPr/>
        <a:lstStyle/>
        <a:p>
          <a:endParaRPr lang="en-US"/>
        </a:p>
      </dgm:t>
    </dgm:pt>
    <dgm:pt modelId="{26BE3D7C-95F5-454F-874B-95618D721497}" type="sibTrans" cxnId="{47F1045C-FA1D-4833-B866-4074BD7339DA}">
      <dgm:prSet/>
      <dgm:spPr/>
      <dgm:t>
        <a:bodyPr/>
        <a:lstStyle/>
        <a:p>
          <a:endParaRPr lang="en-US"/>
        </a:p>
      </dgm:t>
    </dgm:pt>
    <dgm:pt modelId="{AEB73BB7-7C75-4B39-8FF1-68E22B1D1F20}">
      <dgm:prSet/>
      <dgm:spPr/>
      <dgm:t>
        <a:bodyPr/>
        <a:lstStyle/>
        <a:p>
          <a:pPr>
            <a:buNone/>
          </a:pPr>
          <a:r>
            <a:rPr lang="en-US" b="0" dirty="0"/>
            <a:t>Use evidence to show when an algorithm works, fails, or becomes unreliable</a:t>
          </a:r>
        </a:p>
      </dgm:t>
    </dgm:pt>
    <dgm:pt modelId="{89FD9222-7245-421C-84A0-51C67BB2F1BD}" type="parTrans" cxnId="{FAA2A921-FA75-415B-9A79-AB4C62A8852A}">
      <dgm:prSet/>
      <dgm:spPr/>
      <dgm:t>
        <a:bodyPr/>
        <a:lstStyle/>
        <a:p>
          <a:endParaRPr lang="en-US"/>
        </a:p>
      </dgm:t>
    </dgm:pt>
    <dgm:pt modelId="{AF4E4AA0-2007-4D3F-933B-5D8B86A5B7CD}" type="sibTrans" cxnId="{FAA2A921-FA75-415B-9A79-AB4C62A8852A}">
      <dgm:prSet/>
      <dgm:spPr/>
      <dgm:t>
        <a:bodyPr/>
        <a:lstStyle/>
        <a:p>
          <a:endParaRPr lang="en-US"/>
        </a:p>
      </dgm:t>
    </dgm:pt>
    <dgm:pt modelId="{C74AEAA8-95AA-4DD2-B5BF-AF2613DDA678}" type="pres">
      <dgm:prSet presAssocID="{A8972B69-4B4F-436A-B547-1FADC4FB29B4}" presName="linear" presStyleCnt="0">
        <dgm:presLayoutVars>
          <dgm:animLvl val="lvl"/>
          <dgm:resizeHandles val="exact"/>
        </dgm:presLayoutVars>
      </dgm:prSet>
      <dgm:spPr/>
    </dgm:pt>
    <dgm:pt modelId="{C717DEE2-2529-4048-A027-0347422F7B4B}" type="pres">
      <dgm:prSet presAssocID="{A75A4D4B-BFE9-4B6F-9A81-9F9C96F5DA38}" presName="parentText" presStyleLbl="node1" presStyleIdx="0" presStyleCnt="6">
        <dgm:presLayoutVars>
          <dgm:chMax val="0"/>
          <dgm:bulletEnabled val="1"/>
        </dgm:presLayoutVars>
      </dgm:prSet>
      <dgm:spPr/>
    </dgm:pt>
    <dgm:pt modelId="{4287A08D-B1A3-4BC4-BB02-712CE914270A}" type="pres">
      <dgm:prSet presAssocID="{7E1354BB-EC61-4A45-99C9-75C6202CC56A}" presName="spacer" presStyleCnt="0"/>
      <dgm:spPr/>
    </dgm:pt>
    <dgm:pt modelId="{FE62AC6B-853C-44FF-A1BA-734299233BB6}" type="pres">
      <dgm:prSet presAssocID="{52F27244-3BCE-41EF-9365-79C938C300A2}" presName="parentText" presStyleLbl="node1" presStyleIdx="1" presStyleCnt="6">
        <dgm:presLayoutVars>
          <dgm:chMax val="0"/>
          <dgm:bulletEnabled val="1"/>
        </dgm:presLayoutVars>
      </dgm:prSet>
      <dgm:spPr/>
    </dgm:pt>
    <dgm:pt modelId="{2E065A9C-5203-4E78-A928-8812F1D3B749}" type="pres">
      <dgm:prSet presAssocID="{2BBBD5AC-79B8-4461-BC87-DE2012B776FD}" presName="spacer" presStyleCnt="0"/>
      <dgm:spPr/>
    </dgm:pt>
    <dgm:pt modelId="{C5E65265-9D0A-408E-96CF-27FB1854C93F}" type="pres">
      <dgm:prSet presAssocID="{E1C0E77E-2CDF-4C21-BDAA-8BF6D431E663}" presName="parentText" presStyleLbl="node1" presStyleIdx="2" presStyleCnt="6">
        <dgm:presLayoutVars>
          <dgm:chMax val="0"/>
          <dgm:bulletEnabled val="1"/>
        </dgm:presLayoutVars>
      </dgm:prSet>
      <dgm:spPr/>
    </dgm:pt>
    <dgm:pt modelId="{8DAAF084-4FB5-47E7-90F5-DA174DA6EA04}" type="pres">
      <dgm:prSet presAssocID="{DA7C7191-7DA1-4436-BBE4-03E01484F362}" presName="spacer" presStyleCnt="0"/>
      <dgm:spPr/>
    </dgm:pt>
    <dgm:pt modelId="{436A9B8B-BBC9-45C4-B38C-0FB1237CB3DD}" type="pres">
      <dgm:prSet presAssocID="{15D6D6CC-BDC4-4AC7-A64D-E82FAB2EEC31}" presName="parentText" presStyleLbl="node1" presStyleIdx="3" presStyleCnt="6">
        <dgm:presLayoutVars>
          <dgm:chMax val="0"/>
          <dgm:bulletEnabled val="1"/>
        </dgm:presLayoutVars>
      </dgm:prSet>
      <dgm:spPr/>
    </dgm:pt>
    <dgm:pt modelId="{62FC501B-F864-44DB-89BB-8FAC341C8F2D}" type="pres">
      <dgm:prSet presAssocID="{802AD43C-53FE-4041-84D9-5E71A9464B02}" presName="spacer" presStyleCnt="0"/>
      <dgm:spPr/>
    </dgm:pt>
    <dgm:pt modelId="{988F7120-BECC-424F-AA62-2C24874497F0}" type="pres">
      <dgm:prSet presAssocID="{FD2F34C4-6ABB-45E1-A7E7-93A7C68A5BD8}" presName="parentText" presStyleLbl="node1" presStyleIdx="4" presStyleCnt="6">
        <dgm:presLayoutVars>
          <dgm:chMax val="0"/>
          <dgm:bulletEnabled val="1"/>
        </dgm:presLayoutVars>
      </dgm:prSet>
      <dgm:spPr/>
    </dgm:pt>
    <dgm:pt modelId="{DE05D1D8-82EB-47A0-8CA1-5283ED350676}" type="pres">
      <dgm:prSet presAssocID="{26BE3D7C-95F5-454F-874B-95618D721497}" presName="spacer" presStyleCnt="0"/>
      <dgm:spPr/>
    </dgm:pt>
    <dgm:pt modelId="{5BA0B1DF-4F68-4A72-9ED8-FC0565752FD8}" type="pres">
      <dgm:prSet presAssocID="{AEB73BB7-7C75-4B39-8FF1-68E22B1D1F20}" presName="parentText" presStyleLbl="node1" presStyleIdx="5" presStyleCnt="6">
        <dgm:presLayoutVars>
          <dgm:chMax val="0"/>
          <dgm:bulletEnabled val="1"/>
        </dgm:presLayoutVars>
      </dgm:prSet>
      <dgm:spPr/>
    </dgm:pt>
  </dgm:ptLst>
  <dgm:cxnLst>
    <dgm:cxn modelId="{5C0F270B-763E-4056-977D-D26AFFA947EB}" type="presOf" srcId="{E1C0E77E-2CDF-4C21-BDAA-8BF6D431E663}" destId="{C5E65265-9D0A-408E-96CF-27FB1854C93F}" srcOrd="0" destOrd="0" presId="urn:microsoft.com/office/officeart/2005/8/layout/vList2"/>
    <dgm:cxn modelId="{D652E517-D5A0-481D-9D2B-5C689F9D71E2}" type="presOf" srcId="{FD2F34C4-6ABB-45E1-A7E7-93A7C68A5BD8}" destId="{988F7120-BECC-424F-AA62-2C24874497F0}" srcOrd="0" destOrd="0" presId="urn:microsoft.com/office/officeart/2005/8/layout/vList2"/>
    <dgm:cxn modelId="{FAA2A921-FA75-415B-9A79-AB4C62A8852A}" srcId="{A8972B69-4B4F-436A-B547-1FADC4FB29B4}" destId="{AEB73BB7-7C75-4B39-8FF1-68E22B1D1F20}" srcOrd="5" destOrd="0" parTransId="{89FD9222-7245-421C-84A0-51C67BB2F1BD}" sibTransId="{AF4E4AA0-2007-4D3F-933B-5D8B86A5B7CD}"/>
    <dgm:cxn modelId="{E302753C-6F8B-4B89-90E7-674A7F7EDCB9}" type="presOf" srcId="{15D6D6CC-BDC4-4AC7-A64D-E82FAB2EEC31}" destId="{436A9B8B-BBC9-45C4-B38C-0FB1237CB3DD}" srcOrd="0" destOrd="0" presId="urn:microsoft.com/office/officeart/2005/8/layout/vList2"/>
    <dgm:cxn modelId="{47F1045C-FA1D-4833-B866-4074BD7339DA}" srcId="{A8972B69-4B4F-436A-B547-1FADC4FB29B4}" destId="{FD2F34C4-6ABB-45E1-A7E7-93A7C68A5BD8}" srcOrd="4" destOrd="0" parTransId="{010BC130-B759-4AFE-B50E-641C118D868D}" sibTransId="{26BE3D7C-95F5-454F-874B-95618D721497}"/>
    <dgm:cxn modelId="{6550D085-B4A6-4CCB-BADE-65CE70BB3AB3}" srcId="{A8972B69-4B4F-436A-B547-1FADC4FB29B4}" destId="{15D6D6CC-BDC4-4AC7-A64D-E82FAB2EEC31}" srcOrd="3" destOrd="0" parTransId="{0F849348-E055-432D-B8D5-B133C123732E}" sibTransId="{802AD43C-53FE-4041-84D9-5E71A9464B02}"/>
    <dgm:cxn modelId="{F021AA8A-9A4A-4F40-8DE9-1139ADF4E6C0}" type="presOf" srcId="{AEB73BB7-7C75-4B39-8FF1-68E22B1D1F20}" destId="{5BA0B1DF-4F68-4A72-9ED8-FC0565752FD8}" srcOrd="0" destOrd="0" presId="urn:microsoft.com/office/officeart/2005/8/layout/vList2"/>
    <dgm:cxn modelId="{7F9DA8A4-8191-4121-8DA1-F0552EB3E440}" srcId="{A8972B69-4B4F-436A-B547-1FADC4FB29B4}" destId="{A75A4D4B-BFE9-4B6F-9A81-9F9C96F5DA38}" srcOrd="0" destOrd="0" parTransId="{4FAABBF4-AB55-44FE-B6F0-B4BF829D004F}" sibTransId="{7E1354BB-EC61-4A45-99C9-75C6202CC56A}"/>
    <dgm:cxn modelId="{F3DDD4B0-98F6-48B6-ACA5-ADB06939BE37}" type="presOf" srcId="{A8972B69-4B4F-436A-B547-1FADC4FB29B4}" destId="{C74AEAA8-95AA-4DD2-B5BF-AF2613DDA678}" srcOrd="0" destOrd="0" presId="urn:microsoft.com/office/officeart/2005/8/layout/vList2"/>
    <dgm:cxn modelId="{414326CC-859F-45A0-BFF5-899BC45891B2}" type="presOf" srcId="{A75A4D4B-BFE9-4B6F-9A81-9F9C96F5DA38}" destId="{C717DEE2-2529-4048-A027-0347422F7B4B}" srcOrd="0" destOrd="0" presId="urn:microsoft.com/office/officeart/2005/8/layout/vList2"/>
    <dgm:cxn modelId="{7F1F25D6-53E3-4E77-93A4-0D62AFB0DF23}" srcId="{A8972B69-4B4F-436A-B547-1FADC4FB29B4}" destId="{E1C0E77E-2CDF-4C21-BDAA-8BF6D431E663}" srcOrd="2" destOrd="0" parTransId="{F9550C6C-2D4D-4F18-AB47-2EC4C9D9A5D5}" sibTransId="{DA7C7191-7DA1-4436-BBE4-03E01484F362}"/>
    <dgm:cxn modelId="{B47224DB-FACE-47A1-82D9-330163C4A55D}" type="presOf" srcId="{52F27244-3BCE-41EF-9365-79C938C300A2}" destId="{FE62AC6B-853C-44FF-A1BA-734299233BB6}" srcOrd="0" destOrd="0" presId="urn:microsoft.com/office/officeart/2005/8/layout/vList2"/>
    <dgm:cxn modelId="{87DE9EED-B5B6-4FF0-BA51-382C4CEB9BD6}" srcId="{A8972B69-4B4F-436A-B547-1FADC4FB29B4}" destId="{52F27244-3BCE-41EF-9365-79C938C300A2}" srcOrd="1" destOrd="0" parTransId="{8412A5EA-8A98-4EC4-9F14-19E428C20C81}" sibTransId="{2BBBD5AC-79B8-4461-BC87-DE2012B776FD}"/>
    <dgm:cxn modelId="{44C282F8-026D-4D0E-88F8-71C8338D4947}" type="presParOf" srcId="{C74AEAA8-95AA-4DD2-B5BF-AF2613DDA678}" destId="{C717DEE2-2529-4048-A027-0347422F7B4B}" srcOrd="0" destOrd="0" presId="urn:microsoft.com/office/officeart/2005/8/layout/vList2"/>
    <dgm:cxn modelId="{A2FC0041-DBBC-4347-B284-15C177BA5CBB}" type="presParOf" srcId="{C74AEAA8-95AA-4DD2-B5BF-AF2613DDA678}" destId="{4287A08D-B1A3-4BC4-BB02-712CE914270A}" srcOrd="1" destOrd="0" presId="urn:microsoft.com/office/officeart/2005/8/layout/vList2"/>
    <dgm:cxn modelId="{75B6BA99-4C52-4366-8D03-5783C14EBE22}" type="presParOf" srcId="{C74AEAA8-95AA-4DD2-B5BF-AF2613DDA678}" destId="{FE62AC6B-853C-44FF-A1BA-734299233BB6}" srcOrd="2" destOrd="0" presId="urn:microsoft.com/office/officeart/2005/8/layout/vList2"/>
    <dgm:cxn modelId="{97F6CAFA-5A01-463A-A093-F8164D37E843}" type="presParOf" srcId="{C74AEAA8-95AA-4DD2-B5BF-AF2613DDA678}" destId="{2E065A9C-5203-4E78-A928-8812F1D3B749}" srcOrd="3" destOrd="0" presId="urn:microsoft.com/office/officeart/2005/8/layout/vList2"/>
    <dgm:cxn modelId="{CE08B0CC-DF40-4C48-B9A4-88348F94959B}" type="presParOf" srcId="{C74AEAA8-95AA-4DD2-B5BF-AF2613DDA678}" destId="{C5E65265-9D0A-408E-96CF-27FB1854C93F}" srcOrd="4" destOrd="0" presId="urn:microsoft.com/office/officeart/2005/8/layout/vList2"/>
    <dgm:cxn modelId="{AE930F0D-6584-4E33-9424-67E86BC1A748}" type="presParOf" srcId="{C74AEAA8-95AA-4DD2-B5BF-AF2613DDA678}" destId="{8DAAF084-4FB5-47E7-90F5-DA174DA6EA04}" srcOrd="5" destOrd="0" presId="urn:microsoft.com/office/officeart/2005/8/layout/vList2"/>
    <dgm:cxn modelId="{24B647A9-A770-4235-BD22-4A4C7F46ACAF}" type="presParOf" srcId="{C74AEAA8-95AA-4DD2-B5BF-AF2613DDA678}" destId="{436A9B8B-BBC9-45C4-B38C-0FB1237CB3DD}" srcOrd="6" destOrd="0" presId="urn:microsoft.com/office/officeart/2005/8/layout/vList2"/>
    <dgm:cxn modelId="{3AEB044B-6CCE-4474-8674-99299F4A3009}" type="presParOf" srcId="{C74AEAA8-95AA-4DD2-B5BF-AF2613DDA678}" destId="{62FC501B-F864-44DB-89BB-8FAC341C8F2D}" srcOrd="7" destOrd="0" presId="urn:microsoft.com/office/officeart/2005/8/layout/vList2"/>
    <dgm:cxn modelId="{F4041D7C-A6E6-46F0-8B4B-5BDFF7BE00E3}" type="presParOf" srcId="{C74AEAA8-95AA-4DD2-B5BF-AF2613DDA678}" destId="{988F7120-BECC-424F-AA62-2C24874497F0}" srcOrd="8" destOrd="0" presId="urn:microsoft.com/office/officeart/2005/8/layout/vList2"/>
    <dgm:cxn modelId="{D5114FDC-8490-4ACC-BDB6-13C82F530A70}" type="presParOf" srcId="{C74AEAA8-95AA-4DD2-B5BF-AF2613DDA678}" destId="{DE05D1D8-82EB-47A0-8CA1-5283ED350676}" srcOrd="9" destOrd="0" presId="urn:microsoft.com/office/officeart/2005/8/layout/vList2"/>
    <dgm:cxn modelId="{479A1DE5-8588-4322-932A-649879D468D5}" type="presParOf" srcId="{C74AEAA8-95AA-4DD2-B5BF-AF2613DDA678}" destId="{5BA0B1DF-4F68-4A72-9ED8-FC0565752FD8}"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AA8DB5-FF99-401A-91F6-E8075BCA28CE}"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AA235B5A-4798-4E7C-B667-299852863DA5}">
      <dgm:prSet/>
      <dgm:spPr/>
      <dgm:t>
        <a:bodyPr/>
        <a:lstStyle/>
        <a:p>
          <a:pPr>
            <a:defRPr b="1"/>
          </a:pPr>
          <a:r>
            <a:rPr lang="en-US"/>
            <a:t>Problem:</a:t>
          </a:r>
        </a:p>
      </dgm:t>
    </dgm:pt>
    <dgm:pt modelId="{DD75BC40-2176-42E4-9BE1-6A58AFFA1E93}" type="parTrans" cxnId="{C0406F1A-9BF3-4559-86BE-3D48BA1D7F8C}">
      <dgm:prSet/>
      <dgm:spPr/>
      <dgm:t>
        <a:bodyPr/>
        <a:lstStyle/>
        <a:p>
          <a:endParaRPr lang="en-US"/>
        </a:p>
      </dgm:t>
    </dgm:pt>
    <dgm:pt modelId="{8C7FA012-410C-4AC2-A96F-D490BD20D34E}" type="sibTrans" cxnId="{C0406F1A-9BF3-4559-86BE-3D48BA1D7F8C}">
      <dgm:prSet/>
      <dgm:spPr/>
      <dgm:t>
        <a:bodyPr/>
        <a:lstStyle/>
        <a:p>
          <a:endParaRPr lang="en-US"/>
        </a:p>
      </dgm:t>
    </dgm:pt>
    <dgm:pt modelId="{DCC2D82A-496F-46E7-9E8A-A0486B509E04}">
      <dgm:prSet/>
      <dgm:spPr/>
      <dgm:t>
        <a:bodyPr/>
        <a:lstStyle/>
        <a:p>
          <a:pPr>
            <a:buNone/>
          </a:pPr>
          <a:r>
            <a:rPr lang="en-US" b="0" dirty="0"/>
            <a:t>Searching book titles on a shelf</a:t>
          </a:r>
          <a:endParaRPr lang="en-US" dirty="0"/>
        </a:p>
      </dgm:t>
    </dgm:pt>
    <dgm:pt modelId="{1E619D72-4575-451A-8238-425288ACFD5D}" type="parTrans" cxnId="{BAEA7038-0028-4D30-B2EA-9EA79EAADE56}">
      <dgm:prSet/>
      <dgm:spPr/>
      <dgm:t>
        <a:bodyPr/>
        <a:lstStyle/>
        <a:p>
          <a:endParaRPr lang="en-US"/>
        </a:p>
      </dgm:t>
    </dgm:pt>
    <dgm:pt modelId="{01A84278-F8B7-40CC-BFB2-6B5D2202F605}" type="sibTrans" cxnId="{BAEA7038-0028-4D30-B2EA-9EA79EAADE56}">
      <dgm:prSet/>
      <dgm:spPr/>
      <dgm:t>
        <a:bodyPr/>
        <a:lstStyle/>
        <a:p>
          <a:endParaRPr lang="en-US"/>
        </a:p>
      </dgm:t>
    </dgm:pt>
    <dgm:pt modelId="{8477E477-1E41-4B0A-BB1B-4D130CB76604}">
      <dgm:prSet/>
      <dgm:spPr/>
      <dgm:t>
        <a:bodyPr/>
        <a:lstStyle/>
        <a:p>
          <a:r>
            <a:rPr lang="en-US" dirty="0"/>
            <a:t>Goal</a:t>
          </a:r>
        </a:p>
      </dgm:t>
    </dgm:pt>
    <dgm:pt modelId="{BA84F64B-5E00-4D9D-845F-89BB91336190}" type="parTrans" cxnId="{B4B2B3B3-C6E8-4D80-9020-47736BC413A8}">
      <dgm:prSet/>
      <dgm:spPr/>
      <dgm:t>
        <a:bodyPr/>
        <a:lstStyle/>
        <a:p>
          <a:endParaRPr lang="en-US"/>
        </a:p>
      </dgm:t>
    </dgm:pt>
    <dgm:pt modelId="{89818D42-9F23-49BA-926F-2EA7F1BF1B62}" type="sibTrans" cxnId="{B4B2B3B3-C6E8-4D80-9020-47736BC413A8}">
      <dgm:prSet/>
      <dgm:spPr/>
      <dgm:t>
        <a:bodyPr/>
        <a:lstStyle/>
        <a:p>
          <a:endParaRPr lang="en-US"/>
        </a:p>
      </dgm:t>
    </dgm:pt>
    <dgm:pt modelId="{F9D55C77-E36E-4514-8E70-474B6DD9CCE5}">
      <dgm:prSet/>
      <dgm:spPr/>
      <dgm:t>
        <a:bodyPr/>
        <a:lstStyle/>
        <a:p>
          <a:pPr>
            <a:buNone/>
          </a:pPr>
          <a:r>
            <a:rPr lang="en-US" dirty="0"/>
            <a:t>Binary Search results on: Sorted vs Unsorted data</a:t>
          </a:r>
        </a:p>
      </dgm:t>
    </dgm:pt>
    <dgm:pt modelId="{4AA9C821-F785-436F-92ED-9504A44974AF}" type="parTrans" cxnId="{AB1AB01D-90AC-4BDD-9C7F-7B2ADD93144A}">
      <dgm:prSet/>
      <dgm:spPr/>
      <dgm:t>
        <a:bodyPr/>
        <a:lstStyle/>
        <a:p>
          <a:endParaRPr lang="en-US"/>
        </a:p>
      </dgm:t>
    </dgm:pt>
    <dgm:pt modelId="{B6E5B23B-38E7-4960-B0CF-EC13EF3322C4}" type="sibTrans" cxnId="{AB1AB01D-90AC-4BDD-9C7F-7B2ADD93144A}">
      <dgm:prSet/>
      <dgm:spPr/>
      <dgm:t>
        <a:bodyPr/>
        <a:lstStyle/>
        <a:p>
          <a:endParaRPr lang="en-US"/>
        </a:p>
      </dgm:t>
    </dgm:pt>
    <dgm:pt modelId="{5210DC90-2BA6-45D5-8AAE-1A0ED2466398}" type="pres">
      <dgm:prSet presAssocID="{BAAA8DB5-FF99-401A-91F6-E8075BCA28CE}" presName="Name0" presStyleCnt="0">
        <dgm:presLayoutVars>
          <dgm:dir/>
          <dgm:animLvl val="lvl"/>
          <dgm:resizeHandles val="exact"/>
        </dgm:presLayoutVars>
      </dgm:prSet>
      <dgm:spPr/>
    </dgm:pt>
    <dgm:pt modelId="{E09BFB03-DCE5-4F69-B1EA-8BFFFC32A2F1}" type="pres">
      <dgm:prSet presAssocID="{AA235B5A-4798-4E7C-B667-299852863DA5}" presName="linNode" presStyleCnt="0"/>
      <dgm:spPr/>
    </dgm:pt>
    <dgm:pt modelId="{30D56222-46DC-49B6-93B9-D527764F5239}" type="pres">
      <dgm:prSet presAssocID="{AA235B5A-4798-4E7C-B667-299852863DA5}" presName="parentText" presStyleLbl="node1" presStyleIdx="0" presStyleCnt="2">
        <dgm:presLayoutVars>
          <dgm:chMax val="1"/>
          <dgm:bulletEnabled val="1"/>
        </dgm:presLayoutVars>
      </dgm:prSet>
      <dgm:spPr/>
    </dgm:pt>
    <dgm:pt modelId="{F4F20F46-BD9F-433C-B479-B55A8902755F}" type="pres">
      <dgm:prSet presAssocID="{AA235B5A-4798-4E7C-B667-299852863DA5}" presName="descendantText" presStyleLbl="alignAccFollowNode1" presStyleIdx="0" presStyleCnt="2">
        <dgm:presLayoutVars>
          <dgm:bulletEnabled val="1"/>
        </dgm:presLayoutVars>
      </dgm:prSet>
      <dgm:spPr/>
    </dgm:pt>
    <dgm:pt modelId="{CC14BB53-AFF8-4807-B74B-1D1537452EDE}" type="pres">
      <dgm:prSet presAssocID="{8C7FA012-410C-4AC2-A96F-D490BD20D34E}" presName="sp" presStyleCnt="0"/>
      <dgm:spPr/>
    </dgm:pt>
    <dgm:pt modelId="{08C96191-C635-4119-BDAE-47B734A368C7}" type="pres">
      <dgm:prSet presAssocID="{8477E477-1E41-4B0A-BB1B-4D130CB76604}" presName="linNode" presStyleCnt="0"/>
      <dgm:spPr/>
    </dgm:pt>
    <dgm:pt modelId="{05B628AE-3B1C-4161-A2F2-79CC492C689A}" type="pres">
      <dgm:prSet presAssocID="{8477E477-1E41-4B0A-BB1B-4D130CB76604}" presName="parentText" presStyleLbl="node1" presStyleIdx="1" presStyleCnt="2">
        <dgm:presLayoutVars>
          <dgm:chMax val="1"/>
          <dgm:bulletEnabled val="1"/>
        </dgm:presLayoutVars>
      </dgm:prSet>
      <dgm:spPr/>
    </dgm:pt>
    <dgm:pt modelId="{19B361A2-D7A8-43A5-AA5B-63BFB24FB360}" type="pres">
      <dgm:prSet presAssocID="{8477E477-1E41-4B0A-BB1B-4D130CB76604}" presName="descendantText" presStyleLbl="alignAccFollowNode1" presStyleIdx="1" presStyleCnt="2">
        <dgm:presLayoutVars>
          <dgm:bulletEnabled val="1"/>
        </dgm:presLayoutVars>
      </dgm:prSet>
      <dgm:spPr/>
    </dgm:pt>
  </dgm:ptLst>
  <dgm:cxnLst>
    <dgm:cxn modelId="{FE66FA07-8BFC-4061-86D0-7D1EAF1792D5}" type="presOf" srcId="{DCC2D82A-496F-46E7-9E8A-A0486B509E04}" destId="{F4F20F46-BD9F-433C-B479-B55A8902755F}" srcOrd="0" destOrd="0" presId="urn:microsoft.com/office/officeart/2005/8/layout/vList5"/>
    <dgm:cxn modelId="{C0406F1A-9BF3-4559-86BE-3D48BA1D7F8C}" srcId="{BAAA8DB5-FF99-401A-91F6-E8075BCA28CE}" destId="{AA235B5A-4798-4E7C-B667-299852863DA5}" srcOrd="0" destOrd="0" parTransId="{DD75BC40-2176-42E4-9BE1-6A58AFFA1E93}" sibTransId="{8C7FA012-410C-4AC2-A96F-D490BD20D34E}"/>
    <dgm:cxn modelId="{AB1AB01D-90AC-4BDD-9C7F-7B2ADD93144A}" srcId="{8477E477-1E41-4B0A-BB1B-4D130CB76604}" destId="{F9D55C77-E36E-4514-8E70-474B6DD9CCE5}" srcOrd="0" destOrd="0" parTransId="{4AA9C821-F785-436F-92ED-9504A44974AF}" sibTransId="{B6E5B23B-38E7-4960-B0CF-EC13EF3322C4}"/>
    <dgm:cxn modelId="{BAEA7038-0028-4D30-B2EA-9EA79EAADE56}" srcId="{AA235B5A-4798-4E7C-B667-299852863DA5}" destId="{DCC2D82A-496F-46E7-9E8A-A0486B509E04}" srcOrd="0" destOrd="0" parTransId="{1E619D72-4575-451A-8238-425288ACFD5D}" sibTransId="{01A84278-F8B7-40CC-BFB2-6B5D2202F605}"/>
    <dgm:cxn modelId="{73569576-F2B3-4F48-A6C9-721D0884A1DD}" type="presOf" srcId="{F9D55C77-E36E-4514-8E70-474B6DD9CCE5}" destId="{19B361A2-D7A8-43A5-AA5B-63BFB24FB360}" srcOrd="0" destOrd="0" presId="urn:microsoft.com/office/officeart/2005/8/layout/vList5"/>
    <dgm:cxn modelId="{62BD157F-8381-4D4E-A28A-47A0D2AAC481}" type="presOf" srcId="{BAAA8DB5-FF99-401A-91F6-E8075BCA28CE}" destId="{5210DC90-2BA6-45D5-8AAE-1A0ED2466398}" srcOrd="0" destOrd="0" presId="urn:microsoft.com/office/officeart/2005/8/layout/vList5"/>
    <dgm:cxn modelId="{B4B2B3B3-C6E8-4D80-9020-47736BC413A8}" srcId="{BAAA8DB5-FF99-401A-91F6-E8075BCA28CE}" destId="{8477E477-1E41-4B0A-BB1B-4D130CB76604}" srcOrd="1" destOrd="0" parTransId="{BA84F64B-5E00-4D9D-845F-89BB91336190}" sibTransId="{89818D42-9F23-49BA-926F-2EA7F1BF1B62}"/>
    <dgm:cxn modelId="{1EBECFDE-469F-44F9-85E9-CF08F2F613CF}" type="presOf" srcId="{AA235B5A-4798-4E7C-B667-299852863DA5}" destId="{30D56222-46DC-49B6-93B9-D527764F5239}" srcOrd="0" destOrd="0" presId="urn:microsoft.com/office/officeart/2005/8/layout/vList5"/>
    <dgm:cxn modelId="{62C9DFF7-0B09-4781-9BC2-2BE90FD1E595}" type="presOf" srcId="{8477E477-1E41-4B0A-BB1B-4D130CB76604}" destId="{05B628AE-3B1C-4161-A2F2-79CC492C689A}" srcOrd="0" destOrd="0" presId="urn:microsoft.com/office/officeart/2005/8/layout/vList5"/>
    <dgm:cxn modelId="{62ABDFFE-896F-42EC-9E28-43D3A842A28B}" type="presParOf" srcId="{5210DC90-2BA6-45D5-8AAE-1A0ED2466398}" destId="{E09BFB03-DCE5-4F69-B1EA-8BFFFC32A2F1}" srcOrd="0" destOrd="0" presId="urn:microsoft.com/office/officeart/2005/8/layout/vList5"/>
    <dgm:cxn modelId="{D2D3F526-A680-41DF-9408-D3F814C42BC0}" type="presParOf" srcId="{E09BFB03-DCE5-4F69-B1EA-8BFFFC32A2F1}" destId="{30D56222-46DC-49B6-93B9-D527764F5239}" srcOrd="0" destOrd="0" presId="urn:microsoft.com/office/officeart/2005/8/layout/vList5"/>
    <dgm:cxn modelId="{C60880FC-6DCF-49AB-9ACE-301E520BFF88}" type="presParOf" srcId="{E09BFB03-DCE5-4F69-B1EA-8BFFFC32A2F1}" destId="{F4F20F46-BD9F-433C-B479-B55A8902755F}" srcOrd="1" destOrd="0" presId="urn:microsoft.com/office/officeart/2005/8/layout/vList5"/>
    <dgm:cxn modelId="{4C291006-A7A5-43E2-A6CE-A66492CF629C}" type="presParOf" srcId="{5210DC90-2BA6-45D5-8AAE-1A0ED2466398}" destId="{CC14BB53-AFF8-4807-B74B-1D1537452EDE}" srcOrd="1" destOrd="0" presId="urn:microsoft.com/office/officeart/2005/8/layout/vList5"/>
    <dgm:cxn modelId="{7F4644A3-EDDB-45B8-A2DB-B1CCB84494C7}" type="presParOf" srcId="{5210DC90-2BA6-45D5-8AAE-1A0ED2466398}" destId="{08C96191-C635-4119-BDAE-47B734A368C7}" srcOrd="2" destOrd="0" presId="urn:microsoft.com/office/officeart/2005/8/layout/vList5"/>
    <dgm:cxn modelId="{7427AE15-84A1-4765-A607-6A1D39BACDD9}" type="presParOf" srcId="{08C96191-C635-4119-BDAE-47B734A368C7}" destId="{05B628AE-3B1C-4161-A2F2-79CC492C689A}" srcOrd="0" destOrd="0" presId="urn:microsoft.com/office/officeart/2005/8/layout/vList5"/>
    <dgm:cxn modelId="{419CEE65-F08A-4D36-BEB3-91EC9A9E9E88}" type="presParOf" srcId="{08C96191-C635-4119-BDAE-47B734A368C7}" destId="{19B361A2-D7A8-43A5-AA5B-63BFB24FB36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40F5F2-94FA-4CD6-8BF7-63040BA0352C}" type="doc">
      <dgm:prSet loTypeId="urn:microsoft.com/office/officeart/2016/7/layout/BasicLinearProcessNumbered" loCatId="process" qsTypeId="urn:microsoft.com/office/officeart/2005/8/quickstyle/simple1" qsCatId="simple" csTypeId="urn:microsoft.com/office/officeart/2005/8/colors/accent1_2" csCatId="accent1" phldr="1"/>
      <dgm:spPr/>
      <dgm:t>
        <a:bodyPr/>
        <a:lstStyle/>
        <a:p>
          <a:endParaRPr lang="en-US"/>
        </a:p>
      </dgm:t>
    </dgm:pt>
    <dgm:pt modelId="{EC86DCDB-D26F-4965-A378-9E795C7D775F}">
      <dgm:prSet/>
      <dgm:spPr/>
      <dgm:t>
        <a:bodyPr/>
        <a:lstStyle/>
        <a:p>
          <a:pPr>
            <a:buNone/>
          </a:pPr>
          <a:r>
            <a:rPr lang="en-US" dirty="0"/>
            <a:t>For Lab 04:</a:t>
          </a:r>
        </a:p>
      </dgm:t>
    </dgm:pt>
    <dgm:pt modelId="{F2CCADF5-E015-411F-940B-AB7D39FAA7E3}" type="parTrans" cxnId="{EAC7EA03-237A-4177-AF39-F258BD03A84C}">
      <dgm:prSet/>
      <dgm:spPr/>
      <dgm:t>
        <a:bodyPr/>
        <a:lstStyle/>
        <a:p>
          <a:endParaRPr lang="en-US"/>
        </a:p>
      </dgm:t>
    </dgm:pt>
    <dgm:pt modelId="{B3C1317B-62C2-4315-A086-9B12A0C575B2}" type="sibTrans" cxnId="{EAC7EA03-237A-4177-AF39-F258BD03A84C}">
      <dgm:prSet phldrT="1" phldr="0"/>
      <dgm:spPr/>
      <dgm:t>
        <a:bodyPr/>
        <a:lstStyle/>
        <a:p>
          <a:r>
            <a:rPr lang="en-US" dirty="0"/>
            <a:t>1</a:t>
          </a:r>
        </a:p>
      </dgm:t>
    </dgm:pt>
    <dgm:pt modelId="{5DAB3EFD-C8EA-4F2F-961D-33487B9B3831}">
      <dgm:prSet/>
      <dgm:spPr/>
      <dgm:t>
        <a:bodyPr/>
        <a:lstStyle/>
        <a:p>
          <a:pPr>
            <a:buFont typeface="Arial" panose="020B0604020202020204" pitchFamily="34" charset="0"/>
            <a:buChar char="•"/>
          </a:pPr>
          <a:r>
            <a:rPr lang="en-US" b="0" dirty="0"/>
            <a:t>choose a data set</a:t>
          </a:r>
          <a:endParaRPr lang="en-US" dirty="0"/>
        </a:p>
      </dgm:t>
    </dgm:pt>
    <dgm:pt modelId="{73AD42D8-AA3A-4E33-9B90-29603715FDE0}" type="parTrans" cxnId="{32E31762-0749-4460-8A35-25E82B824E60}">
      <dgm:prSet/>
      <dgm:spPr/>
      <dgm:t>
        <a:bodyPr/>
        <a:lstStyle/>
        <a:p>
          <a:endParaRPr lang="en-US"/>
        </a:p>
      </dgm:t>
    </dgm:pt>
    <dgm:pt modelId="{E807C405-E54E-43CB-8BFA-0F5B35E6C200}" type="sibTrans" cxnId="{32E31762-0749-4460-8A35-25E82B824E60}">
      <dgm:prSet/>
      <dgm:spPr/>
      <dgm:t>
        <a:bodyPr/>
        <a:lstStyle/>
        <a:p>
          <a:endParaRPr lang="en-US"/>
        </a:p>
      </dgm:t>
    </dgm:pt>
    <dgm:pt modelId="{33B278E5-9096-4EBF-9072-C40B84264CA9}">
      <dgm:prSet/>
      <dgm:spPr/>
      <dgm:t>
        <a:bodyPr/>
        <a:lstStyle/>
        <a:p>
          <a:pPr>
            <a:buFont typeface="Arial" panose="020B0604020202020204" pitchFamily="34" charset="0"/>
            <a:buChar char="•"/>
          </a:pPr>
          <a:r>
            <a:rPr lang="en-US" b="0" dirty="0"/>
            <a:t>implement or simulate linear search</a:t>
          </a:r>
        </a:p>
      </dgm:t>
    </dgm:pt>
    <dgm:pt modelId="{731C8E6F-2169-4F06-96B3-C45E3EC2FDF3}" type="parTrans" cxnId="{C3FD02D2-53B7-442A-B53F-216E92FE1EB2}">
      <dgm:prSet/>
      <dgm:spPr/>
      <dgm:t>
        <a:bodyPr/>
        <a:lstStyle/>
        <a:p>
          <a:endParaRPr lang="en-US"/>
        </a:p>
      </dgm:t>
    </dgm:pt>
    <dgm:pt modelId="{7A45650A-216F-4C7D-AE93-874B53FCC43C}" type="sibTrans" cxnId="{C3FD02D2-53B7-442A-B53F-216E92FE1EB2}">
      <dgm:prSet/>
      <dgm:spPr/>
      <dgm:t>
        <a:bodyPr/>
        <a:lstStyle/>
        <a:p>
          <a:endParaRPr lang="en-US"/>
        </a:p>
      </dgm:t>
    </dgm:pt>
    <dgm:pt modelId="{435B859C-FD8F-45CE-A7C4-C49FF4A0AB94}">
      <dgm:prSet/>
      <dgm:spPr/>
      <dgm:t>
        <a:bodyPr/>
        <a:lstStyle/>
        <a:p>
          <a:pPr>
            <a:buFont typeface="Arial" panose="020B0604020202020204" pitchFamily="34" charset="0"/>
            <a:buChar char="•"/>
          </a:pPr>
          <a:r>
            <a:rPr lang="en-US" b="0" dirty="0"/>
            <a:t>implement or simulate binary search</a:t>
          </a:r>
        </a:p>
      </dgm:t>
    </dgm:pt>
    <dgm:pt modelId="{05BC1E91-F168-426D-AAD5-1D00320EAAD0}" type="parTrans" cxnId="{CCB7C59B-7C9C-497A-B579-51911ACE21DA}">
      <dgm:prSet/>
      <dgm:spPr/>
      <dgm:t>
        <a:bodyPr/>
        <a:lstStyle/>
        <a:p>
          <a:endParaRPr lang="en-US"/>
        </a:p>
      </dgm:t>
    </dgm:pt>
    <dgm:pt modelId="{AB61EC00-F590-4F09-92F6-12FFE29D8DA0}" type="sibTrans" cxnId="{CCB7C59B-7C9C-497A-B579-51911ACE21DA}">
      <dgm:prSet/>
      <dgm:spPr/>
      <dgm:t>
        <a:bodyPr/>
        <a:lstStyle/>
        <a:p>
          <a:endParaRPr lang="en-US"/>
        </a:p>
      </dgm:t>
    </dgm:pt>
    <dgm:pt modelId="{B90F02BB-7783-4E86-9536-679754DB5430}">
      <dgm:prSet/>
      <dgm:spPr/>
      <dgm:t>
        <a:bodyPr/>
        <a:lstStyle/>
        <a:p>
          <a:pPr>
            <a:buFont typeface="Arial" panose="020B0604020202020204" pitchFamily="34" charset="0"/>
            <a:buChar char="•"/>
          </a:pPr>
          <a:r>
            <a:rPr lang="en-US" b="0" dirty="0"/>
            <a:t>create required tests</a:t>
          </a:r>
        </a:p>
      </dgm:t>
    </dgm:pt>
    <dgm:pt modelId="{57686CB2-F410-4376-990D-7B7BC5CBBD0E}" type="parTrans" cxnId="{9F15379E-F0A8-4A0C-80A3-F2FE1DC78B14}">
      <dgm:prSet/>
      <dgm:spPr/>
      <dgm:t>
        <a:bodyPr/>
        <a:lstStyle/>
        <a:p>
          <a:endParaRPr lang="en-US"/>
        </a:p>
      </dgm:t>
    </dgm:pt>
    <dgm:pt modelId="{281737D6-87D6-43F3-8742-9947AEF013CA}" type="sibTrans" cxnId="{9F15379E-F0A8-4A0C-80A3-F2FE1DC78B14}">
      <dgm:prSet/>
      <dgm:spPr/>
      <dgm:t>
        <a:bodyPr/>
        <a:lstStyle/>
        <a:p>
          <a:endParaRPr lang="en-US"/>
        </a:p>
      </dgm:t>
    </dgm:pt>
    <dgm:pt modelId="{A3C0C3D3-D4B7-4825-BCC5-F287E58DC08A}">
      <dgm:prSet/>
      <dgm:spPr/>
      <dgm:t>
        <a:bodyPr/>
        <a:lstStyle/>
        <a:p>
          <a:pPr>
            <a:buFont typeface="Arial" panose="020B0604020202020204" pitchFamily="34" charset="0"/>
            <a:buChar char="•"/>
          </a:pPr>
          <a:r>
            <a:rPr lang="en-US" b="0" dirty="0"/>
            <a:t>build a trace table</a:t>
          </a:r>
        </a:p>
      </dgm:t>
    </dgm:pt>
    <dgm:pt modelId="{64496AB0-954C-4D7F-A4B0-5F64C979FC10}" type="parTrans" cxnId="{5A356E8A-9BD9-4026-B69C-AF68A6623D1E}">
      <dgm:prSet/>
      <dgm:spPr/>
      <dgm:t>
        <a:bodyPr/>
        <a:lstStyle/>
        <a:p>
          <a:endParaRPr lang="en-US"/>
        </a:p>
      </dgm:t>
    </dgm:pt>
    <dgm:pt modelId="{62DBD307-8A57-42F0-BF59-DF44085E1DD4}" type="sibTrans" cxnId="{5A356E8A-9BD9-4026-B69C-AF68A6623D1E}">
      <dgm:prSet/>
      <dgm:spPr/>
      <dgm:t>
        <a:bodyPr/>
        <a:lstStyle/>
        <a:p>
          <a:endParaRPr lang="en-US"/>
        </a:p>
      </dgm:t>
    </dgm:pt>
    <dgm:pt modelId="{AB2EDFA3-3E14-4BC8-8254-CE6033E198EF}">
      <dgm:prSet/>
      <dgm:spPr/>
      <dgm:t>
        <a:bodyPr/>
        <a:lstStyle/>
        <a:p>
          <a:pPr>
            <a:buFont typeface="Arial" panose="020B0604020202020204" pitchFamily="34" charset="0"/>
            <a:buChar char="•"/>
          </a:pPr>
          <a:r>
            <a:rPr lang="en-US" b="0" dirty="0"/>
            <a:t>explain the sorted-data precondition</a:t>
          </a:r>
        </a:p>
      </dgm:t>
    </dgm:pt>
    <dgm:pt modelId="{7098ADF4-F17D-4259-8957-FDFEA2EC781B}" type="parTrans" cxnId="{186945A3-9220-42F3-86E0-97B0F6870543}">
      <dgm:prSet/>
      <dgm:spPr/>
      <dgm:t>
        <a:bodyPr/>
        <a:lstStyle/>
        <a:p>
          <a:endParaRPr lang="en-US"/>
        </a:p>
      </dgm:t>
    </dgm:pt>
    <dgm:pt modelId="{CAD223D8-A72D-47C5-BED1-7ED026F69E72}" type="sibTrans" cxnId="{186945A3-9220-42F3-86E0-97B0F6870543}">
      <dgm:prSet/>
      <dgm:spPr/>
      <dgm:t>
        <a:bodyPr/>
        <a:lstStyle/>
        <a:p>
          <a:endParaRPr lang="en-US"/>
        </a:p>
      </dgm:t>
    </dgm:pt>
    <dgm:pt modelId="{A4CEFACC-AFAC-472E-9C7D-78289EFB63D1}" type="pres">
      <dgm:prSet presAssocID="{4840F5F2-94FA-4CD6-8BF7-63040BA0352C}" presName="Name0" presStyleCnt="0">
        <dgm:presLayoutVars>
          <dgm:animLvl val="lvl"/>
          <dgm:resizeHandles val="exact"/>
        </dgm:presLayoutVars>
      </dgm:prSet>
      <dgm:spPr/>
    </dgm:pt>
    <dgm:pt modelId="{15D43CAF-FB9C-4C2E-A178-B5846807A9A3}" type="pres">
      <dgm:prSet presAssocID="{EC86DCDB-D26F-4965-A378-9E795C7D775F}" presName="compositeNode" presStyleCnt="0">
        <dgm:presLayoutVars>
          <dgm:bulletEnabled val="1"/>
        </dgm:presLayoutVars>
      </dgm:prSet>
      <dgm:spPr/>
    </dgm:pt>
    <dgm:pt modelId="{0579B2E2-F254-4758-975D-BCCCEBEB091F}" type="pres">
      <dgm:prSet presAssocID="{EC86DCDB-D26F-4965-A378-9E795C7D775F}" presName="bgRect" presStyleLbl="bgAccFollowNode1" presStyleIdx="0" presStyleCnt="1"/>
      <dgm:spPr/>
    </dgm:pt>
    <dgm:pt modelId="{6E066B6B-870C-47BB-B0D4-7DDBD6CCC405}" type="pres">
      <dgm:prSet presAssocID="{B3C1317B-62C2-4315-A086-9B12A0C575B2}" presName="sibTransNodeCircle" presStyleLbl="alignNode1" presStyleIdx="0" presStyleCnt="2">
        <dgm:presLayoutVars>
          <dgm:chMax val="0"/>
          <dgm:bulletEnabled/>
        </dgm:presLayoutVars>
      </dgm:prSet>
      <dgm:spPr/>
    </dgm:pt>
    <dgm:pt modelId="{661C993E-716A-4EDE-A4B7-74802377363E}" type="pres">
      <dgm:prSet presAssocID="{EC86DCDB-D26F-4965-A378-9E795C7D775F}" presName="bottomLine" presStyleLbl="alignNode1" presStyleIdx="1" presStyleCnt="2">
        <dgm:presLayoutVars/>
      </dgm:prSet>
      <dgm:spPr/>
    </dgm:pt>
    <dgm:pt modelId="{4F1D6665-5290-476B-9B2D-0218BE499140}" type="pres">
      <dgm:prSet presAssocID="{EC86DCDB-D26F-4965-A378-9E795C7D775F}" presName="nodeText" presStyleLbl="bgAccFollowNode1" presStyleIdx="0" presStyleCnt="1">
        <dgm:presLayoutVars>
          <dgm:bulletEnabled val="1"/>
        </dgm:presLayoutVars>
      </dgm:prSet>
      <dgm:spPr/>
    </dgm:pt>
  </dgm:ptLst>
  <dgm:cxnLst>
    <dgm:cxn modelId="{EAC7EA03-237A-4177-AF39-F258BD03A84C}" srcId="{4840F5F2-94FA-4CD6-8BF7-63040BA0352C}" destId="{EC86DCDB-D26F-4965-A378-9E795C7D775F}" srcOrd="0" destOrd="0" parTransId="{F2CCADF5-E015-411F-940B-AB7D39FAA7E3}" sibTransId="{B3C1317B-62C2-4315-A086-9B12A0C575B2}"/>
    <dgm:cxn modelId="{6005571C-5881-410B-9C19-8C51E59D5264}" type="presOf" srcId="{33B278E5-9096-4EBF-9072-C40B84264CA9}" destId="{4F1D6665-5290-476B-9B2D-0218BE499140}" srcOrd="0" destOrd="2" presId="urn:microsoft.com/office/officeart/2016/7/layout/BasicLinearProcessNumbered"/>
    <dgm:cxn modelId="{17595D5F-4DE4-4F45-BB49-7071125E3710}" type="presOf" srcId="{B3C1317B-62C2-4315-A086-9B12A0C575B2}" destId="{6E066B6B-870C-47BB-B0D4-7DDBD6CCC405}" srcOrd="0" destOrd="0" presId="urn:microsoft.com/office/officeart/2016/7/layout/BasicLinearProcessNumbered"/>
    <dgm:cxn modelId="{32E31762-0749-4460-8A35-25E82B824E60}" srcId="{EC86DCDB-D26F-4965-A378-9E795C7D775F}" destId="{5DAB3EFD-C8EA-4F2F-961D-33487B9B3831}" srcOrd="0" destOrd="0" parTransId="{73AD42D8-AA3A-4E33-9B90-29603715FDE0}" sibTransId="{E807C405-E54E-43CB-8BFA-0F5B35E6C200}"/>
    <dgm:cxn modelId="{9AB05C76-CE8C-4C45-9881-D203A6BD8062}" type="presOf" srcId="{435B859C-FD8F-45CE-A7C4-C49FF4A0AB94}" destId="{4F1D6665-5290-476B-9B2D-0218BE499140}" srcOrd="0" destOrd="3" presId="urn:microsoft.com/office/officeart/2016/7/layout/BasicLinearProcessNumbered"/>
    <dgm:cxn modelId="{49258759-432A-4EBB-B687-D2F3F3273EC3}" type="presOf" srcId="{EC86DCDB-D26F-4965-A378-9E795C7D775F}" destId="{4F1D6665-5290-476B-9B2D-0218BE499140}" srcOrd="1" destOrd="0" presId="urn:microsoft.com/office/officeart/2016/7/layout/BasicLinearProcessNumbered"/>
    <dgm:cxn modelId="{29E32D80-53E6-4E66-B57D-3FC32696A914}" type="presOf" srcId="{5DAB3EFD-C8EA-4F2F-961D-33487B9B3831}" destId="{4F1D6665-5290-476B-9B2D-0218BE499140}" srcOrd="0" destOrd="1" presId="urn:microsoft.com/office/officeart/2016/7/layout/BasicLinearProcessNumbered"/>
    <dgm:cxn modelId="{5A356E8A-9BD9-4026-B69C-AF68A6623D1E}" srcId="{EC86DCDB-D26F-4965-A378-9E795C7D775F}" destId="{A3C0C3D3-D4B7-4825-BCC5-F287E58DC08A}" srcOrd="4" destOrd="0" parTransId="{64496AB0-954C-4D7F-A4B0-5F64C979FC10}" sibTransId="{62DBD307-8A57-42F0-BF59-DF44085E1DD4}"/>
    <dgm:cxn modelId="{DBCAB18E-D95F-4068-999A-1A7F3D9E9AAF}" type="presOf" srcId="{4840F5F2-94FA-4CD6-8BF7-63040BA0352C}" destId="{A4CEFACC-AFAC-472E-9C7D-78289EFB63D1}" srcOrd="0" destOrd="0" presId="urn:microsoft.com/office/officeart/2016/7/layout/BasicLinearProcessNumbered"/>
    <dgm:cxn modelId="{CCB7C59B-7C9C-497A-B579-51911ACE21DA}" srcId="{EC86DCDB-D26F-4965-A378-9E795C7D775F}" destId="{435B859C-FD8F-45CE-A7C4-C49FF4A0AB94}" srcOrd="2" destOrd="0" parTransId="{05BC1E91-F168-426D-AAD5-1D00320EAAD0}" sibTransId="{AB61EC00-F590-4F09-92F6-12FFE29D8DA0}"/>
    <dgm:cxn modelId="{9F15379E-F0A8-4A0C-80A3-F2FE1DC78B14}" srcId="{EC86DCDB-D26F-4965-A378-9E795C7D775F}" destId="{B90F02BB-7783-4E86-9536-679754DB5430}" srcOrd="3" destOrd="0" parTransId="{57686CB2-F410-4376-990D-7B7BC5CBBD0E}" sibTransId="{281737D6-87D6-43F3-8742-9947AEF013CA}"/>
    <dgm:cxn modelId="{19957AA2-0EF5-426A-AEE8-9C759DEB4B95}" type="presOf" srcId="{EC86DCDB-D26F-4965-A378-9E795C7D775F}" destId="{0579B2E2-F254-4758-975D-BCCCEBEB091F}" srcOrd="0" destOrd="0" presId="urn:microsoft.com/office/officeart/2016/7/layout/BasicLinearProcessNumbered"/>
    <dgm:cxn modelId="{186945A3-9220-42F3-86E0-97B0F6870543}" srcId="{EC86DCDB-D26F-4965-A378-9E795C7D775F}" destId="{AB2EDFA3-3E14-4BC8-8254-CE6033E198EF}" srcOrd="5" destOrd="0" parTransId="{7098ADF4-F17D-4259-8957-FDFEA2EC781B}" sibTransId="{CAD223D8-A72D-47C5-BED1-7ED026F69E72}"/>
    <dgm:cxn modelId="{57BC50A9-79A6-4B4B-BE32-84EFCF42726A}" type="presOf" srcId="{AB2EDFA3-3E14-4BC8-8254-CE6033E198EF}" destId="{4F1D6665-5290-476B-9B2D-0218BE499140}" srcOrd="0" destOrd="6" presId="urn:microsoft.com/office/officeart/2016/7/layout/BasicLinearProcessNumbered"/>
    <dgm:cxn modelId="{2874AAC8-6482-4984-9CA5-3ADC202CB01A}" type="presOf" srcId="{B90F02BB-7783-4E86-9536-679754DB5430}" destId="{4F1D6665-5290-476B-9B2D-0218BE499140}" srcOrd="0" destOrd="4" presId="urn:microsoft.com/office/officeart/2016/7/layout/BasicLinearProcessNumbered"/>
    <dgm:cxn modelId="{C532A9CE-F0AF-48A6-875B-E5006D5A729C}" type="presOf" srcId="{A3C0C3D3-D4B7-4825-BCC5-F287E58DC08A}" destId="{4F1D6665-5290-476B-9B2D-0218BE499140}" srcOrd="0" destOrd="5" presId="urn:microsoft.com/office/officeart/2016/7/layout/BasicLinearProcessNumbered"/>
    <dgm:cxn modelId="{C3FD02D2-53B7-442A-B53F-216E92FE1EB2}" srcId="{EC86DCDB-D26F-4965-A378-9E795C7D775F}" destId="{33B278E5-9096-4EBF-9072-C40B84264CA9}" srcOrd="1" destOrd="0" parTransId="{731C8E6F-2169-4F06-96B3-C45E3EC2FDF3}" sibTransId="{7A45650A-216F-4C7D-AE93-874B53FCC43C}"/>
    <dgm:cxn modelId="{62C420E6-AB07-4C07-B2EB-BAE7F1C95841}" type="presParOf" srcId="{A4CEFACC-AFAC-472E-9C7D-78289EFB63D1}" destId="{15D43CAF-FB9C-4C2E-A178-B5846807A9A3}" srcOrd="0" destOrd="0" presId="urn:microsoft.com/office/officeart/2016/7/layout/BasicLinearProcessNumbered"/>
    <dgm:cxn modelId="{3A84E957-B8F0-4904-9475-D0C2C191683F}" type="presParOf" srcId="{15D43CAF-FB9C-4C2E-A178-B5846807A9A3}" destId="{0579B2E2-F254-4758-975D-BCCCEBEB091F}" srcOrd="0" destOrd="0" presId="urn:microsoft.com/office/officeart/2016/7/layout/BasicLinearProcessNumbered"/>
    <dgm:cxn modelId="{5B6BBE3F-852E-43DD-B04A-D69445C81C71}" type="presParOf" srcId="{15D43CAF-FB9C-4C2E-A178-B5846807A9A3}" destId="{6E066B6B-870C-47BB-B0D4-7DDBD6CCC405}" srcOrd="1" destOrd="0" presId="urn:microsoft.com/office/officeart/2016/7/layout/BasicLinearProcessNumbered"/>
    <dgm:cxn modelId="{F3E2039E-6180-4865-8B0E-0D9841205EAE}" type="presParOf" srcId="{15D43CAF-FB9C-4C2E-A178-B5846807A9A3}" destId="{661C993E-716A-4EDE-A4B7-74802377363E}" srcOrd="2" destOrd="0" presId="urn:microsoft.com/office/officeart/2016/7/layout/BasicLinearProcessNumbered"/>
    <dgm:cxn modelId="{D80A3FA2-14B2-4876-9B62-C1D54E266A0A}" type="presParOf" srcId="{15D43CAF-FB9C-4C2E-A178-B5846807A9A3}" destId="{4F1D6665-5290-476B-9B2D-0218BE499140}"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2F3400-ACEA-4BF2-B7EA-1224E7E39347}">
      <dsp:nvSpPr>
        <dsp:cNvPr id="0" name=""/>
        <dsp:cNvSpPr/>
      </dsp:nvSpPr>
      <dsp:spPr>
        <a:xfrm>
          <a:off x="0" y="464763"/>
          <a:ext cx="6447234" cy="3379950"/>
        </a:xfrm>
        <a:prstGeom prst="rect">
          <a:avLst/>
        </a:prstGeom>
        <a:solidFill>
          <a:schemeClr val="lt1">
            <a:alpha val="90000"/>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0377" tIns="604012" rIns="500377" bIns="206248" numCol="1" spcCol="1270" anchor="t" anchorCtr="0">
          <a:noAutofit/>
        </a:bodyPr>
        <a:lstStyle/>
        <a:p>
          <a:pPr marL="285750" lvl="1" indent="-285750" algn="l" defTabSz="1289050">
            <a:lnSpc>
              <a:spcPct val="90000"/>
            </a:lnSpc>
            <a:spcBef>
              <a:spcPct val="0"/>
            </a:spcBef>
            <a:spcAft>
              <a:spcPct val="15000"/>
            </a:spcAft>
            <a:buFont typeface="Arial" panose="020B0604020202020204" pitchFamily="34" charset="0"/>
            <a:buChar char="•"/>
          </a:pPr>
          <a:r>
            <a:rPr lang="en-US" sz="2900" b="0" kern="1200" dirty="0"/>
            <a:t>How data was stored</a:t>
          </a:r>
          <a:endParaRPr lang="en-US" sz="2900" kern="1200" dirty="0"/>
        </a:p>
        <a:p>
          <a:pPr marL="285750" lvl="1" indent="-285750" algn="l" defTabSz="1289050">
            <a:lnSpc>
              <a:spcPct val="90000"/>
            </a:lnSpc>
            <a:spcBef>
              <a:spcPct val="0"/>
            </a:spcBef>
            <a:spcAft>
              <a:spcPct val="15000"/>
            </a:spcAft>
            <a:buFont typeface="Arial" panose="020B0604020202020204" pitchFamily="34" charset="0"/>
            <a:buChar char="•"/>
          </a:pPr>
          <a:r>
            <a:rPr lang="en-US" sz="2900" b="0" kern="1200" dirty="0"/>
            <a:t>What operation mattered most</a:t>
          </a:r>
        </a:p>
        <a:p>
          <a:pPr marL="285750" lvl="1" indent="-285750" algn="l" defTabSz="1289050">
            <a:lnSpc>
              <a:spcPct val="90000"/>
            </a:lnSpc>
            <a:spcBef>
              <a:spcPct val="0"/>
            </a:spcBef>
            <a:spcAft>
              <a:spcPct val="15000"/>
            </a:spcAft>
            <a:buFont typeface="Arial" panose="020B0604020202020204" pitchFamily="34" charset="0"/>
            <a:buChar char="•"/>
          </a:pPr>
          <a:r>
            <a:rPr lang="en-US" sz="2900" b="0" kern="1200" dirty="0"/>
            <a:t>Which structure made the operation clearer</a:t>
          </a:r>
        </a:p>
        <a:p>
          <a:pPr marL="285750" lvl="1" indent="-285750" algn="l" defTabSz="1289050">
            <a:lnSpc>
              <a:spcPct val="90000"/>
            </a:lnSpc>
            <a:spcBef>
              <a:spcPct val="0"/>
            </a:spcBef>
            <a:spcAft>
              <a:spcPct val="15000"/>
            </a:spcAft>
            <a:buFont typeface="Arial" panose="020B0604020202020204" pitchFamily="34" charset="0"/>
            <a:buChar char="•"/>
          </a:pPr>
          <a:r>
            <a:rPr lang="en-US" sz="2900" b="0" kern="1200" dirty="0"/>
            <a:t>Which structure made the operation easier or faster</a:t>
          </a:r>
        </a:p>
      </dsp:txBody>
      <dsp:txXfrm>
        <a:off x="0" y="464763"/>
        <a:ext cx="6447234" cy="3379950"/>
      </dsp:txXfrm>
    </dsp:sp>
    <dsp:sp modelId="{91615320-4CF6-4AA6-903B-2DA45376792B}">
      <dsp:nvSpPr>
        <dsp:cNvPr id="0" name=""/>
        <dsp:cNvSpPr/>
      </dsp:nvSpPr>
      <dsp:spPr>
        <a:xfrm>
          <a:off x="322361" y="36723"/>
          <a:ext cx="4513063" cy="85608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583" tIns="0" rIns="170583" bIns="0" numCol="1" spcCol="1270" anchor="ctr" anchorCtr="0">
          <a:noAutofit/>
        </a:bodyPr>
        <a:lstStyle/>
        <a:p>
          <a:pPr marL="0" lvl="0" indent="0" algn="l" defTabSz="1289050">
            <a:lnSpc>
              <a:spcPct val="90000"/>
            </a:lnSpc>
            <a:spcBef>
              <a:spcPct val="0"/>
            </a:spcBef>
            <a:spcAft>
              <a:spcPct val="35000"/>
            </a:spcAft>
            <a:buNone/>
          </a:pPr>
          <a:r>
            <a:rPr lang="en-US" sz="2900" kern="1200"/>
            <a:t>Last week, we focused on:</a:t>
          </a:r>
        </a:p>
      </dsp:txBody>
      <dsp:txXfrm>
        <a:off x="364151" y="78513"/>
        <a:ext cx="4429483" cy="772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7DEE2-2529-4048-A027-0347422F7B4B}">
      <dsp:nvSpPr>
        <dsp:cNvPr id="0" name=""/>
        <dsp:cNvSpPr/>
      </dsp:nvSpPr>
      <dsp:spPr>
        <a:xfrm>
          <a:off x="0" y="74024"/>
          <a:ext cx="5019610" cy="73359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Explain the difference between sorting and searching</a:t>
          </a:r>
          <a:endParaRPr lang="en-US" sz="1900" kern="1200" dirty="0"/>
        </a:p>
      </dsp:txBody>
      <dsp:txXfrm>
        <a:off x="35811" y="109835"/>
        <a:ext cx="4947988" cy="661968"/>
      </dsp:txXfrm>
    </dsp:sp>
    <dsp:sp modelId="{FE62AC6B-853C-44FF-A1BA-734299233BB6}">
      <dsp:nvSpPr>
        <dsp:cNvPr id="0" name=""/>
        <dsp:cNvSpPr/>
      </dsp:nvSpPr>
      <dsp:spPr>
        <a:xfrm>
          <a:off x="0" y="862334"/>
          <a:ext cx="5019610" cy="733590"/>
        </a:xfrm>
        <a:prstGeom prst="roundRect">
          <a:avLst/>
        </a:prstGeom>
        <a:gradFill rotWithShape="0">
          <a:gsLst>
            <a:gs pos="0">
              <a:schemeClr val="accent2">
                <a:hueOff val="-1979246"/>
                <a:satOff val="7189"/>
                <a:lumOff val="667"/>
                <a:alphaOff val="0"/>
                <a:tint val="96000"/>
                <a:lumMod val="100000"/>
              </a:schemeClr>
            </a:gs>
            <a:gs pos="78000">
              <a:schemeClr val="accent2">
                <a:hueOff val="-1979246"/>
                <a:satOff val="7189"/>
                <a:lumOff val="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Recognize several common sorting algorithms and their basic strategies</a:t>
          </a:r>
        </a:p>
      </dsp:txBody>
      <dsp:txXfrm>
        <a:off x="35811" y="898145"/>
        <a:ext cx="4947988" cy="661968"/>
      </dsp:txXfrm>
    </dsp:sp>
    <dsp:sp modelId="{C5E65265-9D0A-408E-96CF-27FB1854C93F}">
      <dsp:nvSpPr>
        <dsp:cNvPr id="0" name=""/>
        <dsp:cNvSpPr/>
      </dsp:nvSpPr>
      <dsp:spPr>
        <a:xfrm>
          <a:off x="0" y="1650645"/>
          <a:ext cx="5019610" cy="733590"/>
        </a:xfrm>
        <a:prstGeom prst="roundRect">
          <a:avLst/>
        </a:prstGeom>
        <a:gradFill rotWithShape="0">
          <a:gsLst>
            <a:gs pos="0">
              <a:schemeClr val="accent2">
                <a:hueOff val="-3958492"/>
                <a:satOff val="14378"/>
                <a:lumOff val="1334"/>
                <a:alphaOff val="0"/>
                <a:tint val="96000"/>
                <a:lumMod val="100000"/>
              </a:schemeClr>
            </a:gs>
            <a:gs pos="78000">
              <a:schemeClr val="accent2">
                <a:hueOff val="-3958492"/>
                <a:satOff val="14378"/>
                <a:lumOff val="133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Explain why algorithm choice depends on data size, order, and purpose</a:t>
          </a:r>
        </a:p>
      </dsp:txBody>
      <dsp:txXfrm>
        <a:off x="35811" y="1686456"/>
        <a:ext cx="4947988" cy="661968"/>
      </dsp:txXfrm>
    </dsp:sp>
    <dsp:sp modelId="{436A9B8B-BBC9-45C4-B38C-0FB1237CB3DD}">
      <dsp:nvSpPr>
        <dsp:cNvPr id="0" name=""/>
        <dsp:cNvSpPr/>
      </dsp:nvSpPr>
      <dsp:spPr>
        <a:xfrm>
          <a:off x="0" y="2438955"/>
          <a:ext cx="5019610" cy="733590"/>
        </a:xfrm>
        <a:prstGeom prst="roundRect">
          <a:avLst/>
        </a:prstGeom>
        <a:gradFill rotWithShape="0">
          <a:gsLst>
            <a:gs pos="0">
              <a:schemeClr val="accent2">
                <a:hueOff val="-5937738"/>
                <a:satOff val="21566"/>
                <a:lumOff val="2001"/>
                <a:alphaOff val="0"/>
                <a:tint val="96000"/>
                <a:lumMod val="100000"/>
              </a:schemeClr>
            </a:gs>
            <a:gs pos="78000">
              <a:schemeClr val="accent2">
                <a:hueOff val="-5937738"/>
                <a:satOff val="21566"/>
                <a:lumOff val="200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Trace linear search and binary search at an introductory level</a:t>
          </a:r>
        </a:p>
      </dsp:txBody>
      <dsp:txXfrm>
        <a:off x="35811" y="2474766"/>
        <a:ext cx="4947988" cy="661968"/>
      </dsp:txXfrm>
    </dsp:sp>
    <dsp:sp modelId="{988F7120-BECC-424F-AA62-2C24874497F0}">
      <dsp:nvSpPr>
        <dsp:cNvPr id="0" name=""/>
        <dsp:cNvSpPr/>
      </dsp:nvSpPr>
      <dsp:spPr>
        <a:xfrm>
          <a:off x="0" y="3227265"/>
          <a:ext cx="5019610" cy="733590"/>
        </a:xfrm>
        <a:prstGeom prst="roundRect">
          <a:avLst/>
        </a:prstGeom>
        <a:gradFill rotWithShape="0">
          <a:gsLst>
            <a:gs pos="0">
              <a:schemeClr val="accent2">
                <a:hueOff val="-7916984"/>
                <a:satOff val="28755"/>
                <a:lumOff val="2668"/>
                <a:alphaOff val="0"/>
                <a:tint val="96000"/>
                <a:lumMod val="100000"/>
              </a:schemeClr>
            </a:gs>
            <a:gs pos="78000">
              <a:schemeClr val="accent2">
                <a:hueOff val="-7916984"/>
                <a:satOff val="28755"/>
                <a:lumOff val="266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Explain the sorted-data precondition for binary search</a:t>
          </a:r>
        </a:p>
      </dsp:txBody>
      <dsp:txXfrm>
        <a:off x="35811" y="3263076"/>
        <a:ext cx="4947988" cy="661968"/>
      </dsp:txXfrm>
    </dsp:sp>
    <dsp:sp modelId="{5BA0B1DF-4F68-4A72-9ED8-FC0565752FD8}">
      <dsp:nvSpPr>
        <dsp:cNvPr id="0" name=""/>
        <dsp:cNvSpPr/>
      </dsp:nvSpPr>
      <dsp:spPr>
        <a:xfrm>
          <a:off x="0" y="4015574"/>
          <a:ext cx="5019610" cy="733590"/>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Use evidence to show when an algorithm works, fails, or becomes unreliable</a:t>
          </a:r>
        </a:p>
      </dsp:txBody>
      <dsp:txXfrm>
        <a:off x="35811" y="4051385"/>
        <a:ext cx="4947988" cy="6619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20F46-BD9F-433C-B479-B55A8902755F}">
      <dsp:nvSpPr>
        <dsp:cNvPr id="0" name=""/>
        <dsp:cNvSpPr/>
      </dsp:nvSpPr>
      <dsp:spPr>
        <a:xfrm rot="5400000">
          <a:off x="4106539" y="-1309916"/>
          <a:ext cx="1597417" cy="4616704"/>
        </a:xfrm>
        <a:prstGeom prst="round2Same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None/>
          </a:pPr>
          <a:r>
            <a:rPr lang="en-US" sz="3300" b="0" kern="1200" dirty="0"/>
            <a:t>Searching book titles on a shelf</a:t>
          </a:r>
          <a:endParaRPr lang="en-US" sz="3300" kern="1200" dirty="0"/>
        </a:p>
      </dsp:txBody>
      <dsp:txXfrm rot="-5400000">
        <a:off x="2596896" y="277706"/>
        <a:ext cx="4538725" cy="1441459"/>
      </dsp:txXfrm>
    </dsp:sp>
    <dsp:sp modelId="{30D56222-46DC-49B6-93B9-D527764F5239}">
      <dsp:nvSpPr>
        <dsp:cNvPr id="0" name=""/>
        <dsp:cNvSpPr/>
      </dsp:nvSpPr>
      <dsp:spPr>
        <a:xfrm>
          <a:off x="0" y="49"/>
          <a:ext cx="2596896" cy="1996771"/>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defRPr b="1"/>
          </a:pPr>
          <a:r>
            <a:rPr lang="en-US" sz="3700" kern="1200"/>
            <a:t>Problem:</a:t>
          </a:r>
        </a:p>
      </dsp:txBody>
      <dsp:txXfrm>
        <a:off x="97474" y="97523"/>
        <a:ext cx="2401948" cy="1801823"/>
      </dsp:txXfrm>
    </dsp:sp>
    <dsp:sp modelId="{19B361A2-D7A8-43A5-AA5B-63BFB24FB360}">
      <dsp:nvSpPr>
        <dsp:cNvPr id="0" name=""/>
        <dsp:cNvSpPr/>
      </dsp:nvSpPr>
      <dsp:spPr>
        <a:xfrm rot="5400000">
          <a:off x="4106539" y="786694"/>
          <a:ext cx="1597417" cy="4616704"/>
        </a:xfrm>
        <a:prstGeom prst="round2SameRect">
          <a:avLst/>
        </a:prstGeom>
        <a:solidFill>
          <a:schemeClr val="accent2">
            <a:tint val="40000"/>
            <a:alpha val="90000"/>
            <a:hueOff val="-11155272"/>
            <a:satOff val="48624"/>
            <a:lumOff val="3588"/>
            <a:alphaOff val="0"/>
          </a:schemeClr>
        </a:solidFill>
        <a:ln w="19050" cap="rnd" cmpd="sng" algn="ctr">
          <a:solidFill>
            <a:schemeClr val="accent2">
              <a:tint val="40000"/>
              <a:alpha val="90000"/>
              <a:hueOff val="-11155272"/>
              <a:satOff val="48624"/>
              <a:lumOff val="358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None/>
          </a:pPr>
          <a:r>
            <a:rPr lang="en-US" sz="3300" kern="1200" dirty="0"/>
            <a:t>Binary Search results on: Sorted vs Unsorted data</a:t>
          </a:r>
        </a:p>
      </dsp:txBody>
      <dsp:txXfrm rot="-5400000">
        <a:off x="2596896" y="2374317"/>
        <a:ext cx="4538725" cy="1441459"/>
      </dsp:txXfrm>
    </dsp:sp>
    <dsp:sp modelId="{05B628AE-3B1C-4161-A2F2-79CC492C689A}">
      <dsp:nvSpPr>
        <dsp:cNvPr id="0" name=""/>
        <dsp:cNvSpPr/>
      </dsp:nvSpPr>
      <dsp:spPr>
        <a:xfrm>
          <a:off x="0" y="2096660"/>
          <a:ext cx="2596896" cy="1996771"/>
        </a:xfrm>
        <a:prstGeom prst="roundRect">
          <a:avLst/>
        </a:prstGeom>
        <a:solidFill>
          <a:schemeClr val="accent2">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a:t>Goal</a:t>
          </a:r>
        </a:p>
      </dsp:txBody>
      <dsp:txXfrm>
        <a:off x="97474" y="2194134"/>
        <a:ext cx="2401948" cy="18018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9B2E2-F254-4758-975D-BCCCEBEB091F}">
      <dsp:nvSpPr>
        <dsp:cNvPr id="0" name=""/>
        <dsp:cNvSpPr/>
      </dsp:nvSpPr>
      <dsp:spPr>
        <a:xfrm>
          <a:off x="0" y="0"/>
          <a:ext cx="6347714" cy="4552197"/>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4892" tIns="330200" rIns="494892" bIns="330200" numCol="1" spcCol="1270" anchor="t" anchorCtr="0">
          <a:noAutofit/>
        </a:bodyPr>
        <a:lstStyle/>
        <a:p>
          <a:pPr marL="0" lvl="0" indent="0" algn="l" defTabSz="1022350">
            <a:lnSpc>
              <a:spcPct val="90000"/>
            </a:lnSpc>
            <a:spcBef>
              <a:spcPct val="0"/>
            </a:spcBef>
            <a:spcAft>
              <a:spcPct val="35000"/>
            </a:spcAft>
            <a:buNone/>
          </a:pPr>
          <a:r>
            <a:rPr lang="en-US" sz="2300" kern="1200" dirty="0"/>
            <a:t>For Lab 04:</a:t>
          </a:r>
        </a:p>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choose a data set</a:t>
          </a:r>
          <a:endParaRPr lang="en-US" sz="1800" kern="1200" dirty="0"/>
        </a:p>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implement or simulate linear search</a:t>
          </a:r>
        </a:p>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implement or simulate binary search</a:t>
          </a:r>
        </a:p>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create required tests</a:t>
          </a:r>
        </a:p>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build a trace table</a:t>
          </a:r>
        </a:p>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t>explain the sorted-data precondition</a:t>
          </a:r>
        </a:p>
      </dsp:txBody>
      <dsp:txXfrm>
        <a:off x="0" y="1729834"/>
        <a:ext cx="6347714" cy="2731318"/>
      </dsp:txXfrm>
    </dsp:sp>
    <dsp:sp modelId="{6E066B6B-870C-47BB-B0D4-7DDBD6CCC405}">
      <dsp:nvSpPr>
        <dsp:cNvPr id="0" name=""/>
        <dsp:cNvSpPr/>
      </dsp:nvSpPr>
      <dsp:spPr>
        <a:xfrm>
          <a:off x="2491027" y="455219"/>
          <a:ext cx="1365659" cy="1365659"/>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472" tIns="12700" rIns="106472" bIns="12700" numCol="1" spcCol="1270" anchor="ctr" anchorCtr="0">
          <a:noAutofit/>
        </a:bodyPr>
        <a:lstStyle/>
        <a:p>
          <a:pPr marL="0" lvl="0" indent="0" algn="ctr" defTabSz="2133600">
            <a:lnSpc>
              <a:spcPct val="90000"/>
            </a:lnSpc>
            <a:spcBef>
              <a:spcPct val="0"/>
            </a:spcBef>
            <a:spcAft>
              <a:spcPct val="35000"/>
            </a:spcAft>
            <a:buNone/>
          </a:pPr>
          <a:r>
            <a:rPr lang="en-US" sz="4800" kern="1200" dirty="0"/>
            <a:t>1</a:t>
          </a:r>
        </a:p>
      </dsp:txBody>
      <dsp:txXfrm>
        <a:off x="2691023" y="655215"/>
        <a:ext cx="965667" cy="965667"/>
      </dsp:txXfrm>
    </dsp:sp>
    <dsp:sp modelId="{661C993E-716A-4EDE-A4B7-74802377363E}">
      <dsp:nvSpPr>
        <dsp:cNvPr id="0" name=""/>
        <dsp:cNvSpPr/>
      </dsp:nvSpPr>
      <dsp:spPr>
        <a:xfrm>
          <a:off x="0" y="4552125"/>
          <a:ext cx="6347714" cy="7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43E5A-6629-4B53-8BAD-0FC37077EB14}" type="datetimeFigureOut">
              <a:rPr lang="en-US" smtClean="0"/>
              <a:t>6/4/2026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82475-516A-409A-944E-F435F3DFCCF2}" type="datetimeFigureOut">
              <a:rPr lang="en-US" smtClean="0"/>
              <a:t>6/4/2026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374933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1263435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Instructor Notes ** </a:t>
            </a:r>
          </a:p>
          <a:p>
            <a:r>
              <a:rPr lang="en-US" dirty="0"/>
              <a:t>Step through the coding solution(s) for the Lab.</a:t>
            </a:r>
            <a:br>
              <a:rPr lang="en-US" dirty="0"/>
            </a:br>
            <a:r>
              <a:rPr lang="en-US" dirty="0"/>
              <a:t>Be sure to state that this is only *one* solution of many. </a:t>
            </a:r>
            <a:br>
              <a:rPr lang="en-US" dirty="0"/>
            </a:br>
            <a:r>
              <a:rPr lang="en-US" dirty="0"/>
              <a:t>NOT the best or only solution.</a:t>
            </a:r>
          </a:p>
          <a:p>
            <a:endParaRPr lang="en-US" dirty="0"/>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2991616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1276573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Let students sit with the question briefly.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A faster algorithm may be worse if it is wrong, unclear, too expensive to prepare for, or depends on a condition that is not true.</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main example today is binary search. It can be very efficient, but only when the data is sorted.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takes us to the idea of preconditions.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143017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2292370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 explicit that preconditions are not side notes. They are part of the correctness claim.</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students say "the code runs," ask: "What did it assume?"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Searching and sorting are useful because they make these assumptions visible.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3336226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physical shelf analogy. </a:t>
            </a:r>
          </a:p>
          <a:p>
            <a:r>
              <a:rPr lang="en-US" sz="1200" b="0" kern="1200" dirty="0">
                <a:solidFill>
                  <a:schemeClr val="tx1"/>
                </a:solidFill>
                <a:effectLst/>
                <a:latin typeface="+mn-lt"/>
                <a:ea typeface="+mn-ea"/>
                <a:cs typeface="+mn-cs"/>
              </a:rPr>
              <a:t>If books are randomly placed, you may have to check one at a time. </a:t>
            </a:r>
          </a:p>
          <a:p>
            <a:r>
              <a:rPr lang="en-US" sz="1200" b="0" kern="1200" dirty="0">
                <a:solidFill>
                  <a:schemeClr val="tx1"/>
                </a:solidFill>
                <a:effectLst/>
                <a:latin typeface="+mn-lt"/>
                <a:ea typeface="+mn-ea"/>
                <a:cs typeface="+mn-cs"/>
              </a:rPr>
              <a:t>If books are alphabetized, you can use the order to make better decisions.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bridge into why sorting appears before searching in many textbook treatments.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we will summarize the reading's big picture.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2918146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Tell students that not all topics receive equal class time. </a:t>
            </a:r>
          </a:p>
          <a:p>
            <a:r>
              <a:rPr lang="en-US" sz="1200" b="0" kern="1200" dirty="0">
                <a:solidFill>
                  <a:schemeClr val="tx1"/>
                </a:solidFill>
                <a:effectLst/>
                <a:latin typeface="+mn-lt"/>
                <a:ea typeface="+mn-ea"/>
                <a:cs typeface="+mn-cs"/>
              </a:rPr>
              <a:t>Sorting and searching are core. </a:t>
            </a:r>
          </a:p>
          <a:p>
            <a:r>
              <a:rPr lang="en-US" sz="1200" b="0" kern="1200" dirty="0">
                <a:solidFill>
                  <a:schemeClr val="tx1"/>
                </a:solidFill>
                <a:effectLst/>
                <a:latin typeface="+mn-lt"/>
                <a:ea typeface="+mn-ea"/>
                <a:cs typeface="+mn-cs"/>
              </a:rPr>
              <a:t>Performance analysis is threaded through both. </a:t>
            </a:r>
          </a:p>
          <a:p>
            <a:r>
              <a:rPr lang="en-US" sz="1200" b="0" kern="1200" dirty="0">
                <a:solidFill>
                  <a:schemeClr val="tx1"/>
                </a:solidFill>
                <a:effectLst/>
                <a:latin typeface="+mn-lt"/>
                <a:ea typeface="+mn-ea"/>
                <a:cs typeface="+mn-cs"/>
              </a:rPr>
              <a:t>The NLP and historical database examples are context, not new major units.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Start by separating NLP context from this week's core algorithm work.</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532020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F10CB-15A2-E697-B486-1D680C870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B8257-BA34-36D4-C10D-24E024C74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CC1CF-CA62-E8F7-3C5F-1DB2A784D6C0}"/>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prevents confusion if the textbook opens with NLP references.</a:t>
            </a:r>
          </a:p>
          <a:p>
            <a:r>
              <a:rPr lang="en-US" sz="1200" b="0" kern="1200" dirty="0">
                <a:solidFill>
                  <a:schemeClr val="tx1"/>
                </a:solidFill>
                <a:effectLst/>
                <a:latin typeface="+mn-lt"/>
                <a:ea typeface="+mn-ea"/>
                <a:cs typeface="+mn-cs"/>
              </a:rPr>
              <a:t>Explain that NLP systems often need searching, sorting, ranking, indexing, and comparison. That is why the context appears.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Do not turn this into a full NLP lecture. The class will return to AI/data bridges later.</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core algorithms this week begin with sorting.</a:t>
            </a:r>
          </a:p>
          <a:p>
            <a:endParaRPr lang="en-US" dirty="0"/>
          </a:p>
        </p:txBody>
      </p:sp>
      <p:sp>
        <p:nvSpPr>
          <p:cNvPr id="4" name="Slide Number Placeholder 3">
            <a:extLst>
              <a:ext uri="{FF2B5EF4-FFF2-40B4-BE49-F238E27FC236}">
                <a16:creationId xmlns:a16="http://schemas.microsoft.com/office/drawing/2014/main" id="{6008A1C3-2629-39E7-70A0-578C1B81EDCC}"/>
              </a:ext>
            </a:extLst>
          </p:cNvPr>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767140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1CBCC-ACEB-3418-F4C5-50CBA8E8D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7C561-0868-1A75-0915-D84DC5CFA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8C8881-20BC-5A60-DFDC-BF570C099A7D}"/>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Tell students that they do not need to memorize every line of every sort implementation this week. </a:t>
            </a:r>
          </a:p>
          <a:p>
            <a:r>
              <a:rPr lang="en-US" sz="1200" b="0" kern="1200" dirty="0">
                <a:solidFill>
                  <a:schemeClr val="tx1"/>
                </a:solidFill>
                <a:effectLst/>
                <a:latin typeface="+mn-lt"/>
                <a:ea typeface="+mn-ea"/>
                <a:cs typeface="+mn-cs"/>
              </a:rPr>
              <a:t>They should learn the strategy behind each sort and notice why performance differs.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Sorting examples also give us another place to practice Big-O reasoning.</a:t>
            </a:r>
          </a:p>
          <a:p>
            <a:endParaRPr lang="en-US" dirty="0"/>
          </a:p>
        </p:txBody>
      </p:sp>
      <p:sp>
        <p:nvSpPr>
          <p:cNvPr id="4" name="Slide Number Placeholder 3">
            <a:extLst>
              <a:ext uri="{FF2B5EF4-FFF2-40B4-BE49-F238E27FC236}">
                <a16:creationId xmlns:a16="http://schemas.microsoft.com/office/drawing/2014/main" id="{09121EDB-18CC-B662-2184-6C5DD91B0FC2}"/>
              </a:ext>
            </a:extLst>
          </p:cNvPr>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1244548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A4E9B-533C-B60E-DC67-0250FFC88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82099-3025-4DFE-640F-AA946889D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7D36A-1A31-652D-CD58-106134107FB5}"/>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clear that Lab 04 emphasizes linear and binary search. </a:t>
            </a:r>
          </a:p>
          <a:p>
            <a:r>
              <a:rPr lang="en-US" sz="1200" b="0" kern="1200" dirty="0">
                <a:solidFill>
                  <a:schemeClr val="tx1"/>
                </a:solidFill>
                <a:effectLst/>
                <a:latin typeface="+mn-lt"/>
                <a:ea typeface="+mn-ea"/>
                <a:cs typeface="+mn-cs"/>
              </a:rPr>
              <a:t>Interpolation search is worth recognizing, but it will not be the main hands-on focus.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also shows that performance analysis is not a separate chapter box.</a:t>
            </a:r>
          </a:p>
          <a:p>
            <a:endParaRPr lang="en-US" dirty="0"/>
          </a:p>
        </p:txBody>
      </p:sp>
      <p:sp>
        <p:nvSpPr>
          <p:cNvPr id="4" name="Slide Number Placeholder 3">
            <a:extLst>
              <a:ext uri="{FF2B5EF4-FFF2-40B4-BE49-F238E27FC236}">
                <a16:creationId xmlns:a16="http://schemas.microsoft.com/office/drawing/2014/main" id="{E11EF9D3-64F3-28FA-21EB-06D6D5EE6E18}"/>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3884870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6E5F1-3CFC-7781-B383-3452CDB60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A8DD9-CE9F-AD0B-65A5-5E4A175D5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88A22-A534-6943-0182-3F127564F837}"/>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gives students a stable reading pattern. </a:t>
            </a:r>
          </a:p>
          <a:p>
            <a:r>
              <a:rPr lang="en-US" sz="1200" b="0" kern="1200" dirty="0">
                <a:solidFill>
                  <a:schemeClr val="tx1"/>
                </a:solidFill>
                <a:effectLst/>
                <a:latin typeface="+mn-lt"/>
                <a:ea typeface="+mn-ea"/>
                <a:cs typeface="+mn-cs"/>
              </a:rPr>
              <a:t>Instead of treating every algorithm as a brand-new topic, they can ask the same questions repeatedly.</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the sorting algorithms, we need one small mechanical idea: swapping.</a:t>
            </a:r>
          </a:p>
          <a:p>
            <a:endParaRPr lang="en-US" dirty="0"/>
          </a:p>
        </p:txBody>
      </p:sp>
      <p:sp>
        <p:nvSpPr>
          <p:cNvPr id="4" name="Slide Number Placeholder 3">
            <a:extLst>
              <a:ext uri="{FF2B5EF4-FFF2-40B4-BE49-F238E27FC236}">
                <a16:creationId xmlns:a16="http://schemas.microsoft.com/office/drawing/2014/main" id="{D871B43A-EB9F-149C-B092-5A49931917C6}"/>
              </a:ext>
            </a:extLst>
          </p:cNvPr>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1028204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make this too formal. </a:t>
            </a:r>
          </a:p>
          <a:p>
            <a:r>
              <a:rPr lang="en-US" sz="1200" b="0" kern="1200" dirty="0">
                <a:solidFill>
                  <a:schemeClr val="tx1"/>
                </a:solidFill>
                <a:effectLst/>
                <a:latin typeface="+mn-lt"/>
                <a:ea typeface="+mn-ea"/>
                <a:cs typeface="+mn-cs"/>
              </a:rPr>
              <a:t>Show a quick two-card example or two list positions.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purpose is to make later sorting steps less mysterious.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writing Python, you can mention that Python supports direct tuple-style swapping, but students should still understand the concept.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first sorting algorithm is intentionally simple and visible.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3427664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2048624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tiny list such as `[5, 2, 4, 1]`. Walk through one pass only unless the group needs more.</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important image is larger values "bubbling" toward the end after repeated neighbor comparisons.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Bubble sort is easy to understand, but easy does not mean efficient.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4128787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"n squared" out loud, but keep the explanation concrete: </a:t>
            </a:r>
          </a:p>
          <a:p>
            <a:r>
              <a:rPr lang="en-US" sz="1200" b="0" kern="1200" dirty="0">
                <a:solidFill>
                  <a:schemeClr val="tx1"/>
                </a:solidFill>
                <a:effectLst/>
                <a:latin typeface="+mn-lt"/>
                <a:ea typeface="+mn-ea"/>
                <a:cs typeface="+mn-cs"/>
              </a:rPr>
              <a:t>as the list grows, the repeated passes create a lot of comparisons.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Do not require students to prove the formula. </a:t>
            </a:r>
          </a:p>
          <a:p>
            <a:r>
              <a:rPr lang="en-US" sz="1200" b="0" kern="1200" dirty="0">
                <a:solidFill>
                  <a:schemeClr val="tx1"/>
                </a:solidFill>
                <a:effectLst/>
                <a:latin typeface="+mn-lt"/>
                <a:ea typeface="+mn-ea"/>
                <a:cs typeface="+mn-cs"/>
              </a:rPr>
              <a:t>Connect it to the repeated nested work pattern from Week 2.</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textbook may mention an optimization for bubble sort. (VERIFY)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9295478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good example of refinement. The core idea stays the same, but the algorithm gains a stopping condition.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Connect this to prior labs: evidence can reveal unnecessary work.</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Another simple sorting strategy is selection.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2669481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cards or a small list. </a:t>
            </a:r>
          </a:p>
          <a:p>
            <a:r>
              <a:rPr lang="en-US" sz="1200" b="0" kern="1200" dirty="0">
                <a:solidFill>
                  <a:schemeClr val="tx1"/>
                </a:solidFill>
                <a:effectLst/>
                <a:latin typeface="+mn-lt"/>
                <a:ea typeface="+mn-ea"/>
                <a:cs typeface="+mn-cs"/>
              </a:rPr>
              <a:t>The key difference from bubble sort is that selection sort looks for the next value to place, instead of repeatedly swapping neighbors.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Selection sort is organized, but it still scans repeatedly.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3851461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good place to separate "number of swaps" from "number of comparisons." </a:t>
            </a:r>
          </a:p>
          <a:p>
            <a:r>
              <a:rPr lang="en-US" sz="1200" b="0" kern="1200" dirty="0">
                <a:solidFill>
                  <a:schemeClr val="tx1"/>
                </a:solidFill>
                <a:effectLst/>
                <a:latin typeface="+mn-lt"/>
                <a:ea typeface="+mn-ea"/>
                <a:cs typeface="+mn-cs"/>
              </a:rPr>
              <a:t>Different operations matter in different contexts.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Insertion sort uses a different mental model.</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1930565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DFEBF-5C42-CE47-4FF0-78F7C76BB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2319B-46F8-F701-8AB0-2A3231709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3C483-F3DF-51EA-B253-48DD2A29713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playing-card analogy if helpful: people often sort a hand of cards by inserting each new card into the correct position.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Insertion sort can be reasonable when the data is already close to sorted.</a:t>
            </a:r>
          </a:p>
          <a:p>
            <a:endParaRPr lang="en-US" dirty="0"/>
          </a:p>
        </p:txBody>
      </p:sp>
      <p:sp>
        <p:nvSpPr>
          <p:cNvPr id="4" name="Slide Number Placeholder 3">
            <a:extLst>
              <a:ext uri="{FF2B5EF4-FFF2-40B4-BE49-F238E27FC236}">
                <a16:creationId xmlns:a16="http://schemas.microsoft.com/office/drawing/2014/main" id="{6405671D-5D84-3805-33BB-DF3D9BEB06C0}"/>
              </a:ext>
            </a:extLst>
          </p:cNvPr>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29655615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D9C1-AC50-039D-93EE-AC19DE5C9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9FF74-F6E8-89D0-2582-0986EDABA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E17A5-A77C-4E44-8973-0F1416D8CBAD}"/>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helps students avoid memorized rankings. Algorithm choice depends on context.</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phrase "worst case" matters here. Nearly sorted data can behave very differently from reversed data.</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Shell sort modifies the insertion idea.</a:t>
            </a:r>
          </a:p>
          <a:p>
            <a:endParaRPr lang="en-US" dirty="0"/>
          </a:p>
        </p:txBody>
      </p:sp>
      <p:sp>
        <p:nvSpPr>
          <p:cNvPr id="4" name="Slide Number Placeholder 3">
            <a:extLst>
              <a:ext uri="{FF2B5EF4-FFF2-40B4-BE49-F238E27FC236}">
                <a16:creationId xmlns:a16="http://schemas.microsoft.com/office/drawing/2014/main" id="{B584A9AD-2B43-FF4A-C564-A9F88A1C833C}"/>
              </a:ext>
            </a:extLst>
          </p:cNvPr>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3716484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brief unless the group is ready. Shell sort can be difficult to visualize on a first pass.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important idea is not implementation mastery. It is recognition that a strategy can be improved by changing how comparisons are organized.</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Merge sort uses a more structured divide-and-combine strategy.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26</a:t>
            </a:fld>
            <a:endParaRPr lang="en-US"/>
          </a:p>
        </p:txBody>
      </p:sp>
    </p:spTree>
    <p:extLst>
      <p:ext uri="{BB962C8B-B14F-4D97-AF65-F5344CB8AC3E}">
        <p14:creationId xmlns:p14="http://schemas.microsoft.com/office/powerpoint/2010/main" val="913904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cleanest bridge to recursion, but do not teach recursion in full yet. Say that the course will return to recursive thinking later.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phrase "divide and combine" as the plain-English anchor.</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compare these sorting strategies without turning the lesson into a memory test.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27</a:t>
            </a:fld>
            <a:endParaRPr lang="en-US"/>
          </a:p>
        </p:txBody>
      </p:sp>
    </p:spTree>
    <p:extLst>
      <p:ext uri="{BB962C8B-B14F-4D97-AF65-F5344CB8AC3E}">
        <p14:creationId xmlns:p14="http://schemas.microsoft.com/office/powerpoint/2010/main" val="12368585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this as a strategy table, not a memorization chart. Students should be able to say what the algorithm is trying to do.</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Let’s look at a quick visual to see the differences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28</a:t>
            </a:fld>
            <a:endParaRPr lang="en-US"/>
          </a:p>
        </p:txBody>
      </p:sp>
    </p:spTree>
    <p:extLst>
      <p:ext uri="{BB962C8B-B14F-4D97-AF65-F5344CB8AC3E}">
        <p14:creationId xmlns:p14="http://schemas.microsoft.com/office/powerpoint/2010/main" val="2880225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Choosing a sort depends on the context.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29</a:t>
            </a:fld>
            <a:endParaRPr lang="en-US"/>
          </a:p>
        </p:txBody>
      </p:sp>
    </p:spTree>
    <p:extLst>
      <p:ext uri="{BB962C8B-B14F-4D97-AF65-F5344CB8AC3E}">
        <p14:creationId xmlns:p14="http://schemas.microsoft.com/office/powerpoint/2010/main" val="901378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Mention that professional developers often use built-in library sorting, but understanding sorting algorithms still matters. </a:t>
            </a:r>
          </a:p>
          <a:p>
            <a:r>
              <a:rPr lang="en-US" sz="1200" b="0" kern="1200" dirty="0">
                <a:solidFill>
                  <a:schemeClr val="tx1"/>
                </a:solidFill>
                <a:effectLst/>
                <a:latin typeface="+mn-lt"/>
                <a:ea typeface="+mn-ea"/>
                <a:cs typeface="+mn-cs"/>
              </a:rPr>
              <a:t>It helps developers' reason about performance, assumptions, and data preparation.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simplest algorithm is sometimes the right teaching tool, not the right production choice.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31</a:t>
            </a:fld>
            <a:endParaRPr lang="en-US"/>
          </a:p>
        </p:txBody>
      </p:sp>
    </p:spTree>
    <p:extLst>
      <p:ext uri="{BB962C8B-B14F-4D97-AF65-F5344CB8AC3E}">
        <p14:creationId xmlns:p14="http://schemas.microsoft.com/office/powerpoint/2010/main" val="19947606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important for beginner confidence. Do not imply that bubble sort or linear search are "stupid." They are understandable and sometimes sufficient.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honest answer is context-dependent.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danger is claiming performance without evidence or assumptions.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32</a:t>
            </a:fld>
            <a:endParaRPr lang="en-US"/>
          </a:p>
        </p:txBody>
      </p:sp>
    </p:spTree>
    <p:extLst>
      <p:ext uri="{BB962C8B-B14F-4D97-AF65-F5344CB8AC3E}">
        <p14:creationId xmlns:p14="http://schemas.microsoft.com/office/powerpoint/2010/main" val="843091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supports rubric-aligned communication. Students should learn to add conditions to technical claims.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Sorting matters because it can prepare data for a different search strategy.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33</a:t>
            </a:fld>
            <a:endParaRPr lang="en-US"/>
          </a:p>
        </p:txBody>
      </p:sp>
    </p:spTree>
    <p:extLst>
      <p:ext uri="{BB962C8B-B14F-4D97-AF65-F5344CB8AC3E}">
        <p14:creationId xmlns:p14="http://schemas.microsoft.com/office/powerpoint/2010/main" val="3501332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key decision point. </a:t>
            </a:r>
          </a:p>
          <a:p>
            <a:r>
              <a:rPr lang="en-US" sz="1200" b="0" kern="1200" dirty="0">
                <a:solidFill>
                  <a:schemeClr val="tx1"/>
                </a:solidFill>
                <a:effectLst/>
                <a:latin typeface="+mn-lt"/>
                <a:ea typeface="+mn-ea"/>
                <a:cs typeface="+mn-cs"/>
              </a:rPr>
              <a:t>Sorting just to do one search may not be worth it. </a:t>
            </a:r>
          </a:p>
          <a:p>
            <a:r>
              <a:rPr lang="en-US" sz="1200" b="0" kern="1200" dirty="0">
                <a:solidFill>
                  <a:schemeClr val="tx1"/>
                </a:solidFill>
                <a:effectLst/>
                <a:latin typeface="+mn-lt"/>
                <a:ea typeface="+mn-ea"/>
                <a:cs typeface="+mn-cs"/>
              </a:rPr>
              <a:t>Sorting once before many searches may be useful.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prepares students for binary search without overselling it.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move from arranging data to finding a target.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34</a:t>
            </a:fld>
            <a:endParaRPr lang="en-US"/>
          </a:p>
        </p:txBody>
      </p:sp>
    </p:spTree>
    <p:extLst>
      <p:ext uri="{BB962C8B-B14F-4D97-AF65-F5344CB8AC3E}">
        <p14:creationId xmlns:p14="http://schemas.microsoft.com/office/powerpoint/2010/main" val="19235290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move from arranging data to finding a target.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35</a:t>
            </a:fld>
            <a:endParaRPr lang="en-US"/>
          </a:p>
        </p:txBody>
      </p:sp>
    </p:spTree>
    <p:extLst>
      <p:ext uri="{BB962C8B-B14F-4D97-AF65-F5344CB8AC3E}">
        <p14:creationId xmlns:p14="http://schemas.microsoft.com/office/powerpoint/2010/main" val="34712451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This slide is the bridge into Lab 04. </a:t>
            </a:r>
          </a:p>
          <a:p>
            <a:r>
              <a:rPr lang="en-US" sz="1200" b="0" kern="1200" dirty="0">
                <a:solidFill>
                  <a:schemeClr val="tx1"/>
                </a:solidFill>
                <a:effectLst/>
                <a:latin typeface="+mn-lt"/>
                <a:ea typeface="+mn-ea"/>
                <a:cs typeface="+mn-cs"/>
              </a:rPr>
              <a:t>Stress that linear search works on sorted data too. </a:t>
            </a:r>
          </a:p>
          <a:p>
            <a:r>
              <a:rPr lang="en-US" sz="1200" b="0" kern="1200" dirty="0">
                <a:solidFill>
                  <a:schemeClr val="tx1"/>
                </a:solidFill>
                <a:effectLst/>
                <a:latin typeface="+mn-lt"/>
                <a:ea typeface="+mn-ea"/>
                <a:cs typeface="+mn-cs"/>
              </a:rPr>
              <a:t>It just may not use the extra information.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Start with the search that makes the fewest assumptions.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36</a:t>
            </a:fld>
            <a:endParaRPr lang="en-US"/>
          </a:p>
        </p:txBody>
      </p:sp>
    </p:spTree>
    <p:extLst>
      <p:ext uri="{BB962C8B-B14F-4D97-AF65-F5344CB8AC3E}">
        <p14:creationId xmlns:p14="http://schemas.microsoft.com/office/powerpoint/2010/main" val="25961969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37</a:t>
            </a:fld>
            <a:endParaRPr lang="en-US"/>
          </a:p>
        </p:txBody>
      </p:sp>
    </p:spTree>
    <p:extLst>
      <p:ext uri="{BB962C8B-B14F-4D97-AF65-F5344CB8AC3E}">
        <p14:creationId xmlns:p14="http://schemas.microsoft.com/office/powerpoint/2010/main" val="26333250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38</a:t>
            </a:fld>
            <a:endParaRPr lang="en-US"/>
          </a:p>
        </p:txBody>
      </p:sp>
    </p:spTree>
    <p:extLst>
      <p:ext uri="{BB962C8B-B14F-4D97-AF65-F5344CB8AC3E}">
        <p14:creationId xmlns:p14="http://schemas.microsoft.com/office/powerpoint/2010/main" val="42210797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small list and target near the end. Students should see that </a:t>
            </a:r>
            <a:r>
              <a:rPr lang="en-US" sz="1200" b="0" kern="1200" dirty="0" err="1">
                <a:solidFill>
                  <a:schemeClr val="tx1"/>
                </a:solidFill>
                <a:effectLst/>
                <a:latin typeface="+mn-lt"/>
                <a:ea typeface="+mn-ea"/>
                <a:cs typeface="+mn-cs"/>
              </a:rPr>
              <a:t>thealgorithm</a:t>
            </a:r>
            <a:r>
              <a:rPr lang="en-US" sz="1200" b="0" kern="1200" dirty="0">
                <a:solidFill>
                  <a:schemeClr val="tx1"/>
                </a:solidFill>
                <a:effectLst/>
                <a:latin typeface="+mn-lt"/>
                <a:ea typeface="+mn-ea"/>
                <a:cs typeface="+mn-cs"/>
              </a:rPr>
              <a:t> is simple and reliable but may do a lot of work.</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Linear search is reliable because it does not need sorted data.</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39</a:t>
            </a:fld>
            <a:endParaRPr lang="en-US"/>
          </a:p>
        </p:txBody>
      </p:sp>
    </p:spTree>
    <p:extLst>
      <p:ext uri="{BB962C8B-B14F-4D97-AF65-F5344CB8AC3E}">
        <p14:creationId xmlns:p14="http://schemas.microsoft.com/office/powerpoint/2010/main" val="9329288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Tie this back to Week 2. The amount of work can grow with the number of values.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Emphasize that O(n) does not mean bad. It means the work grows roughly with the input size.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Binary search uses order to reduce the search space.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40</a:t>
            </a:fld>
            <a:endParaRPr lang="en-US"/>
          </a:p>
        </p:txBody>
      </p:sp>
    </p:spTree>
    <p:extLst>
      <p:ext uri="{BB962C8B-B14F-4D97-AF65-F5344CB8AC3E}">
        <p14:creationId xmlns:p14="http://schemas.microsoft.com/office/powerpoint/2010/main" val="20622305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Point to low, high, and mid. Students must understand those three variables for the lab trace.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sorted list and ask which half can be ignored after each comparison.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only works because the list is sorted.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41</a:t>
            </a:fld>
            <a:endParaRPr lang="en-US"/>
          </a:p>
        </p:txBody>
      </p:sp>
    </p:spTree>
    <p:extLst>
      <p:ext uri="{BB962C8B-B14F-4D97-AF65-F5344CB8AC3E}">
        <p14:creationId xmlns:p14="http://schemas.microsoft.com/office/powerpoint/2010/main" val="2239784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central Week 4 slide. Say plainly: binary search on unsorted data is not just less efficient. It is logically unreliable.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trace table makes that logic visible.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42</a:t>
            </a:fld>
            <a:endParaRPr lang="en-US"/>
          </a:p>
        </p:txBody>
      </p:sp>
    </p:spTree>
    <p:extLst>
      <p:ext uri="{BB962C8B-B14F-4D97-AF65-F5344CB8AC3E}">
        <p14:creationId xmlns:p14="http://schemas.microsoft.com/office/powerpoint/2010/main" val="26606885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43</a:t>
            </a:fld>
            <a:endParaRPr lang="en-US"/>
          </a:p>
        </p:txBody>
      </p:sp>
    </p:spTree>
    <p:extLst>
      <p:ext uri="{BB962C8B-B14F-4D97-AF65-F5344CB8AC3E}">
        <p14:creationId xmlns:p14="http://schemas.microsoft.com/office/powerpoint/2010/main" val="26242777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each column. Low and high are the current search boundaries. </a:t>
            </a:r>
          </a:p>
          <a:p>
            <a:r>
              <a:rPr lang="en-US" sz="1200" b="0" kern="1200" dirty="0">
                <a:solidFill>
                  <a:schemeClr val="tx1"/>
                </a:solidFill>
                <a:effectLst/>
                <a:latin typeface="+mn-lt"/>
                <a:ea typeface="+mn-ea"/>
                <a:cs typeface="+mn-cs"/>
              </a:rPr>
              <a:t>Mid is the position being checked. Decision explains which half remains possible.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students can fill in this table, they are showing more than code execution. </a:t>
            </a:r>
          </a:p>
          <a:p>
            <a:r>
              <a:rPr lang="en-US" sz="1200" b="0" kern="1200" dirty="0">
                <a:solidFill>
                  <a:schemeClr val="tx1"/>
                </a:solidFill>
                <a:effectLst/>
                <a:latin typeface="+mn-lt"/>
                <a:ea typeface="+mn-ea"/>
                <a:cs typeface="+mn-cs"/>
              </a:rPr>
              <a:t>They are showing algorithm understanding.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textbook also introduces interpolation search.</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44</a:t>
            </a:fld>
            <a:endParaRPr lang="en-US"/>
          </a:p>
        </p:txBody>
      </p:sp>
    </p:spTree>
    <p:extLst>
      <p:ext uri="{BB962C8B-B14F-4D97-AF65-F5344CB8AC3E}">
        <p14:creationId xmlns:p14="http://schemas.microsoft.com/office/powerpoint/2010/main" val="33629210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brief. </a:t>
            </a:r>
          </a:p>
          <a:p>
            <a:r>
              <a:rPr lang="en-US" sz="1200" b="0" kern="1200" dirty="0">
                <a:solidFill>
                  <a:schemeClr val="tx1"/>
                </a:solidFill>
                <a:effectLst/>
                <a:latin typeface="+mn-lt"/>
                <a:ea typeface="+mn-ea"/>
                <a:cs typeface="+mn-cs"/>
              </a:rPr>
              <a:t>Compare it to looking for a word in a dictionary by estimating where it might appear, not always opening exactly in the middle.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make this a lab requirement unless the group is advanced.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Searching algorithms have different assumptions.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45</a:t>
            </a:fld>
            <a:endParaRPr lang="en-US"/>
          </a:p>
        </p:txBody>
      </p:sp>
    </p:spTree>
    <p:extLst>
      <p:ext uri="{BB962C8B-B14F-4D97-AF65-F5344CB8AC3E}">
        <p14:creationId xmlns:p14="http://schemas.microsoft.com/office/powerpoint/2010/main" val="13853913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table is a good place to reinforce that "best" depends on requirements and assumptions.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connect this back to evidence.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46</a:t>
            </a:fld>
            <a:endParaRPr lang="en-US"/>
          </a:p>
        </p:txBody>
      </p:sp>
    </p:spTree>
    <p:extLst>
      <p:ext uri="{BB962C8B-B14F-4D97-AF65-F5344CB8AC3E}">
        <p14:creationId xmlns:p14="http://schemas.microsoft.com/office/powerpoint/2010/main" val="12904812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be tempted to submit only working code. </a:t>
            </a:r>
          </a:p>
          <a:p>
            <a:r>
              <a:rPr lang="en-US" sz="1200" b="0" kern="1200" dirty="0">
                <a:solidFill>
                  <a:schemeClr val="tx1"/>
                </a:solidFill>
                <a:effectLst/>
                <a:latin typeface="+mn-lt"/>
                <a:ea typeface="+mn-ea"/>
                <a:cs typeface="+mn-cs"/>
              </a:rPr>
              <a:t>This slide explains why the lab requires trace evidence and precondition explanation.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AI can help review search code, but it cannot replace the student’s explanation.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47</a:t>
            </a:fld>
            <a:endParaRPr lang="en-US"/>
          </a:p>
        </p:txBody>
      </p:sp>
    </p:spTree>
    <p:extLst>
      <p:ext uri="{BB962C8B-B14F-4D97-AF65-F5344CB8AC3E}">
        <p14:creationId xmlns:p14="http://schemas.microsoft.com/office/powerpoint/2010/main" val="38025036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an AI-assisted review pattern, not a first-step coding prompt.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should have their own attempt and trace before using it.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Emphasize "Do not rewrite" because the goal is explanation and verification.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textbook's application example shows how search ideas appear in real data.</a:t>
            </a:r>
          </a:p>
          <a:p>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48</a:t>
            </a:fld>
            <a:endParaRPr lang="en-US"/>
          </a:p>
        </p:txBody>
      </p:sp>
    </p:spTree>
    <p:extLst>
      <p:ext uri="{BB962C8B-B14F-4D97-AF65-F5344CB8AC3E}">
        <p14:creationId xmlns:p14="http://schemas.microsoft.com/office/powerpoint/2010/main" val="24901441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49</a:t>
            </a:fld>
            <a:endParaRPr lang="en-US"/>
          </a:p>
        </p:txBody>
      </p:sp>
    </p:spTree>
    <p:extLst>
      <p:ext uri="{BB962C8B-B14F-4D97-AF65-F5344CB8AC3E}">
        <p14:creationId xmlns:p14="http://schemas.microsoft.com/office/powerpoint/2010/main" val="298984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Connect this to the lab suggestions. A key is a value used to identify or find something.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it simple. This is not a database design lecture.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textbook uses primary and foreign keys as a brief example.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50</a:t>
            </a:fld>
            <a:endParaRPr lang="en-US"/>
          </a:p>
        </p:txBody>
      </p:sp>
    </p:spTree>
    <p:extLst>
      <p:ext uri="{BB962C8B-B14F-4D97-AF65-F5344CB8AC3E}">
        <p14:creationId xmlns:p14="http://schemas.microsoft.com/office/powerpoint/2010/main" val="9239966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tiny example:</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student_id</a:t>
            </a:r>
            <a:r>
              <a:rPr lang="en-US" sz="1200" b="0" kern="1200" dirty="0">
                <a:solidFill>
                  <a:schemeClr val="tx1"/>
                </a:solidFill>
                <a:effectLst/>
                <a:latin typeface="+mn-lt"/>
                <a:ea typeface="+mn-ea"/>
                <a:cs typeface="+mn-cs"/>
              </a:rPr>
              <a:t>` identifies a student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student_id</a:t>
            </a:r>
            <a:r>
              <a:rPr lang="en-US" sz="1200" b="0" kern="1200" dirty="0">
                <a:solidFill>
                  <a:schemeClr val="tx1"/>
                </a:solidFill>
                <a:effectLst/>
                <a:latin typeface="+mn-lt"/>
                <a:ea typeface="+mn-ea"/>
                <a:cs typeface="+mn-cs"/>
              </a:rPr>
              <a:t>` in an enrollment record connects that enrollment back to the student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overbuild this. The textbook treatment is brief and conceptual.</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historical database example is about applying search/sort thinking, not writing database code today.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51</a:t>
            </a:fld>
            <a:endParaRPr lang="en-US"/>
          </a:p>
        </p:txBody>
      </p:sp>
    </p:spTree>
    <p:extLst>
      <p:ext uri="{BB962C8B-B14F-4D97-AF65-F5344CB8AC3E}">
        <p14:creationId xmlns:p14="http://schemas.microsoft.com/office/powerpoint/2010/main" val="42878640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keeps the application grounded without adding a new coding requirement.</a:t>
            </a:r>
          </a:p>
          <a:p>
            <a:r>
              <a:rPr lang="en-US" sz="1200" b="0" kern="1200" dirty="0">
                <a:solidFill>
                  <a:schemeClr val="tx1"/>
                </a:solidFill>
                <a:effectLst/>
                <a:latin typeface="+mn-lt"/>
                <a:ea typeface="+mn-ea"/>
                <a:cs typeface="+mn-cs"/>
              </a:rPr>
              <a:t>If time is short, summarize briefly</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same ideas appear in language systems too.</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53</a:t>
            </a:fld>
            <a:endParaRPr lang="en-US"/>
          </a:p>
        </p:txBody>
      </p:sp>
    </p:spTree>
    <p:extLst>
      <p:ext uri="{BB962C8B-B14F-4D97-AF65-F5344CB8AC3E}">
        <p14:creationId xmlns:p14="http://schemas.microsoft.com/office/powerpoint/2010/main" val="40993849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helps future AI/data alignment. Keep it short and practical.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should leave seeing why classic algorithms still matter in modern systems.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show search behavior with a small visible demo.</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54</a:t>
            </a:fld>
            <a:endParaRPr lang="en-US"/>
          </a:p>
        </p:txBody>
      </p:sp>
    </p:spTree>
    <p:extLst>
      <p:ext uri="{BB962C8B-B14F-4D97-AF65-F5344CB8AC3E}">
        <p14:creationId xmlns:p14="http://schemas.microsoft.com/office/powerpoint/2010/main" val="36818077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55</a:t>
            </a:fld>
            <a:endParaRPr lang="en-US"/>
          </a:p>
        </p:txBody>
      </p:sp>
    </p:spTree>
    <p:extLst>
      <p:ext uri="{BB962C8B-B14F-4D97-AF65-F5344CB8AC3E}">
        <p14:creationId xmlns:p14="http://schemas.microsoft.com/office/powerpoint/2010/main" val="31256578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56</a:t>
            </a:fld>
            <a:endParaRPr lang="en-US"/>
          </a:p>
        </p:txBody>
      </p:sp>
    </p:spTree>
    <p:extLst>
      <p:ext uri="{BB962C8B-B14F-4D97-AF65-F5344CB8AC3E}">
        <p14:creationId xmlns:p14="http://schemas.microsoft.com/office/powerpoint/2010/main" val="35689624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rush the trace. </a:t>
            </a:r>
          </a:p>
          <a:p>
            <a:r>
              <a:rPr lang="en-US" sz="1200" b="0" kern="1200" dirty="0">
                <a:solidFill>
                  <a:schemeClr val="tx1"/>
                </a:solidFill>
                <a:effectLst/>
                <a:latin typeface="+mn-lt"/>
                <a:ea typeface="+mn-ea"/>
                <a:cs typeface="+mn-cs"/>
              </a:rPr>
              <a:t>Ask students what low, high, and mid mean before running the binary search explanation.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point is not that binary search "fails every time" on unsorted data. </a:t>
            </a:r>
          </a:p>
          <a:p>
            <a:r>
              <a:rPr lang="en-US" sz="1200" b="0" kern="1200" dirty="0">
                <a:solidFill>
                  <a:schemeClr val="tx1"/>
                </a:solidFill>
                <a:effectLst/>
                <a:latin typeface="+mn-lt"/>
                <a:ea typeface="+mn-ea"/>
                <a:cs typeface="+mn-cs"/>
              </a:rPr>
              <a:t>The point is that it is not trustworthy because its reasoning no longer holds.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Watch the decisions, not just the final result.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57</a:t>
            </a:fld>
            <a:endParaRPr lang="en-US"/>
          </a:p>
        </p:txBody>
      </p:sp>
    </p:spTree>
    <p:extLst>
      <p:ext uri="{BB962C8B-B14F-4D97-AF65-F5344CB8AC3E}">
        <p14:creationId xmlns:p14="http://schemas.microsoft.com/office/powerpoint/2010/main" val="25351171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58</a:t>
            </a:fld>
            <a:endParaRPr lang="en-US"/>
          </a:p>
        </p:txBody>
      </p:sp>
    </p:spTree>
    <p:extLst>
      <p:ext uri="{BB962C8B-B14F-4D97-AF65-F5344CB8AC3E}">
        <p14:creationId xmlns:p14="http://schemas.microsoft.com/office/powerpoint/2010/main" val="12666712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creates the habit students need for the lab. They should explain the algorithm's behavior, not merely report the output.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explanation should name the precondition.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59</a:t>
            </a:fld>
            <a:endParaRPr lang="en-US"/>
          </a:p>
        </p:txBody>
      </p:sp>
    </p:spTree>
    <p:extLst>
      <p:ext uri="{BB962C8B-B14F-4D97-AF65-F5344CB8AC3E}">
        <p14:creationId xmlns:p14="http://schemas.microsoft.com/office/powerpoint/2010/main" val="5566072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sentence pattern students need: algorithm, condition, decision, reason.</a:t>
            </a:r>
          </a:p>
          <a:p>
            <a:r>
              <a:rPr lang="en-US" sz="1200" b="0" kern="1200" dirty="0">
                <a:solidFill>
                  <a:schemeClr val="tx1"/>
                </a:solidFill>
                <a:effectLst/>
                <a:latin typeface="+mn-lt"/>
                <a:ea typeface="+mn-ea"/>
                <a:cs typeface="+mn-cs"/>
              </a:rPr>
              <a:t>Encourage students to use their own words, but the same logical structure.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transfer the demo pattern to Lab 04.</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60</a:t>
            </a:fld>
            <a:endParaRPr lang="en-US"/>
          </a:p>
        </p:txBody>
      </p:sp>
    </p:spTree>
    <p:extLst>
      <p:ext uri="{BB962C8B-B14F-4D97-AF65-F5344CB8AC3E}">
        <p14:creationId xmlns:p14="http://schemas.microsoft.com/office/powerpoint/2010/main" val="11146746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Name the allowed scenario examples only briefly. The demo used books; the lab should use something else such as product IDs, usernames, ticket numbers, course codes, or attendee names.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trace table is part of the submission, not optional decoration.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61</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students use a walkthrough, they must explain the pattern in their own words, how they adapted it, and what they decided themselves.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**Related Artifact:**</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README is where students connect code, timing, and explanation.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62</a:t>
            </a:fld>
            <a:endParaRPr lang="en-US"/>
          </a:p>
        </p:txBody>
      </p:sp>
    </p:spTree>
    <p:extLst>
      <p:ext uri="{BB962C8B-B14F-4D97-AF65-F5344CB8AC3E}">
        <p14:creationId xmlns:p14="http://schemas.microsoft.com/office/powerpoint/2010/main" val="663380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Remind students that code and explanation belong together in the GitHub submission.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README is where they make the algorithm visible.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Clarify what AI may and may not do here.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63</a:t>
            </a:fld>
            <a:endParaRPr lang="en-US"/>
          </a:p>
        </p:txBody>
      </p:sp>
    </p:spTree>
    <p:extLst>
      <p:ext uri="{BB962C8B-B14F-4D97-AF65-F5344CB8AC3E}">
        <p14:creationId xmlns:p14="http://schemas.microsoft.com/office/powerpoint/2010/main" val="41462131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AI writes or revises code, students still own the explanation.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They must be able to explain low, high, mid, found, not found, and the sorted-data precondition.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define what successful work looks like.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64</a:t>
            </a:fld>
            <a:endParaRPr lang="en-US"/>
          </a:p>
        </p:txBody>
      </p:sp>
    </p:spTree>
    <p:extLst>
      <p:ext uri="{BB962C8B-B14F-4D97-AF65-F5344CB8AC3E}">
        <p14:creationId xmlns:p14="http://schemas.microsoft.com/office/powerpoint/2010/main" val="30176542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65</a:t>
            </a:fld>
            <a:endParaRPr lang="en-US"/>
          </a:p>
        </p:txBody>
      </p:sp>
    </p:spTree>
    <p:extLst>
      <p:ext uri="{BB962C8B-B14F-4D97-AF65-F5344CB8AC3E}">
        <p14:creationId xmlns:p14="http://schemas.microsoft.com/office/powerpoint/2010/main" val="42100807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this practical. Students should compare this slide to their README before submitting.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Wrap the week around the main lesson.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66</a:t>
            </a:fld>
            <a:endParaRPr lang="en-US"/>
          </a:p>
        </p:txBody>
      </p:sp>
    </p:spTree>
    <p:extLst>
      <p:ext uri="{BB962C8B-B14F-4D97-AF65-F5344CB8AC3E}">
        <p14:creationId xmlns:p14="http://schemas.microsoft.com/office/powerpoint/2010/main" val="2693333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conceptual close. </a:t>
            </a:r>
          </a:p>
          <a:p>
            <a:r>
              <a:rPr lang="en-US" sz="1200" b="0" kern="1200" dirty="0">
                <a:solidFill>
                  <a:schemeClr val="tx1"/>
                </a:solidFill>
                <a:effectLst/>
                <a:latin typeface="+mn-lt"/>
                <a:ea typeface="+mn-ea"/>
                <a:cs typeface="+mn-cs"/>
              </a:rPr>
              <a:t>Sorting and searching are specific topics, but preconditions and evidence are transferable.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make the immediate next action concrete.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67</a:t>
            </a:fld>
            <a:endParaRPr lang="en-US"/>
          </a:p>
        </p:txBody>
      </p:sp>
    </p:spTree>
    <p:extLst>
      <p:ext uri="{BB962C8B-B14F-4D97-AF65-F5344CB8AC3E}">
        <p14:creationId xmlns:p14="http://schemas.microsoft.com/office/powerpoint/2010/main" val="2184695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Remind students that binary search on unsorted data is intentionally included to reveal the precondition. It is not a trick.</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Prepare students for the next reading once Week 5 reading details are assigned.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68</a:t>
            </a:fld>
            <a:endParaRPr lang="en-US"/>
          </a:p>
        </p:txBody>
      </p:sp>
    </p:spTree>
    <p:extLst>
      <p:ext uri="{BB962C8B-B14F-4D97-AF65-F5344CB8AC3E}">
        <p14:creationId xmlns:p14="http://schemas.microsoft.com/office/powerpoint/2010/main" val="129612217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prepares the Week 3 reading. </a:t>
            </a:r>
          </a:p>
          <a:p>
            <a:r>
              <a:rPr lang="en-US" sz="1200" b="0" kern="1200" dirty="0">
                <a:solidFill>
                  <a:schemeClr val="tx1"/>
                </a:solidFill>
                <a:effectLst/>
                <a:latin typeface="+mn-lt"/>
                <a:ea typeface="+mn-ea"/>
                <a:cs typeface="+mn-cs"/>
              </a:rPr>
              <a:t>The textbook covers a broad set of structures, including Python built-ins, Series, </a:t>
            </a:r>
            <a:r>
              <a:rPr lang="en-US" sz="1200" b="0" kern="1200" dirty="0" err="1">
                <a:solidFill>
                  <a:schemeClr val="tx1"/>
                </a:solidFill>
                <a:effectLst/>
                <a:latin typeface="+mn-lt"/>
                <a:ea typeface="+mn-ea"/>
                <a:cs typeface="+mn-cs"/>
              </a:rPr>
              <a:t>DataFrames</a:t>
            </a:r>
            <a:r>
              <a:rPr lang="en-US" sz="1200" b="0" kern="1200" dirty="0">
                <a:solidFill>
                  <a:schemeClr val="tx1"/>
                </a:solidFill>
                <a:effectLst/>
                <a:latin typeface="+mn-lt"/>
                <a:ea typeface="+mn-ea"/>
                <a:cs typeface="+mn-cs"/>
              </a:rPr>
              <a:t>, matrices, vectors, stacks, queues, and trees. </a:t>
            </a:r>
          </a:p>
          <a:p>
            <a:r>
              <a:rPr lang="en-US" sz="1200" b="0" kern="1200" dirty="0">
                <a:solidFill>
                  <a:schemeClr val="tx1"/>
                </a:solidFill>
                <a:effectLst/>
                <a:latin typeface="+mn-lt"/>
                <a:ea typeface="+mn-ea"/>
                <a:cs typeface="+mn-cs"/>
              </a:rPr>
              <a:t>Students do not need to master all of them before class.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expectation is that students arrive with basic recognition: they should have seen the terms, noticed the operation tables, and be ready to ask which structure fits which problem.</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69</a:t>
            </a:fld>
            <a:endParaRPr lang="en-US"/>
          </a:p>
        </p:txBody>
      </p:sp>
    </p:spTree>
    <p:extLst>
      <p:ext uri="{BB962C8B-B14F-4D97-AF65-F5344CB8AC3E}">
        <p14:creationId xmlns:p14="http://schemas.microsoft.com/office/powerpoint/2010/main" val="21803616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70</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3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p:txBody>
          <a:bodyPr/>
          <a:lstStyle/>
          <a:p>
            <a:r>
              <a:rPr lang="en-US" dirty="0"/>
              <a:t>Introduction To Algorithms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4 – Search and Sort Behavior:</a:t>
            </a:r>
          </a:p>
          <a:p>
            <a:r>
              <a:rPr lang="en-US" i="1" dirty="0"/>
              <a:t>“Preconditions Make Algorithms Honest”</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F3D0C-6852-20C9-BE87-D0EBE466BC7A}"/>
              </a:ext>
            </a:extLst>
          </p:cNvPr>
          <p:cNvSpPr>
            <a:spLocks noGrp="1"/>
          </p:cNvSpPr>
          <p:nvPr>
            <p:ph type="title"/>
          </p:nvPr>
        </p:nvSpPr>
        <p:spPr>
          <a:xfrm>
            <a:off x="965199" y="609600"/>
            <a:ext cx="7648121" cy="1099457"/>
          </a:xfrm>
        </p:spPr>
        <p:txBody>
          <a:bodyPr>
            <a:normAutofit/>
          </a:bodyPr>
          <a:lstStyle/>
          <a:p>
            <a:r>
              <a:rPr lang="en-US" dirty="0"/>
              <a:t>Terms to Remember</a:t>
            </a:r>
          </a:p>
        </p:txBody>
      </p:sp>
      <p:graphicFrame>
        <p:nvGraphicFramePr>
          <p:cNvPr id="6" name="Content Placeholder 5">
            <a:extLst>
              <a:ext uri="{FF2B5EF4-FFF2-40B4-BE49-F238E27FC236}">
                <a16:creationId xmlns:a16="http://schemas.microsoft.com/office/drawing/2014/main" id="{F27554BC-B3B8-5E0F-2BAA-2455CB83A9CF}"/>
              </a:ext>
            </a:extLst>
          </p:cNvPr>
          <p:cNvGraphicFramePr>
            <a:graphicFrameLocks noGrp="1"/>
          </p:cNvGraphicFramePr>
          <p:nvPr>
            <p:ph idx="1"/>
            <p:extLst>
              <p:ext uri="{D42A27DB-BD31-4B8C-83A1-F6EECF244321}">
                <p14:modId xmlns:p14="http://schemas.microsoft.com/office/powerpoint/2010/main" val="939285881"/>
              </p:ext>
            </p:extLst>
          </p:nvPr>
        </p:nvGraphicFramePr>
        <p:xfrm>
          <a:off x="965200" y="2283824"/>
          <a:ext cx="7213601" cy="3568910"/>
        </p:xfrm>
        <a:graphic>
          <a:graphicData uri="http://schemas.openxmlformats.org/drawingml/2006/table">
            <a:tbl>
              <a:tblPr firstRow="1" bandRow="1">
                <a:tableStyleId>{5C22544A-7EE6-4342-B048-85BDC9FD1C3A}</a:tableStyleId>
              </a:tblPr>
              <a:tblGrid>
                <a:gridCol w="1965002">
                  <a:extLst>
                    <a:ext uri="{9D8B030D-6E8A-4147-A177-3AD203B41FA5}">
                      <a16:colId xmlns:a16="http://schemas.microsoft.com/office/drawing/2014/main" val="2834818674"/>
                    </a:ext>
                  </a:extLst>
                </a:gridCol>
                <a:gridCol w="5248599">
                  <a:extLst>
                    <a:ext uri="{9D8B030D-6E8A-4147-A177-3AD203B41FA5}">
                      <a16:colId xmlns:a16="http://schemas.microsoft.com/office/drawing/2014/main" val="2769425876"/>
                    </a:ext>
                  </a:extLst>
                </a:gridCol>
              </a:tblGrid>
              <a:tr h="334133">
                <a:tc>
                  <a:txBody>
                    <a:bodyPr/>
                    <a:lstStyle/>
                    <a:p>
                      <a:r>
                        <a:rPr lang="en-US" sz="1500"/>
                        <a:t>Term</a:t>
                      </a:r>
                    </a:p>
                  </a:txBody>
                  <a:tcPr marL="75939" marR="75939" marT="37970" marB="37970"/>
                </a:tc>
                <a:tc>
                  <a:txBody>
                    <a:bodyPr/>
                    <a:lstStyle/>
                    <a:p>
                      <a:r>
                        <a:rPr lang="en-US" sz="1500"/>
                        <a:t>Brief Meaning</a:t>
                      </a:r>
                    </a:p>
                  </a:txBody>
                  <a:tcPr marL="75939" marR="75939" marT="37970" marB="37970"/>
                </a:tc>
                <a:extLst>
                  <a:ext uri="{0D108BD9-81ED-4DB2-BD59-A6C34878D82A}">
                    <a16:rowId xmlns:a16="http://schemas.microsoft.com/office/drawing/2014/main" val="2585501838"/>
                  </a:ext>
                </a:extLst>
              </a:tr>
              <a:tr h="308820">
                <a:tc>
                  <a:txBody>
                    <a:bodyPr/>
                    <a:lstStyle/>
                    <a:p>
                      <a:r>
                        <a:rPr lang="en-US" sz="1300" b="1" dirty="0"/>
                        <a:t>Sorting algorithm</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A procedure that arranges data into a defined order</a:t>
                      </a:r>
                    </a:p>
                  </a:txBody>
                  <a:tcPr marL="75939" marR="75939" marT="37970" marB="37970"/>
                </a:tc>
                <a:extLst>
                  <a:ext uri="{0D108BD9-81ED-4DB2-BD59-A6C34878D82A}">
                    <a16:rowId xmlns:a16="http://schemas.microsoft.com/office/drawing/2014/main" val="2286987966"/>
                  </a:ext>
                </a:extLst>
              </a:tr>
              <a:tr h="308820">
                <a:tc>
                  <a:txBody>
                    <a:bodyPr/>
                    <a:lstStyle/>
                    <a:p>
                      <a:r>
                        <a:rPr lang="en-US" sz="1300" b="1" dirty="0"/>
                        <a:t>Searching algorithm</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A procedure that tries to locate a target value</a:t>
                      </a:r>
                    </a:p>
                  </a:txBody>
                  <a:tcPr marL="75939" marR="75939" marT="37970" marB="37970"/>
                </a:tc>
                <a:extLst>
                  <a:ext uri="{0D108BD9-81ED-4DB2-BD59-A6C34878D82A}">
                    <a16:rowId xmlns:a16="http://schemas.microsoft.com/office/drawing/2014/main" val="4271159523"/>
                  </a:ext>
                </a:extLst>
              </a:tr>
              <a:tr h="308820">
                <a:tc>
                  <a:txBody>
                    <a:bodyPr/>
                    <a:lstStyle/>
                    <a:p>
                      <a:r>
                        <a:rPr lang="en-US" sz="1300" b="1" dirty="0"/>
                        <a:t>Swap</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Exchanging the values stored in two variables or positions</a:t>
                      </a:r>
                    </a:p>
                  </a:txBody>
                  <a:tcPr marL="75939" marR="75939" marT="37970" marB="37970"/>
                </a:tc>
                <a:extLst>
                  <a:ext uri="{0D108BD9-81ED-4DB2-BD59-A6C34878D82A}">
                    <a16:rowId xmlns:a16="http://schemas.microsoft.com/office/drawing/2014/main" val="3521909586"/>
                  </a:ext>
                </a:extLst>
              </a:tr>
              <a:tr h="300411">
                <a:tc>
                  <a:txBody>
                    <a:bodyPr/>
                    <a:lstStyle/>
                    <a:p>
                      <a:r>
                        <a:rPr lang="en-US" sz="1300" b="1" dirty="0"/>
                        <a:t>Linear search</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Search that checks values one at a time</a:t>
                      </a:r>
                    </a:p>
                  </a:txBody>
                  <a:tcPr marL="75939" marR="75939" marT="37970" marB="37970"/>
                </a:tc>
                <a:extLst>
                  <a:ext uri="{0D108BD9-81ED-4DB2-BD59-A6C34878D82A}">
                    <a16:rowId xmlns:a16="http://schemas.microsoft.com/office/drawing/2014/main" val="1196619962"/>
                  </a:ext>
                </a:extLst>
              </a:tr>
              <a:tr h="300446">
                <a:tc>
                  <a:txBody>
                    <a:bodyPr/>
                    <a:lstStyle/>
                    <a:p>
                      <a:r>
                        <a:rPr lang="en-US" sz="1300" b="1" dirty="0"/>
                        <a:t>Binary search</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Search that repeatedly cuts a sorted search space in half</a:t>
                      </a:r>
                    </a:p>
                  </a:txBody>
                  <a:tcPr marL="75939" marR="75939" marT="37970" marB="37970"/>
                </a:tc>
                <a:extLst>
                  <a:ext uri="{0D108BD9-81ED-4DB2-BD59-A6C34878D82A}">
                    <a16:rowId xmlns:a16="http://schemas.microsoft.com/office/drawing/2014/main" val="3290694328"/>
                  </a:ext>
                </a:extLst>
              </a:tr>
              <a:tr h="308820">
                <a:tc>
                  <a:txBody>
                    <a:bodyPr/>
                    <a:lstStyle/>
                    <a:p>
                      <a:r>
                        <a:rPr lang="en-US" sz="1300" b="1" dirty="0"/>
                        <a:t>Interpolation search</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dirty="0"/>
                        <a:t>Search that estimates likely target position from value distribution</a:t>
                      </a:r>
                    </a:p>
                  </a:txBody>
                  <a:tcPr marL="75939" marR="75939" marT="37970" marB="37970"/>
                </a:tc>
                <a:extLst>
                  <a:ext uri="{0D108BD9-81ED-4DB2-BD59-A6C34878D82A}">
                    <a16:rowId xmlns:a16="http://schemas.microsoft.com/office/drawing/2014/main" val="2245940545"/>
                  </a:ext>
                </a:extLst>
              </a:tr>
              <a:tr h="308820">
                <a:tc>
                  <a:txBody>
                    <a:bodyPr/>
                    <a:lstStyle/>
                    <a:p>
                      <a:r>
                        <a:rPr lang="en-US" sz="1300" b="1" dirty="0"/>
                        <a:t>Precondition</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Something that must be true before an algorithm is valid</a:t>
                      </a:r>
                    </a:p>
                  </a:txBody>
                  <a:tcPr marL="75939" marR="75939" marT="37970" marB="37970"/>
                </a:tc>
                <a:extLst>
                  <a:ext uri="{0D108BD9-81ED-4DB2-BD59-A6C34878D82A}">
                    <a16:rowId xmlns:a16="http://schemas.microsoft.com/office/drawing/2014/main" val="2857803298"/>
                  </a:ext>
                </a:extLst>
              </a:tr>
              <a:tr h="3088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1" dirty="0"/>
                        <a:t>Primary key</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A value that uniquely identifies a record</a:t>
                      </a:r>
                    </a:p>
                  </a:txBody>
                  <a:tcPr marL="75939" marR="75939" marT="37970" marB="37970"/>
                </a:tc>
                <a:extLst>
                  <a:ext uri="{0D108BD9-81ED-4DB2-BD59-A6C34878D82A}">
                    <a16:rowId xmlns:a16="http://schemas.microsoft.com/office/drawing/2014/main" val="2915929785"/>
                  </a:ext>
                </a:extLst>
              </a:tr>
              <a:tr h="308820">
                <a:tc>
                  <a:txBody>
                    <a:bodyPr/>
                    <a:lstStyle/>
                    <a:p>
                      <a:r>
                        <a:rPr lang="en-US" sz="1300" b="1" dirty="0"/>
                        <a:t>Foreign key</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A value that connects one record to another related record</a:t>
                      </a:r>
                    </a:p>
                  </a:txBody>
                  <a:tcPr marL="75939" marR="75939" marT="37970" marB="37970"/>
                </a:tc>
                <a:extLst>
                  <a:ext uri="{0D108BD9-81ED-4DB2-BD59-A6C34878D82A}">
                    <a16:rowId xmlns:a16="http://schemas.microsoft.com/office/drawing/2014/main" val="1497806748"/>
                  </a:ext>
                </a:extLst>
              </a:tr>
              <a:tr h="308820">
                <a:tc>
                  <a:txBody>
                    <a:bodyPr/>
                    <a:lstStyle/>
                    <a:p>
                      <a:r>
                        <a:rPr lang="en-US" sz="1300" b="1" dirty="0"/>
                        <a:t>NLP</a:t>
                      </a:r>
                    </a:p>
                  </a:txBody>
                  <a:tcPr marL="75939" marR="75939" marT="37970" marB="3797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dirty="0">
                          <a:solidFill>
                            <a:schemeClr val="dk1"/>
                          </a:solidFill>
                          <a:effectLst/>
                          <a:latin typeface="+mn-lt"/>
                          <a:ea typeface="+mn-ea"/>
                          <a:cs typeface="+mn-cs"/>
                        </a:rPr>
                        <a:t>Natural Language Processing; </a:t>
                      </a:r>
                      <a:br>
                        <a:rPr lang="en-US" sz="1300" b="0" kern="1200" dirty="0">
                          <a:solidFill>
                            <a:schemeClr val="dk1"/>
                          </a:solidFill>
                          <a:effectLst/>
                          <a:latin typeface="+mn-lt"/>
                          <a:ea typeface="+mn-ea"/>
                          <a:cs typeface="+mn-cs"/>
                        </a:rPr>
                      </a:br>
                      <a:r>
                        <a:rPr lang="en-US" sz="1300" b="0" kern="1200" dirty="0">
                          <a:solidFill>
                            <a:schemeClr val="dk1"/>
                          </a:solidFill>
                          <a:effectLst/>
                          <a:latin typeface="+mn-lt"/>
                          <a:ea typeface="+mn-ea"/>
                          <a:cs typeface="+mn-cs"/>
                        </a:rPr>
                        <a:t>computing work involving human language</a:t>
                      </a:r>
                    </a:p>
                  </a:txBody>
                  <a:tcPr marL="75939" marR="75939" marT="37970" marB="37970"/>
                </a:tc>
                <a:extLst>
                  <a:ext uri="{0D108BD9-81ED-4DB2-BD59-A6C34878D82A}">
                    <a16:rowId xmlns:a16="http://schemas.microsoft.com/office/drawing/2014/main" val="2095033334"/>
                  </a:ext>
                </a:extLst>
              </a:tr>
            </a:tbl>
          </a:graphicData>
        </a:graphic>
      </p:graphicFrame>
    </p:spTree>
    <p:extLst>
      <p:ext uri="{BB962C8B-B14F-4D97-AF65-F5344CB8AC3E}">
        <p14:creationId xmlns:p14="http://schemas.microsoft.com/office/powerpoint/2010/main" val="49679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3048329" cy="3880773"/>
          </a:xfrm>
        </p:spPr>
        <p:txBody>
          <a:bodyPr>
            <a:normAutofit/>
          </a:bodyPr>
          <a:lstStyle/>
          <a:p>
            <a:pPr>
              <a:lnSpc>
                <a:spcPct val="90000"/>
              </a:lnSpc>
            </a:pPr>
            <a:r>
              <a:rPr lang="en-US" sz="1500"/>
              <a:t>Sorting as preparation for efficient search</a:t>
            </a:r>
          </a:p>
          <a:p>
            <a:pPr>
              <a:lnSpc>
                <a:spcPct val="90000"/>
              </a:lnSpc>
            </a:pPr>
            <a:r>
              <a:rPr lang="en-US" sz="1500"/>
              <a:t>Variable swapping</a:t>
            </a:r>
          </a:p>
          <a:p>
            <a:pPr>
              <a:lnSpc>
                <a:spcPct val="90000"/>
              </a:lnSpc>
            </a:pPr>
            <a:r>
              <a:rPr lang="en-US" sz="1500"/>
              <a:t>Bubble, selection, insertion, merge, and shell sort recognition</a:t>
            </a:r>
          </a:p>
          <a:p>
            <a:pPr>
              <a:lnSpc>
                <a:spcPct val="90000"/>
              </a:lnSpc>
            </a:pPr>
            <a:r>
              <a:rPr lang="en-US" sz="1500"/>
              <a:t>Linear search</a:t>
            </a:r>
          </a:p>
          <a:p>
            <a:pPr>
              <a:lnSpc>
                <a:spcPct val="90000"/>
              </a:lnSpc>
            </a:pPr>
            <a:r>
              <a:rPr lang="en-US" sz="1500"/>
              <a:t>Binary search</a:t>
            </a:r>
          </a:p>
          <a:p>
            <a:pPr>
              <a:lnSpc>
                <a:spcPct val="90000"/>
              </a:lnSpc>
            </a:pPr>
            <a:r>
              <a:rPr lang="en-US" sz="1500"/>
              <a:t>Sorted-data precondition</a:t>
            </a:r>
          </a:p>
          <a:p>
            <a:pPr>
              <a:lnSpc>
                <a:spcPct val="90000"/>
              </a:lnSpc>
            </a:pPr>
            <a:r>
              <a:rPr lang="en-US" sz="1500"/>
              <a:t>Trace tables as evidence</a:t>
            </a:r>
          </a:p>
          <a:p>
            <a:pPr>
              <a:lnSpc>
                <a:spcPct val="90000"/>
              </a:lnSpc>
            </a:pPr>
            <a:r>
              <a:rPr lang="en-US" sz="1500"/>
              <a:t>Primary/foreign key lookup as a brief application context</a:t>
            </a:r>
          </a:p>
        </p:txBody>
      </p:sp>
      <p:pic>
        <p:nvPicPr>
          <p:cNvPr id="28" name="Picture 27" descr="Computer script on a screen">
            <a:extLst>
              <a:ext uri="{FF2B5EF4-FFF2-40B4-BE49-F238E27FC236}">
                <a16:creationId xmlns:a16="http://schemas.microsoft.com/office/drawing/2014/main" id="{38D50984-DDEB-A743-533E-89C11F357B8D}"/>
              </a:ext>
            </a:extLst>
          </p:cNvPr>
          <p:cNvPicPr>
            <a:picLocks noChangeAspect="1"/>
          </p:cNvPicPr>
          <p:nvPr/>
        </p:nvPicPr>
        <p:blipFill>
          <a:blip r:embed="rId3"/>
          <a:srcRect l="10423"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6D73-36C1-785B-BF1E-F70A56E45447}"/>
              </a:ext>
            </a:extLst>
          </p:cNvPr>
          <p:cNvSpPr>
            <a:spLocks noGrp="1"/>
          </p:cNvSpPr>
          <p:nvPr>
            <p:ph type="title"/>
          </p:nvPr>
        </p:nvSpPr>
        <p:spPr>
          <a:xfrm>
            <a:off x="508000" y="609600"/>
            <a:ext cx="6447501" cy="1320800"/>
          </a:xfrm>
        </p:spPr>
        <p:txBody>
          <a:bodyPr anchor="t">
            <a:normAutofit/>
          </a:bodyPr>
          <a:lstStyle/>
          <a:p>
            <a:r>
              <a:rPr lang="en-US"/>
              <a:t>What We Will “Touch On” and Revisit Later</a:t>
            </a:r>
            <a:endParaRPr lang="en-US" dirty="0"/>
          </a:p>
        </p:txBody>
      </p:sp>
      <p:sp>
        <p:nvSpPr>
          <p:cNvPr id="24" name="Content Placeholder 2">
            <a:extLst>
              <a:ext uri="{FF2B5EF4-FFF2-40B4-BE49-F238E27FC236}">
                <a16:creationId xmlns:a16="http://schemas.microsoft.com/office/drawing/2014/main" id="{A8A78D41-48A5-98C1-1F53-FB08BC3F6B1D}"/>
              </a:ext>
            </a:extLst>
          </p:cNvPr>
          <p:cNvSpPr>
            <a:spLocks noGrp="1"/>
          </p:cNvSpPr>
          <p:nvPr>
            <p:ph idx="1"/>
          </p:nvPr>
        </p:nvSpPr>
        <p:spPr>
          <a:xfrm>
            <a:off x="508000" y="2160590"/>
            <a:ext cx="3915323" cy="3701270"/>
          </a:xfrm>
        </p:spPr>
        <p:txBody>
          <a:bodyPr>
            <a:normAutofit/>
          </a:bodyPr>
          <a:lstStyle/>
          <a:p>
            <a:pPr marL="0" indent="0">
              <a:buNone/>
            </a:pPr>
            <a:r>
              <a:rPr lang="en-US" dirty="0"/>
              <a:t>Deeper recursion in merge sort</a:t>
            </a:r>
          </a:p>
          <a:p>
            <a:pPr marL="0" indent="0">
              <a:buNone/>
            </a:pPr>
            <a:r>
              <a:rPr lang="en-US" dirty="0"/>
              <a:t>Ranking and similarity</a:t>
            </a:r>
          </a:p>
          <a:p>
            <a:pPr marL="0" indent="0">
              <a:buNone/>
            </a:pPr>
            <a:r>
              <a:rPr lang="en-US" dirty="0"/>
              <a:t>Hashing and lookup</a:t>
            </a:r>
          </a:p>
          <a:p>
            <a:pPr marL="0" indent="0">
              <a:buNone/>
            </a:pPr>
            <a:r>
              <a:rPr lang="en-US" dirty="0"/>
              <a:t>Database indexing</a:t>
            </a:r>
          </a:p>
          <a:p>
            <a:pPr marL="0" indent="0">
              <a:buNone/>
            </a:pPr>
            <a:r>
              <a:rPr lang="en-US" dirty="0"/>
              <a:t>Graph and tree traversal</a:t>
            </a:r>
          </a:p>
          <a:p>
            <a:pPr marL="0" indent="0">
              <a:buNone/>
            </a:pPr>
            <a:r>
              <a:rPr lang="en-US" dirty="0"/>
              <a:t>Advanced NLP and data-modeling applications</a:t>
            </a:r>
          </a:p>
        </p:txBody>
      </p:sp>
      <p:pic>
        <p:nvPicPr>
          <p:cNvPr id="7" name="Graphic 6" descr="Disconnected">
            <a:extLst>
              <a:ext uri="{FF2B5EF4-FFF2-40B4-BE49-F238E27FC236}">
                <a16:creationId xmlns:a16="http://schemas.microsoft.com/office/drawing/2014/main" id="{634669AE-52A5-F086-9BDE-17982042AD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672713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8CC1AB3-4E10-DC1D-19E9-262AA9AD4807}"/>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Review Coding Lab</a:t>
            </a:r>
          </a:p>
        </p:txBody>
      </p:sp>
      <p:pic>
        <p:nvPicPr>
          <p:cNvPr id="5" name="Picture 4" descr="Computer script on a screen">
            <a:extLst>
              <a:ext uri="{FF2B5EF4-FFF2-40B4-BE49-F238E27FC236}">
                <a16:creationId xmlns:a16="http://schemas.microsoft.com/office/drawing/2014/main" id="{9DC68C51-4C04-4FB3-8831-97CAFAF56E58}"/>
              </a:ext>
            </a:extLst>
          </p:cNvPr>
          <p:cNvPicPr>
            <a:picLocks noChangeAspect="1"/>
          </p:cNvPicPr>
          <p:nvPr/>
        </p:nvPicPr>
        <p:blipFill>
          <a:blip r:embed="rId3"/>
          <a:srcRect t="5843" b="6549"/>
          <a:stretch>
            <a:fillRect/>
          </a:stretch>
        </p:blipFill>
        <p:spPr>
          <a:xfrm>
            <a:off x="739476" y="609600"/>
            <a:ext cx="6216024" cy="3635025"/>
          </a:xfrm>
          <a:prstGeom prst="rect">
            <a:avLst/>
          </a:prstGeom>
        </p:spPr>
      </p:pic>
    </p:spTree>
    <p:extLst>
      <p:ext uri="{BB962C8B-B14F-4D97-AF65-F5344CB8AC3E}">
        <p14:creationId xmlns:p14="http://schemas.microsoft.com/office/powerpoint/2010/main" val="417527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16879-C24F-12E9-F810-6CB9C4BFAB98}"/>
              </a:ext>
            </a:extLst>
          </p:cNvPr>
          <p:cNvSpPr>
            <a:spLocks noGrp="1"/>
          </p:cNvSpPr>
          <p:nvPr>
            <p:ph type="title"/>
          </p:nvPr>
        </p:nvSpPr>
        <p:spPr>
          <a:xfrm>
            <a:off x="508000" y="609600"/>
            <a:ext cx="6447501" cy="1320800"/>
          </a:xfrm>
        </p:spPr>
        <p:txBody>
          <a:bodyPr>
            <a:normAutofit/>
          </a:bodyPr>
          <a:lstStyle/>
          <a:p>
            <a:r>
              <a:rPr lang="en-US" dirty="0"/>
              <a:t>Review: </a:t>
            </a:r>
            <a:br>
              <a:rPr lang="en-US" dirty="0"/>
            </a:br>
            <a:r>
              <a:rPr lang="en-US" dirty="0"/>
              <a:t>What Lab 03 Taught Us</a:t>
            </a:r>
          </a:p>
        </p:txBody>
      </p:sp>
      <p:graphicFrame>
        <p:nvGraphicFramePr>
          <p:cNvPr id="5" name="Content Placeholder 2">
            <a:extLst>
              <a:ext uri="{FF2B5EF4-FFF2-40B4-BE49-F238E27FC236}">
                <a16:creationId xmlns:a16="http://schemas.microsoft.com/office/drawing/2014/main" id="{A5DB8EF8-7380-591B-7DE8-88F9DC4878C8}"/>
              </a:ext>
            </a:extLst>
          </p:cNvPr>
          <p:cNvGraphicFramePr>
            <a:graphicFrameLocks noGrp="1"/>
          </p:cNvGraphicFramePr>
          <p:nvPr>
            <p:ph idx="1"/>
            <p:extLst>
              <p:ext uri="{D42A27DB-BD31-4B8C-83A1-F6EECF244321}">
                <p14:modId xmlns:p14="http://schemas.microsoft.com/office/powerpoint/2010/main" val="1517276465"/>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1397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1FA1E9A-A320-AF42-F414-B26C9B324438}"/>
              </a:ext>
            </a:extLst>
          </p:cNvPr>
          <p:cNvSpPr>
            <a:spLocks noGrp="1"/>
          </p:cNvSpPr>
          <p:nvPr>
            <p:ph type="title"/>
          </p:nvPr>
        </p:nvSpPr>
        <p:spPr>
          <a:xfrm>
            <a:off x="482600" y="816638"/>
            <a:ext cx="2525519" cy="5224724"/>
          </a:xfrm>
        </p:spPr>
        <p:txBody>
          <a:bodyPr anchor="ctr">
            <a:normAutofit/>
          </a:bodyPr>
          <a:lstStyle/>
          <a:p>
            <a:r>
              <a:rPr lang="en-US" dirty="0"/>
              <a:t>Today’s Question</a:t>
            </a:r>
          </a:p>
        </p:txBody>
      </p:sp>
      <p:sp>
        <p:nvSpPr>
          <p:cNvPr id="3" name="Content Placeholder 2">
            <a:extLst>
              <a:ext uri="{FF2B5EF4-FFF2-40B4-BE49-F238E27FC236}">
                <a16:creationId xmlns:a16="http://schemas.microsoft.com/office/drawing/2014/main" id="{874F45FF-FF75-2BF2-8B20-6A1AB01A627A}"/>
              </a:ext>
            </a:extLst>
          </p:cNvPr>
          <p:cNvSpPr>
            <a:spLocks noGrp="1"/>
          </p:cNvSpPr>
          <p:nvPr>
            <p:ph idx="1"/>
          </p:nvPr>
        </p:nvSpPr>
        <p:spPr>
          <a:xfrm>
            <a:off x="3709855" y="816638"/>
            <a:ext cx="3245645" cy="5224724"/>
          </a:xfrm>
        </p:spPr>
        <p:txBody>
          <a:bodyPr anchor="ctr">
            <a:normAutofit/>
          </a:bodyPr>
          <a:lstStyle/>
          <a:p>
            <a:pPr marL="0" indent="0">
              <a:buNone/>
            </a:pPr>
            <a:r>
              <a:rPr lang="en-US" sz="2000" b="1" dirty="0"/>
              <a:t>When is a faster algorithm not actually better?</a:t>
            </a:r>
            <a:endParaRPr lang="en-US" sz="2000" dirty="0"/>
          </a:p>
        </p:txBody>
      </p:sp>
    </p:spTree>
    <p:extLst>
      <p:ext uri="{BB962C8B-B14F-4D97-AF65-F5344CB8AC3E}">
        <p14:creationId xmlns:p14="http://schemas.microsoft.com/office/powerpoint/2010/main" val="396491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B5BB2258-2A42-7358-855B-3C842DFCA6C1}"/>
              </a:ext>
            </a:extLst>
          </p:cNvPr>
          <p:cNvSpPr>
            <a:spLocks noGrp="1"/>
          </p:cNvSpPr>
          <p:nvPr>
            <p:ph type="title"/>
          </p:nvPr>
        </p:nvSpPr>
        <p:spPr>
          <a:xfrm>
            <a:off x="489360" y="1382486"/>
            <a:ext cx="2660686" cy="4093028"/>
          </a:xfrm>
        </p:spPr>
        <p:txBody>
          <a:bodyPr anchor="ctr">
            <a:normAutofit/>
          </a:bodyPr>
          <a:lstStyle/>
          <a:p>
            <a:r>
              <a:rPr lang="en-US" sz="3800"/>
              <a:t>What Counts as Success Today</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E8FB340-C6CC-FE68-2C30-7F4BB19196CF}"/>
              </a:ext>
            </a:extLst>
          </p:cNvPr>
          <p:cNvGraphicFramePr>
            <a:graphicFrameLocks noGrp="1"/>
          </p:cNvGraphicFramePr>
          <p:nvPr>
            <p:ph idx="1"/>
            <p:extLst>
              <p:ext uri="{D42A27DB-BD31-4B8C-83A1-F6EECF244321}">
                <p14:modId xmlns:p14="http://schemas.microsoft.com/office/powerpoint/2010/main" val="1821957797"/>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066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8E199-24CC-F2A9-3BB2-98BF4F87629E}"/>
              </a:ext>
            </a:extLst>
          </p:cNvPr>
          <p:cNvSpPr>
            <a:spLocks noGrp="1"/>
          </p:cNvSpPr>
          <p:nvPr>
            <p:ph type="title"/>
          </p:nvPr>
        </p:nvSpPr>
        <p:spPr>
          <a:xfrm>
            <a:off x="2089535" y="609600"/>
            <a:ext cx="4865966" cy="1320800"/>
          </a:xfrm>
        </p:spPr>
        <p:txBody>
          <a:bodyPr>
            <a:normAutofit/>
          </a:bodyPr>
          <a:lstStyle/>
          <a:p>
            <a:r>
              <a:rPr lang="en-US" dirty="0"/>
              <a:t>Preconditions Make Algorithms Honest</a:t>
            </a:r>
          </a:p>
        </p:txBody>
      </p:sp>
      <p:pic>
        <p:nvPicPr>
          <p:cNvPr id="5" name="Picture 4" descr="Programming data on computer monitor">
            <a:extLst>
              <a:ext uri="{FF2B5EF4-FFF2-40B4-BE49-F238E27FC236}">
                <a16:creationId xmlns:a16="http://schemas.microsoft.com/office/drawing/2014/main" id="{9EC78046-150D-5C0F-FCA3-EFD0C20B7CAC}"/>
              </a:ext>
            </a:extLst>
          </p:cNvPr>
          <p:cNvPicPr>
            <a:picLocks noChangeAspect="1"/>
          </p:cNvPicPr>
          <p:nvPr/>
        </p:nvPicPr>
        <p:blipFill>
          <a:blip r:embed="rId3">
            <a:duotone>
              <a:prstClr val="black"/>
              <a:schemeClr val="tx2">
                <a:tint val="45000"/>
                <a:satMod val="400000"/>
              </a:schemeClr>
            </a:duotone>
          </a:blip>
          <a:srcRect l="41816" r="38279"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F59E1567-FDB1-5C30-F860-C4D913391CDF}"/>
              </a:ext>
            </a:extLst>
          </p:cNvPr>
          <p:cNvSpPr>
            <a:spLocks noGrp="1"/>
          </p:cNvSpPr>
          <p:nvPr>
            <p:ph idx="1"/>
          </p:nvPr>
        </p:nvSpPr>
        <p:spPr>
          <a:xfrm>
            <a:off x="2089535" y="2160589"/>
            <a:ext cx="4865966" cy="3880773"/>
          </a:xfrm>
        </p:spPr>
        <p:txBody>
          <a:bodyPr>
            <a:normAutofit/>
          </a:bodyPr>
          <a:lstStyle/>
          <a:p>
            <a:pPr marL="0" indent="0">
              <a:buNone/>
            </a:pPr>
            <a:r>
              <a:rPr lang="en-US" dirty="0"/>
              <a:t>A precondition is something that must be true before the algorithm is valid.</a:t>
            </a:r>
          </a:p>
          <a:p>
            <a:pPr marL="0" indent="0">
              <a:buNone/>
            </a:pPr>
            <a:endParaRPr lang="en-US" dirty="0"/>
          </a:p>
          <a:p>
            <a:pPr marL="0" indent="0">
              <a:buNone/>
            </a:pPr>
            <a:r>
              <a:rPr lang="en-US" dirty="0"/>
              <a:t>Examples:</a:t>
            </a:r>
          </a:p>
          <a:p>
            <a:r>
              <a:rPr lang="en-US" dirty="0"/>
              <a:t>binary search requires sorted data</a:t>
            </a:r>
          </a:p>
          <a:p>
            <a:r>
              <a:rPr lang="en-US" dirty="0"/>
              <a:t>division requires a non-zero divisor</a:t>
            </a:r>
          </a:p>
          <a:p>
            <a:r>
              <a:rPr lang="en-US" dirty="0"/>
              <a:t>a username lookup requires comparable username values</a:t>
            </a:r>
          </a:p>
          <a:p>
            <a:r>
              <a:rPr lang="en-US" dirty="0"/>
              <a:t>a date sort requires consistent date representation</a:t>
            </a:r>
          </a:p>
        </p:txBody>
      </p:sp>
    </p:spTree>
    <p:extLst>
      <p:ext uri="{BB962C8B-B14F-4D97-AF65-F5344CB8AC3E}">
        <p14:creationId xmlns:p14="http://schemas.microsoft.com/office/powerpoint/2010/main" val="361195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1BCCF24-53DB-1946-9DC7-F4491663CFF8}"/>
              </a:ext>
            </a:extLst>
          </p:cNvPr>
          <p:cNvSpPr>
            <a:spLocks noGrp="1"/>
          </p:cNvSpPr>
          <p:nvPr>
            <p:ph type="title"/>
          </p:nvPr>
        </p:nvSpPr>
        <p:spPr>
          <a:xfrm>
            <a:off x="482600" y="816638"/>
            <a:ext cx="2525519" cy="5224724"/>
          </a:xfrm>
        </p:spPr>
        <p:txBody>
          <a:bodyPr anchor="ctr">
            <a:normAutofit/>
          </a:bodyPr>
          <a:lstStyle/>
          <a:p>
            <a:r>
              <a:rPr lang="en-US" dirty="0"/>
              <a:t>Searching And Sorting Work Together</a:t>
            </a:r>
          </a:p>
        </p:txBody>
      </p:sp>
      <p:sp>
        <p:nvSpPr>
          <p:cNvPr id="3" name="Content Placeholder 2">
            <a:extLst>
              <a:ext uri="{FF2B5EF4-FFF2-40B4-BE49-F238E27FC236}">
                <a16:creationId xmlns:a16="http://schemas.microsoft.com/office/drawing/2014/main" id="{A77E82FF-01A0-28C9-A7E6-44AB537D7792}"/>
              </a:ext>
            </a:extLst>
          </p:cNvPr>
          <p:cNvSpPr>
            <a:spLocks noGrp="1"/>
          </p:cNvSpPr>
          <p:nvPr>
            <p:ph idx="1"/>
          </p:nvPr>
        </p:nvSpPr>
        <p:spPr>
          <a:xfrm>
            <a:off x="3490721" y="816638"/>
            <a:ext cx="3464779" cy="5224724"/>
          </a:xfrm>
        </p:spPr>
        <p:txBody>
          <a:bodyPr anchor="ctr">
            <a:normAutofit/>
          </a:bodyPr>
          <a:lstStyle/>
          <a:p>
            <a:pPr marL="0" indent="0">
              <a:buNone/>
            </a:pPr>
            <a:r>
              <a:rPr lang="en-US" dirty="0"/>
              <a:t>Sorting asks:</a:t>
            </a:r>
          </a:p>
          <a:p>
            <a:r>
              <a:rPr lang="en-US" dirty="0"/>
              <a:t>“How should the data be ordered?”</a:t>
            </a:r>
          </a:p>
          <a:p>
            <a:pPr marL="0" indent="0">
              <a:buNone/>
            </a:pPr>
            <a:endParaRPr lang="en-US" dirty="0"/>
          </a:p>
          <a:p>
            <a:pPr marL="0" indent="0">
              <a:buNone/>
            </a:pPr>
            <a:r>
              <a:rPr lang="en-US" dirty="0"/>
              <a:t>Searching asks:</a:t>
            </a:r>
          </a:p>
          <a:p>
            <a:r>
              <a:rPr lang="en-US" dirty="0"/>
              <a:t>“How can we find the target?”</a:t>
            </a:r>
          </a:p>
          <a:p>
            <a:pPr marL="0" indent="0">
              <a:buNone/>
            </a:pPr>
            <a:endParaRPr lang="en-US" dirty="0"/>
          </a:p>
          <a:p>
            <a:pPr marL="0" indent="0">
              <a:buNone/>
            </a:pPr>
            <a:r>
              <a:rPr lang="en-US" dirty="0"/>
              <a:t>The order of the data can change the search strategy.</a:t>
            </a:r>
          </a:p>
        </p:txBody>
      </p:sp>
    </p:spTree>
    <p:extLst>
      <p:ext uri="{BB962C8B-B14F-4D97-AF65-F5344CB8AC3E}">
        <p14:creationId xmlns:p14="http://schemas.microsoft.com/office/powerpoint/2010/main" val="2839902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413C-E473-7BB1-5818-2D164CEF8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30655-1F44-A7A1-AD87-667B476811F2}"/>
              </a:ext>
            </a:extLst>
          </p:cNvPr>
          <p:cNvSpPr>
            <a:spLocks noGrp="1"/>
          </p:cNvSpPr>
          <p:nvPr>
            <p:ph type="title"/>
          </p:nvPr>
        </p:nvSpPr>
        <p:spPr>
          <a:xfrm>
            <a:off x="2089535" y="1189369"/>
            <a:ext cx="4865966" cy="745462"/>
          </a:xfrm>
        </p:spPr>
        <p:txBody>
          <a:bodyPr>
            <a:normAutofit/>
          </a:bodyPr>
          <a:lstStyle/>
          <a:p>
            <a:r>
              <a:rPr lang="en-US" dirty="0"/>
              <a:t>Four Main Areas</a:t>
            </a:r>
          </a:p>
        </p:txBody>
      </p:sp>
      <p:pic>
        <p:nvPicPr>
          <p:cNvPr id="5" name="Picture 4">
            <a:extLst>
              <a:ext uri="{FF2B5EF4-FFF2-40B4-BE49-F238E27FC236}">
                <a16:creationId xmlns:a16="http://schemas.microsoft.com/office/drawing/2014/main" id="{6A1B117B-7548-ADF5-1699-217128A6553A}"/>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F729E677-A23F-A29E-45EE-905BCE0D8D91}"/>
              </a:ext>
            </a:extLst>
          </p:cNvPr>
          <p:cNvSpPr>
            <a:spLocks noGrp="1"/>
          </p:cNvSpPr>
          <p:nvPr>
            <p:ph idx="1"/>
          </p:nvPr>
        </p:nvSpPr>
        <p:spPr>
          <a:xfrm>
            <a:off x="2089535" y="2160589"/>
            <a:ext cx="4865966" cy="3880773"/>
          </a:xfrm>
        </p:spPr>
        <p:txBody>
          <a:bodyPr>
            <a:normAutofit/>
          </a:bodyPr>
          <a:lstStyle/>
          <a:p>
            <a:pPr marL="0" indent="0">
              <a:buNone/>
            </a:pPr>
            <a:r>
              <a:rPr lang="en-US" dirty="0"/>
              <a:t>The reading covers:</a:t>
            </a:r>
          </a:p>
          <a:p>
            <a:pPr>
              <a:buFont typeface="+mj-lt"/>
              <a:buAutoNum type="arabicPeriod"/>
            </a:pPr>
            <a:r>
              <a:rPr lang="en-US" dirty="0"/>
              <a:t>sorting algorithms</a:t>
            </a:r>
          </a:p>
          <a:p>
            <a:pPr>
              <a:buFont typeface="+mj-lt"/>
              <a:buAutoNum type="arabicPeriod"/>
            </a:pPr>
            <a:r>
              <a:rPr lang="en-US" dirty="0"/>
              <a:t>searching algorithms</a:t>
            </a:r>
          </a:p>
          <a:p>
            <a:pPr>
              <a:buFont typeface="+mj-lt"/>
              <a:buAutoNum type="arabicPeriod"/>
            </a:pPr>
            <a:r>
              <a:rPr lang="en-US" dirty="0"/>
              <a:t>performance analysis</a:t>
            </a:r>
          </a:p>
          <a:p>
            <a:pPr>
              <a:buFont typeface="+mj-lt"/>
              <a:buAutoNum type="arabicPeriod"/>
            </a:pPr>
            <a:r>
              <a:rPr lang="en-US" dirty="0"/>
              <a:t>practical applications</a:t>
            </a:r>
          </a:p>
          <a:p>
            <a:pPr marL="0" indent="0">
              <a:buNone/>
            </a:pPr>
            <a:endParaRPr lang="en-US" dirty="0"/>
          </a:p>
          <a:p>
            <a:pPr marL="0" indent="0">
              <a:buNone/>
            </a:pPr>
            <a:r>
              <a:rPr lang="en-US" dirty="0"/>
              <a:t>It also briefly defines Natural Language Processing.</a:t>
            </a:r>
          </a:p>
        </p:txBody>
      </p:sp>
      <p:sp>
        <p:nvSpPr>
          <p:cNvPr id="3" name="Text Placeholder 3">
            <a:extLst>
              <a:ext uri="{FF2B5EF4-FFF2-40B4-BE49-F238E27FC236}">
                <a16:creationId xmlns:a16="http://schemas.microsoft.com/office/drawing/2014/main" id="{F85F1924-E7B7-D63D-AEF2-560B04790698}"/>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856241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1ED93-2480-1B7E-E72D-19213BED1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81509-1150-CFAA-17C9-E8A8420D2E50}"/>
              </a:ext>
            </a:extLst>
          </p:cNvPr>
          <p:cNvSpPr>
            <a:spLocks noGrp="1"/>
          </p:cNvSpPr>
          <p:nvPr>
            <p:ph type="title"/>
          </p:nvPr>
        </p:nvSpPr>
        <p:spPr>
          <a:xfrm>
            <a:off x="2089535" y="1189369"/>
            <a:ext cx="4865966" cy="745462"/>
          </a:xfrm>
        </p:spPr>
        <p:txBody>
          <a:bodyPr>
            <a:normAutofit/>
          </a:bodyPr>
          <a:lstStyle/>
          <a:p>
            <a:r>
              <a:rPr lang="en-US" dirty="0"/>
              <a:t>NLP Context</a:t>
            </a:r>
          </a:p>
        </p:txBody>
      </p:sp>
      <p:pic>
        <p:nvPicPr>
          <p:cNvPr id="5" name="Picture 4">
            <a:extLst>
              <a:ext uri="{FF2B5EF4-FFF2-40B4-BE49-F238E27FC236}">
                <a16:creationId xmlns:a16="http://schemas.microsoft.com/office/drawing/2014/main" id="{29AAE99A-0D8F-C78B-7400-AD475C67A3B5}"/>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12B4A0D2-170F-15A7-C270-1E8C743B8CEA}"/>
              </a:ext>
            </a:extLst>
          </p:cNvPr>
          <p:cNvSpPr>
            <a:spLocks noGrp="1"/>
          </p:cNvSpPr>
          <p:nvPr>
            <p:ph idx="1"/>
          </p:nvPr>
        </p:nvSpPr>
        <p:spPr>
          <a:xfrm>
            <a:off x="2089535" y="2160589"/>
            <a:ext cx="4865966" cy="3880773"/>
          </a:xfrm>
        </p:spPr>
        <p:txBody>
          <a:bodyPr>
            <a:normAutofit/>
          </a:bodyPr>
          <a:lstStyle/>
          <a:p>
            <a:pPr marL="0" indent="0">
              <a:buNone/>
            </a:pPr>
            <a:r>
              <a:rPr lang="en-US" dirty="0"/>
              <a:t>Natural Language Processing is computing work involving human language.</a:t>
            </a:r>
          </a:p>
          <a:p>
            <a:pPr marL="0" indent="0">
              <a:buNone/>
            </a:pPr>
            <a:r>
              <a:rPr lang="en-US" dirty="0"/>
              <a:t>Examples:</a:t>
            </a:r>
          </a:p>
          <a:p>
            <a:r>
              <a:rPr lang="en-US" dirty="0"/>
              <a:t>search suggestions</a:t>
            </a:r>
          </a:p>
          <a:p>
            <a:r>
              <a:rPr lang="en-US" dirty="0"/>
              <a:t>document classification</a:t>
            </a:r>
          </a:p>
          <a:p>
            <a:r>
              <a:rPr lang="en-US" dirty="0"/>
              <a:t>sentiment analysis</a:t>
            </a:r>
          </a:p>
          <a:p>
            <a:r>
              <a:rPr lang="en-US" dirty="0"/>
              <a:t>text ranking</a:t>
            </a:r>
          </a:p>
          <a:p>
            <a:r>
              <a:rPr lang="en-US" dirty="0"/>
              <a:t>chatbot response processing</a:t>
            </a:r>
          </a:p>
          <a:p>
            <a:pPr marL="0" indent="0">
              <a:buNone/>
            </a:pPr>
            <a:endParaRPr lang="en-US" dirty="0"/>
          </a:p>
          <a:p>
            <a:pPr marL="0" indent="0">
              <a:buNone/>
            </a:pPr>
            <a:r>
              <a:rPr lang="en-US" dirty="0"/>
              <a:t>This week is </a:t>
            </a:r>
            <a:r>
              <a:rPr lang="en-US" b="1" u="sng" dirty="0"/>
              <a:t>not</a:t>
            </a:r>
            <a:r>
              <a:rPr lang="en-US" dirty="0"/>
              <a:t> an NLP lesson.</a:t>
            </a:r>
          </a:p>
        </p:txBody>
      </p:sp>
      <p:sp>
        <p:nvSpPr>
          <p:cNvPr id="3" name="Text Placeholder 3">
            <a:extLst>
              <a:ext uri="{FF2B5EF4-FFF2-40B4-BE49-F238E27FC236}">
                <a16:creationId xmlns:a16="http://schemas.microsoft.com/office/drawing/2014/main" id="{462132E9-0866-7464-B16C-0F3C2F1FA5D6}"/>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68113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E32F-AD97-5580-D24E-426D6D5CC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6B719-6027-E237-4F31-85D11940924C}"/>
              </a:ext>
            </a:extLst>
          </p:cNvPr>
          <p:cNvSpPr>
            <a:spLocks noGrp="1"/>
          </p:cNvSpPr>
          <p:nvPr>
            <p:ph type="title"/>
          </p:nvPr>
        </p:nvSpPr>
        <p:spPr>
          <a:xfrm>
            <a:off x="2089535" y="1189369"/>
            <a:ext cx="4865966" cy="745462"/>
          </a:xfrm>
        </p:spPr>
        <p:txBody>
          <a:bodyPr>
            <a:normAutofit/>
          </a:bodyPr>
          <a:lstStyle/>
          <a:p>
            <a:r>
              <a:rPr lang="en-US" dirty="0"/>
              <a:t>Sorting</a:t>
            </a:r>
          </a:p>
        </p:txBody>
      </p:sp>
      <p:pic>
        <p:nvPicPr>
          <p:cNvPr id="5" name="Picture 4">
            <a:extLst>
              <a:ext uri="{FF2B5EF4-FFF2-40B4-BE49-F238E27FC236}">
                <a16:creationId xmlns:a16="http://schemas.microsoft.com/office/drawing/2014/main" id="{8701AFB2-131C-8416-EE71-00381D2657E9}"/>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82F53EA4-3DBC-ADE9-FEFB-972A6BBAFA69}"/>
              </a:ext>
            </a:extLst>
          </p:cNvPr>
          <p:cNvSpPr>
            <a:spLocks noGrp="1"/>
          </p:cNvSpPr>
          <p:nvPr>
            <p:ph idx="1"/>
          </p:nvPr>
        </p:nvSpPr>
        <p:spPr>
          <a:xfrm>
            <a:off x="2089535" y="2160589"/>
            <a:ext cx="4865966" cy="3880773"/>
          </a:xfrm>
        </p:spPr>
        <p:txBody>
          <a:bodyPr>
            <a:normAutofit/>
          </a:bodyPr>
          <a:lstStyle/>
          <a:p>
            <a:pPr marL="0" indent="0">
              <a:buNone/>
            </a:pPr>
            <a:r>
              <a:rPr lang="en-US" dirty="0"/>
              <a:t>Sorting algorithms arrange values into a defined order.</a:t>
            </a:r>
          </a:p>
          <a:p>
            <a:pPr marL="0" indent="0">
              <a:buNone/>
            </a:pPr>
            <a:endParaRPr lang="en-US" dirty="0"/>
          </a:p>
          <a:p>
            <a:pPr marL="0" indent="0">
              <a:buNone/>
            </a:pPr>
            <a:r>
              <a:rPr lang="en-US" dirty="0"/>
              <a:t>The reading introduces:</a:t>
            </a:r>
          </a:p>
          <a:p>
            <a:r>
              <a:rPr lang="en-US" dirty="0"/>
              <a:t>bubble sort</a:t>
            </a:r>
          </a:p>
          <a:p>
            <a:r>
              <a:rPr lang="en-US" dirty="0"/>
              <a:t>selection sort</a:t>
            </a:r>
          </a:p>
          <a:p>
            <a:r>
              <a:rPr lang="en-US" dirty="0"/>
              <a:t>insertion sort</a:t>
            </a:r>
          </a:p>
          <a:p>
            <a:r>
              <a:rPr lang="en-US" dirty="0"/>
              <a:t>shell sort</a:t>
            </a:r>
          </a:p>
          <a:p>
            <a:r>
              <a:rPr lang="en-US" dirty="0"/>
              <a:t>merge sort</a:t>
            </a:r>
          </a:p>
        </p:txBody>
      </p:sp>
      <p:sp>
        <p:nvSpPr>
          <p:cNvPr id="3" name="Text Placeholder 3">
            <a:extLst>
              <a:ext uri="{FF2B5EF4-FFF2-40B4-BE49-F238E27FC236}">
                <a16:creationId xmlns:a16="http://schemas.microsoft.com/office/drawing/2014/main" id="{3824A0AB-81F4-4B95-C512-957C9CCD101E}"/>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2853333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6C06-EDE4-3250-974D-16AB8B394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C2403-4267-B94A-5607-15B3088B5CE2}"/>
              </a:ext>
            </a:extLst>
          </p:cNvPr>
          <p:cNvSpPr>
            <a:spLocks noGrp="1"/>
          </p:cNvSpPr>
          <p:nvPr>
            <p:ph type="title"/>
          </p:nvPr>
        </p:nvSpPr>
        <p:spPr>
          <a:xfrm>
            <a:off x="2089535" y="1189369"/>
            <a:ext cx="4865966" cy="745462"/>
          </a:xfrm>
        </p:spPr>
        <p:txBody>
          <a:bodyPr>
            <a:normAutofit/>
          </a:bodyPr>
          <a:lstStyle/>
          <a:p>
            <a:r>
              <a:rPr lang="en-US" dirty="0"/>
              <a:t>Searching</a:t>
            </a:r>
          </a:p>
        </p:txBody>
      </p:sp>
      <p:pic>
        <p:nvPicPr>
          <p:cNvPr id="5" name="Picture 4">
            <a:extLst>
              <a:ext uri="{FF2B5EF4-FFF2-40B4-BE49-F238E27FC236}">
                <a16:creationId xmlns:a16="http://schemas.microsoft.com/office/drawing/2014/main" id="{6B4900C5-6765-AED5-3DC9-7B8FB3079E30}"/>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6B109B85-E04D-9C00-C9E2-C479C46321EE}"/>
              </a:ext>
            </a:extLst>
          </p:cNvPr>
          <p:cNvSpPr>
            <a:spLocks noGrp="1"/>
          </p:cNvSpPr>
          <p:nvPr>
            <p:ph idx="1"/>
          </p:nvPr>
        </p:nvSpPr>
        <p:spPr>
          <a:xfrm>
            <a:off x="2089535" y="2160589"/>
            <a:ext cx="4865966" cy="3880773"/>
          </a:xfrm>
        </p:spPr>
        <p:txBody>
          <a:bodyPr>
            <a:normAutofit/>
          </a:bodyPr>
          <a:lstStyle/>
          <a:p>
            <a:pPr marL="0" indent="0">
              <a:buNone/>
            </a:pPr>
            <a:r>
              <a:rPr lang="en-US" dirty="0"/>
              <a:t>Searching algorithms try to find a target value.</a:t>
            </a:r>
          </a:p>
          <a:p>
            <a:pPr marL="0" indent="0">
              <a:buNone/>
            </a:pPr>
            <a:endParaRPr lang="en-US" dirty="0"/>
          </a:p>
          <a:p>
            <a:pPr marL="0" indent="0">
              <a:buNone/>
            </a:pPr>
            <a:r>
              <a:rPr lang="en-US" dirty="0"/>
              <a:t>The reading introduces:</a:t>
            </a:r>
          </a:p>
          <a:p>
            <a:r>
              <a:rPr lang="en-US" dirty="0"/>
              <a:t>linear search</a:t>
            </a:r>
          </a:p>
          <a:p>
            <a:r>
              <a:rPr lang="en-US" dirty="0"/>
              <a:t>binary search</a:t>
            </a:r>
          </a:p>
          <a:p>
            <a:r>
              <a:rPr lang="en-US" dirty="0"/>
              <a:t>interpolation search</a:t>
            </a:r>
          </a:p>
        </p:txBody>
      </p:sp>
      <p:sp>
        <p:nvSpPr>
          <p:cNvPr id="3" name="Text Placeholder 3">
            <a:extLst>
              <a:ext uri="{FF2B5EF4-FFF2-40B4-BE49-F238E27FC236}">
                <a16:creationId xmlns:a16="http://schemas.microsoft.com/office/drawing/2014/main" id="{671B8B07-A4CD-ECA9-DC97-7DEFBC34FA43}"/>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073097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73AC1-8094-FF22-81AF-3D1D89C70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FED64-EDD7-A8CE-F580-980C14A67B1F}"/>
              </a:ext>
            </a:extLst>
          </p:cNvPr>
          <p:cNvSpPr>
            <a:spLocks noGrp="1"/>
          </p:cNvSpPr>
          <p:nvPr>
            <p:ph type="title"/>
          </p:nvPr>
        </p:nvSpPr>
        <p:spPr>
          <a:xfrm>
            <a:off x="2089535" y="1189369"/>
            <a:ext cx="4865966" cy="745462"/>
          </a:xfrm>
        </p:spPr>
        <p:txBody>
          <a:bodyPr>
            <a:normAutofit fontScale="90000"/>
          </a:bodyPr>
          <a:lstStyle/>
          <a:p>
            <a:r>
              <a:rPr lang="en-US" dirty="0"/>
              <a:t>Performance Is Interspersed</a:t>
            </a:r>
          </a:p>
        </p:txBody>
      </p:sp>
      <p:pic>
        <p:nvPicPr>
          <p:cNvPr id="5" name="Picture 4">
            <a:extLst>
              <a:ext uri="{FF2B5EF4-FFF2-40B4-BE49-F238E27FC236}">
                <a16:creationId xmlns:a16="http://schemas.microsoft.com/office/drawing/2014/main" id="{C3F9C358-9A39-00E0-8420-A0434C37C254}"/>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484294E3-877E-93FE-8A21-508A0EB2E448}"/>
              </a:ext>
            </a:extLst>
          </p:cNvPr>
          <p:cNvSpPr>
            <a:spLocks noGrp="1"/>
          </p:cNvSpPr>
          <p:nvPr>
            <p:ph idx="1"/>
          </p:nvPr>
        </p:nvSpPr>
        <p:spPr>
          <a:xfrm>
            <a:off x="2089535" y="2508069"/>
            <a:ext cx="4865966" cy="3533293"/>
          </a:xfrm>
        </p:spPr>
        <p:txBody>
          <a:bodyPr>
            <a:normAutofit/>
          </a:bodyPr>
          <a:lstStyle/>
          <a:p>
            <a:pPr marL="0" indent="0">
              <a:buNone/>
            </a:pPr>
            <a:r>
              <a:rPr lang="en-US" dirty="0"/>
              <a:t>The reading discusses performance throughout the chapter.</a:t>
            </a:r>
          </a:p>
          <a:p>
            <a:pPr marL="0" indent="0">
              <a:buNone/>
            </a:pPr>
            <a:endParaRPr lang="en-US" dirty="0"/>
          </a:p>
          <a:p>
            <a:pPr marL="0" indent="0">
              <a:buNone/>
            </a:pPr>
            <a:r>
              <a:rPr lang="en-US" dirty="0"/>
              <a:t>For each algorithm, ask:</a:t>
            </a:r>
          </a:p>
          <a:p>
            <a:r>
              <a:rPr lang="en-US" dirty="0"/>
              <a:t>What must be true before it works?</a:t>
            </a:r>
          </a:p>
          <a:p>
            <a:r>
              <a:rPr lang="en-US" dirty="0"/>
              <a:t>How much work might it do?</a:t>
            </a:r>
          </a:p>
          <a:p>
            <a:r>
              <a:rPr lang="en-US" dirty="0"/>
              <a:t>How does it behave as data grows?</a:t>
            </a:r>
          </a:p>
          <a:p>
            <a:r>
              <a:rPr lang="en-US" dirty="0"/>
              <a:t>What tradeoff does it make?</a:t>
            </a:r>
          </a:p>
        </p:txBody>
      </p:sp>
      <p:sp>
        <p:nvSpPr>
          <p:cNvPr id="3" name="Text Placeholder 3">
            <a:extLst>
              <a:ext uri="{FF2B5EF4-FFF2-40B4-BE49-F238E27FC236}">
                <a16:creationId xmlns:a16="http://schemas.microsoft.com/office/drawing/2014/main" id="{6C8EBA64-2B9F-B85A-B270-F2149C5CC5D9}"/>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273239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42"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Isosceles Triangle 43">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Isosceles Triangle 47">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Isosceles Triangle 48">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0" name="Picture 49" descr="Packages on conveyor belt">
            <a:extLst>
              <a:ext uri="{FF2B5EF4-FFF2-40B4-BE49-F238E27FC236}">
                <a16:creationId xmlns:a16="http://schemas.microsoft.com/office/drawing/2014/main" id="{57851AF9-0965-AF2E-D2B9-3498650C789E}"/>
              </a:ext>
            </a:extLst>
          </p:cNvPr>
          <p:cNvPicPr>
            <a:picLocks noChangeAspect="1"/>
          </p:cNvPicPr>
          <p:nvPr/>
        </p:nvPicPr>
        <p:blipFill>
          <a:blip r:embed="rId2"/>
          <a:srcRect l="8501" r="33668"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4" name="Title 3">
            <a:extLst>
              <a:ext uri="{FF2B5EF4-FFF2-40B4-BE49-F238E27FC236}">
                <a16:creationId xmlns:a16="http://schemas.microsoft.com/office/drawing/2014/main" id="{6BFF8A41-8161-7F2E-C384-3F6C3C17B0AD}"/>
              </a:ext>
            </a:extLst>
          </p:cNvPr>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3900" dirty="0"/>
              <a:t>Sorting Foundations</a:t>
            </a:r>
          </a:p>
        </p:txBody>
      </p:sp>
      <p:sp>
        <p:nvSpPr>
          <p:cNvPr id="5" name="Text Placeholder 4">
            <a:extLst>
              <a:ext uri="{FF2B5EF4-FFF2-40B4-BE49-F238E27FC236}">
                <a16:creationId xmlns:a16="http://schemas.microsoft.com/office/drawing/2014/main" id="{148F6F88-2E44-45BE-5E41-154C8AD99FAB}"/>
              </a:ext>
            </a:extLst>
          </p:cNvPr>
          <p:cNvSpPr>
            <a:spLocks noGrp="1"/>
          </p:cNvSpPr>
          <p:nvPr>
            <p:ph type="body" idx="1"/>
          </p:nvPr>
        </p:nvSpPr>
        <p:spPr>
          <a:xfrm>
            <a:off x="508001" y="4050831"/>
            <a:ext cx="3059791" cy="1096901"/>
          </a:xfrm>
        </p:spPr>
        <p:txBody>
          <a:bodyPr vert="horz" lIns="91440" tIns="45720" rIns="91440" bIns="45720" rtlCol="0" anchor="t">
            <a:normAutofit/>
          </a:bodyPr>
          <a:lstStyle/>
          <a:p>
            <a:pPr algn="r"/>
            <a:endParaRPr lang="en-US" sz="1400"/>
          </a:p>
        </p:txBody>
      </p:sp>
      <p:cxnSp>
        <p:nvCxnSpPr>
          <p:cNvPr id="51" name="Straight Connector 50">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3"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5"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7"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56371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D963D-986F-1524-594C-94C6FC56FAA6}"/>
              </a:ext>
            </a:extLst>
          </p:cNvPr>
          <p:cNvSpPr>
            <a:spLocks noGrp="1"/>
          </p:cNvSpPr>
          <p:nvPr>
            <p:ph type="title"/>
          </p:nvPr>
        </p:nvSpPr>
        <p:spPr>
          <a:xfrm>
            <a:off x="4152550" y="609600"/>
            <a:ext cx="2802951" cy="1320800"/>
          </a:xfrm>
        </p:spPr>
        <p:txBody>
          <a:bodyPr>
            <a:normAutofit/>
          </a:bodyPr>
          <a:lstStyle/>
          <a:p>
            <a:r>
              <a:rPr lang="en-US" dirty="0"/>
              <a:t>Variable Swapping</a:t>
            </a:r>
          </a:p>
        </p:txBody>
      </p:sp>
      <p:sp>
        <p:nvSpPr>
          <p:cNvPr id="5" name="Content Placeholder 4">
            <a:extLst>
              <a:ext uri="{FF2B5EF4-FFF2-40B4-BE49-F238E27FC236}">
                <a16:creationId xmlns:a16="http://schemas.microsoft.com/office/drawing/2014/main" id="{3601FA2D-2385-DABD-516E-8A2F33DC13D1}"/>
              </a:ext>
            </a:extLst>
          </p:cNvPr>
          <p:cNvSpPr>
            <a:spLocks noGrp="1"/>
          </p:cNvSpPr>
          <p:nvPr>
            <p:ph idx="1"/>
          </p:nvPr>
        </p:nvSpPr>
        <p:spPr>
          <a:xfrm>
            <a:off x="3907172" y="2160589"/>
            <a:ext cx="3048329" cy="3880773"/>
          </a:xfrm>
        </p:spPr>
        <p:txBody>
          <a:bodyPr>
            <a:normAutofit/>
          </a:bodyPr>
          <a:lstStyle/>
          <a:p>
            <a:pPr marL="0" indent="0">
              <a:buNone/>
            </a:pPr>
            <a:r>
              <a:rPr lang="en-US" dirty="0"/>
              <a:t>Many sorting algorithms need to swap two values.</a:t>
            </a:r>
          </a:p>
          <a:p>
            <a:pPr marL="0" indent="0">
              <a:buNone/>
            </a:pPr>
            <a:endParaRPr lang="en-US" dirty="0"/>
          </a:p>
          <a:p>
            <a:pPr marL="0" indent="0">
              <a:buNone/>
            </a:pPr>
            <a:r>
              <a:rPr lang="en-US" dirty="0"/>
              <a:t>Conceptually:</a:t>
            </a:r>
          </a:p>
          <a:p>
            <a:pPr marL="0" indent="0">
              <a:buNone/>
            </a:pPr>
            <a:r>
              <a:rPr lang="en-US" dirty="0"/>
              <a:t>1. remember one value</a:t>
            </a:r>
          </a:p>
          <a:p>
            <a:pPr marL="0" indent="0">
              <a:buNone/>
            </a:pPr>
            <a:r>
              <a:rPr lang="en-US" dirty="0"/>
              <a:t>2. move the other value</a:t>
            </a:r>
          </a:p>
          <a:p>
            <a:pPr marL="0" indent="0">
              <a:buNone/>
            </a:pPr>
            <a:r>
              <a:rPr lang="en-US" dirty="0"/>
              <a:t>3. put the remembered value into the open spot</a:t>
            </a:r>
          </a:p>
        </p:txBody>
      </p:sp>
      <p:pic>
        <p:nvPicPr>
          <p:cNvPr id="7" name="Picture 6" descr="Arrows going up">
            <a:extLst>
              <a:ext uri="{FF2B5EF4-FFF2-40B4-BE49-F238E27FC236}">
                <a16:creationId xmlns:a16="http://schemas.microsoft.com/office/drawing/2014/main" id="{F76F895E-D8D1-AAEF-8783-E8A1DA126B00}"/>
              </a:ext>
            </a:extLst>
          </p:cNvPr>
          <p:cNvPicPr>
            <a:picLocks noChangeAspect="1"/>
          </p:cNvPicPr>
          <p:nvPr/>
        </p:nvPicPr>
        <p:blipFill>
          <a:blip r:embed="rId3"/>
          <a:srcRect l="36018" r="14866"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76312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4" name="Straight Connector 13">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2D410D77-E7C1-DDF5-0FD1-14A5194BF474}"/>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Variable Swapping</a:t>
            </a:r>
          </a:p>
        </p:txBody>
      </p:sp>
      <p:pic>
        <p:nvPicPr>
          <p:cNvPr id="8" name="Picture Placeholder 7">
            <a:extLst>
              <a:ext uri="{FF2B5EF4-FFF2-40B4-BE49-F238E27FC236}">
                <a16:creationId xmlns:a16="http://schemas.microsoft.com/office/drawing/2014/main" id="{AE04639B-A521-94C8-846F-D02D334FA9A1}"/>
              </a:ext>
            </a:extLst>
          </p:cNvPr>
          <p:cNvPicPr>
            <a:picLocks noGrp="1" noChangeAspect="1"/>
          </p:cNvPicPr>
          <p:nvPr>
            <p:ph type="pic" idx="1"/>
          </p:nvPr>
        </p:nvPicPr>
        <p:blipFill>
          <a:blip r:embed="rId3"/>
          <a:srcRect t="5219" b="7173"/>
          <a:stretch>
            <a:fillRect/>
          </a:stretch>
        </p:blipFill>
        <p:spPr>
          <a:xfrm>
            <a:off x="739476" y="609600"/>
            <a:ext cx="6216024" cy="3635025"/>
          </a:xfrm>
          <a:prstGeom prst="rect">
            <a:avLst/>
          </a:prstGeom>
        </p:spPr>
      </p:pic>
    </p:spTree>
    <p:extLst>
      <p:ext uri="{BB962C8B-B14F-4D97-AF65-F5344CB8AC3E}">
        <p14:creationId xmlns:p14="http://schemas.microsoft.com/office/powerpoint/2010/main" val="178300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E35A34-AAB5-C15A-F207-FBBC227DD3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071F7F-012B-BE6E-DB1A-E40A7A7FBF92}"/>
              </a:ext>
            </a:extLst>
          </p:cNvPr>
          <p:cNvSpPr>
            <a:spLocks noGrp="1"/>
          </p:cNvSpPr>
          <p:nvPr>
            <p:ph type="title"/>
          </p:nvPr>
        </p:nvSpPr>
        <p:spPr>
          <a:xfrm>
            <a:off x="2089535" y="609600"/>
            <a:ext cx="4865966" cy="1320800"/>
          </a:xfrm>
        </p:spPr>
        <p:txBody>
          <a:bodyPr>
            <a:normAutofit/>
          </a:bodyPr>
          <a:lstStyle/>
          <a:p>
            <a:r>
              <a:rPr lang="en-US" dirty="0"/>
              <a:t>Bubble Sort</a:t>
            </a:r>
          </a:p>
        </p:txBody>
      </p:sp>
      <p:pic>
        <p:nvPicPr>
          <p:cNvPr id="7" name="Picture 6" descr="Green dialogue boxes">
            <a:extLst>
              <a:ext uri="{FF2B5EF4-FFF2-40B4-BE49-F238E27FC236}">
                <a16:creationId xmlns:a16="http://schemas.microsoft.com/office/drawing/2014/main" id="{382375B3-7EFE-E1BF-2E27-C5924A9D48A8}"/>
              </a:ext>
            </a:extLst>
          </p:cNvPr>
          <p:cNvPicPr>
            <a:picLocks noChangeAspect="1"/>
          </p:cNvPicPr>
          <p:nvPr/>
        </p:nvPicPr>
        <p:blipFill>
          <a:blip r:embed="rId3">
            <a:duotone>
              <a:prstClr val="black"/>
              <a:schemeClr val="tx2">
                <a:tint val="45000"/>
                <a:satMod val="400000"/>
              </a:schemeClr>
            </a:duotone>
          </a:blip>
          <a:srcRect l="34675" r="40500" b="-2"/>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1" name="Isosceles Triangle 10">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56CEE56D-C8ED-25F2-AFCA-453A91C40377}"/>
              </a:ext>
            </a:extLst>
          </p:cNvPr>
          <p:cNvSpPr>
            <a:spLocks noGrp="1"/>
          </p:cNvSpPr>
          <p:nvPr>
            <p:ph idx="1"/>
          </p:nvPr>
        </p:nvSpPr>
        <p:spPr>
          <a:xfrm>
            <a:off x="2089535" y="2160589"/>
            <a:ext cx="4865966" cy="3880773"/>
          </a:xfrm>
        </p:spPr>
        <p:txBody>
          <a:bodyPr>
            <a:normAutofit/>
          </a:bodyPr>
          <a:lstStyle/>
          <a:p>
            <a:pPr marL="0" indent="0">
              <a:buNone/>
            </a:pPr>
            <a:r>
              <a:rPr lang="en-US" dirty="0"/>
              <a:t>Bubble sort repeatedly compares neighboring values.</a:t>
            </a:r>
          </a:p>
          <a:p>
            <a:pPr marL="0" indent="0">
              <a:buNone/>
            </a:pPr>
            <a:endParaRPr lang="en-US" dirty="0"/>
          </a:p>
          <a:p>
            <a:pPr marL="0" indent="0">
              <a:buNone/>
            </a:pPr>
            <a:r>
              <a:rPr lang="en-US" dirty="0"/>
              <a:t>If two neighbors are out of order:</a:t>
            </a:r>
          </a:p>
          <a:p>
            <a:r>
              <a:rPr lang="en-US" dirty="0"/>
              <a:t>swap them</a:t>
            </a:r>
          </a:p>
          <a:p>
            <a:r>
              <a:rPr lang="en-US" dirty="0"/>
              <a:t>continue across the list</a:t>
            </a:r>
          </a:p>
          <a:p>
            <a:r>
              <a:rPr lang="en-US" dirty="0"/>
              <a:t>repeat passes until the list is sorted</a:t>
            </a:r>
          </a:p>
        </p:txBody>
      </p:sp>
    </p:spTree>
    <p:extLst>
      <p:ext uri="{BB962C8B-B14F-4D97-AF65-F5344CB8AC3E}">
        <p14:creationId xmlns:p14="http://schemas.microsoft.com/office/powerpoint/2010/main" val="2461632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2A731C-3511-68E6-A6DB-B371465975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0FD11B-2350-61D3-77A8-80470F2C974E}"/>
              </a:ext>
            </a:extLst>
          </p:cNvPr>
          <p:cNvSpPr>
            <a:spLocks noGrp="1"/>
          </p:cNvSpPr>
          <p:nvPr>
            <p:ph type="title"/>
          </p:nvPr>
        </p:nvSpPr>
        <p:spPr>
          <a:xfrm>
            <a:off x="4152550" y="609600"/>
            <a:ext cx="2802951" cy="1320800"/>
          </a:xfrm>
        </p:spPr>
        <p:txBody>
          <a:bodyPr>
            <a:normAutofit/>
          </a:bodyPr>
          <a:lstStyle/>
          <a:p>
            <a:r>
              <a:rPr lang="en-US" dirty="0"/>
              <a:t>Bubble Sort Performance</a:t>
            </a:r>
          </a:p>
        </p:txBody>
      </p:sp>
      <p:sp>
        <p:nvSpPr>
          <p:cNvPr id="5" name="Content Placeholder 4">
            <a:extLst>
              <a:ext uri="{FF2B5EF4-FFF2-40B4-BE49-F238E27FC236}">
                <a16:creationId xmlns:a16="http://schemas.microsoft.com/office/drawing/2014/main" id="{B0EC4573-5110-CC62-3026-E79538FDF41C}"/>
              </a:ext>
            </a:extLst>
          </p:cNvPr>
          <p:cNvSpPr>
            <a:spLocks noGrp="1"/>
          </p:cNvSpPr>
          <p:nvPr>
            <p:ph idx="1"/>
          </p:nvPr>
        </p:nvSpPr>
        <p:spPr>
          <a:xfrm>
            <a:off x="3907172" y="2160589"/>
            <a:ext cx="3048329" cy="3880773"/>
          </a:xfrm>
        </p:spPr>
        <p:txBody>
          <a:bodyPr>
            <a:normAutofit/>
          </a:bodyPr>
          <a:lstStyle/>
          <a:p>
            <a:pPr marL="0" indent="0">
              <a:buNone/>
            </a:pPr>
            <a:r>
              <a:rPr lang="en-US" sz="1700"/>
              <a:t>Bubble sort usually performs poorly on larger lists.</a:t>
            </a:r>
          </a:p>
          <a:p>
            <a:pPr marL="0" indent="0">
              <a:buNone/>
            </a:pPr>
            <a:endParaRPr lang="en-US" sz="1700"/>
          </a:p>
          <a:p>
            <a:pPr marL="0" indent="0">
              <a:buNone/>
            </a:pPr>
            <a:r>
              <a:rPr lang="en-US" sz="1700"/>
              <a:t>Why?</a:t>
            </a:r>
          </a:p>
          <a:p>
            <a:r>
              <a:rPr lang="en-US" sz="1700"/>
              <a:t>it makes repeated passes</a:t>
            </a:r>
          </a:p>
          <a:p>
            <a:r>
              <a:rPr lang="en-US" sz="1700"/>
              <a:t>it compares neighboring values</a:t>
            </a:r>
          </a:p>
          <a:p>
            <a:r>
              <a:rPr lang="en-US" sz="1700"/>
              <a:t>it may keep checking even after little changes</a:t>
            </a:r>
          </a:p>
          <a:p>
            <a:pPr marL="0" indent="0">
              <a:buNone/>
            </a:pPr>
            <a:endParaRPr lang="en-US" sz="1700"/>
          </a:p>
          <a:p>
            <a:pPr marL="0" indent="0">
              <a:buNone/>
            </a:pPr>
            <a:r>
              <a:rPr lang="en-US" sz="1700"/>
              <a:t>Common growth label: O(n2)</a:t>
            </a:r>
          </a:p>
          <a:p>
            <a:pPr marL="0" indent="0">
              <a:buNone/>
            </a:pPr>
            <a:endParaRPr lang="en-US" sz="1700"/>
          </a:p>
        </p:txBody>
      </p:sp>
      <p:pic>
        <p:nvPicPr>
          <p:cNvPr id="7" name="Picture 6" descr="Yellow and blue symbols">
            <a:extLst>
              <a:ext uri="{FF2B5EF4-FFF2-40B4-BE49-F238E27FC236}">
                <a16:creationId xmlns:a16="http://schemas.microsoft.com/office/drawing/2014/main" id="{06FD9875-1B5C-F79C-BEE4-CA5577DFF9E5}"/>
              </a:ext>
            </a:extLst>
          </p:cNvPr>
          <p:cNvPicPr>
            <a:picLocks noChangeAspect="1"/>
          </p:cNvPicPr>
          <p:nvPr/>
        </p:nvPicPr>
        <p:blipFill>
          <a:blip r:embed="rId3"/>
          <a:srcRect l="24875" r="29991"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35288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C52EE3-2112-A874-A725-5834B21647BA}"/>
            </a:ext>
          </a:extLst>
        </p:cNvPr>
        <p:cNvGrpSpPr/>
        <p:nvPr/>
      </p:nvGrpSpPr>
      <p:grpSpPr>
        <a:xfrm>
          <a:off x="0" y="0"/>
          <a:ext cx="0" cy="0"/>
          <a:chOff x="0" y="0"/>
          <a:chExt cx="0" cy="0"/>
        </a:xfrm>
      </p:grpSpPr>
      <p:pic>
        <p:nvPicPr>
          <p:cNvPr id="7" name="Picture 6" descr="Close-up of bubbles floating against blurred background">
            <a:extLst>
              <a:ext uri="{FF2B5EF4-FFF2-40B4-BE49-F238E27FC236}">
                <a16:creationId xmlns:a16="http://schemas.microsoft.com/office/drawing/2014/main" id="{6D54D225-9914-DC93-274F-1ACEFCFAA6D7}"/>
              </a:ext>
            </a:extLst>
          </p:cNvPr>
          <p:cNvPicPr>
            <a:picLocks noChangeAspect="1"/>
          </p:cNvPicPr>
          <p:nvPr/>
        </p:nvPicPr>
        <p:blipFill>
          <a:blip r:embed="rId3"/>
          <a:srcRect l="19091" t="4930" b="4161"/>
          <a:stretch>
            <a:fillRect/>
          </a:stretch>
        </p:blipFill>
        <p:spPr>
          <a:xfrm>
            <a:off x="20" y="10"/>
            <a:ext cx="9143980" cy="6857990"/>
          </a:xfrm>
          <a:prstGeom prst="rect">
            <a:avLst/>
          </a:prstGeom>
        </p:spPr>
      </p:pic>
      <p:sp>
        <p:nvSpPr>
          <p:cNvPr id="16" name="Isosceles Triangle 15">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Parallelogram 17">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C23722AE-CC8C-61A0-E514-E91974DE1827}"/>
              </a:ext>
            </a:extLst>
          </p:cNvPr>
          <p:cNvSpPr>
            <a:spLocks noGrp="1"/>
          </p:cNvSpPr>
          <p:nvPr>
            <p:ph type="title"/>
          </p:nvPr>
        </p:nvSpPr>
        <p:spPr>
          <a:xfrm>
            <a:off x="2089535" y="609600"/>
            <a:ext cx="4865966" cy="1320800"/>
          </a:xfrm>
        </p:spPr>
        <p:txBody>
          <a:bodyPr anchor="t">
            <a:normAutofit/>
          </a:bodyPr>
          <a:lstStyle/>
          <a:p>
            <a:r>
              <a:rPr lang="en-US"/>
              <a:t>Bubble Sort Optimization</a:t>
            </a:r>
          </a:p>
        </p:txBody>
      </p:sp>
      <p:sp>
        <p:nvSpPr>
          <p:cNvPr id="26"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EC42B807-ACCA-D4B2-5946-0A7551EC4E96}"/>
              </a:ext>
            </a:extLst>
          </p:cNvPr>
          <p:cNvSpPr>
            <a:spLocks noGrp="1"/>
          </p:cNvSpPr>
          <p:nvPr>
            <p:ph idx="1"/>
          </p:nvPr>
        </p:nvSpPr>
        <p:spPr>
          <a:xfrm>
            <a:off x="2089535" y="2159000"/>
            <a:ext cx="4865966" cy="3882362"/>
          </a:xfrm>
        </p:spPr>
        <p:txBody>
          <a:bodyPr>
            <a:normAutofit/>
          </a:bodyPr>
          <a:lstStyle/>
          <a:p>
            <a:pPr marL="0" indent="0">
              <a:buNone/>
            </a:pPr>
            <a:r>
              <a:rPr lang="en-US" dirty="0"/>
              <a:t>Bubble sort can stop early if a full pass makes no swaps.</a:t>
            </a:r>
          </a:p>
          <a:p>
            <a:pPr marL="0" indent="0">
              <a:buNone/>
            </a:pPr>
            <a:endParaRPr lang="en-US" dirty="0"/>
          </a:p>
          <a:p>
            <a:pPr marL="0" indent="0">
              <a:buNone/>
            </a:pPr>
            <a:r>
              <a:rPr lang="en-US" dirty="0"/>
              <a:t>That means:</a:t>
            </a:r>
          </a:p>
          <a:p>
            <a:r>
              <a:rPr lang="en-US" dirty="0"/>
              <a:t>the list is already sorted</a:t>
            </a:r>
          </a:p>
          <a:p>
            <a:r>
              <a:rPr lang="en-US" dirty="0"/>
              <a:t>another pass is unnecessary</a:t>
            </a:r>
          </a:p>
          <a:p>
            <a:r>
              <a:rPr lang="en-US" dirty="0"/>
              <a:t>the algorithm can avoid wasted work</a:t>
            </a:r>
          </a:p>
        </p:txBody>
      </p:sp>
      <p:sp>
        <p:nvSpPr>
          <p:cNvPr id="30"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48337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E16BE4-CA7C-535A-6314-893C1B80A3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6F1BA1-67C2-7B12-C5F1-5363BE7A62F8}"/>
              </a:ext>
            </a:extLst>
          </p:cNvPr>
          <p:cNvSpPr>
            <a:spLocks noGrp="1"/>
          </p:cNvSpPr>
          <p:nvPr>
            <p:ph type="title"/>
          </p:nvPr>
        </p:nvSpPr>
        <p:spPr>
          <a:xfrm>
            <a:off x="2089535" y="609600"/>
            <a:ext cx="4865966" cy="1320800"/>
          </a:xfrm>
        </p:spPr>
        <p:txBody>
          <a:bodyPr>
            <a:normAutofit/>
          </a:bodyPr>
          <a:lstStyle/>
          <a:p>
            <a:r>
              <a:rPr lang="en-US" dirty="0"/>
              <a:t>Selection Sort</a:t>
            </a:r>
          </a:p>
        </p:txBody>
      </p:sp>
      <p:pic>
        <p:nvPicPr>
          <p:cNvPr id="13" name="Picture 12" descr="Black pen against a sheet with shaded numbers">
            <a:extLst>
              <a:ext uri="{FF2B5EF4-FFF2-40B4-BE49-F238E27FC236}">
                <a16:creationId xmlns:a16="http://schemas.microsoft.com/office/drawing/2014/main" id="{9BFAF74A-4FC6-4FCC-40F3-7C18FB2C296B}"/>
              </a:ext>
            </a:extLst>
          </p:cNvPr>
          <p:cNvPicPr>
            <a:picLocks noChangeAspect="1"/>
          </p:cNvPicPr>
          <p:nvPr/>
        </p:nvPicPr>
        <p:blipFill>
          <a:blip r:embed="rId3">
            <a:duotone>
              <a:prstClr val="black"/>
              <a:schemeClr val="tx2">
                <a:tint val="45000"/>
                <a:satMod val="400000"/>
              </a:schemeClr>
            </a:duotone>
          </a:blip>
          <a:srcRect l="72436" r="7659"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4" name="Isosceles Triangle 13">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D5A3E008-534F-5302-5568-BA950C390C63}"/>
              </a:ext>
            </a:extLst>
          </p:cNvPr>
          <p:cNvSpPr>
            <a:spLocks noGrp="1"/>
          </p:cNvSpPr>
          <p:nvPr>
            <p:ph idx="1"/>
          </p:nvPr>
        </p:nvSpPr>
        <p:spPr>
          <a:xfrm>
            <a:off x="2089535" y="2160589"/>
            <a:ext cx="4865966" cy="3880773"/>
          </a:xfrm>
        </p:spPr>
        <p:txBody>
          <a:bodyPr>
            <a:normAutofit/>
          </a:bodyPr>
          <a:lstStyle/>
          <a:p>
            <a:pPr marL="0" indent="0">
              <a:buNone/>
            </a:pPr>
            <a:r>
              <a:rPr lang="en-US" dirty="0"/>
              <a:t>Selection sort repeatedly selects the next smallest value.</a:t>
            </a:r>
          </a:p>
          <a:p>
            <a:pPr marL="0" indent="0">
              <a:buNone/>
            </a:pPr>
            <a:endParaRPr lang="en-US" dirty="0"/>
          </a:p>
          <a:p>
            <a:pPr marL="0" indent="0">
              <a:buNone/>
            </a:pPr>
            <a:r>
              <a:rPr lang="en-US" dirty="0"/>
              <a:t>Basic pattern:</a:t>
            </a:r>
          </a:p>
          <a:p>
            <a:r>
              <a:rPr lang="en-US" dirty="0"/>
              <a:t>find the smallest remaining value</a:t>
            </a:r>
          </a:p>
          <a:p>
            <a:r>
              <a:rPr lang="en-US" dirty="0"/>
              <a:t>place it in the next sorted position</a:t>
            </a:r>
          </a:p>
          <a:p>
            <a:r>
              <a:rPr lang="en-US" dirty="0"/>
              <a:t>repeat until finished</a:t>
            </a:r>
          </a:p>
        </p:txBody>
      </p:sp>
    </p:spTree>
    <p:extLst>
      <p:ext uri="{BB962C8B-B14F-4D97-AF65-F5344CB8AC3E}">
        <p14:creationId xmlns:p14="http://schemas.microsoft.com/office/powerpoint/2010/main" val="325616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D96E88-1369-CD72-0646-8C957B1020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FD3E70-27E9-F889-045B-D76F719E0546}"/>
              </a:ext>
            </a:extLst>
          </p:cNvPr>
          <p:cNvSpPr>
            <a:spLocks noGrp="1"/>
          </p:cNvSpPr>
          <p:nvPr>
            <p:ph type="title"/>
          </p:nvPr>
        </p:nvSpPr>
        <p:spPr>
          <a:xfrm>
            <a:off x="2137171" y="609600"/>
            <a:ext cx="4818330" cy="1320800"/>
          </a:xfrm>
        </p:spPr>
        <p:txBody>
          <a:bodyPr>
            <a:normAutofit/>
          </a:bodyPr>
          <a:lstStyle/>
          <a:p>
            <a:r>
              <a:rPr lang="en-US"/>
              <a:t>Selection Sort Performance</a:t>
            </a:r>
          </a:p>
        </p:txBody>
      </p:sp>
      <p:sp>
        <p:nvSpPr>
          <p:cNvPr id="16" name="Isosceles Triangle 15">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descr="Magnifying glass showing decling performance">
            <a:extLst>
              <a:ext uri="{FF2B5EF4-FFF2-40B4-BE49-F238E27FC236}">
                <a16:creationId xmlns:a16="http://schemas.microsoft.com/office/drawing/2014/main" id="{2848471B-3222-3961-A748-57A061808A14}"/>
              </a:ext>
            </a:extLst>
          </p:cNvPr>
          <p:cNvPicPr>
            <a:picLocks noChangeAspect="1"/>
          </p:cNvPicPr>
          <p:nvPr/>
        </p:nvPicPr>
        <p:blipFill>
          <a:blip r:embed="rId3"/>
          <a:srcRect l="36093" r="43949" b="-2"/>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8" name="Isosceles Triangle 17">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704B9D8C-3E4E-571B-3375-7D2785F88F5E}"/>
              </a:ext>
            </a:extLst>
          </p:cNvPr>
          <p:cNvSpPr>
            <a:spLocks noGrp="1"/>
          </p:cNvSpPr>
          <p:nvPr>
            <p:ph idx="1"/>
          </p:nvPr>
        </p:nvSpPr>
        <p:spPr>
          <a:xfrm>
            <a:off x="2137171" y="2160589"/>
            <a:ext cx="4818330" cy="3880773"/>
          </a:xfrm>
        </p:spPr>
        <p:txBody>
          <a:bodyPr>
            <a:normAutofit/>
          </a:bodyPr>
          <a:lstStyle/>
          <a:p>
            <a:pPr marL="0" indent="0">
              <a:buNone/>
            </a:pPr>
            <a:r>
              <a:rPr lang="en-US" dirty="0"/>
              <a:t>Selection sort repeatedly searches the remaining unsorted values.</a:t>
            </a:r>
          </a:p>
          <a:p>
            <a:pPr marL="0" indent="0">
              <a:buNone/>
            </a:pPr>
            <a:endParaRPr lang="en-US" dirty="0"/>
          </a:p>
          <a:p>
            <a:pPr marL="0" indent="0">
              <a:buNone/>
            </a:pPr>
            <a:r>
              <a:rPr lang="en-US" dirty="0"/>
              <a:t>Common growth label: O(n2)</a:t>
            </a:r>
          </a:p>
          <a:p>
            <a:pPr marL="0" indent="0">
              <a:buNone/>
            </a:pPr>
            <a:endParaRPr lang="en-US" dirty="0"/>
          </a:p>
          <a:p>
            <a:pPr marL="0" indent="0">
              <a:buNone/>
            </a:pPr>
            <a:r>
              <a:rPr lang="en-US" dirty="0"/>
              <a:t>It may use fewer swaps than bubble sort, but it still performs many comparisons.</a:t>
            </a:r>
          </a:p>
        </p:txBody>
      </p:sp>
    </p:spTree>
    <p:extLst>
      <p:ext uri="{BB962C8B-B14F-4D97-AF65-F5344CB8AC3E}">
        <p14:creationId xmlns:p14="http://schemas.microsoft.com/office/powerpoint/2010/main" val="2852852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8D9B68-CCC0-4CCF-A418-F7C4796E54CE}"/>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50CB1D0-AA33-610B-7E7D-1D180F62DD6B}"/>
              </a:ext>
            </a:extLst>
          </p:cNvPr>
          <p:cNvPicPr>
            <a:picLocks noChangeAspect="1"/>
          </p:cNvPicPr>
          <p:nvPr/>
        </p:nvPicPr>
        <p:blipFill>
          <a:blip r:embed="rId3"/>
          <a:srcRect t="13571" r="-1" b="18328"/>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4" name="Title 3">
            <a:extLst>
              <a:ext uri="{FF2B5EF4-FFF2-40B4-BE49-F238E27FC236}">
                <a16:creationId xmlns:a16="http://schemas.microsoft.com/office/drawing/2014/main" id="{A2FD4A1B-942C-D797-D76A-934C4C8F4379}"/>
              </a:ext>
            </a:extLst>
          </p:cNvPr>
          <p:cNvSpPr>
            <a:spLocks noGrp="1"/>
          </p:cNvSpPr>
          <p:nvPr>
            <p:ph type="title"/>
          </p:nvPr>
        </p:nvSpPr>
        <p:spPr>
          <a:xfrm>
            <a:off x="507999" y="609600"/>
            <a:ext cx="2888343" cy="1320800"/>
          </a:xfrm>
        </p:spPr>
        <p:txBody>
          <a:bodyPr>
            <a:normAutofit/>
          </a:bodyPr>
          <a:lstStyle/>
          <a:p>
            <a:r>
              <a:rPr lang="en-US" dirty="0"/>
              <a:t>Insertion Sort</a:t>
            </a:r>
          </a:p>
        </p:txBody>
      </p:sp>
      <p:sp>
        <p:nvSpPr>
          <p:cNvPr id="5" name="Content Placeholder 4">
            <a:extLst>
              <a:ext uri="{FF2B5EF4-FFF2-40B4-BE49-F238E27FC236}">
                <a16:creationId xmlns:a16="http://schemas.microsoft.com/office/drawing/2014/main" id="{083E553F-57EE-B5C7-778D-602E73417836}"/>
              </a:ext>
            </a:extLst>
          </p:cNvPr>
          <p:cNvSpPr>
            <a:spLocks noGrp="1"/>
          </p:cNvSpPr>
          <p:nvPr>
            <p:ph idx="1"/>
          </p:nvPr>
        </p:nvSpPr>
        <p:spPr>
          <a:xfrm>
            <a:off x="508000" y="2160589"/>
            <a:ext cx="2888342" cy="3880773"/>
          </a:xfrm>
        </p:spPr>
        <p:txBody>
          <a:bodyPr>
            <a:normAutofit/>
          </a:bodyPr>
          <a:lstStyle/>
          <a:p>
            <a:pPr marL="0" indent="0">
              <a:buNone/>
            </a:pPr>
            <a:r>
              <a:rPr lang="en-US" dirty="0"/>
              <a:t>Insertion sort builds a sorted section one value at a time.</a:t>
            </a:r>
          </a:p>
          <a:p>
            <a:pPr marL="0" indent="0">
              <a:buNone/>
            </a:pPr>
            <a:endParaRPr lang="en-US" dirty="0"/>
          </a:p>
          <a:p>
            <a:pPr marL="0" indent="0">
              <a:buNone/>
            </a:pPr>
            <a:r>
              <a:rPr lang="en-US" dirty="0"/>
              <a:t>Basic pattern:</a:t>
            </a:r>
          </a:p>
          <a:p>
            <a:r>
              <a:rPr lang="en-US" dirty="0"/>
              <a:t>take the next value</a:t>
            </a:r>
          </a:p>
          <a:p>
            <a:r>
              <a:rPr lang="en-US" dirty="0"/>
              <a:t>find where it belongs in the sorted section</a:t>
            </a:r>
          </a:p>
          <a:p>
            <a:r>
              <a:rPr lang="en-US" dirty="0"/>
              <a:t>shift values if needed</a:t>
            </a:r>
          </a:p>
          <a:p>
            <a:r>
              <a:rPr lang="en-US" dirty="0"/>
              <a:t>insert it</a:t>
            </a:r>
          </a:p>
        </p:txBody>
      </p:sp>
      <p:cxnSp>
        <p:nvCxnSpPr>
          <p:cNvPr id="23" name="Straight Connector 22">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38220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0EE69-2155-53F4-078F-CE43D77441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51411E-4DEA-9F77-A1BE-3F9ACBF90816}"/>
              </a:ext>
            </a:extLst>
          </p:cNvPr>
          <p:cNvSpPr>
            <a:spLocks noGrp="1"/>
          </p:cNvSpPr>
          <p:nvPr>
            <p:ph type="title"/>
          </p:nvPr>
        </p:nvSpPr>
        <p:spPr>
          <a:xfrm>
            <a:off x="2137171" y="609600"/>
            <a:ext cx="4818330" cy="1320800"/>
          </a:xfrm>
        </p:spPr>
        <p:txBody>
          <a:bodyPr>
            <a:normAutofit/>
          </a:bodyPr>
          <a:lstStyle/>
          <a:p>
            <a:r>
              <a:rPr lang="en-US" dirty="0"/>
              <a:t>Insertion Sort Performance</a:t>
            </a:r>
          </a:p>
        </p:txBody>
      </p:sp>
      <p:pic>
        <p:nvPicPr>
          <p:cNvPr id="7" name="Picture 6" descr="Magnifying glass showing decling performance">
            <a:extLst>
              <a:ext uri="{FF2B5EF4-FFF2-40B4-BE49-F238E27FC236}">
                <a16:creationId xmlns:a16="http://schemas.microsoft.com/office/drawing/2014/main" id="{B85C5FB7-6974-E13B-C76F-641A577F6945}"/>
              </a:ext>
            </a:extLst>
          </p:cNvPr>
          <p:cNvPicPr>
            <a:picLocks noChangeAspect="1"/>
          </p:cNvPicPr>
          <p:nvPr/>
        </p:nvPicPr>
        <p:blipFill>
          <a:blip r:embed="rId3"/>
          <a:srcRect l="36093" r="43949" b="-2"/>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5" name="Content Placeholder 4">
            <a:extLst>
              <a:ext uri="{FF2B5EF4-FFF2-40B4-BE49-F238E27FC236}">
                <a16:creationId xmlns:a16="http://schemas.microsoft.com/office/drawing/2014/main" id="{FB151C82-1122-3D06-E9DA-327DB252440C}"/>
              </a:ext>
            </a:extLst>
          </p:cNvPr>
          <p:cNvSpPr>
            <a:spLocks noGrp="1"/>
          </p:cNvSpPr>
          <p:nvPr>
            <p:ph idx="1"/>
          </p:nvPr>
        </p:nvSpPr>
        <p:spPr>
          <a:xfrm>
            <a:off x="2137171" y="2160589"/>
            <a:ext cx="4818330" cy="3880773"/>
          </a:xfrm>
        </p:spPr>
        <p:txBody>
          <a:bodyPr>
            <a:normAutofit/>
          </a:bodyPr>
          <a:lstStyle/>
          <a:p>
            <a:pPr marL="0" indent="0">
              <a:buNone/>
            </a:pPr>
            <a:r>
              <a:rPr lang="en-US" dirty="0"/>
              <a:t>Insertion sort depends heavily on existing order.</a:t>
            </a:r>
          </a:p>
          <a:p>
            <a:pPr marL="0" indent="0">
              <a:buNone/>
            </a:pPr>
            <a:endParaRPr lang="en-US" dirty="0"/>
          </a:p>
          <a:p>
            <a:pPr marL="0" indent="0">
              <a:buNone/>
            </a:pPr>
            <a:r>
              <a:rPr lang="en-US" dirty="0"/>
              <a:t>It can be:</a:t>
            </a:r>
          </a:p>
          <a:p>
            <a:r>
              <a:rPr lang="en-US" dirty="0"/>
              <a:t>efficient for small lists</a:t>
            </a:r>
          </a:p>
          <a:p>
            <a:r>
              <a:rPr lang="en-US" dirty="0"/>
              <a:t>efficient for nearly sorted data</a:t>
            </a:r>
          </a:p>
          <a:p>
            <a:r>
              <a:rPr lang="en-US" dirty="0"/>
              <a:t>poor for badly unordered larger lists</a:t>
            </a:r>
          </a:p>
          <a:p>
            <a:pPr marL="0" indent="0">
              <a:buNone/>
            </a:pPr>
            <a:endParaRPr lang="en-US" dirty="0"/>
          </a:p>
          <a:p>
            <a:pPr marL="0" indent="0">
              <a:buNone/>
            </a:pPr>
            <a:r>
              <a:rPr lang="en-US" dirty="0"/>
              <a:t>Common worst-case growth label: O(n2)</a:t>
            </a:r>
          </a:p>
        </p:txBody>
      </p:sp>
    </p:spTree>
    <p:extLst>
      <p:ext uri="{BB962C8B-B14F-4D97-AF65-F5344CB8AC3E}">
        <p14:creationId xmlns:p14="http://schemas.microsoft.com/office/powerpoint/2010/main" val="3591792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352DE0-87D9-7169-E6CE-7122342EFC25}"/>
            </a:ext>
          </a:extLst>
        </p:cNvPr>
        <p:cNvGrpSpPr/>
        <p:nvPr/>
      </p:nvGrpSpPr>
      <p:grpSpPr>
        <a:xfrm>
          <a:off x="0" y="0"/>
          <a:ext cx="0" cy="0"/>
          <a:chOff x="0" y="0"/>
          <a:chExt cx="0" cy="0"/>
        </a:xfrm>
      </p:grpSpPr>
      <p:pic>
        <p:nvPicPr>
          <p:cNvPr id="7" name="Picture 6" descr="The surface of a shell">
            <a:extLst>
              <a:ext uri="{FF2B5EF4-FFF2-40B4-BE49-F238E27FC236}">
                <a16:creationId xmlns:a16="http://schemas.microsoft.com/office/drawing/2014/main" id="{9F529C7D-3309-93A7-9B32-B7E3DA48E2F8}"/>
              </a:ext>
            </a:extLst>
          </p:cNvPr>
          <p:cNvPicPr>
            <a:picLocks noChangeAspect="1"/>
          </p:cNvPicPr>
          <p:nvPr/>
        </p:nvPicPr>
        <p:blipFill>
          <a:blip r:embed="rId3"/>
          <a:srcRect l="13924" r="28245"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4" name="Title 3">
            <a:extLst>
              <a:ext uri="{FF2B5EF4-FFF2-40B4-BE49-F238E27FC236}">
                <a16:creationId xmlns:a16="http://schemas.microsoft.com/office/drawing/2014/main" id="{8A51610D-68D2-6842-7885-7C77F9AF24AC}"/>
              </a:ext>
            </a:extLst>
          </p:cNvPr>
          <p:cNvSpPr>
            <a:spLocks noGrp="1"/>
          </p:cNvSpPr>
          <p:nvPr>
            <p:ph type="title"/>
          </p:nvPr>
        </p:nvSpPr>
        <p:spPr>
          <a:xfrm>
            <a:off x="507999" y="609600"/>
            <a:ext cx="2888343" cy="1320800"/>
          </a:xfrm>
        </p:spPr>
        <p:txBody>
          <a:bodyPr>
            <a:normAutofit/>
          </a:bodyPr>
          <a:lstStyle/>
          <a:p>
            <a:r>
              <a:rPr lang="en-US" dirty="0"/>
              <a:t>Shell Sort</a:t>
            </a:r>
          </a:p>
        </p:txBody>
      </p:sp>
      <p:sp>
        <p:nvSpPr>
          <p:cNvPr id="5" name="Content Placeholder 4">
            <a:extLst>
              <a:ext uri="{FF2B5EF4-FFF2-40B4-BE49-F238E27FC236}">
                <a16:creationId xmlns:a16="http://schemas.microsoft.com/office/drawing/2014/main" id="{0E9B34B1-7198-538B-A4B7-5584CD8B7E73}"/>
              </a:ext>
            </a:extLst>
          </p:cNvPr>
          <p:cNvSpPr>
            <a:spLocks noGrp="1"/>
          </p:cNvSpPr>
          <p:nvPr>
            <p:ph idx="1"/>
          </p:nvPr>
        </p:nvSpPr>
        <p:spPr>
          <a:xfrm>
            <a:off x="508000" y="2160589"/>
            <a:ext cx="2888342" cy="3880773"/>
          </a:xfrm>
        </p:spPr>
        <p:txBody>
          <a:bodyPr>
            <a:normAutofit/>
          </a:bodyPr>
          <a:lstStyle/>
          <a:p>
            <a:pPr marL="0" indent="0">
              <a:lnSpc>
                <a:spcPct val="90000"/>
              </a:lnSpc>
              <a:buNone/>
            </a:pPr>
            <a:r>
              <a:rPr lang="en-US" dirty="0"/>
              <a:t>Shell sort compares values that are farther apart first.</a:t>
            </a:r>
            <a:endParaRPr lang="en-US"/>
          </a:p>
          <a:p>
            <a:pPr marL="0" indent="0">
              <a:lnSpc>
                <a:spcPct val="90000"/>
              </a:lnSpc>
              <a:buNone/>
            </a:pPr>
            <a:r>
              <a:rPr lang="en-US" dirty="0"/>
              <a:t>Then it gradually reduces the gap.</a:t>
            </a:r>
            <a:endParaRPr lang="en-US"/>
          </a:p>
          <a:p>
            <a:pPr marL="0" indent="0">
              <a:lnSpc>
                <a:spcPct val="90000"/>
              </a:lnSpc>
              <a:buNone/>
            </a:pPr>
            <a:endParaRPr lang="en-US"/>
          </a:p>
          <a:p>
            <a:pPr marL="0" indent="0">
              <a:lnSpc>
                <a:spcPct val="90000"/>
              </a:lnSpc>
              <a:buNone/>
            </a:pPr>
            <a:r>
              <a:rPr lang="en-US" dirty="0"/>
              <a:t>Purpose:</a:t>
            </a:r>
            <a:endParaRPr lang="en-US"/>
          </a:p>
          <a:p>
            <a:pPr>
              <a:lnSpc>
                <a:spcPct val="90000"/>
              </a:lnSpc>
            </a:pPr>
            <a:r>
              <a:rPr lang="en-US" dirty="0"/>
              <a:t>move values closer to their final position sooner</a:t>
            </a:r>
            <a:endParaRPr lang="en-US"/>
          </a:p>
          <a:p>
            <a:pPr>
              <a:lnSpc>
                <a:spcPct val="90000"/>
              </a:lnSpc>
            </a:pPr>
            <a:r>
              <a:rPr lang="en-US" dirty="0"/>
              <a:t>finish with smaller local adjustments</a:t>
            </a:r>
            <a:endParaRPr lang="en-US"/>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17008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178B00-3259-D3B1-83D4-95FD10C089CB}"/>
            </a:ext>
          </a:extLst>
        </p:cNvPr>
        <p:cNvGrpSpPr/>
        <p:nvPr/>
      </p:nvGrpSpPr>
      <p:grpSpPr>
        <a:xfrm>
          <a:off x="0" y="0"/>
          <a:ext cx="0" cy="0"/>
          <a:chOff x="0" y="0"/>
          <a:chExt cx="0" cy="0"/>
        </a:xfrm>
      </p:grpSpPr>
      <p:pic>
        <p:nvPicPr>
          <p:cNvPr id="7" name="Picture 6" descr="A top view of wooden blocks on a white background">
            <a:extLst>
              <a:ext uri="{FF2B5EF4-FFF2-40B4-BE49-F238E27FC236}">
                <a16:creationId xmlns:a16="http://schemas.microsoft.com/office/drawing/2014/main" id="{DA4783BA-AD66-9D4C-085F-849C50E5C68C}"/>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16" name="Isosceles Triangle 15">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Parallelogram 17">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6D3E6581-CBFA-C115-6D4F-DB426560DC9B}"/>
              </a:ext>
            </a:extLst>
          </p:cNvPr>
          <p:cNvSpPr>
            <a:spLocks noGrp="1"/>
          </p:cNvSpPr>
          <p:nvPr>
            <p:ph type="title"/>
          </p:nvPr>
        </p:nvSpPr>
        <p:spPr>
          <a:xfrm>
            <a:off x="2089535" y="609600"/>
            <a:ext cx="4865966" cy="1320800"/>
          </a:xfrm>
        </p:spPr>
        <p:txBody>
          <a:bodyPr anchor="t">
            <a:normAutofit/>
          </a:bodyPr>
          <a:lstStyle/>
          <a:p>
            <a:r>
              <a:rPr lang="en-US" dirty="0"/>
              <a:t>Merge Sort</a:t>
            </a:r>
          </a:p>
        </p:txBody>
      </p:sp>
      <p:sp>
        <p:nvSpPr>
          <p:cNvPr id="26"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B18D05F5-1D37-F5B7-06D0-270CC10DCD35}"/>
              </a:ext>
            </a:extLst>
          </p:cNvPr>
          <p:cNvSpPr>
            <a:spLocks noGrp="1"/>
          </p:cNvSpPr>
          <p:nvPr>
            <p:ph idx="1"/>
          </p:nvPr>
        </p:nvSpPr>
        <p:spPr>
          <a:xfrm>
            <a:off x="2089535" y="2159000"/>
            <a:ext cx="4865966" cy="3882362"/>
          </a:xfrm>
        </p:spPr>
        <p:txBody>
          <a:bodyPr>
            <a:normAutofit/>
          </a:bodyPr>
          <a:lstStyle/>
          <a:p>
            <a:pPr marL="0" indent="0">
              <a:buNone/>
            </a:pPr>
            <a:r>
              <a:rPr lang="en-US" dirty="0"/>
              <a:t>Merge sort divides, sorts, and combines.</a:t>
            </a:r>
            <a:endParaRPr lang="en-US"/>
          </a:p>
          <a:p>
            <a:pPr marL="0" indent="0">
              <a:buNone/>
            </a:pPr>
            <a:endParaRPr lang="en-US"/>
          </a:p>
          <a:p>
            <a:pPr marL="0" indent="0">
              <a:buNone/>
            </a:pPr>
            <a:r>
              <a:rPr lang="en-US" dirty="0"/>
              <a:t>Basic pattern:</a:t>
            </a:r>
            <a:endParaRPr lang="en-US"/>
          </a:p>
          <a:p>
            <a:r>
              <a:rPr lang="en-US" dirty="0"/>
              <a:t>split the data</a:t>
            </a:r>
            <a:endParaRPr lang="en-US"/>
          </a:p>
          <a:p>
            <a:r>
              <a:rPr lang="en-US" dirty="0"/>
              <a:t>sort smaller pieces</a:t>
            </a:r>
            <a:endParaRPr lang="en-US"/>
          </a:p>
          <a:p>
            <a:r>
              <a:rPr lang="en-US" dirty="0"/>
              <a:t>merge sorted pieces back together</a:t>
            </a:r>
            <a:endParaRPr lang="en-US"/>
          </a:p>
          <a:p>
            <a:pPr marL="0" indent="0">
              <a:buNone/>
            </a:pPr>
            <a:endParaRPr lang="en-US"/>
          </a:p>
          <a:p>
            <a:pPr marL="0" indent="0">
              <a:buNone/>
            </a:pPr>
            <a:r>
              <a:rPr lang="en-US" dirty="0"/>
              <a:t>Common growth label: O(n log n)</a:t>
            </a:r>
            <a:endParaRPr lang="en-US"/>
          </a:p>
        </p:txBody>
      </p:sp>
      <p:sp>
        <p:nvSpPr>
          <p:cNvPr id="30"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4160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3F218-B69F-836D-B040-1C429A6065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3E6DB7-CCA7-8D03-1E65-30638DF02D76}"/>
              </a:ext>
            </a:extLst>
          </p:cNvPr>
          <p:cNvSpPr>
            <a:spLocks noGrp="1"/>
          </p:cNvSpPr>
          <p:nvPr>
            <p:ph type="title"/>
          </p:nvPr>
        </p:nvSpPr>
        <p:spPr/>
        <p:txBody>
          <a:bodyPr/>
          <a:lstStyle/>
          <a:p>
            <a:r>
              <a:rPr lang="en-US" dirty="0"/>
              <a:t>Sorting Strategy Comparison</a:t>
            </a:r>
          </a:p>
        </p:txBody>
      </p:sp>
      <p:graphicFrame>
        <p:nvGraphicFramePr>
          <p:cNvPr id="2" name="Content Placeholder 1">
            <a:extLst>
              <a:ext uri="{FF2B5EF4-FFF2-40B4-BE49-F238E27FC236}">
                <a16:creationId xmlns:a16="http://schemas.microsoft.com/office/drawing/2014/main" id="{E62E368E-34F6-B78F-70BA-EE56A2FA1A9E}"/>
              </a:ext>
            </a:extLst>
          </p:cNvPr>
          <p:cNvGraphicFramePr>
            <a:graphicFrameLocks noGrp="1"/>
          </p:cNvGraphicFramePr>
          <p:nvPr>
            <p:ph idx="1"/>
            <p:extLst>
              <p:ext uri="{D42A27DB-BD31-4B8C-83A1-F6EECF244321}">
                <p14:modId xmlns:p14="http://schemas.microsoft.com/office/powerpoint/2010/main" val="1287877991"/>
              </p:ext>
            </p:extLst>
          </p:nvPr>
        </p:nvGraphicFramePr>
        <p:xfrm>
          <a:off x="609600" y="2160588"/>
          <a:ext cx="6348411" cy="2763520"/>
        </p:xfrm>
        <a:graphic>
          <a:graphicData uri="http://schemas.openxmlformats.org/drawingml/2006/table">
            <a:tbl>
              <a:tblPr firstRow="1" bandRow="1">
                <a:tableStyleId>{5C22544A-7EE6-4342-B048-85BDC9FD1C3A}</a:tableStyleId>
              </a:tblPr>
              <a:tblGrid>
                <a:gridCol w="1232263">
                  <a:extLst>
                    <a:ext uri="{9D8B030D-6E8A-4147-A177-3AD203B41FA5}">
                      <a16:colId xmlns:a16="http://schemas.microsoft.com/office/drawing/2014/main" val="957132735"/>
                    </a:ext>
                  </a:extLst>
                </a:gridCol>
                <a:gridCol w="2325188">
                  <a:extLst>
                    <a:ext uri="{9D8B030D-6E8A-4147-A177-3AD203B41FA5}">
                      <a16:colId xmlns:a16="http://schemas.microsoft.com/office/drawing/2014/main" val="371083481"/>
                    </a:ext>
                  </a:extLst>
                </a:gridCol>
                <a:gridCol w="2790960">
                  <a:extLst>
                    <a:ext uri="{9D8B030D-6E8A-4147-A177-3AD203B41FA5}">
                      <a16:colId xmlns:a16="http://schemas.microsoft.com/office/drawing/2014/main" val="1029017534"/>
                    </a:ext>
                  </a:extLst>
                </a:gridCol>
              </a:tblGrid>
              <a:tr h="370840">
                <a:tc>
                  <a:txBody>
                    <a:bodyPr/>
                    <a:lstStyle/>
                    <a:p>
                      <a:r>
                        <a:rPr lang="en-US" dirty="0"/>
                        <a:t>Algorithm</a:t>
                      </a:r>
                    </a:p>
                  </a:txBody>
                  <a:tcPr/>
                </a:tc>
                <a:tc>
                  <a:txBody>
                    <a:bodyPr/>
                    <a:lstStyle/>
                    <a:p>
                      <a:r>
                        <a:rPr lang="en-US" dirty="0"/>
                        <a:t>Strategy</a:t>
                      </a:r>
                    </a:p>
                  </a:txBody>
                  <a:tcPr/>
                </a:tc>
                <a:tc>
                  <a:txBody>
                    <a:bodyPr/>
                    <a:lstStyle/>
                    <a:p>
                      <a:r>
                        <a:rPr lang="en-US" dirty="0"/>
                        <a:t>Taken Away</a:t>
                      </a:r>
                    </a:p>
                  </a:txBody>
                  <a:tcPr/>
                </a:tc>
                <a:extLst>
                  <a:ext uri="{0D108BD9-81ED-4DB2-BD59-A6C34878D82A}">
                    <a16:rowId xmlns:a16="http://schemas.microsoft.com/office/drawing/2014/main" val="337876727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Bubble</a:t>
                      </a:r>
                    </a:p>
                  </a:txBody>
                  <a:tcPr anchor="ctr"/>
                </a:tc>
                <a:tc>
                  <a:txBody>
                    <a:bodyPr/>
                    <a:lstStyle/>
                    <a:p>
                      <a:r>
                        <a:rPr lang="en-US" dirty="0"/>
                        <a:t>compare neighbors</a:t>
                      </a:r>
                    </a:p>
                  </a:txBody>
                  <a:tcPr anchor="ctr"/>
                </a:tc>
                <a:tc>
                  <a:txBody>
                    <a:bodyPr/>
                    <a:lstStyle/>
                    <a:p>
                      <a:r>
                        <a:rPr lang="en-US" dirty="0"/>
                        <a:t>visible but inefficient</a:t>
                      </a:r>
                    </a:p>
                  </a:txBody>
                  <a:tcPr anchor="ctr"/>
                </a:tc>
                <a:extLst>
                  <a:ext uri="{0D108BD9-81ED-4DB2-BD59-A6C34878D82A}">
                    <a16:rowId xmlns:a16="http://schemas.microsoft.com/office/drawing/2014/main" val="3876358721"/>
                  </a:ext>
                </a:extLst>
              </a:tr>
              <a:tr h="370840">
                <a:tc>
                  <a:txBody>
                    <a:bodyPr/>
                    <a:lstStyle/>
                    <a:p>
                      <a:r>
                        <a:rPr lang="en-US" dirty="0"/>
                        <a:t>Selection</a:t>
                      </a:r>
                    </a:p>
                  </a:txBody>
                  <a:tcPr anchor="ctr"/>
                </a:tc>
                <a:tc>
                  <a:txBody>
                    <a:bodyPr/>
                    <a:lstStyle/>
                    <a:p>
                      <a:r>
                        <a:rPr lang="en-US" dirty="0"/>
                        <a:t>choose next smallest</a:t>
                      </a:r>
                    </a:p>
                  </a:txBody>
                  <a:tcPr anchor="ctr"/>
                </a:tc>
                <a:tc>
                  <a:txBody>
                    <a:bodyPr/>
                    <a:lstStyle/>
                    <a:p>
                      <a:r>
                        <a:rPr lang="en-US" dirty="0"/>
                        <a:t>organized repeated scanning</a:t>
                      </a:r>
                    </a:p>
                  </a:txBody>
                  <a:tcPr anchor="ctr"/>
                </a:tc>
                <a:extLst>
                  <a:ext uri="{0D108BD9-81ED-4DB2-BD59-A6C34878D82A}">
                    <a16:rowId xmlns:a16="http://schemas.microsoft.com/office/drawing/2014/main" val="1736825182"/>
                  </a:ext>
                </a:extLst>
              </a:tr>
              <a:tr h="370840">
                <a:tc>
                  <a:txBody>
                    <a:bodyPr/>
                    <a:lstStyle/>
                    <a:p>
                      <a:r>
                        <a:rPr lang="en-US" dirty="0"/>
                        <a:t>Insertion</a:t>
                      </a:r>
                    </a:p>
                  </a:txBody>
                  <a:tcPr anchor="ctr"/>
                </a:tc>
                <a:tc>
                  <a:txBody>
                    <a:bodyPr/>
                    <a:lstStyle/>
                    <a:p>
                      <a:r>
                        <a:rPr lang="en-US" dirty="0"/>
                        <a:t>insert into sorted section</a:t>
                      </a:r>
                    </a:p>
                  </a:txBody>
                  <a:tcPr anchor="ctr"/>
                </a:tc>
                <a:tc>
                  <a:txBody>
                    <a:bodyPr/>
                    <a:lstStyle/>
                    <a:p>
                      <a:r>
                        <a:rPr lang="en-US" dirty="0"/>
                        <a:t>useful for small or nearly sorted data</a:t>
                      </a:r>
                    </a:p>
                  </a:txBody>
                  <a:tcPr anchor="ctr"/>
                </a:tc>
                <a:extLst>
                  <a:ext uri="{0D108BD9-81ED-4DB2-BD59-A6C34878D82A}">
                    <a16:rowId xmlns:a16="http://schemas.microsoft.com/office/drawing/2014/main" val="1333518824"/>
                  </a:ext>
                </a:extLst>
              </a:tr>
              <a:tr h="370840">
                <a:tc>
                  <a:txBody>
                    <a:bodyPr/>
                    <a:lstStyle/>
                    <a:p>
                      <a:r>
                        <a:rPr lang="en-US" dirty="0"/>
                        <a:t>Shell</a:t>
                      </a:r>
                    </a:p>
                  </a:txBody>
                  <a:tcPr anchor="ctr"/>
                </a:tc>
                <a:tc>
                  <a:txBody>
                    <a:bodyPr/>
                    <a:lstStyle/>
                    <a:p>
                      <a:r>
                        <a:rPr lang="en-US" dirty="0"/>
                        <a:t>compare by gaps</a:t>
                      </a:r>
                    </a:p>
                  </a:txBody>
                  <a:tcPr anchor="ctr"/>
                </a:tc>
                <a:tc>
                  <a:txBody>
                    <a:bodyPr/>
                    <a:lstStyle/>
                    <a:p>
                      <a:r>
                        <a:rPr lang="en-US" dirty="0"/>
                        <a:t>refined insertion idea</a:t>
                      </a:r>
                    </a:p>
                  </a:txBody>
                  <a:tcPr anchor="ctr"/>
                </a:tc>
                <a:extLst>
                  <a:ext uri="{0D108BD9-81ED-4DB2-BD59-A6C34878D82A}">
                    <a16:rowId xmlns:a16="http://schemas.microsoft.com/office/drawing/2014/main" val="3249847157"/>
                  </a:ext>
                </a:extLst>
              </a:tr>
              <a:tr h="370840">
                <a:tc>
                  <a:txBody>
                    <a:bodyPr/>
                    <a:lstStyle/>
                    <a:p>
                      <a:r>
                        <a:rPr lang="en-US" dirty="0"/>
                        <a:t>Merge</a:t>
                      </a:r>
                    </a:p>
                  </a:txBody>
                  <a:tcPr anchor="ctr"/>
                </a:tc>
                <a:tc>
                  <a:txBody>
                    <a:bodyPr/>
                    <a:lstStyle/>
                    <a:p>
                      <a:r>
                        <a:rPr lang="en-US" dirty="0"/>
                        <a:t>divide and combine</a:t>
                      </a:r>
                    </a:p>
                  </a:txBody>
                  <a:tcPr anchor="ctr"/>
                </a:tc>
                <a:tc>
                  <a:txBody>
                    <a:bodyPr/>
                    <a:lstStyle/>
                    <a:p>
                      <a:r>
                        <a:rPr lang="en-US" dirty="0"/>
                        <a:t>stronger growth behavior</a:t>
                      </a:r>
                    </a:p>
                  </a:txBody>
                  <a:tcPr anchor="ctr"/>
                </a:tc>
                <a:extLst>
                  <a:ext uri="{0D108BD9-81ED-4DB2-BD59-A6C34878D82A}">
                    <a16:rowId xmlns:a16="http://schemas.microsoft.com/office/drawing/2014/main" val="3521573720"/>
                  </a:ext>
                </a:extLst>
              </a:tr>
            </a:tbl>
          </a:graphicData>
        </a:graphic>
      </p:graphicFrame>
    </p:spTree>
    <p:extLst>
      <p:ext uri="{BB962C8B-B14F-4D97-AF65-F5344CB8AC3E}">
        <p14:creationId xmlns:p14="http://schemas.microsoft.com/office/powerpoint/2010/main" val="3787946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9" name="Straight Connector 28">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1"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36178CC2-83AD-56ED-53E9-616B59A60348}"/>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Sorting Comparison</a:t>
            </a:r>
          </a:p>
        </p:txBody>
      </p:sp>
      <p:pic>
        <p:nvPicPr>
          <p:cNvPr id="8" name="Picture Placeholder 7">
            <a:extLst>
              <a:ext uri="{FF2B5EF4-FFF2-40B4-BE49-F238E27FC236}">
                <a16:creationId xmlns:a16="http://schemas.microsoft.com/office/drawing/2014/main" id="{9D39A4FF-6AB4-75ED-AD11-D693EB72761C}"/>
              </a:ext>
            </a:extLst>
          </p:cNvPr>
          <p:cNvPicPr>
            <a:picLocks noGrp="1" noChangeAspect="1"/>
          </p:cNvPicPr>
          <p:nvPr>
            <p:ph type="pic" idx="1"/>
          </p:nvPr>
        </p:nvPicPr>
        <p:blipFill>
          <a:blip r:embed="rId3"/>
          <a:srcRect l="-467" t="309" r="-469" b="309"/>
          <a:stretch>
            <a:fillRect/>
          </a:stretch>
        </p:blipFill>
        <p:spPr>
          <a:xfrm>
            <a:off x="726755" y="838202"/>
            <a:ext cx="6460726" cy="3635025"/>
          </a:xfrm>
          <a:prstGeom prst="rect">
            <a:avLst/>
          </a:prstGeom>
        </p:spPr>
      </p:pic>
    </p:spTree>
    <p:extLst>
      <p:ext uri="{BB962C8B-B14F-4D97-AF65-F5344CB8AC3E}">
        <p14:creationId xmlns:p14="http://schemas.microsoft.com/office/powerpoint/2010/main" val="68464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Arrows pointing right while one points left">
            <a:extLst>
              <a:ext uri="{FF2B5EF4-FFF2-40B4-BE49-F238E27FC236}">
                <a16:creationId xmlns:a16="http://schemas.microsoft.com/office/drawing/2014/main" id="{5046E78C-EBA1-3E82-D335-7E3E2C27CACE}"/>
              </a:ext>
            </a:extLst>
          </p:cNvPr>
          <p:cNvPicPr>
            <a:picLocks noChangeAspect="1"/>
          </p:cNvPicPr>
          <p:nvPr/>
        </p:nvPicPr>
        <p:blipFill>
          <a:blip r:embed="rId2"/>
          <a:srcRect l="32302" r="9867"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4" name="Title 3">
            <a:extLst>
              <a:ext uri="{FF2B5EF4-FFF2-40B4-BE49-F238E27FC236}">
                <a16:creationId xmlns:a16="http://schemas.microsoft.com/office/drawing/2014/main" id="{14D4570C-E482-7E93-C614-CB351C4A859E}"/>
              </a:ext>
            </a:extLst>
          </p:cNvPr>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3900"/>
              <a:t>Sorting Performance and Choice</a:t>
            </a:r>
          </a:p>
        </p:txBody>
      </p:sp>
      <p:sp>
        <p:nvSpPr>
          <p:cNvPr id="5" name="Text Placeholder 4">
            <a:extLst>
              <a:ext uri="{FF2B5EF4-FFF2-40B4-BE49-F238E27FC236}">
                <a16:creationId xmlns:a16="http://schemas.microsoft.com/office/drawing/2014/main" id="{BA735039-CF5E-23B8-F54C-08C4F14D5311}"/>
              </a:ext>
            </a:extLst>
          </p:cNvPr>
          <p:cNvSpPr>
            <a:spLocks noGrp="1"/>
          </p:cNvSpPr>
          <p:nvPr>
            <p:ph type="body" idx="1"/>
          </p:nvPr>
        </p:nvSpPr>
        <p:spPr>
          <a:xfrm>
            <a:off x="508001" y="4050831"/>
            <a:ext cx="3059791" cy="1096901"/>
          </a:xfrm>
        </p:spPr>
        <p:txBody>
          <a:bodyPr vert="horz" lIns="91440" tIns="45720" rIns="91440" bIns="45720" rtlCol="0" anchor="t">
            <a:normAutofit/>
          </a:bodyPr>
          <a:lstStyle/>
          <a:p>
            <a:pPr algn="r"/>
            <a:endParaRPr lang="en-US" sz="1400"/>
          </a:p>
        </p:txBody>
      </p:sp>
      <p:cxnSp>
        <p:nvCxnSpPr>
          <p:cNvPr id="23" name="Straight Connector 22">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96972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936D16-0E56-59DD-915F-77412FE468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EB6C26-23E3-4A70-49DF-24E86C926BA8}"/>
              </a:ext>
            </a:extLst>
          </p:cNvPr>
          <p:cNvSpPr>
            <a:spLocks noGrp="1"/>
          </p:cNvSpPr>
          <p:nvPr>
            <p:ph type="title"/>
          </p:nvPr>
        </p:nvSpPr>
        <p:spPr>
          <a:xfrm>
            <a:off x="4152550" y="609600"/>
            <a:ext cx="2802951" cy="1320800"/>
          </a:xfrm>
        </p:spPr>
        <p:txBody>
          <a:bodyPr>
            <a:normAutofit/>
          </a:bodyPr>
          <a:lstStyle/>
          <a:p>
            <a:pPr>
              <a:lnSpc>
                <a:spcPct val="90000"/>
              </a:lnSpc>
            </a:pPr>
            <a:r>
              <a:rPr lang="en-US" sz="2500"/>
              <a:t>Choosing A Sorting Algorithm</a:t>
            </a:r>
            <a:br>
              <a:rPr lang="en-US" sz="2500"/>
            </a:br>
            <a:endParaRPr lang="en-US" sz="2500"/>
          </a:p>
        </p:txBody>
      </p:sp>
      <p:sp>
        <p:nvSpPr>
          <p:cNvPr id="5" name="Content Placeholder 4">
            <a:extLst>
              <a:ext uri="{FF2B5EF4-FFF2-40B4-BE49-F238E27FC236}">
                <a16:creationId xmlns:a16="http://schemas.microsoft.com/office/drawing/2014/main" id="{28EFBFA5-FCE9-B20C-4066-19455FCFE0A6}"/>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dirty="0"/>
              <a:t>Choosing a sort depends on:</a:t>
            </a:r>
            <a:endParaRPr lang="en-US"/>
          </a:p>
          <a:p>
            <a:pPr marL="0" indent="0">
              <a:lnSpc>
                <a:spcPct val="90000"/>
              </a:lnSpc>
              <a:buNone/>
            </a:pPr>
            <a:endParaRPr lang="en-US"/>
          </a:p>
          <a:p>
            <a:pPr>
              <a:lnSpc>
                <a:spcPct val="90000"/>
              </a:lnSpc>
            </a:pPr>
            <a:r>
              <a:rPr lang="en-US" dirty="0"/>
              <a:t>data size</a:t>
            </a:r>
            <a:endParaRPr lang="en-US"/>
          </a:p>
          <a:p>
            <a:pPr>
              <a:lnSpc>
                <a:spcPct val="90000"/>
              </a:lnSpc>
            </a:pPr>
            <a:r>
              <a:rPr lang="en-US" dirty="0"/>
              <a:t>current order</a:t>
            </a:r>
            <a:endParaRPr lang="en-US"/>
          </a:p>
          <a:p>
            <a:pPr>
              <a:lnSpc>
                <a:spcPct val="90000"/>
              </a:lnSpc>
            </a:pPr>
            <a:r>
              <a:rPr lang="en-US" dirty="0"/>
              <a:t>memory limits</a:t>
            </a:r>
            <a:endParaRPr lang="en-US"/>
          </a:p>
          <a:p>
            <a:pPr>
              <a:lnSpc>
                <a:spcPct val="90000"/>
              </a:lnSpc>
            </a:pPr>
            <a:r>
              <a:rPr lang="en-US" dirty="0"/>
              <a:t>need for simplicity</a:t>
            </a:r>
            <a:endParaRPr lang="en-US"/>
          </a:p>
          <a:p>
            <a:pPr>
              <a:lnSpc>
                <a:spcPct val="90000"/>
              </a:lnSpc>
            </a:pPr>
            <a:r>
              <a:rPr lang="en-US" dirty="0"/>
              <a:t>need for predictable performance</a:t>
            </a:r>
            <a:endParaRPr lang="en-US"/>
          </a:p>
          <a:p>
            <a:pPr>
              <a:lnSpc>
                <a:spcPct val="90000"/>
              </a:lnSpc>
            </a:pPr>
            <a:r>
              <a:rPr lang="en-US" dirty="0"/>
              <a:t>whether built-in sorting is acceptable</a:t>
            </a:r>
            <a:endParaRPr lang="en-US"/>
          </a:p>
        </p:txBody>
      </p:sp>
      <p:pic>
        <p:nvPicPr>
          <p:cNvPr id="7" name="Picture 6" descr="A person reaching for a paper on a table full of paper and sticky notes">
            <a:extLst>
              <a:ext uri="{FF2B5EF4-FFF2-40B4-BE49-F238E27FC236}">
                <a16:creationId xmlns:a16="http://schemas.microsoft.com/office/drawing/2014/main" id="{48820642-5422-3C1F-F6E6-FA14139551BB}"/>
              </a:ext>
            </a:extLst>
          </p:cNvPr>
          <p:cNvPicPr>
            <a:picLocks noChangeAspect="1"/>
          </p:cNvPicPr>
          <p:nvPr/>
        </p:nvPicPr>
        <p:blipFill>
          <a:blip r:embed="rId3"/>
          <a:srcRect l="29812" r="3080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84571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77C131-C06C-7904-1744-35C93A53C2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880901-C8FB-0E10-57C8-31207352A077}"/>
              </a:ext>
            </a:extLst>
          </p:cNvPr>
          <p:cNvSpPr>
            <a:spLocks noGrp="1"/>
          </p:cNvSpPr>
          <p:nvPr>
            <p:ph type="title"/>
          </p:nvPr>
        </p:nvSpPr>
        <p:spPr>
          <a:xfrm>
            <a:off x="3261842" y="609600"/>
            <a:ext cx="3693658" cy="1320800"/>
          </a:xfrm>
        </p:spPr>
        <p:txBody>
          <a:bodyPr anchor="ctr">
            <a:normAutofit/>
          </a:bodyPr>
          <a:lstStyle/>
          <a:p>
            <a:pPr>
              <a:lnSpc>
                <a:spcPct val="90000"/>
              </a:lnSpc>
            </a:pPr>
            <a:r>
              <a:rPr lang="en-US" sz="3100"/>
              <a:t>Simple Does Not Always Mean Wrong</a:t>
            </a:r>
          </a:p>
        </p:txBody>
      </p:sp>
      <p:pic>
        <p:nvPicPr>
          <p:cNvPr id="9" name="Graphic 8" descr="Programmer">
            <a:extLst>
              <a:ext uri="{FF2B5EF4-FFF2-40B4-BE49-F238E27FC236}">
                <a16:creationId xmlns:a16="http://schemas.microsoft.com/office/drawing/2014/main" id="{8F318923-8F43-84D2-0CE7-ECF3E425FB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9860" y="2133089"/>
            <a:ext cx="2438776" cy="2438776"/>
          </a:xfrm>
          <a:prstGeom prst="rect">
            <a:avLst/>
          </a:prstGeom>
        </p:spPr>
      </p:pic>
      <p:sp>
        <p:nvSpPr>
          <p:cNvPr id="5" name="Content Placeholder 4">
            <a:extLst>
              <a:ext uri="{FF2B5EF4-FFF2-40B4-BE49-F238E27FC236}">
                <a16:creationId xmlns:a16="http://schemas.microsoft.com/office/drawing/2014/main" id="{D3E54743-1996-30A4-354E-A44E1E6CB5C7}"/>
              </a:ext>
            </a:extLst>
          </p:cNvPr>
          <p:cNvSpPr>
            <a:spLocks noGrp="1"/>
          </p:cNvSpPr>
          <p:nvPr>
            <p:ph idx="1"/>
          </p:nvPr>
        </p:nvSpPr>
        <p:spPr>
          <a:xfrm>
            <a:off x="3261842" y="2160590"/>
            <a:ext cx="3691407" cy="3739698"/>
          </a:xfrm>
        </p:spPr>
        <p:txBody>
          <a:bodyPr>
            <a:normAutofit/>
          </a:bodyPr>
          <a:lstStyle/>
          <a:p>
            <a:pPr marL="0" indent="0">
              <a:lnSpc>
                <a:spcPct val="90000"/>
              </a:lnSpc>
              <a:buNone/>
            </a:pPr>
            <a:r>
              <a:rPr lang="en-US" dirty="0"/>
              <a:t>A simple algorithm can be appropriate when:</a:t>
            </a:r>
            <a:endParaRPr lang="en-US"/>
          </a:p>
          <a:p>
            <a:pPr marL="0" indent="0">
              <a:lnSpc>
                <a:spcPct val="90000"/>
              </a:lnSpc>
              <a:buNone/>
            </a:pPr>
            <a:endParaRPr lang="en-US"/>
          </a:p>
          <a:p>
            <a:pPr>
              <a:lnSpc>
                <a:spcPct val="90000"/>
              </a:lnSpc>
            </a:pPr>
            <a:r>
              <a:rPr lang="en-US" dirty="0"/>
              <a:t>the data is small</a:t>
            </a:r>
            <a:endParaRPr lang="en-US"/>
          </a:p>
          <a:p>
            <a:pPr>
              <a:lnSpc>
                <a:spcPct val="90000"/>
              </a:lnSpc>
            </a:pPr>
            <a:r>
              <a:rPr lang="en-US" dirty="0"/>
              <a:t>clarity matters most</a:t>
            </a:r>
            <a:endParaRPr lang="en-US"/>
          </a:p>
          <a:p>
            <a:pPr>
              <a:lnSpc>
                <a:spcPct val="90000"/>
              </a:lnSpc>
            </a:pPr>
            <a:r>
              <a:rPr lang="en-US" dirty="0"/>
              <a:t>the cost is acceptable</a:t>
            </a:r>
            <a:endParaRPr lang="en-US"/>
          </a:p>
          <a:p>
            <a:pPr>
              <a:lnSpc>
                <a:spcPct val="90000"/>
              </a:lnSpc>
            </a:pPr>
            <a:r>
              <a:rPr lang="en-US" dirty="0"/>
              <a:t>the goal is learning or verification</a:t>
            </a:r>
            <a:endParaRPr lang="en-US"/>
          </a:p>
          <a:p>
            <a:pPr marL="0" indent="0">
              <a:lnSpc>
                <a:spcPct val="90000"/>
              </a:lnSpc>
              <a:buNone/>
            </a:pPr>
            <a:endParaRPr lang="en-US"/>
          </a:p>
          <a:p>
            <a:pPr marL="0" indent="0">
              <a:lnSpc>
                <a:spcPct val="90000"/>
              </a:lnSpc>
              <a:buNone/>
            </a:pPr>
            <a:r>
              <a:rPr lang="en-US" dirty="0"/>
              <a:t>But simple should still be explained honestly.</a:t>
            </a:r>
            <a:endParaRPr lang="en-US"/>
          </a:p>
        </p:txBody>
      </p:sp>
    </p:spTree>
    <p:extLst>
      <p:ext uri="{BB962C8B-B14F-4D97-AF65-F5344CB8AC3E}">
        <p14:creationId xmlns:p14="http://schemas.microsoft.com/office/powerpoint/2010/main" val="979652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4B853-A2FF-A374-A5C0-A22CE71FCC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2D88FA-A547-E846-2EE5-E7B939E6F36E}"/>
              </a:ext>
            </a:extLst>
          </p:cNvPr>
          <p:cNvSpPr>
            <a:spLocks noGrp="1"/>
          </p:cNvSpPr>
          <p:nvPr>
            <p:ph type="title"/>
          </p:nvPr>
        </p:nvSpPr>
        <p:spPr/>
        <p:txBody>
          <a:bodyPr/>
          <a:lstStyle/>
          <a:p>
            <a:r>
              <a:rPr lang="en-US" dirty="0"/>
              <a:t>Performance Claims:</a:t>
            </a:r>
            <a:br>
              <a:rPr lang="en-US" dirty="0"/>
            </a:br>
            <a:r>
              <a:rPr lang="en-US" dirty="0"/>
              <a:t>Needs Conditions</a:t>
            </a:r>
          </a:p>
        </p:txBody>
      </p:sp>
      <p:sp>
        <p:nvSpPr>
          <p:cNvPr id="2" name="Text Placeholder 1">
            <a:extLst>
              <a:ext uri="{FF2B5EF4-FFF2-40B4-BE49-F238E27FC236}">
                <a16:creationId xmlns:a16="http://schemas.microsoft.com/office/drawing/2014/main" id="{0312E5D8-C562-0983-C5B8-52F4DACB1A07}"/>
              </a:ext>
            </a:extLst>
          </p:cNvPr>
          <p:cNvSpPr>
            <a:spLocks noGrp="1"/>
          </p:cNvSpPr>
          <p:nvPr>
            <p:ph type="body" idx="1"/>
          </p:nvPr>
        </p:nvSpPr>
        <p:spPr>
          <a:xfrm>
            <a:off x="609599" y="3324153"/>
            <a:ext cx="3090672" cy="576262"/>
          </a:xfrm>
        </p:spPr>
        <p:txBody>
          <a:bodyPr/>
          <a:lstStyle/>
          <a:p>
            <a:pPr algn="ctr"/>
            <a:r>
              <a:rPr lang="en-US" dirty="0"/>
              <a:t>Avoid</a:t>
            </a:r>
          </a:p>
        </p:txBody>
      </p:sp>
      <p:sp>
        <p:nvSpPr>
          <p:cNvPr id="5" name="Content Placeholder 4">
            <a:extLst>
              <a:ext uri="{FF2B5EF4-FFF2-40B4-BE49-F238E27FC236}">
                <a16:creationId xmlns:a16="http://schemas.microsoft.com/office/drawing/2014/main" id="{1863AD60-B60D-FBEE-AA38-03F6401E1DCF}"/>
              </a:ext>
            </a:extLst>
          </p:cNvPr>
          <p:cNvSpPr>
            <a:spLocks noGrp="1"/>
          </p:cNvSpPr>
          <p:nvPr>
            <p:ph sz="half" idx="2"/>
          </p:nvPr>
        </p:nvSpPr>
        <p:spPr>
          <a:xfrm>
            <a:off x="609599" y="3900417"/>
            <a:ext cx="3090672" cy="1586560"/>
          </a:xfrm>
        </p:spPr>
        <p:txBody>
          <a:bodyPr>
            <a:normAutofit/>
          </a:bodyPr>
          <a:lstStyle/>
          <a:p>
            <a:r>
              <a:rPr lang="en-US" dirty="0"/>
              <a:t>"This is faster."</a:t>
            </a:r>
          </a:p>
          <a:p>
            <a:r>
              <a:rPr lang="en-US" dirty="0"/>
              <a:t>"This is better."</a:t>
            </a:r>
          </a:p>
          <a:p>
            <a:r>
              <a:rPr lang="en-US" dirty="0"/>
              <a:t>"This always works."</a:t>
            </a:r>
          </a:p>
          <a:p>
            <a:pPr marL="0" indent="0">
              <a:buNone/>
            </a:pPr>
            <a:endParaRPr lang="en-US" dirty="0"/>
          </a:p>
        </p:txBody>
      </p:sp>
      <p:sp>
        <p:nvSpPr>
          <p:cNvPr id="3" name="Text Placeholder 2">
            <a:extLst>
              <a:ext uri="{FF2B5EF4-FFF2-40B4-BE49-F238E27FC236}">
                <a16:creationId xmlns:a16="http://schemas.microsoft.com/office/drawing/2014/main" id="{1F7073C5-94DA-8E89-E40A-19B148486C5A}"/>
              </a:ext>
            </a:extLst>
          </p:cNvPr>
          <p:cNvSpPr>
            <a:spLocks noGrp="1"/>
          </p:cNvSpPr>
          <p:nvPr>
            <p:ph type="body" sz="quarter" idx="3"/>
          </p:nvPr>
        </p:nvSpPr>
        <p:spPr>
          <a:xfrm>
            <a:off x="3866640" y="3324153"/>
            <a:ext cx="3090672" cy="576262"/>
          </a:xfrm>
        </p:spPr>
        <p:txBody>
          <a:bodyPr/>
          <a:lstStyle/>
          <a:p>
            <a:pPr algn="ctr"/>
            <a:r>
              <a:rPr lang="en-US" dirty="0"/>
              <a:t>Use</a:t>
            </a:r>
          </a:p>
        </p:txBody>
      </p:sp>
      <p:sp>
        <p:nvSpPr>
          <p:cNvPr id="6" name="Content Placeholder 5">
            <a:extLst>
              <a:ext uri="{FF2B5EF4-FFF2-40B4-BE49-F238E27FC236}">
                <a16:creationId xmlns:a16="http://schemas.microsoft.com/office/drawing/2014/main" id="{C8F013B1-6282-F34E-3429-0E5315C07982}"/>
              </a:ext>
            </a:extLst>
          </p:cNvPr>
          <p:cNvSpPr>
            <a:spLocks noGrp="1"/>
          </p:cNvSpPr>
          <p:nvPr>
            <p:ph sz="quarter" idx="4"/>
          </p:nvPr>
        </p:nvSpPr>
        <p:spPr>
          <a:xfrm>
            <a:off x="3866640" y="3900416"/>
            <a:ext cx="3090672" cy="1586561"/>
          </a:xfrm>
        </p:spPr>
        <p:txBody>
          <a:bodyPr>
            <a:normAutofit/>
          </a:bodyPr>
          <a:lstStyle/>
          <a:p>
            <a:r>
              <a:rPr lang="en-US" dirty="0"/>
              <a:t>"This is faster when..."</a:t>
            </a:r>
          </a:p>
          <a:p>
            <a:r>
              <a:rPr lang="en-US" dirty="0"/>
              <a:t>"This is valid if..."</a:t>
            </a:r>
          </a:p>
          <a:p>
            <a:r>
              <a:rPr lang="en-US" dirty="0"/>
              <a:t>"This performs better for..."</a:t>
            </a:r>
          </a:p>
          <a:p>
            <a:pPr marL="0" indent="0">
              <a:buNone/>
            </a:pPr>
            <a:endParaRPr lang="en-US" dirty="0"/>
          </a:p>
        </p:txBody>
      </p:sp>
      <p:pic>
        <p:nvPicPr>
          <p:cNvPr id="8" name="Graphic 7" descr="No sign with solid fill">
            <a:extLst>
              <a:ext uri="{FF2B5EF4-FFF2-40B4-BE49-F238E27FC236}">
                <a16:creationId xmlns:a16="http://schemas.microsoft.com/office/drawing/2014/main" id="{650D1C1E-AEA1-0C03-1F3B-43D0E5D154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97735" y="2318312"/>
            <a:ext cx="914400" cy="914400"/>
          </a:xfrm>
          <a:prstGeom prst="rect">
            <a:avLst/>
          </a:prstGeom>
        </p:spPr>
      </p:pic>
      <p:pic>
        <p:nvPicPr>
          <p:cNvPr id="10" name="Graphic 9" descr="Clipboard Checked with solid fill">
            <a:extLst>
              <a:ext uri="{FF2B5EF4-FFF2-40B4-BE49-F238E27FC236}">
                <a16:creationId xmlns:a16="http://schemas.microsoft.com/office/drawing/2014/main" id="{0AD01B73-6659-5238-5DA6-2F634DFBEC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83257" y="2318312"/>
            <a:ext cx="914400" cy="914400"/>
          </a:xfrm>
          <a:prstGeom prst="rect">
            <a:avLst/>
          </a:prstGeom>
        </p:spPr>
      </p:pic>
    </p:spTree>
    <p:extLst>
      <p:ext uri="{BB962C8B-B14F-4D97-AF65-F5344CB8AC3E}">
        <p14:creationId xmlns:p14="http://schemas.microsoft.com/office/powerpoint/2010/main" val="3312953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72F13F-BE73-6460-5A2C-19EF6417D7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C3B641-6944-4E16-51FE-30962AAB71B3}"/>
              </a:ext>
            </a:extLst>
          </p:cNvPr>
          <p:cNvSpPr>
            <a:spLocks noGrp="1"/>
          </p:cNvSpPr>
          <p:nvPr>
            <p:ph type="title"/>
          </p:nvPr>
        </p:nvSpPr>
        <p:spPr>
          <a:xfrm>
            <a:off x="3261842" y="609600"/>
            <a:ext cx="3693658" cy="1320800"/>
          </a:xfrm>
        </p:spPr>
        <p:txBody>
          <a:bodyPr anchor="ctr">
            <a:normAutofit/>
          </a:bodyPr>
          <a:lstStyle/>
          <a:p>
            <a:r>
              <a:rPr lang="en-US" dirty="0"/>
              <a:t>Sorting As Preparation</a:t>
            </a:r>
          </a:p>
        </p:txBody>
      </p:sp>
      <p:pic>
        <p:nvPicPr>
          <p:cNvPr id="9" name="Graphic 8" descr="Sort with solid fill">
            <a:extLst>
              <a:ext uri="{FF2B5EF4-FFF2-40B4-BE49-F238E27FC236}">
                <a16:creationId xmlns:a16="http://schemas.microsoft.com/office/drawing/2014/main" id="{392D2A92-EE67-CEE3-F005-2C0DF86825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99860" y="2133089"/>
            <a:ext cx="2438776" cy="2438776"/>
          </a:xfrm>
          <a:prstGeom prst="rect">
            <a:avLst/>
          </a:prstGeom>
        </p:spPr>
      </p:pic>
      <p:sp>
        <p:nvSpPr>
          <p:cNvPr id="5" name="Content Placeholder 4">
            <a:extLst>
              <a:ext uri="{FF2B5EF4-FFF2-40B4-BE49-F238E27FC236}">
                <a16:creationId xmlns:a16="http://schemas.microsoft.com/office/drawing/2014/main" id="{0D28F032-7DC3-2889-29FF-FC04B54F03F2}"/>
              </a:ext>
            </a:extLst>
          </p:cNvPr>
          <p:cNvSpPr>
            <a:spLocks noGrp="1"/>
          </p:cNvSpPr>
          <p:nvPr>
            <p:ph idx="1"/>
          </p:nvPr>
        </p:nvSpPr>
        <p:spPr>
          <a:xfrm>
            <a:off x="3261842" y="2160590"/>
            <a:ext cx="3691407" cy="3739698"/>
          </a:xfrm>
        </p:spPr>
        <p:txBody>
          <a:bodyPr>
            <a:normAutofit/>
          </a:bodyPr>
          <a:lstStyle/>
          <a:p>
            <a:pPr marL="0" indent="0">
              <a:buNone/>
            </a:pPr>
            <a:r>
              <a:rPr lang="en-US" dirty="0"/>
              <a:t>Sorting may be useful before searching when:</a:t>
            </a:r>
          </a:p>
          <a:p>
            <a:pPr marL="0" indent="0">
              <a:buNone/>
            </a:pPr>
            <a:endParaRPr lang="en-US" dirty="0"/>
          </a:p>
          <a:p>
            <a:r>
              <a:rPr lang="en-US" dirty="0"/>
              <a:t>many searches will happen</a:t>
            </a:r>
          </a:p>
          <a:p>
            <a:r>
              <a:rPr lang="en-US" dirty="0"/>
              <a:t>the data will be reused</a:t>
            </a:r>
          </a:p>
          <a:p>
            <a:r>
              <a:rPr lang="en-US" dirty="0"/>
              <a:t>the search strategy depends on order</a:t>
            </a:r>
          </a:p>
          <a:p>
            <a:r>
              <a:rPr lang="en-US" dirty="0"/>
              <a:t>the sorting cost is worth the later benefit</a:t>
            </a:r>
          </a:p>
        </p:txBody>
      </p:sp>
    </p:spTree>
    <p:extLst>
      <p:ext uri="{BB962C8B-B14F-4D97-AF65-F5344CB8AC3E}">
        <p14:creationId xmlns:p14="http://schemas.microsoft.com/office/powerpoint/2010/main" val="2172947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4" name="Straight Connector 13">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5154AB3-9489-FA33-DDCD-DD8857258421}"/>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Sorting As Preparation</a:t>
            </a:r>
          </a:p>
        </p:txBody>
      </p:sp>
      <p:pic>
        <p:nvPicPr>
          <p:cNvPr id="8" name="Picture Placeholder 7">
            <a:extLst>
              <a:ext uri="{FF2B5EF4-FFF2-40B4-BE49-F238E27FC236}">
                <a16:creationId xmlns:a16="http://schemas.microsoft.com/office/drawing/2014/main" id="{87131837-4EF0-5211-D34A-CDD234AD8C3D}"/>
              </a:ext>
            </a:extLst>
          </p:cNvPr>
          <p:cNvPicPr>
            <a:picLocks noGrp="1" noChangeAspect="1"/>
          </p:cNvPicPr>
          <p:nvPr>
            <p:ph type="pic" idx="1"/>
          </p:nvPr>
        </p:nvPicPr>
        <p:blipFill>
          <a:blip r:embed="rId3"/>
          <a:srcRect r="3968" b="2"/>
          <a:stretch>
            <a:fillRect/>
          </a:stretch>
        </p:blipFill>
        <p:spPr>
          <a:xfrm>
            <a:off x="508000" y="468621"/>
            <a:ext cx="6206002" cy="3635025"/>
          </a:xfrm>
          <a:custGeom>
            <a:avLst/>
            <a:gdLst/>
            <a:ahLst/>
            <a:cxnLst/>
            <a:rect l="l" t="t" r="r" b="b"/>
            <a:pathLst>
              <a:path w="8274669" h="3635025">
                <a:moveTo>
                  <a:pt x="540554" y="0"/>
                </a:moveTo>
                <a:lnTo>
                  <a:pt x="8274669" y="0"/>
                </a:lnTo>
                <a:lnTo>
                  <a:pt x="8274669" y="3635025"/>
                </a:lnTo>
                <a:lnTo>
                  <a:pt x="0" y="3635025"/>
                </a:lnTo>
                <a:close/>
              </a:path>
            </a:pathLst>
          </a:custGeom>
        </p:spPr>
      </p:pic>
    </p:spTree>
    <p:extLst>
      <p:ext uri="{BB962C8B-B14F-4D97-AF65-F5344CB8AC3E}">
        <p14:creationId xmlns:p14="http://schemas.microsoft.com/office/powerpoint/2010/main" val="1140696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698A7A0-274F-F015-93BC-F03CEA3F89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6605D6-982C-B731-7795-E3F9925742B0}"/>
              </a:ext>
            </a:extLst>
          </p:cNvPr>
          <p:cNvSpPr>
            <a:spLocks noGrp="1"/>
          </p:cNvSpPr>
          <p:nvPr>
            <p:ph type="title"/>
          </p:nvPr>
        </p:nvSpPr>
        <p:spPr>
          <a:xfrm>
            <a:off x="4152550" y="609600"/>
            <a:ext cx="2802951" cy="1320800"/>
          </a:xfrm>
        </p:spPr>
        <p:txBody>
          <a:bodyPr>
            <a:normAutofit/>
          </a:bodyPr>
          <a:lstStyle/>
          <a:p>
            <a:r>
              <a:rPr lang="en-US" dirty="0"/>
              <a:t>From Sort To Search</a:t>
            </a:r>
          </a:p>
        </p:txBody>
      </p:sp>
      <p:sp>
        <p:nvSpPr>
          <p:cNvPr id="5" name="Content Placeholder 4">
            <a:extLst>
              <a:ext uri="{FF2B5EF4-FFF2-40B4-BE49-F238E27FC236}">
                <a16:creationId xmlns:a16="http://schemas.microsoft.com/office/drawing/2014/main" id="{E9DA239D-4223-C065-E36E-7370383F380F}"/>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sz="1500" dirty="0"/>
              <a:t>Sorting changes what search can assume.</a:t>
            </a:r>
          </a:p>
          <a:p>
            <a:pPr marL="0" indent="0">
              <a:lnSpc>
                <a:spcPct val="90000"/>
              </a:lnSpc>
              <a:buNone/>
            </a:pPr>
            <a:endParaRPr lang="en-US" sz="1500" dirty="0"/>
          </a:p>
          <a:p>
            <a:pPr marL="0" indent="0">
              <a:lnSpc>
                <a:spcPct val="90000"/>
              </a:lnSpc>
              <a:buNone/>
            </a:pPr>
            <a:r>
              <a:rPr lang="en-US" sz="1500" dirty="0"/>
              <a:t>Unsorted data:</a:t>
            </a:r>
          </a:p>
          <a:p>
            <a:pPr>
              <a:lnSpc>
                <a:spcPct val="90000"/>
              </a:lnSpc>
            </a:pPr>
            <a:r>
              <a:rPr lang="en-US" sz="1500" dirty="0"/>
              <a:t>Linear search is safe</a:t>
            </a:r>
          </a:p>
          <a:p>
            <a:pPr>
              <a:lnSpc>
                <a:spcPct val="90000"/>
              </a:lnSpc>
            </a:pPr>
            <a:r>
              <a:rPr lang="en-US" sz="1500" dirty="0"/>
              <a:t>Binary search is not trustworthy</a:t>
            </a:r>
          </a:p>
          <a:p>
            <a:pPr marL="0" indent="0">
              <a:lnSpc>
                <a:spcPct val="90000"/>
              </a:lnSpc>
              <a:buNone/>
            </a:pPr>
            <a:endParaRPr lang="en-US" sz="1500" dirty="0"/>
          </a:p>
          <a:p>
            <a:pPr marL="0" indent="0">
              <a:lnSpc>
                <a:spcPct val="90000"/>
              </a:lnSpc>
              <a:buNone/>
            </a:pPr>
            <a:r>
              <a:rPr lang="en-US" sz="1500" dirty="0"/>
              <a:t>Sorted data:</a:t>
            </a:r>
          </a:p>
          <a:p>
            <a:pPr>
              <a:lnSpc>
                <a:spcPct val="90000"/>
              </a:lnSpc>
            </a:pPr>
            <a:r>
              <a:rPr lang="en-US" sz="1500" dirty="0"/>
              <a:t>Linear search still works</a:t>
            </a:r>
          </a:p>
          <a:p>
            <a:pPr>
              <a:lnSpc>
                <a:spcPct val="90000"/>
              </a:lnSpc>
            </a:pPr>
            <a:r>
              <a:rPr lang="en-US" sz="1500" dirty="0"/>
              <a:t>Binary search can use the order</a:t>
            </a:r>
          </a:p>
        </p:txBody>
      </p:sp>
      <p:pic>
        <p:nvPicPr>
          <p:cNvPr id="7" name="Picture 6" descr="Magnifying glass on clear background">
            <a:extLst>
              <a:ext uri="{FF2B5EF4-FFF2-40B4-BE49-F238E27FC236}">
                <a16:creationId xmlns:a16="http://schemas.microsoft.com/office/drawing/2014/main" id="{FEC4B70A-52C7-C33F-15F9-767E334B09B8}"/>
              </a:ext>
            </a:extLst>
          </p:cNvPr>
          <p:cNvPicPr>
            <a:picLocks noChangeAspect="1"/>
          </p:cNvPicPr>
          <p:nvPr/>
        </p:nvPicPr>
        <p:blipFill>
          <a:blip r:embed="rId3"/>
          <a:srcRect l="43449" r="17169"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98005546"/>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6" name="Picture 5" descr="An early morning coffee with bread and a newspaper on top of the table">
            <a:extLst>
              <a:ext uri="{FF2B5EF4-FFF2-40B4-BE49-F238E27FC236}">
                <a16:creationId xmlns:a16="http://schemas.microsoft.com/office/drawing/2014/main" id="{2CA68A41-59AC-F3FD-75C1-FCADEBC3CAC0}"/>
              </a:ext>
            </a:extLst>
          </p:cNvPr>
          <p:cNvPicPr>
            <a:picLocks noChangeAspect="1"/>
          </p:cNvPicPr>
          <p:nvPr/>
        </p:nvPicPr>
        <p:blipFill>
          <a:blip r:embed="rId3"/>
          <a:srcRect l="27073" r="33544"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63908760-A3AD-E66A-3E04-035F758D74CE}"/>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r>
              <a:rPr lang="en-US" sz="5400"/>
              <a:t>Break</a:t>
            </a:r>
          </a:p>
        </p:txBody>
      </p:sp>
      <p:sp>
        <p:nvSpPr>
          <p:cNvPr id="4" name="Text Placeholder 3">
            <a:extLst>
              <a:ext uri="{FF2B5EF4-FFF2-40B4-BE49-F238E27FC236}">
                <a16:creationId xmlns:a16="http://schemas.microsoft.com/office/drawing/2014/main" id="{C9D4AA2D-3713-F440-C083-19BB24F18FEB}"/>
              </a:ext>
            </a:extLst>
          </p:cNvPr>
          <p:cNvSpPr>
            <a:spLocks noGrp="1"/>
          </p:cNvSpPr>
          <p:nvPr>
            <p:ph type="body" idx="1"/>
          </p:nvPr>
        </p:nvSpPr>
        <p:spPr>
          <a:xfrm>
            <a:off x="4035422" y="4050833"/>
            <a:ext cx="2920080" cy="1096899"/>
          </a:xfrm>
        </p:spPr>
        <p:txBody>
          <a:bodyPr vert="horz" lIns="91440" tIns="45720" rIns="91440" bIns="45720" rtlCol="0" anchor="t">
            <a:normAutofit/>
          </a:bodyPr>
          <a:lstStyle/>
          <a:p>
            <a:pPr algn="r"/>
            <a:r>
              <a:rPr lang="en-US" sz="1800" dirty="0"/>
              <a:t>10 Minute “Human” </a:t>
            </a:r>
            <a:br>
              <a:rPr lang="en-US" sz="1800" dirty="0"/>
            </a:br>
            <a:r>
              <a:rPr lang="en-US" sz="1800" dirty="0"/>
              <a:t>bio-break</a:t>
            </a:r>
          </a:p>
        </p:txBody>
      </p:sp>
    </p:spTree>
    <p:extLst>
      <p:ext uri="{BB962C8B-B14F-4D97-AF65-F5344CB8AC3E}">
        <p14:creationId xmlns:p14="http://schemas.microsoft.com/office/powerpoint/2010/main" val="1244407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38177F90-0C8F-0564-5E40-A6B192D02E37}"/>
              </a:ext>
            </a:extLst>
          </p:cNvPr>
          <p:cNvSpPr>
            <a:spLocks noGrp="1"/>
          </p:cNvSpPr>
          <p:nvPr>
            <p:ph type="title"/>
          </p:nvPr>
        </p:nvSpPr>
        <p:spPr>
          <a:xfrm>
            <a:off x="3730752" y="1265314"/>
            <a:ext cx="3224750" cy="3249131"/>
          </a:xfrm>
        </p:spPr>
        <p:txBody>
          <a:bodyPr vert="horz" lIns="91440" tIns="45720" rIns="91440" bIns="45720" rtlCol="0" anchor="b">
            <a:normAutofit/>
          </a:bodyPr>
          <a:lstStyle/>
          <a:p>
            <a:r>
              <a:rPr lang="en-US" sz="4200" dirty="0"/>
              <a:t>Searching Foundations</a:t>
            </a:r>
          </a:p>
        </p:txBody>
      </p:sp>
      <p:sp>
        <p:nvSpPr>
          <p:cNvPr id="3" name="Text Placeholder 2">
            <a:extLst>
              <a:ext uri="{FF2B5EF4-FFF2-40B4-BE49-F238E27FC236}">
                <a16:creationId xmlns:a16="http://schemas.microsoft.com/office/drawing/2014/main" id="{637B084D-15ED-0DDE-BD56-0934719E703B}"/>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2" name="Isosceles Triangle 21">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Magnifying glass">
            <a:extLst>
              <a:ext uri="{FF2B5EF4-FFF2-40B4-BE49-F238E27FC236}">
                <a16:creationId xmlns:a16="http://schemas.microsoft.com/office/drawing/2014/main" id="{3F9289AE-72F6-227F-59D8-68612FD48B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13923724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03519A-D2B6-3BD3-2B63-4E4316026A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2832EB-D685-BFA6-D52B-CCC9A5E2BF2B}"/>
              </a:ext>
            </a:extLst>
          </p:cNvPr>
          <p:cNvSpPr>
            <a:spLocks noGrp="1"/>
          </p:cNvSpPr>
          <p:nvPr>
            <p:ph type="title"/>
          </p:nvPr>
        </p:nvSpPr>
        <p:spPr>
          <a:xfrm>
            <a:off x="2089535" y="609600"/>
            <a:ext cx="4865966" cy="1320800"/>
          </a:xfrm>
        </p:spPr>
        <p:txBody>
          <a:bodyPr>
            <a:normAutofit/>
          </a:bodyPr>
          <a:lstStyle/>
          <a:p>
            <a:r>
              <a:rPr lang="en-US" dirty="0"/>
              <a:t>Linear Search</a:t>
            </a:r>
          </a:p>
        </p:txBody>
      </p:sp>
      <p:pic>
        <p:nvPicPr>
          <p:cNvPr id="7" name="Picture 6" descr="Magnifying glass and question mark">
            <a:extLst>
              <a:ext uri="{FF2B5EF4-FFF2-40B4-BE49-F238E27FC236}">
                <a16:creationId xmlns:a16="http://schemas.microsoft.com/office/drawing/2014/main" id="{FC05F857-594E-EED0-A53D-69E180D992E8}"/>
              </a:ext>
            </a:extLst>
          </p:cNvPr>
          <p:cNvPicPr>
            <a:picLocks noChangeAspect="1"/>
          </p:cNvPicPr>
          <p:nvPr/>
        </p:nvPicPr>
        <p:blipFill>
          <a:blip r:embed="rId3">
            <a:duotone>
              <a:prstClr val="black"/>
              <a:schemeClr val="tx2">
                <a:tint val="45000"/>
                <a:satMod val="400000"/>
              </a:schemeClr>
            </a:duotone>
          </a:blip>
          <a:srcRect l="46055" r="37171"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1" name="Isosceles Triangle 10">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95F684DB-66F5-6CE7-822C-627DF05B0F82}"/>
              </a:ext>
            </a:extLst>
          </p:cNvPr>
          <p:cNvSpPr>
            <a:spLocks noGrp="1"/>
          </p:cNvSpPr>
          <p:nvPr>
            <p:ph idx="1"/>
          </p:nvPr>
        </p:nvSpPr>
        <p:spPr>
          <a:xfrm>
            <a:off x="2089535" y="2160589"/>
            <a:ext cx="4865966" cy="3880773"/>
          </a:xfrm>
        </p:spPr>
        <p:txBody>
          <a:bodyPr>
            <a:normAutofit/>
          </a:bodyPr>
          <a:lstStyle/>
          <a:p>
            <a:pPr marL="0" indent="0">
              <a:buNone/>
            </a:pPr>
            <a:r>
              <a:rPr lang="en-US" dirty="0"/>
              <a:t>Linear search checks values one at a time.</a:t>
            </a:r>
          </a:p>
          <a:p>
            <a:pPr marL="0" indent="0">
              <a:buNone/>
            </a:pPr>
            <a:endParaRPr lang="en-US" dirty="0"/>
          </a:p>
          <a:p>
            <a:pPr marL="0" indent="0">
              <a:buNone/>
            </a:pPr>
            <a:r>
              <a:rPr lang="en-US" dirty="0"/>
              <a:t>It asks:</a:t>
            </a:r>
          </a:p>
          <a:p>
            <a:r>
              <a:rPr lang="en-US" dirty="0"/>
              <a:t>Is this the target?</a:t>
            </a:r>
          </a:p>
          <a:p>
            <a:r>
              <a:rPr lang="en-US" dirty="0"/>
              <a:t>If not, check the next value</a:t>
            </a:r>
          </a:p>
          <a:p>
            <a:r>
              <a:rPr lang="en-US" dirty="0"/>
              <a:t>Stop when found or when the list ends</a:t>
            </a:r>
          </a:p>
        </p:txBody>
      </p:sp>
    </p:spTree>
    <p:extLst>
      <p:ext uri="{BB962C8B-B14F-4D97-AF65-F5344CB8AC3E}">
        <p14:creationId xmlns:p14="http://schemas.microsoft.com/office/powerpoint/2010/main" val="2740936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1C29F1-C56D-A0EB-15EA-43B6AC2930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E9FA11-BCD8-DEDA-56B3-FE0747BC9C0F}"/>
              </a:ext>
            </a:extLst>
          </p:cNvPr>
          <p:cNvSpPr>
            <a:spLocks noGrp="1"/>
          </p:cNvSpPr>
          <p:nvPr>
            <p:ph type="title"/>
          </p:nvPr>
        </p:nvSpPr>
        <p:spPr>
          <a:xfrm>
            <a:off x="4152550" y="609600"/>
            <a:ext cx="2802951" cy="1320800"/>
          </a:xfrm>
        </p:spPr>
        <p:txBody>
          <a:bodyPr>
            <a:normAutofit/>
          </a:bodyPr>
          <a:lstStyle/>
          <a:p>
            <a:pPr>
              <a:lnSpc>
                <a:spcPct val="90000"/>
              </a:lnSpc>
            </a:pPr>
            <a:r>
              <a:rPr lang="en-US" sz="2800"/>
              <a:t>Linear Search Performance</a:t>
            </a:r>
            <a:br>
              <a:rPr lang="en-US" sz="2800"/>
            </a:br>
            <a:endParaRPr lang="en-US" sz="2800"/>
          </a:p>
        </p:txBody>
      </p:sp>
      <p:sp>
        <p:nvSpPr>
          <p:cNvPr id="5" name="Content Placeholder 4">
            <a:extLst>
              <a:ext uri="{FF2B5EF4-FFF2-40B4-BE49-F238E27FC236}">
                <a16:creationId xmlns:a16="http://schemas.microsoft.com/office/drawing/2014/main" id="{7F7C97DC-7398-A66E-A1A1-01FB2F88F264}"/>
              </a:ext>
            </a:extLst>
          </p:cNvPr>
          <p:cNvSpPr>
            <a:spLocks noGrp="1"/>
          </p:cNvSpPr>
          <p:nvPr>
            <p:ph idx="1"/>
          </p:nvPr>
        </p:nvSpPr>
        <p:spPr>
          <a:xfrm>
            <a:off x="3907172" y="2160589"/>
            <a:ext cx="3048329" cy="3880773"/>
          </a:xfrm>
        </p:spPr>
        <p:txBody>
          <a:bodyPr>
            <a:normAutofit/>
          </a:bodyPr>
          <a:lstStyle/>
          <a:p>
            <a:pPr marL="0" indent="0">
              <a:buNone/>
            </a:pPr>
            <a:r>
              <a:rPr lang="en-US" dirty="0"/>
              <a:t>Linear search:</a:t>
            </a:r>
          </a:p>
          <a:p>
            <a:pPr marL="0" indent="0">
              <a:buNone/>
            </a:pPr>
            <a:endParaRPr lang="en-US" dirty="0"/>
          </a:p>
          <a:p>
            <a:r>
              <a:rPr lang="en-US" dirty="0"/>
              <a:t>Best case: target is first</a:t>
            </a:r>
          </a:p>
          <a:p>
            <a:r>
              <a:rPr lang="en-US" dirty="0"/>
              <a:t>Worst case: target is last or missing</a:t>
            </a:r>
          </a:p>
          <a:p>
            <a:r>
              <a:rPr lang="en-US" dirty="0"/>
              <a:t>Common growth label: O(n)</a:t>
            </a:r>
          </a:p>
          <a:p>
            <a:pPr marL="0" indent="0">
              <a:buNone/>
            </a:pPr>
            <a:endParaRPr lang="en-US" dirty="0"/>
          </a:p>
          <a:p>
            <a:pPr marL="0" indent="0">
              <a:buNone/>
            </a:pPr>
            <a:r>
              <a:rPr lang="en-US" dirty="0"/>
              <a:t>It may check every value.</a:t>
            </a:r>
          </a:p>
        </p:txBody>
      </p:sp>
      <p:pic>
        <p:nvPicPr>
          <p:cNvPr id="7" name="Picture 6" descr="A wall painted with an arrow and a dartboard">
            <a:extLst>
              <a:ext uri="{FF2B5EF4-FFF2-40B4-BE49-F238E27FC236}">
                <a16:creationId xmlns:a16="http://schemas.microsoft.com/office/drawing/2014/main" id="{C636BBBE-FE6E-157C-CE61-1A4BD622B590}"/>
              </a:ext>
            </a:extLst>
          </p:cNvPr>
          <p:cNvPicPr>
            <a:picLocks noChangeAspect="1"/>
          </p:cNvPicPr>
          <p:nvPr/>
        </p:nvPicPr>
        <p:blipFill>
          <a:blip r:embed="rId3"/>
          <a:srcRect l="57815"/>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2882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130A42-6EFD-46B3-D27A-38DBE88FEA75}"/>
            </a:ext>
          </a:extLst>
        </p:cNvPr>
        <p:cNvGrpSpPr/>
        <p:nvPr/>
      </p:nvGrpSpPr>
      <p:grpSpPr>
        <a:xfrm>
          <a:off x="0" y="0"/>
          <a:ext cx="0" cy="0"/>
          <a:chOff x="0" y="0"/>
          <a:chExt cx="0" cy="0"/>
        </a:xfrm>
      </p:grpSpPr>
      <p:pic>
        <p:nvPicPr>
          <p:cNvPr id="7" name="Picture 6" descr="A line of binary code">
            <a:extLst>
              <a:ext uri="{FF2B5EF4-FFF2-40B4-BE49-F238E27FC236}">
                <a16:creationId xmlns:a16="http://schemas.microsoft.com/office/drawing/2014/main" id="{B9727D30-7C53-700C-2A4A-B0B314FBA71D}"/>
              </a:ext>
            </a:extLst>
          </p:cNvPr>
          <p:cNvPicPr>
            <a:picLocks noChangeAspect="1"/>
          </p:cNvPicPr>
          <p:nvPr/>
        </p:nvPicPr>
        <p:blipFill>
          <a:blip r:embed="rId3"/>
          <a:srcRect l="29697" r="-1" b="9090"/>
          <a:stretch>
            <a:fillRect/>
          </a:stretch>
        </p:blipFill>
        <p:spPr>
          <a:xfrm>
            <a:off x="20" y="10"/>
            <a:ext cx="9143980" cy="6857990"/>
          </a:xfrm>
          <a:prstGeom prst="rect">
            <a:avLst/>
          </a:prstGeom>
        </p:spPr>
      </p:pic>
      <p:sp>
        <p:nvSpPr>
          <p:cNvPr id="16" name="Isosceles Triangle 15">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Parallelogram 17">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805A7C4D-49A1-8741-4A2B-EE595655A770}"/>
              </a:ext>
            </a:extLst>
          </p:cNvPr>
          <p:cNvSpPr>
            <a:spLocks noGrp="1"/>
          </p:cNvSpPr>
          <p:nvPr>
            <p:ph type="title"/>
          </p:nvPr>
        </p:nvSpPr>
        <p:spPr>
          <a:xfrm>
            <a:off x="2089535" y="609600"/>
            <a:ext cx="4865966" cy="1320800"/>
          </a:xfrm>
        </p:spPr>
        <p:txBody>
          <a:bodyPr anchor="t">
            <a:normAutofit/>
          </a:bodyPr>
          <a:lstStyle/>
          <a:p>
            <a:r>
              <a:rPr lang="en-US" dirty="0"/>
              <a:t>Binary Search</a:t>
            </a:r>
          </a:p>
        </p:txBody>
      </p:sp>
      <p:sp>
        <p:nvSpPr>
          <p:cNvPr id="26"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80F845AE-2C9D-6695-0E14-58673F3690E2}"/>
              </a:ext>
            </a:extLst>
          </p:cNvPr>
          <p:cNvSpPr>
            <a:spLocks noGrp="1"/>
          </p:cNvSpPr>
          <p:nvPr>
            <p:ph idx="1"/>
          </p:nvPr>
        </p:nvSpPr>
        <p:spPr>
          <a:xfrm>
            <a:off x="2089535" y="2159000"/>
            <a:ext cx="4865966" cy="3882362"/>
          </a:xfrm>
        </p:spPr>
        <p:txBody>
          <a:bodyPr>
            <a:normAutofit/>
          </a:bodyPr>
          <a:lstStyle/>
          <a:p>
            <a:pPr marL="0" indent="0">
              <a:buNone/>
            </a:pPr>
            <a:r>
              <a:rPr lang="en-US" dirty="0"/>
              <a:t>Binary search repeatedly checks the middle.</a:t>
            </a:r>
          </a:p>
          <a:p>
            <a:pPr marL="0" indent="0">
              <a:buNone/>
            </a:pPr>
            <a:endParaRPr lang="en-US" dirty="0"/>
          </a:p>
          <a:p>
            <a:pPr marL="0" indent="0">
              <a:buNone/>
            </a:pPr>
            <a:r>
              <a:rPr lang="en-US" dirty="0"/>
              <a:t>If the middle value is:</a:t>
            </a:r>
          </a:p>
          <a:p>
            <a:r>
              <a:rPr lang="en-US" dirty="0"/>
              <a:t>the target: stop</a:t>
            </a:r>
          </a:p>
          <a:p>
            <a:r>
              <a:rPr lang="en-US" dirty="0"/>
              <a:t>too low: search the upper half</a:t>
            </a:r>
          </a:p>
          <a:p>
            <a:r>
              <a:rPr lang="en-US" dirty="0"/>
              <a:t>too high: search the lower half</a:t>
            </a:r>
          </a:p>
        </p:txBody>
      </p:sp>
      <p:sp>
        <p:nvSpPr>
          <p:cNvPr id="30"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13346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1CAA7A-01DA-3255-C3E3-C5BE56C293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19463F-CA6C-6689-774C-35CD018CEDDB}"/>
              </a:ext>
            </a:extLst>
          </p:cNvPr>
          <p:cNvSpPr>
            <a:spLocks noGrp="1"/>
          </p:cNvSpPr>
          <p:nvPr>
            <p:ph type="title"/>
          </p:nvPr>
        </p:nvSpPr>
        <p:spPr>
          <a:xfrm>
            <a:off x="2089535" y="609600"/>
            <a:ext cx="4865966" cy="1320800"/>
          </a:xfrm>
        </p:spPr>
        <p:txBody>
          <a:bodyPr>
            <a:normAutofit/>
          </a:bodyPr>
          <a:lstStyle/>
          <a:p>
            <a:r>
              <a:rPr lang="en-US" dirty="0"/>
              <a:t>The Sorted-Data Precondition</a:t>
            </a:r>
          </a:p>
        </p:txBody>
      </p:sp>
      <p:pic>
        <p:nvPicPr>
          <p:cNvPr id="7" name="Picture 6" descr="Stock numbers on a digital display">
            <a:extLst>
              <a:ext uri="{FF2B5EF4-FFF2-40B4-BE49-F238E27FC236}">
                <a16:creationId xmlns:a16="http://schemas.microsoft.com/office/drawing/2014/main" id="{156F898E-3E34-46EF-5C7C-DA15B9B6A706}"/>
              </a:ext>
            </a:extLst>
          </p:cNvPr>
          <p:cNvPicPr>
            <a:picLocks noChangeAspect="1"/>
          </p:cNvPicPr>
          <p:nvPr/>
        </p:nvPicPr>
        <p:blipFill>
          <a:blip r:embed="rId3">
            <a:duotone>
              <a:prstClr val="black"/>
              <a:schemeClr val="tx2">
                <a:tint val="45000"/>
                <a:satMod val="400000"/>
              </a:schemeClr>
            </a:duotone>
          </a:blip>
          <a:srcRect l="53090" r="29540"/>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1" name="Isosceles Triangle 10">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99990A2B-9904-9344-9D54-F408C111DEE1}"/>
              </a:ext>
            </a:extLst>
          </p:cNvPr>
          <p:cNvSpPr>
            <a:spLocks noGrp="1"/>
          </p:cNvSpPr>
          <p:nvPr>
            <p:ph idx="1"/>
          </p:nvPr>
        </p:nvSpPr>
        <p:spPr>
          <a:xfrm>
            <a:off x="2089535" y="2160589"/>
            <a:ext cx="4865966" cy="3880773"/>
          </a:xfrm>
        </p:spPr>
        <p:txBody>
          <a:bodyPr>
            <a:normAutofit/>
          </a:bodyPr>
          <a:lstStyle/>
          <a:p>
            <a:pPr marL="0" indent="0">
              <a:buNone/>
            </a:pPr>
            <a:r>
              <a:rPr lang="en-US" dirty="0"/>
              <a:t>Binary search requires sorted data.</a:t>
            </a:r>
          </a:p>
          <a:p>
            <a:pPr marL="0" indent="0">
              <a:buNone/>
            </a:pPr>
            <a:endParaRPr lang="en-US" dirty="0"/>
          </a:p>
          <a:p>
            <a:pPr marL="0" indent="0">
              <a:buNone/>
            </a:pPr>
            <a:r>
              <a:rPr lang="en-US" dirty="0"/>
              <a:t>If the data is not sorted:</a:t>
            </a:r>
          </a:p>
          <a:p>
            <a:r>
              <a:rPr lang="en-US" dirty="0"/>
              <a:t>"too low" may not mean the target is above</a:t>
            </a:r>
          </a:p>
          <a:p>
            <a:r>
              <a:rPr lang="en-US" dirty="0"/>
              <a:t>"too high" may not mean the target is below</a:t>
            </a:r>
          </a:p>
          <a:p>
            <a:r>
              <a:rPr lang="en-US" dirty="0"/>
              <a:t>the algorithm can discard the wrong half</a:t>
            </a:r>
          </a:p>
        </p:txBody>
      </p:sp>
    </p:spTree>
    <p:extLst>
      <p:ext uri="{BB962C8B-B14F-4D97-AF65-F5344CB8AC3E}">
        <p14:creationId xmlns:p14="http://schemas.microsoft.com/office/powerpoint/2010/main" val="2239936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4" name="Straight Connector 13">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4D1F3AF2-E621-A0D4-8FBF-595BF966DDA4}"/>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dirty="0"/>
              <a:t>Binary Search</a:t>
            </a:r>
          </a:p>
        </p:txBody>
      </p:sp>
      <p:pic>
        <p:nvPicPr>
          <p:cNvPr id="8" name="Picture Placeholder 7">
            <a:extLst>
              <a:ext uri="{FF2B5EF4-FFF2-40B4-BE49-F238E27FC236}">
                <a16:creationId xmlns:a16="http://schemas.microsoft.com/office/drawing/2014/main" id="{8042D9ED-EB1B-487B-8441-E9CAD3AE1816}"/>
              </a:ext>
            </a:extLst>
          </p:cNvPr>
          <p:cNvPicPr>
            <a:picLocks noGrp="1" noChangeAspect="1"/>
          </p:cNvPicPr>
          <p:nvPr>
            <p:ph type="pic" idx="1"/>
          </p:nvPr>
        </p:nvPicPr>
        <p:blipFill>
          <a:blip r:embed="rId3"/>
          <a:srcRect l="3188" r="3186" b="-2"/>
          <a:stretch>
            <a:fillRect/>
          </a:stretch>
        </p:blipFill>
        <p:spPr>
          <a:xfrm>
            <a:off x="739476" y="609600"/>
            <a:ext cx="6216024" cy="3635025"/>
          </a:xfrm>
          <a:prstGeom prst="rect">
            <a:avLst/>
          </a:prstGeom>
        </p:spPr>
      </p:pic>
    </p:spTree>
    <p:extLst>
      <p:ext uri="{BB962C8B-B14F-4D97-AF65-F5344CB8AC3E}">
        <p14:creationId xmlns:p14="http://schemas.microsoft.com/office/powerpoint/2010/main" val="217799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84CC63-7F85-E4BF-A066-C18A69DE67E7}"/>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8466F94E-9B9F-CA8A-3185-72B22C4D3851}"/>
              </a:ext>
            </a:extLst>
          </p:cNvPr>
          <p:cNvSpPr>
            <a:spLocks noGrp="1"/>
          </p:cNvSpPr>
          <p:nvPr>
            <p:ph type="title"/>
          </p:nvPr>
        </p:nvSpPr>
        <p:spPr>
          <a:xfrm>
            <a:off x="739476" y="4553712"/>
            <a:ext cx="6216024" cy="1096316"/>
          </a:xfrm>
        </p:spPr>
        <p:txBody>
          <a:bodyPr vert="horz" lIns="91440" tIns="45720" rIns="91440" bIns="45720" rtlCol="0" anchor="b">
            <a:normAutofit/>
          </a:bodyPr>
          <a:lstStyle/>
          <a:p>
            <a:pPr algn="ctr">
              <a:lnSpc>
                <a:spcPct val="90000"/>
              </a:lnSpc>
            </a:pPr>
            <a:r>
              <a:rPr lang="en-US" dirty="0"/>
              <a:t>Binary Search Trace (Table)</a:t>
            </a:r>
            <a:endParaRPr lang="en-US"/>
          </a:p>
        </p:txBody>
      </p:sp>
      <p:sp>
        <p:nvSpPr>
          <p:cNvPr id="6" name="TextBox 5">
            <a:extLst>
              <a:ext uri="{FF2B5EF4-FFF2-40B4-BE49-F238E27FC236}">
                <a16:creationId xmlns:a16="http://schemas.microsoft.com/office/drawing/2014/main" id="{03264ED5-7156-AB50-339A-CF10D3C5DA30}"/>
              </a:ext>
            </a:extLst>
          </p:cNvPr>
          <p:cNvSpPr txBox="1"/>
          <p:nvPr/>
        </p:nvSpPr>
        <p:spPr>
          <a:xfrm>
            <a:off x="739476" y="5650029"/>
            <a:ext cx="6216024" cy="469122"/>
          </a:xfrm>
          <a:prstGeom prst="rect">
            <a:avLst/>
          </a:prstGeom>
        </p:spPr>
        <p:txBody>
          <a:bodyPr vert="horz" lIns="91440" tIns="45720" rIns="91440" bIns="45720" rtlCol="0" anchor="t">
            <a:normAutofit/>
          </a:bodyPr>
          <a:lstStyle/>
          <a:p>
            <a:pPr algn="ctr">
              <a:spcBef>
                <a:spcPts val="1000"/>
              </a:spcBef>
              <a:buClr>
                <a:schemeClr val="accent1">
                  <a:lumMod val="75000"/>
                </a:schemeClr>
              </a:buClr>
              <a:buSzPct val="80000"/>
            </a:pPr>
            <a:r>
              <a:rPr lang="en-US">
                <a:solidFill>
                  <a:schemeClr val="tx1">
                    <a:lumMod val="50000"/>
                    <a:lumOff val="50000"/>
                  </a:schemeClr>
                </a:solidFill>
              </a:rPr>
              <a:t>Target: 23</a:t>
            </a:r>
          </a:p>
        </p:txBody>
      </p:sp>
      <p:graphicFrame>
        <p:nvGraphicFramePr>
          <p:cNvPr id="3" name="Content Placeholder 2">
            <a:extLst>
              <a:ext uri="{FF2B5EF4-FFF2-40B4-BE49-F238E27FC236}">
                <a16:creationId xmlns:a16="http://schemas.microsoft.com/office/drawing/2014/main" id="{753678FD-80CA-9221-2D69-5A324F36AAC2}"/>
              </a:ext>
            </a:extLst>
          </p:cNvPr>
          <p:cNvGraphicFramePr>
            <a:graphicFrameLocks noGrp="1"/>
          </p:cNvGraphicFramePr>
          <p:nvPr>
            <p:ph idx="1"/>
            <p:extLst>
              <p:ext uri="{D42A27DB-BD31-4B8C-83A1-F6EECF244321}">
                <p14:modId xmlns:p14="http://schemas.microsoft.com/office/powerpoint/2010/main" val="2858334565"/>
              </p:ext>
            </p:extLst>
          </p:nvPr>
        </p:nvGraphicFramePr>
        <p:xfrm>
          <a:off x="739476" y="1038371"/>
          <a:ext cx="6216027" cy="3091152"/>
        </p:xfrm>
        <a:graphic>
          <a:graphicData uri="http://schemas.openxmlformats.org/drawingml/2006/table">
            <a:tbl>
              <a:tblPr firstRow="1" bandRow="1">
                <a:solidFill>
                  <a:schemeClr val="bg1"/>
                </a:solidFill>
                <a:tableStyleId>{5C22544A-7EE6-4342-B048-85BDC9FD1C3A}</a:tableStyleId>
              </a:tblPr>
              <a:tblGrid>
                <a:gridCol w="829062">
                  <a:extLst>
                    <a:ext uri="{9D8B030D-6E8A-4147-A177-3AD203B41FA5}">
                      <a16:colId xmlns:a16="http://schemas.microsoft.com/office/drawing/2014/main" val="2082336563"/>
                    </a:ext>
                  </a:extLst>
                </a:gridCol>
                <a:gridCol w="781598">
                  <a:extLst>
                    <a:ext uri="{9D8B030D-6E8A-4147-A177-3AD203B41FA5}">
                      <a16:colId xmlns:a16="http://schemas.microsoft.com/office/drawing/2014/main" val="3474430213"/>
                    </a:ext>
                  </a:extLst>
                </a:gridCol>
                <a:gridCol w="829062">
                  <a:extLst>
                    <a:ext uri="{9D8B030D-6E8A-4147-A177-3AD203B41FA5}">
                      <a16:colId xmlns:a16="http://schemas.microsoft.com/office/drawing/2014/main" val="3358088080"/>
                    </a:ext>
                  </a:extLst>
                </a:gridCol>
                <a:gridCol w="810077">
                  <a:extLst>
                    <a:ext uri="{9D8B030D-6E8A-4147-A177-3AD203B41FA5}">
                      <a16:colId xmlns:a16="http://schemas.microsoft.com/office/drawing/2014/main" val="1476217676"/>
                    </a:ext>
                  </a:extLst>
                </a:gridCol>
                <a:gridCol w="935381">
                  <a:extLst>
                    <a:ext uri="{9D8B030D-6E8A-4147-A177-3AD203B41FA5}">
                      <a16:colId xmlns:a16="http://schemas.microsoft.com/office/drawing/2014/main" val="3473872888"/>
                    </a:ext>
                  </a:extLst>
                </a:gridCol>
                <a:gridCol w="2030847">
                  <a:extLst>
                    <a:ext uri="{9D8B030D-6E8A-4147-A177-3AD203B41FA5}">
                      <a16:colId xmlns:a16="http://schemas.microsoft.com/office/drawing/2014/main" val="3779619790"/>
                    </a:ext>
                  </a:extLst>
                </a:gridCol>
              </a:tblGrid>
              <a:tr h="772788">
                <a:tc>
                  <a:txBody>
                    <a:bodyPr/>
                    <a:lstStyle/>
                    <a:p>
                      <a:r>
                        <a:rPr lang="en-US" sz="1700" b="0" cap="none" spc="0">
                          <a:solidFill>
                            <a:schemeClr val="bg1"/>
                          </a:solidFill>
                        </a:rPr>
                        <a:t>Step</a:t>
                      </a:r>
                    </a:p>
                  </a:txBody>
                  <a:tcPr marL="142164" marR="109357" marT="109357" marB="109357"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US" sz="1700" b="0" cap="none" spc="0">
                          <a:solidFill>
                            <a:schemeClr val="bg1"/>
                          </a:solidFill>
                        </a:rPr>
                        <a:t>Low</a:t>
                      </a:r>
                    </a:p>
                  </a:txBody>
                  <a:tcPr marL="142164" marR="109357" marT="109357" marB="109357"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700" b="0" cap="none" spc="0">
                          <a:solidFill>
                            <a:schemeClr val="bg1"/>
                          </a:solidFill>
                        </a:rPr>
                        <a:t>High</a:t>
                      </a:r>
                    </a:p>
                  </a:txBody>
                  <a:tcPr marL="142164" marR="109357" marT="109357" marB="109357"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700" b="0" cap="none" spc="0">
                          <a:solidFill>
                            <a:schemeClr val="bg1"/>
                          </a:solidFill>
                        </a:rPr>
                        <a:t>Mid Pos</a:t>
                      </a:r>
                    </a:p>
                  </a:txBody>
                  <a:tcPr marL="142164" marR="109357" marT="109357" marB="109357"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700" b="0" cap="none" spc="0">
                          <a:solidFill>
                            <a:schemeClr val="bg1"/>
                          </a:solidFill>
                        </a:rPr>
                        <a:t>Value</a:t>
                      </a:r>
                    </a:p>
                  </a:txBody>
                  <a:tcPr marL="142164" marR="109357" marT="109357" marB="109357"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700" b="0" cap="none" spc="0">
                          <a:solidFill>
                            <a:schemeClr val="bg1"/>
                          </a:solidFill>
                        </a:rPr>
                        <a:t>Decision</a:t>
                      </a:r>
                    </a:p>
                  </a:txBody>
                  <a:tcPr marL="142164" marR="109357" marT="109357" marB="109357"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146596454"/>
                  </a:ext>
                </a:extLst>
              </a:tr>
              <a:tr h="772788">
                <a:tc>
                  <a:txBody>
                    <a:bodyPr/>
                    <a:lstStyle/>
                    <a:p>
                      <a:pPr algn="ctr"/>
                      <a:r>
                        <a:rPr lang="en-US" sz="1700" cap="none" spc="0">
                          <a:solidFill>
                            <a:schemeClr val="tx1"/>
                          </a:solidFill>
                        </a:rPr>
                        <a:t>1</a:t>
                      </a:r>
                    </a:p>
                  </a:txBody>
                  <a:tcPr marL="142164" marR="109357" marT="109357" marB="109357">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r>
                        <a:rPr lang="en-US" sz="1700" cap="none" spc="0">
                          <a:solidFill>
                            <a:schemeClr val="tx1"/>
                          </a:solidFill>
                        </a:rPr>
                        <a:t>2</a:t>
                      </a:r>
                    </a:p>
                  </a:txBody>
                  <a:tcPr marL="142164" marR="109357" marT="109357" marB="109357">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r>
                        <a:rPr lang="en-US" sz="1700" cap="none" spc="0">
                          <a:solidFill>
                            <a:schemeClr val="tx1"/>
                          </a:solidFill>
                        </a:rPr>
                        <a:t>57</a:t>
                      </a:r>
                    </a:p>
                  </a:txBody>
                  <a:tcPr marL="142164" marR="109357" marT="109357" marB="109357">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r>
                        <a:rPr lang="en-US" sz="1700" cap="none" spc="0">
                          <a:solidFill>
                            <a:schemeClr val="tx1"/>
                          </a:solidFill>
                        </a:rPr>
                        <a:t>5th</a:t>
                      </a:r>
                    </a:p>
                  </a:txBody>
                  <a:tcPr marL="142164" marR="109357" marT="109357" marB="109357">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r>
                        <a:rPr lang="en-US" sz="1700" cap="none" spc="0">
                          <a:solidFill>
                            <a:schemeClr val="tx1"/>
                          </a:solidFill>
                        </a:rPr>
                        <a:t>16</a:t>
                      </a:r>
                    </a:p>
                  </a:txBody>
                  <a:tcPr marL="142164" marR="109357" marT="109357" marB="109357">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r>
                        <a:rPr lang="en-US" sz="1700" cap="none" spc="0">
                          <a:solidFill>
                            <a:schemeClr val="tx1"/>
                          </a:solidFill>
                        </a:rPr>
                        <a:t>Search greater half</a:t>
                      </a:r>
                    </a:p>
                  </a:txBody>
                  <a:tcPr marL="142164" marR="109357" marT="109357" marB="109357">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687320695"/>
                  </a:ext>
                </a:extLst>
              </a:tr>
              <a:tr h="772788">
                <a:tc>
                  <a:txBody>
                    <a:bodyPr/>
                    <a:lstStyle/>
                    <a:p>
                      <a:pPr algn="ctr"/>
                      <a:r>
                        <a:rPr lang="en-US" sz="1700" cap="none" spc="0">
                          <a:solidFill>
                            <a:schemeClr val="tx1"/>
                          </a:solidFill>
                        </a:rPr>
                        <a:t>2</a:t>
                      </a:r>
                    </a:p>
                  </a:txBody>
                  <a:tcPr marL="142164" marR="109357" marT="109357" marB="109357">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r>
                        <a:rPr lang="en-US" sz="1700" cap="none" spc="0">
                          <a:solidFill>
                            <a:schemeClr val="tx1"/>
                          </a:solidFill>
                        </a:rPr>
                        <a:t>16</a:t>
                      </a:r>
                    </a:p>
                  </a:txBody>
                  <a:tcPr marL="142164" marR="109357" marT="109357" marB="109357">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r>
                        <a:rPr lang="en-US" sz="1700" cap="none" spc="0">
                          <a:solidFill>
                            <a:schemeClr val="tx1"/>
                          </a:solidFill>
                        </a:rPr>
                        <a:t>57</a:t>
                      </a:r>
                    </a:p>
                  </a:txBody>
                  <a:tcPr marL="142164" marR="109357" marT="109357" marB="109357">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r>
                        <a:rPr lang="en-US" sz="1700" cap="none" spc="0">
                          <a:solidFill>
                            <a:schemeClr val="tx1"/>
                          </a:solidFill>
                        </a:rPr>
                        <a:t>7</a:t>
                      </a:r>
                      <a:r>
                        <a:rPr lang="en-US" sz="1700" cap="none" spc="0" baseline="30000">
                          <a:solidFill>
                            <a:schemeClr val="tx1"/>
                          </a:solidFill>
                        </a:rPr>
                        <a:t>th</a:t>
                      </a:r>
                      <a:r>
                        <a:rPr lang="en-US" sz="1700" cap="none" spc="0">
                          <a:solidFill>
                            <a:schemeClr val="tx1"/>
                          </a:solidFill>
                        </a:rPr>
                        <a:t> (3</a:t>
                      </a:r>
                      <a:r>
                        <a:rPr lang="en-US" sz="1700" cap="none" spc="0" baseline="30000">
                          <a:solidFill>
                            <a:schemeClr val="tx1"/>
                          </a:solidFill>
                        </a:rPr>
                        <a:t>rd</a:t>
                      </a:r>
                      <a:r>
                        <a:rPr lang="en-US" sz="1700" cap="none" spc="0">
                          <a:solidFill>
                            <a:schemeClr val="tx1"/>
                          </a:solidFill>
                        </a:rPr>
                        <a:t>)</a:t>
                      </a:r>
                    </a:p>
                  </a:txBody>
                  <a:tcPr marL="142164" marR="109357" marT="109357" marB="109357">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r>
                        <a:rPr lang="en-US" sz="1700" cap="none" spc="0">
                          <a:solidFill>
                            <a:schemeClr val="tx1"/>
                          </a:solidFill>
                        </a:rPr>
                        <a:t>31</a:t>
                      </a:r>
                    </a:p>
                  </a:txBody>
                  <a:tcPr marL="142164" marR="109357" marT="109357" marB="109357">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700" cap="none" spc="0">
                          <a:solidFill>
                            <a:schemeClr val="tx1"/>
                          </a:solidFill>
                        </a:rPr>
                        <a:t>Search lower half</a:t>
                      </a:r>
                    </a:p>
                  </a:txBody>
                  <a:tcPr marL="142164" marR="109357" marT="109357" marB="109357">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840849002"/>
                  </a:ext>
                </a:extLst>
              </a:tr>
              <a:tr h="772788">
                <a:tc>
                  <a:txBody>
                    <a:bodyPr/>
                    <a:lstStyle/>
                    <a:p>
                      <a:pPr algn="ctr"/>
                      <a:r>
                        <a:rPr lang="en-US" sz="1700" cap="none" spc="0">
                          <a:solidFill>
                            <a:schemeClr val="tx1"/>
                          </a:solidFill>
                        </a:rPr>
                        <a:t>3</a:t>
                      </a:r>
                    </a:p>
                  </a:txBody>
                  <a:tcPr marL="142164" marR="109357" marT="109357" marB="109357">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r>
                        <a:rPr lang="en-US" sz="1700" cap="none" spc="0">
                          <a:solidFill>
                            <a:schemeClr val="tx1"/>
                          </a:solidFill>
                        </a:rPr>
                        <a:t>16</a:t>
                      </a:r>
                    </a:p>
                  </a:txBody>
                  <a:tcPr marL="142164" marR="109357" marT="109357" marB="109357">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r>
                        <a:rPr lang="en-US" sz="1700" cap="none" spc="0">
                          <a:solidFill>
                            <a:schemeClr val="tx1"/>
                          </a:solidFill>
                        </a:rPr>
                        <a:t>31</a:t>
                      </a:r>
                    </a:p>
                  </a:txBody>
                  <a:tcPr marL="142164" marR="109357" marT="109357" marB="109357">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r>
                        <a:rPr lang="en-US" sz="1700" cap="none" spc="0">
                          <a:solidFill>
                            <a:schemeClr val="tx1"/>
                          </a:solidFill>
                        </a:rPr>
                        <a:t>8th (2</a:t>
                      </a:r>
                      <a:r>
                        <a:rPr lang="en-US" sz="1700" cap="none" spc="0" baseline="30000">
                          <a:solidFill>
                            <a:schemeClr val="tx1"/>
                          </a:solidFill>
                        </a:rPr>
                        <a:t>nd</a:t>
                      </a:r>
                      <a:r>
                        <a:rPr lang="en-US" sz="1700" cap="none" spc="0">
                          <a:solidFill>
                            <a:schemeClr val="tx1"/>
                          </a:solidFill>
                        </a:rPr>
                        <a:t>)</a:t>
                      </a:r>
                    </a:p>
                  </a:txBody>
                  <a:tcPr marL="142164" marR="109357" marT="109357" marB="109357">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r>
                        <a:rPr lang="en-US" sz="1700" cap="none" spc="0">
                          <a:solidFill>
                            <a:schemeClr val="tx1"/>
                          </a:solidFill>
                        </a:rPr>
                        <a:t>23</a:t>
                      </a:r>
                    </a:p>
                  </a:txBody>
                  <a:tcPr marL="142164" marR="109357" marT="109357" marB="109357">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r>
                        <a:rPr lang="en-US" sz="1700" cap="none" spc="0">
                          <a:solidFill>
                            <a:schemeClr val="tx1"/>
                          </a:solidFill>
                        </a:rPr>
                        <a:t>Value found – STOP</a:t>
                      </a:r>
                    </a:p>
                  </a:txBody>
                  <a:tcPr marL="142164" marR="109357" marT="109357" marB="109357">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53327957"/>
                  </a:ext>
                </a:extLst>
              </a:tr>
            </a:tbl>
          </a:graphicData>
        </a:graphic>
      </p:graphicFrame>
    </p:spTree>
    <p:extLst>
      <p:ext uri="{BB962C8B-B14F-4D97-AF65-F5344CB8AC3E}">
        <p14:creationId xmlns:p14="http://schemas.microsoft.com/office/powerpoint/2010/main" val="2414709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36A7C4-F5F2-6F76-D0BB-EA3B49633B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E333C0-1814-F5F6-53CE-7C5FD39F5389}"/>
              </a:ext>
            </a:extLst>
          </p:cNvPr>
          <p:cNvSpPr>
            <a:spLocks noGrp="1"/>
          </p:cNvSpPr>
          <p:nvPr>
            <p:ph type="title"/>
          </p:nvPr>
        </p:nvSpPr>
        <p:spPr>
          <a:xfrm>
            <a:off x="4152550" y="609600"/>
            <a:ext cx="2802951" cy="1320800"/>
          </a:xfrm>
        </p:spPr>
        <p:txBody>
          <a:bodyPr>
            <a:normAutofit/>
          </a:bodyPr>
          <a:lstStyle/>
          <a:p>
            <a:r>
              <a:rPr lang="en-US" sz="3300"/>
              <a:t>Interpolation Search</a:t>
            </a:r>
          </a:p>
        </p:txBody>
      </p:sp>
      <p:sp>
        <p:nvSpPr>
          <p:cNvPr id="5" name="Content Placeholder 4">
            <a:extLst>
              <a:ext uri="{FF2B5EF4-FFF2-40B4-BE49-F238E27FC236}">
                <a16:creationId xmlns:a16="http://schemas.microsoft.com/office/drawing/2014/main" id="{A32E270C-494C-9D25-F00B-0D1E08CA0527}"/>
              </a:ext>
            </a:extLst>
          </p:cNvPr>
          <p:cNvSpPr>
            <a:spLocks noGrp="1"/>
          </p:cNvSpPr>
          <p:nvPr>
            <p:ph idx="1"/>
          </p:nvPr>
        </p:nvSpPr>
        <p:spPr>
          <a:xfrm>
            <a:off x="3907172" y="2160589"/>
            <a:ext cx="3048329" cy="3880773"/>
          </a:xfrm>
        </p:spPr>
        <p:txBody>
          <a:bodyPr>
            <a:normAutofit/>
          </a:bodyPr>
          <a:lstStyle/>
          <a:p>
            <a:pPr marL="0" indent="0">
              <a:buNone/>
            </a:pPr>
            <a:r>
              <a:rPr lang="en-US" dirty="0"/>
              <a:t>Interpolation search estimates where the target may be.</a:t>
            </a:r>
          </a:p>
          <a:p>
            <a:pPr marL="0" indent="0">
              <a:buNone/>
            </a:pPr>
            <a:endParaRPr lang="en-US" dirty="0"/>
          </a:p>
          <a:p>
            <a:pPr marL="0" indent="0">
              <a:buNone/>
            </a:pPr>
            <a:r>
              <a:rPr lang="en-US" dirty="0"/>
              <a:t>It works best when:</a:t>
            </a:r>
          </a:p>
          <a:p>
            <a:r>
              <a:rPr lang="en-US" dirty="0"/>
              <a:t>data is sorted</a:t>
            </a:r>
          </a:p>
          <a:p>
            <a:r>
              <a:rPr lang="en-US" dirty="0"/>
              <a:t>values are evenly distributed</a:t>
            </a:r>
          </a:p>
          <a:p>
            <a:r>
              <a:rPr lang="en-US" dirty="0"/>
              <a:t>the target position can be estimated</a:t>
            </a:r>
          </a:p>
        </p:txBody>
      </p:sp>
      <p:pic>
        <p:nvPicPr>
          <p:cNvPr id="7" name="Picture 6">
            <a:extLst>
              <a:ext uri="{FF2B5EF4-FFF2-40B4-BE49-F238E27FC236}">
                <a16:creationId xmlns:a16="http://schemas.microsoft.com/office/drawing/2014/main" id="{8673B892-E0F6-6769-6870-905ADDF1DED1}"/>
              </a:ext>
            </a:extLst>
          </p:cNvPr>
          <p:cNvPicPr>
            <a:picLocks noChangeAspect="1"/>
          </p:cNvPicPr>
          <p:nvPr/>
        </p:nvPicPr>
        <p:blipFill>
          <a:blip r:embed="rId3"/>
          <a:srcRect r="1" b="424"/>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6" name="Isosceles Triangle 15">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57121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C61A1-B1FC-30B7-0291-6D74DE9AEB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A606D9-684B-CB50-B826-5D88FB0C2C11}"/>
              </a:ext>
            </a:extLst>
          </p:cNvPr>
          <p:cNvSpPr>
            <a:spLocks noGrp="1"/>
          </p:cNvSpPr>
          <p:nvPr>
            <p:ph type="title"/>
          </p:nvPr>
        </p:nvSpPr>
        <p:spPr/>
        <p:txBody>
          <a:bodyPr/>
          <a:lstStyle/>
          <a:p>
            <a:r>
              <a:rPr lang="en-US" dirty="0"/>
              <a:t>Search Strategy Comparison</a:t>
            </a:r>
          </a:p>
        </p:txBody>
      </p:sp>
      <p:graphicFrame>
        <p:nvGraphicFramePr>
          <p:cNvPr id="2" name="Content Placeholder 1">
            <a:extLst>
              <a:ext uri="{FF2B5EF4-FFF2-40B4-BE49-F238E27FC236}">
                <a16:creationId xmlns:a16="http://schemas.microsoft.com/office/drawing/2014/main" id="{CB8DE0B7-FAE4-4F2D-FE68-3CC464D04B54}"/>
              </a:ext>
            </a:extLst>
          </p:cNvPr>
          <p:cNvGraphicFramePr>
            <a:graphicFrameLocks noGrp="1"/>
          </p:cNvGraphicFramePr>
          <p:nvPr>
            <p:ph idx="1"/>
            <p:extLst>
              <p:ext uri="{D42A27DB-BD31-4B8C-83A1-F6EECF244321}">
                <p14:modId xmlns:p14="http://schemas.microsoft.com/office/powerpoint/2010/main" val="3273774186"/>
              </p:ext>
            </p:extLst>
          </p:nvPr>
        </p:nvGraphicFramePr>
        <p:xfrm>
          <a:off x="609600" y="2160588"/>
          <a:ext cx="6348412" cy="2834640"/>
        </p:xfrm>
        <a:graphic>
          <a:graphicData uri="http://schemas.openxmlformats.org/drawingml/2006/table">
            <a:tbl>
              <a:tblPr firstRow="1" bandRow="1">
                <a:tableStyleId>{5C22544A-7EE6-4342-B048-85BDC9FD1C3A}</a:tableStyleId>
              </a:tblPr>
              <a:tblGrid>
                <a:gridCol w="1558834">
                  <a:extLst>
                    <a:ext uri="{9D8B030D-6E8A-4147-A177-3AD203B41FA5}">
                      <a16:colId xmlns:a16="http://schemas.microsoft.com/office/drawing/2014/main" val="3619699514"/>
                    </a:ext>
                  </a:extLst>
                </a:gridCol>
                <a:gridCol w="1615372">
                  <a:extLst>
                    <a:ext uri="{9D8B030D-6E8A-4147-A177-3AD203B41FA5}">
                      <a16:colId xmlns:a16="http://schemas.microsoft.com/office/drawing/2014/main" val="3877576912"/>
                    </a:ext>
                  </a:extLst>
                </a:gridCol>
                <a:gridCol w="1885474">
                  <a:extLst>
                    <a:ext uri="{9D8B030D-6E8A-4147-A177-3AD203B41FA5}">
                      <a16:colId xmlns:a16="http://schemas.microsoft.com/office/drawing/2014/main" val="2010304670"/>
                    </a:ext>
                  </a:extLst>
                </a:gridCol>
                <a:gridCol w="1288732">
                  <a:extLst>
                    <a:ext uri="{9D8B030D-6E8A-4147-A177-3AD203B41FA5}">
                      <a16:colId xmlns:a16="http://schemas.microsoft.com/office/drawing/2014/main" val="1816668900"/>
                    </a:ext>
                  </a:extLst>
                </a:gridCol>
              </a:tblGrid>
              <a:tr h="370840">
                <a:tc>
                  <a:txBody>
                    <a:bodyPr/>
                    <a:lstStyle/>
                    <a:p>
                      <a:r>
                        <a:rPr lang="en-US" dirty="0"/>
                        <a:t>Search</a:t>
                      </a:r>
                    </a:p>
                  </a:txBody>
                  <a:tcPr anchor="ctr"/>
                </a:tc>
                <a:tc>
                  <a:txBody>
                    <a:bodyPr/>
                    <a:lstStyle/>
                    <a:p>
                      <a:r>
                        <a:rPr lang="en-US" dirty="0"/>
                        <a:t>Needs Sorted Data?</a:t>
                      </a:r>
                    </a:p>
                  </a:txBody>
                  <a:tcPr anchor="ctr"/>
                </a:tc>
                <a:tc>
                  <a:txBody>
                    <a:bodyPr/>
                    <a:lstStyle/>
                    <a:p>
                      <a:r>
                        <a:rPr lang="en-US" dirty="0"/>
                        <a:t>Basic Idea</a:t>
                      </a:r>
                    </a:p>
                  </a:txBody>
                  <a:tcPr anchor="ctr"/>
                </a:tc>
                <a:tc>
                  <a:txBody>
                    <a:bodyPr/>
                    <a:lstStyle/>
                    <a:p>
                      <a:pPr algn="ctr"/>
                      <a:r>
                        <a:rPr lang="en-US" dirty="0"/>
                        <a:t>Common Growth</a:t>
                      </a:r>
                    </a:p>
                  </a:txBody>
                  <a:tcPr anchor="ctr"/>
                </a:tc>
                <a:extLst>
                  <a:ext uri="{0D108BD9-81ED-4DB2-BD59-A6C34878D82A}">
                    <a16:rowId xmlns:a16="http://schemas.microsoft.com/office/drawing/2014/main" val="264908201"/>
                  </a:ext>
                </a:extLst>
              </a:tr>
              <a:tr h="370840">
                <a:tc>
                  <a:txBody>
                    <a:bodyPr/>
                    <a:lstStyle/>
                    <a:p>
                      <a:r>
                        <a:rPr lang="en-US" dirty="0"/>
                        <a:t>Linear</a:t>
                      </a:r>
                    </a:p>
                  </a:txBody>
                  <a:tcPr anchor="ctr"/>
                </a:tc>
                <a:tc>
                  <a:txBody>
                    <a:bodyPr/>
                    <a:lstStyle/>
                    <a:p>
                      <a:pPr algn="ctr"/>
                      <a:r>
                        <a:rPr lang="en-US" b="1" dirty="0"/>
                        <a:t>NO</a:t>
                      </a:r>
                    </a:p>
                  </a:txBody>
                  <a:tcPr anchor="ctr"/>
                </a:tc>
                <a:tc>
                  <a:txBody>
                    <a:bodyPr/>
                    <a:lstStyle/>
                    <a:p>
                      <a:pPr algn="ctr"/>
                      <a:r>
                        <a:rPr lang="en-US" dirty="0"/>
                        <a:t>Check one </a:t>
                      </a:r>
                      <a:br>
                        <a:rPr lang="en-US" dirty="0"/>
                      </a:br>
                      <a:r>
                        <a:rPr lang="en-US" dirty="0"/>
                        <a:t>at a time</a:t>
                      </a:r>
                    </a:p>
                  </a:txBody>
                  <a:tcPr anchor="ctr"/>
                </a:tc>
                <a:tc>
                  <a:txBody>
                    <a:bodyPr/>
                    <a:lstStyle/>
                    <a:p>
                      <a:pPr algn="ctr"/>
                      <a:r>
                        <a:rPr lang="en-US" dirty="0"/>
                        <a:t>O(n)</a:t>
                      </a:r>
                    </a:p>
                  </a:txBody>
                  <a:tcPr anchor="ctr"/>
                </a:tc>
                <a:extLst>
                  <a:ext uri="{0D108BD9-81ED-4DB2-BD59-A6C34878D82A}">
                    <a16:rowId xmlns:a16="http://schemas.microsoft.com/office/drawing/2014/main" val="2816140620"/>
                  </a:ext>
                </a:extLst>
              </a:tr>
              <a:tr h="370840">
                <a:tc>
                  <a:txBody>
                    <a:bodyPr/>
                    <a:lstStyle/>
                    <a:p>
                      <a:r>
                        <a:rPr lang="en-US" dirty="0"/>
                        <a:t>Binary</a:t>
                      </a:r>
                    </a:p>
                  </a:txBody>
                  <a:tcPr anchor="ctr"/>
                </a:tc>
                <a:tc>
                  <a:txBody>
                    <a:bodyPr/>
                    <a:lstStyle/>
                    <a:p>
                      <a:pPr algn="ctr"/>
                      <a:r>
                        <a:rPr lang="en-US" b="1" dirty="0"/>
                        <a:t>YES</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Cut search space in half</a:t>
                      </a:r>
                    </a:p>
                  </a:txBody>
                  <a:tcPr anchor="ctr"/>
                </a:tc>
                <a:tc>
                  <a:txBody>
                    <a:bodyPr/>
                    <a:lstStyle/>
                    <a:p>
                      <a:pPr algn="ctr"/>
                      <a:r>
                        <a:rPr lang="en-US" dirty="0"/>
                        <a:t>O(log n)</a:t>
                      </a:r>
                    </a:p>
                  </a:txBody>
                  <a:tcPr anchor="ctr"/>
                </a:tc>
                <a:extLst>
                  <a:ext uri="{0D108BD9-81ED-4DB2-BD59-A6C34878D82A}">
                    <a16:rowId xmlns:a16="http://schemas.microsoft.com/office/drawing/2014/main" val="213456447"/>
                  </a:ext>
                </a:extLst>
              </a:tr>
              <a:tr h="370840">
                <a:tc>
                  <a:txBody>
                    <a:bodyPr/>
                    <a:lstStyle/>
                    <a:p>
                      <a:r>
                        <a:rPr lang="en-US" dirty="0"/>
                        <a:t>Interpolation</a:t>
                      </a:r>
                    </a:p>
                  </a:txBody>
                  <a:tcPr anchor="ctr"/>
                </a:tc>
                <a:tc>
                  <a:txBody>
                    <a:bodyPr/>
                    <a:lstStyle/>
                    <a:p>
                      <a:pPr algn="ctr"/>
                      <a:r>
                        <a:rPr lang="en-US" b="1" dirty="0"/>
                        <a:t>YES</a:t>
                      </a:r>
                      <a:r>
                        <a:rPr lang="en-US" dirty="0"/>
                        <a:t>, plus distribution assumptions</a:t>
                      </a:r>
                    </a:p>
                  </a:txBody>
                  <a:tcPr anchor="ctr"/>
                </a:tc>
                <a:tc>
                  <a:txBody>
                    <a:bodyPr/>
                    <a:lstStyle/>
                    <a:p>
                      <a:pPr algn="ctr"/>
                      <a:r>
                        <a:rPr lang="en-US" dirty="0"/>
                        <a:t>Estimate </a:t>
                      </a:r>
                      <a:br>
                        <a:rPr lang="en-US" dirty="0"/>
                      </a:br>
                      <a:r>
                        <a:rPr lang="en-US" dirty="0"/>
                        <a:t>likely position</a:t>
                      </a:r>
                    </a:p>
                  </a:txBody>
                  <a:tcPr anchor="ctr"/>
                </a:tc>
                <a:tc>
                  <a:txBody>
                    <a:bodyPr/>
                    <a:lstStyle/>
                    <a:p>
                      <a:pPr algn="ctr"/>
                      <a:r>
                        <a:rPr lang="en-US" i="1" dirty="0"/>
                        <a:t>varies</a:t>
                      </a:r>
                    </a:p>
                  </a:txBody>
                  <a:tcPr anchor="ctr"/>
                </a:tc>
                <a:extLst>
                  <a:ext uri="{0D108BD9-81ED-4DB2-BD59-A6C34878D82A}">
                    <a16:rowId xmlns:a16="http://schemas.microsoft.com/office/drawing/2014/main" val="696942329"/>
                  </a:ext>
                </a:extLst>
              </a:tr>
            </a:tbl>
          </a:graphicData>
        </a:graphic>
      </p:graphicFrame>
    </p:spTree>
    <p:extLst>
      <p:ext uri="{BB962C8B-B14F-4D97-AF65-F5344CB8AC3E}">
        <p14:creationId xmlns:p14="http://schemas.microsoft.com/office/powerpoint/2010/main" val="1361633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D45597-3CF2-3559-7BEB-D49A7490E23E}"/>
            </a:ext>
          </a:extLst>
        </p:cNvPr>
        <p:cNvGrpSpPr/>
        <p:nvPr/>
      </p:nvGrpSpPr>
      <p:grpSpPr>
        <a:xfrm>
          <a:off x="0" y="0"/>
          <a:ext cx="0" cy="0"/>
          <a:chOff x="0" y="0"/>
          <a:chExt cx="0" cy="0"/>
        </a:xfrm>
      </p:grpSpPr>
      <p:pic>
        <p:nvPicPr>
          <p:cNvPr id="7" name="Picture 6" descr="Magnifying glass showing decling performance">
            <a:extLst>
              <a:ext uri="{FF2B5EF4-FFF2-40B4-BE49-F238E27FC236}">
                <a16:creationId xmlns:a16="http://schemas.microsoft.com/office/drawing/2014/main" id="{33670AED-C366-EB4E-C777-445BCF34D1B7}"/>
              </a:ext>
            </a:extLst>
          </p:cNvPr>
          <p:cNvPicPr>
            <a:picLocks noChangeAspect="1"/>
          </p:cNvPicPr>
          <p:nvPr/>
        </p:nvPicPr>
        <p:blipFill>
          <a:blip r:embed="rId3"/>
          <a:srcRect l="11000" r="-1" b="-1"/>
          <a:stretch>
            <a:fillRect/>
          </a:stretch>
        </p:blipFill>
        <p:spPr>
          <a:xfrm>
            <a:off x="20" y="10"/>
            <a:ext cx="9143980" cy="6857990"/>
          </a:xfrm>
          <a:prstGeom prst="rect">
            <a:avLst/>
          </a:prstGeom>
        </p:spPr>
      </p:pic>
      <p:sp>
        <p:nvSpPr>
          <p:cNvPr id="16" name="Isosceles Triangle 15">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Parallelogram 17">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9DF8A58F-B0E3-4E8C-D27F-5806FAB56E37}"/>
              </a:ext>
            </a:extLst>
          </p:cNvPr>
          <p:cNvSpPr>
            <a:spLocks noGrp="1"/>
          </p:cNvSpPr>
          <p:nvPr>
            <p:ph type="title"/>
          </p:nvPr>
        </p:nvSpPr>
        <p:spPr>
          <a:xfrm>
            <a:off x="2089535" y="609600"/>
            <a:ext cx="4865966" cy="1320800"/>
          </a:xfrm>
        </p:spPr>
        <p:txBody>
          <a:bodyPr anchor="t">
            <a:normAutofit/>
          </a:bodyPr>
          <a:lstStyle/>
          <a:p>
            <a:r>
              <a:rPr lang="en-US"/>
              <a:t>Evidence Before Claims</a:t>
            </a:r>
          </a:p>
        </p:txBody>
      </p:sp>
      <p:sp>
        <p:nvSpPr>
          <p:cNvPr id="26"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42A23B4D-7464-B36E-9A37-17C5061DB170}"/>
              </a:ext>
            </a:extLst>
          </p:cNvPr>
          <p:cNvSpPr>
            <a:spLocks noGrp="1"/>
          </p:cNvSpPr>
          <p:nvPr>
            <p:ph idx="1"/>
          </p:nvPr>
        </p:nvSpPr>
        <p:spPr>
          <a:xfrm>
            <a:off x="2089535" y="2159000"/>
            <a:ext cx="4865966" cy="3882362"/>
          </a:xfrm>
        </p:spPr>
        <p:txBody>
          <a:bodyPr>
            <a:normAutofit/>
          </a:bodyPr>
          <a:lstStyle/>
          <a:p>
            <a:pPr marL="0" indent="0">
              <a:buNone/>
            </a:pPr>
            <a:r>
              <a:rPr lang="en-US" dirty="0"/>
              <a:t>For search algorithms, evidence can include:</a:t>
            </a:r>
          </a:p>
          <a:p>
            <a:pPr marL="0" indent="0">
              <a:buNone/>
            </a:pPr>
            <a:endParaRPr lang="en-US" dirty="0"/>
          </a:p>
          <a:p>
            <a:r>
              <a:rPr lang="en-US" dirty="0"/>
              <a:t>Test cases</a:t>
            </a:r>
          </a:p>
          <a:p>
            <a:r>
              <a:rPr lang="en-US" dirty="0"/>
              <a:t>Found and Not-found results</a:t>
            </a:r>
          </a:p>
          <a:p>
            <a:r>
              <a:rPr lang="en-US" dirty="0"/>
              <a:t>Trace tables</a:t>
            </a:r>
          </a:p>
          <a:p>
            <a:r>
              <a:rPr lang="en-US" dirty="0"/>
              <a:t>Sorted and unsorted comparisons</a:t>
            </a:r>
          </a:p>
          <a:p>
            <a:r>
              <a:rPr lang="en-US" dirty="0"/>
              <a:t>Explanation of preconditions</a:t>
            </a:r>
          </a:p>
        </p:txBody>
      </p:sp>
      <p:sp>
        <p:nvSpPr>
          <p:cNvPr id="30"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117570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0622-6194-2CC7-4489-A2CB9355EEB3}"/>
              </a:ext>
            </a:extLst>
          </p:cNvPr>
          <p:cNvSpPr>
            <a:spLocks noGrp="1"/>
          </p:cNvSpPr>
          <p:nvPr>
            <p:ph type="title"/>
          </p:nvPr>
        </p:nvSpPr>
        <p:spPr>
          <a:xfrm>
            <a:off x="4152550" y="609600"/>
            <a:ext cx="2802951" cy="1320800"/>
          </a:xfrm>
        </p:spPr>
        <p:txBody>
          <a:bodyPr>
            <a:normAutofit/>
          </a:bodyPr>
          <a:lstStyle/>
          <a:p>
            <a:pPr>
              <a:lnSpc>
                <a:spcPct val="90000"/>
              </a:lnSpc>
            </a:pPr>
            <a:r>
              <a:rPr lang="en-US" sz="2800"/>
              <a:t>Useful AI Prompt Pattern</a:t>
            </a:r>
          </a:p>
        </p:txBody>
      </p:sp>
      <p:sp>
        <p:nvSpPr>
          <p:cNvPr id="3" name="Content Placeholder 2">
            <a:extLst>
              <a:ext uri="{FF2B5EF4-FFF2-40B4-BE49-F238E27FC236}">
                <a16:creationId xmlns:a16="http://schemas.microsoft.com/office/drawing/2014/main" id="{13B4359E-464A-DA30-EFD5-4AAB4A198544}"/>
              </a:ext>
            </a:extLst>
          </p:cNvPr>
          <p:cNvSpPr>
            <a:spLocks noGrp="1"/>
          </p:cNvSpPr>
          <p:nvPr>
            <p:ph idx="1"/>
          </p:nvPr>
        </p:nvSpPr>
        <p:spPr>
          <a:xfrm>
            <a:off x="3907172" y="2160589"/>
            <a:ext cx="3048329" cy="3880773"/>
          </a:xfrm>
        </p:spPr>
        <p:txBody>
          <a:bodyPr>
            <a:normAutofit/>
          </a:bodyPr>
          <a:lstStyle/>
          <a:p>
            <a:pPr marL="0" indent="0">
              <a:buNone/>
            </a:pPr>
            <a:r>
              <a:rPr lang="en-US" i="1" dirty="0"/>
              <a:t>“Review this linear search and binary search code.</a:t>
            </a:r>
          </a:p>
          <a:p>
            <a:pPr marL="0" indent="0">
              <a:buNone/>
            </a:pPr>
            <a:r>
              <a:rPr lang="en-US" i="1" dirty="0"/>
              <a:t>Identify any preconditions.</a:t>
            </a:r>
          </a:p>
          <a:p>
            <a:pPr marL="0" indent="0">
              <a:buNone/>
            </a:pPr>
            <a:r>
              <a:rPr lang="en-US" i="1" dirty="0"/>
              <a:t>Check for off-by-one risks.</a:t>
            </a:r>
          </a:p>
          <a:p>
            <a:pPr marL="0" indent="0">
              <a:buNone/>
            </a:pPr>
            <a:r>
              <a:rPr lang="en-US" i="1" dirty="0"/>
              <a:t>Explain whether each test case proves the behavior I claim.</a:t>
            </a:r>
          </a:p>
          <a:p>
            <a:pPr marL="0" indent="0">
              <a:buNone/>
            </a:pPr>
            <a:r>
              <a:rPr lang="en-US" i="1" dirty="0"/>
              <a:t>Do not rewrite the code unless I ask.”</a:t>
            </a:r>
          </a:p>
        </p:txBody>
      </p:sp>
      <p:pic>
        <p:nvPicPr>
          <p:cNvPr id="21" name="Picture 20" descr="Computer code representation.">
            <a:extLst>
              <a:ext uri="{FF2B5EF4-FFF2-40B4-BE49-F238E27FC236}">
                <a16:creationId xmlns:a16="http://schemas.microsoft.com/office/drawing/2014/main" id="{8A728018-283E-379A-70A7-867E4A3D7239}"/>
              </a:ext>
            </a:extLst>
          </p:cNvPr>
          <p:cNvPicPr>
            <a:picLocks noChangeAspect="1"/>
          </p:cNvPicPr>
          <p:nvPr/>
        </p:nvPicPr>
        <p:blipFill>
          <a:blip r:embed="rId3"/>
          <a:srcRect l="39524" r="27436"/>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8" name="Isosceles Triangle 47">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5725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Person pointing on a map">
            <a:extLst>
              <a:ext uri="{FF2B5EF4-FFF2-40B4-BE49-F238E27FC236}">
                <a16:creationId xmlns:a16="http://schemas.microsoft.com/office/drawing/2014/main" id="{12D1249B-81AC-EE56-AADF-67618E58EF0D}"/>
              </a:ext>
            </a:extLst>
          </p:cNvPr>
          <p:cNvPicPr>
            <a:picLocks noChangeAspect="1"/>
          </p:cNvPicPr>
          <p:nvPr/>
        </p:nvPicPr>
        <p:blipFill>
          <a:blip r:embed="rId3"/>
          <a:srcRect l="18763" r="23406"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E9708495-FC24-230B-632D-3F6BAA70BE6E}"/>
              </a:ext>
            </a:extLst>
          </p:cNvPr>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4200"/>
              <a:t>Practical Application Context</a:t>
            </a:r>
          </a:p>
        </p:txBody>
      </p:sp>
      <p:cxnSp>
        <p:nvCxnSpPr>
          <p:cNvPr id="21" name="Straight Connector 20">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678019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1B9F66-5D97-B388-C268-3A7103D018D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572F39-09C3-87FA-88C9-673906C4C16F}"/>
              </a:ext>
            </a:extLst>
          </p:cNvPr>
          <p:cNvSpPr>
            <a:spLocks noGrp="1"/>
          </p:cNvSpPr>
          <p:nvPr>
            <p:ph type="title"/>
          </p:nvPr>
        </p:nvSpPr>
        <p:spPr>
          <a:xfrm>
            <a:off x="3747981" y="609600"/>
            <a:ext cx="3207519" cy="1320800"/>
          </a:xfrm>
        </p:spPr>
        <p:txBody>
          <a:bodyPr anchor="ctr">
            <a:normAutofit/>
          </a:bodyPr>
          <a:lstStyle/>
          <a:p>
            <a:pPr>
              <a:lnSpc>
                <a:spcPct val="90000"/>
              </a:lnSpc>
            </a:pPr>
            <a:r>
              <a:rPr lang="en-US" sz="2800"/>
              <a:t>Records And Keys</a:t>
            </a:r>
            <a:br>
              <a:rPr lang="en-US" sz="2800"/>
            </a:br>
            <a:endParaRPr lang="en-US" sz="2800"/>
          </a:p>
        </p:txBody>
      </p:sp>
      <p:pic>
        <p:nvPicPr>
          <p:cNvPr id="7" name="Picture 6" descr="Person handing over keys">
            <a:extLst>
              <a:ext uri="{FF2B5EF4-FFF2-40B4-BE49-F238E27FC236}">
                <a16:creationId xmlns:a16="http://schemas.microsoft.com/office/drawing/2014/main" id="{94C9FF65-594A-EE6E-438E-EB913281103D}"/>
              </a:ext>
            </a:extLst>
          </p:cNvPr>
          <p:cNvPicPr>
            <a:picLocks noChangeAspect="1"/>
          </p:cNvPicPr>
          <p:nvPr/>
        </p:nvPicPr>
        <p:blipFill>
          <a:blip r:embed="rId3"/>
          <a:srcRect l="24148" r="36469" b="-2"/>
          <a:stretch>
            <a:fillRect/>
          </a:stretch>
        </p:blipFill>
        <p:spPr>
          <a:xfrm>
            <a:off x="602908" y="892860"/>
            <a:ext cx="2896429" cy="4909233"/>
          </a:xfrm>
          <a:prstGeom prst="rect">
            <a:avLst/>
          </a:prstGeom>
        </p:spPr>
      </p:pic>
      <p:sp>
        <p:nvSpPr>
          <p:cNvPr id="5" name="Content Placeholder 4">
            <a:extLst>
              <a:ext uri="{FF2B5EF4-FFF2-40B4-BE49-F238E27FC236}">
                <a16:creationId xmlns:a16="http://schemas.microsoft.com/office/drawing/2014/main" id="{44CBDCF2-B1C7-B587-59D0-313E771A2915}"/>
              </a:ext>
            </a:extLst>
          </p:cNvPr>
          <p:cNvSpPr>
            <a:spLocks noGrp="1"/>
          </p:cNvSpPr>
          <p:nvPr>
            <p:ph idx="1"/>
          </p:nvPr>
        </p:nvSpPr>
        <p:spPr>
          <a:xfrm>
            <a:off x="3739367" y="2160589"/>
            <a:ext cx="3213882" cy="3768573"/>
          </a:xfrm>
        </p:spPr>
        <p:txBody>
          <a:bodyPr>
            <a:normAutofit/>
          </a:bodyPr>
          <a:lstStyle/>
          <a:p>
            <a:pPr marL="0" indent="0">
              <a:buNone/>
            </a:pPr>
            <a:r>
              <a:rPr lang="en-US" dirty="0"/>
              <a:t>Real systems often search records by keys.</a:t>
            </a:r>
          </a:p>
          <a:p>
            <a:pPr marL="0" indent="0">
              <a:buNone/>
            </a:pPr>
            <a:endParaRPr lang="en-US" dirty="0"/>
          </a:p>
          <a:p>
            <a:pPr marL="0" indent="0">
              <a:buNone/>
            </a:pPr>
            <a:r>
              <a:rPr lang="en-US" dirty="0"/>
              <a:t>Examples:</a:t>
            </a:r>
          </a:p>
          <a:p>
            <a:r>
              <a:rPr lang="en-US" dirty="0"/>
              <a:t>product ID</a:t>
            </a:r>
          </a:p>
          <a:p>
            <a:r>
              <a:rPr lang="en-US" dirty="0"/>
              <a:t>student ID</a:t>
            </a:r>
          </a:p>
          <a:p>
            <a:r>
              <a:rPr lang="en-US" dirty="0"/>
              <a:t>ticket number</a:t>
            </a:r>
          </a:p>
          <a:p>
            <a:r>
              <a:rPr lang="en-US" dirty="0"/>
              <a:t>course code</a:t>
            </a:r>
          </a:p>
          <a:p>
            <a:r>
              <a:rPr lang="en-US" dirty="0"/>
              <a:t>username</a:t>
            </a:r>
          </a:p>
        </p:txBody>
      </p:sp>
    </p:spTree>
    <p:extLst>
      <p:ext uri="{BB962C8B-B14F-4D97-AF65-F5344CB8AC3E}">
        <p14:creationId xmlns:p14="http://schemas.microsoft.com/office/powerpoint/2010/main" val="1979320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1313A8-E7F5-97B9-B17B-AB216B804E05}"/>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6" name="Rectangle 15">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Shape 31">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B358B78B-5F2C-E0A6-C92A-53A430EC22BA}"/>
              </a:ext>
            </a:extLst>
          </p:cNvPr>
          <p:cNvSpPr>
            <a:spLocks noGrp="1"/>
          </p:cNvSpPr>
          <p:nvPr>
            <p:ph type="title"/>
          </p:nvPr>
        </p:nvSpPr>
        <p:spPr>
          <a:xfrm>
            <a:off x="5386292" y="609600"/>
            <a:ext cx="3384742" cy="2227730"/>
          </a:xfrm>
        </p:spPr>
        <p:txBody>
          <a:bodyPr anchor="ctr">
            <a:normAutofit/>
          </a:bodyPr>
          <a:lstStyle/>
          <a:p>
            <a:r>
              <a:rPr lang="en-US">
                <a:solidFill>
                  <a:srgbClr val="FFFFFF"/>
                </a:solidFill>
              </a:rPr>
              <a:t>Primary And Foreign Keys</a:t>
            </a:r>
          </a:p>
        </p:txBody>
      </p:sp>
      <p:pic>
        <p:nvPicPr>
          <p:cNvPr id="9" name="Graphic 8" descr="Key">
            <a:extLst>
              <a:ext uri="{FF2B5EF4-FFF2-40B4-BE49-F238E27FC236}">
                <a16:creationId xmlns:a16="http://schemas.microsoft.com/office/drawing/2014/main" id="{6A81E84D-6E33-A1F0-F7AE-E3DB614FD7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38" y="2027159"/>
            <a:ext cx="2892580" cy="2892580"/>
          </a:xfrm>
          <a:prstGeom prst="rect">
            <a:avLst/>
          </a:prstGeom>
        </p:spPr>
      </p:pic>
      <p:sp>
        <p:nvSpPr>
          <p:cNvPr id="5" name="Content Placeholder 4">
            <a:extLst>
              <a:ext uri="{FF2B5EF4-FFF2-40B4-BE49-F238E27FC236}">
                <a16:creationId xmlns:a16="http://schemas.microsoft.com/office/drawing/2014/main" id="{EFDCAECF-146D-F321-05EA-BE0CC102C111}"/>
              </a:ext>
            </a:extLst>
          </p:cNvPr>
          <p:cNvSpPr>
            <a:spLocks noGrp="1"/>
          </p:cNvSpPr>
          <p:nvPr>
            <p:ph idx="1"/>
          </p:nvPr>
        </p:nvSpPr>
        <p:spPr>
          <a:xfrm>
            <a:off x="5386293" y="2837329"/>
            <a:ext cx="3384741" cy="3317938"/>
          </a:xfrm>
        </p:spPr>
        <p:txBody>
          <a:bodyPr anchor="t">
            <a:normAutofit/>
          </a:bodyPr>
          <a:lstStyle/>
          <a:p>
            <a:pPr marL="0" indent="0">
              <a:lnSpc>
                <a:spcPct val="90000"/>
              </a:lnSpc>
              <a:buNone/>
            </a:pPr>
            <a:r>
              <a:rPr lang="en-US" sz="1700">
                <a:solidFill>
                  <a:srgbClr val="FFFFFF"/>
                </a:solidFill>
              </a:rPr>
              <a:t>Primary key:</a:t>
            </a:r>
          </a:p>
          <a:p>
            <a:pPr>
              <a:lnSpc>
                <a:spcPct val="90000"/>
              </a:lnSpc>
            </a:pPr>
            <a:r>
              <a:rPr lang="en-US" sz="1700">
                <a:solidFill>
                  <a:srgbClr val="FFFFFF"/>
                </a:solidFill>
              </a:rPr>
              <a:t>uniquely identifies one record</a:t>
            </a:r>
          </a:p>
          <a:p>
            <a:pPr marL="0" indent="0">
              <a:lnSpc>
                <a:spcPct val="90000"/>
              </a:lnSpc>
              <a:buNone/>
            </a:pPr>
            <a:endParaRPr lang="en-US" sz="1700">
              <a:solidFill>
                <a:srgbClr val="FFFFFF"/>
              </a:solidFill>
            </a:endParaRPr>
          </a:p>
          <a:p>
            <a:pPr marL="0" indent="0">
              <a:lnSpc>
                <a:spcPct val="90000"/>
              </a:lnSpc>
              <a:buNone/>
            </a:pPr>
            <a:r>
              <a:rPr lang="en-US" sz="1700">
                <a:solidFill>
                  <a:srgbClr val="FFFFFF"/>
                </a:solidFill>
              </a:rPr>
              <a:t>Foreign key:</a:t>
            </a:r>
          </a:p>
          <a:p>
            <a:pPr>
              <a:lnSpc>
                <a:spcPct val="90000"/>
              </a:lnSpc>
            </a:pPr>
            <a:r>
              <a:rPr lang="en-US" sz="1700">
                <a:solidFill>
                  <a:srgbClr val="FFFFFF"/>
                </a:solidFill>
              </a:rPr>
              <a:t>connects a record to another related record</a:t>
            </a:r>
          </a:p>
          <a:p>
            <a:pPr marL="0" indent="0">
              <a:lnSpc>
                <a:spcPct val="90000"/>
              </a:lnSpc>
              <a:buNone/>
            </a:pPr>
            <a:endParaRPr lang="en-US" sz="1700">
              <a:solidFill>
                <a:srgbClr val="FFFFFF"/>
              </a:solidFill>
            </a:endParaRPr>
          </a:p>
          <a:p>
            <a:pPr marL="0" indent="0">
              <a:lnSpc>
                <a:spcPct val="90000"/>
              </a:lnSpc>
              <a:buNone/>
            </a:pPr>
            <a:r>
              <a:rPr lang="en-US" sz="1700">
                <a:solidFill>
                  <a:srgbClr val="FFFFFF"/>
                </a:solidFill>
              </a:rPr>
              <a:t>Search and sort help systems find and connect records.</a:t>
            </a:r>
          </a:p>
        </p:txBody>
      </p:sp>
    </p:spTree>
    <p:extLst>
      <p:ext uri="{BB962C8B-B14F-4D97-AF65-F5344CB8AC3E}">
        <p14:creationId xmlns:p14="http://schemas.microsoft.com/office/powerpoint/2010/main" val="24233776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4" name="Straight Connector 13">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37B0A4B2-2764-2EE9-CBF2-F090DF8456B4}"/>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Primary and Foreign Keys</a:t>
            </a:r>
          </a:p>
        </p:txBody>
      </p:sp>
      <p:pic>
        <p:nvPicPr>
          <p:cNvPr id="8" name="Picture Placeholder 7">
            <a:extLst>
              <a:ext uri="{FF2B5EF4-FFF2-40B4-BE49-F238E27FC236}">
                <a16:creationId xmlns:a16="http://schemas.microsoft.com/office/drawing/2014/main" id="{F56F1923-4A1D-FBF0-78D3-80AE5944ADC7}"/>
              </a:ext>
            </a:extLst>
          </p:cNvPr>
          <p:cNvPicPr>
            <a:picLocks noGrp="1" noChangeAspect="1"/>
          </p:cNvPicPr>
          <p:nvPr>
            <p:ph type="pic" idx="1"/>
          </p:nvPr>
        </p:nvPicPr>
        <p:blipFill>
          <a:blip r:embed="rId2"/>
          <a:srcRect l="2397" r="4128" b="-2"/>
          <a:stretch>
            <a:fillRect/>
          </a:stretch>
        </p:blipFill>
        <p:spPr>
          <a:xfrm>
            <a:off x="508000" y="468621"/>
            <a:ext cx="6206002" cy="3635025"/>
          </a:xfrm>
          <a:custGeom>
            <a:avLst/>
            <a:gdLst/>
            <a:ahLst/>
            <a:cxnLst/>
            <a:rect l="l" t="t" r="r" b="b"/>
            <a:pathLst>
              <a:path w="8274669" h="3635025">
                <a:moveTo>
                  <a:pt x="540554" y="0"/>
                </a:moveTo>
                <a:lnTo>
                  <a:pt x="8274669" y="0"/>
                </a:lnTo>
                <a:lnTo>
                  <a:pt x="8274669" y="3635025"/>
                </a:lnTo>
                <a:lnTo>
                  <a:pt x="0" y="3635025"/>
                </a:lnTo>
                <a:close/>
              </a:path>
            </a:pathLst>
          </a:custGeom>
        </p:spPr>
      </p:pic>
    </p:spTree>
    <p:extLst>
      <p:ext uri="{BB962C8B-B14F-4D97-AF65-F5344CB8AC3E}">
        <p14:creationId xmlns:p14="http://schemas.microsoft.com/office/powerpoint/2010/main" val="181032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44BD2A-DC06-3629-AA09-7F2BBC4FF6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7E3507-648D-FEA9-32E4-2C3D64CBF71D}"/>
              </a:ext>
            </a:extLst>
          </p:cNvPr>
          <p:cNvSpPr>
            <a:spLocks noGrp="1"/>
          </p:cNvSpPr>
          <p:nvPr>
            <p:ph type="title"/>
          </p:nvPr>
        </p:nvSpPr>
        <p:spPr>
          <a:xfrm>
            <a:off x="4152550" y="609600"/>
            <a:ext cx="2802951" cy="1320800"/>
          </a:xfrm>
        </p:spPr>
        <p:txBody>
          <a:bodyPr>
            <a:normAutofit/>
          </a:bodyPr>
          <a:lstStyle/>
          <a:p>
            <a:pPr>
              <a:lnSpc>
                <a:spcPct val="90000"/>
              </a:lnSpc>
            </a:pPr>
            <a:r>
              <a:rPr lang="en-US" sz="2800"/>
              <a:t>Historical Database Example</a:t>
            </a:r>
          </a:p>
        </p:txBody>
      </p:sp>
      <p:sp>
        <p:nvSpPr>
          <p:cNvPr id="5" name="Content Placeholder 4">
            <a:extLst>
              <a:ext uri="{FF2B5EF4-FFF2-40B4-BE49-F238E27FC236}">
                <a16:creationId xmlns:a16="http://schemas.microsoft.com/office/drawing/2014/main" id="{C48D0C6B-D639-06B3-749F-BA42A336B230}"/>
              </a:ext>
            </a:extLst>
          </p:cNvPr>
          <p:cNvSpPr>
            <a:spLocks noGrp="1"/>
          </p:cNvSpPr>
          <p:nvPr>
            <p:ph idx="1"/>
          </p:nvPr>
        </p:nvSpPr>
        <p:spPr>
          <a:xfrm>
            <a:off x="3907172" y="2160589"/>
            <a:ext cx="3048329" cy="3880773"/>
          </a:xfrm>
        </p:spPr>
        <p:txBody>
          <a:bodyPr>
            <a:normAutofit/>
          </a:bodyPr>
          <a:lstStyle/>
          <a:p>
            <a:pPr marL="0" indent="0">
              <a:buNone/>
            </a:pPr>
            <a:r>
              <a:rPr lang="en-US"/>
              <a:t>The reading's historical database example asks:</a:t>
            </a:r>
          </a:p>
          <a:p>
            <a:pPr marL="0" indent="0">
              <a:buNone/>
            </a:pPr>
            <a:endParaRPr lang="en-US"/>
          </a:p>
          <a:p>
            <a:r>
              <a:rPr lang="en-US"/>
              <a:t>What identifies a record?</a:t>
            </a:r>
          </a:p>
          <a:p>
            <a:r>
              <a:rPr lang="en-US"/>
              <a:t>What connects records?</a:t>
            </a:r>
          </a:p>
          <a:p>
            <a:r>
              <a:rPr lang="en-US"/>
              <a:t>What should be searched?</a:t>
            </a:r>
          </a:p>
          <a:p>
            <a:r>
              <a:rPr lang="en-US"/>
              <a:t>What should be sorted?</a:t>
            </a:r>
          </a:p>
          <a:p>
            <a:r>
              <a:rPr lang="en-US"/>
              <a:t>What lookup pattern matters most?</a:t>
            </a:r>
            <a:endParaRPr lang="en-US" dirty="0"/>
          </a:p>
        </p:txBody>
      </p:sp>
      <p:pic>
        <p:nvPicPr>
          <p:cNvPr id="7" name="Picture 6" descr="A top view of books with different cover colors">
            <a:extLst>
              <a:ext uri="{FF2B5EF4-FFF2-40B4-BE49-F238E27FC236}">
                <a16:creationId xmlns:a16="http://schemas.microsoft.com/office/drawing/2014/main" id="{63CA7788-9A25-3F56-F7BF-D29A8C723C19}"/>
              </a:ext>
            </a:extLst>
          </p:cNvPr>
          <p:cNvPicPr>
            <a:picLocks noChangeAspect="1"/>
          </p:cNvPicPr>
          <p:nvPr/>
        </p:nvPicPr>
        <p:blipFill>
          <a:blip r:embed="rId3"/>
          <a:srcRect l="17028" r="2397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6" name="Isosceles Triangle 15">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341630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639EDF-CCC2-2476-A5EC-B1DAD2C41A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7108FD-BF37-FE55-8993-6B3B28302A8E}"/>
              </a:ext>
            </a:extLst>
          </p:cNvPr>
          <p:cNvSpPr>
            <a:spLocks noGrp="1"/>
          </p:cNvSpPr>
          <p:nvPr>
            <p:ph type="title"/>
          </p:nvPr>
        </p:nvSpPr>
        <p:spPr>
          <a:xfrm>
            <a:off x="3747981" y="609600"/>
            <a:ext cx="3207519" cy="1320800"/>
          </a:xfrm>
        </p:spPr>
        <p:txBody>
          <a:bodyPr anchor="ctr">
            <a:normAutofit/>
          </a:bodyPr>
          <a:lstStyle/>
          <a:p>
            <a:pPr>
              <a:lnSpc>
                <a:spcPct val="90000"/>
              </a:lnSpc>
            </a:pPr>
            <a:r>
              <a:rPr lang="en-US" sz="3100"/>
              <a:t>NLP Connection, Briefly</a:t>
            </a:r>
          </a:p>
        </p:txBody>
      </p:sp>
      <p:pic>
        <p:nvPicPr>
          <p:cNvPr id="7" name="Picture 6">
            <a:extLst>
              <a:ext uri="{FF2B5EF4-FFF2-40B4-BE49-F238E27FC236}">
                <a16:creationId xmlns:a16="http://schemas.microsoft.com/office/drawing/2014/main" id="{DCFE2C7D-3298-C11F-65DE-48CA7D548EBB}"/>
              </a:ext>
            </a:extLst>
          </p:cNvPr>
          <p:cNvPicPr>
            <a:picLocks noChangeAspect="1"/>
          </p:cNvPicPr>
          <p:nvPr/>
        </p:nvPicPr>
        <p:blipFill>
          <a:blip r:embed="rId3"/>
          <a:srcRect l="13917" r="46701" b="-2"/>
          <a:stretch>
            <a:fillRect/>
          </a:stretch>
        </p:blipFill>
        <p:spPr>
          <a:xfrm>
            <a:off x="602908" y="892796"/>
            <a:ext cx="2896429" cy="4909361"/>
          </a:xfrm>
          <a:prstGeom prst="rect">
            <a:avLst/>
          </a:prstGeom>
        </p:spPr>
      </p:pic>
      <p:sp>
        <p:nvSpPr>
          <p:cNvPr id="5" name="Content Placeholder 4">
            <a:extLst>
              <a:ext uri="{FF2B5EF4-FFF2-40B4-BE49-F238E27FC236}">
                <a16:creationId xmlns:a16="http://schemas.microsoft.com/office/drawing/2014/main" id="{FE0C0200-03E7-329E-519B-20843E5D062E}"/>
              </a:ext>
            </a:extLst>
          </p:cNvPr>
          <p:cNvSpPr>
            <a:spLocks noGrp="1"/>
          </p:cNvSpPr>
          <p:nvPr>
            <p:ph idx="1"/>
          </p:nvPr>
        </p:nvSpPr>
        <p:spPr>
          <a:xfrm>
            <a:off x="3739367" y="2160589"/>
            <a:ext cx="3213882" cy="3768573"/>
          </a:xfrm>
        </p:spPr>
        <p:txBody>
          <a:bodyPr>
            <a:normAutofit/>
          </a:bodyPr>
          <a:lstStyle/>
          <a:p>
            <a:pPr marL="0" indent="0">
              <a:lnSpc>
                <a:spcPct val="90000"/>
              </a:lnSpc>
              <a:buNone/>
            </a:pPr>
            <a:r>
              <a:rPr lang="en-US"/>
              <a:t>NLP (Natural Language Processing) systems may use search and sort ideas to:</a:t>
            </a:r>
          </a:p>
          <a:p>
            <a:pPr>
              <a:lnSpc>
                <a:spcPct val="90000"/>
              </a:lnSpc>
            </a:pPr>
            <a:r>
              <a:rPr lang="en-US"/>
              <a:t>find matching terms</a:t>
            </a:r>
          </a:p>
          <a:p>
            <a:pPr>
              <a:lnSpc>
                <a:spcPct val="90000"/>
              </a:lnSpc>
            </a:pPr>
            <a:r>
              <a:rPr lang="en-US"/>
              <a:t>rank documents</a:t>
            </a:r>
          </a:p>
          <a:p>
            <a:pPr>
              <a:lnSpc>
                <a:spcPct val="90000"/>
              </a:lnSpc>
            </a:pPr>
            <a:r>
              <a:rPr lang="en-US"/>
              <a:t>sort likely responses</a:t>
            </a:r>
          </a:p>
          <a:p>
            <a:pPr>
              <a:lnSpc>
                <a:spcPct val="90000"/>
              </a:lnSpc>
            </a:pPr>
            <a:r>
              <a:rPr lang="en-US"/>
              <a:t>retrieve related records</a:t>
            </a:r>
          </a:p>
          <a:p>
            <a:pPr>
              <a:lnSpc>
                <a:spcPct val="90000"/>
              </a:lnSpc>
            </a:pPr>
            <a:r>
              <a:rPr lang="en-US"/>
              <a:t>compare text features</a:t>
            </a:r>
          </a:p>
          <a:p>
            <a:pPr marL="0" indent="0">
              <a:lnSpc>
                <a:spcPct val="90000"/>
              </a:lnSpc>
              <a:buNone/>
            </a:pPr>
            <a:endParaRPr lang="en-US"/>
          </a:p>
          <a:p>
            <a:pPr marL="0" indent="0">
              <a:lnSpc>
                <a:spcPct val="90000"/>
              </a:lnSpc>
              <a:buNone/>
            </a:pPr>
            <a:r>
              <a:rPr lang="en-US"/>
              <a:t>This is context, not today's coding target.</a:t>
            </a:r>
          </a:p>
        </p:txBody>
      </p:sp>
    </p:spTree>
    <p:extLst>
      <p:ext uri="{BB962C8B-B14F-4D97-AF65-F5344CB8AC3E}">
        <p14:creationId xmlns:p14="http://schemas.microsoft.com/office/powerpoint/2010/main" val="1145634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Camera lens close up">
            <a:extLst>
              <a:ext uri="{FF2B5EF4-FFF2-40B4-BE49-F238E27FC236}">
                <a16:creationId xmlns:a16="http://schemas.microsoft.com/office/drawing/2014/main" id="{3F92D707-4F6F-1707-563F-DAA7E83D0FDA}"/>
              </a:ext>
            </a:extLst>
          </p:cNvPr>
          <p:cNvPicPr>
            <a:picLocks noChangeAspect="1"/>
          </p:cNvPicPr>
          <p:nvPr/>
        </p:nvPicPr>
        <p:blipFill>
          <a:blip r:embed="rId3"/>
          <a:srcRect l="25759" t="9091" r="3843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 name="Title 3">
            <a:extLst>
              <a:ext uri="{FF2B5EF4-FFF2-40B4-BE49-F238E27FC236}">
                <a16:creationId xmlns:a16="http://schemas.microsoft.com/office/drawing/2014/main" id="{2FC93F9C-2692-8651-EDC7-6D41F5D66139}"/>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r>
              <a:rPr lang="en-US" sz="5400"/>
              <a:t>Demo</a:t>
            </a:r>
          </a:p>
        </p:txBody>
      </p:sp>
    </p:spTree>
    <p:extLst>
      <p:ext uri="{BB962C8B-B14F-4D97-AF65-F5344CB8AC3E}">
        <p14:creationId xmlns:p14="http://schemas.microsoft.com/office/powerpoint/2010/main" val="11578920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0EAD0D-5DF0-3C27-244F-69BE59250638}"/>
              </a:ext>
            </a:extLst>
          </p:cNvPr>
          <p:cNvSpPr>
            <a:spLocks noGrp="1"/>
          </p:cNvSpPr>
          <p:nvPr>
            <p:ph type="title"/>
          </p:nvPr>
        </p:nvSpPr>
        <p:spPr>
          <a:xfrm>
            <a:off x="965199" y="609600"/>
            <a:ext cx="7648121" cy="1099457"/>
          </a:xfrm>
        </p:spPr>
        <p:txBody>
          <a:bodyPr>
            <a:normAutofit/>
          </a:bodyPr>
          <a:lstStyle/>
          <a:p>
            <a:r>
              <a:rPr lang="en-US" dirty="0"/>
              <a:t>Demo Scenario</a:t>
            </a:r>
          </a:p>
        </p:txBody>
      </p:sp>
      <p:sp>
        <p:nvSpPr>
          <p:cNvPr id="21" name="Isosceles Triangle 2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82E2C4B-768E-D97F-9F33-8764314B38EF}"/>
              </a:ext>
            </a:extLst>
          </p:cNvPr>
          <p:cNvGraphicFramePr>
            <a:graphicFrameLocks noGrp="1"/>
          </p:cNvGraphicFramePr>
          <p:nvPr>
            <p:ph idx="1"/>
            <p:extLst>
              <p:ext uri="{D42A27DB-BD31-4B8C-83A1-F6EECF244321}">
                <p14:modId xmlns:p14="http://schemas.microsoft.com/office/powerpoint/2010/main" val="3187008096"/>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7794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4152550" y="609600"/>
            <a:ext cx="2802951" cy="1320800"/>
          </a:xfrm>
        </p:spPr>
        <p:txBody>
          <a:bodyPr>
            <a:normAutofit/>
          </a:bodyPr>
          <a:lstStyle/>
          <a:p>
            <a:r>
              <a:rPr lang="en-US" dirty="0"/>
              <a:t>Demo Evidence</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3907172" y="2160589"/>
            <a:ext cx="3048329" cy="3880773"/>
          </a:xfrm>
        </p:spPr>
        <p:txBody>
          <a:bodyPr>
            <a:normAutofit/>
          </a:bodyPr>
          <a:lstStyle/>
          <a:p>
            <a:pPr marL="0" indent="0">
              <a:buNone/>
            </a:pPr>
            <a:r>
              <a:rPr lang="en-US" dirty="0"/>
              <a:t>The demo produces:</a:t>
            </a:r>
          </a:p>
          <a:p>
            <a:r>
              <a:rPr lang="en-US" dirty="0"/>
              <a:t>a linear search trace</a:t>
            </a:r>
          </a:p>
          <a:p>
            <a:r>
              <a:rPr lang="en-US" dirty="0"/>
              <a:t>a binary search trace on sorted data</a:t>
            </a:r>
          </a:p>
          <a:p>
            <a:r>
              <a:rPr lang="en-US" dirty="0"/>
              <a:t>a binary search trace on unsorted data</a:t>
            </a:r>
          </a:p>
          <a:p>
            <a:r>
              <a:rPr lang="en-US" dirty="0"/>
              <a:t>a sorted-vs-unsorted summary</a:t>
            </a:r>
          </a:p>
        </p:txBody>
      </p:sp>
      <p:pic>
        <p:nvPicPr>
          <p:cNvPr id="5" name="Picture 4" descr="Magnifying glass showing decling performance">
            <a:extLst>
              <a:ext uri="{FF2B5EF4-FFF2-40B4-BE49-F238E27FC236}">
                <a16:creationId xmlns:a16="http://schemas.microsoft.com/office/drawing/2014/main" id="{0A8CDE13-EC6E-831B-0134-AE933CD2D134}"/>
              </a:ext>
            </a:extLst>
          </p:cNvPr>
          <p:cNvPicPr>
            <a:picLocks noChangeAspect="1"/>
          </p:cNvPicPr>
          <p:nvPr/>
        </p:nvPicPr>
        <p:blipFill>
          <a:blip r:embed="rId3"/>
          <a:srcRect l="23749" r="36869"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026417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77D2AFE8-306B-BDC9-87E6-2CB773E1C976}"/>
              </a:ext>
            </a:extLst>
          </p:cNvPr>
          <p:cNvSpPr>
            <a:spLocks noGrp="1"/>
          </p:cNvSpPr>
          <p:nvPr>
            <p:ph type="title"/>
          </p:nvPr>
        </p:nvSpPr>
        <p:spPr>
          <a:xfrm>
            <a:off x="1200149" y="4571999"/>
            <a:ext cx="5755351" cy="1087656"/>
          </a:xfrm>
        </p:spPr>
        <p:txBody>
          <a:bodyPr vert="horz" lIns="91440" tIns="45720" rIns="91440" bIns="45720" rtlCol="0" anchor="b">
            <a:normAutofit/>
          </a:bodyPr>
          <a:lstStyle/>
          <a:p>
            <a:r>
              <a:rPr lang="en-US" sz="4200"/>
              <a:t>Demo Evidence</a:t>
            </a:r>
          </a:p>
        </p:txBody>
      </p:sp>
      <p:pic>
        <p:nvPicPr>
          <p:cNvPr id="10" name="Picture Placeholder 9">
            <a:extLst>
              <a:ext uri="{FF2B5EF4-FFF2-40B4-BE49-F238E27FC236}">
                <a16:creationId xmlns:a16="http://schemas.microsoft.com/office/drawing/2014/main" id="{2ED1A5AA-F3C4-E2A4-71C3-285D06E93507}"/>
              </a:ext>
            </a:extLst>
          </p:cNvPr>
          <p:cNvPicPr>
            <a:picLocks noGrp="1" noChangeAspect="1"/>
          </p:cNvPicPr>
          <p:nvPr>
            <p:ph type="pic" idx="1"/>
          </p:nvPr>
        </p:nvPicPr>
        <p:blipFill>
          <a:blip r:embed="rId3"/>
          <a:srcRect l="3538" r="3538"/>
          <a:stretch>
            <a:fillRect/>
          </a:stretch>
        </p:blipFill>
        <p:spPr>
          <a:xfrm>
            <a:off x="1200150" y="790134"/>
            <a:ext cx="5718872" cy="3461823"/>
          </a:xfrm>
          <a:prstGeom prst="rect">
            <a:avLst/>
          </a:prstGeom>
        </p:spPr>
      </p:pic>
    </p:spTree>
    <p:extLst>
      <p:ext uri="{BB962C8B-B14F-4D97-AF65-F5344CB8AC3E}">
        <p14:creationId xmlns:p14="http://schemas.microsoft.com/office/powerpoint/2010/main" val="22074677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7F9A1-AF9B-2EAB-214A-9E3A30FDD3D3}"/>
              </a:ext>
            </a:extLst>
          </p:cNvPr>
          <p:cNvSpPr>
            <a:spLocks noGrp="1"/>
          </p:cNvSpPr>
          <p:nvPr>
            <p:ph type="title"/>
          </p:nvPr>
        </p:nvSpPr>
        <p:spPr>
          <a:xfrm>
            <a:off x="4152550" y="609600"/>
            <a:ext cx="2802951" cy="1320800"/>
          </a:xfrm>
        </p:spPr>
        <p:txBody>
          <a:bodyPr>
            <a:normAutofit/>
          </a:bodyPr>
          <a:lstStyle/>
          <a:p>
            <a:r>
              <a:rPr lang="en-US" dirty="0"/>
              <a:t>Demo Key Question</a:t>
            </a:r>
          </a:p>
        </p:txBody>
      </p:sp>
      <p:sp>
        <p:nvSpPr>
          <p:cNvPr id="3" name="Content Placeholder 2">
            <a:extLst>
              <a:ext uri="{FF2B5EF4-FFF2-40B4-BE49-F238E27FC236}">
                <a16:creationId xmlns:a16="http://schemas.microsoft.com/office/drawing/2014/main" id="{DBDE4587-B21A-5EB4-C952-14D8AC54222D}"/>
              </a:ext>
            </a:extLst>
          </p:cNvPr>
          <p:cNvSpPr>
            <a:spLocks noGrp="1"/>
          </p:cNvSpPr>
          <p:nvPr>
            <p:ph idx="1"/>
          </p:nvPr>
        </p:nvSpPr>
        <p:spPr>
          <a:xfrm>
            <a:off x="3907172" y="2160589"/>
            <a:ext cx="3048329" cy="3880773"/>
          </a:xfrm>
        </p:spPr>
        <p:txBody>
          <a:bodyPr>
            <a:normAutofit/>
          </a:bodyPr>
          <a:lstStyle/>
          <a:p>
            <a:pPr marL="0" indent="0">
              <a:buNone/>
            </a:pPr>
            <a:r>
              <a:rPr lang="en-US" dirty="0"/>
              <a:t>Ask after each search:</a:t>
            </a:r>
          </a:p>
          <a:p>
            <a:r>
              <a:rPr lang="en-US" dirty="0"/>
              <a:t>What did the algorithm check?</a:t>
            </a:r>
          </a:p>
          <a:p>
            <a:r>
              <a:rPr lang="en-US" dirty="0"/>
              <a:t>What did it assume?</a:t>
            </a:r>
          </a:p>
          <a:p>
            <a:r>
              <a:rPr lang="en-US" dirty="0"/>
              <a:t>What did it ignore?</a:t>
            </a:r>
          </a:p>
          <a:p>
            <a:r>
              <a:rPr lang="en-US" dirty="0"/>
              <a:t>Was that decision valid?</a:t>
            </a:r>
          </a:p>
        </p:txBody>
      </p:sp>
      <p:pic>
        <p:nvPicPr>
          <p:cNvPr id="5" name="Picture 4" descr="Different colored question marks">
            <a:extLst>
              <a:ext uri="{FF2B5EF4-FFF2-40B4-BE49-F238E27FC236}">
                <a16:creationId xmlns:a16="http://schemas.microsoft.com/office/drawing/2014/main" id="{05777A65-F404-1B6C-5100-86C93718CA16}"/>
              </a:ext>
            </a:extLst>
          </p:cNvPr>
          <p:cNvPicPr>
            <a:picLocks noChangeAspect="1"/>
          </p:cNvPicPr>
          <p:nvPr/>
        </p:nvPicPr>
        <p:blipFill>
          <a:blip r:embed="rId3"/>
          <a:srcRect l="31714" r="3509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8867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0D0E5-C82A-2821-F372-34D79453A8FE}"/>
              </a:ext>
            </a:extLst>
          </p:cNvPr>
          <p:cNvSpPr>
            <a:spLocks noGrp="1"/>
          </p:cNvSpPr>
          <p:nvPr>
            <p:ph type="title"/>
          </p:nvPr>
        </p:nvSpPr>
        <p:spPr>
          <a:xfrm>
            <a:off x="2089535" y="609600"/>
            <a:ext cx="4865966" cy="1320800"/>
          </a:xfrm>
        </p:spPr>
        <p:txBody>
          <a:bodyPr>
            <a:normAutofit/>
          </a:bodyPr>
          <a:lstStyle/>
          <a:p>
            <a:r>
              <a:rPr lang="en-US" dirty="0"/>
              <a:t>Demo Explanation</a:t>
            </a:r>
          </a:p>
        </p:txBody>
      </p:sp>
      <p:pic>
        <p:nvPicPr>
          <p:cNvPr id="5" name="Picture 4" descr="Dark blue shattered geometric chain">
            <a:extLst>
              <a:ext uri="{FF2B5EF4-FFF2-40B4-BE49-F238E27FC236}">
                <a16:creationId xmlns:a16="http://schemas.microsoft.com/office/drawing/2014/main" id="{377F6D4D-BE10-60D9-4BD4-003EB5B66673}"/>
              </a:ext>
            </a:extLst>
          </p:cNvPr>
          <p:cNvPicPr>
            <a:picLocks noChangeAspect="1"/>
          </p:cNvPicPr>
          <p:nvPr/>
        </p:nvPicPr>
        <p:blipFill>
          <a:blip r:embed="rId3">
            <a:duotone>
              <a:prstClr val="black"/>
              <a:schemeClr val="tx2">
                <a:tint val="45000"/>
                <a:satMod val="400000"/>
              </a:schemeClr>
            </a:duotone>
          </a:blip>
          <a:srcRect l="72987" r="10239"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8613BE1-56FB-86D8-D85E-F894C535F86F}"/>
              </a:ext>
            </a:extLst>
          </p:cNvPr>
          <p:cNvSpPr>
            <a:spLocks noGrp="1"/>
          </p:cNvSpPr>
          <p:nvPr>
            <p:ph idx="1"/>
          </p:nvPr>
        </p:nvSpPr>
        <p:spPr>
          <a:xfrm>
            <a:off x="2089535" y="2160589"/>
            <a:ext cx="4865966" cy="3880773"/>
          </a:xfrm>
        </p:spPr>
        <p:txBody>
          <a:bodyPr>
            <a:normAutofit/>
          </a:bodyPr>
          <a:lstStyle/>
          <a:p>
            <a:pPr marL="0" indent="0">
              <a:buNone/>
            </a:pPr>
            <a:r>
              <a:rPr lang="en-US" dirty="0"/>
              <a:t>Example explanation:</a:t>
            </a:r>
          </a:p>
          <a:p>
            <a:pPr marL="0" indent="0">
              <a:buNone/>
            </a:pPr>
            <a:endParaRPr lang="en-US" dirty="0"/>
          </a:p>
          <a:p>
            <a:pPr marL="0" indent="0">
              <a:buNone/>
            </a:pPr>
            <a:r>
              <a:rPr lang="en-US" i="1" dirty="0"/>
              <a:t>“Binary search is valid on the sorted list because each comparison tells us which half can be ignored. On the unsorted list, that decision is unreliable because the values are not arranged in order.”</a:t>
            </a:r>
          </a:p>
        </p:txBody>
      </p:sp>
    </p:spTree>
    <p:extLst>
      <p:ext uri="{BB962C8B-B14F-4D97-AF65-F5344CB8AC3E}">
        <p14:creationId xmlns:p14="http://schemas.microsoft.com/office/powerpoint/2010/main" val="29782299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From Demo to Lab</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fontScale="92500"/>
          </a:bodyPr>
          <a:lstStyle/>
          <a:p>
            <a:pPr marL="0" indent="0">
              <a:buNone/>
            </a:pPr>
            <a:r>
              <a:rPr lang="en-US" dirty="0"/>
              <a:t>In Lab 04, you will use a different data set.</a:t>
            </a:r>
          </a:p>
          <a:p>
            <a:pPr marL="0" indent="0">
              <a:buNone/>
            </a:pPr>
            <a:r>
              <a:rPr lang="en-US" dirty="0"/>
              <a:t>You must show:</a:t>
            </a:r>
          </a:p>
          <a:p>
            <a:r>
              <a:rPr lang="en-US" dirty="0"/>
              <a:t>linear search</a:t>
            </a:r>
          </a:p>
          <a:p>
            <a:r>
              <a:rPr lang="en-US" dirty="0"/>
              <a:t>binary search</a:t>
            </a:r>
          </a:p>
          <a:p>
            <a:r>
              <a:rPr lang="en-US" dirty="0"/>
              <a:t>found and not-found tests</a:t>
            </a:r>
          </a:p>
          <a:p>
            <a:r>
              <a:rPr lang="en-US" dirty="0"/>
              <a:t>binary search attempted on unsorted data</a:t>
            </a:r>
          </a:p>
          <a:p>
            <a:r>
              <a:rPr lang="en-US" dirty="0"/>
              <a:t>trace evidence</a:t>
            </a:r>
          </a:p>
          <a:p>
            <a:r>
              <a:rPr lang="en-US" dirty="0"/>
              <a:t>precondition explanation</a:t>
            </a:r>
          </a:p>
        </p:txBody>
      </p:sp>
      <p:pic>
        <p:nvPicPr>
          <p:cNvPr id="5" name="Picture 4" descr="A row of samples for medical testing">
            <a:extLst>
              <a:ext uri="{FF2B5EF4-FFF2-40B4-BE49-F238E27FC236}">
                <a16:creationId xmlns:a16="http://schemas.microsoft.com/office/drawing/2014/main" id="{5406C1C5-46D3-5662-C887-3DA2319E776C}"/>
              </a:ext>
            </a:extLst>
          </p:cNvPr>
          <p:cNvPicPr>
            <a:picLocks noChangeAspect="1"/>
          </p:cNvPicPr>
          <p:nvPr/>
        </p:nvPicPr>
        <p:blipFill>
          <a:blip r:embed="rId3"/>
          <a:srcRect l="51375" r="4376"/>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4347200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8778-464A-01E4-5FE9-A651D96F3C42}"/>
              </a:ext>
            </a:extLst>
          </p:cNvPr>
          <p:cNvSpPr>
            <a:spLocks noGrp="1"/>
          </p:cNvSpPr>
          <p:nvPr>
            <p:ph type="title"/>
          </p:nvPr>
        </p:nvSpPr>
        <p:spPr>
          <a:xfrm>
            <a:off x="4152550" y="609600"/>
            <a:ext cx="2802951" cy="1320800"/>
          </a:xfrm>
        </p:spPr>
        <p:txBody>
          <a:bodyPr>
            <a:normAutofit/>
          </a:bodyPr>
          <a:lstStyle/>
          <a:p>
            <a:r>
              <a:rPr lang="en-US" dirty="0"/>
              <a:t>Walkthrough Support</a:t>
            </a:r>
          </a:p>
        </p:txBody>
      </p:sp>
      <p:sp>
        <p:nvSpPr>
          <p:cNvPr id="3" name="Content Placeholder 2">
            <a:extLst>
              <a:ext uri="{FF2B5EF4-FFF2-40B4-BE49-F238E27FC236}">
                <a16:creationId xmlns:a16="http://schemas.microsoft.com/office/drawing/2014/main" id="{93596B46-5734-C699-CDD9-BD0D055D086D}"/>
              </a:ext>
            </a:extLst>
          </p:cNvPr>
          <p:cNvSpPr>
            <a:spLocks noGrp="1"/>
          </p:cNvSpPr>
          <p:nvPr>
            <p:ph idx="1"/>
          </p:nvPr>
        </p:nvSpPr>
        <p:spPr>
          <a:xfrm>
            <a:off x="3907172" y="2160589"/>
            <a:ext cx="3048329" cy="3880773"/>
          </a:xfrm>
        </p:spPr>
        <p:txBody>
          <a:bodyPr>
            <a:normAutofit/>
          </a:bodyPr>
          <a:lstStyle/>
          <a:p>
            <a:pPr marL="0" indent="0">
              <a:buNone/>
            </a:pPr>
            <a:r>
              <a:rPr lang="en-US" dirty="0"/>
              <a:t>The walkthrough artifact can help you:</a:t>
            </a:r>
          </a:p>
          <a:p>
            <a:r>
              <a:rPr lang="en-US" dirty="0"/>
              <a:t>?</a:t>
            </a:r>
          </a:p>
          <a:p>
            <a:pPr marL="0" indent="0">
              <a:buNone/>
            </a:pPr>
            <a:r>
              <a:rPr lang="en-US" dirty="0"/>
              <a:t>If you use it, you must explain the pattern in your own words, what you changes, and your decisions:</a:t>
            </a:r>
          </a:p>
          <a:p>
            <a:pPr marL="0" indent="0">
              <a:buNone/>
            </a:pPr>
            <a:endParaRPr lang="en-US" dirty="0"/>
          </a:p>
        </p:txBody>
      </p:sp>
      <p:pic>
        <p:nvPicPr>
          <p:cNvPr id="5" name="Picture 4" descr="Chairs in a circle">
            <a:extLst>
              <a:ext uri="{FF2B5EF4-FFF2-40B4-BE49-F238E27FC236}">
                <a16:creationId xmlns:a16="http://schemas.microsoft.com/office/drawing/2014/main" id="{23C4C2E2-34BA-5263-91FA-971E8FF7A44D}"/>
              </a:ext>
            </a:extLst>
          </p:cNvPr>
          <p:cNvPicPr>
            <a:picLocks noChangeAspect="1"/>
          </p:cNvPicPr>
          <p:nvPr/>
        </p:nvPicPr>
        <p:blipFill>
          <a:blip r:embed="rId3"/>
          <a:srcRect l="29355" r="20053"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1554537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9D7-DC22-67B7-C127-E213A7D7E5B5}"/>
              </a:ext>
            </a:extLst>
          </p:cNvPr>
          <p:cNvSpPr>
            <a:spLocks noGrp="1"/>
          </p:cNvSpPr>
          <p:nvPr>
            <p:ph type="title"/>
          </p:nvPr>
        </p:nvSpPr>
        <p:spPr>
          <a:xfrm>
            <a:off x="3747981" y="609600"/>
            <a:ext cx="3207519" cy="1320800"/>
          </a:xfrm>
        </p:spPr>
        <p:txBody>
          <a:bodyPr anchor="ctr">
            <a:normAutofit/>
          </a:bodyPr>
          <a:lstStyle/>
          <a:p>
            <a:r>
              <a:rPr lang="en-US" b="1" dirty="0"/>
              <a:t>README Evidence</a:t>
            </a:r>
            <a:endParaRPr lang="en-US" dirty="0"/>
          </a:p>
        </p:txBody>
      </p:sp>
      <p:pic>
        <p:nvPicPr>
          <p:cNvPr id="7" name="Graphic 6" descr="Check List">
            <a:extLst>
              <a:ext uri="{FF2B5EF4-FFF2-40B4-BE49-F238E27FC236}">
                <a16:creationId xmlns:a16="http://schemas.microsoft.com/office/drawing/2014/main" id="{ECC9DEAD-0143-BEB6-CDDF-ECA972867E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A170A1EC-C9C7-D8BC-8C60-91337D1A5DBC}"/>
              </a:ext>
            </a:extLst>
          </p:cNvPr>
          <p:cNvSpPr>
            <a:spLocks noGrp="1"/>
          </p:cNvSpPr>
          <p:nvPr>
            <p:ph idx="1"/>
          </p:nvPr>
        </p:nvSpPr>
        <p:spPr>
          <a:xfrm>
            <a:off x="3739367" y="2160589"/>
            <a:ext cx="3213882" cy="3768573"/>
          </a:xfrm>
        </p:spPr>
        <p:txBody>
          <a:bodyPr>
            <a:normAutofit/>
          </a:bodyPr>
          <a:lstStyle/>
          <a:p>
            <a:pPr marL="0" indent="0">
              <a:buNone/>
            </a:pPr>
            <a:r>
              <a:rPr lang="en-US" dirty="0"/>
              <a:t>Your README should show:</a:t>
            </a:r>
          </a:p>
          <a:p>
            <a:r>
              <a:rPr lang="en-US" dirty="0"/>
              <a:t>test case table</a:t>
            </a:r>
          </a:p>
          <a:p>
            <a:r>
              <a:rPr lang="en-US" dirty="0"/>
              <a:t>trace table</a:t>
            </a:r>
          </a:p>
          <a:p>
            <a:r>
              <a:rPr lang="en-US" dirty="0"/>
              <a:t>sorted-data precondition explanation</a:t>
            </a:r>
          </a:p>
          <a:p>
            <a:r>
              <a:rPr lang="en-US" dirty="0"/>
              <a:t>comparison of linear and binary search</a:t>
            </a:r>
          </a:p>
          <a:p>
            <a:r>
              <a:rPr lang="en-US" dirty="0"/>
              <a:t>AI-use note, if used note, if applicable</a:t>
            </a:r>
          </a:p>
        </p:txBody>
      </p:sp>
    </p:spTree>
    <p:extLst>
      <p:ext uri="{BB962C8B-B14F-4D97-AF65-F5344CB8AC3E}">
        <p14:creationId xmlns:p14="http://schemas.microsoft.com/office/powerpoint/2010/main" val="1923963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FEC8-C36E-8138-AFF9-1BCB8E92E2B8}"/>
              </a:ext>
            </a:extLst>
          </p:cNvPr>
          <p:cNvSpPr>
            <a:spLocks noGrp="1"/>
          </p:cNvSpPr>
          <p:nvPr>
            <p:ph type="title"/>
          </p:nvPr>
        </p:nvSpPr>
        <p:spPr>
          <a:xfrm>
            <a:off x="4152550" y="609600"/>
            <a:ext cx="2802951" cy="1320800"/>
          </a:xfrm>
        </p:spPr>
        <p:txBody>
          <a:bodyPr vert="horz" lIns="91440" tIns="45720" rIns="91440" bIns="45720" rtlCol="0">
            <a:normAutofit/>
          </a:bodyPr>
          <a:lstStyle/>
          <a:p>
            <a:r>
              <a:rPr lang="en-US" dirty="0"/>
              <a:t>AI Use In Lab 04</a:t>
            </a:r>
          </a:p>
        </p:txBody>
      </p:sp>
      <p:sp>
        <p:nvSpPr>
          <p:cNvPr id="4" name="Content Placeholder 3">
            <a:extLst>
              <a:ext uri="{FF2B5EF4-FFF2-40B4-BE49-F238E27FC236}">
                <a16:creationId xmlns:a16="http://schemas.microsoft.com/office/drawing/2014/main" id="{F95F7C5D-76E8-1B83-C806-C3C7939961B9}"/>
              </a:ext>
            </a:extLst>
          </p:cNvPr>
          <p:cNvSpPr>
            <a:spLocks noGrp="1"/>
          </p:cNvSpPr>
          <p:nvPr>
            <p:ph idx="1"/>
          </p:nvPr>
        </p:nvSpPr>
        <p:spPr>
          <a:xfrm>
            <a:off x="3907172" y="2160589"/>
            <a:ext cx="3048329" cy="3880773"/>
          </a:xfrm>
        </p:spPr>
        <p:txBody>
          <a:bodyPr>
            <a:normAutofit/>
          </a:bodyPr>
          <a:lstStyle/>
          <a:p>
            <a:pPr marL="0" indent="0">
              <a:buNone/>
            </a:pPr>
            <a:r>
              <a:rPr lang="en-US" sz="1700"/>
              <a:t>Manual first:</a:t>
            </a:r>
          </a:p>
          <a:p>
            <a:r>
              <a:rPr lang="en-US" sz="1700"/>
              <a:t>Write or trace your own attempt</a:t>
            </a:r>
          </a:p>
          <a:p>
            <a:r>
              <a:rPr lang="en-US" sz="1700"/>
              <a:t>Create your test cases</a:t>
            </a:r>
          </a:p>
          <a:p>
            <a:r>
              <a:rPr lang="en-US" sz="1700"/>
              <a:t>Identify the precondition</a:t>
            </a:r>
          </a:p>
          <a:p>
            <a:pPr marL="0" indent="0">
              <a:buNone/>
            </a:pPr>
            <a:r>
              <a:rPr lang="en-US" sz="1700"/>
              <a:t>AI-assisted after:</a:t>
            </a:r>
          </a:p>
          <a:p>
            <a:r>
              <a:rPr lang="en-US" sz="1700"/>
              <a:t>Review logic</a:t>
            </a:r>
          </a:p>
          <a:p>
            <a:r>
              <a:rPr lang="en-US" sz="1700"/>
              <a:t>Check edge cases</a:t>
            </a:r>
          </a:p>
          <a:p>
            <a:r>
              <a:rPr lang="en-US" sz="1700"/>
              <a:t>Explain a confusing trace</a:t>
            </a:r>
          </a:p>
          <a:p>
            <a:r>
              <a:rPr lang="en-US" sz="1700"/>
              <a:t>Suggest tests</a:t>
            </a:r>
          </a:p>
        </p:txBody>
      </p:sp>
      <p:pic>
        <p:nvPicPr>
          <p:cNvPr id="5" name="Picture 4" descr="Robot operating a machine">
            <a:extLst>
              <a:ext uri="{FF2B5EF4-FFF2-40B4-BE49-F238E27FC236}">
                <a16:creationId xmlns:a16="http://schemas.microsoft.com/office/drawing/2014/main" id="{638035A6-8F2B-CFAB-F2A0-C40F7D534C83}"/>
              </a:ext>
            </a:extLst>
          </p:cNvPr>
          <p:cNvPicPr>
            <a:picLocks noChangeAspect="1"/>
          </p:cNvPicPr>
          <p:nvPr/>
        </p:nvPicPr>
        <p:blipFill>
          <a:blip r:embed="rId3"/>
          <a:srcRect l="29618" r="25100"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915854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lorful rolled magazines">
            <a:extLst>
              <a:ext uri="{FF2B5EF4-FFF2-40B4-BE49-F238E27FC236}">
                <a16:creationId xmlns:a16="http://schemas.microsoft.com/office/drawing/2014/main" id="{771DCBED-D310-6C5A-AFAE-9D7EAA4A6972}"/>
              </a:ext>
            </a:extLst>
          </p:cNvPr>
          <p:cNvPicPr>
            <a:picLocks noChangeAspect="1"/>
          </p:cNvPicPr>
          <p:nvPr/>
        </p:nvPicPr>
        <p:blipFill>
          <a:blip r:embed="rId3">
            <a:duotone>
              <a:prstClr val="black"/>
              <a:prstClr val="white"/>
            </a:duotone>
          </a:blip>
          <a:srcRect l="29767" r="18385" b="-2"/>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2" name="Title 1">
            <a:extLst>
              <a:ext uri="{FF2B5EF4-FFF2-40B4-BE49-F238E27FC236}">
                <a16:creationId xmlns:a16="http://schemas.microsoft.com/office/drawing/2014/main" id="{42861510-CA61-0D1A-72BB-E420D0840410}"/>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a:t>Wrap up</a:t>
            </a:r>
          </a:p>
        </p:txBody>
      </p:sp>
      <p:sp>
        <p:nvSpPr>
          <p:cNvPr id="3" name="Text Placeholder 2">
            <a:extLst>
              <a:ext uri="{FF2B5EF4-FFF2-40B4-BE49-F238E27FC236}">
                <a16:creationId xmlns:a16="http://schemas.microsoft.com/office/drawing/2014/main" id="{1EDDDF35-D014-F980-031E-B5A95948CD4C}"/>
              </a:ext>
            </a:extLst>
          </p:cNvPr>
          <p:cNvSpPr>
            <a:spLocks noGrp="1"/>
          </p:cNvSpPr>
          <p:nvPr>
            <p:ph type="body" idx="1"/>
          </p:nvPr>
        </p:nvSpPr>
        <p:spPr>
          <a:xfrm>
            <a:off x="508001" y="4050831"/>
            <a:ext cx="3834913" cy="1096901"/>
          </a:xfrm>
        </p:spPr>
        <p:txBody>
          <a:bodyPr vert="horz" lIns="91440" tIns="45720" rIns="91440" bIns="45720" rtlCol="0" anchor="t">
            <a:normAutofit/>
          </a:bodyPr>
          <a:lstStyle/>
          <a:p>
            <a:pPr algn="r"/>
            <a:endParaRPr lang="en-US" sz="1400"/>
          </a:p>
        </p:txBody>
      </p:sp>
    </p:spTree>
    <p:extLst>
      <p:ext uri="{BB962C8B-B14F-4D97-AF65-F5344CB8AC3E}">
        <p14:creationId xmlns:p14="http://schemas.microsoft.com/office/powerpoint/2010/main" val="10315479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555-1E16-8E8B-E548-105BA59C0BD8}"/>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Lab 0n Success Check</a:t>
            </a:r>
          </a:p>
        </p:txBody>
      </p:sp>
      <p:sp>
        <p:nvSpPr>
          <p:cNvPr id="3" name="Content Placeholder 2">
            <a:extLst>
              <a:ext uri="{FF2B5EF4-FFF2-40B4-BE49-F238E27FC236}">
                <a16:creationId xmlns:a16="http://schemas.microsoft.com/office/drawing/2014/main" id="{77AFF21A-F8C1-15AA-C705-4530AE58A074}"/>
              </a:ext>
            </a:extLst>
          </p:cNvPr>
          <p:cNvSpPr>
            <a:spLocks noGrp="1"/>
          </p:cNvSpPr>
          <p:nvPr>
            <p:ph idx="1"/>
          </p:nvPr>
        </p:nvSpPr>
        <p:spPr>
          <a:xfrm>
            <a:off x="3907172" y="2160589"/>
            <a:ext cx="3048329" cy="3880773"/>
          </a:xfrm>
        </p:spPr>
        <p:txBody>
          <a:bodyPr>
            <a:normAutofit/>
          </a:bodyPr>
          <a:lstStyle/>
          <a:p>
            <a:r>
              <a:rPr lang="en-US" dirty="0"/>
              <a:t>Searches correctly</a:t>
            </a:r>
          </a:p>
          <a:p>
            <a:r>
              <a:rPr lang="en-US" dirty="0"/>
              <a:t>Includes required test cases</a:t>
            </a:r>
          </a:p>
          <a:p>
            <a:r>
              <a:rPr lang="en-US" dirty="0"/>
              <a:t>Traces at least one search</a:t>
            </a:r>
          </a:p>
          <a:p>
            <a:r>
              <a:rPr lang="en-US" dirty="0"/>
              <a:t>Explains sorted-data requirements</a:t>
            </a:r>
          </a:p>
          <a:p>
            <a:r>
              <a:rPr lang="en-US" dirty="0"/>
              <a:t>Avoids claiming binary search is always better</a:t>
            </a:r>
          </a:p>
        </p:txBody>
      </p:sp>
      <p:pic>
        <p:nvPicPr>
          <p:cNvPr id="5" name="Picture 4" descr="Beakers with solution on shelf in lab">
            <a:extLst>
              <a:ext uri="{FF2B5EF4-FFF2-40B4-BE49-F238E27FC236}">
                <a16:creationId xmlns:a16="http://schemas.microsoft.com/office/drawing/2014/main" id="{255A690D-4CB8-0C66-184B-33949F8D651C}"/>
              </a:ext>
            </a:extLst>
          </p:cNvPr>
          <p:cNvPicPr>
            <a:picLocks noChangeAspect="1"/>
          </p:cNvPicPr>
          <p:nvPr/>
        </p:nvPicPr>
        <p:blipFill>
          <a:blip r:embed="rId3"/>
          <a:srcRect l="36287" r="24330"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895131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4C146-617D-4E39-D705-22B72B38BE48}"/>
              </a:ext>
            </a:extLst>
          </p:cNvPr>
          <p:cNvSpPr>
            <a:spLocks noGrp="1"/>
          </p:cNvSpPr>
          <p:nvPr>
            <p:ph type="title"/>
          </p:nvPr>
        </p:nvSpPr>
        <p:spPr>
          <a:xfrm>
            <a:off x="3747981" y="609600"/>
            <a:ext cx="3207519" cy="1320800"/>
          </a:xfrm>
        </p:spPr>
        <p:txBody>
          <a:bodyPr anchor="ctr">
            <a:normAutofit/>
          </a:bodyPr>
          <a:lstStyle/>
          <a:p>
            <a:r>
              <a:rPr lang="en-US" b="1" dirty="0"/>
              <a:t>What To Carry Forward</a:t>
            </a:r>
            <a:endParaRPr lang="en-US" dirty="0"/>
          </a:p>
        </p:txBody>
      </p:sp>
      <p:pic>
        <p:nvPicPr>
          <p:cNvPr id="7" name="Graphic 6" descr="Finger Print">
            <a:extLst>
              <a:ext uri="{FF2B5EF4-FFF2-40B4-BE49-F238E27FC236}">
                <a16:creationId xmlns:a16="http://schemas.microsoft.com/office/drawing/2014/main" id="{9CDA5D42-CD20-71ED-88DF-C280BC6218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6A433235-9D16-6582-9577-58004FB83875}"/>
              </a:ext>
            </a:extLst>
          </p:cNvPr>
          <p:cNvSpPr>
            <a:spLocks noGrp="1"/>
          </p:cNvSpPr>
          <p:nvPr>
            <p:ph idx="1"/>
          </p:nvPr>
        </p:nvSpPr>
        <p:spPr>
          <a:xfrm>
            <a:off x="3739367" y="2160589"/>
            <a:ext cx="3213882" cy="3768573"/>
          </a:xfrm>
        </p:spPr>
        <p:txBody>
          <a:bodyPr>
            <a:normAutofit/>
          </a:bodyPr>
          <a:lstStyle/>
          <a:p>
            <a:pPr marL="0" indent="0">
              <a:buNone/>
            </a:pPr>
            <a:r>
              <a:rPr lang="en-US" dirty="0"/>
              <a:t>Search and sort algorithms teach a larger lesson:</a:t>
            </a:r>
          </a:p>
          <a:p>
            <a:r>
              <a:rPr lang="en-US" dirty="0"/>
              <a:t>Algorithms depend on data conditions</a:t>
            </a:r>
          </a:p>
          <a:p>
            <a:r>
              <a:rPr lang="en-US" dirty="0"/>
              <a:t>Performance depends on context</a:t>
            </a:r>
          </a:p>
          <a:p>
            <a:r>
              <a:rPr lang="en-US" dirty="0"/>
              <a:t>Correctness includes assumptions</a:t>
            </a:r>
          </a:p>
          <a:p>
            <a:r>
              <a:rPr lang="en-US" dirty="0"/>
              <a:t>Evidence makes reasoning visible</a:t>
            </a:r>
          </a:p>
        </p:txBody>
      </p:sp>
    </p:spTree>
    <p:extLst>
      <p:ext uri="{BB962C8B-B14F-4D97-AF65-F5344CB8AC3E}">
        <p14:creationId xmlns:p14="http://schemas.microsoft.com/office/powerpoint/2010/main" val="12796929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5D3F-E078-FC55-695F-976B83CD5338}"/>
              </a:ext>
            </a:extLst>
          </p:cNvPr>
          <p:cNvSpPr>
            <a:spLocks noGrp="1"/>
          </p:cNvSpPr>
          <p:nvPr>
            <p:ph type="title"/>
          </p:nvPr>
        </p:nvSpPr>
        <p:spPr/>
        <p:txBody>
          <a:bodyPr/>
          <a:lstStyle/>
          <a:p>
            <a:r>
              <a:rPr lang="en-US" dirty="0"/>
              <a:t>Next Step</a:t>
            </a:r>
          </a:p>
        </p:txBody>
      </p:sp>
      <p:graphicFrame>
        <p:nvGraphicFramePr>
          <p:cNvPr id="7" name="Content Placeholder 2">
            <a:extLst>
              <a:ext uri="{FF2B5EF4-FFF2-40B4-BE49-F238E27FC236}">
                <a16:creationId xmlns:a16="http://schemas.microsoft.com/office/drawing/2014/main" id="{DE882C46-7257-FC97-CBC6-E983CBE66DE3}"/>
              </a:ext>
            </a:extLst>
          </p:cNvPr>
          <p:cNvGraphicFramePr>
            <a:graphicFrameLocks noGrp="1"/>
          </p:cNvGraphicFramePr>
          <p:nvPr>
            <p:ph idx="1"/>
            <p:extLst>
              <p:ext uri="{D42A27DB-BD31-4B8C-83A1-F6EECF244321}">
                <p14:modId xmlns:p14="http://schemas.microsoft.com/office/powerpoint/2010/main" val="2152460152"/>
              </p:ext>
            </p:extLst>
          </p:nvPr>
        </p:nvGraphicFramePr>
        <p:xfrm>
          <a:off x="609599" y="1489166"/>
          <a:ext cx="6347714" cy="45521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79268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9F70-8F60-D3FC-3A79-9DFB4AC2D52D}"/>
              </a:ext>
            </a:extLst>
          </p:cNvPr>
          <p:cNvSpPr>
            <a:spLocks noGrp="1"/>
          </p:cNvSpPr>
          <p:nvPr>
            <p:ph type="title"/>
          </p:nvPr>
        </p:nvSpPr>
        <p:spPr>
          <a:xfrm>
            <a:off x="3747981" y="609600"/>
            <a:ext cx="3207519" cy="1320800"/>
          </a:xfrm>
        </p:spPr>
        <p:txBody>
          <a:bodyPr anchor="ctr">
            <a:normAutofit/>
          </a:bodyPr>
          <a:lstStyle/>
          <a:p>
            <a:pPr>
              <a:lnSpc>
                <a:spcPct val="90000"/>
              </a:lnSpc>
            </a:pPr>
            <a:r>
              <a:rPr lang="en-US" sz="2500" b="1"/>
              <a:t>How To Use The Textbook For Next Week's Reading</a:t>
            </a:r>
            <a:endParaRPr lang="en-US" sz="2500"/>
          </a:p>
        </p:txBody>
      </p:sp>
      <p:pic>
        <p:nvPicPr>
          <p:cNvPr id="7" name="Graphic 6" descr="Books">
            <a:extLst>
              <a:ext uri="{FF2B5EF4-FFF2-40B4-BE49-F238E27FC236}">
                <a16:creationId xmlns:a16="http://schemas.microsoft.com/office/drawing/2014/main" id="{CB844410-8630-6014-129E-F9F9F6F089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A57DEBDE-72CE-C2D6-1555-027E1505BD1F}"/>
              </a:ext>
            </a:extLst>
          </p:cNvPr>
          <p:cNvSpPr>
            <a:spLocks noGrp="1"/>
          </p:cNvSpPr>
          <p:nvPr>
            <p:ph idx="1"/>
          </p:nvPr>
        </p:nvSpPr>
        <p:spPr>
          <a:xfrm>
            <a:off x="3739367" y="2160589"/>
            <a:ext cx="3213882" cy="3768573"/>
          </a:xfrm>
        </p:spPr>
        <p:txBody>
          <a:bodyPr>
            <a:normAutofit lnSpcReduction="10000"/>
          </a:bodyPr>
          <a:lstStyle/>
          <a:p>
            <a:pPr marL="0" indent="0">
              <a:lnSpc>
                <a:spcPct val="90000"/>
              </a:lnSpc>
              <a:buNone/>
            </a:pPr>
            <a:r>
              <a:rPr lang="en-US" sz="1400" dirty="0"/>
              <a:t>For next week, read for strategy choice.</a:t>
            </a:r>
          </a:p>
          <a:p>
            <a:pPr marL="0" indent="0">
              <a:lnSpc>
                <a:spcPct val="90000"/>
              </a:lnSpc>
              <a:buNone/>
            </a:pPr>
            <a:r>
              <a:rPr lang="en-US" sz="1400" dirty="0"/>
              <a:t>Focus on:</a:t>
            </a:r>
          </a:p>
          <a:p>
            <a:pPr>
              <a:lnSpc>
                <a:spcPct val="90000"/>
              </a:lnSpc>
            </a:pPr>
            <a:r>
              <a:rPr lang="en-US" sz="1400" dirty="0"/>
              <a:t>Correctness, performance, and scalability</a:t>
            </a:r>
          </a:p>
          <a:p>
            <a:pPr>
              <a:lnSpc>
                <a:spcPct val="90000"/>
              </a:lnSpc>
            </a:pPr>
            <a:r>
              <a:rPr lang="en-US" sz="1400" dirty="0" err="1"/>
              <a:t>Gunctional</a:t>
            </a:r>
            <a:r>
              <a:rPr lang="en-US" sz="1400" dirty="0"/>
              <a:t> and non-functional requirements</a:t>
            </a:r>
          </a:p>
          <a:p>
            <a:pPr>
              <a:lnSpc>
                <a:spcPct val="90000"/>
              </a:lnSpc>
            </a:pPr>
            <a:r>
              <a:rPr lang="en-US" sz="1400" dirty="0"/>
              <a:t>Divide and conquer</a:t>
            </a:r>
          </a:p>
          <a:p>
            <a:pPr>
              <a:lnSpc>
                <a:spcPct val="90000"/>
              </a:lnSpc>
            </a:pPr>
            <a:r>
              <a:rPr lang="en-US" sz="1400" dirty="0"/>
              <a:t>Dynamic programming</a:t>
            </a:r>
          </a:p>
          <a:p>
            <a:pPr>
              <a:lnSpc>
                <a:spcPct val="90000"/>
              </a:lnSpc>
            </a:pPr>
            <a:r>
              <a:rPr lang="en-US" sz="1400" dirty="0"/>
              <a:t>Greedy strategies</a:t>
            </a:r>
          </a:p>
          <a:p>
            <a:pPr>
              <a:lnSpc>
                <a:spcPct val="90000"/>
              </a:lnSpc>
            </a:pPr>
            <a:r>
              <a:rPr lang="en-US" sz="1400" dirty="0"/>
              <a:t>PageRank and linear programming as examples</a:t>
            </a:r>
          </a:p>
          <a:p>
            <a:pPr marL="0" indent="0">
              <a:lnSpc>
                <a:spcPct val="90000"/>
              </a:lnSpc>
              <a:buNone/>
            </a:pPr>
            <a:r>
              <a:rPr lang="en-US" sz="1400" i="1" dirty="0"/>
              <a:t>Skim the P, NP-Hard, and NP-Complete section for </a:t>
            </a:r>
            <a:r>
              <a:rPr lang="en-US" sz="1400" b="1" dirty="0"/>
              <a:t>recognition</a:t>
            </a:r>
            <a:r>
              <a:rPr lang="en-US" sz="1400" i="1" dirty="0"/>
              <a:t> only.</a:t>
            </a:r>
          </a:p>
        </p:txBody>
      </p:sp>
    </p:spTree>
    <p:extLst>
      <p:ext uri="{BB962C8B-B14F-4D97-AF65-F5344CB8AC3E}">
        <p14:creationId xmlns:p14="http://schemas.microsoft.com/office/powerpoint/2010/main" val="23699964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7786</TotalTime>
  <Words>4765</Words>
  <Application>Microsoft Office PowerPoint</Application>
  <PresentationFormat>On-screen Show (4:3)</PresentationFormat>
  <Paragraphs>856</Paragraphs>
  <Slides>70</Slides>
  <Notes>67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Aptos</vt:lpstr>
      <vt:lpstr>Arial</vt:lpstr>
      <vt:lpstr>Trebuchet MS</vt:lpstr>
      <vt:lpstr>Wingdings 3</vt:lpstr>
      <vt:lpstr>Facet</vt:lpstr>
      <vt:lpstr>Introduction To Algorithms</vt:lpstr>
      <vt:lpstr>Terms to Remember</vt:lpstr>
      <vt:lpstr>What We Will Use Today</vt:lpstr>
      <vt:lpstr>What We Will “Touch On” and Revisit Later</vt:lpstr>
      <vt:lpstr>Review Coding Lab</vt:lpstr>
      <vt:lpstr>Review:  What Lab 03 Taught Us</vt:lpstr>
      <vt:lpstr>Today’s Question</vt:lpstr>
      <vt:lpstr>What Counts as Success Today</vt:lpstr>
      <vt:lpstr>Preconditions Make Algorithms Honest</vt:lpstr>
      <vt:lpstr>Searching And Sorting Work Together</vt:lpstr>
      <vt:lpstr>Four Main Areas</vt:lpstr>
      <vt:lpstr>NLP Context</vt:lpstr>
      <vt:lpstr>Sorting</vt:lpstr>
      <vt:lpstr>Searching</vt:lpstr>
      <vt:lpstr>Performance Is Interspersed</vt:lpstr>
      <vt:lpstr>Sorting Foundations</vt:lpstr>
      <vt:lpstr>Variable Swapping</vt:lpstr>
      <vt:lpstr>Variable Swapping</vt:lpstr>
      <vt:lpstr>Bubble Sort</vt:lpstr>
      <vt:lpstr>Bubble Sort Performance</vt:lpstr>
      <vt:lpstr>Bubble Sort Optimization</vt:lpstr>
      <vt:lpstr>Selection Sort</vt:lpstr>
      <vt:lpstr>Selection Sort Performance</vt:lpstr>
      <vt:lpstr>Insertion Sort</vt:lpstr>
      <vt:lpstr>Insertion Sort Performance</vt:lpstr>
      <vt:lpstr>Shell Sort</vt:lpstr>
      <vt:lpstr>Merge Sort</vt:lpstr>
      <vt:lpstr>Sorting Strategy Comparison</vt:lpstr>
      <vt:lpstr>Sorting Comparison</vt:lpstr>
      <vt:lpstr>Sorting Performance and Choice</vt:lpstr>
      <vt:lpstr>Choosing A Sorting Algorithm </vt:lpstr>
      <vt:lpstr>Simple Does Not Always Mean Wrong</vt:lpstr>
      <vt:lpstr>Performance Claims: Needs Conditions</vt:lpstr>
      <vt:lpstr>Sorting As Preparation</vt:lpstr>
      <vt:lpstr>Sorting As Preparation</vt:lpstr>
      <vt:lpstr>From Sort To Search</vt:lpstr>
      <vt:lpstr>Break</vt:lpstr>
      <vt:lpstr>Searching Foundations</vt:lpstr>
      <vt:lpstr>Linear Search</vt:lpstr>
      <vt:lpstr>Linear Search Performance </vt:lpstr>
      <vt:lpstr>Binary Search</vt:lpstr>
      <vt:lpstr>The Sorted-Data Precondition</vt:lpstr>
      <vt:lpstr>Binary Search</vt:lpstr>
      <vt:lpstr>Binary Search Trace (Table)</vt:lpstr>
      <vt:lpstr>Interpolation Search</vt:lpstr>
      <vt:lpstr>Search Strategy Comparison</vt:lpstr>
      <vt:lpstr>Evidence Before Claims</vt:lpstr>
      <vt:lpstr>Useful AI Prompt Pattern</vt:lpstr>
      <vt:lpstr>Practical Application Context</vt:lpstr>
      <vt:lpstr>Records And Keys </vt:lpstr>
      <vt:lpstr>Primary And Foreign Keys</vt:lpstr>
      <vt:lpstr>Primary and Foreign Keys</vt:lpstr>
      <vt:lpstr>Historical Database Example</vt:lpstr>
      <vt:lpstr>NLP Connection, Briefly</vt:lpstr>
      <vt:lpstr>Demo</vt:lpstr>
      <vt:lpstr>Demo Scenario</vt:lpstr>
      <vt:lpstr>Demo Evidence</vt:lpstr>
      <vt:lpstr>Demo Evidence</vt:lpstr>
      <vt:lpstr>Demo Key Question</vt:lpstr>
      <vt:lpstr>Demo Explanation</vt:lpstr>
      <vt:lpstr>From Demo to Lab</vt:lpstr>
      <vt:lpstr>Walkthrough Support</vt:lpstr>
      <vt:lpstr>README Evidence</vt:lpstr>
      <vt:lpstr>AI Use In Lab 04</vt:lpstr>
      <vt:lpstr>Wrap up</vt:lpstr>
      <vt:lpstr>Lab 0n Success Check</vt:lpstr>
      <vt:lpstr>What To Carry Forward</vt:lpstr>
      <vt:lpstr>Next Step</vt:lpstr>
      <vt:lpstr>How To Use The Textbook For Next Week's Reading</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141</cp:revision>
  <dcterms:created xsi:type="dcterms:W3CDTF">2013-01-27T09:14:16Z</dcterms:created>
  <dcterms:modified xsi:type="dcterms:W3CDTF">2026-06-04T19:30:30Z</dcterms:modified>
  <cp:category/>
</cp:coreProperties>
</file>