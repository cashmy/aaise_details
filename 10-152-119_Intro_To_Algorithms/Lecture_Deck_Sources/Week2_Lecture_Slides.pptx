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67"/>
  </p:notesMasterIdLst>
  <p:handoutMasterIdLst>
    <p:handoutMasterId r:id="rId68"/>
  </p:handoutMasterIdLst>
  <p:sldIdLst>
    <p:sldId id="256" r:id="rId2"/>
    <p:sldId id="259" r:id="rId3"/>
    <p:sldId id="260" r:id="rId4"/>
    <p:sldId id="364" r:id="rId5"/>
    <p:sldId id="322" r:id="rId6"/>
    <p:sldId id="321" r:id="rId7"/>
    <p:sldId id="264" r:id="rId8"/>
    <p:sldId id="324" r:id="rId9"/>
    <p:sldId id="323" r:id="rId10"/>
    <p:sldId id="269" r:id="rId11"/>
    <p:sldId id="326" r:id="rId12"/>
    <p:sldId id="328" r:id="rId13"/>
    <p:sldId id="327" r:id="rId14"/>
    <p:sldId id="329" r:id="rId15"/>
    <p:sldId id="330" r:id="rId16"/>
    <p:sldId id="325" r:id="rId17"/>
    <p:sldId id="331" r:id="rId18"/>
    <p:sldId id="332" r:id="rId19"/>
    <p:sldId id="333" r:id="rId20"/>
    <p:sldId id="334" r:id="rId21"/>
    <p:sldId id="335" r:id="rId22"/>
    <p:sldId id="336" r:id="rId23"/>
    <p:sldId id="337" r:id="rId24"/>
    <p:sldId id="338" r:id="rId25"/>
    <p:sldId id="339" r:id="rId26"/>
    <p:sldId id="340" r:id="rId27"/>
    <p:sldId id="346" r:id="rId28"/>
    <p:sldId id="347" r:id="rId29"/>
    <p:sldId id="348" r:id="rId30"/>
    <p:sldId id="344" r:id="rId31"/>
    <p:sldId id="345" r:id="rId32"/>
    <p:sldId id="349" r:id="rId33"/>
    <p:sldId id="350" r:id="rId34"/>
    <p:sldId id="352" r:id="rId35"/>
    <p:sldId id="353" r:id="rId36"/>
    <p:sldId id="354" r:id="rId37"/>
    <p:sldId id="363" r:id="rId38"/>
    <p:sldId id="355" r:id="rId39"/>
    <p:sldId id="356" r:id="rId40"/>
    <p:sldId id="357" r:id="rId41"/>
    <p:sldId id="358" r:id="rId42"/>
    <p:sldId id="359" r:id="rId43"/>
    <p:sldId id="360" r:id="rId44"/>
    <p:sldId id="361" r:id="rId45"/>
    <p:sldId id="362" r:id="rId46"/>
    <p:sldId id="365" r:id="rId47"/>
    <p:sldId id="366" r:id="rId48"/>
    <p:sldId id="367" r:id="rId49"/>
    <p:sldId id="368" r:id="rId50"/>
    <p:sldId id="370" r:id="rId51"/>
    <p:sldId id="369" r:id="rId52"/>
    <p:sldId id="371" r:id="rId53"/>
    <p:sldId id="372" r:id="rId54"/>
    <p:sldId id="373" r:id="rId55"/>
    <p:sldId id="374" r:id="rId56"/>
    <p:sldId id="305" r:id="rId57"/>
    <p:sldId id="307" r:id="rId58"/>
    <p:sldId id="308" r:id="rId59"/>
    <p:sldId id="309" r:id="rId60"/>
    <p:sldId id="317" r:id="rId61"/>
    <p:sldId id="316" r:id="rId62"/>
    <p:sldId id="375" r:id="rId63"/>
    <p:sldId id="318" r:id="rId64"/>
    <p:sldId id="319" r:id="rId65"/>
    <p:sldId id="320" r:id="rId6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68900" autoAdjust="0"/>
  </p:normalViewPr>
  <p:slideViewPr>
    <p:cSldViewPr snapToGrid="0" snapToObjects="1">
      <p:cViewPr varScale="1">
        <p:scale>
          <a:sx n="73" d="100"/>
          <a:sy n="73" d="100"/>
        </p:scale>
        <p:origin x="1812" y="54"/>
      </p:cViewPr>
      <p:guideLst>
        <p:guide orient="horz" pos="2160"/>
        <p:guide pos="2880"/>
      </p:guideLst>
    </p:cSldViewPr>
  </p:slideViewPr>
  <p:outlineViewPr>
    <p:cViewPr>
      <p:scale>
        <a:sx n="33" d="100"/>
        <a:sy n="33" d="100"/>
      </p:scale>
      <p:origin x="0" y="-115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0" d="100"/>
          <a:sy n="80" d="100"/>
        </p:scale>
        <p:origin x="4002" y="11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_rels/data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4" Type="http://schemas.openxmlformats.org/officeDocument/2006/relationships/image" Target="../media/image17.svg"/></Relationships>
</file>

<file path=ppt/diagrams/_rels/data4.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image" Target="../media/image2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4" Type="http://schemas.openxmlformats.org/officeDocument/2006/relationships/image" Target="../media/image17.svg"/></Relationships>
</file>

<file path=ppt/diagrams/_rels/drawing4.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93F8F8-4959-4928-B713-CB6ADC584739}"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FE89A495-BC83-409A-AC2B-549EAA78055A}">
      <dgm:prSet/>
      <dgm:spPr/>
      <dgm:t>
        <a:bodyPr/>
        <a:lstStyle/>
        <a:p>
          <a:r>
            <a:rPr lang="en-US"/>
            <a:t>Last week, we focused on:</a:t>
          </a:r>
        </a:p>
      </dgm:t>
    </dgm:pt>
    <dgm:pt modelId="{7FD91A43-CF2C-4D46-A04A-75868E7E334A}" type="parTrans" cxnId="{79E17C93-E7F9-40E3-9A0D-3C2F7A18BBDC}">
      <dgm:prSet/>
      <dgm:spPr/>
      <dgm:t>
        <a:bodyPr/>
        <a:lstStyle/>
        <a:p>
          <a:endParaRPr lang="en-US"/>
        </a:p>
      </dgm:t>
    </dgm:pt>
    <dgm:pt modelId="{94898D6C-C872-4685-971A-1DF3E13535F0}" type="sibTrans" cxnId="{79E17C93-E7F9-40E3-9A0D-3C2F7A18BBDC}">
      <dgm:prSet/>
      <dgm:spPr/>
      <dgm:t>
        <a:bodyPr/>
        <a:lstStyle/>
        <a:p>
          <a:endParaRPr lang="en-US"/>
        </a:p>
      </dgm:t>
    </dgm:pt>
    <dgm:pt modelId="{43E234C2-131F-41F6-810F-8E386D448650}">
      <dgm:prSet/>
      <dgm:spPr/>
      <dgm:t>
        <a:bodyPr/>
        <a:lstStyle/>
        <a:p>
          <a:r>
            <a:rPr lang="en-US"/>
            <a:t>precise rules</a:t>
          </a:r>
        </a:p>
      </dgm:t>
    </dgm:pt>
    <dgm:pt modelId="{097FCB5F-8F6F-4173-9D4E-5BC862BA5408}" type="parTrans" cxnId="{C8661701-0263-4E59-A142-0C8CEA51A6EF}">
      <dgm:prSet/>
      <dgm:spPr/>
      <dgm:t>
        <a:bodyPr/>
        <a:lstStyle/>
        <a:p>
          <a:endParaRPr lang="en-US"/>
        </a:p>
      </dgm:t>
    </dgm:pt>
    <dgm:pt modelId="{A1CEA6FC-FD6A-4DFA-BE24-F224EAE40B4A}" type="sibTrans" cxnId="{C8661701-0263-4E59-A142-0C8CEA51A6EF}">
      <dgm:prSet/>
      <dgm:spPr/>
      <dgm:t>
        <a:bodyPr/>
        <a:lstStyle/>
        <a:p>
          <a:endParaRPr lang="en-US"/>
        </a:p>
      </dgm:t>
    </dgm:pt>
    <dgm:pt modelId="{90CDCCEE-F15C-456D-B6E3-7486582E1F1A}">
      <dgm:prSet/>
      <dgm:spPr/>
      <dgm:t>
        <a:bodyPr/>
        <a:lstStyle/>
        <a:p>
          <a:r>
            <a:rPr lang="en-US"/>
            <a:t>expected results</a:t>
          </a:r>
        </a:p>
      </dgm:t>
    </dgm:pt>
    <dgm:pt modelId="{7F652C43-0728-4DFA-A17C-5E3940009749}" type="parTrans" cxnId="{7A3994D9-A165-4D6D-A787-06F55F9CB08B}">
      <dgm:prSet/>
      <dgm:spPr/>
      <dgm:t>
        <a:bodyPr/>
        <a:lstStyle/>
        <a:p>
          <a:endParaRPr lang="en-US"/>
        </a:p>
      </dgm:t>
    </dgm:pt>
    <dgm:pt modelId="{72DD3A0C-7D15-4DA8-B3CE-7848330DD455}" type="sibTrans" cxnId="{7A3994D9-A165-4D6D-A787-06F55F9CB08B}">
      <dgm:prSet/>
      <dgm:spPr/>
      <dgm:t>
        <a:bodyPr/>
        <a:lstStyle/>
        <a:p>
          <a:endParaRPr lang="en-US"/>
        </a:p>
      </dgm:t>
    </dgm:pt>
    <dgm:pt modelId="{D3AD3BF0-0E5A-4D4A-9565-735C7B346C73}">
      <dgm:prSet/>
      <dgm:spPr/>
      <dgm:t>
        <a:bodyPr/>
        <a:lstStyle/>
        <a:p>
          <a:r>
            <a:rPr lang="en-US"/>
            <a:t>actual results</a:t>
          </a:r>
        </a:p>
      </dgm:t>
    </dgm:pt>
    <dgm:pt modelId="{593D4B99-3430-4A70-9A7A-0827613F0119}" type="parTrans" cxnId="{694FFDE1-89F5-4A6F-AF2C-988E1B367E4B}">
      <dgm:prSet/>
      <dgm:spPr/>
      <dgm:t>
        <a:bodyPr/>
        <a:lstStyle/>
        <a:p>
          <a:endParaRPr lang="en-US"/>
        </a:p>
      </dgm:t>
    </dgm:pt>
    <dgm:pt modelId="{F069C90F-9CFC-4869-9669-A60F72219BDE}" type="sibTrans" cxnId="{694FFDE1-89F5-4A6F-AF2C-988E1B367E4B}">
      <dgm:prSet/>
      <dgm:spPr/>
      <dgm:t>
        <a:bodyPr/>
        <a:lstStyle/>
        <a:p>
          <a:endParaRPr lang="en-US"/>
        </a:p>
      </dgm:t>
    </dgm:pt>
    <dgm:pt modelId="{5F67EBE2-93D9-434D-83D4-9BB1782FF84A}">
      <dgm:prSet/>
      <dgm:spPr/>
      <dgm:t>
        <a:bodyPr/>
        <a:lstStyle/>
        <a:p>
          <a:r>
            <a:rPr lang="en-US"/>
            <a:t>edge cases</a:t>
          </a:r>
        </a:p>
      </dgm:t>
    </dgm:pt>
    <dgm:pt modelId="{D42CA567-8C48-47B9-B4EF-4761326B54FA}" type="parTrans" cxnId="{41EF8411-1637-461E-8BCE-946284E88516}">
      <dgm:prSet/>
      <dgm:spPr/>
      <dgm:t>
        <a:bodyPr/>
        <a:lstStyle/>
        <a:p>
          <a:endParaRPr lang="en-US"/>
        </a:p>
      </dgm:t>
    </dgm:pt>
    <dgm:pt modelId="{52D9EF75-0AAD-40C3-BFA8-79F40D9C8E1E}" type="sibTrans" cxnId="{41EF8411-1637-461E-8BCE-946284E88516}">
      <dgm:prSet/>
      <dgm:spPr/>
      <dgm:t>
        <a:bodyPr/>
        <a:lstStyle/>
        <a:p>
          <a:endParaRPr lang="en-US"/>
        </a:p>
      </dgm:t>
    </dgm:pt>
    <dgm:pt modelId="{511E6E16-C3F3-48A7-8D6D-DDE8CF3EF65A}">
      <dgm:prSet/>
      <dgm:spPr/>
      <dgm:t>
        <a:bodyPr/>
        <a:lstStyle/>
        <a:p>
          <a:r>
            <a:rPr lang="en-US"/>
            <a:t>revision based on evidence</a:t>
          </a:r>
        </a:p>
      </dgm:t>
    </dgm:pt>
    <dgm:pt modelId="{E6A703E2-94CA-4C07-8A74-5F6F2BBC22C7}" type="parTrans" cxnId="{1A41BD2B-3D4A-4553-869B-BE2A9BD474D7}">
      <dgm:prSet/>
      <dgm:spPr/>
      <dgm:t>
        <a:bodyPr/>
        <a:lstStyle/>
        <a:p>
          <a:endParaRPr lang="en-US"/>
        </a:p>
      </dgm:t>
    </dgm:pt>
    <dgm:pt modelId="{F5B6234F-ADF1-4BA2-B305-C83BB1952A48}" type="sibTrans" cxnId="{1A41BD2B-3D4A-4553-869B-BE2A9BD474D7}">
      <dgm:prSet/>
      <dgm:spPr/>
      <dgm:t>
        <a:bodyPr/>
        <a:lstStyle/>
        <a:p>
          <a:endParaRPr lang="en-US"/>
        </a:p>
      </dgm:t>
    </dgm:pt>
    <dgm:pt modelId="{83D3C41A-A349-4495-A934-4E419417A58A}" type="pres">
      <dgm:prSet presAssocID="{6393F8F8-4959-4928-B713-CB6ADC584739}" presName="linear" presStyleCnt="0">
        <dgm:presLayoutVars>
          <dgm:dir/>
          <dgm:animLvl val="lvl"/>
          <dgm:resizeHandles val="exact"/>
        </dgm:presLayoutVars>
      </dgm:prSet>
      <dgm:spPr/>
    </dgm:pt>
    <dgm:pt modelId="{A6D737D4-75FA-45BA-8DF8-335747CBED5A}" type="pres">
      <dgm:prSet presAssocID="{FE89A495-BC83-409A-AC2B-549EAA78055A}" presName="parentLin" presStyleCnt="0"/>
      <dgm:spPr/>
    </dgm:pt>
    <dgm:pt modelId="{9101E35E-8AC9-4664-B614-F6663981EC26}" type="pres">
      <dgm:prSet presAssocID="{FE89A495-BC83-409A-AC2B-549EAA78055A}" presName="parentLeftMargin" presStyleLbl="node1" presStyleIdx="0" presStyleCnt="1"/>
      <dgm:spPr/>
    </dgm:pt>
    <dgm:pt modelId="{91615320-4CF6-4AA6-903B-2DA45376792B}" type="pres">
      <dgm:prSet presAssocID="{FE89A495-BC83-409A-AC2B-549EAA78055A}" presName="parentText" presStyleLbl="node1" presStyleIdx="0" presStyleCnt="1">
        <dgm:presLayoutVars>
          <dgm:chMax val="0"/>
          <dgm:bulletEnabled val="1"/>
        </dgm:presLayoutVars>
      </dgm:prSet>
      <dgm:spPr/>
    </dgm:pt>
    <dgm:pt modelId="{8F5EF893-41E9-44A1-8F73-4C7294540170}" type="pres">
      <dgm:prSet presAssocID="{FE89A495-BC83-409A-AC2B-549EAA78055A}" presName="negativeSpace" presStyleCnt="0"/>
      <dgm:spPr/>
    </dgm:pt>
    <dgm:pt modelId="{682F3400-ACEA-4BF2-B7EA-1224E7E39347}" type="pres">
      <dgm:prSet presAssocID="{FE89A495-BC83-409A-AC2B-549EAA78055A}" presName="childText" presStyleLbl="conFgAcc1" presStyleIdx="0" presStyleCnt="1">
        <dgm:presLayoutVars>
          <dgm:bulletEnabled val="1"/>
        </dgm:presLayoutVars>
      </dgm:prSet>
      <dgm:spPr/>
    </dgm:pt>
  </dgm:ptLst>
  <dgm:cxnLst>
    <dgm:cxn modelId="{C8661701-0263-4E59-A142-0C8CEA51A6EF}" srcId="{FE89A495-BC83-409A-AC2B-549EAA78055A}" destId="{43E234C2-131F-41F6-810F-8E386D448650}" srcOrd="0" destOrd="0" parTransId="{097FCB5F-8F6F-4173-9D4E-5BC862BA5408}" sibTransId="{A1CEA6FC-FD6A-4DFA-BE24-F224EAE40B4A}"/>
    <dgm:cxn modelId="{0C179F0C-009A-4043-97D9-C8A5FDCB5502}" type="presOf" srcId="{90CDCCEE-F15C-456D-B6E3-7486582E1F1A}" destId="{682F3400-ACEA-4BF2-B7EA-1224E7E39347}" srcOrd="0" destOrd="1" presId="urn:microsoft.com/office/officeart/2005/8/layout/list1"/>
    <dgm:cxn modelId="{41EF8411-1637-461E-8BCE-946284E88516}" srcId="{FE89A495-BC83-409A-AC2B-549EAA78055A}" destId="{5F67EBE2-93D9-434D-83D4-9BB1782FF84A}" srcOrd="3" destOrd="0" parTransId="{D42CA567-8C48-47B9-B4EF-4761326B54FA}" sibTransId="{52D9EF75-0AAD-40C3-BFA8-79F40D9C8E1E}"/>
    <dgm:cxn modelId="{DC72971E-56F8-4A70-A8EE-7F08AA4C4DA1}" type="presOf" srcId="{D3AD3BF0-0E5A-4D4A-9565-735C7B346C73}" destId="{682F3400-ACEA-4BF2-B7EA-1224E7E39347}" srcOrd="0" destOrd="2" presId="urn:microsoft.com/office/officeart/2005/8/layout/list1"/>
    <dgm:cxn modelId="{1A41BD2B-3D4A-4553-869B-BE2A9BD474D7}" srcId="{FE89A495-BC83-409A-AC2B-549EAA78055A}" destId="{511E6E16-C3F3-48A7-8D6D-DDE8CF3EF65A}" srcOrd="4" destOrd="0" parTransId="{E6A703E2-94CA-4C07-8A74-5F6F2BBC22C7}" sibTransId="{F5B6234F-ADF1-4BA2-B305-C83BB1952A48}"/>
    <dgm:cxn modelId="{1FD1695B-A184-47B6-84F2-1342EF2F305E}" type="presOf" srcId="{43E234C2-131F-41F6-810F-8E386D448650}" destId="{682F3400-ACEA-4BF2-B7EA-1224E7E39347}" srcOrd="0" destOrd="0" presId="urn:microsoft.com/office/officeart/2005/8/layout/list1"/>
    <dgm:cxn modelId="{82982343-EC8A-4A2C-A36B-B775A4B86C26}" type="presOf" srcId="{5F67EBE2-93D9-434D-83D4-9BB1782FF84A}" destId="{682F3400-ACEA-4BF2-B7EA-1224E7E39347}" srcOrd="0" destOrd="3" presId="urn:microsoft.com/office/officeart/2005/8/layout/list1"/>
    <dgm:cxn modelId="{13DD3843-50EA-4902-B452-3507B465678A}" type="presOf" srcId="{FE89A495-BC83-409A-AC2B-549EAA78055A}" destId="{9101E35E-8AC9-4664-B614-F6663981EC26}" srcOrd="0" destOrd="0" presId="urn:microsoft.com/office/officeart/2005/8/layout/list1"/>
    <dgm:cxn modelId="{C2E5E54F-A01B-47CB-A2A3-4AC40B78EA31}" type="presOf" srcId="{511E6E16-C3F3-48A7-8D6D-DDE8CF3EF65A}" destId="{682F3400-ACEA-4BF2-B7EA-1224E7E39347}" srcOrd="0" destOrd="4" presId="urn:microsoft.com/office/officeart/2005/8/layout/list1"/>
    <dgm:cxn modelId="{BFD71D57-CF26-4F07-95E9-7BFFABA1F37E}" type="presOf" srcId="{FE89A495-BC83-409A-AC2B-549EAA78055A}" destId="{91615320-4CF6-4AA6-903B-2DA45376792B}" srcOrd="1" destOrd="0" presId="urn:microsoft.com/office/officeart/2005/8/layout/list1"/>
    <dgm:cxn modelId="{79E17C93-E7F9-40E3-9A0D-3C2F7A18BBDC}" srcId="{6393F8F8-4959-4928-B713-CB6ADC584739}" destId="{FE89A495-BC83-409A-AC2B-549EAA78055A}" srcOrd="0" destOrd="0" parTransId="{7FD91A43-CF2C-4D46-A04A-75868E7E334A}" sibTransId="{94898D6C-C872-4685-971A-1DF3E13535F0}"/>
    <dgm:cxn modelId="{CA991D9A-4031-45A9-BA22-A1FD1FDC8659}" type="presOf" srcId="{6393F8F8-4959-4928-B713-CB6ADC584739}" destId="{83D3C41A-A349-4495-A934-4E419417A58A}" srcOrd="0" destOrd="0" presId="urn:microsoft.com/office/officeart/2005/8/layout/list1"/>
    <dgm:cxn modelId="{7A3994D9-A165-4D6D-A787-06F55F9CB08B}" srcId="{FE89A495-BC83-409A-AC2B-549EAA78055A}" destId="{90CDCCEE-F15C-456D-B6E3-7486582E1F1A}" srcOrd="1" destOrd="0" parTransId="{7F652C43-0728-4DFA-A17C-5E3940009749}" sibTransId="{72DD3A0C-7D15-4DA8-B3CE-7848330DD455}"/>
    <dgm:cxn modelId="{694FFDE1-89F5-4A6F-AF2C-988E1B367E4B}" srcId="{FE89A495-BC83-409A-AC2B-549EAA78055A}" destId="{D3AD3BF0-0E5A-4D4A-9565-735C7B346C73}" srcOrd="2" destOrd="0" parTransId="{593D4B99-3430-4A70-9A7A-0827613F0119}" sibTransId="{F069C90F-9CFC-4869-9669-A60F72219BDE}"/>
    <dgm:cxn modelId="{69FB4434-E68D-4920-BE13-A5528C41C68F}" type="presParOf" srcId="{83D3C41A-A349-4495-A934-4E419417A58A}" destId="{A6D737D4-75FA-45BA-8DF8-335747CBED5A}" srcOrd="0" destOrd="0" presId="urn:microsoft.com/office/officeart/2005/8/layout/list1"/>
    <dgm:cxn modelId="{4D5B5848-27C1-4189-80AC-3CBB6E4DBD67}" type="presParOf" srcId="{A6D737D4-75FA-45BA-8DF8-335747CBED5A}" destId="{9101E35E-8AC9-4664-B614-F6663981EC26}" srcOrd="0" destOrd="0" presId="urn:microsoft.com/office/officeart/2005/8/layout/list1"/>
    <dgm:cxn modelId="{E788DEB0-F021-41DA-9B7E-AF8DF23576B9}" type="presParOf" srcId="{A6D737D4-75FA-45BA-8DF8-335747CBED5A}" destId="{91615320-4CF6-4AA6-903B-2DA45376792B}" srcOrd="1" destOrd="0" presId="urn:microsoft.com/office/officeart/2005/8/layout/list1"/>
    <dgm:cxn modelId="{1B3D4287-7FA3-4D17-9516-E910800EBD16}" type="presParOf" srcId="{83D3C41A-A349-4495-A934-4E419417A58A}" destId="{8F5EF893-41E9-44A1-8F73-4C7294540170}" srcOrd="1" destOrd="0" presId="urn:microsoft.com/office/officeart/2005/8/layout/list1"/>
    <dgm:cxn modelId="{0465D55C-84AF-4D0A-8A84-61E55AC3B301}" type="presParOf" srcId="{83D3C41A-A349-4495-A934-4E419417A58A}" destId="{682F3400-ACEA-4BF2-B7EA-1224E7E39347}"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972B69-4B4F-436A-B547-1FADC4FB29B4}"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A75A4D4B-BFE9-4B6F-9A81-9F9C96F5DA38}">
      <dgm:prSet/>
      <dgm:spPr/>
      <dgm:t>
        <a:bodyPr/>
        <a:lstStyle/>
        <a:p>
          <a:r>
            <a:rPr lang="en-US"/>
            <a:t>compare two approaches</a:t>
          </a:r>
        </a:p>
      </dgm:t>
    </dgm:pt>
    <dgm:pt modelId="{4FAABBF4-AB55-44FE-B6F0-B4BF829D004F}" type="parTrans" cxnId="{7F9DA8A4-8191-4121-8DA1-F0552EB3E440}">
      <dgm:prSet/>
      <dgm:spPr/>
      <dgm:t>
        <a:bodyPr/>
        <a:lstStyle/>
        <a:p>
          <a:endParaRPr lang="en-US"/>
        </a:p>
      </dgm:t>
    </dgm:pt>
    <dgm:pt modelId="{7E1354BB-EC61-4A45-99C9-75C6202CC56A}" type="sibTrans" cxnId="{7F9DA8A4-8191-4121-8DA1-F0552EB3E440}">
      <dgm:prSet/>
      <dgm:spPr/>
      <dgm:t>
        <a:bodyPr/>
        <a:lstStyle/>
        <a:p>
          <a:endParaRPr lang="en-US"/>
        </a:p>
      </dgm:t>
    </dgm:pt>
    <dgm:pt modelId="{96935FEB-D109-4185-8EE9-E323C3602104}">
      <dgm:prSet/>
      <dgm:spPr/>
      <dgm:t>
        <a:bodyPr/>
        <a:lstStyle/>
        <a:p>
          <a:r>
            <a:rPr lang="en-US"/>
            <a:t>collect timing evidence</a:t>
          </a:r>
        </a:p>
      </dgm:t>
    </dgm:pt>
    <dgm:pt modelId="{6DF3CCD5-B5C9-4831-9066-7DBDEBE0525B}" type="parTrans" cxnId="{0DDA5CB6-9147-4ADF-A2D0-E56811CCA430}">
      <dgm:prSet/>
      <dgm:spPr/>
      <dgm:t>
        <a:bodyPr/>
        <a:lstStyle/>
        <a:p>
          <a:endParaRPr lang="en-US"/>
        </a:p>
      </dgm:t>
    </dgm:pt>
    <dgm:pt modelId="{415E7A3D-A483-4CB9-A3DB-D79D75E8607A}" type="sibTrans" cxnId="{0DDA5CB6-9147-4ADF-A2D0-E56811CCA430}">
      <dgm:prSet/>
      <dgm:spPr/>
      <dgm:t>
        <a:bodyPr/>
        <a:lstStyle/>
        <a:p>
          <a:endParaRPr lang="en-US"/>
        </a:p>
      </dgm:t>
    </dgm:pt>
    <dgm:pt modelId="{41719C92-45D5-47D0-862D-1113EE6CB002}">
      <dgm:prSet/>
      <dgm:spPr/>
      <dgm:t>
        <a:bodyPr/>
        <a:lstStyle/>
        <a:p>
          <a:r>
            <a:rPr lang="en-US"/>
            <a:t>describe growth cautiously</a:t>
          </a:r>
        </a:p>
      </dgm:t>
    </dgm:pt>
    <dgm:pt modelId="{F821EB8B-B4FE-47E8-A0AC-2E1BB8667246}" type="parTrans" cxnId="{0287DCE1-186E-457F-9F74-863BDD6200E5}">
      <dgm:prSet/>
      <dgm:spPr/>
      <dgm:t>
        <a:bodyPr/>
        <a:lstStyle/>
        <a:p>
          <a:endParaRPr lang="en-US"/>
        </a:p>
      </dgm:t>
    </dgm:pt>
    <dgm:pt modelId="{F4A4A704-B603-4EC7-A6B1-941D75CEC658}" type="sibTrans" cxnId="{0287DCE1-186E-457F-9F74-863BDD6200E5}">
      <dgm:prSet/>
      <dgm:spPr/>
      <dgm:t>
        <a:bodyPr/>
        <a:lstStyle/>
        <a:p>
          <a:endParaRPr lang="en-US"/>
        </a:p>
      </dgm:t>
    </dgm:pt>
    <dgm:pt modelId="{55671D6C-E249-4CFD-8437-8240375FBD60}">
      <dgm:prSet/>
      <dgm:spPr/>
      <dgm:t>
        <a:bodyPr/>
        <a:lstStyle/>
        <a:p>
          <a:r>
            <a:rPr lang="en-US"/>
            <a:t>use basic Big-O vocabulary</a:t>
          </a:r>
        </a:p>
      </dgm:t>
    </dgm:pt>
    <dgm:pt modelId="{52A2D6EE-1D41-4E91-B8BB-D0D496786FA7}" type="parTrans" cxnId="{2EDB6E80-F13E-4D7C-8D0B-7CC664220615}">
      <dgm:prSet/>
      <dgm:spPr/>
      <dgm:t>
        <a:bodyPr/>
        <a:lstStyle/>
        <a:p>
          <a:endParaRPr lang="en-US"/>
        </a:p>
      </dgm:t>
    </dgm:pt>
    <dgm:pt modelId="{E4C16C4D-0335-44B5-8F0C-8D1112AA08C1}" type="sibTrans" cxnId="{2EDB6E80-F13E-4D7C-8D0B-7CC664220615}">
      <dgm:prSet/>
      <dgm:spPr/>
      <dgm:t>
        <a:bodyPr/>
        <a:lstStyle/>
        <a:p>
          <a:endParaRPr lang="en-US"/>
        </a:p>
      </dgm:t>
    </dgm:pt>
    <dgm:pt modelId="{BDB4EDFC-503D-452F-A66C-73D4CE737F54}">
      <dgm:prSet/>
      <dgm:spPr/>
      <dgm:t>
        <a:bodyPr/>
        <a:lstStyle/>
        <a:p>
          <a:r>
            <a:rPr lang="en-US"/>
            <a:t>identify a limitation of your evidence</a:t>
          </a:r>
        </a:p>
      </dgm:t>
    </dgm:pt>
    <dgm:pt modelId="{CF37DD21-1A1B-4AA0-A79A-17692B432E00}" type="parTrans" cxnId="{B19E6DF9-C0E2-4872-A269-F5BC6BD8F9E1}">
      <dgm:prSet/>
      <dgm:spPr/>
      <dgm:t>
        <a:bodyPr/>
        <a:lstStyle/>
        <a:p>
          <a:endParaRPr lang="en-US"/>
        </a:p>
      </dgm:t>
    </dgm:pt>
    <dgm:pt modelId="{654411A5-B8B9-45FE-A6E9-1A0DB1FE3570}" type="sibTrans" cxnId="{B19E6DF9-C0E2-4872-A269-F5BC6BD8F9E1}">
      <dgm:prSet/>
      <dgm:spPr/>
      <dgm:t>
        <a:bodyPr/>
        <a:lstStyle/>
        <a:p>
          <a:endParaRPr lang="en-US"/>
        </a:p>
      </dgm:t>
    </dgm:pt>
    <dgm:pt modelId="{C74AEAA8-95AA-4DD2-B5BF-AF2613DDA678}" type="pres">
      <dgm:prSet presAssocID="{A8972B69-4B4F-436A-B547-1FADC4FB29B4}" presName="linear" presStyleCnt="0">
        <dgm:presLayoutVars>
          <dgm:animLvl val="lvl"/>
          <dgm:resizeHandles val="exact"/>
        </dgm:presLayoutVars>
      </dgm:prSet>
      <dgm:spPr/>
    </dgm:pt>
    <dgm:pt modelId="{C717DEE2-2529-4048-A027-0347422F7B4B}" type="pres">
      <dgm:prSet presAssocID="{A75A4D4B-BFE9-4B6F-9A81-9F9C96F5DA38}" presName="parentText" presStyleLbl="node1" presStyleIdx="0" presStyleCnt="5">
        <dgm:presLayoutVars>
          <dgm:chMax val="0"/>
          <dgm:bulletEnabled val="1"/>
        </dgm:presLayoutVars>
      </dgm:prSet>
      <dgm:spPr/>
    </dgm:pt>
    <dgm:pt modelId="{4287A08D-B1A3-4BC4-BB02-712CE914270A}" type="pres">
      <dgm:prSet presAssocID="{7E1354BB-EC61-4A45-99C9-75C6202CC56A}" presName="spacer" presStyleCnt="0"/>
      <dgm:spPr/>
    </dgm:pt>
    <dgm:pt modelId="{953729D8-D97F-44F2-81C8-913FF1732DF0}" type="pres">
      <dgm:prSet presAssocID="{96935FEB-D109-4185-8EE9-E323C3602104}" presName="parentText" presStyleLbl="node1" presStyleIdx="1" presStyleCnt="5">
        <dgm:presLayoutVars>
          <dgm:chMax val="0"/>
          <dgm:bulletEnabled val="1"/>
        </dgm:presLayoutVars>
      </dgm:prSet>
      <dgm:spPr/>
    </dgm:pt>
    <dgm:pt modelId="{CFA41472-2BE5-47B1-9CB3-237F433878BD}" type="pres">
      <dgm:prSet presAssocID="{415E7A3D-A483-4CB9-A3DB-D79D75E8607A}" presName="spacer" presStyleCnt="0"/>
      <dgm:spPr/>
    </dgm:pt>
    <dgm:pt modelId="{A8D91054-8DD9-448A-904B-04704F91BE5B}" type="pres">
      <dgm:prSet presAssocID="{41719C92-45D5-47D0-862D-1113EE6CB002}" presName="parentText" presStyleLbl="node1" presStyleIdx="2" presStyleCnt="5">
        <dgm:presLayoutVars>
          <dgm:chMax val="0"/>
          <dgm:bulletEnabled val="1"/>
        </dgm:presLayoutVars>
      </dgm:prSet>
      <dgm:spPr/>
    </dgm:pt>
    <dgm:pt modelId="{2F6E42A2-4884-4DE6-9E60-C6274C59628F}" type="pres">
      <dgm:prSet presAssocID="{F4A4A704-B603-4EC7-A6B1-941D75CEC658}" presName="spacer" presStyleCnt="0"/>
      <dgm:spPr/>
    </dgm:pt>
    <dgm:pt modelId="{757879D0-74B4-423F-8DF0-7031701AE794}" type="pres">
      <dgm:prSet presAssocID="{55671D6C-E249-4CFD-8437-8240375FBD60}" presName="parentText" presStyleLbl="node1" presStyleIdx="3" presStyleCnt="5">
        <dgm:presLayoutVars>
          <dgm:chMax val="0"/>
          <dgm:bulletEnabled val="1"/>
        </dgm:presLayoutVars>
      </dgm:prSet>
      <dgm:spPr/>
    </dgm:pt>
    <dgm:pt modelId="{B1B62F95-136D-4EA2-B1D2-CCDC609FA9EF}" type="pres">
      <dgm:prSet presAssocID="{E4C16C4D-0335-44B5-8F0C-8D1112AA08C1}" presName="spacer" presStyleCnt="0"/>
      <dgm:spPr/>
    </dgm:pt>
    <dgm:pt modelId="{2E76E2E3-35EA-48C7-A45C-F0395CE090B2}" type="pres">
      <dgm:prSet presAssocID="{BDB4EDFC-503D-452F-A66C-73D4CE737F54}" presName="parentText" presStyleLbl="node1" presStyleIdx="4" presStyleCnt="5">
        <dgm:presLayoutVars>
          <dgm:chMax val="0"/>
          <dgm:bulletEnabled val="1"/>
        </dgm:presLayoutVars>
      </dgm:prSet>
      <dgm:spPr/>
    </dgm:pt>
  </dgm:ptLst>
  <dgm:cxnLst>
    <dgm:cxn modelId="{CA366F3D-BA56-4F02-96A4-ED9F01BBCA6F}" type="presOf" srcId="{BDB4EDFC-503D-452F-A66C-73D4CE737F54}" destId="{2E76E2E3-35EA-48C7-A45C-F0395CE090B2}" srcOrd="0" destOrd="0" presId="urn:microsoft.com/office/officeart/2005/8/layout/vList2"/>
    <dgm:cxn modelId="{179BE43D-81D3-4FA7-81A7-787E007871DA}" type="presOf" srcId="{96935FEB-D109-4185-8EE9-E323C3602104}" destId="{953729D8-D97F-44F2-81C8-913FF1732DF0}" srcOrd="0" destOrd="0" presId="urn:microsoft.com/office/officeart/2005/8/layout/vList2"/>
    <dgm:cxn modelId="{BB3A044D-0DD2-4AA1-8EE8-A3585DAF10B1}" type="presOf" srcId="{55671D6C-E249-4CFD-8437-8240375FBD60}" destId="{757879D0-74B4-423F-8DF0-7031701AE794}" srcOrd="0" destOrd="0" presId="urn:microsoft.com/office/officeart/2005/8/layout/vList2"/>
    <dgm:cxn modelId="{2EDB6E80-F13E-4D7C-8D0B-7CC664220615}" srcId="{A8972B69-4B4F-436A-B547-1FADC4FB29B4}" destId="{55671D6C-E249-4CFD-8437-8240375FBD60}" srcOrd="3" destOrd="0" parTransId="{52A2D6EE-1D41-4E91-B8BB-D0D496786FA7}" sibTransId="{E4C16C4D-0335-44B5-8F0C-8D1112AA08C1}"/>
    <dgm:cxn modelId="{7F9DA8A4-8191-4121-8DA1-F0552EB3E440}" srcId="{A8972B69-4B4F-436A-B547-1FADC4FB29B4}" destId="{A75A4D4B-BFE9-4B6F-9A81-9F9C96F5DA38}" srcOrd="0" destOrd="0" parTransId="{4FAABBF4-AB55-44FE-B6F0-B4BF829D004F}" sibTransId="{7E1354BB-EC61-4A45-99C9-75C6202CC56A}"/>
    <dgm:cxn modelId="{F3DDD4B0-98F6-48B6-ACA5-ADB06939BE37}" type="presOf" srcId="{A8972B69-4B4F-436A-B547-1FADC4FB29B4}" destId="{C74AEAA8-95AA-4DD2-B5BF-AF2613DDA678}" srcOrd="0" destOrd="0" presId="urn:microsoft.com/office/officeart/2005/8/layout/vList2"/>
    <dgm:cxn modelId="{0DDA5CB6-9147-4ADF-A2D0-E56811CCA430}" srcId="{A8972B69-4B4F-436A-B547-1FADC4FB29B4}" destId="{96935FEB-D109-4185-8EE9-E323C3602104}" srcOrd="1" destOrd="0" parTransId="{6DF3CCD5-B5C9-4831-9066-7DBDEBE0525B}" sibTransId="{415E7A3D-A483-4CB9-A3DB-D79D75E8607A}"/>
    <dgm:cxn modelId="{414326CC-859F-45A0-BFF5-899BC45891B2}" type="presOf" srcId="{A75A4D4B-BFE9-4B6F-9A81-9F9C96F5DA38}" destId="{C717DEE2-2529-4048-A027-0347422F7B4B}" srcOrd="0" destOrd="0" presId="urn:microsoft.com/office/officeart/2005/8/layout/vList2"/>
    <dgm:cxn modelId="{0287DCE1-186E-457F-9F74-863BDD6200E5}" srcId="{A8972B69-4B4F-436A-B547-1FADC4FB29B4}" destId="{41719C92-45D5-47D0-862D-1113EE6CB002}" srcOrd="2" destOrd="0" parTransId="{F821EB8B-B4FE-47E8-A0AC-2E1BB8667246}" sibTransId="{F4A4A704-B603-4EC7-A6B1-941D75CEC658}"/>
    <dgm:cxn modelId="{B19E6DF9-C0E2-4872-A269-F5BC6BD8F9E1}" srcId="{A8972B69-4B4F-436A-B547-1FADC4FB29B4}" destId="{BDB4EDFC-503D-452F-A66C-73D4CE737F54}" srcOrd="4" destOrd="0" parTransId="{CF37DD21-1A1B-4AA0-A79A-17692B432E00}" sibTransId="{654411A5-B8B9-45FE-A6E9-1A0DB1FE3570}"/>
    <dgm:cxn modelId="{BB78F2FA-3401-4393-97FB-D0AEF2460779}" type="presOf" srcId="{41719C92-45D5-47D0-862D-1113EE6CB002}" destId="{A8D91054-8DD9-448A-904B-04704F91BE5B}" srcOrd="0" destOrd="0" presId="urn:microsoft.com/office/officeart/2005/8/layout/vList2"/>
    <dgm:cxn modelId="{44C282F8-026D-4D0E-88F8-71C8338D4947}" type="presParOf" srcId="{C74AEAA8-95AA-4DD2-B5BF-AF2613DDA678}" destId="{C717DEE2-2529-4048-A027-0347422F7B4B}" srcOrd="0" destOrd="0" presId="urn:microsoft.com/office/officeart/2005/8/layout/vList2"/>
    <dgm:cxn modelId="{A2FC0041-DBBC-4347-B284-15C177BA5CBB}" type="presParOf" srcId="{C74AEAA8-95AA-4DD2-B5BF-AF2613DDA678}" destId="{4287A08D-B1A3-4BC4-BB02-712CE914270A}" srcOrd="1" destOrd="0" presId="urn:microsoft.com/office/officeart/2005/8/layout/vList2"/>
    <dgm:cxn modelId="{1F231710-9268-456D-BB41-5EF6C3FF22EA}" type="presParOf" srcId="{C74AEAA8-95AA-4DD2-B5BF-AF2613DDA678}" destId="{953729D8-D97F-44F2-81C8-913FF1732DF0}" srcOrd="2" destOrd="0" presId="urn:microsoft.com/office/officeart/2005/8/layout/vList2"/>
    <dgm:cxn modelId="{88954878-3A0B-42C4-9F81-BDE6EECAC6BB}" type="presParOf" srcId="{C74AEAA8-95AA-4DD2-B5BF-AF2613DDA678}" destId="{CFA41472-2BE5-47B1-9CB3-237F433878BD}" srcOrd="3" destOrd="0" presId="urn:microsoft.com/office/officeart/2005/8/layout/vList2"/>
    <dgm:cxn modelId="{1D2739EB-BB59-4910-9975-95AA0CD333E3}" type="presParOf" srcId="{C74AEAA8-95AA-4DD2-B5BF-AF2613DDA678}" destId="{A8D91054-8DD9-448A-904B-04704F91BE5B}" srcOrd="4" destOrd="0" presId="urn:microsoft.com/office/officeart/2005/8/layout/vList2"/>
    <dgm:cxn modelId="{6C79349A-7A82-495D-85CF-6DEA3A975944}" type="presParOf" srcId="{C74AEAA8-95AA-4DD2-B5BF-AF2613DDA678}" destId="{2F6E42A2-4884-4DE6-9E60-C6274C59628F}" srcOrd="5" destOrd="0" presId="urn:microsoft.com/office/officeart/2005/8/layout/vList2"/>
    <dgm:cxn modelId="{03D2328F-7F51-477C-B02C-5D2B0B7B3522}" type="presParOf" srcId="{C74AEAA8-95AA-4DD2-B5BF-AF2613DDA678}" destId="{757879D0-74B4-423F-8DF0-7031701AE794}" srcOrd="6" destOrd="0" presId="urn:microsoft.com/office/officeart/2005/8/layout/vList2"/>
    <dgm:cxn modelId="{E220FFE8-B560-4D87-9701-9FED24A7D28A}" type="presParOf" srcId="{C74AEAA8-95AA-4DD2-B5BF-AF2613DDA678}" destId="{B1B62F95-136D-4EA2-B1D2-CCDC609FA9EF}" srcOrd="7" destOrd="0" presId="urn:microsoft.com/office/officeart/2005/8/layout/vList2"/>
    <dgm:cxn modelId="{6C57751A-1A6F-4AAA-B75D-272F1359EA35}" type="presParOf" srcId="{C74AEAA8-95AA-4DD2-B5BF-AF2613DDA678}" destId="{2E76E2E3-35EA-48C7-A45C-F0395CE090B2}"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499C41E-A533-41C6-BC4E-2E72455B550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5705290-69D4-49D1-B59C-814E4150E59D}">
      <dgm:prSet/>
      <dgm:spPr/>
      <dgm:t>
        <a:bodyPr/>
        <a:lstStyle/>
        <a:p>
          <a:r>
            <a:rPr lang="en-US"/>
            <a:t>What is the input size?</a:t>
          </a:r>
        </a:p>
      </dgm:t>
    </dgm:pt>
    <dgm:pt modelId="{0D71D9AE-8086-4F77-A7B9-209222CCC3E9}" type="parTrans" cxnId="{874ED0B5-EA40-42D9-B20E-C1EB8D49EAFF}">
      <dgm:prSet/>
      <dgm:spPr/>
      <dgm:t>
        <a:bodyPr/>
        <a:lstStyle/>
        <a:p>
          <a:endParaRPr lang="en-US"/>
        </a:p>
      </dgm:t>
    </dgm:pt>
    <dgm:pt modelId="{4C8890C7-8F73-46E2-A83F-57908FD6C5F9}" type="sibTrans" cxnId="{874ED0B5-EA40-42D9-B20E-C1EB8D49EAFF}">
      <dgm:prSet/>
      <dgm:spPr/>
      <dgm:t>
        <a:bodyPr/>
        <a:lstStyle/>
        <a:p>
          <a:endParaRPr lang="en-US"/>
        </a:p>
      </dgm:t>
    </dgm:pt>
    <dgm:pt modelId="{96DD6C65-5218-4BFF-B1D4-508DAEAF666B}">
      <dgm:prSet/>
      <dgm:spPr/>
      <dgm:t>
        <a:bodyPr/>
        <a:lstStyle/>
        <a:p>
          <a:r>
            <a:rPr lang="en-US"/>
            <a:t>What work repeats?</a:t>
          </a:r>
        </a:p>
      </dgm:t>
    </dgm:pt>
    <dgm:pt modelId="{C202FCB6-4C71-4165-BF75-753A0D356CB4}" type="parTrans" cxnId="{B8680FCA-080D-43D7-BF8D-49C806ECBC0F}">
      <dgm:prSet/>
      <dgm:spPr/>
      <dgm:t>
        <a:bodyPr/>
        <a:lstStyle/>
        <a:p>
          <a:endParaRPr lang="en-US"/>
        </a:p>
      </dgm:t>
    </dgm:pt>
    <dgm:pt modelId="{01992636-C1E0-4576-8B65-79771938B6CB}" type="sibTrans" cxnId="{B8680FCA-080D-43D7-BF8D-49C806ECBC0F}">
      <dgm:prSet/>
      <dgm:spPr/>
      <dgm:t>
        <a:bodyPr/>
        <a:lstStyle/>
        <a:p>
          <a:endParaRPr lang="en-US"/>
        </a:p>
      </dgm:t>
    </dgm:pt>
    <dgm:pt modelId="{748D2575-107F-4885-BA1D-0D385E4186DA}">
      <dgm:prSet/>
      <dgm:spPr/>
      <dgm:t>
        <a:bodyPr/>
        <a:lstStyle/>
        <a:p>
          <a:r>
            <a:rPr lang="en-US"/>
            <a:t>Does memory grow?</a:t>
          </a:r>
        </a:p>
      </dgm:t>
    </dgm:pt>
    <dgm:pt modelId="{B0B8273C-70B7-404A-8085-61E7F153BECA}" type="parTrans" cxnId="{5058EA70-8D82-407F-BA0A-4D865A179D92}">
      <dgm:prSet/>
      <dgm:spPr/>
      <dgm:t>
        <a:bodyPr/>
        <a:lstStyle/>
        <a:p>
          <a:endParaRPr lang="en-US"/>
        </a:p>
      </dgm:t>
    </dgm:pt>
    <dgm:pt modelId="{9DFAD0BE-06BE-44B4-8E22-5B1FD3E96B41}" type="sibTrans" cxnId="{5058EA70-8D82-407F-BA0A-4D865A179D92}">
      <dgm:prSet/>
      <dgm:spPr/>
      <dgm:t>
        <a:bodyPr/>
        <a:lstStyle/>
        <a:p>
          <a:endParaRPr lang="en-US"/>
        </a:p>
      </dgm:t>
    </dgm:pt>
    <dgm:pt modelId="{6765859D-4979-49D3-817C-4E2ECDA07823}">
      <dgm:prSet/>
      <dgm:spPr/>
      <dgm:t>
        <a:bodyPr/>
        <a:lstStyle/>
        <a:p>
          <a:r>
            <a:rPr lang="en-US"/>
            <a:t>Does timing suggest a pattern?</a:t>
          </a:r>
        </a:p>
      </dgm:t>
    </dgm:pt>
    <dgm:pt modelId="{F17F7E96-4AF8-4ABF-8802-F134162CE9F7}" type="parTrans" cxnId="{080D47C1-F87F-45AA-A66C-E6DCBB350B4B}">
      <dgm:prSet/>
      <dgm:spPr/>
      <dgm:t>
        <a:bodyPr/>
        <a:lstStyle/>
        <a:p>
          <a:endParaRPr lang="en-US"/>
        </a:p>
      </dgm:t>
    </dgm:pt>
    <dgm:pt modelId="{717FFA98-D0CF-4D8D-95C2-42C241A79609}" type="sibTrans" cxnId="{080D47C1-F87F-45AA-A66C-E6DCBB350B4B}">
      <dgm:prSet/>
      <dgm:spPr/>
      <dgm:t>
        <a:bodyPr/>
        <a:lstStyle/>
        <a:p>
          <a:endParaRPr lang="en-US"/>
        </a:p>
      </dgm:t>
    </dgm:pt>
    <dgm:pt modelId="{16344DF1-0D41-48AD-A275-DFE8EE180E61}" type="pres">
      <dgm:prSet presAssocID="{6499C41E-A533-41C6-BC4E-2E72455B550D}" presName="root" presStyleCnt="0">
        <dgm:presLayoutVars>
          <dgm:dir/>
          <dgm:resizeHandles val="exact"/>
        </dgm:presLayoutVars>
      </dgm:prSet>
      <dgm:spPr/>
    </dgm:pt>
    <dgm:pt modelId="{B8CC89AC-7373-4B2C-983E-3A4717CDC39E}" type="pres">
      <dgm:prSet presAssocID="{C5705290-69D4-49D1-B59C-814E4150E59D}" presName="compNode" presStyleCnt="0"/>
      <dgm:spPr/>
    </dgm:pt>
    <dgm:pt modelId="{15B2661D-6DDE-4A78-80A9-B08DE5FDD011}" type="pres">
      <dgm:prSet presAssocID="{C5705290-69D4-49D1-B59C-814E4150E59D}" presName="bgRect" presStyleLbl="bgShp" presStyleIdx="0" presStyleCnt="4"/>
      <dgm:spPr/>
    </dgm:pt>
    <dgm:pt modelId="{856DD5C4-C67C-496C-A33A-F6FCCD8AC525}" type="pres">
      <dgm:prSet presAssocID="{C5705290-69D4-49D1-B59C-814E4150E59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DE1CEB8D-0CAC-45E9-9908-F4ABC7FA46A5}" type="pres">
      <dgm:prSet presAssocID="{C5705290-69D4-49D1-B59C-814E4150E59D}" presName="spaceRect" presStyleCnt="0"/>
      <dgm:spPr/>
    </dgm:pt>
    <dgm:pt modelId="{14A4C0D7-B632-4BD5-AB79-4F958EC39EE9}" type="pres">
      <dgm:prSet presAssocID="{C5705290-69D4-49D1-B59C-814E4150E59D}" presName="parTx" presStyleLbl="revTx" presStyleIdx="0" presStyleCnt="4">
        <dgm:presLayoutVars>
          <dgm:chMax val="0"/>
          <dgm:chPref val="0"/>
        </dgm:presLayoutVars>
      </dgm:prSet>
      <dgm:spPr/>
    </dgm:pt>
    <dgm:pt modelId="{A9670167-0457-403C-8C52-9D7761136A88}" type="pres">
      <dgm:prSet presAssocID="{4C8890C7-8F73-46E2-A83F-57908FD6C5F9}" presName="sibTrans" presStyleCnt="0"/>
      <dgm:spPr/>
    </dgm:pt>
    <dgm:pt modelId="{DC51B871-F5DB-4565-977C-75F0058FC05C}" type="pres">
      <dgm:prSet presAssocID="{96DD6C65-5218-4BFF-B1D4-508DAEAF666B}" presName="compNode" presStyleCnt="0"/>
      <dgm:spPr/>
    </dgm:pt>
    <dgm:pt modelId="{958D5003-7E84-4A83-B8C3-C6A6AA36A80E}" type="pres">
      <dgm:prSet presAssocID="{96DD6C65-5218-4BFF-B1D4-508DAEAF666B}" presName="bgRect" presStyleLbl="bgShp" presStyleIdx="1" presStyleCnt="4"/>
      <dgm:spPr/>
    </dgm:pt>
    <dgm:pt modelId="{08669303-E61E-434A-A5D8-EA67F833F131}" type="pres">
      <dgm:prSet presAssocID="{96DD6C65-5218-4BFF-B1D4-508DAEAF666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157A0231-7C9F-4F45-9009-61E4EFE9AF83}" type="pres">
      <dgm:prSet presAssocID="{96DD6C65-5218-4BFF-B1D4-508DAEAF666B}" presName="spaceRect" presStyleCnt="0"/>
      <dgm:spPr/>
    </dgm:pt>
    <dgm:pt modelId="{30B44379-F984-4048-B0E0-59909A920F61}" type="pres">
      <dgm:prSet presAssocID="{96DD6C65-5218-4BFF-B1D4-508DAEAF666B}" presName="parTx" presStyleLbl="revTx" presStyleIdx="1" presStyleCnt="4">
        <dgm:presLayoutVars>
          <dgm:chMax val="0"/>
          <dgm:chPref val="0"/>
        </dgm:presLayoutVars>
      </dgm:prSet>
      <dgm:spPr/>
    </dgm:pt>
    <dgm:pt modelId="{7707ECB4-D99C-4299-A1CB-35FD2E20FFF1}" type="pres">
      <dgm:prSet presAssocID="{01992636-C1E0-4576-8B65-79771938B6CB}" presName="sibTrans" presStyleCnt="0"/>
      <dgm:spPr/>
    </dgm:pt>
    <dgm:pt modelId="{3CB7EF0C-ABB5-41D7-BE7C-77CF15858820}" type="pres">
      <dgm:prSet presAssocID="{748D2575-107F-4885-BA1D-0D385E4186DA}" presName="compNode" presStyleCnt="0"/>
      <dgm:spPr/>
    </dgm:pt>
    <dgm:pt modelId="{CDDE34DF-B837-4B8C-BB62-BED6E38E38D0}" type="pres">
      <dgm:prSet presAssocID="{748D2575-107F-4885-BA1D-0D385E4186DA}" presName="bgRect" presStyleLbl="bgShp" presStyleIdx="2" presStyleCnt="4"/>
      <dgm:spPr/>
    </dgm:pt>
    <dgm:pt modelId="{90C164C3-3D3E-4B34-8153-27C2C34A565B}" type="pres">
      <dgm:prSet presAssocID="{748D2575-107F-4885-BA1D-0D385E4186D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rain"/>
        </a:ext>
      </dgm:extLst>
    </dgm:pt>
    <dgm:pt modelId="{1FE9B6C0-C6CE-4281-BB30-5FCC6A9B3C22}" type="pres">
      <dgm:prSet presAssocID="{748D2575-107F-4885-BA1D-0D385E4186DA}" presName="spaceRect" presStyleCnt="0"/>
      <dgm:spPr/>
    </dgm:pt>
    <dgm:pt modelId="{35041796-80D1-4BBC-A764-873429849F5B}" type="pres">
      <dgm:prSet presAssocID="{748D2575-107F-4885-BA1D-0D385E4186DA}" presName="parTx" presStyleLbl="revTx" presStyleIdx="2" presStyleCnt="4">
        <dgm:presLayoutVars>
          <dgm:chMax val="0"/>
          <dgm:chPref val="0"/>
        </dgm:presLayoutVars>
      </dgm:prSet>
      <dgm:spPr/>
    </dgm:pt>
    <dgm:pt modelId="{58472E54-9DD8-45D9-AF4E-1F4C8040F73C}" type="pres">
      <dgm:prSet presAssocID="{9DFAD0BE-06BE-44B4-8E22-5B1FD3E96B41}" presName="sibTrans" presStyleCnt="0"/>
      <dgm:spPr/>
    </dgm:pt>
    <dgm:pt modelId="{6E1AD972-D177-4132-B1E5-3FDBC537A30B}" type="pres">
      <dgm:prSet presAssocID="{6765859D-4979-49D3-817C-4E2ECDA07823}" presName="compNode" presStyleCnt="0"/>
      <dgm:spPr/>
    </dgm:pt>
    <dgm:pt modelId="{DC3D980B-20B7-4CBA-B2D7-FE8BC30F7CE4}" type="pres">
      <dgm:prSet presAssocID="{6765859D-4979-49D3-817C-4E2ECDA07823}" presName="bgRect" presStyleLbl="bgShp" presStyleIdx="3" presStyleCnt="4"/>
      <dgm:spPr/>
    </dgm:pt>
    <dgm:pt modelId="{B13F5B70-02E1-4EE0-A68F-923AA20158AA}" type="pres">
      <dgm:prSet presAssocID="{6765859D-4979-49D3-817C-4E2ECDA07823}"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C17EB87B-FCAA-4111-953E-EBC60B5F48E5}" type="pres">
      <dgm:prSet presAssocID="{6765859D-4979-49D3-817C-4E2ECDA07823}" presName="spaceRect" presStyleCnt="0"/>
      <dgm:spPr/>
    </dgm:pt>
    <dgm:pt modelId="{04C7780F-C5A2-4140-8310-F54B963787D8}" type="pres">
      <dgm:prSet presAssocID="{6765859D-4979-49D3-817C-4E2ECDA07823}" presName="parTx" presStyleLbl="revTx" presStyleIdx="3" presStyleCnt="4">
        <dgm:presLayoutVars>
          <dgm:chMax val="0"/>
          <dgm:chPref val="0"/>
        </dgm:presLayoutVars>
      </dgm:prSet>
      <dgm:spPr/>
    </dgm:pt>
  </dgm:ptLst>
  <dgm:cxnLst>
    <dgm:cxn modelId="{8E3BB740-49E9-4E58-B5F9-7AFC39BE749A}" type="presOf" srcId="{C5705290-69D4-49D1-B59C-814E4150E59D}" destId="{14A4C0D7-B632-4BD5-AB79-4F958EC39EE9}" srcOrd="0" destOrd="0" presId="urn:microsoft.com/office/officeart/2018/2/layout/IconVerticalSolidList"/>
    <dgm:cxn modelId="{E1A9D34D-6E9B-435B-AB87-BB951F4F5806}" type="presOf" srcId="{6765859D-4979-49D3-817C-4E2ECDA07823}" destId="{04C7780F-C5A2-4140-8310-F54B963787D8}" srcOrd="0" destOrd="0" presId="urn:microsoft.com/office/officeart/2018/2/layout/IconVerticalSolidList"/>
    <dgm:cxn modelId="{5058EA70-8D82-407F-BA0A-4D865A179D92}" srcId="{6499C41E-A533-41C6-BC4E-2E72455B550D}" destId="{748D2575-107F-4885-BA1D-0D385E4186DA}" srcOrd="2" destOrd="0" parTransId="{B0B8273C-70B7-404A-8085-61E7F153BECA}" sibTransId="{9DFAD0BE-06BE-44B4-8E22-5B1FD3E96B41}"/>
    <dgm:cxn modelId="{874ED0B5-EA40-42D9-B20E-C1EB8D49EAFF}" srcId="{6499C41E-A533-41C6-BC4E-2E72455B550D}" destId="{C5705290-69D4-49D1-B59C-814E4150E59D}" srcOrd="0" destOrd="0" parTransId="{0D71D9AE-8086-4F77-A7B9-209222CCC3E9}" sibTransId="{4C8890C7-8F73-46E2-A83F-57908FD6C5F9}"/>
    <dgm:cxn modelId="{080D47C1-F87F-45AA-A66C-E6DCBB350B4B}" srcId="{6499C41E-A533-41C6-BC4E-2E72455B550D}" destId="{6765859D-4979-49D3-817C-4E2ECDA07823}" srcOrd="3" destOrd="0" parTransId="{F17F7E96-4AF8-4ABF-8802-F134162CE9F7}" sibTransId="{717FFA98-D0CF-4D8D-95C2-42C241A79609}"/>
    <dgm:cxn modelId="{B8680FCA-080D-43D7-BF8D-49C806ECBC0F}" srcId="{6499C41E-A533-41C6-BC4E-2E72455B550D}" destId="{96DD6C65-5218-4BFF-B1D4-508DAEAF666B}" srcOrd="1" destOrd="0" parTransId="{C202FCB6-4C71-4165-BF75-753A0D356CB4}" sibTransId="{01992636-C1E0-4576-8B65-79771938B6CB}"/>
    <dgm:cxn modelId="{758DFAEB-F224-4D7B-865A-E25BED5B5E1D}" type="presOf" srcId="{748D2575-107F-4885-BA1D-0D385E4186DA}" destId="{35041796-80D1-4BBC-A764-873429849F5B}" srcOrd="0" destOrd="0" presId="urn:microsoft.com/office/officeart/2018/2/layout/IconVerticalSolidList"/>
    <dgm:cxn modelId="{4E0E76EC-FE6D-4F5D-8517-7692439F26FF}" type="presOf" srcId="{6499C41E-A533-41C6-BC4E-2E72455B550D}" destId="{16344DF1-0D41-48AD-A275-DFE8EE180E61}" srcOrd="0" destOrd="0" presId="urn:microsoft.com/office/officeart/2018/2/layout/IconVerticalSolidList"/>
    <dgm:cxn modelId="{3A039DF1-6F2B-414B-9178-C74C4634BAD7}" type="presOf" srcId="{96DD6C65-5218-4BFF-B1D4-508DAEAF666B}" destId="{30B44379-F984-4048-B0E0-59909A920F61}" srcOrd="0" destOrd="0" presId="urn:microsoft.com/office/officeart/2018/2/layout/IconVerticalSolidList"/>
    <dgm:cxn modelId="{742AAD58-BBED-4EB8-B921-F33A95C0B725}" type="presParOf" srcId="{16344DF1-0D41-48AD-A275-DFE8EE180E61}" destId="{B8CC89AC-7373-4B2C-983E-3A4717CDC39E}" srcOrd="0" destOrd="0" presId="urn:microsoft.com/office/officeart/2018/2/layout/IconVerticalSolidList"/>
    <dgm:cxn modelId="{CF32115F-0197-45C9-90BA-D9BE13E6965E}" type="presParOf" srcId="{B8CC89AC-7373-4B2C-983E-3A4717CDC39E}" destId="{15B2661D-6DDE-4A78-80A9-B08DE5FDD011}" srcOrd="0" destOrd="0" presId="urn:microsoft.com/office/officeart/2018/2/layout/IconVerticalSolidList"/>
    <dgm:cxn modelId="{EDCE7856-137F-41DA-A3A5-2A2A942E82BB}" type="presParOf" srcId="{B8CC89AC-7373-4B2C-983E-3A4717CDC39E}" destId="{856DD5C4-C67C-496C-A33A-F6FCCD8AC525}" srcOrd="1" destOrd="0" presId="urn:microsoft.com/office/officeart/2018/2/layout/IconVerticalSolidList"/>
    <dgm:cxn modelId="{10BAD19F-11CF-40CF-B610-BB561A98D713}" type="presParOf" srcId="{B8CC89AC-7373-4B2C-983E-3A4717CDC39E}" destId="{DE1CEB8D-0CAC-45E9-9908-F4ABC7FA46A5}" srcOrd="2" destOrd="0" presId="urn:microsoft.com/office/officeart/2018/2/layout/IconVerticalSolidList"/>
    <dgm:cxn modelId="{E6333846-07C9-43FD-BA8E-1899DC69A660}" type="presParOf" srcId="{B8CC89AC-7373-4B2C-983E-3A4717CDC39E}" destId="{14A4C0D7-B632-4BD5-AB79-4F958EC39EE9}" srcOrd="3" destOrd="0" presId="urn:microsoft.com/office/officeart/2018/2/layout/IconVerticalSolidList"/>
    <dgm:cxn modelId="{44CCFE77-7DB9-4857-8EA1-AA9E9918D9F6}" type="presParOf" srcId="{16344DF1-0D41-48AD-A275-DFE8EE180E61}" destId="{A9670167-0457-403C-8C52-9D7761136A88}" srcOrd="1" destOrd="0" presId="urn:microsoft.com/office/officeart/2018/2/layout/IconVerticalSolidList"/>
    <dgm:cxn modelId="{C5FEFB67-C90F-415B-B1B7-437C7462E6F3}" type="presParOf" srcId="{16344DF1-0D41-48AD-A275-DFE8EE180E61}" destId="{DC51B871-F5DB-4565-977C-75F0058FC05C}" srcOrd="2" destOrd="0" presId="urn:microsoft.com/office/officeart/2018/2/layout/IconVerticalSolidList"/>
    <dgm:cxn modelId="{7857CAAE-38FA-490B-B007-F505A18EF1FB}" type="presParOf" srcId="{DC51B871-F5DB-4565-977C-75F0058FC05C}" destId="{958D5003-7E84-4A83-B8C3-C6A6AA36A80E}" srcOrd="0" destOrd="0" presId="urn:microsoft.com/office/officeart/2018/2/layout/IconVerticalSolidList"/>
    <dgm:cxn modelId="{58859718-270C-4ED7-980F-F1D9145FAFC7}" type="presParOf" srcId="{DC51B871-F5DB-4565-977C-75F0058FC05C}" destId="{08669303-E61E-434A-A5D8-EA67F833F131}" srcOrd="1" destOrd="0" presId="urn:microsoft.com/office/officeart/2018/2/layout/IconVerticalSolidList"/>
    <dgm:cxn modelId="{6EF416D0-018C-4242-A521-B3D14DB14C9E}" type="presParOf" srcId="{DC51B871-F5DB-4565-977C-75F0058FC05C}" destId="{157A0231-7C9F-4F45-9009-61E4EFE9AF83}" srcOrd="2" destOrd="0" presId="urn:microsoft.com/office/officeart/2018/2/layout/IconVerticalSolidList"/>
    <dgm:cxn modelId="{624C7193-AE0B-481B-A64B-0E6990F310E0}" type="presParOf" srcId="{DC51B871-F5DB-4565-977C-75F0058FC05C}" destId="{30B44379-F984-4048-B0E0-59909A920F61}" srcOrd="3" destOrd="0" presId="urn:microsoft.com/office/officeart/2018/2/layout/IconVerticalSolidList"/>
    <dgm:cxn modelId="{C87CE7CF-E0C6-4561-866F-12A972CC4203}" type="presParOf" srcId="{16344DF1-0D41-48AD-A275-DFE8EE180E61}" destId="{7707ECB4-D99C-4299-A1CB-35FD2E20FFF1}" srcOrd="3" destOrd="0" presId="urn:microsoft.com/office/officeart/2018/2/layout/IconVerticalSolidList"/>
    <dgm:cxn modelId="{353AB11C-B6F3-439C-91D6-A7983145F04C}" type="presParOf" srcId="{16344DF1-0D41-48AD-A275-DFE8EE180E61}" destId="{3CB7EF0C-ABB5-41D7-BE7C-77CF15858820}" srcOrd="4" destOrd="0" presId="urn:microsoft.com/office/officeart/2018/2/layout/IconVerticalSolidList"/>
    <dgm:cxn modelId="{FD9463B0-D268-465B-BC78-FC05BFA7F9DD}" type="presParOf" srcId="{3CB7EF0C-ABB5-41D7-BE7C-77CF15858820}" destId="{CDDE34DF-B837-4B8C-BB62-BED6E38E38D0}" srcOrd="0" destOrd="0" presId="urn:microsoft.com/office/officeart/2018/2/layout/IconVerticalSolidList"/>
    <dgm:cxn modelId="{B6154053-D273-43F3-BDD8-8F3669A784A7}" type="presParOf" srcId="{3CB7EF0C-ABB5-41D7-BE7C-77CF15858820}" destId="{90C164C3-3D3E-4B34-8153-27C2C34A565B}" srcOrd="1" destOrd="0" presId="urn:microsoft.com/office/officeart/2018/2/layout/IconVerticalSolidList"/>
    <dgm:cxn modelId="{8C792B96-D2C6-48BA-BD40-91600C1AB6F8}" type="presParOf" srcId="{3CB7EF0C-ABB5-41D7-BE7C-77CF15858820}" destId="{1FE9B6C0-C6CE-4281-BB30-5FCC6A9B3C22}" srcOrd="2" destOrd="0" presId="urn:microsoft.com/office/officeart/2018/2/layout/IconVerticalSolidList"/>
    <dgm:cxn modelId="{CB3E2BD0-4321-4A91-8B12-08C4226099C2}" type="presParOf" srcId="{3CB7EF0C-ABB5-41D7-BE7C-77CF15858820}" destId="{35041796-80D1-4BBC-A764-873429849F5B}" srcOrd="3" destOrd="0" presId="urn:microsoft.com/office/officeart/2018/2/layout/IconVerticalSolidList"/>
    <dgm:cxn modelId="{DC460577-A73A-492A-B904-8E41895F2BD5}" type="presParOf" srcId="{16344DF1-0D41-48AD-A275-DFE8EE180E61}" destId="{58472E54-9DD8-45D9-AF4E-1F4C8040F73C}" srcOrd="5" destOrd="0" presId="urn:microsoft.com/office/officeart/2018/2/layout/IconVerticalSolidList"/>
    <dgm:cxn modelId="{95C04EE7-3B29-4BCE-B2F9-5491A1933CFC}" type="presParOf" srcId="{16344DF1-0D41-48AD-A275-DFE8EE180E61}" destId="{6E1AD972-D177-4132-B1E5-3FDBC537A30B}" srcOrd="6" destOrd="0" presId="urn:microsoft.com/office/officeart/2018/2/layout/IconVerticalSolidList"/>
    <dgm:cxn modelId="{FD0C9556-50ED-4D88-ABEF-AD16BCFF1578}" type="presParOf" srcId="{6E1AD972-D177-4132-B1E5-3FDBC537A30B}" destId="{DC3D980B-20B7-4CBA-B2D7-FE8BC30F7CE4}" srcOrd="0" destOrd="0" presId="urn:microsoft.com/office/officeart/2018/2/layout/IconVerticalSolidList"/>
    <dgm:cxn modelId="{048388C0-4144-4C44-9208-4893228D5CE5}" type="presParOf" srcId="{6E1AD972-D177-4132-B1E5-3FDBC537A30B}" destId="{B13F5B70-02E1-4EE0-A68F-923AA20158AA}" srcOrd="1" destOrd="0" presId="urn:microsoft.com/office/officeart/2018/2/layout/IconVerticalSolidList"/>
    <dgm:cxn modelId="{949BF81A-BF02-4B3A-80A8-241E8AD3EFAC}" type="presParOf" srcId="{6E1AD972-D177-4132-B1E5-3FDBC537A30B}" destId="{C17EB87B-FCAA-4111-953E-EBC60B5F48E5}" srcOrd="2" destOrd="0" presId="urn:microsoft.com/office/officeart/2018/2/layout/IconVerticalSolidList"/>
    <dgm:cxn modelId="{98520828-E8AB-4B8D-83BD-5584D9F37DE0}" type="presParOf" srcId="{6E1AD972-D177-4132-B1E5-3FDBC537A30B}" destId="{04C7780F-C5A2-4140-8310-F54B963787D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8A7C6B2-08FB-44E8-9E69-43B212C57B3D}"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AD7D0A2-BF84-42E5-9254-0B6FE19F9A2C}">
      <dgm:prSet/>
      <dgm:spPr/>
      <dgm:t>
        <a:bodyPr/>
        <a:lstStyle/>
        <a:p>
          <a:pPr>
            <a:defRPr cap="all"/>
          </a:pPr>
          <a:r>
            <a:rPr lang="en-US"/>
            <a:t>Sequential steps add together.</a:t>
          </a:r>
        </a:p>
      </dgm:t>
    </dgm:pt>
    <dgm:pt modelId="{6EA23E30-8AD4-4341-A423-BA419D3FB416}" type="parTrans" cxnId="{F6604929-3358-4458-B54A-17FEE8A279F1}">
      <dgm:prSet/>
      <dgm:spPr/>
      <dgm:t>
        <a:bodyPr/>
        <a:lstStyle/>
        <a:p>
          <a:endParaRPr lang="en-US"/>
        </a:p>
      </dgm:t>
    </dgm:pt>
    <dgm:pt modelId="{151C6C63-15A4-4942-A695-033E0778BA3A}" type="sibTrans" cxnId="{F6604929-3358-4458-B54A-17FEE8A279F1}">
      <dgm:prSet/>
      <dgm:spPr/>
      <dgm:t>
        <a:bodyPr/>
        <a:lstStyle/>
        <a:p>
          <a:endParaRPr lang="en-US"/>
        </a:p>
      </dgm:t>
    </dgm:pt>
    <dgm:pt modelId="{FD573A7A-0682-4C85-9A87-FF7F70E934A5}">
      <dgm:prSet/>
      <dgm:spPr/>
      <dgm:t>
        <a:bodyPr/>
        <a:lstStyle/>
        <a:p>
          <a:pPr>
            <a:defRPr cap="all"/>
          </a:pPr>
          <a:r>
            <a:rPr lang="en-US"/>
            <a:t>If steps happen one after another, estimate the growth of each part and keep the dominant pattern.</a:t>
          </a:r>
        </a:p>
      </dgm:t>
    </dgm:pt>
    <dgm:pt modelId="{88915D61-672C-4E77-A2AD-8D0DA67B72C7}" type="parTrans" cxnId="{E9D16D39-3EF4-430F-B63A-CFD7F97CCCC9}">
      <dgm:prSet/>
      <dgm:spPr/>
      <dgm:t>
        <a:bodyPr/>
        <a:lstStyle/>
        <a:p>
          <a:endParaRPr lang="en-US"/>
        </a:p>
      </dgm:t>
    </dgm:pt>
    <dgm:pt modelId="{773C1A45-9FE9-49A6-A528-A1F322F14CB1}" type="sibTrans" cxnId="{E9D16D39-3EF4-430F-B63A-CFD7F97CCCC9}">
      <dgm:prSet/>
      <dgm:spPr/>
      <dgm:t>
        <a:bodyPr/>
        <a:lstStyle/>
        <a:p>
          <a:endParaRPr lang="en-US"/>
        </a:p>
      </dgm:t>
    </dgm:pt>
    <dgm:pt modelId="{8FC45E1C-D7FF-45DE-AEBA-7839E3B13477}" type="pres">
      <dgm:prSet presAssocID="{F8A7C6B2-08FB-44E8-9E69-43B212C57B3D}" presName="root" presStyleCnt="0">
        <dgm:presLayoutVars>
          <dgm:dir/>
          <dgm:resizeHandles val="exact"/>
        </dgm:presLayoutVars>
      </dgm:prSet>
      <dgm:spPr/>
    </dgm:pt>
    <dgm:pt modelId="{583F3804-9419-4B93-97A9-D933864E62DB}" type="pres">
      <dgm:prSet presAssocID="{BAD7D0A2-BF84-42E5-9254-0B6FE19F9A2C}" presName="compNode" presStyleCnt="0"/>
      <dgm:spPr/>
    </dgm:pt>
    <dgm:pt modelId="{8CC71D1E-8874-4C73-87F0-32F63EC80A5C}" type="pres">
      <dgm:prSet presAssocID="{BAD7D0A2-BF84-42E5-9254-0B6FE19F9A2C}" presName="iconBgRect" presStyleLbl="bgShp" presStyleIdx="0" presStyleCnt="2"/>
      <dgm:spPr>
        <a:prstGeom prst="round2DiagRect">
          <a:avLst>
            <a:gd name="adj1" fmla="val 29727"/>
            <a:gd name="adj2" fmla="val 0"/>
          </a:avLst>
        </a:prstGeom>
      </dgm:spPr>
    </dgm:pt>
    <dgm:pt modelId="{01BCA69C-0526-45F2-96A0-47FADF1494F4}" type="pres">
      <dgm:prSet presAssocID="{BAD7D0A2-BF84-42E5-9254-0B6FE19F9A2C}"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Workflow"/>
        </a:ext>
      </dgm:extLst>
    </dgm:pt>
    <dgm:pt modelId="{0FC5FF37-12F5-405E-BCE0-2B14F8FE8C84}" type="pres">
      <dgm:prSet presAssocID="{BAD7D0A2-BF84-42E5-9254-0B6FE19F9A2C}" presName="spaceRect" presStyleCnt="0"/>
      <dgm:spPr/>
    </dgm:pt>
    <dgm:pt modelId="{424B8DF7-21C0-422B-BB32-C52434A80512}" type="pres">
      <dgm:prSet presAssocID="{BAD7D0A2-BF84-42E5-9254-0B6FE19F9A2C}" presName="textRect" presStyleLbl="revTx" presStyleIdx="0" presStyleCnt="2">
        <dgm:presLayoutVars>
          <dgm:chMax val="1"/>
          <dgm:chPref val="1"/>
        </dgm:presLayoutVars>
      </dgm:prSet>
      <dgm:spPr/>
    </dgm:pt>
    <dgm:pt modelId="{7CF30F19-5A04-49B4-902D-FC97304B56E2}" type="pres">
      <dgm:prSet presAssocID="{151C6C63-15A4-4942-A695-033E0778BA3A}" presName="sibTrans" presStyleCnt="0"/>
      <dgm:spPr/>
    </dgm:pt>
    <dgm:pt modelId="{E901E4C9-55F3-49EA-9078-B548E0E070DE}" type="pres">
      <dgm:prSet presAssocID="{FD573A7A-0682-4C85-9A87-FF7F70E934A5}" presName="compNode" presStyleCnt="0"/>
      <dgm:spPr/>
    </dgm:pt>
    <dgm:pt modelId="{4408F8DD-E5EC-4463-8ED7-D828000FC37A}" type="pres">
      <dgm:prSet presAssocID="{FD573A7A-0682-4C85-9A87-FF7F70E934A5}" presName="iconBgRect" presStyleLbl="bgShp" presStyleIdx="1" presStyleCnt="2"/>
      <dgm:spPr>
        <a:prstGeom prst="round2DiagRect">
          <a:avLst>
            <a:gd name="adj1" fmla="val 29727"/>
            <a:gd name="adj2" fmla="val 0"/>
          </a:avLst>
        </a:prstGeom>
      </dgm:spPr>
    </dgm:pt>
    <dgm:pt modelId="{50007AA9-B114-425F-B628-DED6E4A2CE2E}" type="pres">
      <dgm:prSet presAssocID="{FD573A7A-0682-4C85-9A87-FF7F70E934A5}"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nching Diagram"/>
        </a:ext>
      </dgm:extLst>
    </dgm:pt>
    <dgm:pt modelId="{FDEDDCDD-72D8-4CE5-8152-06FE752366BE}" type="pres">
      <dgm:prSet presAssocID="{FD573A7A-0682-4C85-9A87-FF7F70E934A5}" presName="spaceRect" presStyleCnt="0"/>
      <dgm:spPr/>
    </dgm:pt>
    <dgm:pt modelId="{E84BD9C0-DA71-4EBE-8F74-19006F236774}" type="pres">
      <dgm:prSet presAssocID="{FD573A7A-0682-4C85-9A87-FF7F70E934A5}" presName="textRect" presStyleLbl="revTx" presStyleIdx="1" presStyleCnt="2">
        <dgm:presLayoutVars>
          <dgm:chMax val="1"/>
          <dgm:chPref val="1"/>
        </dgm:presLayoutVars>
      </dgm:prSet>
      <dgm:spPr/>
    </dgm:pt>
  </dgm:ptLst>
  <dgm:cxnLst>
    <dgm:cxn modelId="{F6604929-3358-4458-B54A-17FEE8A279F1}" srcId="{F8A7C6B2-08FB-44E8-9E69-43B212C57B3D}" destId="{BAD7D0A2-BF84-42E5-9254-0B6FE19F9A2C}" srcOrd="0" destOrd="0" parTransId="{6EA23E30-8AD4-4341-A423-BA419D3FB416}" sibTransId="{151C6C63-15A4-4942-A695-033E0778BA3A}"/>
    <dgm:cxn modelId="{E9D16D39-3EF4-430F-B63A-CFD7F97CCCC9}" srcId="{F8A7C6B2-08FB-44E8-9E69-43B212C57B3D}" destId="{FD573A7A-0682-4C85-9A87-FF7F70E934A5}" srcOrd="1" destOrd="0" parTransId="{88915D61-672C-4E77-A2AD-8D0DA67B72C7}" sibTransId="{773C1A45-9FE9-49A6-A528-A1F322F14CB1}"/>
    <dgm:cxn modelId="{DAF3FB5E-3336-43C1-9F0A-1A1CEAFCA4F3}" type="presOf" srcId="{F8A7C6B2-08FB-44E8-9E69-43B212C57B3D}" destId="{8FC45E1C-D7FF-45DE-AEBA-7839E3B13477}" srcOrd="0" destOrd="0" presId="urn:microsoft.com/office/officeart/2018/5/layout/IconLeafLabelList"/>
    <dgm:cxn modelId="{1DF8D29D-9B2D-4A60-953D-A13F5009E5CD}" type="presOf" srcId="{FD573A7A-0682-4C85-9A87-FF7F70E934A5}" destId="{E84BD9C0-DA71-4EBE-8F74-19006F236774}" srcOrd="0" destOrd="0" presId="urn:microsoft.com/office/officeart/2018/5/layout/IconLeafLabelList"/>
    <dgm:cxn modelId="{94A1DFAA-76F4-4E14-A909-6BEE29AF5DD4}" type="presOf" srcId="{BAD7D0A2-BF84-42E5-9254-0B6FE19F9A2C}" destId="{424B8DF7-21C0-422B-BB32-C52434A80512}" srcOrd="0" destOrd="0" presId="urn:microsoft.com/office/officeart/2018/5/layout/IconLeafLabelList"/>
    <dgm:cxn modelId="{3753F85B-C822-4808-8DBE-0D49A1267D81}" type="presParOf" srcId="{8FC45E1C-D7FF-45DE-AEBA-7839E3B13477}" destId="{583F3804-9419-4B93-97A9-D933864E62DB}" srcOrd="0" destOrd="0" presId="urn:microsoft.com/office/officeart/2018/5/layout/IconLeafLabelList"/>
    <dgm:cxn modelId="{5AF64526-358A-47A3-94A4-B37A42F05CA6}" type="presParOf" srcId="{583F3804-9419-4B93-97A9-D933864E62DB}" destId="{8CC71D1E-8874-4C73-87F0-32F63EC80A5C}" srcOrd="0" destOrd="0" presId="urn:microsoft.com/office/officeart/2018/5/layout/IconLeafLabelList"/>
    <dgm:cxn modelId="{ED999A10-FE7C-4261-8862-9D08D122D590}" type="presParOf" srcId="{583F3804-9419-4B93-97A9-D933864E62DB}" destId="{01BCA69C-0526-45F2-96A0-47FADF1494F4}" srcOrd="1" destOrd="0" presId="urn:microsoft.com/office/officeart/2018/5/layout/IconLeafLabelList"/>
    <dgm:cxn modelId="{E0A972B0-BB3F-4260-95AB-ACFFE7205D7D}" type="presParOf" srcId="{583F3804-9419-4B93-97A9-D933864E62DB}" destId="{0FC5FF37-12F5-405E-BCE0-2B14F8FE8C84}" srcOrd="2" destOrd="0" presId="urn:microsoft.com/office/officeart/2018/5/layout/IconLeafLabelList"/>
    <dgm:cxn modelId="{1CB5DB6D-E331-409F-9C8E-D4879F38F902}" type="presParOf" srcId="{583F3804-9419-4B93-97A9-D933864E62DB}" destId="{424B8DF7-21C0-422B-BB32-C52434A80512}" srcOrd="3" destOrd="0" presId="urn:microsoft.com/office/officeart/2018/5/layout/IconLeafLabelList"/>
    <dgm:cxn modelId="{FD63F9E3-4C39-4CA3-8BC0-FA8E6F8FE749}" type="presParOf" srcId="{8FC45E1C-D7FF-45DE-AEBA-7839E3B13477}" destId="{7CF30F19-5A04-49B4-902D-FC97304B56E2}" srcOrd="1" destOrd="0" presId="urn:microsoft.com/office/officeart/2018/5/layout/IconLeafLabelList"/>
    <dgm:cxn modelId="{36BF8F69-9075-48A0-9EAF-5EBBE8A4FD82}" type="presParOf" srcId="{8FC45E1C-D7FF-45DE-AEBA-7839E3B13477}" destId="{E901E4C9-55F3-49EA-9078-B548E0E070DE}" srcOrd="2" destOrd="0" presId="urn:microsoft.com/office/officeart/2018/5/layout/IconLeafLabelList"/>
    <dgm:cxn modelId="{A1FC4956-7163-421A-AA20-C3A130187912}" type="presParOf" srcId="{E901E4C9-55F3-49EA-9078-B548E0E070DE}" destId="{4408F8DD-E5EC-4463-8ED7-D828000FC37A}" srcOrd="0" destOrd="0" presId="urn:microsoft.com/office/officeart/2018/5/layout/IconLeafLabelList"/>
    <dgm:cxn modelId="{BEEC3F6B-89C6-4EB1-8050-F85ABD920A18}" type="presParOf" srcId="{E901E4C9-55F3-49EA-9078-B548E0E070DE}" destId="{50007AA9-B114-425F-B628-DED6E4A2CE2E}" srcOrd="1" destOrd="0" presId="urn:microsoft.com/office/officeart/2018/5/layout/IconLeafLabelList"/>
    <dgm:cxn modelId="{2F4B5E3D-143B-4D38-83E8-1EE77DF7701C}" type="presParOf" srcId="{E901E4C9-55F3-49EA-9078-B548E0E070DE}" destId="{FDEDDCDD-72D8-4CE5-8152-06FE752366BE}" srcOrd="2" destOrd="0" presId="urn:microsoft.com/office/officeart/2018/5/layout/IconLeafLabelList"/>
    <dgm:cxn modelId="{7E58370A-3E12-4FEF-923A-B2845F42CFE4}" type="presParOf" srcId="{E901E4C9-55F3-49EA-9078-B548E0E070DE}" destId="{E84BD9C0-DA71-4EBE-8F74-19006F236774}"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072354B-6B8C-4258-A19E-DDAC4A8BC4FD}"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US"/>
        </a:p>
      </dgm:t>
    </dgm:pt>
    <dgm:pt modelId="{E93F6D9E-B1C6-4339-A5E1-D315A886CCC0}">
      <dgm:prSet/>
      <dgm:spPr/>
      <dgm:t>
        <a:bodyPr/>
        <a:lstStyle/>
        <a:p>
          <a:r>
            <a:rPr lang="en-US" dirty="0"/>
            <a:t>Ignore ½ the remaining possibilities</a:t>
          </a:r>
        </a:p>
      </dgm:t>
    </dgm:pt>
    <dgm:pt modelId="{3B7A3687-15E7-4B6E-9EFB-EE4D1DF96219}" type="parTrans" cxnId="{BE8F3027-4A7D-4785-AA44-C520112D7AED}">
      <dgm:prSet/>
      <dgm:spPr/>
      <dgm:t>
        <a:bodyPr/>
        <a:lstStyle/>
        <a:p>
          <a:endParaRPr lang="en-US"/>
        </a:p>
      </dgm:t>
    </dgm:pt>
    <dgm:pt modelId="{69B0466E-5947-46E4-986D-F96957F72432}" type="sibTrans" cxnId="{BE8F3027-4A7D-4785-AA44-C520112D7AED}">
      <dgm:prSet/>
      <dgm:spPr/>
      <dgm:t>
        <a:bodyPr/>
        <a:lstStyle/>
        <a:p>
          <a:endParaRPr lang="en-US"/>
        </a:p>
      </dgm:t>
    </dgm:pt>
    <dgm:pt modelId="{25AB8C13-6C48-4EB9-9F69-6255AEA99D74}">
      <dgm:prSet/>
      <dgm:spPr/>
      <dgm:t>
        <a:bodyPr/>
        <a:lstStyle/>
        <a:p>
          <a:r>
            <a:rPr lang="en-US" dirty="0"/>
            <a:t>Repeat</a:t>
          </a:r>
        </a:p>
      </dgm:t>
    </dgm:pt>
    <dgm:pt modelId="{C74FC73C-21B9-4C98-A2D2-7D261906EF9D}" type="parTrans" cxnId="{EA884983-BD73-40BA-92B2-AA93FFB24742}">
      <dgm:prSet/>
      <dgm:spPr/>
      <dgm:t>
        <a:bodyPr/>
        <a:lstStyle/>
        <a:p>
          <a:endParaRPr lang="en-US"/>
        </a:p>
      </dgm:t>
    </dgm:pt>
    <dgm:pt modelId="{2B764EEE-DA26-42A5-B963-B8EA1952807B}" type="sibTrans" cxnId="{EA884983-BD73-40BA-92B2-AA93FFB24742}">
      <dgm:prSet/>
      <dgm:spPr/>
      <dgm:t>
        <a:bodyPr/>
        <a:lstStyle/>
        <a:p>
          <a:endParaRPr lang="en-US"/>
        </a:p>
      </dgm:t>
    </dgm:pt>
    <dgm:pt modelId="{14E047B3-2CBB-4ADB-A7ED-64D36D6ADC89}">
      <dgm:prSet/>
      <dgm:spPr/>
      <dgm:t>
        <a:bodyPr/>
        <a:lstStyle/>
        <a:p>
          <a:r>
            <a:rPr lang="en-US" dirty="0"/>
            <a:t>Cut the search space in half</a:t>
          </a:r>
        </a:p>
      </dgm:t>
    </dgm:pt>
    <dgm:pt modelId="{7D2C1E8D-0588-4AD0-81FC-7364B1B8C068}" type="parTrans" cxnId="{97B915EC-300C-4014-A2A6-8F8E6F8EA8F8}">
      <dgm:prSet/>
      <dgm:spPr/>
      <dgm:t>
        <a:bodyPr/>
        <a:lstStyle/>
        <a:p>
          <a:endParaRPr lang="en-US"/>
        </a:p>
      </dgm:t>
    </dgm:pt>
    <dgm:pt modelId="{7985A5F1-0927-4286-ACA3-5041966A1703}" type="sibTrans" cxnId="{97B915EC-300C-4014-A2A6-8F8E6F8EA8F8}">
      <dgm:prSet/>
      <dgm:spPr/>
      <dgm:t>
        <a:bodyPr/>
        <a:lstStyle/>
        <a:p>
          <a:endParaRPr lang="en-US"/>
        </a:p>
      </dgm:t>
    </dgm:pt>
    <dgm:pt modelId="{BF3C840F-D612-4552-8391-B7B3394BBB35}" type="pres">
      <dgm:prSet presAssocID="{6072354B-6B8C-4258-A19E-DDAC4A8BC4FD}" presName="cycle" presStyleCnt="0">
        <dgm:presLayoutVars>
          <dgm:dir/>
          <dgm:resizeHandles val="exact"/>
        </dgm:presLayoutVars>
      </dgm:prSet>
      <dgm:spPr/>
    </dgm:pt>
    <dgm:pt modelId="{DDD8D6FC-0FB3-4C6F-A51D-3990BD47CC1F}" type="pres">
      <dgm:prSet presAssocID="{14E047B3-2CBB-4ADB-A7ED-64D36D6ADC89}" presName="dummy" presStyleCnt="0"/>
      <dgm:spPr/>
    </dgm:pt>
    <dgm:pt modelId="{497E2135-1DE7-4BB0-81AE-2326C61B7EFD}" type="pres">
      <dgm:prSet presAssocID="{14E047B3-2CBB-4ADB-A7ED-64D36D6ADC89}" presName="node" presStyleLbl="revTx" presStyleIdx="0" presStyleCnt="3">
        <dgm:presLayoutVars>
          <dgm:bulletEnabled val="1"/>
        </dgm:presLayoutVars>
      </dgm:prSet>
      <dgm:spPr/>
    </dgm:pt>
    <dgm:pt modelId="{302FEA51-D91D-44BE-850B-547D4C922236}" type="pres">
      <dgm:prSet presAssocID="{7985A5F1-0927-4286-ACA3-5041966A1703}" presName="sibTrans" presStyleLbl="node1" presStyleIdx="0" presStyleCnt="3"/>
      <dgm:spPr/>
    </dgm:pt>
    <dgm:pt modelId="{761CAB8D-9724-4700-B87C-9FF488346AF3}" type="pres">
      <dgm:prSet presAssocID="{E93F6D9E-B1C6-4339-A5E1-D315A886CCC0}" presName="dummy" presStyleCnt="0"/>
      <dgm:spPr/>
    </dgm:pt>
    <dgm:pt modelId="{C800ADB1-FE6F-42E7-A55C-AA3B929E1A95}" type="pres">
      <dgm:prSet presAssocID="{E93F6D9E-B1C6-4339-A5E1-D315A886CCC0}" presName="node" presStyleLbl="revTx" presStyleIdx="1" presStyleCnt="3">
        <dgm:presLayoutVars>
          <dgm:bulletEnabled val="1"/>
        </dgm:presLayoutVars>
      </dgm:prSet>
      <dgm:spPr/>
    </dgm:pt>
    <dgm:pt modelId="{6EE77C2D-365B-4B6A-AC97-3CE73AB38C50}" type="pres">
      <dgm:prSet presAssocID="{69B0466E-5947-46E4-986D-F96957F72432}" presName="sibTrans" presStyleLbl="node1" presStyleIdx="1" presStyleCnt="3"/>
      <dgm:spPr/>
    </dgm:pt>
    <dgm:pt modelId="{2A24FAF8-02F8-4195-B922-5B898728D1C6}" type="pres">
      <dgm:prSet presAssocID="{25AB8C13-6C48-4EB9-9F69-6255AEA99D74}" presName="dummy" presStyleCnt="0"/>
      <dgm:spPr/>
    </dgm:pt>
    <dgm:pt modelId="{3AD13B9A-54EC-449D-9CBD-41B841304E66}" type="pres">
      <dgm:prSet presAssocID="{25AB8C13-6C48-4EB9-9F69-6255AEA99D74}" presName="node" presStyleLbl="revTx" presStyleIdx="2" presStyleCnt="3">
        <dgm:presLayoutVars>
          <dgm:bulletEnabled val="1"/>
        </dgm:presLayoutVars>
      </dgm:prSet>
      <dgm:spPr/>
    </dgm:pt>
    <dgm:pt modelId="{3EE47FB7-62F2-450D-8FA7-FAAC2F84A887}" type="pres">
      <dgm:prSet presAssocID="{2B764EEE-DA26-42A5-B963-B8EA1952807B}" presName="sibTrans" presStyleLbl="node1" presStyleIdx="2" presStyleCnt="3"/>
      <dgm:spPr/>
    </dgm:pt>
  </dgm:ptLst>
  <dgm:cxnLst>
    <dgm:cxn modelId="{BE8F3027-4A7D-4785-AA44-C520112D7AED}" srcId="{6072354B-6B8C-4258-A19E-DDAC4A8BC4FD}" destId="{E93F6D9E-B1C6-4339-A5E1-D315A886CCC0}" srcOrd="1" destOrd="0" parTransId="{3B7A3687-15E7-4B6E-9EFB-EE4D1DF96219}" sibTransId="{69B0466E-5947-46E4-986D-F96957F72432}"/>
    <dgm:cxn modelId="{8C3C942E-3C0D-4D7B-8EE4-9FF7B560C963}" type="presOf" srcId="{6072354B-6B8C-4258-A19E-DDAC4A8BC4FD}" destId="{BF3C840F-D612-4552-8391-B7B3394BBB35}" srcOrd="0" destOrd="0" presId="urn:microsoft.com/office/officeart/2005/8/layout/cycle1"/>
    <dgm:cxn modelId="{EA884983-BD73-40BA-92B2-AA93FFB24742}" srcId="{6072354B-6B8C-4258-A19E-DDAC4A8BC4FD}" destId="{25AB8C13-6C48-4EB9-9F69-6255AEA99D74}" srcOrd="2" destOrd="0" parTransId="{C74FC73C-21B9-4C98-A2D2-7D261906EF9D}" sibTransId="{2B764EEE-DA26-42A5-B963-B8EA1952807B}"/>
    <dgm:cxn modelId="{ABE887AF-4A04-49D6-9BFF-38DB7E1DF918}" type="presOf" srcId="{25AB8C13-6C48-4EB9-9F69-6255AEA99D74}" destId="{3AD13B9A-54EC-449D-9CBD-41B841304E66}" srcOrd="0" destOrd="0" presId="urn:microsoft.com/office/officeart/2005/8/layout/cycle1"/>
    <dgm:cxn modelId="{766782B5-B91D-4292-8D22-001744CFD45A}" type="presOf" srcId="{E93F6D9E-B1C6-4339-A5E1-D315A886CCC0}" destId="{C800ADB1-FE6F-42E7-A55C-AA3B929E1A95}" srcOrd="0" destOrd="0" presId="urn:microsoft.com/office/officeart/2005/8/layout/cycle1"/>
    <dgm:cxn modelId="{9546DCC2-419D-42FF-BB7C-2B15D276F973}" type="presOf" srcId="{69B0466E-5947-46E4-986D-F96957F72432}" destId="{6EE77C2D-365B-4B6A-AC97-3CE73AB38C50}" srcOrd="0" destOrd="0" presId="urn:microsoft.com/office/officeart/2005/8/layout/cycle1"/>
    <dgm:cxn modelId="{E9D011C5-8DF4-4A88-AF98-B64010BB0B7E}" type="presOf" srcId="{14E047B3-2CBB-4ADB-A7ED-64D36D6ADC89}" destId="{497E2135-1DE7-4BB0-81AE-2326C61B7EFD}" srcOrd="0" destOrd="0" presId="urn:microsoft.com/office/officeart/2005/8/layout/cycle1"/>
    <dgm:cxn modelId="{2F8B86DF-EB3F-4F50-97D3-1CFB1E9D326D}" type="presOf" srcId="{2B764EEE-DA26-42A5-B963-B8EA1952807B}" destId="{3EE47FB7-62F2-450D-8FA7-FAAC2F84A887}" srcOrd="0" destOrd="0" presId="urn:microsoft.com/office/officeart/2005/8/layout/cycle1"/>
    <dgm:cxn modelId="{97B915EC-300C-4014-A2A6-8F8E6F8EA8F8}" srcId="{6072354B-6B8C-4258-A19E-DDAC4A8BC4FD}" destId="{14E047B3-2CBB-4ADB-A7ED-64D36D6ADC89}" srcOrd="0" destOrd="0" parTransId="{7D2C1E8D-0588-4AD0-81FC-7364B1B8C068}" sibTransId="{7985A5F1-0927-4286-ACA3-5041966A1703}"/>
    <dgm:cxn modelId="{6565D2ED-CFCE-4EF3-B5CC-DEBEB8EA539C}" type="presOf" srcId="{7985A5F1-0927-4286-ACA3-5041966A1703}" destId="{302FEA51-D91D-44BE-850B-547D4C922236}" srcOrd="0" destOrd="0" presId="urn:microsoft.com/office/officeart/2005/8/layout/cycle1"/>
    <dgm:cxn modelId="{8D4BAF68-FB84-438F-B770-EA3F1FB30944}" type="presParOf" srcId="{BF3C840F-D612-4552-8391-B7B3394BBB35}" destId="{DDD8D6FC-0FB3-4C6F-A51D-3990BD47CC1F}" srcOrd="0" destOrd="0" presId="urn:microsoft.com/office/officeart/2005/8/layout/cycle1"/>
    <dgm:cxn modelId="{845583FD-EB03-41A2-BBC4-A50D3484C15C}" type="presParOf" srcId="{BF3C840F-D612-4552-8391-B7B3394BBB35}" destId="{497E2135-1DE7-4BB0-81AE-2326C61B7EFD}" srcOrd="1" destOrd="0" presId="urn:microsoft.com/office/officeart/2005/8/layout/cycle1"/>
    <dgm:cxn modelId="{46D8CE0C-5C98-4263-8ED8-2398FFB0BB5B}" type="presParOf" srcId="{BF3C840F-D612-4552-8391-B7B3394BBB35}" destId="{302FEA51-D91D-44BE-850B-547D4C922236}" srcOrd="2" destOrd="0" presId="urn:microsoft.com/office/officeart/2005/8/layout/cycle1"/>
    <dgm:cxn modelId="{4FD83C12-3E4E-4069-AF2D-201B3F625DAA}" type="presParOf" srcId="{BF3C840F-D612-4552-8391-B7B3394BBB35}" destId="{761CAB8D-9724-4700-B87C-9FF488346AF3}" srcOrd="3" destOrd="0" presId="urn:microsoft.com/office/officeart/2005/8/layout/cycle1"/>
    <dgm:cxn modelId="{05BE58A0-F6A2-4A9E-8D77-26A813B34188}" type="presParOf" srcId="{BF3C840F-D612-4552-8391-B7B3394BBB35}" destId="{C800ADB1-FE6F-42E7-A55C-AA3B929E1A95}" srcOrd="4" destOrd="0" presId="urn:microsoft.com/office/officeart/2005/8/layout/cycle1"/>
    <dgm:cxn modelId="{775B91F3-BFAA-4AA7-AED9-7421020AC5B8}" type="presParOf" srcId="{BF3C840F-D612-4552-8391-B7B3394BBB35}" destId="{6EE77C2D-365B-4B6A-AC97-3CE73AB38C50}" srcOrd="5" destOrd="0" presId="urn:microsoft.com/office/officeart/2005/8/layout/cycle1"/>
    <dgm:cxn modelId="{92583D9C-EA38-429A-881C-7D94BFC3DE53}" type="presParOf" srcId="{BF3C840F-D612-4552-8391-B7B3394BBB35}" destId="{2A24FAF8-02F8-4195-B922-5B898728D1C6}" srcOrd="6" destOrd="0" presId="urn:microsoft.com/office/officeart/2005/8/layout/cycle1"/>
    <dgm:cxn modelId="{6FDB6876-7773-44FA-BDFD-E96D6A820F00}" type="presParOf" srcId="{BF3C840F-D612-4552-8391-B7B3394BBB35}" destId="{3AD13B9A-54EC-449D-9CBD-41B841304E66}" srcOrd="7" destOrd="0" presId="urn:microsoft.com/office/officeart/2005/8/layout/cycle1"/>
    <dgm:cxn modelId="{E6010BAA-3277-4D9D-8335-828ADC0B70FE}" type="presParOf" srcId="{BF3C840F-D612-4552-8391-B7B3394BBB35}" destId="{3EE47FB7-62F2-450D-8FA7-FAAC2F84A887}" srcOrd="8" destOrd="0" presId="urn:microsoft.com/office/officeart/2005/8/layout/cycle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00809B0-B24F-4B95-83CE-81B69E268C82}"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2551FC6C-AB36-4FCA-A6F0-FF036BDF20D0}">
      <dgm:prSet/>
      <dgm:spPr/>
      <dgm:t>
        <a:bodyPr/>
        <a:lstStyle/>
        <a:p>
          <a:r>
            <a:rPr lang="en-US"/>
            <a:t>Best case: easiest input</a:t>
          </a:r>
        </a:p>
      </dgm:t>
    </dgm:pt>
    <dgm:pt modelId="{2EF820A1-B3E1-4499-A92E-D28C087BC7D2}" type="parTrans" cxnId="{2AE84922-C32A-4825-980B-C7C06F77338A}">
      <dgm:prSet/>
      <dgm:spPr/>
      <dgm:t>
        <a:bodyPr/>
        <a:lstStyle/>
        <a:p>
          <a:endParaRPr lang="en-US"/>
        </a:p>
      </dgm:t>
    </dgm:pt>
    <dgm:pt modelId="{757A5F03-E0A7-40D9-BB17-8A2FB6252F1D}" type="sibTrans" cxnId="{2AE84922-C32A-4825-980B-C7C06F77338A}">
      <dgm:prSet phldrT="1" phldr="0"/>
      <dgm:spPr/>
      <dgm:t>
        <a:bodyPr/>
        <a:lstStyle/>
        <a:p>
          <a:r>
            <a:rPr lang="en-US"/>
            <a:t>1</a:t>
          </a:r>
        </a:p>
      </dgm:t>
    </dgm:pt>
    <dgm:pt modelId="{EBEAF038-B206-4999-A702-34EE8C536E4B}">
      <dgm:prSet/>
      <dgm:spPr/>
      <dgm:t>
        <a:bodyPr/>
        <a:lstStyle/>
        <a:p>
          <a:r>
            <a:rPr lang="en-US"/>
            <a:t>Worst case: hardest input</a:t>
          </a:r>
        </a:p>
      </dgm:t>
    </dgm:pt>
    <dgm:pt modelId="{C976D7FC-A403-45EF-B5BA-79F8D297E87B}" type="parTrans" cxnId="{7958DB7B-6F15-487A-80E7-A06A81BDF117}">
      <dgm:prSet/>
      <dgm:spPr/>
      <dgm:t>
        <a:bodyPr/>
        <a:lstStyle/>
        <a:p>
          <a:endParaRPr lang="en-US"/>
        </a:p>
      </dgm:t>
    </dgm:pt>
    <dgm:pt modelId="{C3DE2A37-8A98-4EFD-AF2E-D7A3EFDC6FD5}" type="sibTrans" cxnId="{7958DB7B-6F15-487A-80E7-A06A81BDF117}">
      <dgm:prSet phldrT="2" phldr="0"/>
      <dgm:spPr/>
      <dgm:t>
        <a:bodyPr/>
        <a:lstStyle/>
        <a:p>
          <a:r>
            <a:rPr lang="en-US"/>
            <a:t>2</a:t>
          </a:r>
        </a:p>
      </dgm:t>
    </dgm:pt>
    <dgm:pt modelId="{4CF99108-BC64-43F0-A1E2-81F311B245AE}">
      <dgm:prSet/>
      <dgm:spPr/>
      <dgm:t>
        <a:bodyPr/>
        <a:lstStyle/>
        <a:p>
          <a:r>
            <a:rPr lang="en-US"/>
            <a:t>Average case: typical input</a:t>
          </a:r>
        </a:p>
      </dgm:t>
    </dgm:pt>
    <dgm:pt modelId="{83DC0E94-E979-48DC-9AEE-29DE5357CD9E}" type="parTrans" cxnId="{0DE79D00-3BDB-4F30-BF12-94481F6ADD8A}">
      <dgm:prSet/>
      <dgm:spPr/>
      <dgm:t>
        <a:bodyPr/>
        <a:lstStyle/>
        <a:p>
          <a:endParaRPr lang="en-US"/>
        </a:p>
      </dgm:t>
    </dgm:pt>
    <dgm:pt modelId="{AED65359-BA3B-4354-A95E-113B7F8F2BC9}" type="sibTrans" cxnId="{0DE79D00-3BDB-4F30-BF12-94481F6ADD8A}">
      <dgm:prSet phldrT="3" phldr="0"/>
      <dgm:spPr/>
      <dgm:t>
        <a:bodyPr/>
        <a:lstStyle/>
        <a:p>
          <a:r>
            <a:rPr lang="en-US"/>
            <a:t>3</a:t>
          </a:r>
        </a:p>
      </dgm:t>
    </dgm:pt>
    <dgm:pt modelId="{36E2F8CF-C989-47AF-92B9-657209DADD67}" type="pres">
      <dgm:prSet presAssocID="{400809B0-B24F-4B95-83CE-81B69E268C82}" presName="Name0" presStyleCnt="0">
        <dgm:presLayoutVars>
          <dgm:animLvl val="lvl"/>
          <dgm:resizeHandles val="exact"/>
        </dgm:presLayoutVars>
      </dgm:prSet>
      <dgm:spPr/>
    </dgm:pt>
    <dgm:pt modelId="{DCADEC10-45A0-4918-983C-B4AE4A473C41}" type="pres">
      <dgm:prSet presAssocID="{2551FC6C-AB36-4FCA-A6F0-FF036BDF20D0}" presName="compositeNode" presStyleCnt="0">
        <dgm:presLayoutVars>
          <dgm:bulletEnabled val="1"/>
        </dgm:presLayoutVars>
      </dgm:prSet>
      <dgm:spPr/>
    </dgm:pt>
    <dgm:pt modelId="{7F6C2368-FC75-4537-9AAE-6F5D9D7E497D}" type="pres">
      <dgm:prSet presAssocID="{2551FC6C-AB36-4FCA-A6F0-FF036BDF20D0}" presName="bgRect" presStyleLbl="bgAccFollowNode1" presStyleIdx="0" presStyleCnt="3"/>
      <dgm:spPr/>
    </dgm:pt>
    <dgm:pt modelId="{02F9880D-EB01-42BE-B42D-33C046D57143}" type="pres">
      <dgm:prSet presAssocID="{757A5F03-E0A7-40D9-BB17-8A2FB6252F1D}" presName="sibTransNodeCircle" presStyleLbl="alignNode1" presStyleIdx="0" presStyleCnt="6">
        <dgm:presLayoutVars>
          <dgm:chMax val="0"/>
          <dgm:bulletEnabled/>
        </dgm:presLayoutVars>
      </dgm:prSet>
      <dgm:spPr/>
    </dgm:pt>
    <dgm:pt modelId="{003332DA-974F-4424-A1A5-1796FE201E28}" type="pres">
      <dgm:prSet presAssocID="{2551FC6C-AB36-4FCA-A6F0-FF036BDF20D0}" presName="bottomLine" presStyleLbl="alignNode1" presStyleIdx="1" presStyleCnt="6">
        <dgm:presLayoutVars/>
      </dgm:prSet>
      <dgm:spPr/>
    </dgm:pt>
    <dgm:pt modelId="{0AD838C7-EF39-4649-8D48-67B58BCA06FD}" type="pres">
      <dgm:prSet presAssocID="{2551FC6C-AB36-4FCA-A6F0-FF036BDF20D0}" presName="nodeText" presStyleLbl="bgAccFollowNode1" presStyleIdx="0" presStyleCnt="3">
        <dgm:presLayoutVars>
          <dgm:bulletEnabled val="1"/>
        </dgm:presLayoutVars>
      </dgm:prSet>
      <dgm:spPr/>
    </dgm:pt>
    <dgm:pt modelId="{E3BB1C6B-6CE8-4B0F-9F5F-18F67C4AF4C6}" type="pres">
      <dgm:prSet presAssocID="{757A5F03-E0A7-40D9-BB17-8A2FB6252F1D}" presName="sibTrans" presStyleCnt="0"/>
      <dgm:spPr/>
    </dgm:pt>
    <dgm:pt modelId="{B7E22D3F-5562-4F12-B24E-6E1D98DE1BD6}" type="pres">
      <dgm:prSet presAssocID="{EBEAF038-B206-4999-A702-34EE8C536E4B}" presName="compositeNode" presStyleCnt="0">
        <dgm:presLayoutVars>
          <dgm:bulletEnabled val="1"/>
        </dgm:presLayoutVars>
      </dgm:prSet>
      <dgm:spPr/>
    </dgm:pt>
    <dgm:pt modelId="{19C42AE6-B930-4663-833F-FBEF63791F65}" type="pres">
      <dgm:prSet presAssocID="{EBEAF038-B206-4999-A702-34EE8C536E4B}" presName="bgRect" presStyleLbl="bgAccFollowNode1" presStyleIdx="1" presStyleCnt="3"/>
      <dgm:spPr/>
    </dgm:pt>
    <dgm:pt modelId="{1B2CF7AA-2A13-449B-9B27-21DC094BB8B5}" type="pres">
      <dgm:prSet presAssocID="{C3DE2A37-8A98-4EFD-AF2E-D7A3EFDC6FD5}" presName="sibTransNodeCircle" presStyleLbl="alignNode1" presStyleIdx="2" presStyleCnt="6">
        <dgm:presLayoutVars>
          <dgm:chMax val="0"/>
          <dgm:bulletEnabled/>
        </dgm:presLayoutVars>
      </dgm:prSet>
      <dgm:spPr/>
    </dgm:pt>
    <dgm:pt modelId="{CC9C8569-F53E-4DED-8D43-F1B68BF8A259}" type="pres">
      <dgm:prSet presAssocID="{EBEAF038-B206-4999-A702-34EE8C536E4B}" presName="bottomLine" presStyleLbl="alignNode1" presStyleIdx="3" presStyleCnt="6">
        <dgm:presLayoutVars/>
      </dgm:prSet>
      <dgm:spPr/>
    </dgm:pt>
    <dgm:pt modelId="{0BE9F25D-F32F-4866-A76D-50219E80150B}" type="pres">
      <dgm:prSet presAssocID="{EBEAF038-B206-4999-A702-34EE8C536E4B}" presName="nodeText" presStyleLbl="bgAccFollowNode1" presStyleIdx="1" presStyleCnt="3">
        <dgm:presLayoutVars>
          <dgm:bulletEnabled val="1"/>
        </dgm:presLayoutVars>
      </dgm:prSet>
      <dgm:spPr/>
    </dgm:pt>
    <dgm:pt modelId="{6E21F68F-F336-498A-9AEE-8AE2EF5CBF25}" type="pres">
      <dgm:prSet presAssocID="{C3DE2A37-8A98-4EFD-AF2E-D7A3EFDC6FD5}" presName="sibTrans" presStyleCnt="0"/>
      <dgm:spPr/>
    </dgm:pt>
    <dgm:pt modelId="{C950A7DD-9FD6-4C73-B16E-670548597B51}" type="pres">
      <dgm:prSet presAssocID="{4CF99108-BC64-43F0-A1E2-81F311B245AE}" presName="compositeNode" presStyleCnt="0">
        <dgm:presLayoutVars>
          <dgm:bulletEnabled val="1"/>
        </dgm:presLayoutVars>
      </dgm:prSet>
      <dgm:spPr/>
    </dgm:pt>
    <dgm:pt modelId="{62E5F499-C48C-4BDE-ACED-FC8B52655A21}" type="pres">
      <dgm:prSet presAssocID="{4CF99108-BC64-43F0-A1E2-81F311B245AE}" presName="bgRect" presStyleLbl="bgAccFollowNode1" presStyleIdx="2" presStyleCnt="3"/>
      <dgm:spPr/>
    </dgm:pt>
    <dgm:pt modelId="{F798C07D-4DB4-4236-B5B2-9641AFEE5CC8}" type="pres">
      <dgm:prSet presAssocID="{AED65359-BA3B-4354-A95E-113B7F8F2BC9}" presName="sibTransNodeCircle" presStyleLbl="alignNode1" presStyleIdx="4" presStyleCnt="6">
        <dgm:presLayoutVars>
          <dgm:chMax val="0"/>
          <dgm:bulletEnabled/>
        </dgm:presLayoutVars>
      </dgm:prSet>
      <dgm:spPr/>
    </dgm:pt>
    <dgm:pt modelId="{68F835FC-C1E0-40EE-B9AD-CEAD98D035B2}" type="pres">
      <dgm:prSet presAssocID="{4CF99108-BC64-43F0-A1E2-81F311B245AE}" presName="bottomLine" presStyleLbl="alignNode1" presStyleIdx="5" presStyleCnt="6">
        <dgm:presLayoutVars/>
      </dgm:prSet>
      <dgm:spPr/>
    </dgm:pt>
    <dgm:pt modelId="{CC4400AD-B753-444D-9860-338766C98CAF}" type="pres">
      <dgm:prSet presAssocID="{4CF99108-BC64-43F0-A1E2-81F311B245AE}" presName="nodeText" presStyleLbl="bgAccFollowNode1" presStyleIdx="2" presStyleCnt="3">
        <dgm:presLayoutVars>
          <dgm:bulletEnabled val="1"/>
        </dgm:presLayoutVars>
      </dgm:prSet>
      <dgm:spPr/>
    </dgm:pt>
  </dgm:ptLst>
  <dgm:cxnLst>
    <dgm:cxn modelId="{0DE79D00-3BDB-4F30-BF12-94481F6ADD8A}" srcId="{400809B0-B24F-4B95-83CE-81B69E268C82}" destId="{4CF99108-BC64-43F0-A1E2-81F311B245AE}" srcOrd="2" destOrd="0" parTransId="{83DC0E94-E979-48DC-9AEE-29DE5357CD9E}" sibTransId="{AED65359-BA3B-4354-A95E-113B7F8F2BC9}"/>
    <dgm:cxn modelId="{2AE84922-C32A-4825-980B-C7C06F77338A}" srcId="{400809B0-B24F-4B95-83CE-81B69E268C82}" destId="{2551FC6C-AB36-4FCA-A6F0-FF036BDF20D0}" srcOrd="0" destOrd="0" parTransId="{2EF820A1-B3E1-4499-A92E-D28C087BC7D2}" sibTransId="{757A5F03-E0A7-40D9-BB17-8A2FB6252F1D}"/>
    <dgm:cxn modelId="{B286A63A-642B-4766-B4E1-54EAB7F9351E}" type="presOf" srcId="{C3DE2A37-8A98-4EFD-AF2E-D7A3EFDC6FD5}" destId="{1B2CF7AA-2A13-449B-9B27-21DC094BB8B5}" srcOrd="0" destOrd="0" presId="urn:microsoft.com/office/officeart/2016/7/layout/BasicLinearProcessNumbered"/>
    <dgm:cxn modelId="{1D4EB84E-1178-41FD-9316-751AAAEFEE62}" type="presOf" srcId="{EBEAF038-B206-4999-A702-34EE8C536E4B}" destId="{19C42AE6-B930-4663-833F-FBEF63791F65}" srcOrd="0" destOrd="0" presId="urn:microsoft.com/office/officeart/2016/7/layout/BasicLinearProcessNumbered"/>
    <dgm:cxn modelId="{1E530D50-92A4-4175-824E-04FFD4101547}" type="presOf" srcId="{400809B0-B24F-4B95-83CE-81B69E268C82}" destId="{36E2F8CF-C989-47AF-92B9-657209DADD67}" srcOrd="0" destOrd="0" presId="urn:microsoft.com/office/officeart/2016/7/layout/BasicLinearProcessNumbered"/>
    <dgm:cxn modelId="{64D21559-2495-4B45-B78E-08A53A07E487}" type="presOf" srcId="{AED65359-BA3B-4354-A95E-113B7F8F2BC9}" destId="{F798C07D-4DB4-4236-B5B2-9641AFEE5CC8}" srcOrd="0" destOrd="0" presId="urn:microsoft.com/office/officeart/2016/7/layout/BasicLinearProcessNumbered"/>
    <dgm:cxn modelId="{7958DB7B-6F15-487A-80E7-A06A81BDF117}" srcId="{400809B0-B24F-4B95-83CE-81B69E268C82}" destId="{EBEAF038-B206-4999-A702-34EE8C536E4B}" srcOrd="1" destOrd="0" parTransId="{C976D7FC-A403-45EF-B5BA-79F8D297E87B}" sibTransId="{C3DE2A37-8A98-4EFD-AF2E-D7A3EFDC6FD5}"/>
    <dgm:cxn modelId="{17B85D7C-30EE-4C64-B377-D291A7DA57EA}" type="presOf" srcId="{2551FC6C-AB36-4FCA-A6F0-FF036BDF20D0}" destId="{7F6C2368-FC75-4537-9AAE-6F5D9D7E497D}" srcOrd="0" destOrd="0" presId="urn:microsoft.com/office/officeart/2016/7/layout/BasicLinearProcessNumbered"/>
    <dgm:cxn modelId="{1741247E-95B2-4EDF-B382-EB031748169D}" type="presOf" srcId="{4CF99108-BC64-43F0-A1E2-81F311B245AE}" destId="{62E5F499-C48C-4BDE-ACED-FC8B52655A21}" srcOrd="0" destOrd="0" presId="urn:microsoft.com/office/officeart/2016/7/layout/BasicLinearProcessNumbered"/>
    <dgm:cxn modelId="{E1E9607F-39B3-4811-9F64-C3178D7C4FAD}" type="presOf" srcId="{4CF99108-BC64-43F0-A1E2-81F311B245AE}" destId="{CC4400AD-B753-444D-9860-338766C98CAF}" srcOrd="1" destOrd="0" presId="urn:microsoft.com/office/officeart/2016/7/layout/BasicLinearProcessNumbered"/>
    <dgm:cxn modelId="{9492849A-58C0-4753-B393-527851E23763}" type="presOf" srcId="{2551FC6C-AB36-4FCA-A6F0-FF036BDF20D0}" destId="{0AD838C7-EF39-4649-8D48-67B58BCA06FD}" srcOrd="1" destOrd="0" presId="urn:microsoft.com/office/officeart/2016/7/layout/BasicLinearProcessNumbered"/>
    <dgm:cxn modelId="{CB66DFF7-349F-4BD2-B51D-B4A2B2D56F76}" type="presOf" srcId="{757A5F03-E0A7-40D9-BB17-8A2FB6252F1D}" destId="{02F9880D-EB01-42BE-B42D-33C046D57143}" srcOrd="0" destOrd="0" presId="urn:microsoft.com/office/officeart/2016/7/layout/BasicLinearProcessNumbered"/>
    <dgm:cxn modelId="{F1837CFF-A87E-4002-AEBC-ABA6AB04CAE0}" type="presOf" srcId="{EBEAF038-B206-4999-A702-34EE8C536E4B}" destId="{0BE9F25D-F32F-4866-A76D-50219E80150B}" srcOrd="1" destOrd="0" presId="urn:microsoft.com/office/officeart/2016/7/layout/BasicLinearProcessNumbered"/>
    <dgm:cxn modelId="{60051C11-0CF8-41BF-9687-0AE77D59CDDC}" type="presParOf" srcId="{36E2F8CF-C989-47AF-92B9-657209DADD67}" destId="{DCADEC10-45A0-4918-983C-B4AE4A473C41}" srcOrd="0" destOrd="0" presId="urn:microsoft.com/office/officeart/2016/7/layout/BasicLinearProcessNumbered"/>
    <dgm:cxn modelId="{9B36F212-4A7F-4A9A-831C-70E938516448}" type="presParOf" srcId="{DCADEC10-45A0-4918-983C-B4AE4A473C41}" destId="{7F6C2368-FC75-4537-9AAE-6F5D9D7E497D}" srcOrd="0" destOrd="0" presId="urn:microsoft.com/office/officeart/2016/7/layout/BasicLinearProcessNumbered"/>
    <dgm:cxn modelId="{F6A34C99-507E-4305-89B4-6512A2207541}" type="presParOf" srcId="{DCADEC10-45A0-4918-983C-B4AE4A473C41}" destId="{02F9880D-EB01-42BE-B42D-33C046D57143}" srcOrd="1" destOrd="0" presId="urn:microsoft.com/office/officeart/2016/7/layout/BasicLinearProcessNumbered"/>
    <dgm:cxn modelId="{C9AF4C23-76BA-47E7-9081-0A35E982AD46}" type="presParOf" srcId="{DCADEC10-45A0-4918-983C-B4AE4A473C41}" destId="{003332DA-974F-4424-A1A5-1796FE201E28}" srcOrd="2" destOrd="0" presId="urn:microsoft.com/office/officeart/2016/7/layout/BasicLinearProcessNumbered"/>
    <dgm:cxn modelId="{BCFF00E2-3917-4733-835D-E7DADEED37E3}" type="presParOf" srcId="{DCADEC10-45A0-4918-983C-B4AE4A473C41}" destId="{0AD838C7-EF39-4649-8D48-67B58BCA06FD}" srcOrd="3" destOrd="0" presId="urn:microsoft.com/office/officeart/2016/7/layout/BasicLinearProcessNumbered"/>
    <dgm:cxn modelId="{CFD86589-F920-4B21-AC5D-1DA270BB32DE}" type="presParOf" srcId="{36E2F8CF-C989-47AF-92B9-657209DADD67}" destId="{E3BB1C6B-6CE8-4B0F-9F5F-18F67C4AF4C6}" srcOrd="1" destOrd="0" presId="urn:microsoft.com/office/officeart/2016/7/layout/BasicLinearProcessNumbered"/>
    <dgm:cxn modelId="{F4FF70CE-F8BA-4645-995C-C10CD0F4E3DE}" type="presParOf" srcId="{36E2F8CF-C989-47AF-92B9-657209DADD67}" destId="{B7E22D3F-5562-4F12-B24E-6E1D98DE1BD6}" srcOrd="2" destOrd="0" presId="urn:microsoft.com/office/officeart/2016/7/layout/BasicLinearProcessNumbered"/>
    <dgm:cxn modelId="{D51F892C-EC7E-4DC2-900D-B35096ED9D8E}" type="presParOf" srcId="{B7E22D3F-5562-4F12-B24E-6E1D98DE1BD6}" destId="{19C42AE6-B930-4663-833F-FBEF63791F65}" srcOrd="0" destOrd="0" presId="urn:microsoft.com/office/officeart/2016/7/layout/BasicLinearProcessNumbered"/>
    <dgm:cxn modelId="{D159DE3A-5753-499C-B0E7-9545CBDB2C59}" type="presParOf" srcId="{B7E22D3F-5562-4F12-B24E-6E1D98DE1BD6}" destId="{1B2CF7AA-2A13-449B-9B27-21DC094BB8B5}" srcOrd="1" destOrd="0" presId="urn:microsoft.com/office/officeart/2016/7/layout/BasicLinearProcessNumbered"/>
    <dgm:cxn modelId="{54D431E0-FCBE-4A29-9877-86CEEBA4E86C}" type="presParOf" srcId="{B7E22D3F-5562-4F12-B24E-6E1D98DE1BD6}" destId="{CC9C8569-F53E-4DED-8D43-F1B68BF8A259}" srcOrd="2" destOrd="0" presId="urn:microsoft.com/office/officeart/2016/7/layout/BasicLinearProcessNumbered"/>
    <dgm:cxn modelId="{31658150-E6ED-44F3-AD80-C232FF4BAC96}" type="presParOf" srcId="{B7E22D3F-5562-4F12-B24E-6E1D98DE1BD6}" destId="{0BE9F25D-F32F-4866-A76D-50219E80150B}" srcOrd="3" destOrd="0" presId="urn:microsoft.com/office/officeart/2016/7/layout/BasicLinearProcessNumbered"/>
    <dgm:cxn modelId="{A6111436-4E68-405B-89AD-09B1125F126F}" type="presParOf" srcId="{36E2F8CF-C989-47AF-92B9-657209DADD67}" destId="{6E21F68F-F336-498A-9AEE-8AE2EF5CBF25}" srcOrd="3" destOrd="0" presId="urn:microsoft.com/office/officeart/2016/7/layout/BasicLinearProcessNumbered"/>
    <dgm:cxn modelId="{BE8FE7E2-13D7-4593-90E3-96241D61DC63}" type="presParOf" srcId="{36E2F8CF-C989-47AF-92B9-657209DADD67}" destId="{C950A7DD-9FD6-4C73-B16E-670548597B51}" srcOrd="4" destOrd="0" presId="urn:microsoft.com/office/officeart/2016/7/layout/BasicLinearProcessNumbered"/>
    <dgm:cxn modelId="{6678334F-19EE-49D0-9FB4-F42339CF1693}" type="presParOf" srcId="{C950A7DD-9FD6-4C73-B16E-670548597B51}" destId="{62E5F499-C48C-4BDE-ACED-FC8B52655A21}" srcOrd="0" destOrd="0" presId="urn:microsoft.com/office/officeart/2016/7/layout/BasicLinearProcessNumbered"/>
    <dgm:cxn modelId="{E6A1D533-7C5E-4F8F-B84A-0E9FC68CA225}" type="presParOf" srcId="{C950A7DD-9FD6-4C73-B16E-670548597B51}" destId="{F798C07D-4DB4-4236-B5B2-9641AFEE5CC8}" srcOrd="1" destOrd="0" presId="urn:microsoft.com/office/officeart/2016/7/layout/BasicLinearProcessNumbered"/>
    <dgm:cxn modelId="{8F65D297-AF73-4909-9CD7-379BC163AA3F}" type="presParOf" srcId="{C950A7DD-9FD6-4C73-B16E-670548597B51}" destId="{68F835FC-C1E0-40EE-B9AD-CEAD98D035B2}" srcOrd="2" destOrd="0" presId="urn:microsoft.com/office/officeart/2016/7/layout/BasicLinearProcessNumbered"/>
    <dgm:cxn modelId="{FB172128-53B4-4186-A4D4-3384A21FDFF1}" type="presParOf" srcId="{C950A7DD-9FD6-4C73-B16E-670548597B51}" destId="{CC4400AD-B753-444D-9860-338766C98CAF}"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861893D-9D7D-4ECB-A2B9-6160A4C1A5C0}"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010AD9AF-D925-40C4-B933-B5E77C84856C}">
      <dgm:prSet/>
      <dgm:spPr/>
      <dgm:t>
        <a:bodyPr/>
        <a:lstStyle/>
        <a:p>
          <a:r>
            <a:rPr lang="en-US" dirty="0"/>
            <a:t>Correctness</a:t>
          </a:r>
        </a:p>
      </dgm:t>
    </dgm:pt>
    <dgm:pt modelId="{A9800712-456B-4942-909D-116BD87A6E69}" type="parTrans" cxnId="{1EC64207-5DBB-4817-869F-F7EC96EB6E3B}">
      <dgm:prSet/>
      <dgm:spPr/>
      <dgm:t>
        <a:bodyPr/>
        <a:lstStyle/>
        <a:p>
          <a:endParaRPr lang="en-US"/>
        </a:p>
      </dgm:t>
    </dgm:pt>
    <dgm:pt modelId="{59A710E7-BBEA-4F64-A521-ECA389DBE9D5}" type="sibTrans" cxnId="{1EC64207-5DBB-4817-869F-F7EC96EB6E3B}">
      <dgm:prSet/>
      <dgm:spPr/>
      <dgm:t>
        <a:bodyPr/>
        <a:lstStyle/>
        <a:p>
          <a:endParaRPr lang="en-US"/>
        </a:p>
      </dgm:t>
    </dgm:pt>
    <dgm:pt modelId="{7F4F3341-BE53-4665-89CE-EEA5807C3587}">
      <dgm:prSet/>
      <dgm:spPr/>
      <dgm:t>
        <a:bodyPr/>
        <a:lstStyle/>
        <a:p>
          <a:r>
            <a:rPr lang="en-US" dirty="0"/>
            <a:t>Understandability</a:t>
          </a:r>
        </a:p>
      </dgm:t>
    </dgm:pt>
    <dgm:pt modelId="{A8B38365-7865-4F15-8402-7F6FBBC47712}" type="parTrans" cxnId="{00A23DC3-A8C6-4698-BEC2-A927F9889999}">
      <dgm:prSet/>
      <dgm:spPr/>
      <dgm:t>
        <a:bodyPr/>
        <a:lstStyle/>
        <a:p>
          <a:endParaRPr lang="en-US"/>
        </a:p>
      </dgm:t>
    </dgm:pt>
    <dgm:pt modelId="{728EEDF0-25F9-4CBC-9A0A-367D5A0D02A9}" type="sibTrans" cxnId="{00A23DC3-A8C6-4698-BEC2-A927F9889999}">
      <dgm:prSet/>
      <dgm:spPr/>
      <dgm:t>
        <a:bodyPr/>
        <a:lstStyle/>
        <a:p>
          <a:endParaRPr lang="en-US"/>
        </a:p>
      </dgm:t>
    </dgm:pt>
    <dgm:pt modelId="{029B83EB-7EE4-4809-941F-1D863CCA5BC7}">
      <dgm:prSet/>
      <dgm:spPr/>
      <dgm:t>
        <a:bodyPr/>
        <a:lstStyle/>
        <a:p>
          <a:r>
            <a:rPr lang="en-US" dirty="0"/>
            <a:t>Efficiency</a:t>
          </a:r>
        </a:p>
      </dgm:t>
    </dgm:pt>
    <dgm:pt modelId="{29546186-478A-450F-B2C6-EDA8BAB9A79B}" type="parTrans" cxnId="{16A1ADDE-EC3E-4F5B-9D6D-4003CBE1DC0C}">
      <dgm:prSet/>
      <dgm:spPr/>
      <dgm:t>
        <a:bodyPr/>
        <a:lstStyle/>
        <a:p>
          <a:endParaRPr lang="en-US"/>
        </a:p>
      </dgm:t>
    </dgm:pt>
    <dgm:pt modelId="{428414BE-1917-4B97-9B06-FF0E0D12A18C}" type="sibTrans" cxnId="{16A1ADDE-EC3E-4F5B-9D6D-4003CBE1DC0C}">
      <dgm:prSet/>
      <dgm:spPr/>
      <dgm:t>
        <a:bodyPr/>
        <a:lstStyle/>
        <a:p>
          <a:endParaRPr lang="en-US"/>
        </a:p>
      </dgm:t>
    </dgm:pt>
    <dgm:pt modelId="{B77E8459-20B9-4FC1-A5E7-6E235E4ABD43}">
      <dgm:prSet/>
      <dgm:spPr/>
      <dgm:t>
        <a:bodyPr/>
        <a:lstStyle/>
        <a:p>
          <a:r>
            <a:rPr lang="en-US" dirty="0"/>
            <a:t>Memory use</a:t>
          </a:r>
        </a:p>
      </dgm:t>
    </dgm:pt>
    <dgm:pt modelId="{74B82030-6048-46E0-80A9-BE7CDE00E111}" type="parTrans" cxnId="{EAA575D6-985C-41E5-8ADE-2CE5C0B88EF5}">
      <dgm:prSet/>
      <dgm:spPr/>
      <dgm:t>
        <a:bodyPr/>
        <a:lstStyle/>
        <a:p>
          <a:endParaRPr lang="en-US"/>
        </a:p>
      </dgm:t>
    </dgm:pt>
    <dgm:pt modelId="{833FF3CE-9AA8-4AD2-B1F4-BB01880237B4}" type="sibTrans" cxnId="{EAA575D6-985C-41E5-8ADE-2CE5C0B88EF5}">
      <dgm:prSet/>
      <dgm:spPr/>
      <dgm:t>
        <a:bodyPr/>
        <a:lstStyle/>
        <a:p>
          <a:endParaRPr lang="en-US"/>
        </a:p>
      </dgm:t>
    </dgm:pt>
    <dgm:pt modelId="{20A412ED-80F3-4E98-9295-B373779C691B}">
      <dgm:prSet/>
      <dgm:spPr/>
      <dgm:t>
        <a:bodyPr/>
        <a:lstStyle/>
        <a:p>
          <a:r>
            <a:rPr lang="en-US" dirty="0"/>
            <a:t>Data size</a:t>
          </a:r>
        </a:p>
      </dgm:t>
    </dgm:pt>
    <dgm:pt modelId="{90547729-366F-4B39-8494-E33C3779324E}" type="parTrans" cxnId="{05F9CB15-4E24-4AA9-BEDA-CC85143CC845}">
      <dgm:prSet/>
      <dgm:spPr/>
      <dgm:t>
        <a:bodyPr/>
        <a:lstStyle/>
        <a:p>
          <a:endParaRPr lang="en-US"/>
        </a:p>
      </dgm:t>
    </dgm:pt>
    <dgm:pt modelId="{F3B507A7-46C4-4688-A075-59BD7CE4913B}" type="sibTrans" cxnId="{05F9CB15-4E24-4AA9-BEDA-CC85143CC845}">
      <dgm:prSet/>
      <dgm:spPr/>
      <dgm:t>
        <a:bodyPr/>
        <a:lstStyle/>
        <a:p>
          <a:endParaRPr lang="en-US"/>
        </a:p>
      </dgm:t>
    </dgm:pt>
    <dgm:pt modelId="{F95726B7-C191-432A-9E56-9EE4328B78C6}">
      <dgm:prSet/>
      <dgm:spPr/>
      <dgm:t>
        <a:bodyPr/>
        <a:lstStyle/>
        <a:p>
          <a:r>
            <a:rPr lang="en-US" dirty="0"/>
            <a:t>Explainability</a:t>
          </a:r>
        </a:p>
      </dgm:t>
    </dgm:pt>
    <dgm:pt modelId="{78FB7CA6-97A1-4B5D-9120-5BD9915B6727}" type="parTrans" cxnId="{63A32F62-103F-4FC3-AD1F-17A36CAF77AB}">
      <dgm:prSet/>
      <dgm:spPr/>
      <dgm:t>
        <a:bodyPr/>
        <a:lstStyle/>
        <a:p>
          <a:endParaRPr lang="en-US"/>
        </a:p>
      </dgm:t>
    </dgm:pt>
    <dgm:pt modelId="{E5DD05E8-0EFC-49C2-B8E3-F5364C55D9D1}" type="sibTrans" cxnId="{63A32F62-103F-4FC3-AD1F-17A36CAF77AB}">
      <dgm:prSet/>
      <dgm:spPr/>
      <dgm:t>
        <a:bodyPr/>
        <a:lstStyle/>
        <a:p>
          <a:endParaRPr lang="en-US"/>
        </a:p>
      </dgm:t>
    </dgm:pt>
    <dgm:pt modelId="{89926656-3928-4D57-BB47-2B15843F3359}" type="pres">
      <dgm:prSet presAssocID="{D861893D-9D7D-4ECB-A2B9-6160A4C1A5C0}" presName="linear" presStyleCnt="0">
        <dgm:presLayoutVars>
          <dgm:animLvl val="lvl"/>
          <dgm:resizeHandles val="exact"/>
        </dgm:presLayoutVars>
      </dgm:prSet>
      <dgm:spPr/>
    </dgm:pt>
    <dgm:pt modelId="{4D1ECB36-4A9A-4D1E-9986-23D486B238F3}" type="pres">
      <dgm:prSet presAssocID="{010AD9AF-D925-40C4-B933-B5E77C84856C}" presName="parentText" presStyleLbl="node1" presStyleIdx="0" presStyleCnt="6">
        <dgm:presLayoutVars>
          <dgm:chMax val="0"/>
          <dgm:bulletEnabled val="1"/>
        </dgm:presLayoutVars>
      </dgm:prSet>
      <dgm:spPr/>
    </dgm:pt>
    <dgm:pt modelId="{E4BBB8BD-3FCB-41E7-9D48-A066BF353D52}" type="pres">
      <dgm:prSet presAssocID="{59A710E7-BBEA-4F64-A521-ECA389DBE9D5}" presName="spacer" presStyleCnt="0"/>
      <dgm:spPr/>
    </dgm:pt>
    <dgm:pt modelId="{E793CCA9-EFBA-4842-8BE1-25026B038A3B}" type="pres">
      <dgm:prSet presAssocID="{7F4F3341-BE53-4665-89CE-EEA5807C3587}" presName="parentText" presStyleLbl="node1" presStyleIdx="1" presStyleCnt="6">
        <dgm:presLayoutVars>
          <dgm:chMax val="0"/>
          <dgm:bulletEnabled val="1"/>
        </dgm:presLayoutVars>
      </dgm:prSet>
      <dgm:spPr/>
    </dgm:pt>
    <dgm:pt modelId="{C1F98870-1C74-4D0E-9C51-8CDE6FE7E9C7}" type="pres">
      <dgm:prSet presAssocID="{728EEDF0-25F9-4CBC-9A0A-367D5A0D02A9}" presName="spacer" presStyleCnt="0"/>
      <dgm:spPr/>
    </dgm:pt>
    <dgm:pt modelId="{3845985A-4933-487F-A3DF-C29DA27E4368}" type="pres">
      <dgm:prSet presAssocID="{029B83EB-7EE4-4809-941F-1D863CCA5BC7}" presName="parentText" presStyleLbl="node1" presStyleIdx="2" presStyleCnt="6">
        <dgm:presLayoutVars>
          <dgm:chMax val="0"/>
          <dgm:bulletEnabled val="1"/>
        </dgm:presLayoutVars>
      </dgm:prSet>
      <dgm:spPr/>
    </dgm:pt>
    <dgm:pt modelId="{A3EC3E1E-2865-4B36-A816-DB726E540F26}" type="pres">
      <dgm:prSet presAssocID="{428414BE-1917-4B97-9B06-FF0E0D12A18C}" presName="spacer" presStyleCnt="0"/>
      <dgm:spPr/>
    </dgm:pt>
    <dgm:pt modelId="{131D1868-1C64-4483-84A5-AEF678C0EB1D}" type="pres">
      <dgm:prSet presAssocID="{B77E8459-20B9-4FC1-A5E7-6E235E4ABD43}" presName="parentText" presStyleLbl="node1" presStyleIdx="3" presStyleCnt="6">
        <dgm:presLayoutVars>
          <dgm:chMax val="0"/>
          <dgm:bulletEnabled val="1"/>
        </dgm:presLayoutVars>
      </dgm:prSet>
      <dgm:spPr/>
    </dgm:pt>
    <dgm:pt modelId="{DB205669-3418-49B4-9CE7-F743E4DA5880}" type="pres">
      <dgm:prSet presAssocID="{833FF3CE-9AA8-4AD2-B1F4-BB01880237B4}" presName="spacer" presStyleCnt="0"/>
      <dgm:spPr/>
    </dgm:pt>
    <dgm:pt modelId="{267D51E0-B579-45E9-9BE3-7C324B681377}" type="pres">
      <dgm:prSet presAssocID="{20A412ED-80F3-4E98-9295-B373779C691B}" presName="parentText" presStyleLbl="node1" presStyleIdx="4" presStyleCnt="6">
        <dgm:presLayoutVars>
          <dgm:chMax val="0"/>
          <dgm:bulletEnabled val="1"/>
        </dgm:presLayoutVars>
      </dgm:prSet>
      <dgm:spPr/>
    </dgm:pt>
    <dgm:pt modelId="{9EF359CD-30C1-4940-8FBD-7D58349317DE}" type="pres">
      <dgm:prSet presAssocID="{F3B507A7-46C4-4688-A075-59BD7CE4913B}" presName="spacer" presStyleCnt="0"/>
      <dgm:spPr/>
    </dgm:pt>
    <dgm:pt modelId="{EC270A9E-4A16-477F-A2C8-CB0042DA61FE}" type="pres">
      <dgm:prSet presAssocID="{F95726B7-C191-432A-9E56-9EE4328B78C6}" presName="parentText" presStyleLbl="node1" presStyleIdx="5" presStyleCnt="6">
        <dgm:presLayoutVars>
          <dgm:chMax val="0"/>
          <dgm:bulletEnabled val="1"/>
        </dgm:presLayoutVars>
      </dgm:prSet>
      <dgm:spPr/>
    </dgm:pt>
  </dgm:ptLst>
  <dgm:cxnLst>
    <dgm:cxn modelId="{1EC64207-5DBB-4817-869F-F7EC96EB6E3B}" srcId="{D861893D-9D7D-4ECB-A2B9-6160A4C1A5C0}" destId="{010AD9AF-D925-40C4-B933-B5E77C84856C}" srcOrd="0" destOrd="0" parTransId="{A9800712-456B-4942-909D-116BD87A6E69}" sibTransId="{59A710E7-BBEA-4F64-A521-ECA389DBE9D5}"/>
    <dgm:cxn modelId="{05F9CB15-4E24-4AA9-BEDA-CC85143CC845}" srcId="{D861893D-9D7D-4ECB-A2B9-6160A4C1A5C0}" destId="{20A412ED-80F3-4E98-9295-B373779C691B}" srcOrd="4" destOrd="0" parTransId="{90547729-366F-4B39-8494-E33C3779324E}" sibTransId="{F3B507A7-46C4-4688-A075-59BD7CE4913B}"/>
    <dgm:cxn modelId="{6C53F926-7413-454A-A580-FC41A5B4E76A}" type="presOf" srcId="{029B83EB-7EE4-4809-941F-1D863CCA5BC7}" destId="{3845985A-4933-487F-A3DF-C29DA27E4368}" srcOrd="0" destOrd="0" presId="urn:microsoft.com/office/officeart/2005/8/layout/vList2"/>
    <dgm:cxn modelId="{9DC89631-E9F9-47E9-B2D6-1D8DCD4DCAFB}" type="presOf" srcId="{010AD9AF-D925-40C4-B933-B5E77C84856C}" destId="{4D1ECB36-4A9A-4D1E-9986-23D486B238F3}" srcOrd="0" destOrd="0" presId="urn:microsoft.com/office/officeart/2005/8/layout/vList2"/>
    <dgm:cxn modelId="{63A32F62-103F-4FC3-AD1F-17A36CAF77AB}" srcId="{D861893D-9D7D-4ECB-A2B9-6160A4C1A5C0}" destId="{F95726B7-C191-432A-9E56-9EE4328B78C6}" srcOrd="5" destOrd="0" parTransId="{78FB7CA6-97A1-4B5D-9120-5BD9915B6727}" sibTransId="{E5DD05E8-0EFC-49C2-B8E3-F5364C55D9D1}"/>
    <dgm:cxn modelId="{13F5E570-E47C-466C-8A53-22955249417A}" type="presOf" srcId="{20A412ED-80F3-4E98-9295-B373779C691B}" destId="{267D51E0-B579-45E9-9BE3-7C324B681377}" srcOrd="0" destOrd="0" presId="urn:microsoft.com/office/officeart/2005/8/layout/vList2"/>
    <dgm:cxn modelId="{EEC185BC-A5D0-4E00-BFE5-E77352D0D2F6}" type="presOf" srcId="{F95726B7-C191-432A-9E56-9EE4328B78C6}" destId="{EC270A9E-4A16-477F-A2C8-CB0042DA61FE}" srcOrd="0" destOrd="0" presId="urn:microsoft.com/office/officeart/2005/8/layout/vList2"/>
    <dgm:cxn modelId="{00A23DC3-A8C6-4698-BEC2-A927F9889999}" srcId="{D861893D-9D7D-4ECB-A2B9-6160A4C1A5C0}" destId="{7F4F3341-BE53-4665-89CE-EEA5807C3587}" srcOrd="1" destOrd="0" parTransId="{A8B38365-7865-4F15-8402-7F6FBBC47712}" sibTransId="{728EEDF0-25F9-4CBC-9A0A-367D5A0D02A9}"/>
    <dgm:cxn modelId="{EAA575D6-985C-41E5-8ADE-2CE5C0B88EF5}" srcId="{D861893D-9D7D-4ECB-A2B9-6160A4C1A5C0}" destId="{B77E8459-20B9-4FC1-A5E7-6E235E4ABD43}" srcOrd="3" destOrd="0" parTransId="{74B82030-6048-46E0-80A9-BE7CDE00E111}" sibTransId="{833FF3CE-9AA8-4AD2-B1F4-BB01880237B4}"/>
    <dgm:cxn modelId="{16A1ADDE-EC3E-4F5B-9D6D-4003CBE1DC0C}" srcId="{D861893D-9D7D-4ECB-A2B9-6160A4C1A5C0}" destId="{029B83EB-7EE4-4809-941F-1D863CCA5BC7}" srcOrd="2" destOrd="0" parTransId="{29546186-478A-450F-B2C6-EDA8BAB9A79B}" sibTransId="{428414BE-1917-4B97-9B06-FF0E0D12A18C}"/>
    <dgm:cxn modelId="{65A5CCE7-C904-4BA1-A230-4A5962C96FCC}" type="presOf" srcId="{B77E8459-20B9-4FC1-A5E7-6E235E4ABD43}" destId="{131D1868-1C64-4483-84A5-AEF678C0EB1D}" srcOrd="0" destOrd="0" presId="urn:microsoft.com/office/officeart/2005/8/layout/vList2"/>
    <dgm:cxn modelId="{FB5FA1EA-587B-435C-B531-04B2931CA079}" type="presOf" srcId="{D861893D-9D7D-4ECB-A2B9-6160A4C1A5C0}" destId="{89926656-3928-4D57-BB47-2B15843F3359}" srcOrd="0" destOrd="0" presId="urn:microsoft.com/office/officeart/2005/8/layout/vList2"/>
    <dgm:cxn modelId="{1FE531F6-038B-43B5-B1F3-9ADAD266318A}" type="presOf" srcId="{7F4F3341-BE53-4665-89CE-EEA5807C3587}" destId="{E793CCA9-EFBA-4842-8BE1-25026B038A3B}" srcOrd="0" destOrd="0" presId="urn:microsoft.com/office/officeart/2005/8/layout/vList2"/>
    <dgm:cxn modelId="{23DFA55C-2759-40E3-BB32-2A97340E27FA}" type="presParOf" srcId="{89926656-3928-4D57-BB47-2B15843F3359}" destId="{4D1ECB36-4A9A-4D1E-9986-23D486B238F3}" srcOrd="0" destOrd="0" presId="urn:microsoft.com/office/officeart/2005/8/layout/vList2"/>
    <dgm:cxn modelId="{3DADF588-45E9-4302-B66E-0C58FEB6F5CC}" type="presParOf" srcId="{89926656-3928-4D57-BB47-2B15843F3359}" destId="{E4BBB8BD-3FCB-41E7-9D48-A066BF353D52}" srcOrd="1" destOrd="0" presId="urn:microsoft.com/office/officeart/2005/8/layout/vList2"/>
    <dgm:cxn modelId="{99975AF1-17B7-4DC2-9BDA-64677C15EC69}" type="presParOf" srcId="{89926656-3928-4D57-BB47-2B15843F3359}" destId="{E793CCA9-EFBA-4842-8BE1-25026B038A3B}" srcOrd="2" destOrd="0" presId="urn:microsoft.com/office/officeart/2005/8/layout/vList2"/>
    <dgm:cxn modelId="{A946E5F7-4D8E-4F13-AA45-6FD52D048F2D}" type="presParOf" srcId="{89926656-3928-4D57-BB47-2B15843F3359}" destId="{C1F98870-1C74-4D0E-9C51-8CDE6FE7E9C7}" srcOrd="3" destOrd="0" presId="urn:microsoft.com/office/officeart/2005/8/layout/vList2"/>
    <dgm:cxn modelId="{1ED2B013-F6B3-43E5-BB0A-95D7B50F244F}" type="presParOf" srcId="{89926656-3928-4D57-BB47-2B15843F3359}" destId="{3845985A-4933-487F-A3DF-C29DA27E4368}" srcOrd="4" destOrd="0" presId="urn:microsoft.com/office/officeart/2005/8/layout/vList2"/>
    <dgm:cxn modelId="{742A4910-4082-48DC-971F-5C1485BA5637}" type="presParOf" srcId="{89926656-3928-4D57-BB47-2B15843F3359}" destId="{A3EC3E1E-2865-4B36-A816-DB726E540F26}" srcOrd="5" destOrd="0" presId="urn:microsoft.com/office/officeart/2005/8/layout/vList2"/>
    <dgm:cxn modelId="{902A130E-8B74-45DD-A5EB-EBDA607BFF5A}" type="presParOf" srcId="{89926656-3928-4D57-BB47-2B15843F3359}" destId="{131D1868-1C64-4483-84A5-AEF678C0EB1D}" srcOrd="6" destOrd="0" presId="urn:microsoft.com/office/officeart/2005/8/layout/vList2"/>
    <dgm:cxn modelId="{E3E454A6-DAE0-4F4B-8506-4B31B4088166}" type="presParOf" srcId="{89926656-3928-4D57-BB47-2B15843F3359}" destId="{DB205669-3418-49B4-9CE7-F743E4DA5880}" srcOrd="7" destOrd="0" presId="urn:microsoft.com/office/officeart/2005/8/layout/vList2"/>
    <dgm:cxn modelId="{F7AEC51D-8714-4554-9D74-E7E83F085C09}" type="presParOf" srcId="{89926656-3928-4D57-BB47-2B15843F3359}" destId="{267D51E0-B579-45E9-9BE3-7C324B681377}" srcOrd="8" destOrd="0" presId="urn:microsoft.com/office/officeart/2005/8/layout/vList2"/>
    <dgm:cxn modelId="{29F8E026-AF4C-46E9-BA0F-9052FBA3ED57}" type="presParOf" srcId="{89926656-3928-4D57-BB47-2B15843F3359}" destId="{9EF359CD-30C1-4940-8FBD-7D58349317DE}" srcOrd="9" destOrd="0" presId="urn:microsoft.com/office/officeart/2005/8/layout/vList2"/>
    <dgm:cxn modelId="{F4A51030-ED05-4155-AFF2-693A7396364B}" type="presParOf" srcId="{89926656-3928-4D57-BB47-2B15843F3359}" destId="{EC270A9E-4A16-477F-A2C8-CB0042DA61FE}"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52BCFE7-2D38-4C0E-8523-A4161EB89EA7}"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AE7D2F15-E609-469F-9305-E790B5F1272F}">
      <dgm:prSet/>
      <dgm:spPr/>
      <dgm:t>
        <a:bodyPr/>
        <a:lstStyle/>
        <a:p>
          <a:r>
            <a:rPr lang="en-US"/>
            <a:t>A timing table does not prove:</a:t>
          </a:r>
        </a:p>
      </dgm:t>
    </dgm:pt>
    <dgm:pt modelId="{7CAC2298-F552-463A-8E59-2C7270E05F4B}" type="parTrans" cxnId="{04356546-3880-4C04-87D6-3D65B7A59A40}">
      <dgm:prSet/>
      <dgm:spPr/>
      <dgm:t>
        <a:bodyPr/>
        <a:lstStyle/>
        <a:p>
          <a:endParaRPr lang="en-US"/>
        </a:p>
      </dgm:t>
    </dgm:pt>
    <dgm:pt modelId="{D73574B1-5CB0-480E-9DED-8427B8CAA02E}" type="sibTrans" cxnId="{04356546-3880-4C04-87D6-3D65B7A59A40}">
      <dgm:prSet/>
      <dgm:spPr/>
      <dgm:t>
        <a:bodyPr/>
        <a:lstStyle/>
        <a:p>
          <a:endParaRPr lang="en-US"/>
        </a:p>
      </dgm:t>
    </dgm:pt>
    <dgm:pt modelId="{EB213272-BE90-4727-BF5F-9FE26A0F5940}">
      <dgm:prSet custT="1"/>
      <dgm:spPr/>
      <dgm:t>
        <a:bodyPr/>
        <a:lstStyle/>
        <a:p>
          <a:pPr>
            <a:spcBef>
              <a:spcPts val="600"/>
            </a:spcBef>
          </a:pPr>
          <a:r>
            <a:rPr lang="en-US" sz="2800" dirty="0"/>
            <a:t>Every machine will match</a:t>
          </a:r>
        </a:p>
      </dgm:t>
    </dgm:pt>
    <dgm:pt modelId="{D10E95F2-5CFC-4B7E-8E1C-78A54EDA4328}" type="parTrans" cxnId="{91462A31-2F57-4898-88BB-851FB377837D}">
      <dgm:prSet/>
      <dgm:spPr/>
      <dgm:t>
        <a:bodyPr/>
        <a:lstStyle/>
        <a:p>
          <a:endParaRPr lang="en-US"/>
        </a:p>
      </dgm:t>
    </dgm:pt>
    <dgm:pt modelId="{4A6B5D3D-75F1-4647-A00D-FD77C9F97C99}" type="sibTrans" cxnId="{91462A31-2F57-4898-88BB-851FB377837D}">
      <dgm:prSet/>
      <dgm:spPr/>
      <dgm:t>
        <a:bodyPr/>
        <a:lstStyle/>
        <a:p>
          <a:endParaRPr lang="en-US"/>
        </a:p>
      </dgm:t>
    </dgm:pt>
    <dgm:pt modelId="{B04D54A4-4429-4367-AAB2-B55FD62A0748}">
      <dgm:prSet custT="1"/>
      <dgm:spPr/>
      <dgm:t>
        <a:bodyPr/>
        <a:lstStyle/>
        <a:p>
          <a:pPr>
            <a:spcBef>
              <a:spcPts val="600"/>
            </a:spcBef>
          </a:pPr>
          <a:r>
            <a:rPr lang="en-US" sz="2800" dirty="0"/>
            <a:t>Every input will behave the same</a:t>
          </a:r>
        </a:p>
      </dgm:t>
    </dgm:pt>
    <dgm:pt modelId="{A76D19C7-DD99-4034-B3F6-18FB9F9C7422}" type="parTrans" cxnId="{7082BCF5-7D77-45FC-AAF0-2845BD3E4397}">
      <dgm:prSet/>
      <dgm:spPr/>
      <dgm:t>
        <a:bodyPr/>
        <a:lstStyle/>
        <a:p>
          <a:endParaRPr lang="en-US"/>
        </a:p>
      </dgm:t>
    </dgm:pt>
    <dgm:pt modelId="{19BF4E34-08C1-47B7-A2CA-E3B7A53A4D08}" type="sibTrans" cxnId="{7082BCF5-7D77-45FC-AAF0-2845BD3E4397}">
      <dgm:prSet/>
      <dgm:spPr/>
      <dgm:t>
        <a:bodyPr/>
        <a:lstStyle/>
        <a:p>
          <a:endParaRPr lang="en-US"/>
        </a:p>
      </dgm:t>
    </dgm:pt>
    <dgm:pt modelId="{8FEF3F07-5C2A-4B2C-9B63-D8E293849AF1}">
      <dgm:prSet custT="1"/>
      <dgm:spPr/>
      <dgm:t>
        <a:bodyPr/>
        <a:lstStyle/>
        <a:p>
          <a:pPr>
            <a:spcBef>
              <a:spcPts val="600"/>
            </a:spcBef>
          </a:pPr>
          <a:r>
            <a:rPr lang="en-US" sz="2800" dirty="0"/>
            <a:t>The algorithm is always best</a:t>
          </a:r>
        </a:p>
      </dgm:t>
    </dgm:pt>
    <dgm:pt modelId="{33220CFD-ECE9-4EF8-8A18-C3ECC3F8EA97}" type="parTrans" cxnId="{7DCF605A-B881-4C09-AF82-DF50834536F5}">
      <dgm:prSet/>
      <dgm:spPr/>
      <dgm:t>
        <a:bodyPr/>
        <a:lstStyle/>
        <a:p>
          <a:endParaRPr lang="en-US"/>
        </a:p>
      </dgm:t>
    </dgm:pt>
    <dgm:pt modelId="{C5407B66-F966-4D38-87D7-EA2A6C7487B6}" type="sibTrans" cxnId="{7DCF605A-B881-4C09-AF82-DF50834536F5}">
      <dgm:prSet/>
      <dgm:spPr/>
      <dgm:t>
        <a:bodyPr/>
        <a:lstStyle/>
        <a:p>
          <a:endParaRPr lang="en-US"/>
        </a:p>
      </dgm:t>
    </dgm:pt>
    <dgm:pt modelId="{3B7B5538-D0BD-4992-B89B-1CE7F92458EF}">
      <dgm:prSet custT="1"/>
      <dgm:spPr/>
      <dgm:t>
        <a:bodyPr/>
        <a:lstStyle/>
        <a:p>
          <a:pPr>
            <a:spcBef>
              <a:spcPts val="600"/>
            </a:spcBef>
          </a:pPr>
          <a:r>
            <a:rPr lang="en-US" sz="2800" dirty="0"/>
            <a:t>The code has no bugs</a:t>
          </a:r>
        </a:p>
      </dgm:t>
    </dgm:pt>
    <dgm:pt modelId="{E9C7E611-74A3-42C9-9021-3DE92A2B135C}" type="parTrans" cxnId="{C740BEE8-61EA-4248-8DE1-4831956D1B33}">
      <dgm:prSet/>
      <dgm:spPr/>
      <dgm:t>
        <a:bodyPr/>
        <a:lstStyle/>
        <a:p>
          <a:endParaRPr lang="en-US"/>
        </a:p>
      </dgm:t>
    </dgm:pt>
    <dgm:pt modelId="{7F414B3B-85DB-4202-A1A7-32B6D9F43857}" type="sibTrans" cxnId="{C740BEE8-61EA-4248-8DE1-4831956D1B33}">
      <dgm:prSet/>
      <dgm:spPr/>
      <dgm:t>
        <a:bodyPr/>
        <a:lstStyle/>
        <a:p>
          <a:endParaRPr lang="en-US"/>
        </a:p>
      </dgm:t>
    </dgm:pt>
    <dgm:pt modelId="{E9F04986-E2EA-4A13-9EBC-1D4C7B4B4ED2}" type="pres">
      <dgm:prSet presAssocID="{352BCFE7-2D38-4C0E-8523-A4161EB89EA7}" presName="linear" presStyleCnt="0">
        <dgm:presLayoutVars>
          <dgm:dir/>
          <dgm:animLvl val="lvl"/>
          <dgm:resizeHandles val="exact"/>
        </dgm:presLayoutVars>
      </dgm:prSet>
      <dgm:spPr/>
    </dgm:pt>
    <dgm:pt modelId="{00DB188D-EBA9-4486-A3A7-3735545F86C5}" type="pres">
      <dgm:prSet presAssocID="{AE7D2F15-E609-469F-9305-E790B5F1272F}" presName="parentLin" presStyleCnt="0"/>
      <dgm:spPr/>
    </dgm:pt>
    <dgm:pt modelId="{F3488FE4-BC9A-469F-B43C-B364F8B86093}" type="pres">
      <dgm:prSet presAssocID="{AE7D2F15-E609-469F-9305-E790B5F1272F}" presName="parentLeftMargin" presStyleLbl="node1" presStyleIdx="0" presStyleCnt="1"/>
      <dgm:spPr/>
    </dgm:pt>
    <dgm:pt modelId="{6EC9D3CA-C00F-495D-8D55-BD1B734EE9D0}" type="pres">
      <dgm:prSet presAssocID="{AE7D2F15-E609-469F-9305-E790B5F1272F}" presName="parentText" presStyleLbl="node1" presStyleIdx="0" presStyleCnt="1">
        <dgm:presLayoutVars>
          <dgm:chMax val="0"/>
          <dgm:bulletEnabled val="1"/>
        </dgm:presLayoutVars>
      </dgm:prSet>
      <dgm:spPr/>
    </dgm:pt>
    <dgm:pt modelId="{CB760182-51C9-40AA-8132-4881580A1B3F}" type="pres">
      <dgm:prSet presAssocID="{AE7D2F15-E609-469F-9305-E790B5F1272F}" presName="negativeSpace" presStyleCnt="0"/>
      <dgm:spPr/>
    </dgm:pt>
    <dgm:pt modelId="{8F6BFEC5-3F02-480C-8A14-7F57820F633E}" type="pres">
      <dgm:prSet presAssocID="{AE7D2F15-E609-469F-9305-E790B5F1272F}" presName="childText" presStyleLbl="conFgAcc1" presStyleIdx="0" presStyleCnt="1">
        <dgm:presLayoutVars>
          <dgm:bulletEnabled val="1"/>
        </dgm:presLayoutVars>
      </dgm:prSet>
      <dgm:spPr/>
    </dgm:pt>
  </dgm:ptLst>
  <dgm:cxnLst>
    <dgm:cxn modelId="{91462A31-2F57-4898-88BB-851FB377837D}" srcId="{AE7D2F15-E609-469F-9305-E790B5F1272F}" destId="{EB213272-BE90-4727-BF5F-9FE26A0F5940}" srcOrd="0" destOrd="0" parTransId="{D10E95F2-5CFC-4B7E-8E1C-78A54EDA4328}" sibTransId="{4A6B5D3D-75F1-4647-A00D-FD77C9F97C99}"/>
    <dgm:cxn modelId="{0066ED38-99BC-4C5A-A5D4-354C4819E9FA}" type="presOf" srcId="{3B7B5538-D0BD-4992-B89B-1CE7F92458EF}" destId="{8F6BFEC5-3F02-480C-8A14-7F57820F633E}" srcOrd="0" destOrd="3" presId="urn:microsoft.com/office/officeart/2005/8/layout/list1"/>
    <dgm:cxn modelId="{04356546-3880-4C04-87D6-3D65B7A59A40}" srcId="{352BCFE7-2D38-4C0E-8523-A4161EB89EA7}" destId="{AE7D2F15-E609-469F-9305-E790B5F1272F}" srcOrd="0" destOrd="0" parTransId="{7CAC2298-F552-463A-8E59-2C7270E05F4B}" sibTransId="{D73574B1-5CB0-480E-9DED-8427B8CAA02E}"/>
    <dgm:cxn modelId="{12C53A54-3FA1-473B-899E-731E0EF29C98}" type="presOf" srcId="{AE7D2F15-E609-469F-9305-E790B5F1272F}" destId="{F3488FE4-BC9A-469F-B43C-B364F8B86093}" srcOrd="0" destOrd="0" presId="urn:microsoft.com/office/officeart/2005/8/layout/list1"/>
    <dgm:cxn modelId="{7DCF605A-B881-4C09-AF82-DF50834536F5}" srcId="{AE7D2F15-E609-469F-9305-E790B5F1272F}" destId="{8FEF3F07-5C2A-4B2C-9B63-D8E293849AF1}" srcOrd="2" destOrd="0" parTransId="{33220CFD-ECE9-4EF8-8A18-C3ECC3F8EA97}" sibTransId="{C5407B66-F966-4D38-87D7-EA2A6C7487B6}"/>
    <dgm:cxn modelId="{1FE5AB8D-ACA3-491A-BF1C-1492F8CB23EC}" type="presOf" srcId="{352BCFE7-2D38-4C0E-8523-A4161EB89EA7}" destId="{E9F04986-E2EA-4A13-9EBC-1D4C7B4B4ED2}" srcOrd="0" destOrd="0" presId="urn:microsoft.com/office/officeart/2005/8/layout/list1"/>
    <dgm:cxn modelId="{5E8FDDBD-BC1C-4B56-B8FB-49AFA260033C}" type="presOf" srcId="{8FEF3F07-5C2A-4B2C-9B63-D8E293849AF1}" destId="{8F6BFEC5-3F02-480C-8A14-7F57820F633E}" srcOrd="0" destOrd="2" presId="urn:microsoft.com/office/officeart/2005/8/layout/list1"/>
    <dgm:cxn modelId="{276E49C7-0772-48B0-94C7-0E07EFCDD6A6}" type="presOf" srcId="{AE7D2F15-E609-469F-9305-E790B5F1272F}" destId="{6EC9D3CA-C00F-495D-8D55-BD1B734EE9D0}" srcOrd="1" destOrd="0" presId="urn:microsoft.com/office/officeart/2005/8/layout/list1"/>
    <dgm:cxn modelId="{FAB54FE8-DC53-4939-B75A-1CC427102DF1}" type="presOf" srcId="{B04D54A4-4429-4367-AAB2-B55FD62A0748}" destId="{8F6BFEC5-3F02-480C-8A14-7F57820F633E}" srcOrd="0" destOrd="1" presId="urn:microsoft.com/office/officeart/2005/8/layout/list1"/>
    <dgm:cxn modelId="{C740BEE8-61EA-4248-8DE1-4831956D1B33}" srcId="{AE7D2F15-E609-469F-9305-E790B5F1272F}" destId="{3B7B5538-D0BD-4992-B89B-1CE7F92458EF}" srcOrd="3" destOrd="0" parTransId="{E9C7E611-74A3-42C9-9021-3DE92A2B135C}" sibTransId="{7F414B3B-85DB-4202-A1A7-32B6D9F43857}"/>
    <dgm:cxn modelId="{7082BCF5-7D77-45FC-AAF0-2845BD3E4397}" srcId="{AE7D2F15-E609-469F-9305-E790B5F1272F}" destId="{B04D54A4-4429-4367-AAB2-B55FD62A0748}" srcOrd="1" destOrd="0" parTransId="{A76D19C7-DD99-4034-B3F6-18FB9F9C7422}" sibTransId="{19BF4E34-08C1-47B7-A2CA-E3B7A53A4D08}"/>
    <dgm:cxn modelId="{010793F7-9E34-40CE-A067-467059C490A1}" type="presOf" srcId="{EB213272-BE90-4727-BF5F-9FE26A0F5940}" destId="{8F6BFEC5-3F02-480C-8A14-7F57820F633E}" srcOrd="0" destOrd="0" presId="urn:microsoft.com/office/officeart/2005/8/layout/list1"/>
    <dgm:cxn modelId="{9506B06C-ED18-45C6-894B-492A69E89E80}" type="presParOf" srcId="{E9F04986-E2EA-4A13-9EBC-1D4C7B4B4ED2}" destId="{00DB188D-EBA9-4486-A3A7-3735545F86C5}" srcOrd="0" destOrd="0" presId="urn:microsoft.com/office/officeart/2005/8/layout/list1"/>
    <dgm:cxn modelId="{75C83904-B81B-4573-8B0F-3C64F1C95753}" type="presParOf" srcId="{00DB188D-EBA9-4486-A3A7-3735545F86C5}" destId="{F3488FE4-BC9A-469F-B43C-B364F8B86093}" srcOrd="0" destOrd="0" presId="urn:microsoft.com/office/officeart/2005/8/layout/list1"/>
    <dgm:cxn modelId="{38C16C9A-55ED-4D99-B535-03BCB3C43CB3}" type="presParOf" srcId="{00DB188D-EBA9-4486-A3A7-3735545F86C5}" destId="{6EC9D3CA-C00F-495D-8D55-BD1B734EE9D0}" srcOrd="1" destOrd="0" presId="urn:microsoft.com/office/officeart/2005/8/layout/list1"/>
    <dgm:cxn modelId="{E252F5CE-414C-400A-B386-B7827F155CAB}" type="presParOf" srcId="{E9F04986-E2EA-4A13-9EBC-1D4C7B4B4ED2}" destId="{CB760182-51C9-40AA-8132-4881580A1B3F}" srcOrd="1" destOrd="0" presId="urn:microsoft.com/office/officeart/2005/8/layout/list1"/>
    <dgm:cxn modelId="{9F9F0FB4-D9C7-496E-92BE-62D7DCCA3AAB}" type="presParOf" srcId="{E9F04986-E2EA-4A13-9EBC-1D4C7B4B4ED2}" destId="{8F6BFEC5-3F02-480C-8A14-7F57820F633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AAA8DB5-FF99-401A-91F6-E8075BCA28CE}"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AA235B5A-4798-4E7C-B667-299852863DA5}">
      <dgm:prSet/>
      <dgm:spPr/>
      <dgm:t>
        <a:bodyPr/>
        <a:lstStyle/>
        <a:p>
          <a:pPr>
            <a:defRPr b="1"/>
          </a:pPr>
          <a:r>
            <a:rPr lang="en-US"/>
            <a:t>Problem:</a:t>
          </a:r>
        </a:p>
      </dgm:t>
    </dgm:pt>
    <dgm:pt modelId="{DD75BC40-2176-42E4-9BE1-6A58AFFA1E93}" type="parTrans" cxnId="{C0406F1A-9BF3-4559-86BE-3D48BA1D7F8C}">
      <dgm:prSet/>
      <dgm:spPr/>
      <dgm:t>
        <a:bodyPr/>
        <a:lstStyle/>
        <a:p>
          <a:endParaRPr lang="en-US"/>
        </a:p>
      </dgm:t>
    </dgm:pt>
    <dgm:pt modelId="{8C7FA012-410C-4AC2-A96F-D490BD20D34E}" type="sibTrans" cxnId="{C0406F1A-9BF3-4559-86BE-3D48BA1D7F8C}">
      <dgm:prSet/>
      <dgm:spPr/>
      <dgm:t>
        <a:bodyPr/>
        <a:lstStyle/>
        <a:p>
          <a:endParaRPr lang="en-US"/>
        </a:p>
      </dgm:t>
    </dgm:pt>
    <dgm:pt modelId="{DCC2D82A-496F-46E7-9E8A-A0486B509E04}">
      <dgm:prSet/>
      <dgm:spPr/>
      <dgm:t>
        <a:bodyPr/>
        <a:lstStyle/>
        <a:p>
          <a:pPr>
            <a:buNone/>
          </a:pPr>
          <a:r>
            <a:rPr lang="en-US" dirty="0"/>
            <a:t>Compare two ways to check whether values appear in a collection:</a:t>
          </a:r>
        </a:p>
      </dgm:t>
    </dgm:pt>
    <dgm:pt modelId="{1E619D72-4575-451A-8238-425288ACFD5D}" type="parTrans" cxnId="{BAEA7038-0028-4D30-B2EA-9EA79EAADE56}">
      <dgm:prSet/>
      <dgm:spPr/>
      <dgm:t>
        <a:bodyPr/>
        <a:lstStyle/>
        <a:p>
          <a:endParaRPr lang="en-US"/>
        </a:p>
      </dgm:t>
    </dgm:pt>
    <dgm:pt modelId="{01A84278-F8B7-40CC-BFB2-6B5D2202F605}" type="sibTrans" cxnId="{BAEA7038-0028-4D30-B2EA-9EA79EAADE56}">
      <dgm:prSet/>
      <dgm:spPr/>
      <dgm:t>
        <a:bodyPr/>
        <a:lstStyle/>
        <a:p>
          <a:endParaRPr lang="en-US"/>
        </a:p>
      </dgm:t>
    </dgm:pt>
    <dgm:pt modelId="{EBF66487-1CE2-44A9-9103-D3535EA4CADA}">
      <dgm:prSet/>
      <dgm:spPr/>
      <dgm:t>
        <a:bodyPr/>
        <a:lstStyle/>
        <a:p>
          <a:r>
            <a:rPr lang="en-US" i="1" dirty="0"/>
            <a:t>Manual list lookup with a loop</a:t>
          </a:r>
        </a:p>
      </dgm:t>
    </dgm:pt>
    <dgm:pt modelId="{A9BDEF05-CCA5-4DDC-8552-1CA8E8F63559}" type="parTrans" cxnId="{8396BA41-19A3-4B4A-8B12-7BE2DC5F9290}">
      <dgm:prSet/>
      <dgm:spPr/>
      <dgm:t>
        <a:bodyPr/>
        <a:lstStyle/>
        <a:p>
          <a:endParaRPr lang="en-US"/>
        </a:p>
      </dgm:t>
    </dgm:pt>
    <dgm:pt modelId="{BBBF709C-DB93-4FB2-BE6E-0A196069F44C}" type="sibTrans" cxnId="{8396BA41-19A3-4B4A-8B12-7BE2DC5F9290}">
      <dgm:prSet/>
      <dgm:spPr/>
      <dgm:t>
        <a:bodyPr/>
        <a:lstStyle/>
        <a:p>
          <a:endParaRPr lang="en-US"/>
        </a:p>
      </dgm:t>
    </dgm:pt>
    <dgm:pt modelId="{AAFD2ADC-7879-4C46-8C7E-EF05AC2135D8}">
      <dgm:prSet/>
      <dgm:spPr/>
      <dgm:t>
        <a:bodyPr/>
        <a:lstStyle/>
        <a:p>
          <a:r>
            <a:rPr lang="en-US" i="1" dirty="0"/>
            <a:t>Set membership lookup with `in`</a:t>
          </a:r>
        </a:p>
      </dgm:t>
    </dgm:pt>
    <dgm:pt modelId="{A13200E1-B6D9-4476-8D03-D03F14876983}" type="parTrans" cxnId="{BAFF93C3-1BE0-48E7-AAB1-CB5884B04E40}">
      <dgm:prSet/>
      <dgm:spPr/>
      <dgm:t>
        <a:bodyPr/>
        <a:lstStyle/>
        <a:p>
          <a:endParaRPr lang="en-US"/>
        </a:p>
      </dgm:t>
    </dgm:pt>
    <dgm:pt modelId="{BD91B097-6843-4AA5-AF68-F3A8A03B955D}" type="sibTrans" cxnId="{BAFF93C3-1BE0-48E7-AAB1-CB5884B04E40}">
      <dgm:prSet/>
      <dgm:spPr/>
      <dgm:t>
        <a:bodyPr/>
        <a:lstStyle/>
        <a:p>
          <a:endParaRPr lang="en-US"/>
        </a:p>
      </dgm:t>
    </dgm:pt>
    <dgm:pt modelId="{98CB6CCD-8FD2-4DD4-9B4D-973C748662A9}">
      <dgm:prSet/>
      <dgm:spPr/>
      <dgm:t>
        <a:bodyPr/>
        <a:lstStyle/>
        <a:p>
          <a:pPr>
            <a:buNone/>
          </a:pPr>
          <a:r>
            <a:rPr lang="en-US" dirty="0"/>
            <a:t>The demo uses the same lookup task for both approaches, then repeats the task across larger input sizes.</a:t>
          </a:r>
        </a:p>
      </dgm:t>
    </dgm:pt>
    <dgm:pt modelId="{BA7581A6-204F-4FFF-9F98-DB166E3A87BA}" type="parTrans" cxnId="{CDF5C96D-09A2-4F87-AF63-44BD670F267E}">
      <dgm:prSet/>
      <dgm:spPr/>
      <dgm:t>
        <a:bodyPr/>
        <a:lstStyle/>
        <a:p>
          <a:endParaRPr lang="en-US"/>
        </a:p>
      </dgm:t>
    </dgm:pt>
    <dgm:pt modelId="{77ECC63B-0767-4DF0-8D37-950481EC06CB}" type="sibTrans" cxnId="{CDF5C96D-09A2-4F87-AF63-44BD670F267E}">
      <dgm:prSet/>
      <dgm:spPr/>
      <dgm:t>
        <a:bodyPr/>
        <a:lstStyle/>
        <a:p>
          <a:endParaRPr lang="en-US"/>
        </a:p>
      </dgm:t>
    </dgm:pt>
    <dgm:pt modelId="{3A3ED834-2144-4365-AE56-A6119855E768}">
      <dgm:prSet/>
      <dgm:spPr/>
      <dgm:t>
        <a:bodyPr/>
        <a:lstStyle/>
        <a:p>
          <a:pPr>
            <a:defRPr b="1"/>
          </a:pPr>
          <a:r>
            <a:rPr lang="en-US"/>
            <a:t>Evidence:</a:t>
          </a:r>
        </a:p>
      </dgm:t>
    </dgm:pt>
    <dgm:pt modelId="{52D8BE6D-1FDB-4FB4-88B2-F6E76224706D}" type="parTrans" cxnId="{1976C141-AE92-4FAF-9D5E-31FDA7DB5901}">
      <dgm:prSet/>
      <dgm:spPr/>
      <dgm:t>
        <a:bodyPr/>
        <a:lstStyle/>
        <a:p>
          <a:endParaRPr lang="en-US"/>
        </a:p>
      </dgm:t>
    </dgm:pt>
    <dgm:pt modelId="{5F638093-2E5F-4216-B5BB-927DF07F4164}" type="sibTrans" cxnId="{1976C141-AE92-4FAF-9D5E-31FDA7DB5901}">
      <dgm:prSet/>
      <dgm:spPr/>
      <dgm:t>
        <a:bodyPr/>
        <a:lstStyle/>
        <a:p>
          <a:endParaRPr lang="en-US"/>
        </a:p>
      </dgm:t>
    </dgm:pt>
    <dgm:pt modelId="{B0A738A2-D1F6-4B10-A034-292A175F3764}">
      <dgm:prSet/>
      <dgm:spPr/>
      <dgm:t>
        <a:bodyPr/>
        <a:lstStyle/>
        <a:p>
          <a:pPr>
            <a:buFont typeface="+mj-lt"/>
            <a:buAutoNum type="arabicPeriod"/>
          </a:pPr>
          <a:r>
            <a:rPr lang="en-US" dirty="0"/>
            <a:t>A timing table across several input sizes.</a:t>
          </a:r>
        </a:p>
      </dgm:t>
    </dgm:pt>
    <dgm:pt modelId="{68DDF5F7-74BF-477C-8AF3-25FD36F74D89}" type="parTrans" cxnId="{37985EA0-77CA-445B-B501-F7886276002E}">
      <dgm:prSet/>
      <dgm:spPr/>
      <dgm:t>
        <a:bodyPr/>
        <a:lstStyle/>
        <a:p>
          <a:endParaRPr lang="en-US"/>
        </a:p>
      </dgm:t>
    </dgm:pt>
    <dgm:pt modelId="{BC39D996-19D5-4DDB-A9BA-1B2A58D6C817}" type="sibTrans" cxnId="{37985EA0-77CA-445B-B501-F7886276002E}">
      <dgm:prSet/>
      <dgm:spPr/>
      <dgm:t>
        <a:bodyPr/>
        <a:lstStyle/>
        <a:p>
          <a:endParaRPr lang="en-US"/>
        </a:p>
      </dgm:t>
    </dgm:pt>
    <dgm:pt modelId="{5EBED0F9-1D33-4CF2-A0F0-DF3EF9DB4EAC}">
      <dgm:prSet/>
      <dgm:spPr/>
      <dgm:t>
        <a:bodyPr/>
        <a:lstStyle/>
        <a:p>
          <a:pPr>
            <a:buFont typeface="+mj-lt"/>
            <a:buAutoNum type="arabicPeriod"/>
          </a:pPr>
          <a:r>
            <a:rPr lang="en-US" dirty="0"/>
            <a:t>A formatted comparison summary that interprets the pattern.</a:t>
          </a:r>
        </a:p>
      </dgm:t>
    </dgm:pt>
    <dgm:pt modelId="{DE4C645C-7133-4D1D-87E8-0CB9D4587945}" type="parTrans" cxnId="{AC390D95-3F0F-47EB-A7E5-B7CFFD7294DA}">
      <dgm:prSet/>
      <dgm:spPr/>
      <dgm:t>
        <a:bodyPr/>
        <a:lstStyle/>
        <a:p>
          <a:endParaRPr lang="en-US"/>
        </a:p>
      </dgm:t>
    </dgm:pt>
    <dgm:pt modelId="{F4C25B8D-47BD-416C-88F3-1AE1BB580644}" type="sibTrans" cxnId="{AC390D95-3F0F-47EB-A7E5-B7CFFD7294DA}">
      <dgm:prSet/>
      <dgm:spPr/>
      <dgm:t>
        <a:bodyPr/>
        <a:lstStyle/>
        <a:p>
          <a:endParaRPr lang="en-US"/>
        </a:p>
      </dgm:t>
    </dgm:pt>
    <dgm:pt modelId="{8477E477-1E41-4B0A-BB1B-4D130CB76604}">
      <dgm:prSet/>
      <dgm:spPr/>
      <dgm:t>
        <a:bodyPr/>
        <a:lstStyle/>
        <a:p>
          <a:r>
            <a:rPr lang="en-US"/>
            <a:t>Goal</a:t>
          </a:r>
          <a:endParaRPr lang="en-US" dirty="0"/>
        </a:p>
      </dgm:t>
    </dgm:pt>
    <dgm:pt modelId="{BA84F64B-5E00-4D9D-845F-89BB91336190}" type="parTrans" cxnId="{B4B2B3B3-C6E8-4D80-9020-47736BC413A8}">
      <dgm:prSet/>
      <dgm:spPr/>
      <dgm:t>
        <a:bodyPr/>
        <a:lstStyle/>
        <a:p>
          <a:endParaRPr lang="en-US"/>
        </a:p>
      </dgm:t>
    </dgm:pt>
    <dgm:pt modelId="{89818D42-9F23-49BA-926F-2EA7F1BF1B62}" type="sibTrans" cxnId="{B4B2B3B3-C6E8-4D80-9020-47736BC413A8}">
      <dgm:prSet/>
      <dgm:spPr/>
      <dgm:t>
        <a:bodyPr/>
        <a:lstStyle/>
        <a:p>
          <a:endParaRPr lang="en-US"/>
        </a:p>
      </dgm:t>
    </dgm:pt>
    <dgm:pt modelId="{F9D55C77-E36E-4514-8E70-474B6DD9CCE5}">
      <dgm:prSet/>
      <dgm:spPr/>
      <dgm:t>
        <a:bodyPr/>
        <a:lstStyle/>
        <a:p>
          <a:pPr>
            <a:buNone/>
          </a:pPr>
          <a:r>
            <a:rPr lang="en-US" dirty="0"/>
            <a:t>Check whether values appear in a collection</a:t>
          </a:r>
        </a:p>
      </dgm:t>
    </dgm:pt>
    <dgm:pt modelId="{4AA9C821-F785-436F-92ED-9504A44974AF}" type="parTrans" cxnId="{AB1AB01D-90AC-4BDD-9C7F-7B2ADD93144A}">
      <dgm:prSet/>
      <dgm:spPr/>
      <dgm:t>
        <a:bodyPr/>
        <a:lstStyle/>
        <a:p>
          <a:endParaRPr lang="en-US"/>
        </a:p>
      </dgm:t>
    </dgm:pt>
    <dgm:pt modelId="{B6E5B23B-38E7-4960-B0CF-EC13EF3322C4}" type="sibTrans" cxnId="{AB1AB01D-90AC-4BDD-9C7F-7B2ADD93144A}">
      <dgm:prSet/>
      <dgm:spPr/>
      <dgm:t>
        <a:bodyPr/>
        <a:lstStyle/>
        <a:p>
          <a:endParaRPr lang="en-US"/>
        </a:p>
      </dgm:t>
    </dgm:pt>
    <dgm:pt modelId="{5210DC90-2BA6-45D5-8AAE-1A0ED2466398}" type="pres">
      <dgm:prSet presAssocID="{BAAA8DB5-FF99-401A-91F6-E8075BCA28CE}" presName="Name0" presStyleCnt="0">
        <dgm:presLayoutVars>
          <dgm:dir/>
          <dgm:animLvl val="lvl"/>
          <dgm:resizeHandles val="exact"/>
        </dgm:presLayoutVars>
      </dgm:prSet>
      <dgm:spPr/>
    </dgm:pt>
    <dgm:pt modelId="{E09BFB03-DCE5-4F69-B1EA-8BFFFC32A2F1}" type="pres">
      <dgm:prSet presAssocID="{AA235B5A-4798-4E7C-B667-299852863DA5}" presName="linNode" presStyleCnt="0"/>
      <dgm:spPr/>
    </dgm:pt>
    <dgm:pt modelId="{30D56222-46DC-49B6-93B9-D527764F5239}" type="pres">
      <dgm:prSet presAssocID="{AA235B5A-4798-4E7C-B667-299852863DA5}" presName="parentText" presStyleLbl="node1" presStyleIdx="0" presStyleCnt="3">
        <dgm:presLayoutVars>
          <dgm:chMax val="1"/>
          <dgm:bulletEnabled val="1"/>
        </dgm:presLayoutVars>
      </dgm:prSet>
      <dgm:spPr/>
    </dgm:pt>
    <dgm:pt modelId="{F4F20F46-BD9F-433C-B479-B55A8902755F}" type="pres">
      <dgm:prSet presAssocID="{AA235B5A-4798-4E7C-B667-299852863DA5}" presName="descendantText" presStyleLbl="alignAccFollowNode1" presStyleIdx="0" presStyleCnt="3">
        <dgm:presLayoutVars>
          <dgm:bulletEnabled val="1"/>
        </dgm:presLayoutVars>
      </dgm:prSet>
      <dgm:spPr/>
    </dgm:pt>
    <dgm:pt modelId="{CC14BB53-AFF8-4807-B74B-1D1537452EDE}" type="pres">
      <dgm:prSet presAssocID="{8C7FA012-410C-4AC2-A96F-D490BD20D34E}" presName="sp" presStyleCnt="0"/>
      <dgm:spPr/>
    </dgm:pt>
    <dgm:pt modelId="{4B8979C8-365D-4308-AA0B-602528C0C837}" type="pres">
      <dgm:prSet presAssocID="{3A3ED834-2144-4365-AE56-A6119855E768}" presName="linNode" presStyleCnt="0"/>
      <dgm:spPr/>
    </dgm:pt>
    <dgm:pt modelId="{1814F191-1891-489E-B0A1-1272D5EBF55F}" type="pres">
      <dgm:prSet presAssocID="{3A3ED834-2144-4365-AE56-A6119855E768}" presName="parentText" presStyleLbl="node1" presStyleIdx="1" presStyleCnt="3">
        <dgm:presLayoutVars>
          <dgm:chMax val="1"/>
          <dgm:bulletEnabled val="1"/>
        </dgm:presLayoutVars>
      </dgm:prSet>
      <dgm:spPr/>
    </dgm:pt>
    <dgm:pt modelId="{6E795E48-08AB-4278-AB2C-17633DCE4A21}" type="pres">
      <dgm:prSet presAssocID="{3A3ED834-2144-4365-AE56-A6119855E768}" presName="descendantText" presStyleLbl="alignAccFollowNode1" presStyleIdx="1" presStyleCnt="3">
        <dgm:presLayoutVars>
          <dgm:bulletEnabled val="1"/>
        </dgm:presLayoutVars>
      </dgm:prSet>
      <dgm:spPr/>
    </dgm:pt>
    <dgm:pt modelId="{7A2480FA-D083-42C6-98BD-3A55820E4EF8}" type="pres">
      <dgm:prSet presAssocID="{5F638093-2E5F-4216-B5BB-927DF07F4164}" presName="sp" presStyleCnt="0"/>
      <dgm:spPr/>
    </dgm:pt>
    <dgm:pt modelId="{08C96191-C635-4119-BDAE-47B734A368C7}" type="pres">
      <dgm:prSet presAssocID="{8477E477-1E41-4B0A-BB1B-4D130CB76604}" presName="linNode" presStyleCnt="0"/>
      <dgm:spPr/>
    </dgm:pt>
    <dgm:pt modelId="{05B628AE-3B1C-4161-A2F2-79CC492C689A}" type="pres">
      <dgm:prSet presAssocID="{8477E477-1E41-4B0A-BB1B-4D130CB76604}" presName="parentText" presStyleLbl="node1" presStyleIdx="2" presStyleCnt="3">
        <dgm:presLayoutVars>
          <dgm:chMax val="1"/>
          <dgm:bulletEnabled val="1"/>
        </dgm:presLayoutVars>
      </dgm:prSet>
      <dgm:spPr/>
    </dgm:pt>
    <dgm:pt modelId="{19B361A2-D7A8-43A5-AA5B-63BFB24FB360}" type="pres">
      <dgm:prSet presAssocID="{8477E477-1E41-4B0A-BB1B-4D130CB76604}" presName="descendantText" presStyleLbl="alignAccFollowNode1" presStyleIdx="2" presStyleCnt="3">
        <dgm:presLayoutVars>
          <dgm:bulletEnabled val="1"/>
        </dgm:presLayoutVars>
      </dgm:prSet>
      <dgm:spPr/>
    </dgm:pt>
  </dgm:ptLst>
  <dgm:cxnLst>
    <dgm:cxn modelId="{FE66FA07-8BFC-4061-86D0-7D1EAF1792D5}" type="presOf" srcId="{DCC2D82A-496F-46E7-9E8A-A0486B509E04}" destId="{F4F20F46-BD9F-433C-B479-B55A8902755F}" srcOrd="0" destOrd="0" presId="urn:microsoft.com/office/officeart/2005/8/layout/vList5"/>
    <dgm:cxn modelId="{C0406F1A-9BF3-4559-86BE-3D48BA1D7F8C}" srcId="{BAAA8DB5-FF99-401A-91F6-E8075BCA28CE}" destId="{AA235B5A-4798-4E7C-B667-299852863DA5}" srcOrd="0" destOrd="0" parTransId="{DD75BC40-2176-42E4-9BE1-6A58AFFA1E93}" sibTransId="{8C7FA012-410C-4AC2-A96F-D490BD20D34E}"/>
    <dgm:cxn modelId="{AB1AB01D-90AC-4BDD-9C7F-7B2ADD93144A}" srcId="{8477E477-1E41-4B0A-BB1B-4D130CB76604}" destId="{F9D55C77-E36E-4514-8E70-474B6DD9CCE5}" srcOrd="0" destOrd="0" parTransId="{4AA9C821-F785-436F-92ED-9504A44974AF}" sibTransId="{B6E5B23B-38E7-4960-B0CF-EC13EF3322C4}"/>
    <dgm:cxn modelId="{BAEA7038-0028-4D30-B2EA-9EA79EAADE56}" srcId="{AA235B5A-4798-4E7C-B667-299852863DA5}" destId="{DCC2D82A-496F-46E7-9E8A-A0486B509E04}" srcOrd="0" destOrd="0" parTransId="{1E619D72-4575-451A-8238-425288ACFD5D}" sibTransId="{01A84278-F8B7-40CC-BFB2-6B5D2202F605}"/>
    <dgm:cxn modelId="{8396BA41-19A3-4B4A-8B12-7BE2DC5F9290}" srcId="{DCC2D82A-496F-46E7-9E8A-A0486B509E04}" destId="{EBF66487-1CE2-44A9-9103-D3535EA4CADA}" srcOrd="0" destOrd="0" parTransId="{A9BDEF05-CCA5-4DDC-8552-1CA8E8F63559}" sibTransId="{BBBF709C-DB93-4FB2-BE6E-0A196069F44C}"/>
    <dgm:cxn modelId="{1976C141-AE92-4FAF-9D5E-31FDA7DB5901}" srcId="{BAAA8DB5-FF99-401A-91F6-E8075BCA28CE}" destId="{3A3ED834-2144-4365-AE56-A6119855E768}" srcOrd="1" destOrd="0" parTransId="{52D8BE6D-1FDB-4FB4-88B2-F6E76224706D}" sibTransId="{5F638093-2E5F-4216-B5BB-927DF07F4164}"/>
    <dgm:cxn modelId="{CDF5C96D-09A2-4F87-AF63-44BD670F267E}" srcId="{AA235B5A-4798-4E7C-B667-299852863DA5}" destId="{98CB6CCD-8FD2-4DD4-9B4D-973C748662A9}" srcOrd="1" destOrd="0" parTransId="{BA7581A6-204F-4FFF-9F98-DB166E3A87BA}" sibTransId="{77ECC63B-0767-4DF0-8D37-950481EC06CB}"/>
    <dgm:cxn modelId="{ED804B53-E020-4F90-9565-950AB63CD1F7}" type="presOf" srcId="{3A3ED834-2144-4365-AE56-A6119855E768}" destId="{1814F191-1891-489E-B0A1-1272D5EBF55F}" srcOrd="0" destOrd="0" presId="urn:microsoft.com/office/officeart/2005/8/layout/vList5"/>
    <dgm:cxn modelId="{2D503355-DF58-4F9C-9DFC-332A1E1FE411}" type="presOf" srcId="{AAFD2ADC-7879-4C46-8C7E-EF05AC2135D8}" destId="{F4F20F46-BD9F-433C-B479-B55A8902755F}" srcOrd="0" destOrd="2" presId="urn:microsoft.com/office/officeart/2005/8/layout/vList5"/>
    <dgm:cxn modelId="{73569576-F2B3-4F48-A6C9-721D0884A1DD}" type="presOf" srcId="{F9D55C77-E36E-4514-8E70-474B6DD9CCE5}" destId="{19B361A2-D7A8-43A5-AA5B-63BFB24FB360}" srcOrd="0" destOrd="0" presId="urn:microsoft.com/office/officeart/2005/8/layout/vList5"/>
    <dgm:cxn modelId="{62BD157F-8381-4D4E-A28A-47A0D2AAC481}" type="presOf" srcId="{BAAA8DB5-FF99-401A-91F6-E8075BCA28CE}" destId="{5210DC90-2BA6-45D5-8AAE-1A0ED2466398}" srcOrd="0" destOrd="0" presId="urn:microsoft.com/office/officeart/2005/8/layout/vList5"/>
    <dgm:cxn modelId="{F3207B8A-42A8-48DA-95C6-435C7D808A36}" type="presOf" srcId="{EBF66487-1CE2-44A9-9103-D3535EA4CADA}" destId="{F4F20F46-BD9F-433C-B479-B55A8902755F}" srcOrd="0" destOrd="1" presId="urn:microsoft.com/office/officeart/2005/8/layout/vList5"/>
    <dgm:cxn modelId="{AC390D95-3F0F-47EB-A7E5-B7CFFD7294DA}" srcId="{3A3ED834-2144-4365-AE56-A6119855E768}" destId="{5EBED0F9-1D33-4CF2-A0F0-DF3EF9DB4EAC}" srcOrd="1" destOrd="0" parTransId="{DE4C645C-7133-4D1D-87E8-0CB9D4587945}" sibTransId="{F4C25B8D-47BD-416C-88F3-1AE1BB580644}"/>
    <dgm:cxn modelId="{37985EA0-77CA-445B-B501-F7886276002E}" srcId="{3A3ED834-2144-4365-AE56-A6119855E768}" destId="{B0A738A2-D1F6-4B10-A034-292A175F3764}" srcOrd="0" destOrd="0" parTransId="{68DDF5F7-74BF-477C-8AF3-25FD36F74D89}" sibTransId="{BC39D996-19D5-4DDB-A9BA-1B2A58D6C817}"/>
    <dgm:cxn modelId="{7CA8ABAD-3605-4EF6-B930-DE0702AD8F0C}" type="presOf" srcId="{B0A738A2-D1F6-4B10-A034-292A175F3764}" destId="{6E795E48-08AB-4278-AB2C-17633DCE4A21}" srcOrd="0" destOrd="0" presId="urn:microsoft.com/office/officeart/2005/8/layout/vList5"/>
    <dgm:cxn modelId="{B4B2B3B3-C6E8-4D80-9020-47736BC413A8}" srcId="{BAAA8DB5-FF99-401A-91F6-E8075BCA28CE}" destId="{8477E477-1E41-4B0A-BB1B-4D130CB76604}" srcOrd="2" destOrd="0" parTransId="{BA84F64B-5E00-4D9D-845F-89BB91336190}" sibTransId="{89818D42-9F23-49BA-926F-2EA7F1BF1B62}"/>
    <dgm:cxn modelId="{FA27A4C0-C6BD-4070-A5D3-2BC31F026B06}" type="presOf" srcId="{98CB6CCD-8FD2-4DD4-9B4D-973C748662A9}" destId="{F4F20F46-BD9F-433C-B479-B55A8902755F}" srcOrd="0" destOrd="3" presId="urn:microsoft.com/office/officeart/2005/8/layout/vList5"/>
    <dgm:cxn modelId="{BAFF93C3-1BE0-48E7-AAB1-CB5884B04E40}" srcId="{DCC2D82A-496F-46E7-9E8A-A0486B509E04}" destId="{AAFD2ADC-7879-4C46-8C7E-EF05AC2135D8}" srcOrd="1" destOrd="0" parTransId="{A13200E1-B6D9-4476-8D03-D03F14876983}" sibTransId="{BD91B097-6843-4AA5-AF68-F3A8A03B955D}"/>
    <dgm:cxn modelId="{1EBECFDE-469F-44F9-85E9-CF08F2F613CF}" type="presOf" srcId="{AA235B5A-4798-4E7C-B667-299852863DA5}" destId="{30D56222-46DC-49B6-93B9-D527764F5239}" srcOrd="0" destOrd="0" presId="urn:microsoft.com/office/officeart/2005/8/layout/vList5"/>
    <dgm:cxn modelId="{BB311AEA-B5CF-42FD-A26B-B8C7B7D3CBDE}" type="presOf" srcId="{5EBED0F9-1D33-4CF2-A0F0-DF3EF9DB4EAC}" destId="{6E795E48-08AB-4278-AB2C-17633DCE4A21}" srcOrd="0" destOrd="1" presId="urn:microsoft.com/office/officeart/2005/8/layout/vList5"/>
    <dgm:cxn modelId="{62C9DFF7-0B09-4781-9BC2-2BE90FD1E595}" type="presOf" srcId="{8477E477-1E41-4B0A-BB1B-4D130CB76604}" destId="{05B628AE-3B1C-4161-A2F2-79CC492C689A}" srcOrd="0" destOrd="0" presId="urn:microsoft.com/office/officeart/2005/8/layout/vList5"/>
    <dgm:cxn modelId="{62ABDFFE-896F-42EC-9E28-43D3A842A28B}" type="presParOf" srcId="{5210DC90-2BA6-45D5-8AAE-1A0ED2466398}" destId="{E09BFB03-DCE5-4F69-B1EA-8BFFFC32A2F1}" srcOrd="0" destOrd="0" presId="urn:microsoft.com/office/officeart/2005/8/layout/vList5"/>
    <dgm:cxn modelId="{D2D3F526-A680-41DF-9408-D3F814C42BC0}" type="presParOf" srcId="{E09BFB03-DCE5-4F69-B1EA-8BFFFC32A2F1}" destId="{30D56222-46DC-49B6-93B9-D527764F5239}" srcOrd="0" destOrd="0" presId="urn:microsoft.com/office/officeart/2005/8/layout/vList5"/>
    <dgm:cxn modelId="{C60880FC-6DCF-49AB-9ACE-301E520BFF88}" type="presParOf" srcId="{E09BFB03-DCE5-4F69-B1EA-8BFFFC32A2F1}" destId="{F4F20F46-BD9F-433C-B479-B55A8902755F}" srcOrd="1" destOrd="0" presId="urn:microsoft.com/office/officeart/2005/8/layout/vList5"/>
    <dgm:cxn modelId="{4C291006-A7A5-43E2-A6CE-A66492CF629C}" type="presParOf" srcId="{5210DC90-2BA6-45D5-8AAE-1A0ED2466398}" destId="{CC14BB53-AFF8-4807-B74B-1D1537452EDE}" srcOrd="1" destOrd="0" presId="urn:microsoft.com/office/officeart/2005/8/layout/vList5"/>
    <dgm:cxn modelId="{698A7240-4FD4-4246-BFE0-34234818FDC8}" type="presParOf" srcId="{5210DC90-2BA6-45D5-8AAE-1A0ED2466398}" destId="{4B8979C8-365D-4308-AA0B-602528C0C837}" srcOrd="2" destOrd="0" presId="urn:microsoft.com/office/officeart/2005/8/layout/vList5"/>
    <dgm:cxn modelId="{27A8AA9F-3029-4394-9042-1E99C28170B8}" type="presParOf" srcId="{4B8979C8-365D-4308-AA0B-602528C0C837}" destId="{1814F191-1891-489E-B0A1-1272D5EBF55F}" srcOrd="0" destOrd="0" presId="urn:microsoft.com/office/officeart/2005/8/layout/vList5"/>
    <dgm:cxn modelId="{7BE6C6BC-5B35-4833-AA91-34395537B8B8}" type="presParOf" srcId="{4B8979C8-365D-4308-AA0B-602528C0C837}" destId="{6E795E48-08AB-4278-AB2C-17633DCE4A21}" srcOrd="1" destOrd="0" presId="urn:microsoft.com/office/officeart/2005/8/layout/vList5"/>
    <dgm:cxn modelId="{CF78C1A9-6E4E-45AC-861A-2580F5669031}" type="presParOf" srcId="{5210DC90-2BA6-45D5-8AAE-1A0ED2466398}" destId="{7A2480FA-D083-42C6-98BD-3A55820E4EF8}" srcOrd="3" destOrd="0" presId="urn:microsoft.com/office/officeart/2005/8/layout/vList5"/>
    <dgm:cxn modelId="{7F4644A3-EDDB-45B8-A2DB-B1CCB84494C7}" type="presParOf" srcId="{5210DC90-2BA6-45D5-8AAE-1A0ED2466398}" destId="{08C96191-C635-4119-BDAE-47B734A368C7}" srcOrd="4" destOrd="0" presId="urn:microsoft.com/office/officeart/2005/8/layout/vList5"/>
    <dgm:cxn modelId="{7427AE15-84A1-4765-A607-6A1D39BACDD9}" type="presParOf" srcId="{08C96191-C635-4119-BDAE-47B734A368C7}" destId="{05B628AE-3B1C-4161-A2F2-79CC492C689A}" srcOrd="0" destOrd="0" presId="urn:microsoft.com/office/officeart/2005/8/layout/vList5"/>
    <dgm:cxn modelId="{419CEE65-F08A-4D36-BEB3-91EC9A9E9E88}" type="presParOf" srcId="{08C96191-C635-4119-BDAE-47B734A368C7}" destId="{19B361A2-D7A8-43A5-AA5B-63BFB24FB36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840F5F2-94FA-4CD6-8BF7-63040BA0352C}" type="doc">
      <dgm:prSet loTypeId="urn:microsoft.com/office/officeart/2016/7/layout/BasicLinearProcessNumbered" loCatId="process" qsTypeId="urn:microsoft.com/office/officeart/2005/8/quickstyle/simple1" qsCatId="simple" csTypeId="urn:microsoft.com/office/officeart/2005/8/colors/accent1_2" csCatId="accent1" phldr="1"/>
      <dgm:spPr/>
      <dgm:t>
        <a:bodyPr/>
        <a:lstStyle/>
        <a:p>
          <a:endParaRPr lang="en-US"/>
        </a:p>
      </dgm:t>
    </dgm:pt>
    <dgm:pt modelId="{EC86DCDB-D26F-4965-A378-9E795C7D775F}">
      <dgm:prSet/>
      <dgm:spPr/>
      <dgm:t>
        <a:bodyPr/>
        <a:lstStyle/>
        <a:p>
          <a:pPr>
            <a:buNone/>
          </a:pPr>
          <a:r>
            <a:rPr lang="en-US" dirty="0"/>
            <a:t>For Lab 02:</a:t>
          </a:r>
        </a:p>
      </dgm:t>
    </dgm:pt>
    <dgm:pt modelId="{F2CCADF5-E015-411F-940B-AB7D39FAA7E3}" type="parTrans" cxnId="{EAC7EA03-237A-4177-AF39-F258BD03A84C}">
      <dgm:prSet/>
      <dgm:spPr/>
      <dgm:t>
        <a:bodyPr/>
        <a:lstStyle/>
        <a:p>
          <a:endParaRPr lang="en-US"/>
        </a:p>
      </dgm:t>
    </dgm:pt>
    <dgm:pt modelId="{B3C1317B-62C2-4315-A086-9B12A0C575B2}" type="sibTrans" cxnId="{EAC7EA03-237A-4177-AF39-F258BD03A84C}">
      <dgm:prSet phldrT="1" phldr="0"/>
      <dgm:spPr/>
      <dgm:t>
        <a:bodyPr/>
        <a:lstStyle/>
        <a:p>
          <a:r>
            <a:rPr lang="en-US"/>
            <a:t>1</a:t>
          </a:r>
        </a:p>
      </dgm:t>
    </dgm:pt>
    <dgm:pt modelId="{5DAB3EFD-C8EA-4F2F-961D-33487B9B3831}">
      <dgm:prSet/>
      <dgm:spPr/>
      <dgm:t>
        <a:bodyPr/>
        <a:lstStyle/>
        <a:p>
          <a:r>
            <a:rPr lang="en-US" dirty="0"/>
            <a:t>choose a comparison</a:t>
          </a:r>
        </a:p>
      </dgm:t>
    </dgm:pt>
    <dgm:pt modelId="{73AD42D8-AA3A-4E33-9B90-29603715FDE0}" type="parTrans" cxnId="{32E31762-0749-4460-8A35-25E82B824E60}">
      <dgm:prSet/>
      <dgm:spPr/>
      <dgm:t>
        <a:bodyPr/>
        <a:lstStyle/>
        <a:p>
          <a:endParaRPr lang="en-US"/>
        </a:p>
      </dgm:t>
    </dgm:pt>
    <dgm:pt modelId="{E807C405-E54E-43CB-8BFA-0F5B35E6C200}" type="sibTrans" cxnId="{32E31762-0749-4460-8A35-25E82B824E60}">
      <dgm:prSet/>
      <dgm:spPr/>
      <dgm:t>
        <a:bodyPr/>
        <a:lstStyle/>
        <a:p>
          <a:endParaRPr lang="en-US"/>
        </a:p>
      </dgm:t>
    </dgm:pt>
    <dgm:pt modelId="{FDAB4C03-BC44-4502-9AB3-92F732898B62}">
      <dgm:prSet/>
      <dgm:spPr/>
      <dgm:t>
        <a:bodyPr/>
        <a:lstStyle/>
        <a:p>
          <a:r>
            <a:rPr lang="en-US" b="0" dirty="0"/>
            <a:t>implement or attempt both approaches</a:t>
          </a:r>
          <a:endParaRPr lang="en-US" dirty="0"/>
        </a:p>
      </dgm:t>
    </dgm:pt>
    <dgm:pt modelId="{F452423D-C7DB-4FEB-BCC5-BB8851CF6F62}" type="parTrans" cxnId="{D9D3277F-A041-4D61-9B1D-322D0D462F2D}">
      <dgm:prSet/>
      <dgm:spPr/>
      <dgm:t>
        <a:bodyPr/>
        <a:lstStyle/>
        <a:p>
          <a:endParaRPr lang="en-US"/>
        </a:p>
      </dgm:t>
    </dgm:pt>
    <dgm:pt modelId="{228A5F7B-3686-471A-B3B1-6F54AF148FF6}" type="sibTrans" cxnId="{D9D3277F-A041-4D61-9B1D-322D0D462F2D}">
      <dgm:prSet/>
      <dgm:spPr/>
      <dgm:t>
        <a:bodyPr/>
        <a:lstStyle/>
        <a:p>
          <a:endParaRPr lang="en-US"/>
        </a:p>
      </dgm:t>
    </dgm:pt>
    <dgm:pt modelId="{14B93EB1-2A6F-47CF-9508-DA0FCFED06F9}">
      <dgm:prSet/>
      <dgm:spPr/>
      <dgm:t>
        <a:bodyPr/>
        <a:lstStyle/>
        <a:p>
          <a:pPr>
            <a:buFont typeface="Arial" panose="020B0604020202020204" pitchFamily="34" charset="0"/>
            <a:buChar char="•"/>
          </a:pPr>
          <a:r>
            <a:rPr lang="en-US" b="0" dirty="0"/>
            <a:t>collect timing evidence</a:t>
          </a:r>
        </a:p>
      </dgm:t>
    </dgm:pt>
    <dgm:pt modelId="{E32BBCDE-BF8B-45C8-BC08-270F247A1EF6}" type="parTrans" cxnId="{5C8A86AB-92A6-422F-B3AB-601E64DB2C9B}">
      <dgm:prSet/>
      <dgm:spPr/>
      <dgm:t>
        <a:bodyPr/>
        <a:lstStyle/>
        <a:p>
          <a:endParaRPr lang="en-US"/>
        </a:p>
      </dgm:t>
    </dgm:pt>
    <dgm:pt modelId="{1F75B882-7C8E-4F96-AA4D-FE26DD7A5638}" type="sibTrans" cxnId="{5C8A86AB-92A6-422F-B3AB-601E64DB2C9B}">
      <dgm:prSet/>
      <dgm:spPr/>
      <dgm:t>
        <a:bodyPr/>
        <a:lstStyle/>
        <a:p>
          <a:endParaRPr lang="en-US"/>
        </a:p>
      </dgm:t>
    </dgm:pt>
    <dgm:pt modelId="{4749AAFA-75D8-48A5-987F-0CC6C704F6F2}">
      <dgm:prSet/>
      <dgm:spPr/>
      <dgm:t>
        <a:bodyPr/>
        <a:lstStyle/>
        <a:p>
          <a:pPr>
            <a:buFont typeface="Arial" panose="020B0604020202020204" pitchFamily="34" charset="0"/>
            <a:buChar char="•"/>
          </a:pPr>
          <a:r>
            <a:rPr lang="en-US" b="0" dirty="0"/>
            <a:t>build a table or chart</a:t>
          </a:r>
        </a:p>
      </dgm:t>
    </dgm:pt>
    <dgm:pt modelId="{6277A980-2365-49B7-95F6-7C1F66F0CE83}" type="parTrans" cxnId="{FB2D2BE9-C558-4E20-982C-777FEC51F99C}">
      <dgm:prSet/>
      <dgm:spPr/>
      <dgm:t>
        <a:bodyPr/>
        <a:lstStyle/>
        <a:p>
          <a:endParaRPr lang="en-US"/>
        </a:p>
      </dgm:t>
    </dgm:pt>
    <dgm:pt modelId="{642B5E97-32B3-4ABD-BA1C-609500E2F601}" type="sibTrans" cxnId="{FB2D2BE9-C558-4E20-982C-777FEC51F99C}">
      <dgm:prSet/>
      <dgm:spPr/>
      <dgm:t>
        <a:bodyPr/>
        <a:lstStyle/>
        <a:p>
          <a:endParaRPr lang="en-US"/>
        </a:p>
      </dgm:t>
    </dgm:pt>
    <dgm:pt modelId="{7E915CB4-F88A-4F3F-BCA3-EB822F4B80FB}">
      <dgm:prSet/>
      <dgm:spPr/>
      <dgm:t>
        <a:bodyPr/>
        <a:lstStyle/>
        <a:p>
          <a:pPr>
            <a:buFont typeface="Arial" panose="020B0604020202020204" pitchFamily="34" charset="0"/>
            <a:buChar char="•"/>
          </a:pPr>
          <a:r>
            <a:rPr lang="en-US" b="0" dirty="0"/>
            <a:t>explain the pattern cautiously</a:t>
          </a:r>
        </a:p>
      </dgm:t>
    </dgm:pt>
    <dgm:pt modelId="{FB0C631C-AD0D-41B5-8576-C5D191B8DCEE}" type="parTrans" cxnId="{51FC4412-2D8A-4CA1-B86E-2B7499BAF085}">
      <dgm:prSet/>
      <dgm:spPr/>
      <dgm:t>
        <a:bodyPr/>
        <a:lstStyle/>
        <a:p>
          <a:endParaRPr lang="en-US"/>
        </a:p>
      </dgm:t>
    </dgm:pt>
    <dgm:pt modelId="{D501E1CB-2F99-4323-B1F7-197AFB92CD10}" type="sibTrans" cxnId="{51FC4412-2D8A-4CA1-B86E-2B7499BAF085}">
      <dgm:prSet/>
      <dgm:spPr/>
      <dgm:t>
        <a:bodyPr/>
        <a:lstStyle/>
        <a:p>
          <a:endParaRPr lang="en-US"/>
        </a:p>
      </dgm:t>
    </dgm:pt>
    <dgm:pt modelId="{A4CEFACC-AFAC-472E-9C7D-78289EFB63D1}" type="pres">
      <dgm:prSet presAssocID="{4840F5F2-94FA-4CD6-8BF7-63040BA0352C}" presName="Name0" presStyleCnt="0">
        <dgm:presLayoutVars>
          <dgm:animLvl val="lvl"/>
          <dgm:resizeHandles val="exact"/>
        </dgm:presLayoutVars>
      </dgm:prSet>
      <dgm:spPr/>
    </dgm:pt>
    <dgm:pt modelId="{15D43CAF-FB9C-4C2E-A178-B5846807A9A3}" type="pres">
      <dgm:prSet presAssocID="{EC86DCDB-D26F-4965-A378-9E795C7D775F}" presName="compositeNode" presStyleCnt="0">
        <dgm:presLayoutVars>
          <dgm:bulletEnabled val="1"/>
        </dgm:presLayoutVars>
      </dgm:prSet>
      <dgm:spPr/>
    </dgm:pt>
    <dgm:pt modelId="{0579B2E2-F254-4758-975D-BCCCEBEB091F}" type="pres">
      <dgm:prSet presAssocID="{EC86DCDB-D26F-4965-A378-9E795C7D775F}" presName="bgRect" presStyleLbl="bgAccFollowNode1" presStyleIdx="0" presStyleCnt="1"/>
      <dgm:spPr/>
    </dgm:pt>
    <dgm:pt modelId="{6E066B6B-870C-47BB-B0D4-7DDBD6CCC405}" type="pres">
      <dgm:prSet presAssocID="{B3C1317B-62C2-4315-A086-9B12A0C575B2}" presName="sibTransNodeCircle" presStyleLbl="alignNode1" presStyleIdx="0" presStyleCnt="2">
        <dgm:presLayoutVars>
          <dgm:chMax val="0"/>
          <dgm:bulletEnabled/>
        </dgm:presLayoutVars>
      </dgm:prSet>
      <dgm:spPr/>
    </dgm:pt>
    <dgm:pt modelId="{661C993E-716A-4EDE-A4B7-74802377363E}" type="pres">
      <dgm:prSet presAssocID="{EC86DCDB-D26F-4965-A378-9E795C7D775F}" presName="bottomLine" presStyleLbl="alignNode1" presStyleIdx="1" presStyleCnt="2">
        <dgm:presLayoutVars/>
      </dgm:prSet>
      <dgm:spPr/>
    </dgm:pt>
    <dgm:pt modelId="{4F1D6665-5290-476B-9B2D-0218BE499140}" type="pres">
      <dgm:prSet presAssocID="{EC86DCDB-D26F-4965-A378-9E795C7D775F}" presName="nodeText" presStyleLbl="bgAccFollowNode1" presStyleIdx="0" presStyleCnt="1">
        <dgm:presLayoutVars>
          <dgm:bulletEnabled val="1"/>
        </dgm:presLayoutVars>
      </dgm:prSet>
      <dgm:spPr/>
    </dgm:pt>
  </dgm:ptLst>
  <dgm:cxnLst>
    <dgm:cxn modelId="{77267402-E700-44B8-BC8A-56E63D356CAB}" type="presOf" srcId="{7E915CB4-F88A-4F3F-BCA3-EB822F4B80FB}" destId="{4F1D6665-5290-476B-9B2D-0218BE499140}" srcOrd="0" destOrd="5" presId="urn:microsoft.com/office/officeart/2016/7/layout/BasicLinearProcessNumbered"/>
    <dgm:cxn modelId="{EAC7EA03-237A-4177-AF39-F258BD03A84C}" srcId="{4840F5F2-94FA-4CD6-8BF7-63040BA0352C}" destId="{EC86DCDB-D26F-4965-A378-9E795C7D775F}" srcOrd="0" destOrd="0" parTransId="{F2CCADF5-E015-411F-940B-AB7D39FAA7E3}" sibTransId="{B3C1317B-62C2-4315-A086-9B12A0C575B2}"/>
    <dgm:cxn modelId="{51FC4412-2D8A-4CA1-B86E-2B7499BAF085}" srcId="{EC86DCDB-D26F-4965-A378-9E795C7D775F}" destId="{7E915CB4-F88A-4F3F-BCA3-EB822F4B80FB}" srcOrd="4" destOrd="0" parTransId="{FB0C631C-AD0D-41B5-8576-C5D191B8DCEE}" sibTransId="{D501E1CB-2F99-4323-B1F7-197AFB92CD10}"/>
    <dgm:cxn modelId="{C01A0F1D-B714-48F3-AD3C-12E5E35FCF99}" type="presOf" srcId="{4749AAFA-75D8-48A5-987F-0CC6C704F6F2}" destId="{4F1D6665-5290-476B-9B2D-0218BE499140}" srcOrd="0" destOrd="4" presId="urn:microsoft.com/office/officeart/2016/7/layout/BasicLinearProcessNumbered"/>
    <dgm:cxn modelId="{17595D5F-4DE4-4F45-BB49-7071125E3710}" type="presOf" srcId="{B3C1317B-62C2-4315-A086-9B12A0C575B2}" destId="{6E066B6B-870C-47BB-B0D4-7DDBD6CCC405}" srcOrd="0" destOrd="0" presId="urn:microsoft.com/office/officeart/2016/7/layout/BasicLinearProcessNumbered"/>
    <dgm:cxn modelId="{32E31762-0749-4460-8A35-25E82B824E60}" srcId="{EC86DCDB-D26F-4965-A378-9E795C7D775F}" destId="{5DAB3EFD-C8EA-4F2F-961D-33487B9B3831}" srcOrd="0" destOrd="0" parTransId="{73AD42D8-AA3A-4E33-9B90-29603715FDE0}" sibTransId="{E807C405-E54E-43CB-8BFA-0F5B35E6C200}"/>
    <dgm:cxn modelId="{49258759-432A-4EBB-B687-D2F3F3273EC3}" type="presOf" srcId="{EC86DCDB-D26F-4965-A378-9E795C7D775F}" destId="{4F1D6665-5290-476B-9B2D-0218BE499140}" srcOrd="1" destOrd="0" presId="urn:microsoft.com/office/officeart/2016/7/layout/BasicLinearProcessNumbered"/>
    <dgm:cxn modelId="{D9D3277F-A041-4D61-9B1D-322D0D462F2D}" srcId="{EC86DCDB-D26F-4965-A378-9E795C7D775F}" destId="{FDAB4C03-BC44-4502-9AB3-92F732898B62}" srcOrd="1" destOrd="0" parTransId="{F452423D-C7DB-4FEB-BCC5-BB8851CF6F62}" sibTransId="{228A5F7B-3686-471A-B3B1-6F54AF148FF6}"/>
    <dgm:cxn modelId="{29E32D80-53E6-4E66-B57D-3FC32696A914}" type="presOf" srcId="{5DAB3EFD-C8EA-4F2F-961D-33487B9B3831}" destId="{4F1D6665-5290-476B-9B2D-0218BE499140}" srcOrd="0" destOrd="1" presId="urn:microsoft.com/office/officeart/2016/7/layout/BasicLinearProcessNumbered"/>
    <dgm:cxn modelId="{DBCAB18E-D95F-4068-999A-1A7F3D9E9AAF}" type="presOf" srcId="{4840F5F2-94FA-4CD6-8BF7-63040BA0352C}" destId="{A4CEFACC-AFAC-472E-9C7D-78289EFB63D1}" srcOrd="0" destOrd="0" presId="urn:microsoft.com/office/officeart/2016/7/layout/BasicLinearProcessNumbered"/>
    <dgm:cxn modelId="{19957AA2-0EF5-426A-AEE8-9C759DEB4B95}" type="presOf" srcId="{EC86DCDB-D26F-4965-A378-9E795C7D775F}" destId="{0579B2E2-F254-4758-975D-BCCCEBEB091F}" srcOrd="0" destOrd="0" presId="urn:microsoft.com/office/officeart/2016/7/layout/BasicLinearProcessNumbered"/>
    <dgm:cxn modelId="{5C8A86AB-92A6-422F-B3AB-601E64DB2C9B}" srcId="{EC86DCDB-D26F-4965-A378-9E795C7D775F}" destId="{14B93EB1-2A6F-47CF-9508-DA0FCFED06F9}" srcOrd="2" destOrd="0" parTransId="{E32BBCDE-BF8B-45C8-BC08-270F247A1EF6}" sibTransId="{1F75B882-7C8E-4F96-AA4D-FE26DD7A5638}"/>
    <dgm:cxn modelId="{04B189C2-AC99-4B17-8552-83292DB85F32}" type="presOf" srcId="{14B93EB1-2A6F-47CF-9508-DA0FCFED06F9}" destId="{4F1D6665-5290-476B-9B2D-0218BE499140}" srcOrd="0" destOrd="3" presId="urn:microsoft.com/office/officeart/2016/7/layout/BasicLinearProcessNumbered"/>
    <dgm:cxn modelId="{9FC855D5-2C22-4332-BDC1-AE495768F935}" type="presOf" srcId="{FDAB4C03-BC44-4502-9AB3-92F732898B62}" destId="{4F1D6665-5290-476B-9B2D-0218BE499140}" srcOrd="0" destOrd="2" presId="urn:microsoft.com/office/officeart/2016/7/layout/BasicLinearProcessNumbered"/>
    <dgm:cxn modelId="{FB2D2BE9-C558-4E20-982C-777FEC51F99C}" srcId="{EC86DCDB-D26F-4965-A378-9E795C7D775F}" destId="{4749AAFA-75D8-48A5-987F-0CC6C704F6F2}" srcOrd="3" destOrd="0" parTransId="{6277A980-2365-49B7-95F6-7C1F66F0CE83}" sibTransId="{642B5E97-32B3-4ABD-BA1C-609500E2F601}"/>
    <dgm:cxn modelId="{62C420E6-AB07-4C07-B2EB-BAE7F1C95841}" type="presParOf" srcId="{A4CEFACC-AFAC-472E-9C7D-78289EFB63D1}" destId="{15D43CAF-FB9C-4C2E-A178-B5846807A9A3}" srcOrd="0" destOrd="0" presId="urn:microsoft.com/office/officeart/2016/7/layout/BasicLinearProcessNumbered"/>
    <dgm:cxn modelId="{3A84E957-B8F0-4904-9475-D0C2C191683F}" type="presParOf" srcId="{15D43CAF-FB9C-4C2E-A178-B5846807A9A3}" destId="{0579B2E2-F254-4758-975D-BCCCEBEB091F}" srcOrd="0" destOrd="0" presId="urn:microsoft.com/office/officeart/2016/7/layout/BasicLinearProcessNumbered"/>
    <dgm:cxn modelId="{5B6BBE3F-852E-43DD-B04A-D69445C81C71}" type="presParOf" srcId="{15D43CAF-FB9C-4C2E-A178-B5846807A9A3}" destId="{6E066B6B-870C-47BB-B0D4-7DDBD6CCC405}" srcOrd="1" destOrd="0" presId="urn:microsoft.com/office/officeart/2016/7/layout/BasicLinearProcessNumbered"/>
    <dgm:cxn modelId="{F3E2039E-6180-4865-8B0E-0D9841205EAE}" type="presParOf" srcId="{15D43CAF-FB9C-4C2E-A178-B5846807A9A3}" destId="{661C993E-716A-4EDE-A4B7-74802377363E}" srcOrd="2" destOrd="0" presId="urn:microsoft.com/office/officeart/2016/7/layout/BasicLinearProcessNumbered"/>
    <dgm:cxn modelId="{D80A3FA2-14B2-4876-9B62-C1D54E266A0A}" type="presParOf" srcId="{15D43CAF-FB9C-4C2E-A178-B5846807A9A3}" destId="{4F1D6665-5290-476B-9B2D-0218BE499140}"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2F3400-ACEA-4BF2-B7EA-1224E7E39347}">
      <dsp:nvSpPr>
        <dsp:cNvPr id="0" name=""/>
        <dsp:cNvSpPr/>
      </dsp:nvSpPr>
      <dsp:spPr>
        <a:xfrm>
          <a:off x="0" y="513678"/>
          <a:ext cx="6447234" cy="3326400"/>
        </a:xfrm>
        <a:prstGeom prst="rect">
          <a:avLst/>
        </a:prstGeom>
        <a:solidFill>
          <a:schemeClr val="lt1">
            <a:alpha val="90000"/>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0377" tIns="666496" rIns="500377" bIns="227584" numCol="1" spcCol="1270" anchor="t" anchorCtr="0">
          <a:noAutofit/>
        </a:bodyPr>
        <a:lstStyle/>
        <a:p>
          <a:pPr marL="285750" lvl="1" indent="-285750" algn="l" defTabSz="1422400">
            <a:lnSpc>
              <a:spcPct val="90000"/>
            </a:lnSpc>
            <a:spcBef>
              <a:spcPct val="0"/>
            </a:spcBef>
            <a:spcAft>
              <a:spcPct val="15000"/>
            </a:spcAft>
            <a:buChar char="•"/>
          </a:pPr>
          <a:r>
            <a:rPr lang="en-US" sz="3200" kern="1200"/>
            <a:t>precise rules</a:t>
          </a:r>
        </a:p>
        <a:p>
          <a:pPr marL="285750" lvl="1" indent="-285750" algn="l" defTabSz="1422400">
            <a:lnSpc>
              <a:spcPct val="90000"/>
            </a:lnSpc>
            <a:spcBef>
              <a:spcPct val="0"/>
            </a:spcBef>
            <a:spcAft>
              <a:spcPct val="15000"/>
            </a:spcAft>
            <a:buChar char="•"/>
          </a:pPr>
          <a:r>
            <a:rPr lang="en-US" sz="3200" kern="1200"/>
            <a:t>expected results</a:t>
          </a:r>
        </a:p>
        <a:p>
          <a:pPr marL="285750" lvl="1" indent="-285750" algn="l" defTabSz="1422400">
            <a:lnSpc>
              <a:spcPct val="90000"/>
            </a:lnSpc>
            <a:spcBef>
              <a:spcPct val="0"/>
            </a:spcBef>
            <a:spcAft>
              <a:spcPct val="15000"/>
            </a:spcAft>
            <a:buChar char="•"/>
          </a:pPr>
          <a:r>
            <a:rPr lang="en-US" sz="3200" kern="1200"/>
            <a:t>actual results</a:t>
          </a:r>
        </a:p>
        <a:p>
          <a:pPr marL="285750" lvl="1" indent="-285750" algn="l" defTabSz="1422400">
            <a:lnSpc>
              <a:spcPct val="90000"/>
            </a:lnSpc>
            <a:spcBef>
              <a:spcPct val="0"/>
            </a:spcBef>
            <a:spcAft>
              <a:spcPct val="15000"/>
            </a:spcAft>
            <a:buChar char="•"/>
          </a:pPr>
          <a:r>
            <a:rPr lang="en-US" sz="3200" kern="1200"/>
            <a:t>edge cases</a:t>
          </a:r>
        </a:p>
        <a:p>
          <a:pPr marL="285750" lvl="1" indent="-285750" algn="l" defTabSz="1422400">
            <a:lnSpc>
              <a:spcPct val="90000"/>
            </a:lnSpc>
            <a:spcBef>
              <a:spcPct val="0"/>
            </a:spcBef>
            <a:spcAft>
              <a:spcPct val="15000"/>
            </a:spcAft>
            <a:buChar char="•"/>
          </a:pPr>
          <a:r>
            <a:rPr lang="en-US" sz="3200" kern="1200"/>
            <a:t>revision based on evidence</a:t>
          </a:r>
        </a:p>
      </dsp:txBody>
      <dsp:txXfrm>
        <a:off x="0" y="513678"/>
        <a:ext cx="6447234" cy="3326400"/>
      </dsp:txXfrm>
    </dsp:sp>
    <dsp:sp modelId="{91615320-4CF6-4AA6-903B-2DA45376792B}">
      <dsp:nvSpPr>
        <dsp:cNvPr id="0" name=""/>
        <dsp:cNvSpPr/>
      </dsp:nvSpPr>
      <dsp:spPr>
        <a:xfrm>
          <a:off x="322361" y="41358"/>
          <a:ext cx="4513063" cy="94464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583" tIns="0" rIns="170583" bIns="0" numCol="1" spcCol="1270" anchor="ctr" anchorCtr="0">
          <a:noAutofit/>
        </a:bodyPr>
        <a:lstStyle/>
        <a:p>
          <a:pPr marL="0" lvl="0" indent="0" algn="l" defTabSz="1422400">
            <a:lnSpc>
              <a:spcPct val="90000"/>
            </a:lnSpc>
            <a:spcBef>
              <a:spcPct val="0"/>
            </a:spcBef>
            <a:spcAft>
              <a:spcPct val="35000"/>
            </a:spcAft>
            <a:buNone/>
          </a:pPr>
          <a:r>
            <a:rPr lang="en-US" sz="3200" kern="1200"/>
            <a:t>Last week, we focused on:</a:t>
          </a:r>
        </a:p>
      </dsp:txBody>
      <dsp:txXfrm>
        <a:off x="368475" y="87472"/>
        <a:ext cx="4420835" cy="8524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7DEE2-2529-4048-A027-0347422F7B4B}">
      <dsp:nvSpPr>
        <dsp:cNvPr id="0" name=""/>
        <dsp:cNvSpPr/>
      </dsp:nvSpPr>
      <dsp:spPr>
        <a:xfrm>
          <a:off x="0" y="92677"/>
          <a:ext cx="5019610" cy="874575"/>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compare two approaches</a:t>
          </a:r>
        </a:p>
      </dsp:txBody>
      <dsp:txXfrm>
        <a:off x="42693" y="135370"/>
        <a:ext cx="4934224" cy="789189"/>
      </dsp:txXfrm>
    </dsp:sp>
    <dsp:sp modelId="{953729D8-D97F-44F2-81C8-913FF1732DF0}">
      <dsp:nvSpPr>
        <dsp:cNvPr id="0" name=""/>
        <dsp:cNvSpPr/>
      </dsp:nvSpPr>
      <dsp:spPr>
        <a:xfrm>
          <a:off x="0" y="1033492"/>
          <a:ext cx="5019610" cy="874575"/>
        </a:xfrm>
        <a:prstGeom prst="roundRect">
          <a:avLst/>
        </a:prstGeom>
        <a:gradFill rotWithShape="0">
          <a:gsLst>
            <a:gs pos="0">
              <a:schemeClr val="accent2">
                <a:hueOff val="-2474057"/>
                <a:satOff val="8986"/>
                <a:lumOff val="834"/>
                <a:alphaOff val="0"/>
                <a:tint val="96000"/>
                <a:lumMod val="100000"/>
              </a:schemeClr>
            </a:gs>
            <a:gs pos="78000">
              <a:schemeClr val="accent2">
                <a:hueOff val="-2474057"/>
                <a:satOff val="8986"/>
                <a:lumOff val="834"/>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collect timing evidence</a:t>
          </a:r>
        </a:p>
      </dsp:txBody>
      <dsp:txXfrm>
        <a:off x="42693" y="1076185"/>
        <a:ext cx="4934224" cy="789189"/>
      </dsp:txXfrm>
    </dsp:sp>
    <dsp:sp modelId="{A8D91054-8DD9-448A-904B-04704F91BE5B}">
      <dsp:nvSpPr>
        <dsp:cNvPr id="0" name=""/>
        <dsp:cNvSpPr/>
      </dsp:nvSpPr>
      <dsp:spPr>
        <a:xfrm>
          <a:off x="0" y="1974307"/>
          <a:ext cx="5019610" cy="874575"/>
        </a:xfrm>
        <a:prstGeom prst="roundRect">
          <a:avLst/>
        </a:prstGeom>
        <a:gradFill rotWithShape="0">
          <a:gsLst>
            <a:gs pos="0">
              <a:schemeClr val="accent2">
                <a:hueOff val="-4948115"/>
                <a:satOff val="17972"/>
                <a:lumOff val="1667"/>
                <a:alphaOff val="0"/>
                <a:tint val="96000"/>
                <a:lumMod val="100000"/>
              </a:schemeClr>
            </a:gs>
            <a:gs pos="78000">
              <a:schemeClr val="accent2">
                <a:hueOff val="-4948115"/>
                <a:satOff val="17972"/>
                <a:lumOff val="166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describe growth cautiously</a:t>
          </a:r>
        </a:p>
      </dsp:txBody>
      <dsp:txXfrm>
        <a:off x="42693" y="2017000"/>
        <a:ext cx="4934224" cy="789189"/>
      </dsp:txXfrm>
    </dsp:sp>
    <dsp:sp modelId="{757879D0-74B4-423F-8DF0-7031701AE794}">
      <dsp:nvSpPr>
        <dsp:cNvPr id="0" name=""/>
        <dsp:cNvSpPr/>
      </dsp:nvSpPr>
      <dsp:spPr>
        <a:xfrm>
          <a:off x="0" y="2915122"/>
          <a:ext cx="5019610" cy="874575"/>
        </a:xfrm>
        <a:prstGeom prst="roundRect">
          <a:avLst/>
        </a:prstGeom>
        <a:gradFill rotWithShape="0">
          <a:gsLst>
            <a:gs pos="0">
              <a:schemeClr val="accent2">
                <a:hueOff val="-7422172"/>
                <a:satOff val="26958"/>
                <a:lumOff val="2501"/>
                <a:alphaOff val="0"/>
                <a:tint val="96000"/>
                <a:lumMod val="100000"/>
              </a:schemeClr>
            </a:gs>
            <a:gs pos="78000">
              <a:schemeClr val="accent2">
                <a:hueOff val="-7422172"/>
                <a:satOff val="26958"/>
                <a:lumOff val="2501"/>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use basic Big-O vocabulary</a:t>
          </a:r>
        </a:p>
      </dsp:txBody>
      <dsp:txXfrm>
        <a:off x="42693" y="2957815"/>
        <a:ext cx="4934224" cy="789189"/>
      </dsp:txXfrm>
    </dsp:sp>
    <dsp:sp modelId="{2E76E2E3-35EA-48C7-A45C-F0395CE090B2}">
      <dsp:nvSpPr>
        <dsp:cNvPr id="0" name=""/>
        <dsp:cNvSpPr/>
      </dsp:nvSpPr>
      <dsp:spPr>
        <a:xfrm>
          <a:off x="0" y="3855937"/>
          <a:ext cx="5019610" cy="874575"/>
        </a:xfrm>
        <a:prstGeom prst="roundRect">
          <a:avLst/>
        </a:prstGeom>
        <a:gradFill rotWithShape="0">
          <a:gsLst>
            <a:gs pos="0">
              <a:schemeClr val="accent2">
                <a:hueOff val="-9896230"/>
                <a:satOff val="35944"/>
                <a:lumOff val="3335"/>
                <a:alphaOff val="0"/>
                <a:tint val="96000"/>
                <a:lumMod val="100000"/>
              </a:schemeClr>
            </a:gs>
            <a:gs pos="78000">
              <a:schemeClr val="accent2">
                <a:hueOff val="-9896230"/>
                <a:satOff val="35944"/>
                <a:lumOff val="33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identify a limitation of your evidence</a:t>
          </a:r>
        </a:p>
      </dsp:txBody>
      <dsp:txXfrm>
        <a:off x="42693" y="3898630"/>
        <a:ext cx="4934224" cy="7891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B2661D-6DDE-4A78-80A9-B08DE5FDD011}">
      <dsp:nvSpPr>
        <dsp:cNvPr id="0" name=""/>
        <dsp:cNvSpPr/>
      </dsp:nvSpPr>
      <dsp:spPr>
        <a:xfrm>
          <a:off x="0" y="2001"/>
          <a:ext cx="5019610" cy="10145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6DD5C4-C67C-496C-A33A-F6FCCD8AC525}">
      <dsp:nvSpPr>
        <dsp:cNvPr id="0" name=""/>
        <dsp:cNvSpPr/>
      </dsp:nvSpPr>
      <dsp:spPr>
        <a:xfrm>
          <a:off x="306906" y="230279"/>
          <a:ext cx="558011" cy="5580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4A4C0D7-B632-4BD5-AB79-4F958EC39EE9}">
      <dsp:nvSpPr>
        <dsp:cNvPr id="0" name=""/>
        <dsp:cNvSpPr/>
      </dsp:nvSpPr>
      <dsp:spPr>
        <a:xfrm>
          <a:off x="1171823" y="2001"/>
          <a:ext cx="3847786" cy="101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375" tIns="107375" rIns="107375" bIns="107375" numCol="1" spcCol="1270" anchor="ctr" anchorCtr="0">
          <a:noAutofit/>
        </a:bodyPr>
        <a:lstStyle/>
        <a:p>
          <a:pPr marL="0" lvl="0" indent="0" algn="l" defTabSz="977900">
            <a:lnSpc>
              <a:spcPct val="90000"/>
            </a:lnSpc>
            <a:spcBef>
              <a:spcPct val="0"/>
            </a:spcBef>
            <a:spcAft>
              <a:spcPct val="35000"/>
            </a:spcAft>
            <a:buNone/>
          </a:pPr>
          <a:r>
            <a:rPr lang="en-US" sz="2200" kern="1200"/>
            <a:t>What is the input size?</a:t>
          </a:r>
        </a:p>
      </dsp:txBody>
      <dsp:txXfrm>
        <a:off x="1171823" y="2001"/>
        <a:ext cx="3847786" cy="1014565"/>
      </dsp:txXfrm>
    </dsp:sp>
    <dsp:sp modelId="{958D5003-7E84-4A83-B8C3-C6A6AA36A80E}">
      <dsp:nvSpPr>
        <dsp:cNvPr id="0" name=""/>
        <dsp:cNvSpPr/>
      </dsp:nvSpPr>
      <dsp:spPr>
        <a:xfrm>
          <a:off x="0" y="1270208"/>
          <a:ext cx="5019610" cy="10145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669303-E61E-434A-A5D8-EA67F833F131}">
      <dsp:nvSpPr>
        <dsp:cNvPr id="0" name=""/>
        <dsp:cNvSpPr/>
      </dsp:nvSpPr>
      <dsp:spPr>
        <a:xfrm>
          <a:off x="306906" y="1498486"/>
          <a:ext cx="558011" cy="5580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0B44379-F984-4048-B0E0-59909A920F61}">
      <dsp:nvSpPr>
        <dsp:cNvPr id="0" name=""/>
        <dsp:cNvSpPr/>
      </dsp:nvSpPr>
      <dsp:spPr>
        <a:xfrm>
          <a:off x="1171823" y="1270208"/>
          <a:ext cx="3847786" cy="101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375" tIns="107375" rIns="107375" bIns="107375" numCol="1" spcCol="1270" anchor="ctr" anchorCtr="0">
          <a:noAutofit/>
        </a:bodyPr>
        <a:lstStyle/>
        <a:p>
          <a:pPr marL="0" lvl="0" indent="0" algn="l" defTabSz="977900">
            <a:lnSpc>
              <a:spcPct val="90000"/>
            </a:lnSpc>
            <a:spcBef>
              <a:spcPct val="0"/>
            </a:spcBef>
            <a:spcAft>
              <a:spcPct val="35000"/>
            </a:spcAft>
            <a:buNone/>
          </a:pPr>
          <a:r>
            <a:rPr lang="en-US" sz="2200" kern="1200"/>
            <a:t>What work repeats?</a:t>
          </a:r>
        </a:p>
      </dsp:txBody>
      <dsp:txXfrm>
        <a:off x="1171823" y="1270208"/>
        <a:ext cx="3847786" cy="1014565"/>
      </dsp:txXfrm>
    </dsp:sp>
    <dsp:sp modelId="{CDDE34DF-B837-4B8C-BB62-BED6E38E38D0}">
      <dsp:nvSpPr>
        <dsp:cNvPr id="0" name=""/>
        <dsp:cNvSpPr/>
      </dsp:nvSpPr>
      <dsp:spPr>
        <a:xfrm>
          <a:off x="0" y="2538415"/>
          <a:ext cx="5019610" cy="10145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C164C3-3D3E-4B34-8153-27C2C34A565B}">
      <dsp:nvSpPr>
        <dsp:cNvPr id="0" name=""/>
        <dsp:cNvSpPr/>
      </dsp:nvSpPr>
      <dsp:spPr>
        <a:xfrm>
          <a:off x="306906" y="2766692"/>
          <a:ext cx="558011" cy="5580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5041796-80D1-4BBC-A764-873429849F5B}">
      <dsp:nvSpPr>
        <dsp:cNvPr id="0" name=""/>
        <dsp:cNvSpPr/>
      </dsp:nvSpPr>
      <dsp:spPr>
        <a:xfrm>
          <a:off x="1171823" y="2538415"/>
          <a:ext cx="3847786" cy="101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375" tIns="107375" rIns="107375" bIns="107375" numCol="1" spcCol="1270" anchor="ctr" anchorCtr="0">
          <a:noAutofit/>
        </a:bodyPr>
        <a:lstStyle/>
        <a:p>
          <a:pPr marL="0" lvl="0" indent="0" algn="l" defTabSz="977900">
            <a:lnSpc>
              <a:spcPct val="90000"/>
            </a:lnSpc>
            <a:spcBef>
              <a:spcPct val="0"/>
            </a:spcBef>
            <a:spcAft>
              <a:spcPct val="35000"/>
            </a:spcAft>
            <a:buNone/>
          </a:pPr>
          <a:r>
            <a:rPr lang="en-US" sz="2200" kern="1200"/>
            <a:t>Does memory grow?</a:t>
          </a:r>
        </a:p>
      </dsp:txBody>
      <dsp:txXfrm>
        <a:off x="1171823" y="2538415"/>
        <a:ext cx="3847786" cy="1014565"/>
      </dsp:txXfrm>
    </dsp:sp>
    <dsp:sp modelId="{DC3D980B-20B7-4CBA-B2D7-FE8BC30F7CE4}">
      <dsp:nvSpPr>
        <dsp:cNvPr id="0" name=""/>
        <dsp:cNvSpPr/>
      </dsp:nvSpPr>
      <dsp:spPr>
        <a:xfrm>
          <a:off x="0" y="3806622"/>
          <a:ext cx="5019610" cy="10145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3F5B70-02E1-4EE0-A68F-923AA20158AA}">
      <dsp:nvSpPr>
        <dsp:cNvPr id="0" name=""/>
        <dsp:cNvSpPr/>
      </dsp:nvSpPr>
      <dsp:spPr>
        <a:xfrm>
          <a:off x="306906" y="4034899"/>
          <a:ext cx="558011" cy="5580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4C7780F-C5A2-4140-8310-F54B963787D8}">
      <dsp:nvSpPr>
        <dsp:cNvPr id="0" name=""/>
        <dsp:cNvSpPr/>
      </dsp:nvSpPr>
      <dsp:spPr>
        <a:xfrm>
          <a:off x="1171823" y="3806622"/>
          <a:ext cx="3847786" cy="101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375" tIns="107375" rIns="107375" bIns="107375" numCol="1" spcCol="1270" anchor="ctr" anchorCtr="0">
          <a:noAutofit/>
        </a:bodyPr>
        <a:lstStyle/>
        <a:p>
          <a:pPr marL="0" lvl="0" indent="0" algn="l" defTabSz="977900">
            <a:lnSpc>
              <a:spcPct val="90000"/>
            </a:lnSpc>
            <a:spcBef>
              <a:spcPct val="0"/>
            </a:spcBef>
            <a:spcAft>
              <a:spcPct val="35000"/>
            </a:spcAft>
            <a:buNone/>
          </a:pPr>
          <a:r>
            <a:rPr lang="en-US" sz="2200" kern="1200"/>
            <a:t>Does timing suggest a pattern?</a:t>
          </a:r>
        </a:p>
      </dsp:txBody>
      <dsp:txXfrm>
        <a:off x="1171823" y="3806622"/>
        <a:ext cx="3847786" cy="10145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C71D1E-8874-4C73-87F0-32F63EC80A5C}">
      <dsp:nvSpPr>
        <dsp:cNvPr id="0" name=""/>
        <dsp:cNvSpPr/>
      </dsp:nvSpPr>
      <dsp:spPr>
        <a:xfrm>
          <a:off x="695018" y="381740"/>
          <a:ext cx="1990125" cy="199012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BCA69C-0526-45F2-96A0-47FADF1494F4}">
      <dsp:nvSpPr>
        <dsp:cNvPr id="0" name=""/>
        <dsp:cNvSpPr/>
      </dsp:nvSpPr>
      <dsp:spPr>
        <a:xfrm>
          <a:off x="1119143" y="805865"/>
          <a:ext cx="1141875" cy="11418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24B8DF7-21C0-422B-BB32-C52434A80512}">
      <dsp:nvSpPr>
        <dsp:cNvPr id="0" name=""/>
        <dsp:cNvSpPr/>
      </dsp:nvSpPr>
      <dsp:spPr>
        <a:xfrm>
          <a:off x="58831" y="2991741"/>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Sequential steps add together.</a:t>
          </a:r>
        </a:p>
      </dsp:txBody>
      <dsp:txXfrm>
        <a:off x="58831" y="2991741"/>
        <a:ext cx="3262500" cy="720000"/>
      </dsp:txXfrm>
    </dsp:sp>
    <dsp:sp modelId="{4408F8DD-E5EC-4463-8ED7-D828000FC37A}">
      <dsp:nvSpPr>
        <dsp:cNvPr id="0" name=""/>
        <dsp:cNvSpPr/>
      </dsp:nvSpPr>
      <dsp:spPr>
        <a:xfrm>
          <a:off x="4528456" y="381740"/>
          <a:ext cx="1990125" cy="199012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007AA9-B114-425F-B628-DED6E4A2CE2E}">
      <dsp:nvSpPr>
        <dsp:cNvPr id="0" name=""/>
        <dsp:cNvSpPr/>
      </dsp:nvSpPr>
      <dsp:spPr>
        <a:xfrm>
          <a:off x="4952581" y="805865"/>
          <a:ext cx="1141875" cy="11418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84BD9C0-DA71-4EBE-8F74-19006F236774}">
      <dsp:nvSpPr>
        <dsp:cNvPr id="0" name=""/>
        <dsp:cNvSpPr/>
      </dsp:nvSpPr>
      <dsp:spPr>
        <a:xfrm>
          <a:off x="3892268" y="2991741"/>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If steps happen one after another, estimate the growth of each part and keep the dominant pattern.</a:t>
          </a:r>
        </a:p>
      </dsp:txBody>
      <dsp:txXfrm>
        <a:off x="3892268" y="2991741"/>
        <a:ext cx="326250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7E2135-1DE7-4BB0-81AE-2326C61B7EFD}">
      <dsp:nvSpPr>
        <dsp:cNvPr id="0" name=""/>
        <dsp:cNvSpPr/>
      </dsp:nvSpPr>
      <dsp:spPr>
        <a:xfrm>
          <a:off x="2315562" y="314524"/>
          <a:ext cx="1375265" cy="1375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Cut the search space in half</a:t>
          </a:r>
        </a:p>
      </dsp:txBody>
      <dsp:txXfrm>
        <a:off x="2315562" y="314524"/>
        <a:ext cx="1375265" cy="1375265"/>
      </dsp:txXfrm>
    </dsp:sp>
    <dsp:sp modelId="{302FEA51-D91D-44BE-850B-547D4C922236}">
      <dsp:nvSpPr>
        <dsp:cNvPr id="0" name=""/>
        <dsp:cNvSpPr/>
      </dsp:nvSpPr>
      <dsp:spPr>
        <a:xfrm>
          <a:off x="218622" y="43354"/>
          <a:ext cx="3254162" cy="3254162"/>
        </a:xfrm>
        <a:prstGeom prst="circularArrow">
          <a:avLst>
            <a:gd name="adj1" fmla="val 8241"/>
            <a:gd name="adj2" fmla="val 575484"/>
            <a:gd name="adj3" fmla="val 2966750"/>
            <a:gd name="adj4" fmla="val 49783"/>
            <a:gd name="adj5" fmla="val 9615"/>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00ADB1-FE6F-42E7-A55C-AA3B929E1A95}">
      <dsp:nvSpPr>
        <dsp:cNvPr id="0" name=""/>
        <dsp:cNvSpPr/>
      </dsp:nvSpPr>
      <dsp:spPr>
        <a:xfrm>
          <a:off x="1158070" y="2319359"/>
          <a:ext cx="1375265" cy="1375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Ignore ½ the remaining possibilities</a:t>
          </a:r>
        </a:p>
      </dsp:txBody>
      <dsp:txXfrm>
        <a:off x="1158070" y="2319359"/>
        <a:ext cx="1375265" cy="1375265"/>
      </dsp:txXfrm>
    </dsp:sp>
    <dsp:sp modelId="{6EE77C2D-365B-4B6A-AC97-3CE73AB38C50}">
      <dsp:nvSpPr>
        <dsp:cNvPr id="0" name=""/>
        <dsp:cNvSpPr/>
      </dsp:nvSpPr>
      <dsp:spPr>
        <a:xfrm>
          <a:off x="218622" y="43354"/>
          <a:ext cx="3254162" cy="3254162"/>
        </a:xfrm>
        <a:prstGeom prst="circularArrow">
          <a:avLst>
            <a:gd name="adj1" fmla="val 8241"/>
            <a:gd name="adj2" fmla="val 575484"/>
            <a:gd name="adj3" fmla="val 10174732"/>
            <a:gd name="adj4" fmla="val 7257765"/>
            <a:gd name="adj5" fmla="val 9615"/>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D13B9A-54EC-449D-9CBD-41B841304E66}">
      <dsp:nvSpPr>
        <dsp:cNvPr id="0" name=""/>
        <dsp:cNvSpPr/>
      </dsp:nvSpPr>
      <dsp:spPr>
        <a:xfrm>
          <a:off x="578" y="314524"/>
          <a:ext cx="1375265" cy="1375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Repeat</a:t>
          </a:r>
        </a:p>
      </dsp:txBody>
      <dsp:txXfrm>
        <a:off x="578" y="314524"/>
        <a:ext cx="1375265" cy="1375265"/>
      </dsp:txXfrm>
    </dsp:sp>
    <dsp:sp modelId="{3EE47FB7-62F2-450D-8FA7-FAAC2F84A887}">
      <dsp:nvSpPr>
        <dsp:cNvPr id="0" name=""/>
        <dsp:cNvSpPr/>
      </dsp:nvSpPr>
      <dsp:spPr>
        <a:xfrm>
          <a:off x="218622" y="43354"/>
          <a:ext cx="3254162" cy="3254162"/>
        </a:xfrm>
        <a:prstGeom prst="circularArrow">
          <a:avLst>
            <a:gd name="adj1" fmla="val 8241"/>
            <a:gd name="adj2" fmla="val 575484"/>
            <a:gd name="adj3" fmla="val 16859425"/>
            <a:gd name="adj4" fmla="val 14965091"/>
            <a:gd name="adj5" fmla="val 9615"/>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C2368-FC75-4537-9AAE-6F5D9D7E497D}">
      <dsp:nvSpPr>
        <dsp:cNvPr id="0" name=""/>
        <dsp:cNvSpPr/>
      </dsp:nvSpPr>
      <dsp:spPr>
        <a:xfrm>
          <a:off x="0" y="468766"/>
          <a:ext cx="2254250" cy="3155950"/>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750" tIns="330200" rIns="175750" bIns="330200" numCol="1" spcCol="1270" anchor="t" anchorCtr="0">
          <a:noAutofit/>
        </a:bodyPr>
        <a:lstStyle/>
        <a:p>
          <a:pPr marL="0" lvl="0" indent="0" algn="l" defTabSz="1155700">
            <a:lnSpc>
              <a:spcPct val="90000"/>
            </a:lnSpc>
            <a:spcBef>
              <a:spcPct val="0"/>
            </a:spcBef>
            <a:spcAft>
              <a:spcPct val="35000"/>
            </a:spcAft>
            <a:buNone/>
          </a:pPr>
          <a:r>
            <a:rPr lang="en-US" sz="2600" kern="1200"/>
            <a:t>Best case: easiest input</a:t>
          </a:r>
        </a:p>
      </dsp:txBody>
      <dsp:txXfrm>
        <a:off x="0" y="1668027"/>
        <a:ext cx="2254250" cy="1893570"/>
      </dsp:txXfrm>
    </dsp:sp>
    <dsp:sp modelId="{02F9880D-EB01-42BE-B42D-33C046D57143}">
      <dsp:nvSpPr>
        <dsp:cNvPr id="0" name=""/>
        <dsp:cNvSpPr/>
      </dsp:nvSpPr>
      <dsp:spPr>
        <a:xfrm>
          <a:off x="653732" y="784361"/>
          <a:ext cx="946785" cy="946785"/>
        </a:xfrm>
        <a:prstGeom prst="ellips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815" tIns="12700" rIns="73815"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792385" y="923014"/>
        <a:ext cx="669479" cy="669479"/>
      </dsp:txXfrm>
    </dsp:sp>
    <dsp:sp modelId="{003332DA-974F-4424-A1A5-1796FE201E28}">
      <dsp:nvSpPr>
        <dsp:cNvPr id="0" name=""/>
        <dsp:cNvSpPr/>
      </dsp:nvSpPr>
      <dsp:spPr>
        <a:xfrm>
          <a:off x="0" y="3624644"/>
          <a:ext cx="2254250" cy="72"/>
        </a:xfrm>
        <a:prstGeom prst="rect">
          <a:avLst/>
        </a:prstGeom>
        <a:solidFill>
          <a:schemeClr val="accent2">
            <a:hueOff val="-1979246"/>
            <a:satOff val="7189"/>
            <a:lumOff val="667"/>
            <a:alphaOff val="0"/>
          </a:schemeClr>
        </a:solidFill>
        <a:ln w="19050" cap="rnd" cmpd="sng" algn="ctr">
          <a:solidFill>
            <a:schemeClr val="accent2">
              <a:hueOff val="-1979246"/>
              <a:satOff val="7189"/>
              <a:lumOff val="66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C42AE6-B930-4663-833F-FBEF63791F65}">
      <dsp:nvSpPr>
        <dsp:cNvPr id="0" name=""/>
        <dsp:cNvSpPr/>
      </dsp:nvSpPr>
      <dsp:spPr>
        <a:xfrm>
          <a:off x="2479674" y="468766"/>
          <a:ext cx="2254250" cy="3155950"/>
        </a:xfrm>
        <a:prstGeom prst="rect">
          <a:avLst/>
        </a:prstGeom>
        <a:solidFill>
          <a:schemeClr val="accent2">
            <a:tint val="40000"/>
            <a:alpha val="90000"/>
            <a:hueOff val="-5577636"/>
            <a:satOff val="24312"/>
            <a:lumOff val="1794"/>
            <a:alphaOff val="0"/>
          </a:schemeClr>
        </a:solidFill>
        <a:ln w="19050" cap="rnd" cmpd="sng" algn="ctr">
          <a:solidFill>
            <a:schemeClr val="accent2">
              <a:tint val="40000"/>
              <a:alpha val="90000"/>
              <a:hueOff val="-5577636"/>
              <a:satOff val="24312"/>
              <a:lumOff val="179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750" tIns="330200" rIns="175750" bIns="330200" numCol="1" spcCol="1270" anchor="t" anchorCtr="0">
          <a:noAutofit/>
        </a:bodyPr>
        <a:lstStyle/>
        <a:p>
          <a:pPr marL="0" lvl="0" indent="0" algn="l" defTabSz="1155700">
            <a:lnSpc>
              <a:spcPct val="90000"/>
            </a:lnSpc>
            <a:spcBef>
              <a:spcPct val="0"/>
            </a:spcBef>
            <a:spcAft>
              <a:spcPct val="35000"/>
            </a:spcAft>
            <a:buNone/>
          </a:pPr>
          <a:r>
            <a:rPr lang="en-US" sz="2600" kern="1200"/>
            <a:t>Worst case: hardest input</a:t>
          </a:r>
        </a:p>
      </dsp:txBody>
      <dsp:txXfrm>
        <a:off x="2479674" y="1668027"/>
        <a:ext cx="2254250" cy="1893570"/>
      </dsp:txXfrm>
    </dsp:sp>
    <dsp:sp modelId="{1B2CF7AA-2A13-449B-9B27-21DC094BB8B5}">
      <dsp:nvSpPr>
        <dsp:cNvPr id="0" name=""/>
        <dsp:cNvSpPr/>
      </dsp:nvSpPr>
      <dsp:spPr>
        <a:xfrm>
          <a:off x="3133407" y="784361"/>
          <a:ext cx="946785" cy="946785"/>
        </a:xfrm>
        <a:prstGeom prst="ellipse">
          <a:avLst/>
        </a:prstGeom>
        <a:solidFill>
          <a:schemeClr val="accent2">
            <a:hueOff val="-3958492"/>
            <a:satOff val="14378"/>
            <a:lumOff val="1334"/>
            <a:alphaOff val="0"/>
          </a:schemeClr>
        </a:solidFill>
        <a:ln w="19050" cap="rnd" cmpd="sng" algn="ctr">
          <a:solidFill>
            <a:schemeClr val="accent2">
              <a:hueOff val="-3958492"/>
              <a:satOff val="14378"/>
              <a:lumOff val="133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815" tIns="12700" rIns="73815"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3272060" y="923014"/>
        <a:ext cx="669479" cy="669479"/>
      </dsp:txXfrm>
    </dsp:sp>
    <dsp:sp modelId="{CC9C8569-F53E-4DED-8D43-F1B68BF8A259}">
      <dsp:nvSpPr>
        <dsp:cNvPr id="0" name=""/>
        <dsp:cNvSpPr/>
      </dsp:nvSpPr>
      <dsp:spPr>
        <a:xfrm>
          <a:off x="2479674" y="3624644"/>
          <a:ext cx="2254250" cy="72"/>
        </a:xfrm>
        <a:prstGeom prst="rect">
          <a:avLst/>
        </a:prstGeom>
        <a:solidFill>
          <a:schemeClr val="accent2">
            <a:hueOff val="-5937738"/>
            <a:satOff val="21566"/>
            <a:lumOff val="2001"/>
            <a:alphaOff val="0"/>
          </a:schemeClr>
        </a:solidFill>
        <a:ln w="19050" cap="rnd" cmpd="sng" algn="ctr">
          <a:solidFill>
            <a:schemeClr val="accent2">
              <a:hueOff val="-5937738"/>
              <a:satOff val="21566"/>
              <a:lumOff val="200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E5F499-C48C-4BDE-ACED-FC8B52655A21}">
      <dsp:nvSpPr>
        <dsp:cNvPr id="0" name=""/>
        <dsp:cNvSpPr/>
      </dsp:nvSpPr>
      <dsp:spPr>
        <a:xfrm>
          <a:off x="4959349" y="468766"/>
          <a:ext cx="2254250" cy="3155950"/>
        </a:xfrm>
        <a:prstGeom prst="rect">
          <a:avLst/>
        </a:prstGeom>
        <a:solidFill>
          <a:schemeClr val="accent2">
            <a:tint val="40000"/>
            <a:alpha val="90000"/>
            <a:hueOff val="-11155272"/>
            <a:satOff val="48624"/>
            <a:lumOff val="3588"/>
            <a:alphaOff val="0"/>
          </a:schemeClr>
        </a:solidFill>
        <a:ln w="19050" cap="rnd" cmpd="sng" algn="ctr">
          <a:solidFill>
            <a:schemeClr val="accent2">
              <a:tint val="40000"/>
              <a:alpha val="90000"/>
              <a:hueOff val="-11155272"/>
              <a:satOff val="48624"/>
              <a:lumOff val="358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750" tIns="330200" rIns="175750" bIns="330200" numCol="1" spcCol="1270" anchor="t" anchorCtr="0">
          <a:noAutofit/>
        </a:bodyPr>
        <a:lstStyle/>
        <a:p>
          <a:pPr marL="0" lvl="0" indent="0" algn="l" defTabSz="1155700">
            <a:lnSpc>
              <a:spcPct val="90000"/>
            </a:lnSpc>
            <a:spcBef>
              <a:spcPct val="0"/>
            </a:spcBef>
            <a:spcAft>
              <a:spcPct val="35000"/>
            </a:spcAft>
            <a:buNone/>
          </a:pPr>
          <a:r>
            <a:rPr lang="en-US" sz="2600" kern="1200"/>
            <a:t>Average case: typical input</a:t>
          </a:r>
        </a:p>
      </dsp:txBody>
      <dsp:txXfrm>
        <a:off x="4959349" y="1668027"/>
        <a:ext cx="2254250" cy="1893570"/>
      </dsp:txXfrm>
    </dsp:sp>
    <dsp:sp modelId="{F798C07D-4DB4-4236-B5B2-9641AFEE5CC8}">
      <dsp:nvSpPr>
        <dsp:cNvPr id="0" name=""/>
        <dsp:cNvSpPr/>
      </dsp:nvSpPr>
      <dsp:spPr>
        <a:xfrm>
          <a:off x="5613082" y="784361"/>
          <a:ext cx="946785" cy="946785"/>
        </a:xfrm>
        <a:prstGeom prst="ellipse">
          <a:avLst/>
        </a:prstGeom>
        <a:solidFill>
          <a:schemeClr val="accent2">
            <a:hueOff val="-7916984"/>
            <a:satOff val="28755"/>
            <a:lumOff val="2668"/>
            <a:alphaOff val="0"/>
          </a:schemeClr>
        </a:solidFill>
        <a:ln w="19050" cap="rnd" cmpd="sng" algn="ctr">
          <a:solidFill>
            <a:schemeClr val="accent2">
              <a:hueOff val="-7916984"/>
              <a:satOff val="28755"/>
              <a:lumOff val="266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815" tIns="12700" rIns="73815"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5751735" y="923014"/>
        <a:ext cx="669479" cy="669479"/>
      </dsp:txXfrm>
    </dsp:sp>
    <dsp:sp modelId="{68F835FC-C1E0-40EE-B9AD-CEAD98D035B2}">
      <dsp:nvSpPr>
        <dsp:cNvPr id="0" name=""/>
        <dsp:cNvSpPr/>
      </dsp:nvSpPr>
      <dsp:spPr>
        <a:xfrm>
          <a:off x="4959349" y="3624644"/>
          <a:ext cx="2254250" cy="72"/>
        </a:xfrm>
        <a:prstGeom prst="rect">
          <a:avLst/>
        </a:prstGeom>
        <a:solidFill>
          <a:schemeClr val="accent2">
            <a:hueOff val="-9896230"/>
            <a:satOff val="35944"/>
            <a:lumOff val="3335"/>
            <a:alphaOff val="0"/>
          </a:schemeClr>
        </a:solidFill>
        <a:ln w="19050" cap="rnd" cmpd="sng" algn="ctr">
          <a:solidFill>
            <a:schemeClr val="accent2">
              <a:hueOff val="-9896230"/>
              <a:satOff val="35944"/>
              <a:lumOff val="333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ECB36-4A9A-4D1E-9986-23D486B238F3}">
      <dsp:nvSpPr>
        <dsp:cNvPr id="0" name=""/>
        <dsp:cNvSpPr/>
      </dsp:nvSpPr>
      <dsp:spPr>
        <a:xfrm>
          <a:off x="0" y="12195"/>
          <a:ext cx="5019610" cy="725399"/>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Correctness</a:t>
          </a:r>
        </a:p>
      </dsp:txBody>
      <dsp:txXfrm>
        <a:off x="35411" y="47606"/>
        <a:ext cx="4948788" cy="654577"/>
      </dsp:txXfrm>
    </dsp:sp>
    <dsp:sp modelId="{E793CCA9-EFBA-4842-8BE1-25026B038A3B}">
      <dsp:nvSpPr>
        <dsp:cNvPr id="0" name=""/>
        <dsp:cNvSpPr/>
      </dsp:nvSpPr>
      <dsp:spPr>
        <a:xfrm>
          <a:off x="0" y="826875"/>
          <a:ext cx="5019610" cy="725399"/>
        </a:xfrm>
        <a:prstGeom prst="roundRect">
          <a:avLst/>
        </a:prstGeom>
        <a:gradFill rotWithShape="0">
          <a:gsLst>
            <a:gs pos="0">
              <a:schemeClr val="accent2">
                <a:hueOff val="-1979246"/>
                <a:satOff val="7189"/>
                <a:lumOff val="667"/>
                <a:alphaOff val="0"/>
                <a:tint val="96000"/>
                <a:lumMod val="100000"/>
              </a:schemeClr>
            </a:gs>
            <a:gs pos="78000">
              <a:schemeClr val="accent2">
                <a:hueOff val="-1979246"/>
                <a:satOff val="7189"/>
                <a:lumOff val="66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Understandability</a:t>
          </a:r>
        </a:p>
      </dsp:txBody>
      <dsp:txXfrm>
        <a:off x="35411" y="862286"/>
        <a:ext cx="4948788" cy="654577"/>
      </dsp:txXfrm>
    </dsp:sp>
    <dsp:sp modelId="{3845985A-4933-487F-A3DF-C29DA27E4368}">
      <dsp:nvSpPr>
        <dsp:cNvPr id="0" name=""/>
        <dsp:cNvSpPr/>
      </dsp:nvSpPr>
      <dsp:spPr>
        <a:xfrm>
          <a:off x="0" y="1641555"/>
          <a:ext cx="5019610" cy="725399"/>
        </a:xfrm>
        <a:prstGeom prst="roundRect">
          <a:avLst/>
        </a:prstGeom>
        <a:gradFill rotWithShape="0">
          <a:gsLst>
            <a:gs pos="0">
              <a:schemeClr val="accent2">
                <a:hueOff val="-3958492"/>
                <a:satOff val="14378"/>
                <a:lumOff val="1334"/>
                <a:alphaOff val="0"/>
                <a:tint val="96000"/>
                <a:lumMod val="100000"/>
              </a:schemeClr>
            </a:gs>
            <a:gs pos="78000">
              <a:schemeClr val="accent2">
                <a:hueOff val="-3958492"/>
                <a:satOff val="14378"/>
                <a:lumOff val="1334"/>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Efficiency</a:t>
          </a:r>
        </a:p>
      </dsp:txBody>
      <dsp:txXfrm>
        <a:off x="35411" y="1676966"/>
        <a:ext cx="4948788" cy="654577"/>
      </dsp:txXfrm>
    </dsp:sp>
    <dsp:sp modelId="{131D1868-1C64-4483-84A5-AEF678C0EB1D}">
      <dsp:nvSpPr>
        <dsp:cNvPr id="0" name=""/>
        <dsp:cNvSpPr/>
      </dsp:nvSpPr>
      <dsp:spPr>
        <a:xfrm>
          <a:off x="0" y="2456235"/>
          <a:ext cx="5019610" cy="725399"/>
        </a:xfrm>
        <a:prstGeom prst="roundRect">
          <a:avLst/>
        </a:prstGeom>
        <a:gradFill rotWithShape="0">
          <a:gsLst>
            <a:gs pos="0">
              <a:schemeClr val="accent2">
                <a:hueOff val="-5937738"/>
                <a:satOff val="21566"/>
                <a:lumOff val="2001"/>
                <a:alphaOff val="0"/>
                <a:tint val="96000"/>
                <a:lumMod val="100000"/>
              </a:schemeClr>
            </a:gs>
            <a:gs pos="78000">
              <a:schemeClr val="accent2">
                <a:hueOff val="-5937738"/>
                <a:satOff val="21566"/>
                <a:lumOff val="2001"/>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Memory use</a:t>
          </a:r>
        </a:p>
      </dsp:txBody>
      <dsp:txXfrm>
        <a:off x="35411" y="2491646"/>
        <a:ext cx="4948788" cy="654577"/>
      </dsp:txXfrm>
    </dsp:sp>
    <dsp:sp modelId="{267D51E0-B579-45E9-9BE3-7C324B681377}">
      <dsp:nvSpPr>
        <dsp:cNvPr id="0" name=""/>
        <dsp:cNvSpPr/>
      </dsp:nvSpPr>
      <dsp:spPr>
        <a:xfrm>
          <a:off x="0" y="3270915"/>
          <a:ext cx="5019610" cy="725399"/>
        </a:xfrm>
        <a:prstGeom prst="roundRect">
          <a:avLst/>
        </a:prstGeom>
        <a:gradFill rotWithShape="0">
          <a:gsLst>
            <a:gs pos="0">
              <a:schemeClr val="accent2">
                <a:hueOff val="-7916984"/>
                <a:satOff val="28755"/>
                <a:lumOff val="2668"/>
                <a:alphaOff val="0"/>
                <a:tint val="96000"/>
                <a:lumMod val="100000"/>
              </a:schemeClr>
            </a:gs>
            <a:gs pos="78000">
              <a:schemeClr val="accent2">
                <a:hueOff val="-7916984"/>
                <a:satOff val="28755"/>
                <a:lumOff val="2668"/>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Data size</a:t>
          </a:r>
        </a:p>
      </dsp:txBody>
      <dsp:txXfrm>
        <a:off x="35411" y="3306326"/>
        <a:ext cx="4948788" cy="654577"/>
      </dsp:txXfrm>
    </dsp:sp>
    <dsp:sp modelId="{EC270A9E-4A16-477F-A2C8-CB0042DA61FE}">
      <dsp:nvSpPr>
        <dsp:cNvPr id="0" name=""/>
        <dsp:cNvSpPr/>
      </dsp:nvSpPr>
      <dsp:spPr>
        <a:xfrm>
          <a:off x="0" y="4085595"/>
          <a:ext cx="5019610" cy="725399"/>
        </a:xfrm>
        <a:prstGeom prst="roundRect">
          <a:avLst/>
        </a:prstGeom>
        <a:gradFill rotWithShape="0">
          <a:gsLst>
            <a:gs pos="0">
              <a:schemeClr val="accent2">
                <a:hueOff val="-9896230"/>
                <a:satOff val="35944"/>
                <a:lumOff val="3335"/>
                <a:alphaOff val="0"/>
                <a:tint val="96000"/>
                <a:lumMod val="100000"/>
              </a:schemeClr>
            </a:gs>
            <a:gs pos="78000">
              <a:schemeClr val="accent2">
                <a:hueOff val="-9896230"/>
                <a:satOff val="35944"/>
                <a:lumOff val="33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Explainability</a:t>
          </a:r>
        </a:p>
      </dsp:txBody>
      <dsp:txXfrm>
        <a:off x="35411" y="4121006"/>
        <a:ext cx="4948788" cy="65457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6BFEC5-3F02-480C-8A14-7F57820F633E}">
      <dsp:nvSpPr>
        <dsp:cNvPr id="0" name=""/>
        <dsp:cNvSpPr/>
      </dsp:nvSpPr>
      <dsp:spPr>
        <a:xfrm>
          <a:off x="0" y="685394"/>
          <a:ext cx="5019610" cy="3969000"/>
        </a:xfrm>
        <a:prstGeom prst="rect">
          <a:avLst/>
        </a:prstGeom>
        <a:solidFill>
          <a:schemeClr val="lt1">
            <a:alpha val="90000"/>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9578" tIns="728980" rIns="389578" bIns="199136" numCol="1" spcCol="1270" anchor="t" anchorCtr="0">
          <a:noAutofit/>
        </a:bodyPr>
        <a:lstStyle/>
        <a:p>
          <a:pPr marL="285750" lvl="1" indent="-285750" algn="l" defTabSz="1244600">
            <a:lnSpc>
              <a:spcPct val="90000"/>
            </a:lnSpc>
            <a:spcBef>
              <a:spcPts val="600"/>
            </a:spcBef>
            <a:spcAft>
              <a:spcPct val="15000"/>
            </a:spcAft>
            <a:buChar char="•"/>
          </a:pPr>
          <a:r>
            <a:rPr lang="en-US" sz="2800" kern="1200" dirty="0"/>
            <a:t>Every machine will match</a:t>
          </a:r>
        </a:p>
        <a:p>
          <a:pPr marL="285750" lvl="1" indent="-285750" algn="l" defTabSz="1244600">
            <a:lnSpc>
              <a:spcPct val="90000"/>
            </a:lnSpc>
            <a:spcBef>
              <a:spcPts val="600"/>
            </a:spcBef>
            <a:spcAft>
              <a:spcPct val="15000"/>
            </a:spcAft>
            <a:buChar char="•"/>
          </a:pPr>
          <a:r>
            <a:rPr lang="en-US" sz="2800" kern="1200" dirty="0"/>
            <a:t>Every input will behave the same</a:t>
          </a:r>
        </a:p>
        <a:p>
          <a:pPr marL="285750" lvl="1" indent="-285750" algn="l" defTabSz="1244600">
            <a:lnSpc>
              <a:spcPct val="90000"/>
            </a:lnSpc>
            <a:spcBef>
              <a:spcPts val="600"/>
            </a:spcBef>
            <a:spcAft>
              <a:spcPct val="15000"/>
            </a:spcAft>
            <a:buChar char="•"/>
          </a:pPr>
          <a:r>
            <a:rPr lang="en-US" sz="2800" kern="1200" dirty="0"/>
            <a:t>The algorithm is always best</a:t>
          </a:r>
        </a:p>
        <a:p>
          <a:pPr marL="285750" lvl="1" indent="-285750" algn="l" defTabSz="1244600">
            <a:lnSpc>
              <a:spcPct val="90000"/>
            </a:lnSpc>
            <a:spcBef>
              <a:spcPts val="600"/>
            </a:spcBef>
            <a:spcAft>
              <a:spcPct val="15000"/>
            </a:spcAft>
            <a:buChar char="•"/>
          </a:pPr>
          <a:r>
            <a:rPr lang="en-US" sz="2800" kern="1200" dirty="0"/>
            <a:t>The code has no bugs</a:t>
          </a:r>
        </a:p>
      </dsp:txBody>
      <dsp:txXfrm>
        <a:off x="0" y="685394"/>
        <a:ext cx="5019610" cy="3969000"/>
      </dsp:txXfrm>
    </dsp:sp>
    <dsp:sp modelId="{6EC9D3CA-C00F-495D-8D55-BD1B734EE9D0}">
      <dsp:nvSpPr>
        <dsp:cNvPr id="0" name=""/>
        <dsp:cNvSpPr/>
      </dsp:nvSpPr>
      <dsp:spPr>
        <a:xfrm>
          <a:off x="250980" y="168794"/>
          <a:ext cx="3513727" cy="103320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811" tIns="0" rIns="132811" bIns="0" numCol="1" spcCol="1270" anchor="ctr" anchorCtr="0">
          <a:noAutofit/>
        </a:bodyPr>
        <a:lstStyle/>
        <a:p>
          <a:pPr marL="0" lvl="0" indent="0" algn="l" defTabSz="1555750">
            <a:lnSpc>
              <a:spcPct val="90000"/>
            </a:lnSpc>
            <a:spcBef>
              <a:spcPct val="0"/>
            </a:spcBef>
            <a:spcAft>
              <a:spcPct val="35000"/>
            </a:spcAft>
            <a:buNone/>
          </a:pPr>
          <a:r>
            <a:rPr lang="en-US" sz="3500" kern="1200"/>
            <a:t>A timing table does not prove:</a:t>
          </a:r>
        </a:p>
      </dsp:txBody>
      <dsp:txXfrm>
        <a:off x="301417" y="219231"/>
        <a:ext cx="3412853" cy="93232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F20F46-BD9F-433C-B479-B55A8902755F}">
      <dsp:nvSpPr>
        <dsp:cNvPr id="0" name=""/>
        <dsp:cNvSpPr/>
      </dsp:nvSpPr>
      <dsp:spPr>
        <a:xfrm rot="5400000">
          <a:off x="4377572" y="-1646758"/>
          <a:ext cx="1055350" cy="4616704"/>
        </a:xfrm>
        <a:prstGeom prst="round2Same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None/>
          </a:pPr>
          <a:r>
            <a:rPr lang="en-US" sz="1100" kern="1200" dirty="0"/>
            <a:t>Compare two ways to check whether values appear in a collection:</a:t>
          </a:r>
        </a:p>
        <a:p>
          <a:pPr marL="114300" lvl="2" indent="-57150" algn="l" defTabSz="488950">
            <a:lnSpc>
              <a:spcPct val="90000"/>
            </a:lnSpc>
            <a:spcBef>
              <a:spcPct val="0"/>
            </a:spcBef>
            <a:spcAft>
              <a:spcPct val="15000"/>
            </a:spcAft>
            <a:buChar char="•"/>
          </a:pPr>
          <a:r>
            <a:rPr lang="en-US" sz="1100" i="1" kern="1200" dirty="0"/>
            <a:t>Manual list lookup with a loop</a:t>
          </a:r>
        </a:p>
        <a:p>
          <a:pPr marL="114300" lvl="2" indent="-57150" algn="l" defTabSz="488950">
            <a:lnSpc>
              <a:spcPct val="90000"/>
            </a:lnSpc>
            <a:spcBef>
              <a:spcPct val="0"/>
            </a:spcBef>
            <a:spcAft>
              <a:spcPct val="15000"/>
            </a:spcAft>
            <a:buChar char="•"/>
          </a:pPr>
          <a:r>
            <a:rPr lang="en-US" sz="1100" i="1" kern="1200" dirty="0"/>
            <a:t>Set membership lookup with `in`</a:t>
          </a:r>
        </a:p>
        <a:p>
          <a:pPr marL="57150" lvl="1" indent="-57150" algn="l" defTabSz="488950">
            <a:lnSpc>
              <a:spcPct val="90000"/>
            </a:lnSpc>
            <a:spcBef>
              <a:spcPct val="0"/>
            </a:spcBef>
            <a:spcAft>
              <a:spcPct val="15000"/>
            </a:spcAft>
            <a:buNone/>
          </a:pPr>
          <a:r>
            <a:rPr lang="en-US" sz="1100" kern="1200" dirty="0"/>
            <a:t>The demo uses the same lookup task for both approaches, then repeats the task across larger input sizes.</a:t>
          </a:r>
        </a:p>
      </dsp:txBody>
      <dsp:txXfrm rot="-5400000">
        <a:off x="2596895" y="185437"/>
        <a:ext cx="4565186" cy="952314"/>
      </dsp:txXfrm>
    </dsp:sp>
    <dsp:sp modelId="{30D56222-46DC-49B6-93B9-D527764F5239}">
      <dsp:nvSpPr>
        <dsp:cNvPr id="0" name=""/>
        <dsp:cNvSpPr/>
      </dsp:nvSpPr>
      <dsp:spPr>
        <a:xfrm>
          <a:off x="0" y="1998"/>
          <a:ext cx="2596896" cy="1319188"/>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defRPr b="1"/>
          </a:pPr>
          <a:r>
            <a:rPr lang="en-US" sz="3500" kern="1200"/>
            <a:t>Problem:</a:t>
          </a:r>
        </a:p>
      </dsp:txBody>
      <dsp:txXfrm>
        <a:off x="64397" y="66395"/>
        <a:ext cx="2468102" cy="1190394"/>
      </dsp:txXfrm>
    </dsp:sp>
    <dsp:sp modelId="{6E795E48-08AB-4278-AB2C-17633DCE4A21}">
      <dsp:nvSpPr>
        <dsp:cNvPr id="0" name=""/>
        <dsp:cNvSpPr/>
      </dsp:nvSpPr>
      <dsp:spPr>
        <a:xfrm rot="5400000">
          <a:off x="4377572" y="-261611"/>
          <a:ext cx="1055350" cy="4616704"/>
        </a:xfrm>
        <a:prstGeom prst="round2SameRect">
          <a:avLst/>
        </a:prstGeom>
        <a:solidFill>
          <a:schemeClr val="accent2">
            <a:tint val="40000"/>
            <a:alpha val="90000"/>
            <a:hueOff val="-5577636"/>
            <a:satOff val="24312"/>
            <a:lumOff val="1794"/>
            <a:alphaOff val="0"/>
          </a:schemeClr>
        </a:solidFill>
        <a:ln w="19050" cap="rnd" cmpd="sng" algn="ctr">
          <a:solidFill>
            <a:schemeClr val="accent2">
              <a:tint val="40000"/>
              <a:alpha val="90000"/>
              <a:hueOff val="-5577636"/>
              <a:satOff val="24312"/>
              <a:lumOff val="179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Font typeface="+mj-lt"/>
            <a:buAutoNum type="arabicPeriod"/>
          </a:pPr>
          <a:r>
            <a:rPr lang="en-US" sz="1100" kern="1200" dirty="0"/>
            <a:t>A timing table across several input sizes.</a:t>
          </a:r>
        </a:p>
        <a:p>
          <a:pPr marL="57150" lvl="1" indent="-57150" algn="l" defTabSz="488950">
            <a:lnSpc>
              <a:spcPct val="90000"/>
            </a:lnSpc>
            <a:spcBef>
              <a:spcPct val="0"/>
            </a:spcBef>
            <a:spcAft>
              <a:spcPct val="15000"/>
            </a:spcAft>
            <a:buFont typeface="+mj-lt"/>
            <a:buAutoNum type="arabicPeriod"/>
          </a:pPr>
          <a:r>
            <a:rPr lang="en-US" sz="1100" kern="1200" dirty="0"/>
            <a:t>A formatted comparison summary that interprets the pattern.</a:t>
          </a:r>
        </a:p>
      </dsp:txBody>
      <dsp:txXfrm rot="-5400000">
        <a:off x="2596895" y="1570584"/>
        <a:ext cx="4565186" cy="952314"/>
      </dsp:txXfrm>
    </dsp:sp>
    <dsp:sp modelId="{1814F191-1891-489E-B0A1-1272D5EBF55F}">
      <dsp:nvSpPr>
        <dsp:cNvPr id="0" name=""/>
        <dsp:cNvSpPr/>
      </dsp:nvSpPr>
      <dsp:spPr>
        <a:xfrm>
          <a:off x="0" y="1387146"/>
          <a:ext cx="2596896" cy="1319188"/>
        </a:xfrm>
        <a:prstGeom prst="roundRect">
          <a:avLst/>
        </a:prstGeom>
        <a:solidFill>
          <a:schemeClr val="accent2">
            <a:hueOff val="-4948115"/>
            <a:satOff val="17972"/>
            <a:lumOff val="166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defRPr b="1"/>
          </a:pPr>
          <a:r>
            <a:rPr lang="en-US" sz="3500" kern="1200"/>
            <a:t>Evidence:</a:t>
          </a:r>
        </a:p>
      </dsp:txBody>
      <dsp:txXfrm>
        <a:off x="64397" y="1451543"/>
        <a:ext cx="2468102" cy="1190394"/>
      </dsp:txXfrm>
    </dsp:sp>
    <dsp:sp modelId="{19B361A2-D7A8-43A5-AA5B-63BFB24FB360}">
      <dsp:nvSpPr>
        <dsp:cNvPr id="0" name=""/>
        <dsp:cNvSpPr/>
      </dsp:nvSpPr>
      <dsp:spPr>
        <a:xfrm rot="5400000">
          <a:off x="4377572" y="1123536"/>
          <a:ext cx="1055350" cy="4616704"/>
        </a:xfrm>
        <a:prstGeom prst="round2SameRect">
          <a:avLst/>
        </a:prstGeom>
        <a:solidFill>
          <a:schemeClr val="accent2">
            <a:tint val="40000"/>
            <a:alpha val="90000"/>
            <a:hueOff val="-11155272"/>
            <a:satOff val="48624"/>
            <a:lumOff val="3588"/>
            <a:alphaOff val="0"/>
          </a:schemeClr>
        </a:solidFill>
        <a:ln w="19050" cap="rnd" cmpd="sng" algn="ctr">
          <a:solidFill>
            <a:schemeClr val="accent2">
              <a:tint val="40000"/>
              <a:alpha val="90000"/>
              <a:hueOff val="-11155272"/>
              <a:satOff val="48624"/>
              <a:lumOff val="358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None/>
          </a:pPr>
          <a:r>
            <a:rPr lang="en-US" sz="1100" kern="1200" dirty="0"/>
            <a:t>Check whether values appear in a collection</a:t>
          </a:r>
        </a:p>
      </dsp:txBody>
      <dsp:txXfrm rot="-5400000">
        <a:off x="2596895" y="2955731"/>
        <a:ext cx="4565186" cy="952314"/>
      </dsp:txXfrm>
    </dsp:sp>
    <dsp:sp modelId="{05B628AE-3B1C-4161-A2F2-79CC492C689A}">
      <dsp:nvSpPr>
        <dsp:cNvPr id="0" name=""/>
        <dsp:cNvSpPr/>
      </dsp:nvSpPr>
      <dsp:spPr>
        <a:xfrm>
          <a:off x="0" y="2772294"/>
          <a:ext cx="2596896" cy="1319188"/>
        </a:xfrm>
        <a:prstGeom prst="roundRect">
          <a:avLst/>
        </a:prstGeom>
        <a:solidFill>
          <a:schemeClr val="accent2">
            <a:hueOff val="-9896230"/>
            <a:satOff val="35944"/>
            <a:lumOff val="33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pPr>
          <a:r>
            <a:rPr lang="en-US" sz="3500" kern="1200"/>
            <a:t>Goal</a:t>
          </a:r>
          <a:endParaRPr lang="en-US" sz="3500" kern="1200" dirty="0"/>
        </a:p>
      </dsp:txBody>
      <dsp:txXfrm>
        <a:off x="64397" y="2836691"/>
        <a:ext cx="2468102" cy="119039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79B2E2-F254-4758-975D-BCCCEBEB091F}">
      <dsp:nvSpPr>
        <dsp:cNvPr id="0" name=""/>
        <dsp:cNvSpPr/>
      </dsp:nvSpPr>
      <dsp:spPr>
        <a:xfrm>
          <a:off x="0" y="0"/>
          <a:ext cx="6347714" cy="3880773"/>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4892" tIns="330200" rIns="494892" bIns="330200" numCol="1" spcCol="1270" anchor="t" anchorCtr="0">
          <a:noAutofit/>
        </a:bodyPr>
        <a:lstStyle/>
        <a:p>
          <a:pPr marL="0" lvl="0" indent="0" algn="l" defTabSz="933450">
            <a:lnSpc>
              <a:spcPct val="90000"/>
            </a:lnSpc>
            <a:spcBef>
              <a:spcPct val="0"/>
            </a:spcBef>
            <a:spcAft>
              <a:spcPct val="35000"/>
            </a:spcAft>
            <a:buNone/>
          </a:pPr>
          <a:r>
            <a:rPr lang="en-US" sz="2100" kern="1200" dirty="0"/>
            <a:t>For Lab 02:</a:t>
          </a:r>
        </a:p>
        <a:p>
          <a:pPr marL="171450" lvl="1" indent="-171450" algn="l" defTabSz="711200">
            <a:lnSpc>
              <a:spcPct val="90000"/>
            </a:lnSpc>
            <a:spcBef>
              <a:spcPct val="0"/>
            </a:spcBef>
            <a:spcAft>
              <a:spcPct val="15000"/>
            </a:spcAft>
            <a:buChar char="•"/>
          </a:pPr>
          <a:r>
            <a:rPr lang="en-US" sz="1600" kern="1200" dirty="0"/>
            <a:t>choose a comparison</a:t>
          </a:r>
        </a:p>
        <a:p>
          <a:pPr marL="171450" lvl="1" indent="-171450" algn="l" defTabSz="711200">
            <a:lnSpc>
              <a:spcPct val="90000"/>
            </a:lnSpc>
            <a:spcBef>
              <a:spcPct val="0"/>
            </a:spcBef>
            <a:spcAft>
              <a:spcPct val="15000"/>
            </a:spcAft>
            <a:buChar char="•"/>
          </a:pPr>
          <a:r>
            <a:rPr lang="en-US" sz="1600" b="0" kern="1200" dirty="0"/>
            <a:t>implement or attempt both approaches</a:t>
          </a:r>
          <a:endParaRPr lang="en-US" sz="1600" kern="1200" dirty="0"/>
        </a:p>
        <a:p>
          <a:pPr marL="171450" lvl="1" indent="-171450" algn="l" defTabSz="711200">
            <a:lnSpc>
              <a:spcPct val="90000"/>
            </a:lnSpc>
            <a:spcBef>
              <a:spcPct val="0"/>
            </a:spcBef>
            <a:spcAft>
              <a:spcPct val="15000"/>
            </a:spcAft>
            <a:buFont typeface="Arial" panose="020B0604020202020204" pitchFamily="34" charset="0"/>
            <a:buChar char="•"/>
          </a:pPr>
          <a:r>
            <a:rPr lang="en-US" sz="1600" b="0" kern="1200" dirty="0"/>
            <a:t>collect timing evidence</a:t>
          </a:r>
        </a:p>
        <a:p>
          <a:pPr marL="171450" lvl="1" indent="-171450" algn="l" defTabSz="711200">
            <a:lnSpc>
              <a:spcPct val="90000"/>
            </a:lnSpc>
            <a:spcBef>
              <a:spcPct val="0"/>
            </a:spcBef>
            <a:spcAft>
              <a:spcPct val="15000"/>
            </a:spcAft>
            <a:buFont typeface="Arial" panose="020B0604020202020204" pitchFamily="34" charset="0"/>
            <a:buChar char="•"/>
          </a:pPr>
          <a:r>
            <a:rPr lang="en-US" sz="1600" b="0" kern="1200" dirty="0"/>
            <a:t>build a table or chart</a:t>
          </a:r>
        </a:p>
        <a:p>
          <a:pPr marL="171450" lvl="1" indent="-171450" algn="l" defTabSz="711200">
            <a:lnSpc>
              <a:spcPct val="90000"/>
            </a:lnSpc>
            <a:spcBef>
              <a:spcPct val="0"/>
            </a:spcBef>
            <a:spcAft>
              <a:spcPct val="15000"/>
            </a:spcAft>
            <a:buFont typeface="Arial" panose="020B0604020202020204" pitchFamily="34" charset="0"/>
            <a:buChar char="•"/>
          </a:pPr>
          <a:r>
            <a:rPr lang="en-US" sz="1600" b="0" kern="1200" dirty="0"/>
            <a:t>explain the pattern cautiously</a:t>
          </a:r>
        </a:p>
      </dsp:txBody>
      <dsp:txXfrm>
        <a:off x="0" y="1474693"/>
        <a:ext cx="6347714" cy="2328463"/>
      </dsp:txXfrm>
    </dsp:sp>
    <dsp:sp modelId="{6E066B6B-870C-47BB-B0D4-7DDBD6CCC405}">
      <dsp:nvSpPr>
        <dsp:cNvPr id="0" name=""/>
        <dsp:cNvSpPr/>
      </dsp:nvSpPr>
      <dsp:spPr>
        <a:xfrm>
          <a:off x="2591741" y="388077"/>
          <a:ext cx="1164231" cy="1164231"/>
        </a:xfrm>
        <a:prstGeom prst="ellips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0768" tIns="12700" rIns="90768"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2762239" y="558575"/>
        <a:ext cx="823235" cy="823235"/>
      </dsp:txXfrm>
    </dsp:sp>
    <dsp:sp modelId="{661C993E-716A-4EDE-A4B7-74802377363E}">
      <dsp:nvSpPr>
        <dsp:cNvPr id="0" name=""/>
        <dsp:cNvSpPr/>
      </dsp:nvSpPr>
      <dsp:spPr>
        <a:xfrm>
          <a:off x="0" y="3880701"/>
          <a:ext cx="6347714" cy="72"/>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6.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59AF9F-1092-690D-006F-EBCE2C96B7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1FC0900-FCC2-2A2A-613C-A277F4B712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943E5A-6629-4B53-8BAD-0FC37077EB14}" type="datetimeFigureOut">
              <a:rPr lang="en-US" smtClean="0"/>
              <a:t>6/5/2026</a:t>
            </a:fld>
            <a:endParaRPr lang="en-US"/>
          </a:p>
        </p:txBody>
      </p:sp>
      <p:sp>
        <p:nvSpPr>
          <p:cNvPr id="4" name="Footer Placeholder 3">
            <a:extLst>
              <a:ext uri="{FF2B5EF4-FFF2-40B4-BE49-F238E27FC236}">
                <a16:creationId xmlns:a16="http://schemas.microsoft.com/office/drawing/2014/main" id="{6A2D7F8D-A102-3CF3-78CD-2CA4C36115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AD03618-FB8B-BA92-AF2F-43138FFAD9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05D54-93E9-4845-A874-0CB2F7E46362}" type="slidenum">
              <a:rPr lang="en-US" smtClean="0"/>
              <a:t>‹#›</a:t>
            </a:fld>
            <a:endParaRPr lang="en-US"/>
          </a:p>
        </p:txBody>
      </p:sp>
    </p:spTree>
    <p:extLst>
      <p:ext uri="{BB962C8B-B14F-4D97-AF65-F5344CB8AC3E}">
        <p14:creationId xmlns:p14="http://schemas.microsoft.com/office/powerpoint/2010/main" val="925368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382475-516A-409A-944E-F435F3DFCCF2}" type="datetimeFigureOut">
              <a:rPr lang="en-US" smtClean="0"/>
              <a:t>6/5/2026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16ACA2-47E6-42D2-BEC8-EDC49A1A9FA1}" type="slidenum">
              <a:rPr lang="en-US" smtClean="0"/>
              <a:t>‹#›</a:t>
            </a:fld>
            <a:endParaRPr lang="en-US"/>
          </a:p>
        </p:txBody>
      </p:sp>
    </p:spTree>
    <p:extLst>
      <p:ext uri="{BB962C8B-B14F-4D97-AF65-F5344CB8AC3E}">
        <p14:creationId xmlns:p14="http://schemas.microsoft.com/office/powerpoint/2010/main" val="340622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1</a:t>
            </a:fld>
            <a:endParaRPr lang="en-US"/>
          </a:p>
        </p:txBody>
      </p:sp>
    </p:spTree>
    <p:extLst>
      <p:ext uri="{BB962C8B-B14F-4D97-AF65-F5344CB8AC3E}">
        <p14:creationId xmlns:p14="http://schemas.microsoft.com/office/powerpoint/2010/main" val="3005234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a:t>
            </a:fld>
            <a:endParaRPr lang="en-US"/>
          </a:p>
        </p:txBody>
      </p:sp>
    </p:spTree>
    <p:extLst>
      <p:ext uri="{BB962C8B-B14F-4D97-AF65-F5344CB8AC3E}">
        <p14:creationId xmlns:p14="http://schemas.microsoft.com/office/powerpoint/2010/main" val="374933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3</a:t>
            </a:fld>
            <a:endParaRPr lang="en-US"/>
          </a:p>
        </p:txBody>
      </p:sp>
    </p:spTree>
    <p:extLst>
      <p:ext uri="{BB962C8B-B14F-4D97-AF65-F5344CB8AC3E}">
        <p14:creationId xmlns:p14="http://schemas.microsoft.com/office/powerpoint/2010/main" val="1229613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a:t>
            </a:fld>
            <a:endParaRPr lang="en-US"/>
          </a:p>
        </p:txBody>
      </p:sp>
    </p:spTree>
    <p:extLst>
      <p:ext uri="{BB962C8B-B14F-4D97-AF65-F5344CB8AC3E}">
        <p14:creationId xmlns:p14="http://schemas.microsoft.com/office/powerpoint/2010/main" val="1263435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Instructor Notes ** </a:t>
            </a:r>
          </a:p>
          <a:p>
            <a:r>
              <a:rPr lang="en-US" dirty="0"/>
              <a:t>Step through the coding solution(s) for the Lab.</a:t>
            </a:r>
            <a:br>
              <a:rPr lang="en-US" dirty="0"/>
            </a:br>
            <a:r>
              <a:rPr lang="en-US" dirty="0"/>
              <a:t>Be sure to state that this is only *one* solution of many. </a:t>
            </a:r>
            <a:br>
              <a:rPr lang="en-US" dirty="0"/>
            </a:br>
            <a:r>
              <a:rPr lang="en-US" dirty="0"/>
              <a:t>NOT the best or only solution.</a:t>
            </a:r>
          </a:p>
          <a:p>
            <a:endParaRPr lang="en-US" dirty="0"/>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a:t>
            </a:fld>
            <a:endParaRPr lang="en-US"/>
          </a:p>
        </p:txBody>
      </p:sp>
    </p:spTree>
    <p:extLst>
      <p:ext uri="{BB962C8B-B14F-4D97-AF65-F5344CB8AC3E}">
        <p14:creationId xmlns:p14="http://schemas.microsoft.com/office/powerpoint/2010/main" val="2991616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Do not spend long re-teaching Lab but answer questions.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goal is to remind students that evidence helped them decide whether a small algorithm behaved as expected.</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Point out that Week 1's evidence mostly answered: "Does this produce the expected result?"</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week keeps the evidence habit but changes the question from correctness to growth behavior.</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a:t>
            </a:fld>
            <a:endParaRPr lang="en-US"/>
          </a:p>
        </p:txBody>
      </p:sp>
    </p:spTree>
    <p:extLst>
      <p:ext uri="{BB962C8B-B14F-4D97-AF65-F5344CB8AC3E}">
        <p14:creationId xmlns:p14="http://schemas.microsoft.com/office/powerpoint/2010/main" val="1276573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Make this the anchor question. </a:t>
            </a:r>
          </a:p>
          <a:p>
            <a:r>
              <a:rPr lang="en-US" sz="1200" b="0" kern="1200" dirty="0">
                <a:solidFill>
                  <a:schemeClr val="tx1"/>
                </a:solidFill>
                <a:effectLst/>
                <a:latin typeface="+mn-lt"/>
                <a:ea typeface="+mn-ea"/>
                <a:cs typeface="+mn-cs"/>
              </a:rPr>
              <a:t>Students should leave understanding that an algorithm can work for five items and still become a poor fit for five thousand or five million items.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question is the beginning of performance analysis.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7</a:t>
            </a:fld>
            <a:endParaRPr lang="en-US"/>
          </a:p>
        </p:txBody>
      </p:sp>
    </p:spTree>
    <p:extLst>
      <p:ext uri="{BB962C8B-B14F-4D97-AF65-F5344CB8AC3E}">
        <p14:creationId xmlns:p14="http://schemas.microsoft.com/office/powerpoint/2010/main" val="143017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Say clearly that correctness still matters. A fast wrong answer is not a good algorithm. </a:t>
            </a:r>
          </a:p>
          <a:p>
            <a:r>
              <a:rPr lang="en-US" sz="1200" b="0" kern="1200" dirty="0">
                <a:solidFill>
                  <a:schemeClr val="tx1"/>
                </a:solidFill>
                <a:effectLst/>
                <a:latin typeface="+mn-lt"/>
                <a:ea typeface="+mn-ea"/>
                <a:cs typeface="+mn-cs"/>
              </a:rPr>
              <a:t>Week 2 adds another lens, not a replacement for Week 1.</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reading describes algorithm quality using more than one feature.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8</a:t>
            </a:fld>
            <a:endParaRPr lang="en-US"/>
          </a:p>
        </p:txBody>
      </p:sp>
    </p:spTree>
    <p:extLst>
      <p:ext uri="{BB962C8B-B14F-4D97-AF65-F5344CB8AC3E}">
        <p14:creationId xmlns:p14="http://schemas.microsoft.com/office/powerpoint/2010/main" val="3712966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Emphasize "cautiously."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Students should not overclaim from one timing table. </a:t>
            </a:r>
          </a:p>
          <a:p>
            <a:r>
              <a:rPr lang="en-US" sz="1200" b="0" kern="1200" dirty="0">
                <a:solidFill>
                  <a:schemeClr val="tx1"/>
                </a:solidFill>
                <a:effectLst/>
                <a:latin typeface="+mn-lt"/>
                <a:ea typeface="+mn-ea"/>
                <a:cs typeface="+mn-cs"/>
              </a:rPr>
              <a:t>The goal is responsible introductory explanation.</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Start with the reading's view of what makes an algorithm good.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9</a:t>
            </a:fld>
            <a:endParaRPr lang="en-US"/>
          </a:p>
        </p:txBody>
      </p:sp>
    </p:spTree>
    <p:extLst>
      <p:ext uri="{BB962C8B-B14F-4D97-AF65-F5344CB8AC3E}">
        <p14:creationId xmlns:p14="http://schemas.microsoft.com/office/powerpoint/2010/main" val="2292370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Connect this to student work. </a:t>
            </a:r>
          </a:p>
          <a:p>
            <a:r>
              <a:rPr lang="en-US" sz="1200" b="0" kern="1200" dirty="0">
                <a:solidFill>
                  <a:schemeClr val="tx1"/>
                </a:solidFill>
                <a:effectLst/>
                <a:latin typeface="+mn-lt"/>
                <a:ea typeface="+mn-ea"/>
                <a:cs typeface="+mn-cs"/>
              </a:rPr>
              <a:t>- A solution that works but cannot be explained is hard to trust. </a:t>
            </a:r>
          </a:p>
          <a:p>
            <a:r>
              <a:rPr lang="en-US" sz="1200" b="0" kern="1200" dirty="0">
                <a:solidFill>
                  <a:schemeClr val="tx1"/>
                </a:solidFill>
                <a:effectLst/>
                <a:latin typeface="+mn-lt"/>
                <a:ea typeface="+mn-ea"/>
                <a:cs typeface="+mn-cs"/>
              </a:rPr>
              <a:t>- A solution that is understandable but extremely slow may not fit larger data. </a:t>
            </a:r>
          </a:p>
          <a:p>
            <a:r>
              <a:rPr lang="en-US" sz="1200" b="0" kern="1200" dirty="0">
                <a:solidFill>
                  <a:schemeClr val="tx1"/>
                </a:solidFill>
                <a:effectLst/>
                <a:latin typeface="+mn-lt"/>
                <a:ea typeface="+mn-ea"/>
                <a:cs typeface="+mn-cs"/>
              </a:rPr>
              <a:t>- A solution that is fast but wrong, fails the main purpose.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Performance analysis helps us reason about the efficiency part without forgetting correctness and understandability.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10</a:t>
            </a:fld>
            <a:endParaRPr lang="en-US"/>
          </a:p>
        </p:txBody>
      </p:sp>
    </p:spTree>
    <p:extLst>
      <p:ext uri="{BB962C8B-B14F-4D97-AF65-F5344CB8AC3E}">
        <p14:creationId xmlns:p14="http://schemas.microsoft.com/office/powerpoint/2010/main" val="532020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D7811-746E-5A6C-C676-52D6EDC69D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859D7-5AA7-C82B-9BA4-C54AE3469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21A02-B0B0-CCE5-C5EA-0193698B13EF}"/>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practical. - Students do not need formal proof yet. </a:t>
            </a:r>
          </a:p>
          <a:p>
            <a:r>
              <a:rPr lang="en-US" sz="1200" b="0" kern="1200" dirty="0">
                <a:solidFill>
                  <a:schemeClr val="tx1"/>
                </a:solidFill>
                <a:effectLst/>
                <a:latin typeface="+mn-lt"/>
                <a:ea typeface="+mn-ea"/>
                <a:cs typeface="+mn-cs"/>
              </a:rPr>
              <a:t>They need to see that algorithms consume resources, and those resources may change when the input changes.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reading separates performance analysis into two broad types: space and time.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935AAE82-8DBE-166D-9982-EFB1DDEA0BC5}"/>
              </a:ext>
            </a:extLst>
          </p:cNvPr>
          <p:cNvSpPr>
            <a:spLocks noGrp="1"/>
          </p:cNvSpPr>
          <p:nvPr>
            <p:ph type="sldNum" sz="quarter" idx="5"/>
          </p:nvPr>
        </p:nvSpPr>
        <p:spPr/>
        <p:txBody>
          <a:bodyPr/>
          <a:lstStyle/>
          <a:p>
            <a:fld id="{1916ACA2-47E6-42D2-BEC8-EDC49A1A9FA1}" type="slidenum">
              <a:rPr lang="en-US" smtClean="0"/>
              <a:t>11</a:t>
            </a:fld>
            <a:endParaRPr lang="en-US"/>
          </a:p>
        </p:txBody>
      </p:sp>
    </p:spTree>
    <p:extLst>
      <p:ext uri="{BB962C8B-B14F-4D97-AF65-F5344CB8AC3E}">
        <p14:creationId xmlns:p14="http://schemas.microsoft.com/office/powerpoint/2010/main" val="3729209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D12E8-9B0D-4D8E-0E52-D47249A4A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828FA-02D7-08AC-A583-92CE5D12C6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8382D-20A0-97B5-EA09-6DE24832198D}"/>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a simple contrast.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 A dictionary (a variable, not the book) may use extra memory but reduce repeated lookup work. </a:t>
            </a:r>
          </a:p>
          <a:p>
            <a:r>
              <a:rPr lang="en-US" sz="1200" b="0" kern="1200" dirty="0">
                <a:solidFill>
                  <a:schemeClr val="tx1"/>
                </a:solidFill>
                <a:effectLst/>
                <a:latin typeface="+mn-lt"/>
                <a:ea typeface="+mn-ea"/>
                <a:cs typeface="+mn-cs"/>
              </a:rPr>
              <a:t>- A list may use less structure but require more scanning.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This is a tradeoff students will keep seeing.</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Start with space because memory growth is easier to visualize.</a:t>
            </a:r>
          </a:p>
          <a:p>
            <a:endParaRPr lang="en-US" dirty="0"/>
          </a:p>
        </p:txBody>
      </p:sp>
      <p:sp>
        <p:nvSpPr>
          <p:cNvPr id="4" name="Slide Number Placeholder 3">
            <a:extLst>
              <a:ext uri="{FF2B5EF4-FFF2-40B4-BE49-F238E27FC236}">
                <a16:creationId xmlns:a16="http://schemas.microsoft.com/office/drawing/2014/main" id="{776AE8CA-0DA6-FA67-67C3-D051E6C7025D}"/>
              </a:ext>
            </a:extLst>
          </p:cNvPr>
          <p:cNvSpPr>
            <a:spLocks noGrp="1"/>
          </p:cNvSpPr>
          <p:nvPr>
            <p:ph type="sldNum" sz="quarter" idx="5"/>
          </p:nvPr>
        </p:nvSpPr>
        <p:spPr/>
        <p:txBody>
          <a:bodyPr/>
          <a:lstStyle/>
          <a:p>
            <a:fld id="{1916ACA2-47E6-42D2-BEC8-EDC49A1A9FA1}" type="slidenum">
              <a:rPr lang="en-US" smtClean="0"/>
              <a:t>12</a:t>
            </a:fld>
            <a:endParaRPr lang="en-US"/>
          </a:p>
        </p:txBody>
      </p:sp>
    </p:spTree>
    <p:extLst>
      <p:ext uri="{BB962C8B-B14F-4D97-AF65-F5344CB8AC3E}">
        <p14:creationId xmlns:p14="http://schemas.microsoft.com/office/powerpoint/2010/main" val="823535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70F47-C985-20B0-29AA-42508AB6D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FEB39-DDD4-BE0E-5CDD-07F705564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01721-318B-1C56-9705-3C03698C6659}"/>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p>
          <a:p>
            <a:r>
              <a:rPr lang="en-US" sz="1200" b="0" i="1" kern="1200" dirty="0">
                <a:solidFill>
                  <a:schemeClr val="tx1"/>
                </a:solidFill>
                <a:effectLst/>
                <a:latin typeface="+mn-lt"/>
                <a:ea typeface="+mn-ea"/>
                <a:cs typeface="+mn-cs"/>
              </a:rPr>
              <a:t>Rember: What is “Space” </a:t>
            </a:r>
            <a:br>
              <a:rPr lang="en-US" sz="1200" b="0" i="1" kern="1200" dirty="0">
                <a:solidFill>
                  <a:schemeClr val="tx1"/>
                </a:solidFill>
                <a:effectLst/>
                <a:latin typeface="+mn-lt"/>
                <a:ea typeface="+mn-ea"/>
                <a:cs typeface="+mn-cs"/>
              </a:rPr>
            </a:br>
            <a:r>
              <a:rPr lang="en-US" sz="1200" b="0" i="1" kern="1200" dirty="0">
                <a:solidFill>
                  <a:schemeClr val="tx1"/>
                </a:solidFill>
                <a:effectLst/>
                <a:latin typeface="+mn-lt"/>
                <a:ea typeface="+mn-ea"/>
                <a:cs typeface="+mn-cs"/>
              </a:rPr>
              <a:t>e.g. – how much disk space is used, how much RAM is used, etc.</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Use student-friendly language:</a:t>
            </a:r>
          </a:p>
          <a:p>
            <a:r>
              <a:rPr lang="en-US" sz="1200" b="0" kern="1200" dirty="0">
                <a:solidFill>
                  <a:schemeClr val="tx1"/>
                </a:solidFill>
                <a:effectLst/>
                <a:latin typeface="+mn-lt"/>
                <a:ea typeface="+mn-ea"/>
                <a:cs typeface="+mn-cs"/>
              </a:rPr>
              <a:t>- Flat: memory stays about the same.</a:t>
            </a:r>
          </a:p>
          <a:p>
            <a:r>
              <a:rPr lang="en-US" sz="1200" b="0" kern="1200" dirty="0">
                <a:solidFill>
                  <a:schemeClr val="tx1"/>
                </a:solidFill>
                <a:effectLst/>
                <a:latin typeface="+mn-lt"/>
                <a:ea typeface="+mn-ea"/>
                <a:cs typeface="+mn-cs"/>
              </a:rPr>
              <a:t>- Converging: memory growth slows or approaches a limit.</a:t>
            </a:r>
          </a:p>
          <a:p>
            <a:r>
              <a:rPr lang="en-US" sz="1200" b="0" kern="1200" dirty="0">
                <a:solidFill>
                  <a:schemeClr val="tx1"/>
                </a:solidFill>
                <a:effectLst/>
                <a:latin typeface="+mn-lt"/>
                <a:ea typeface="+mn-ea"/>
                <a:cs typeface="+mn-cs"/>
              </a:rPr>
              <a:t>- Diverging: memory keeps increasing as input grows.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Do not spend long on the exact terminology if students are new to it. </a:t>
            </a:r>
          </a:p>
          <a:p>
            <a:r>
              <a:rPr lang="en-US" sz="1200" b="0" kern="1200" dirty="0">
                <a:solidFill>
                  <a:schemeClr val="tx1"/>
                </a:solidFill>
                <a:effectLst/>
                <a:latin typeface="+mn-lt"/>
                <a:ea typeface="+mn-ea"/>
                <a:cs typeface="+mn-cs"/>
              </a:rPr>
              <a:t>The main point is that memory use can have a growth pattern too.</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Time complexity asks a similar growth question, but about work.</a:t>
            </a:r>
          </a:p>
          <a:p>
            <a:endParaRPr lang="en-US" dirty="0"/>
          </a:p>
        </p:txBody>
      </p:sp>
      <p:sp>
        <p:nvSpPr>
          <p:cNvPr id="4" name="Slide Number Placeholder 3">
            <a:extLst>
              <a:ext uri="{FF2B5EF4-FFF2-40B4-BE49-F238E27FC236}">
                <a16:creationId xmlns:a16="http://schemas.microsoft.com/office/drawing/2014/main" id="{AD4099B4-BF93-001B-D3E9-F55C853DDD4D}"/>
              </a:ext>
            </a:extLst>
          </p:cNvPr>
          <p:cNvSpPr>
            <a:spLocks noGrp="1"/>
          </p:cNvSpPr>
          <p:nvPr>
            <p:ph type="sldNum" sz="quarter" idx="5"/>
          </p:nvPr>
        </p:nvSpPr>
        <p:spPr/>
        <p:txBody>
          <a:bodyPr/>
          <a:lstStyle/>
          <a:p>
            <a:fld id="{1916ACA2-47E6-42D2-BEC8-EDC49A1A9FA1}" type="slidenum">
              <a:rPr lang="en-US" smtClean="0"/>
              <a:t>13</a:t>
            </a:fld>
            <a:endParaRPr lang="en-US"/>
          </a:p>
        </p:txBody>
      </p:sp>
    </p:spTree>
    <p:extLst>
      <p:ext uri="{BB962C8B-B14F-4D97-AF65-F5344CB8AC3E}">
        <p14:creationId xmlns:p14="http://schemas.microsoft.com/office/powerpoint/2010/main" val="2275563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696C6-445A-3061-29BB-D0F36CE32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8EDC4-7EAD-9A1E-1CF7-AAFB1DB03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83D247-E2F4-92F7-DC5B-D7982D6C753C}"/>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br>
              <a:rPr lang="en-US" sz="1200" b="1"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Mention CPU, GPU, and memory as resource terms from the reading, but do not turn this into a hardware lecture. </a:t>
            </a:r>
          </a:p>
          <a:p>
            <a:r>
              <a:rPr lang="en-US" sz="1200" b="0" kern="1200" dirty="0">
                <a:solidFill>
                  <a:schemeClr val="tx1"/>
                </a:solidFill>
                <a:effectLst/>
                <a:latin typeface="+mn-lt"/>
                <a:ea typeface="+mn-ea"/>
                <a:cs typeface="+mn-cs"/>
              </a:rPr>
              <a:t>For this week, CPU/GPU/memory are reminders that algorithms run on real machines with real limits.</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Distinction: Yes, processors use “space” (memory), and the critical point here, is the “speed” by which the operate!</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To reason about time, we need to identify the input size.</a:t>
            </a:r>
          </a:p>
          <a:p>
            <a:endParaRPr lang="en-US" sz="1200" b="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1E27AAB7-1866-9C73-35FA-1EF8522295ED}"/>
              </a:ext>
            </a:extLst>
          </p:cNvPr>
          <p:cNvSpPr>
            <a:spLocks noGrp="1"/>
          </p:cNvSpPr>
          <p:nvPr>
            <p:ph type="sldNum" sz="quarter" idx="5"/>
          </p:nvPr>
        </p:nvSpPr>
        <p:spPr/>
        <p:txBody>
          <a:bodyPr/>
          <a:lstStyle/>
          <a:p>
            <a:fld id="{1916ACA2-47E6-42D2-BEC8-EDC49A1A9FA1}" type="slidenum">
              <a:rPr lang="en-US" smtClean="0"/>
              <a:t>14</a:t>
            </a:fld>
            <a:endParaRPr lang="en-US"/>
          </a:p>
        </p:txBody>
      </p:sp>
    </p:spTree>
    <p:extLst>
      <p:ext uri="{BB962C8B-B14F-4D97-AF65-F5344CB8AC3E}">
        <p14:creationId xmlns:p14="http://schemas.microsoft.com/office/powerpoint/2010/main" val="2979945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2620A-E759-541A-DFEF-1EFD7F5C0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533BB-94F4-BDEE-41D3-19F9647E9B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B5E5F5-2477-A442-8E64-4278D4521BB9}"/>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p>
          <a:p>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When we get the demo, we will see how two approaches  behave as the input size grows”</a:t>
            </a:r>
          </a:p>
          <a:p>
            <a:r>
              <a:rPr lang="en-US" sz="1200" b="0" kern="1200" dirty="0">
                <a:solidFill>
                  <a:schemeClr val="tx1"/>
                </a:solidFill>
                <a:effectLst/>
                <a:latin typeface="+mn-lt"/>
                <a:ea typeface="+mn-ea"/>
                <a:cs typeface="+mn-cs"/>
              </a:rPr>
              <a:t>(Optional: Use the demo preview - [run the demo to see the results]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                 - in the lookup demo, input size is the number of items in the collection.)</a:t>
            </a:r>
          </a:p>
          <a:p>
            <a:r>
              <a:rPr lang="en-US" sz="1200" b="0" kern="1200" dirty="0">
                <a:solidFill>
                  <a:schemeClr val="tx1"/>
                </a:solidFill>
                <a:effectLst/>
                <a:latin typeface="+mn-lt"/>
                <a:ea typeface="+mn-ea"/>
                <a:cs typeface="+mn-cs"/>
              </a:rPr>
              <a:t>In Lab 02, each student comparison will need to define what input size means for that task.</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Once input size is named, we can ask how the work changes.</a:t>
            </a:r>
          </a:p>
          <a:p>
            <a:endParaRPr lang="en-US" sz="1200" b="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B3C0EC89-E5A3-A15D-8E7B-D86783F42CE8}"/>
              </a:ext>
            </a:extLst>
          </p:cNvPr>
          <p:cNvSpPr>
            <a:spLocks noGrp="1"/>
          </p:cNvSpPr>
          <p:nvPr>
            <p:ph type="sldNum" sz="quarter" idx="5"/>
          </p:nvPr>
        </p:nvSpPr>
        <p:spPr/>
        <p:txBody>
          <a:bodyPr/>
          <a:lstStyle/>
          <a:p>
            <a:fld id="{1916ACA2-47E6-42D2-BEC8-EDC49A1A9FA1}" type="slidenum">
              <a:rPr lang="en-US" smtClean="0"/>
              <a:t>15</a:t>
            </a:fld>
            <a:endParaRPr lang="en-US"/>
          </a:p>
        </p:txBody>
      </p:sp>
    </p:spTree>
    <p:extLst>
      <p:ext uri="{BB962C8B-B14F-4D97-AF65-F5344CB8AC3E}">
        <p14:creationId xmlns:p14="http://schemas.microsoft.com/office/powerpoint/2010/main" val="13492674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a concrete phrase: </a:t>
            </a:r>
          </a:p>
          <a:p>
            <a:r>
              <a:rPr lang="en-US" sz="1200" b="0" i="1" kern="1200" dirty="0">
                <a:solidFill>
                  <a:schemeClr val="tx1"/>
                </a:solidFill>
                <a:effectLst/>
                <a:latin typeface="+mn-lt"/>
                <a:ea typeface="+mn-ea"/>
                <a:cs typeface="+mn-cs"/>
              </a:rPr>
              <a:t>"Two approaches can both feel instant with 10 items. </a:t>
            </a:r>
          </a:p>
          <a:p>
            <a:r>
              <a:rPr lang="en-US" sz="1200" b="0" i="1" kern="1200" dirty="0">
                <a:solidFill>
                  <a:schemeClr val="tx1"/>
                </a:solidFill>
                <a:effectLst/>
                <a:latin typeface="+mn-lt"/>
                <a:ea typeface="+mn-ea"/>
                <a:cs typeface="+mn-cs"/>
              </a:rPr>
              <a:t>…The difference may become visible with 10,000 items."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why one small example is not enough evidence for performance.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17</a:t>
            </a:fld>
            <a:endParaRPr lang="en-US"/>
          </a:p>
        </p:txBody>
      </p:sp>
    </p:spTree>
    <p:extLst>
      <p:ext uri="{BB962C8B-B14F-4D97-AF65-F5344CB8AC3E}">
        <p14:creationId xmlns:p14="http://schemas.microsoft.com/office/powerpoint/2010/main" val="28396004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Make timing useful but limited. Timing is not useless; it is </a:t>
            </a:r>
            <a:r>
              <a:rPr lang="en-US" sz="1200" b="1" kern="1200" dirty="0">
                <a:solidFill>
                  <a:schemeClr val="tx1"/>
                </a:solidFill>
                <a:effectLst/>
                <a:latin typeface="+mn-lt"/>
                <a:ea typeface="+mn-ea"/>
                <a:cs typeface="+mn-cs"/>
              </a:rPr>
              <a:t>evidence</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But it is evidence from a specific setup, </a:t>
            </a:r>
            <a:r>
              <a:rPr lang="en-US" sz="1200" b="1" kern="1200" dirty="0">
                <a:solidFill>
                  <a:schemeClr val="tx1"/>
                </a:solidFill>
                <a:effectLst/>
                <a:latin typeface="+mn-lt"/>
                <a:ea typeface="+mn-ea"/>
                <a:cs typeface="+mn-cs"/>
              </a:rPr>
              <a:t>not</a:t>
            </a:r>
            <a:r>
              <a:rPr lang="en-US" sz="1200" b="0" kern="1200" dirty="0">
                <a:solidFill>
                  <a:schemeClr val="tx1"/>
                </a:solidFill>
                <a:effectLst/>
                <a:latin typeface="+mn-lt"/>
                <a:ea typeface="+mn-ea"/>
                <a:cs typeface="+mn-cs"/>
              </a:rPr>
              <a:t> a universal law.</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Because timing depends on conditions, timing results can be noisy.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18</a:t>
            </a:fld>
            <a:endParaRPr lang="en-US"/>
          </a:p>
        </p:txBody>
      </p:sp>
    </p:spTree>
    <p:extLst>
      <p:ext uri="{BB962C8B-B14F-4D97-AF65-F5344CB8AC3E}">
        <p14:creationId xmlns:p14="http://schemas.microsoft.com/office/powerpoint/2010/main" val="40897189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Warn students not to panic if their exact numbers do not match the demo.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Focus them on the pattern across increasing input sizes, not one decimal value.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Big-O gives us language for the pattern behind the timing.</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19</a:t>
            </a:fld>
            <a:endParaRPr lang="en-US"/>
          </a:p>
        </p:txBody>
      </p:sp>
    </p:spTree>
    <p:extLst>
      <p:ext uri="{BB962C8B-B14F-4D97-AF65-F5344CB8AC3E}">
        <p14:creationId xmlns:p14="http://schemas.microsoft.com/office/powerpoint/2010/main" val="5249454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“Big-O is NOT Exact – it describes the general concept!”</a:t>
            </a:r>
            <a:br>
              <a:rPr lang="en-US" sz="1200" b="0" i="1" kern="1200" dirty="0">
                <a:solidFill>
                  <a:schemeClr val="tx1"/>
                </a:solidFill>
                <a:effectLst/>
                <a:latin typeface="+mn-lt"/>
                <a:ea typeface="+mn-ea"/>
                <a:cs typeface="+mn-cs"/>
              </a:rPr>
            </a:br>
            <a:r>
              <a:rPr lang="en-US" sz="1200" b="0" i="1" kern="1200" dirty="0">
                <a:solidFill>
                  <a:schemeClr val="tx1"/>
                </a:solidFill>
                <a:effectLst/>
                <a:latin typeface="+mn-lt"/>
                <a:ea typeface="+mn-ea"/>
                <a:cs typeface="+mn-cs"/>
              </a:rPr>
              <a:t>It is like saying “small”, “average”, “A whole bunch”, etc.</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This is the central conceptual safety rail.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Students should not confuse measured runtime with Big-O. </a:t>
            </a:r>
          </a:p>
          <a:p>
            <a:r>
              <a:rPr lang="en-US" sz="1200" b="0" kern="1200" dirty="0">
                <a:solidFill>
                  <a:schemeClr val="tx1"/>
                </a:solidFill>
                <a:effectLst/>
                <a:latin typeface="+mn-lt"/>
                <a:ea typeface="+mn-ea"/>
                <a:cs typeface="+mn-cs"/>
              </a:rPr>
              <a:t>Timing can support a growth claim, but Big-O describes how work tends to grow as input size changes.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Before naming Big-O classes, show what "work" can mean.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20</a:t>
            </a:fld>
            <a:endParaRPr lang="en-US"/>
          </a:p>
        </p:txBody>
      </p:sp>
    </p:spTree>
    <p:extLst>
      <p:ext uri="{BB962C8B-B14F-4D97-AF65-F5344CB8AC3E}">
        <p14:creationId xmlns:p14="http://schemas.microsoft.com/office/powerpoint/2010/main" val="1504372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Optional: Use the demo example [run the code to see the output]: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 manual list lookup may compare the target to many values.</a:t>
            </a:r>
          </a:p>
          <a:p>
            <a:r>
              <a:rPr lang="en-US" sz="1200" b="0" kern="1200" dirty="0">
                <a:solidFill>
                  <a:schemeClr val="tx1"/>
                </a:solidFill>
                <a:effectLst/>
                <a:latin typeface="+mn-lt"/>
                <a:ea typeface="+mn-ea"/>
                <a:cs typeface="+mn-cs"/>
              </a:rPr>
              <a:t>Set membership avoids walking through the list in the same visible way.</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When work grows with input size, we start naming the growth shape.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21</a:t>
            </a:fld>
            <a:endParaRPr lang="en-US"/>
          </a:p>
        </p:txBody>
      </p:sp>
    </p:spTree>
    <p:extLst>
      <p:ext uri="{BB962C8B-B14F-4D97-AF65-F5344CB8AC3E}">
        <p14:creationId xmlns:p14="http://schemas.microsoft.com/office/powerpoint/2010/main" val="636328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a preview of data structure choice. - Do not fully teach sets yet. </a:t>
            </a:r>
          </a:p>
          <a:p>
            <a:r>
              <a:rPr lang="en-US" sz="1200" b="0" kern="1200" dirty="0">
                <a:solidFill>
                  <a:schemeClr val="tx1"/>
                </a:solidFill>
                <a:effectLst/>
                <a:latin typeface="+mn-lt"/>
                <a:ea typeface="+mn-ea"/>
                <a:cs typeface="+mn-cs"/>
              </a:rPr>
              <a:t>The point is that algorithm selection often involves tradeoffs rather than one perfect answer.</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reading also asks us to think about computing resources.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22</a:t>
            </a:fld>
            <a:endParaRPr lang="en-US"/>
          </a:p>
        </p:txBody>
      </p:sp>
    </p:spTree>
    <p:extLst>
      <p:ext uri="{BB962C8B-B14F-4D97-AF65-F5344CB8AC3E}">
        <p14:creationId xmlns:p14="http://schemas.microsoft.com/office/powerpoint/2010/main" val="23191228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brief unless students ask. </a:t>
            </a:r>
          </a:p>
          <a:p>
            <a:r>
              <a:rPr lang="en-US" sz="1200" b="0" kern="1200" dirty="0">
                <a:solidFill>
                  <a:schemeClr val="tx1"/>
                </a:solidFill>
                <a:effectLst/>
                <a:latin typeface="+mn-lt"/>
                <a:ea typeface="+mn-ea"/>
                <a:cs typeface="+mn-cs"/>
              </a:rPr>
              <a:t>The purpose is to connect the reading to real computing resources, not to teach computer architecture.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Lab 02, we will focus mainly on CPU time and memory intuition.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23</a:t>
            </a:fld>
            <a:endParaRPr lang="en-US"/>
          </a:p>
        </p:txBody>
      </p:sp>
    </p:spTree>
    <p:extLst>
      <p:ext uri="{BB962C8B-B14F-4D97-AF65-F5344CB8AC3E}">
        <p14:creationId xmlns:p14="http://schemas.microsoft.com/office/powerpoint/2010/main" val="9023402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is the practical bridge into Big-O. </a:t>
            </a:r>
          </a:p>
          <a:p>
            <a:r>
              <a:rPr lang="en-US" sz="1200" b="0" kern="1200" dirty="0">
                <a:solidFill>
                  <a:schemeClr val="tx1"/>
                </a:solidFill>
                <a:effectLst/>
                <a:latin typeface="+mn-lt"/>
                <a:ea typeface="+mn-ea"/>
                <a:cs typeface="+mn-cs"/>
              </a:rPr>
              <a:t>It gives students questions they can use before they fully master notation.</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attach names to common growth patterns.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24</a:t>
            </a:fld>
            <a:endParaRPr lang="en-US"/>
          </a:p>
        </p:txBody>
      </p:sp>
    </p:spTree>
    <p:extLst>
      <p:ext uri="{BB962C8B-B14F-4D97-AF65-F5344CB8AC3E}">
        <p14:creationId xmlns:p14="http://schemas.microsoft.com/office/powerpoint/2010/main" val="35348807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textbook may show mathematical notation here. </a:t>
            </a:r>
          </a:p>
          <a:p>
            <a:r>
              <a:rPr lang="en-US" sz="1200" b="0" kern="1200" dirty="0">
                <a:solidFill>
                  <a:schemeClr val="tx1"/>
                </a:solidFill>
                <a:effectLst/>
                <a:latin typeface="+mn-lt"/>
                <a:ea typeface="+mn-ea"/>
                <a:cs typeface="+mn-cs"/>
              </a:rPr>
              <a:t>Acknowledge the notation, but translate immediately: `n` means input size, and the expression describes how work grows as `n` grows.</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Use `O(n2)` in slide text for ASCII compatibility, but say "O of n squared“ out loud.</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Start with the simplest growth class: constant time.</a:t>
            </a:r>
          </a:p>
          <a:p>
            <a:r>
              <a:rPr lang="en-US" i="1" dirty="0"/>
              <a:t>“There are quite a few different notations. </a:t>
            </a:r>
            <a:br>
              <a:rPr lang="en-US" i="1" dirty="0"/>
            </a:br>
            <a:r>
              <a:rPr lang="en-US" i="1" dirty="0"/>
              <a:t>We will not be needing all of them </a:t>
            </a:r>
            <a:r>
              <a:rPr lang="en-US" b="1" i="0" dirty="0"/>
              <a:t>(See cheat sheet for full list) </a:t>
            </a:r>
            <a:br>
              <a:rPr lang="en-US" i="1" dirty="0"/>
            </a:br>
            <a:r>
              <a:rPr lang="en-US" i="1" dirty="0"/>
              <a:t>Let’s look at the most common.”</a:t>
            </a:r>
          </a:p>
        </p:txBody>
      </p:sp>
      <p:sp>
        <p:nvSpPr>
          <p:cNvPr id="4" name="Slide Number Placeholder 3"/>
          <p:cNvSpPr>
            <a:spLocks noGrp="1"/>
          </p:cNvSpPr>
          <p:nvPr>
            <p:ph type="sldNum" sz="quarter" idx="5"/>
          </p:nvPr>
        </p:nvSpPr>
        <p:spPr/>
        <p:txBody>
          <a:bodyPr/>
          <a:lstStyle/>
          <a:p>
            <a:fld id="{1916ACA2-47E6-42D2-BEC8-EDC49A1A9FA1}" type="slidenum">
              <a:rPr lang="en-US" smtClean="0"/>
              <a:t>26</a:t>
            </a:fld>
            <a:endParaRPr lang="en-US"/>
          </a:p>
        </p:txBody>
      </p:sp>
    </p:spTree>
    <p:extLst>
      <p:ext uri="{BB962C8B-B14F-4D97-AF65-F5344CB8AC3E}">
        <p14:creationId xmlns:p14="http://schemas.microsoft.com/office/powerpoint/2010/main" val="10461568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B1287-D391-27F6-70BD-27483F78B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E5EF7-E39E-5A50-86BC-9F5A242E2C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DC28E-B9E4-C2A8-7869-EC9D895DBCB4}"/>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intuitive - Students do not need logarithm math yet.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Use the idea of guessing a number between 1 and 100 by cutting the range in half each time.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These labels help us compare growth shapes side by side.</a:t>
            </a:r>
          </a:p>
          <a:p>
            <a:endParaRPr lang="en-US" dirty="0"/>
          </a:p>
        </p:txBody>
      </p:sp>
      <p:sp>
        <p:nvSpPr>
          <p:cNvPr id="4" name="Slide Number Placeholder 3">
            <a:extLst>
              <a:ext uri="{FF2B5EF4-FFF2-40B4-BE49-F238E27FC236}">
                <a16:creationId xmlns:a16="http://schemas.microsoft.com/office/drawing/2014/main" id="{8EC90CC1-BEC8-304E-68C7-0B6822DA29E1}"/>
              </a:ext>
            </a:extLst>
          </p:cNvPr>
          <p:cNvSpPr>
            <a:spLocks noGrp="1"/>
          </p:cNvSpPr>
          <p:nvPr>
            <p:ph type="sldNum" sz="quarter" idx="5"/>
          </p:nvPr>
        </p:nvSpPr>
        <p:spPr/>
        <p:txBody>
          <a:bodyPr/>
          <a:lstStyle/>
          <a:p>
            <a:fld id="{1916ACA2-47E6-42D2-BEC8-EDC49A1A9FA1}" type="slidenum">
              <a:rPr lang="en-US" smtClean="0"/>
              <a:t>27</a:t>
            </a:fld>
            <a:endParaRPr lang="en-US"/>
          </a:p>
        </p:txBody>
      </p:sp>
    </p:spTree>
    <p:extLst>
      <p:ext uri="{BB962C8B-B14F-4D97-AF65-F5344CB8AC3E}">
        <p14:creationId xmlns:p14="http://schemas.microsoft.com/office/powerpoint/2010/main" val="32245290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C1F13-CBE4-479D-94EA-753D7595B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80E08A-9EA4-5014-D75B-36E2DF602A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E52F8B-451B-8914-9BB8-2A7A9563DE13}"/>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intuitive - Students do not need logarithm math yet.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Use the idea of guessing a number between 1 and 100 by cutting the range in half each time.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These labels help us compare growth shapes side by side.</a:t>
            </a:r>
          </a:p>
          <a:p>
            <a:endParaRPr lang="en-US" dirty="0"/>
          </a:p>
        </p:txBody>
      </p:sp>
      <p:sp>
        <p:nvSpPr>
          <p:cNvPr id="4" name="Slide Number Placeholder 3">
            <a:extLst>
              <a:ext uri="{FF2B5EF4-FFF2-40B4-BE49-F238E27FC236}">
                <a16:creationId xmlns:a16="http://schemas.microsoft.com/office/drawing/2014/main" id="{54CEFF1B-6729-9631-9E3C-70E713FB0EC6}"/>
              </a:ext>
            </a:extLst>
          </p:cNvPr>
          <p:cNvSpPr>
            <a:spLocks noGrp="1"/>
          </p:cNvSpPr>
          <p:nvPr>
            <p:ph type="sldNum" sz="quarter" idx="5"/>
          </p:nvPr>
        </p:nvSpPr>
        <p:spPr/>
        <p:txBody>
          <a:bodyPr/>
          <a:lstStyle/>
          <a:p>
            <a:fld id="{1916ACA2-47E6-42D2-BEC8-EDC49A1A9FA1}" type="slidenum">
              <a:rPr lang="en-US" smtClean="0"/>
              <a:t>28</a:t>
            </a:fld>
            <a:endParaRPr lang="en-US"/>
          </a:p>
        </p:txBody>
      </p:sp>
    </p:spTree>
    <p:extLst>
      <p:ext uri="{BB962C8B-B14F-4D97-AF65-F5344CB8AC3E}">
        <p14:creationId xmlns:p14="http://schemas.microsoft.com/office/powerpoint/2010/main" val="16882839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B16DE-52AB-EE95-6763-03A3CF66F2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85A3D-16C4-A000-BF63-D158A4C99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F7FCAF-9658-A5ED-6394-939D92AC6CFF}"/>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intuitive - Students do not need logarithm math yet.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Use the idea of guessing a number between 1 and 100 by cutting the range in half each time.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These labels help us compare growth shapes side by side.</a:t>
            </a:r>
          </a:p>
          <a:p>
            <a:endParaRPr lang="en-US" dirty="0"/>
          </a:p>
        </p:txBody>
      </p:sp>
      <p:sp>
        <p:nvSpPr>
          <p:cNvPr id="4" name="Slide Number Placeholder 3">
            <a:extLst>
              <a:ext uri="{FF2B5EF4-FFF2-40B4-BE49-F238E27FC236}">
                <a16:creationId xmlns:a16="http://schemas.microsoft.com/office/drawing/2014/main" id="{50C024FC-B433-F15C-C52E-5B6F270E4D8D}"/>
              </a:ext>
            </a:extLst>
          </p:cNvPr>
          <p:cNvSpPr>
            <a:spLocks noGrp="1"/>
          </p:cNvSpPr>
          <p:nvPr>
            <p:ph type="sldNum" sz="quarter" idx="5"/>
          </p:nvPr>
        </p:nvSpPr>
        <p:spPr/>
        <p:txBody>
          <a:bodyPr/>
          <a:lstStyle/>
          <a:p>
            <a:fld id="{1916ACA2-47E6-42D2-BEC8-EDC49A1A9FA1}" type="slidenum">
              <a:rPr lang="en-US" smtClean="0"/>
              <a:t>29</a:t>
            </a:fld>
            <a:endParaRPr lang="en-US"/>
          </a:p>
        </p:txBody>
      </p:sp>
    </p:spTree>
    <p:extLst>
      <p:ext uri="{BB962C8B-B14F-4D97-AF65-F5344CB8AC3E}">
        <p14:creationId xmlns:p14="http://schemas.microsoft.com/office/powerpoint/2010/main" val="42229886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68CAD-E3E2-89CD-EE41-9E337CB7E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E9949-C0E7-A40A-9DCC-EC1FF2225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FC95BB-A255-FC8C-D973-4495C26F985A}"/>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intuitive - Students do not need logarithm math yet.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Use the idea of guessing a number between 1 and 100 by cutting the range in half each time.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These labels help us compare growth shapes side by side.</a:t>
            </a:r>
          </a:p>
          <a:p>
            <a:endParaRPr lang="en-US" dirty="0"/>
          </a:p>
        </p:txBody>
      </p:sp>
      <p:sp>
        <p:nvSpPr>
          <p:cNvPr id="4" name="Slide Number Placeholder 3">
            <a:extLst>
              <a:ext uri="{FF2B5EF4-FFF2-40B4-BE49-F238E27FC236}">
                <a16:creationId xmlns:a16="http://schemas.microsoft.com/office/drawing/2014/main" id="{81FD35F0-6300-9FCC-D94A-FF50294845B9}"/>
              </a:ext>
            </a:extLst>
          </p:cNvPr>
          <p:cNvSpPr>
            <a:spLocks noGrp="1"/>
          </p:cNvSpPr>
          <p:nvPr>
            <p:ph type="sldNum" sz="quarter" idx="5"/>
          </p:nvPr>
        </p:nvSpPr>
        <p:spPr/>
        <p:txBody>
          <a:bodyPr/>
          <a:lstStyle/>
          <a:p>
            <a:fld id="{1916ACA2-47E6-42D2-BEC8-EDC49A1A9FA1}" type="slidenum">
              <a:rPr lang="en-US" smtClean="0"/>
              <a:t>30</a:t>
            </a:fld>
            <a:endParaRPr lang="en-US"/>
          </a:p>
        </p:txBody>
      </p:sp>
    </p:spTree>
    <p:extLst>
      <p:ext uri="{BB962C8B-B14F-4D97-AF65-F5344CB8AC3E}">
        <p14:creationId xmlns:p14="http://schemas.microsoft.com/office/powerpoint/2010/main" val="23529310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Stress that this is a simplified comparison for this course level. </a:t>
            </a:r>
          </a:p>
          <a:p>
            <a:r>
              <a:rPr lang="en-US" sz="1200" b="0" kern="1200" dirty="0">
                <a:solidFill>
                  <a:schemeClr val="tx1"/>
                </a:solidFill>
                <a:effectLst/>
                <a:latin typeface="+mn-lt"/>
                <a:ea typeface="+mn-ea"/>
                <a:cs typeface="+mn-cs"/>
              </a:rPr>
              <a:t>Real performance also depends on constants, implementation details, and hardware, but growth shape matters as input becomes large.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textbook also gives rules for estimating complexity from structure.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31</a:t>
            </a:fld>
            <a:endParaRPr lang="en-US"/>
          </a:p>
        </p:txBody>
      </p:sp>
    </p:spTree>
    <p:extLst>
      <p:ext uri="{BB962C8B-B14F-4D97-AF65-F5344CB8AC3E}">
        <p14:creationId xmlns:p14="http://schemas.microsoft.com/office/powerpoint/2010/main" val="38474986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Example: one loop followed by another loop is still usually discussed as linear at this level, not "two separate linear things" as a scary new class.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Some structures divide the problem rather than scan everything.</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32</a:t>
            </a:fld>
            <a:endParaRPr lang="en-US"/>
          </a:p>
        </p:txBody>
      </p:sp>
    </p:spTree>
    <p:extLst>
      <p:ext uri="{BB962C8B-B14F-4D97-AF65-F5344CB8AC3E}">
        <p14:creationId xmlns:p14="http://schemas.microsoft.com/office/powerpoint/2010/main" val="33481750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Connect to logarithmic growth.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This is the intuition behind binary search, not a full binary-search lesson.</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Recursive structures need special care because the function calls itself.</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33</a:t>
            </a:fld>
            <a:endParaRPr lang="en-US"/>
          </a:p>
        </p:txBody>
      </p:sp>
    </p:spTree>
    <p:extLst>
      <p:ext uri="{BB962C8B-B14F-4D97-AF65-F5344CB8AC3E}">
        <p14:creationId xmlns:p14="http://schemas.microsoft.com/office/powerpoint/2010/main" val="21819021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891C1-4031-2D37-8D55-CF44EFC1A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E6827-6310-353F-A8C2-BDF9B0273E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978EB4-BD6C-C188-0C04-A6CB7E3AF2FA}"/>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intuitive - Students do not need logarithm math yet.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Use the idea of guessing a number between 1 and 100 by cutting the range in half each time.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These labels help us compare growth shapes side by side.</a:t>
            </a:r>
          </a:p>
          <a:p>
            <a:endParaRPr lang="en-US" dirty="0"/>
          </a:p>
        </p:txBody>
      </p:sp>
      <p:sp>
        <p:nvSpPr>
          <p:cNvPr id="4" name="Slide Number Placeholder 3">
            <a:extLst>
              <a:ext uri="{FF2B5EF4-FFF2-40B4-BE49-F238E27FC236}">
                <a16:creationId xmlns:a16="http://schemas.microsoft.com/office/drawing/2014/main" id="{D1328952-4878-5B39-3EFF-7855E31DB24F}"/>
              </a:ext>
            </a:extLst>
          </p:cNvPr>
          <p:cNvSpPr>
            <a:spLocks noGrp="1"/>
          </p:cNvSpPr>
          <p:nvPr>
            <p:ph type="sldNum" sz="quarter" idx="5"/>
          </p:nvPr>
        </p:nvSpPr>
        <p:spPr/>
        <p:txBody>
          <a:bodyPr/>
          <a:lstStyle/>
          <a:p>
            <a:fld id="{1916ACA2-47E6-42D2-BEC8-EDC49A1A9FA1}" type="slidenum">
              <a:rPr lang="en-US" smtClean="0"/>
              <a:t>34</a:t>
            </a:fld>
            <a:endParaRPr lang="en-US"/>
          </a:p>
        </p:txBody>
      </p:sp>
    </p:spTree>
    <p:extLst>
      <p:ext uri="{BB962C8B-B14F-4D97-AF65-F5344CB8AC3E}">
        <p14:creationId xmlns:p14="http://schemas.microsoft.com/office/powerpoint/2010/main" val="3312698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may find this strange because constants matter in real timing.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Explain the distinction: constants can matter in practical performance, but Big-O</a:t>
            </a:r>
          </a:p>
          <a:p>
            <a:r>
              <a:rPr lang="en-US" sz="1200" b="0" kern="1200" dirty="0">
                <a:solidFill>
                  <a:schemeClr val="tx1"/>
                </a:solidFill>
                <a:effectLst/>
                <a:latin typeface="+mn-lt"/>
                <a:ea typeface="+mn-ea"/>
                <a:cs typeface="+mn-cs"/>
              </a:rPr>
              <a:t>focuses on how the work scales as input grows very large.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distinction is why timing evidence and Big-O reasoning should be used together carefully.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35</a:t>
            </a:fld>
            <a:endParaRPr lang="en-US"/>
          </a:p>
        </p:txBody>
      </p:sp>
    </p:spTree>
    <p:extLst>
      <p:ext uri="{BB962C8B-B14F-4D97-AF65-F5344CB8AC3E}">
        <p14:creationId xmlns:p14="http://schemas.microsoft.com/office/powerpoint/2010/main" val="11712038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prevents overclaiming. </a:t>
            </a:r>
          </a:p>
          <a:p>
            <a:r>
              <a:rPr lang="en-US" sz="1200" b="0" kern="1200" dirty="0">
                <a:solidFill>
                  <a:schemeClr val="tx1"/>
                </a:solidFill>
                <a:effectLst/>
                <a:latin typeface="+mn-lt"/>
                <a:ea typeface="+mn-ea"/>
                <a:cs typeface="+mn-cs"/>
              </a:rPr>
              <a:t>A timing table can suggest a pattern, but it does not prove everything about an algorithm under every condition.</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reading also explains that performance can be estimated using best, worst, and average cases.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36</a:t>
            </a:fld>
            <a:endParaRPr lang="en-US"/>
          </a:p>
        </p:txBody>
      </p:sp>
    </p:spTree>
    <p:extLst>
      <p:ext uri="{BB962C8B-B14F-4D97-AF65-F5344CB8AC3E}">
        <p14:creationId xmlns:p14="http://schemas.microsoft.com/office/powerpoint/2010/main" val="3347357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37</a:t>
            </a:fld>
            <a:endParaRPr lang="en-US"/>
          </a:p>
        </p:txBody>
      </p:sp>
    </p:spTree>
    <p:extLst>
      <p:ext uri="{BB962C8B-B14F-4D97-AF65-F5344CB8AC3E}">
        <p14:creationId xmlns:p14="http://schemas.microsoft.com/office/powerpoint/2010/main" val="26333250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38</a:t>
            </a:fld>
            <a:endParaRPr lang="en-US"/>
          </a:p>
        </p:txBody>
      </p:sp>
    </p:spTree>
    <p:extLst>
      <p:ext uri="{BB962C8B-B14F-4D97-AF65-F5344CB8AC3E}">
        <p14:creationId xmlns:p14="http://schemas.microsoft.com/office/powerpoint/2010/main" val="40868703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list lookup. </a:t>
            </a:r>
          </a:p>
          <a:p>
            <a:r>
              <a:rPr lang="en-US" sz="1200" b="0" kern="1200" dirty="0">
                <a:solidFill>
                  <a:schemeClr val="tx1"/>
                </a:solidFill>
                <a:effectLst/>
                <a:latin typeface="+mn-lt"/>
                <a:ea typeface="+mn-ea"/>
                <a:cs typeface="+mn-cs"/>
              </a:rPr>
              <a:t>- Best case: target is first. </a:t>
            </a:r>
          </a:p>
          <a:p>
            <a:r>
              <a:rPr lang="en-US" sz="1200" b="0" kern="1200" dirty="0">
                <a:solidFill>
                  <a:schemeClr val="tx1"/>
                </a:solidFill>
                <a:effectLst/>
                <a:latin typeface="+mn-lt"/>
                <a:ea typeface="+mn-ea"/>
                <a:cs typeface="+mn-cs"/>
              </a:rPr>
              <a:t>- Worst case: target is missing or last. </a:t>
            </a:r>
          </a:p>
          <a:p>
            <a:r>
              <a:rPr lang="en-US" sz="1200" b="0" kern="1200" dirty="0">
                <a:solidFill>
                  <a:schemeClr val="tx1"/>
                </a:solidFill>
                <a:effectLst/>
                <a:latin typeface="+mn-lt"/>
                <a:ea typeface="+mn-ea"/>
                <a:cs typeface="+mn-cs"/>
              </a:rPr>
              <a:t>- Average case: target may appear somewhere in the middle across many inputs.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is why one test case does not describe the whole algorithm.</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39</a:t>
            </a:fld>
            <a:endParaRPr lang="en-US"/>
          </a:p>
        </p:txBody>
      </p:sp>
    </p:spTree>
    <p:extLst>
      <p:ext uri="{BB962C8B-B14F-4D97-AF65-F5344CB8AC3E}">
        <p14:creationId xmlns:p14="http://schemas.microsoft.com/office/powerpoint/2010/main" val="6266400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Connect this to Lab 02 timing. </a:t>
            </a:r>
          </a:p>
          <a:p>
            <a:r>
              <a:rPr lang="en-US" sz="1200" b="0" kern="1200" dirty="0">
                <a:solidFill>
                  <a:schemeClr val="tx1"/>
                </a:solidFill>
                <a:effectLst/>
                <a:latin typeface="+mn-lt"/>
                <a:ea typeface="+mn-ea"/>
                <a:cs typeface="+mn-cs"/>
              </a:rPr>
              <a:t>Students should run several input sizes and be careful about what their input data represents.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After estimating performance, we still have to choose an approach.</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40</a:t>
            </a:fld>
            <a:endParaRPr lang="en-US"/>
          </a:p>
        </p:txBody>
      </p:sp>
    </p:spTree>
    <p:extLst>
      <p:ext uri="{BB962C8B-B14F-4D97-AF65-F5344CB8AC3E}">
        <p14:creationId xmlns:p14="http://schemas.microsoft.com/office/powerpoint/2010/main" val="39656335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Avoid ranking efficiency as the only virtue. </a:t>
            </a:r>
          </a:p>
          <a:p>
            <a:r>
              <a:rPr lang="en-US" sz="1200" b="0" kern="1200" dirty="0">
                <a:solidFill>
                  <a:schemeClr val="tx1"/>
                </a:solidFill>
                <a:effectLst/>
                <a:latin typeface="+mn-lt"/>
                <a:ea typeface="+mn-ea"/>
                <a:cs typeface="+mn-cs"/>
              </a:rPr>
              <a:t>Sometimes the clearer approach is fine for small data. </a:t>
            </a:r>
          </a:p>
          <a:p>
            <a:r>
              <a:rPr lang="en-US" sz="1200" b="0" kern="1200" dirty="0">
                <a:solidFill>
                  <a:schemeClr val="tx1"/>
                </a:solidFill>
                <a:effectLst/>
                <a:latin typeface="+mn-lt"/>
                <a:ea typeface="+mn-ea"/>
                <a:cs typeface="+mn-cs"/>
              </a:rPr>
              <a:t>Sometimes a more complex approach is justified because the data is large or the repeated work is expensive.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Note</a:t>
            </a:r>
            <a:r>
              <a:rPr lang="en-US" sz="1200" b="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THIS is WHY, </a:t>
            </a:r>
            <a:r>
              <a:rPr lang="en-US" sz="1200" b="1" i="1" kern="1200" dirty="0">
                <a:solidFill>
                  <a:schemeClr val="tx1"/>
                </a:solidFill>
                <a:effectLst/>
                <a:latin typeface="+mn-lt"/>
                <a:ea typeface="+mn-ea"/>
                <a:cs typeface="+mn-cs"/>
              </a:rPr>
              <a:t>not</a:t>
            </a:r>
            <a:r>
              <a:rPr lang="en-US" sz="1200" b="0" i="1" kern="1200" dirty="0">
                <a:solidFill>
                  <a:schemeClr val="tx1"/>
                </a:solidFill>
                <a:effectLst/>
                <a:latin typeface="+mn-lt"/>
                <a:ea typeface="+mn-ea"/>
                <a:cs typeface="+mn-cs"/>
              </a:rPr>
              <a:t> using human judgement/oversight in AI-Assisted coding is </a:t>
            </a:r>
            <a:r>
              <a:rPr lang="en-US" sz="1200" b="1" i="1" kern="1200" dirty="0">
                <a:solidFill>
                  <a:schemeClr val="tx1"/>
                </a:solidFill>
                <a:effectLst/>
                <a:latin typeface="+mn-lt"/>
                <a:ea typeface="+mn-ea"/>
                <a:cs typeface="+mn-cs"/>
              </a:rPr>
              <a:t>dangerous</a:t>
            </a:r>
            <a:r>
              <a:rPr lang="en-US" sz="1200" b="0" i="1" kern="1200" dirty="0">
                <a:solidFill>
                  <a:schemeClr val="tx1"/>
                </a:solidFill>
                <a:effectLst/>
                <a:latin typeface="+mn-lt"/>
                <a:ea typeface="+mn-ea"/>
                <a:cs typeface="+mn-cs"/>
              </a:rPr>
              <a:t>. </a:t>
            </a:r>
            <a:br>
              <a:rPr lang="en-US" sz="1200" b="0" i="1" kern="1200" dirty="0">
                <a:solidFill>
                  <a:schemeClr val="tx1"/>
                </a:solidFill>
                <a:effectLst/>
                <a:latin typeface="+mn-lt"/>
                <a:ea typeface="+mn-ea"/>
                <a:cs typeface="+mn-cs"/>
              </a:rPr>
            </a:br>
            <a:r>
              <a:rPr lang="en-US" sz="1200" b="0" i="1" kern="1200" dirty="0">
                <a:solidFill>
                  <a:schemeClr val="tx1"/>
                </a:solidFill>
                <a:effectLst/>
                <a:latin typeface="+mn-lt"/>
                <a:ea typeface="+mn-ea"/>
                <a:cs typeface="+mn-cs"/>
              </a:rPr>
              <a:t>The AI will NOT apply this type of reasoning, as it only “duplicates” previously learned examples of code.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After selecting an algorithm, we still need to validate it.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41</a:t>
            </a:fld>
            <a:endParaRPr lang="en-US"/>
          </a:p>
        </p:txBody>
      </p:sp>
    </p:spTree>
    <p:extLst>
      <p:ext uri="{BB962C8B-B14F-4D97-AF65-F5344CB8AC3E}">
        <p14:creationId xmlns:p14="http://schemas.microsoft.com/office/powerpoint/2010/main" val="34208067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Define simply:</a:t>
            </a:r>
          </a:p>
          <a:p>
            <a:r>
              <a:rPr lang="en-US" sz="1200" b="0" kern="1200" dirty="0">
                <a:solidFill>
                  <a:schemeClr val="tx1"/>
                </a:solidFill>
                <a:effectLst/>
                <a:latin typeface="+mn-lt"/>
                <a:ea typeface="+mn-ea"/>
                <a:cs typeface="+mn-cs"/>
              </a:rPr>
              <a:t>- Exact: should return the correct result.</a:t>
            </a:r>
          </a:p>
          <a:p>
            <a:r>
              <a:rPr lang="en-US" sz="1200" b="0" kern="1200" dirty="0">
                <a:solidFill>
                  <a:schemeClr val="tx1"/>
                </a:solidFill>
                <a:effectLst/>
                <a:latin typeface="+mn-lt"/>
                <a:ea typeface="+mn-ea"/>
                <a:cs typeface="+mn-cs"/>
              </a:rPr>
              <a:t>- Approximate: should return a useful result within acceptable limits.</a:t>
            </a:r>
          </a:p>
          <a:p>
            <a:r>
              <a:rPr lang="en-US" sz="1200" b="0" kern="1200" dirty="0">
                <a:solidFill>
                  <a:schemeClr val="tx1"/>
                </a:solidFill>
                <a:effectLst/>
                <a:latin typeface="+mn-lt"/>
                <a:ea typeface="+mn-ea"/>
                <a:cs typeface="+mn-cs"/>
              </a:rPr>
              <a:t>- Randomized: may use randomness, so validation may involve repeated runs or</a:t>
            </a:r>
          </a:p>
          <a:p>
            <a:r>
              <a:rPr lang="en-US" sz="1200" b="0" kern="1200" dirty="0">
                <a:solidFill>
                  <a:schemeClr val="tx1"/>
                </a:solidFill>
                <a:effectLst/>
                <a:latin typeface="+mn-lt"/>
                <a:ea typeface="+mn-ea"/>
                <a:cs typeface="+mn-cs"/>
              </a:rPr>
              <a:t>  probability-based expectations.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Week 2, students are mostly working with exact algorithms.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Even when an algorithm is validated, students must be able to explain it.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42</a:t>
            </a:fld>
            <a:endParaRPr lang="en-US"/>
          </a:p>
        </p:txBody>
      </p:sp>
    </p:spTree>
    <p:extLst>
      <p:ext uri="{BB962C8B-B14F-4D97-AF65-F5344CB8AC3E}">
        <p14:creationId xmlns:p14="http://schemas.microsoft.com/office/powerpoint/2010/main" val="2631566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prepares students for the Lab 02 limitation note.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Their evidence should be useful and honest, not exaggerated.</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honesty is part of explainability.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43</a:t>
            </a:fld>
            <a:endParaRPr lang="en-US"/>
          </a:p>
        </p:txBody>
      </p:sp>
    </p:spTree>
    <p:extLst>
      <p:ext uri="{BB962C8B-B14F-4D97-AF65-F5344CB8AC3E}">
        <p14:creationId xmlns:p14="http://schemas.microsoft.com/office/powerpoint/2010/main" val="27629523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44</a:t>
            </a:fld>
            <a:endParaRPr lang="en-US"/>
          </a:p>
        </p:txBody>
      </p:sp>
    </p:spTree>
    <p:extLst>
      <p:ext uri="{BB962C8B-B14F-4D97-AF65-F5344CB8AC3E}">
        <p14:creationId xmlns:p14="http://schemas.microsoft.com/office/powerpoint/2010/main" val="29923299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Tie this to the course's AI-use philosophy.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If AI helps explain or improve a solution, the student still has to own the final explanation.</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 good explanation connects the code to evidence.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45</a:t>
            </a:fld>
            <a:endParaRPr lang="en-US"/>
          </a:p>
        </p:txBody>
      </p:sp>
    </p:spTree>
    <p:extLst>
      <p:ext uri="{BB962C8B-B14F-4D97-AF65-F5344CB8AC3E}">
        <p14:creationId xmlns:p14="http://schemas.microsoft.com/office/powerpoint/2010/main" val="28989945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Review the items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Next show an example (next slide) – Then the demo.</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46</a:t>
            </a:fld>
            <a:endParaRPr lang="en-US"/>
          </a:p>
        </p:txBody>
      </p:sp>
    </p:spTree>
    <p:extLst>
      <p:ext uri="{BB962C8B-B14F-4D97-AF65-F5344CB8AC3E}">
        <p14:creationId xmlns:p14="http://schemas.microsoft.com/office/powerpoint/2010/main" val="41534533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one example of explainability</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"In my timing table, Approach A increased more as input size grew. This matches the idea of repeated scanning, so linear or worse growth may be involved.</a:t>
            </a:r>
          </a:p>
          <a:p>
            <a:r>
              <a:rPr lang="en-US" sz="1200" b="0" kern="1200" dirty="0">
                <a:solidFill>
                  <a:schemeClr val="tx1"/>
                </a:solidFill>
                <a:effectLst/>
                <a:latin typeface="+mn-lt"/>
                <a:ea typeface="+mn-ea"/>
                <a:cs typeface="+mn-cs"/>
              </a:rPr>
              <a:t>However, my timing results are limited by machine noise and only four input sizes."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show those ideas in the instructor demo.</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47</a:t>
            </a:fld>
            <a:endParaRPr lang="en-US"/>
          </a:p>
        </p:txBody>
      </p:sp>
    </p:spTree>
    <p:extLst>
      <p:ext uri="{BB962C8B-B14F-4D97-AF65-F5344CB8AC3E}">
        <p14:creationId xmlns:p14="http://schemas.microsoft.com/office/powerpoint/2010/main" val="25401288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Make clear that both approaches are correct for the demo task.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comparison is about how the approaches behave as input size grows.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**Demo File / Artifact:**</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Lab_02/demo/demo_code.py`</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Before running the demo, predict the repeated work.</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48</a:t>
            </a:fld>
            <a:endParaRPr lang="en-US"/>
          </a:p>
        </p:txBody>
      </p:sp>
    </p:spTree>
    <p:extLst>
      <p:ext uri="{BB962C8B-B14F-4D97-AF65-F5344CB8AC3E}">
        <p14:creationId xmlns:p14="http://schemas.microsoft.com/office/powerpoint/2010/main" val="35689624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Do not over-teach hash tables here.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Students will learn data structures more directly in Week 3.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For now, say that sets are designed for membership checks.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run the timing table and look for the pattern, not one exact number.</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49</a:t>
            </a:fld>
            <a:endParaRPr lang="en-US"/>
          </a:p>
        </p:txBody>
      </p:sp>
    </p:spTree>
    <p:extLst>
      <p:ext uri="{BB962C8B-B14F-4D97-AF65-F5344CB8AC3E}">
        <p14:creationId xmlns:p14="http://schemas.microsoft.com/office/powerpoint/2010/main" val="21405569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Run the demo. </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If the numbers vary from a prior run, treat that as a teaching moment.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Say: "This is why we do not worship one decimal. We look for a pattern and describe our evidence cautiously."</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**Observable Output / Evidence:**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demo prints a timing table and comparison summary.</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After the evidence appears, translate the table into a growth explanation.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50</a:t>
            </a:fld>
            <a:endParaRPr lang="en-US"/>
          </a:p>
        </p:txBody>
      </p:sp>
    </p:spTree>
    <p:extLst>
      <p:ext uri="{BB962C8B-B14F-4D97-AF65-F5344CB8AC3E}">
        <p14:creationId xmlns:p14="http://schemas.microsoft.com/office/powerpoint/2010/main" val="18096826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the printed comparison summary. </a:t>
            </a:r>
          </a:p>
          <a:p>
            <a:r>
              <a:rPr lang="en-US" sz="1200" b="0" kern="1200" dirty="0">
                <a:solidFill>
                  <a:schemeClr val="tx1"/>
                </a:solidFill>
                <a:effectLst/>
                <a:latin typeface="+mn-lt"/>
                <a:ea typeface="+mn-ea"/>
                <a:cs typeface="+mn-cs"/>
              </a:rPr>
              <a:t>Emphasize "in this demo" and "may vary" to model cautious technical language.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model a professional support technique: using AI to review complexity after we have already made our own prediction and collected evidence.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51</a:t>
            </a:fld>
            <a:endParaRPr lang="en-US"/>
          </a:p>
        </p:txBody>
      </p:sp>
    </p:spTree>
    <p:extLst>
      <p:ext uri="{BB962C8B-B14F-4D97-AF65-F5344CB8AC3E}">
        <p14:creationId xmlns:p14="http://schemas.microsoft.com/office/powerpoint/2010/main" val="11146746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52</a:t>
            </a:fld>
            <a:endParaRPr lang="en-US"/>
          </a:p>
        </p:txBody>
      </p:sp>
    </p:spTree>
    <p:extLst>
      <p:ext uri="{BB962C8B-B14F-4D97-AF65-F5344CB8AC3E}">
        <p14:creationId xmlns:p14="http://schemas.microsoft.com/office/powerpoint/2010/main" val="11301137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Frame this as a legitimate professional support technique, not a shortcut.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Many developers do not keep formal Big-O analysis fully memorized. </a:t>
            </a:r>
          </a:p>
          <a:p>
            <a:r>
              <a:rPr lang="en-US" sz="1200" b="0" kern="1200" dirty="0">
                <a:solidFill>
                  <a:schemeClr val="tx1"/>
                </a:solidFill>
                <a:effectLst/>
                <a:latin typeface="+mn-lt"/>
                <a:ea typeface="+mn-ea"/>
                <a:cs typeface="+mn-cs"/>
              </a:rPr>
              <a:t>That does not mean they should ignore growth behavior. </a:t>
            </a:r>
          </a:p>
          <a:p>
            <a:r>
              <a:rPr lang="en-US" sz="1200" b="0" kern="1200" dirty="0">
                <a:solidFill>
                  <a:schemeClr val="tx1"/>
                </a:solidFill>
                <a:effectLst/>
                <a:latin typeface="+mn-lt"/>
                <a:ea typeface="+mn-ea"/>
                <a:cs typeface="+mn-cs"/>
              </a:rPr>
              <a:t>It means they should use tools responsibly to recover, check, and explain the reasoning.</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Say explicitly: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"AI does not replace your Big-O awareness. AI helps you review and explain it, but you still have to verify the answer against the code and evidence."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**Misconception Warning:**</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may hear this as permission to ask AI for the answer immediately.</a:t>
            </a:r>
          </a:p>
          <a:p>
            <a:r>
              <a:rPr lang="en-US" sz="1200" b="0" kern="1200" dirty="0">
                <a:solidFill>
                  <a:schemeClr val="tx1"/>
                </a:solidFill>
                <a:effectLst/>
                <a:latin typeface="+mn-lt"/>
                <a:ea typeface="+mn-ea"/>
                <a:cs typeface="+mn-cs"/>
              </a:rPr>
              <a:t>Clarify the order: </a:t>
            </a:r>
          </a:p>
          <a:p>
            <a:pPr marL="228600" indent="-228600">
              <a:buAutoNum type="arabicParenR"/>
            </a:pPr>
            <a:r>
              <a:rPr lang="en-US" sz="1200" b="0" kern="1200" dirty="0">
                <a:solidFill>
                  <a:schemeClr val="tx1"/>
                </a:solidFill>
                <a:effectLst/>
                <a:latin typeface="+mn-lt"/>
                <a:ea typeface="+mn-ea"/>
                <a:cs typeface="+mn-cs"/>
              </a:rPr>
              <a:t>manual prediction first, </a:t>
            </a:r>
          </a:p>
          <a:p>
            <a:pPr marL="228600" indent="-228600">
              <a:buAutoNum type="arabicParenR"/>
            </a:pPr>
            <a:r>
              <a:rPr lang="en-US" sz="1200" b="0" kern="1200" dirty="0">
                <a:solidFill>
                  <a:schemeClr val="tx1"/>
                </a:solidFill>
                <a:effectLst/>
                <a:latin typeface="+mn-lt"/>
                <a:ea typeface="+mn-ea"/>
                <a:cs typeface="+mn-cs"/>
              </a:rPr>
              <a:t>timing evidence second, </a:t>
            </a:r>
          </a:p>
          <a:p>
            <a:pPr marL="228600" indent="-228600">
              <a:buAutoNum type="arabicParenR"/>
            </a:pPr>
            <a:r>
              <a:rPr lang="en-US" sz="1200" b="0" kern="1200" dirty="0">
                <a:solidFill>
                  <a:schemeClr val="tx1"/>
                </a:solidFill>
                <a:effectLst/>
                <a:latin typeface="+mn-lt"/>
                <a:ea typeface="+mn-ea"/>
                <a:cs typeface="+mn-cs"/>
              </a:rPr>
              <a:t>AI-assisted review third, </a:t>
            </a:r>
          </a:p>
          <a:p>
            <a:pPr marL="228600" indent="-228600">
              <a:buAutoNum type="arabicParenR"/>
            </a:pPr>
            <a:r>
              <a:rPr lang="en-US" sz="1200" b="0" kern="1200" dirty="0">
                <a:solidFill>
                  <a:schemeClr val="tx1"/>
                </a:solidFill>
                <a:effectLst/>
                <a:latin typeface="+mn-lt"/>
                <a:ea typeface="+mn-ea"/>
                <a:cs typeface="+mn-cs"/>
              </a:rPr>
              <a:t>student-owned explanation last.</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quality of the AI response depends heavily on the prompt and on whether the student asks for reasoning instead of just an answer.</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53</a:t>
            </a:fld>
            <a:endParaRPr lang="en-US"/>
          </a:p>
        </p:txBody>
      </p:sp>
    </p:spTree>
    <p:extLst>
      <p:ext uri="{BB962C8B-B14F-4D97-AF65-F5344CB8AC3E}">
        <p14:creationId xmlns:p14="http://schemas.microsoft.com/office/powerpoint/2010/main" val="32227265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this as a model prompt, not a required script. </a:t>
            </a:r>
          </a:p>
          <a:p>
            <a:r>
              <a:rPr lang="en-US" sz="1200" b="0" kern="1200" dirty="0">
                <a:solidFill>
                  <a:schemeClr val="tx1"/>
                </a:solidFill>
                <a:effectLst/>
                <a:latin typeface="+mn-lt"/>
                <a:ea typeface="+mn-ea"/>
                <a:cs typeface="+mn-cs"/>
              </a:rPr>
              <a:t>The important pieces are: </a:t>
            </a:r>
          </a:p>
          <a:p>
            <a:pPr marL="171450" indent="-171450">
              <a:buFontTx/>
              <a:buChar char="-"/>
            </a:pPr>
            <a:r>
              <a:rPr lang="en-US" sz="1200" b="0" kern="1200" dirty="0">
                <a:solidFill>
                  <a:schemeClr val="tx1"/>
                </a:solidFill>
                <a:effectLst/>
                <a:latin typeface="+mn-lt"/>
                <a:ea typeface="+mn-ea"/>
                <a:cs typeface="+mn-cs"/>
              </a:rPr>
              <a:t>ask for time complexity, </a:t>
            </a:r>
          </a:p>
          <a:p>
            <a:pPr marL="171450" indent="-171450">
              <a:buFontTx/>
              <a:buChar char="-"/>
            </a:pPr>
            <a:r>
              <a:rPr lang="en-US" sz="1200" b="0" kern="1200" dirty="0">
                <a:solidFill>
                  <a:schemeClr val="tx1"/>
                </a:solidFill>
                <a:effectLst/>
                <a:latin typeface="+mn-lt"/>
                <a:ea typeface="+mn-ea"/>
                <a:cs typeface="+mn-cs"/>
              </a:rPr>
              <a:t>ask for space complexity, </a:t>
            </a:r>
          </a:p>
          <a:p>
            <a:pPr marL="171450" indent="-171450">
              <a:buFontTx/>
              <a:buChar char="-"/>
            </a:pPr>
            <a:r>
              <a:rPr lang="en-US" sz="1200" b="0" kern="1200" dirty="0">
                <a:solidFill>
                  <a:schemeClr val="tx1"/>
                </a:solidFill>
                <a:effectLst/>
                <a:latin typeface="+mn-lt"/>
                <a:ea typeface="+mn-ea"/>
                <a:cs typeface="+mn-cs"/>
              </a:rPr>
              <a:t>ask for repeated work, </a:t>
            </a:r>
          </a:p>
          <a:p>
            <a:pPr marL="171450" indent="-171450">
              <a:buFontTx/>
              <a:buChar char="-"/>
            </a:pPr>
            <a:r>
              <a:rPr lang="en-US" sz="1200" b="0" kern="1200" dirty="0">
                <a:solidFill>
                  <a:schemeClr val="tx1"/>
                </a:solidFill>
                <a:effectLst/>
                <a:latin typeface="+mn-lt"/>
                <a:ea typeface="+mn-ea"/>
                <a:cs typeface="+mn-cs"/>
              </a:rPr>
              <a:t>ask for explanation </a:t>
            </a:r>
          </a:p>
          <a:p>
            <a:pPr marL="171450" indent="-171450">
              <a:buFontTx/>
              <a:buChar char="-"/>
            </a:pPr>
            <a:r>
              <a:rPr lang="en-US" sz="1200" b="0" kern="1200" dirty="0">
                <a:solidFill>
                  <a:schemeClr val="tx1"/>
                </a:solidFill>
                <a:effectLst/>
                <a:latin typeface="+mn-lt"/>
                <a:ea typeface="+mn-ea"/>
                <a:cs typeface="+mn-cs"/>
              </a:rPr>
              <a:t>and limit unwanted rewriting.</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demonstrating live, use the demo functions `</a:t>
            </a:r>
            <a:r>
              <a:rPr lang="en-US" sz="1200" b="0" kern="1200" dirty="0" err="1">
                <a:solidFill>
                  <a:schemeClr val="tx1"/>
                </a:solidFill>
                <a:effectLst/>
                <a:latin typeface="+mn-lt"/>
                <a:ea typeface="+mn-ea"/>
                <a:cs typeface="+mn-cs"/>
              </a:rPr>
              <a:t>manual_list_lookup</a:t>
            </a:r>
            <a:r>
              <a:rPr lang="en-US" sz="1200" b="0" kern="1200" dirty="0">
                <a:solidFill>
                  <a:schemeClr val="tx1"/>
                </a:solidFill>
                <a:effectLst/>
                <a:latin typeface="+mn-lt"/>
                <a:ea typeface="+mn-ea"/>
                <a:cs typeface="+mn-cs"/>
              </a:rPr>
              <a:t>` and `</a:t>
            </a:r>
            <a:r>
              <a:rPr lang="en-US" sz="1200" b="0" kern="1200" dirty="0" err="1">
                <a:solidFill>
                  <a:schemeClr val="tx1"/>
                </a:solidFill>
                <a:effectLst/>
                <a:latin typeface="+mn-lt"/>
                <a:ea typeface="+mn-ea"/>
                <a:cs typeface="+mn-cs"/>
              </a:rPr>
              <a:t>batch_set_lookup</a:t>
            </a:r>
            <a:r>
              <a:rPr lang="en-US" sz="1200" b="0" kern="1200" dirty="0">
                <a:solidFill>
                  <a:schemeClr val="tx1"/>
                </a:solidFill>
                <a:effectLst/>
                <a:latin typeface="+mn-lt"/>
                <a:ea typeface="+mn-ea"/>
                <a:cs typeface="+mn-cs"/>
              </a:rPr>
              <a:t>` because those are already visible and not one of the student lab submission options.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After AI responds, the student still needs to evaluate the response.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54</a:t>
            </a:fld>
            <a:endParaRPr lang="en-US"/>
          </a:p>
        </p:txBody>
      </p:sp>
    </p:spTree>
    <p:extLst>
      <p:ext uri="{BB962C8B-B14F-4D97-AF65-F5344CB8AC3E}">
        <p14:creationId xmlns:p14="http://schemas.microsoft.com/office/powerpoint/2010/main" val="24901441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is the ownership step. Students should not paste AI's explanation unexamined into their README.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the demo example. If AI says list lookup is linear for one lookup, connect that to scanning through the list. If AI discusses repeated batch lookups, connect that to the demo's repeated probes. If AI says set lookup is usually constant-time membership, remind students that this is introductory language and that real implementations still have details and edge cases.</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student-owned explanation should connect three things: the code, the timing evidence, and the Big-O vocabulary.</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lab now asks students to run a different comparison and write their own evidence-based explanation. </a:t>
            </a:r>
          </a:p>
          <a:p>
            <a:r>
              <a:rPr lang="en-US" sz="1200" b="0" kern="1200" dirty="0">
                <a:solidFill>
                  <a:schemeClr val="tx1"/>
                </a:solidFill>
                <a:effectLst/>
                <a:latin typeface="+mn-lt"/>
                <a:ea typeface="+mn-ea"/>
                <a:cs typeface="+mn-cs"/>
              </a:rPr>
              <a:t>AI may help review that explanation, but it may not replace the student's collected evidence.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55</a:t>
            </a:fld>
            <a:endParaRPr lang="en-US"/>
          </a:p>
        </p:txBody>
      </p:sp>
    </p:spTree>
    <p:extLst>
      <p:ext uri="{BB962C8B-B14F-4D97-AF65-F5344CB8AC3E}">
        <p14:creationId xmlns:p14="http://schemas.microsoft.com/office/powerpoint/2010/main" val="30176542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Present this as an add-on step after the plain-text version has already been run and tested.</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Say explicitly: "</a:t>
            </a:r>
            <a:r>
              <a:rPr lang="en-US" sz="1200" b="0" i="1" kern="1200" dirty="0">
                <a:solidFill>
                  <a:schemeClr val="tx1"/>
                </a:solidFill>
                <a:effectLst/>
                <a:latin typeface="+mn-lt"/>
                <a:ea typeface="+mn-ea"/>
                <a:cs typeface="+mn-cs"/>
              </a:rPr>
              <a:t>The algorithm is already complete. We are not changing the decision rule. We are improving how the evidence is displayed</a:t>
            </a:r>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Then add the color support code and rerun the demo. Use the output as the example. </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(Do not over-teach ANSI escape codes in Week 2. )</a:t>
            </a:r>
          </a:p>
          <a:p>
            <a:r>
              <a:rPr lang="en-US" sz="1200" b="0" kern="1200" dirty="0">
                <a:solidFill>
                  <a:schemeClr val="tx1"/>
                </a:solidFill>
                <a:effectLst/>
                <a:latin typeface="+mn-lt"/>
                <a:ea typeface="+mn-ea"/>
                <a:cs typeface="+mn-cs"/>
              </a:rPr>
              <a:t>The main point is readability: console output can be designed for humans, even when the program is still simple.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**Misconception Warning:**</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may think colorized output is a requirement for Lab 02. </a:t>
            </a:r>
          </a:p>
          <a:p>
            <a:r>
              <a:rPr lang="en-US" sz="1200" b="0" kern="1200" dirty="0">
                <a:solidFill>
                  <a:schemeClr val="tx1"/>
                </a:solidFill>
                <a:effectLst/>
                <a:latin typeface="+mn-lt"/>
                <a:ea typeface="+mn-ea"/>
                <a:cs typeface="+mn-cs"/>
              </a:rPr>
              <a:t>Clarify that it is not required. </a:t>
            </a:r>
          </a:p>
          <a:p>
            <a:r>
              <a:rPr lang="en-US" sz="1200" b="0" kern="1200" dirty="0">
                <a:solidFill>
                  <a:schemeClr val="tx1"/>
                </a:solidFill>
                <a:effectLst/>
                <a:latin typeface="+mn-lt"/>
                <a:ea typeface="+mn-ea"/>
                <a:cs typeface="+mn-cs"/>
              </a:rPr>
              <a:t>The lab requirement is clear evidence. </a:t>
            </a:r>
          </a:p>
          <a:p>
            <a:r>
              <a:rPr lang="en-US" sz="1200" b="0" kern="1200" dirty="0">
                <a:solidFill>
                  <a:schemeClr val="tx1"/>
                </a:solidFill>
                <a:effectLst/>
                <a:latin typeface="+mn-lt"/>
                <a:ea typeface="+mn-ea"/>
                <a:cs typeface="+mn-cs"/>
              </a:rPr>
              <a:t>Color is an optional presentation improvement.</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Because this is only a presentation add-on, the program should still work and remain understandable without color.</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56</a:t>
            </a:fld>
            <a:endParaRPr lang="en-US"/>
          </a:p>
        </p:txBody>
      </p:sp>
    </p:spTree>
    <p:extLst>
      <p:ext uri="{BB962C8B-B14F-4D97-AF65-F5344CB8AC3E}">
        <p14:creationId xmlns:p14="http://schemas.microsoft.com/office/powerpoint/2010/main" val="20372609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Make the transfer explicit.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Students should not use the demo's list-vs-set lookup scenario as their final comparison.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They choose one of the lab options or an instructor-approved alternative.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walkthroughs help students see the comparison pattern before coding.</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57</a:t>
            </a:fld>
            <a:endParaRPr lang="en-US"/>
          </a:p>
        </p:txBody>
      </p:sp>
    </p:spTree>
    <p:extLst>
      <p:ext uri="{BB962C8B-B14F-4D97-AF65-F5344CB8AC3E}">
        <p14:creationId xmlns:p14="http://schemas.microsoft.com/office/powerpoint/2010/main" val="8590686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students use a walkthrough, they must explain the pattern in their own words, how they adapted it, and what they decided themselves.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**Related Artifact:**</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`Assignments/</a:t>
            </a:r>
            <a:r>
              <a:rPr lang="en-US" sz="1200" b="0" kern="1200" dirty="0" err="1">
                <a:solidFill>
                  <a:schemeClr val="tx1"/>
                </a:solidFill>
                <a:effectLst/>
                <a:latin typeface="+mn-lt"/>
                <a:ea typeface="+mn-ea"/>
                <a:cs typeface="+mn-cs"/>
              </a:rPr>
              <a:t>Student_Facing</a:t>
            </a:r>
            <a:r>
              <a:rPr lang="en-US" sz="1200" b="0" kern="1200" dirty="0">
                <a:solidFill>
                  <a:schemeClr val="tx1"/>
                </a:solidFill>
                <a:effectLst/>
                <a:latin typeface="+mn-lt"/>
                <a:ea typeface="+mn-ea"/>
                <a:cs typeface="+mn-cs"/>
              </a:rPr>
              <a:t>/Lab_02_Full_English_Algorithm_Walkthroughs.md`</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README is where students connect code, timing, and explanation.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58</a:t>
            </a:fld>
            <a:endParaRPr lang="en-US"/>
          </a:p>
        </p:txBody>
      </p:sp>
    </p:spTree>
    <p:extLst>
      <p:ext uri="{BB962C8B-B14F-4D97-AF65-F5344CB8AC3E}">
        <p14:creationId xmlns:p14="http://schemas.microsoft.com/office/powerpoint/2010/main" val="663380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Explain that the “timing limitation” note is not an apology. </a:t>
            </a:r>
          </a:p>
          <a:p>
            <a:r>
              <a:rPr lang="en-US" sz="1200" b="0" kern="1200" dirty="0">
                <a:solidFill>
                  <a:schemeClr val="tx1"/>
                </a:solidFill>
                <a:effectLst/>
                <a:latin typeface="+mn-lt"/>
                <a:ea typeface="+mn-ea"/>
                <a:cs typeface="+mn-cs"/>
              </a:rPr>
              <a:t>It is part of responsible technical communication. </a:t>
            </a:r>
          </a:p>
          <a:p>
            <a:r>
              <a:rPr lang="en-US" sz="1200" b="0" kern="1200" dirty="0">
                <a:solidFill>
                  <a:schemeClr val="tx1"/>
                </a:solidFill>
                <a:effectLst/>
                <a:latin typeface="+mn-lt"/>
                <a:ea typeface="+mn-ea"/>
                <a:cs typeface="+mn-cs"/>
              </a:rPr>
              <a:t>A good limitation note shows that the student understands what the evidence can and cannot claim.</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End by restating the difference between evidence and overclaiming.</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59</a:t>
            </a:fld>
            <a:endParaRPr lang="en-US"/>
          </a:p>
        </p:txBody>
      </p:sp>
    </p:spTree>
    <p:extLst>
      <p:ext uri="{BB962C8B-B14F-4D97-AF65-F5344CB8AC3E}">
        <p14:creationId xmlns:p14="http://schemas.microsoft.com/office/powerpoint/2010/main" val="414621319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60</a:t>
            </a:fld>
            <a:endParaRPr lang="en-US"/>
          </a:p>
        </p:txBody>
      </p:sp>
    </p:spTree>
    <p:extLst>
      <p:ext uri="{BB962C8B-B14F-4D97-AF65-F5344CB8AC3E}">
        <p14:creationId xmlns:p14="http://schemas.microsoft.com/office/powerpoint/2010/main" val="42100807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Tie back to the reading's quality features: correct, understandable, efficient.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All three matter.</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now have the vocabulary needed for Lab 02.</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61</a:t>
            </a:fld>
            <a:endParaRPr lang="en-US"/>
          </a:p>
        </p:txBody>
      </p:sp>
    </p:spTree>
    <p:extLst>
      <p:ext uri="{BB962C8B-B14F-4D97-AF65-F5344CB8AC3E}">
        <p14:creationId xmlns:p14="http://schemas.microsoft.com/office/powerpoint/2010/main" val="21846950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Make this slide practical. Students should be able to compare it directly to their README before submitting.</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Finish with the immediate next action.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62</a:t>
            </a:fld>
            <a:endParaRPr lang="en-US"/>
          </a:p>
        </p:txBody>
      </p:sp>
    </p:spTree>
    <p:extLst>
      <p:ext uri="{BB962C8B-B14F-4D97-AF65-F5344CB8AC3E}">
        <p14:creationId xmlns:p14="http://schemas.microsoft.com/office/powerpoint/2010/main" val="2693333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Remind students to start manually. </a:t>
            </a:r>
          </a:p>
          <a:p>
            <a:r>
              <a:rPr lang="en-US" sz="1200" b="0" kern="1200" dirty="0">
                <a:solidFill>
                  <a:schemeClr val="tx1"/>
                </a:solidFill>
                <a:effectLst/>
                <a:latin typeface="+mn-lt"/>
                <a:ea typeface="+mn-ea"/>
                <a:cs typeface="+mn-cs"/>
              </a:rPr>
              <a:t>AI may help explain a pattern only after they have selected approaches, attempted implementation, and collected at least one timing result.</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Before students leave, prepare them for the Week 3 reading.</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63</a:t>
            </a:fld>
            <a:endParaRPr lang="en-US"/>
          </a:p>
        </p:txBody>
      </p:sp>
    </p:spTree>
    <p:extLst>
      <p:ext uri="{BB962C8B-B14F-4D97-AF65-F5344CB8AC3E}">
        <p14:creationId xmlns:p14="http://schemas.microsoft.com/office/powerpoint/2010/main" val="129612217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prepares the Week 3 reading. </a:t>
            </a:r>
          </a:p>
          <a:p>
            <a:r>
              <a:rPr lang="en-US" sz="1200" b="0" kern="1200" dirty="0">
                <a:solidFill>
                  <a:schemeClr val="tx1"/>
                </a:solidFill>
                <a:effectLst/>
                <a:latin typeface="+mn-lt"/>
                <a:ea typeface="+mn-ea"/>
                <a:cs typeface="+mn-cs"/>
              </a:rPr>
              <a:t>The textbook covers a broad set of structures, including Python built-ins, Series, </a:t>
            </a:r>
            <a:r>
              <a:rPr lang="en-US" sz="1200" b="0" kern="1200" dirty="0" err="1">
                <a:solidFill>
                  <a:schemeClr val="tx1"/>
                </a:solidFill>
                <a:effectLst/>
                <a:latin typeface="+mn-lt"/>
                <a:ea typeface="+mn-ea"/>
                <a:cs typeface="+mn-cs"/>
              </a:rPr>
              <a:t>DataFrames</a:t>
            </a:r>
            <a:r>
              <a:rPr lang="en-US" sz="1200" b="0" kern="1200" dirty="0">
                <a:solidFill>
                  <a:schemeClr val="tx1"/>
                </a:solidFill>
                <a:effectLst/>
                <a:latin typeface="+mn-lt"/>
                <a:ea typeface="+mn-ea"/>
                <a:cs typeface="+mn-cs"/>
              </a:rPr>
              <a:t>, matrices, vectors, stacks, queues, and trees. </a:t>
            </a:r>
          </a:p>
          <a:p>
            <a:r>
              <a:rPr lang="en-US" sz="1200" b="0" kern="1200" dirty="0">
                <a:solidFill>
                  <a:schemeClr val="tx1"/>
                </a:solidFill>
                <a:effectLst/>
                <a:latin typeface="+mn-lt"/>
                <a:ea typeface="+mn-ea"/>
                <a:cs typeface="+mn-cs"/>
              </a:rPr>
              <a:t>Students do not need to master all of them before class.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expectation is that students arrive with basic recognition: they should have seen the terms, noticed the operation tables, and be ready to ask which structure fits which problem.</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64</a:t>
            </a:fld>
            <a:endParaRPr lang="en-US"/>
          </a:p>
        </p:txBody>
      </p:sp>
    </p:spTree>
    <p:extLst>
      <p:ext uri="{BB962C8B-B14F-4D97-AF65-F5344CB8AC3E}">
        <p14:creationId xmlns:p14="http://schemas.microsoft.com/office/powerpoint/2010/main" val="21803616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65</a:t>
            </a:fld>
            <a:endParaRPr lang="en-US"/>
          </a:p>
        </p:txBody>
      </p:sp>
    </p:spTree>
    <p:extLst>
      <p:ext uri="{BB962C8B-B14F-4D97-AF65-F5344CB8AC3E}">
        <p14:creationId xmlns:p14="http://schemas.microsoft.com/office/powerpoint/2010/main" val="2384196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816E1E9-1B50-BC39-BE3A-AFDDF27CC4C7}"/>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128593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42DEB143-89C9-076B-466C-73BE156FD58B}"/>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1598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3A015F4D-DE23-F2FC-1853-93512C13AB1B}"/>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255736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816E11E5-B722-B4E0-8233-E8E58F314BD6}"/>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99921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CADA43D-D69A-D7AE-81F9-ED5E4E7A18A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328912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41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6" name="Picture 5">
            <a:extLst>
              <a:ext uri="{FF2B5EF4-FFF2-40B4-BE49-F238E27FC236}">
                <a16:creationId xmlns:a16="http://schemas.microsoft.com/office/drawing/2014/main" id="{4AA1305F-50C0-9117-EE66-5430C74994B7}"/>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914414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6914F403-DB38-13CA-CC40-CAE2A088327D}"/>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424124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91B8750C-22DC-D652-EE9D-9D81650FC9D5}"/>
              </a:ext>
            </a:extLst>
          </p:cNvPr>
          <p:cNvPicPr>
            <a:picLocks noChangeAspect="1"/>
          </p:cNvPicPr>
          <p:nvPr userDrawn="1"/>
        </p:nvPicPr>
        <p:blipFill>
          <a:blip r:embed="rId2"/>
          <a:stretch>
            <a:fillRect/>
          </a:stretch>
        </p:blipFill>
        <p:spPr>
          <a:xfrm>
            <a:off x="6238240" y="185696"/>
            <a:ext cx="726014" cy="319446"/>
          </a:xfrm>
          <a:prstGeom prst="rect">
            <a:avLst/>
          </a:prstGeom>
        </p:spPr>
      </p:pic>
    </p:spTree>
    <p:extLst>
      <p:ext uri="{BB962C8B-B14F-4D97-AF65-F5344CB8AC3E}">
        <p14:creationId xmlns:p14="http://schemas.microsoft.com/office/powerpoint/2010/main" val="231636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7419628F-1787-26D4-A797-33B21045805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9235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8" name="Picture 7">
            <a:extLst>
              <a:ext uri="{FF2B5EF4-FFF2-40B4-BE49-F238E27FC236}">
                <a16:creationId xmlns:a16="http://schemas.microsoft.com/office/drawing/2014/main" id="{8C05115D-2B3B-A0F2-8B96-FF372AE7620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586779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E69252F8-DFBE-EC79-0D43-E7702CC2845C}"/>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19079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7" name="Picture 6">
            <a:extLst>
              <a:ext uri="{FF2B5EF4-FFF2-40B4-BE49-F238E27FC236}">
                <a16:creationId xmlns:a16="http://schemas.microsoft.com/office/drawing/2014/main" id="{4A252413-6471-13E8-59E6-F7EEDC0F07B7}"/>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777894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10449300-3D10-A0CB-2DB5-98F274AC663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749122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DBAFCF80-E27A-06C5-A850-78E5A5D2C2BD}"/>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004950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1973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6/5/2026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4359453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3.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3.svg"/><Relationship Id="rId7" Type="http://schemas.openxmlformats.org/officeDocument/2006/relationships/diagramColors" Target="../diagrams/colors5.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6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97F88-6791-2CCC-FDDE-DEB157237E3D}"/>
              </a:ext>
            </a:extLst>
          </p:cNvPr>
          <p:cNvSpPr>
            <a:spLocks noGrp="1"/>
          </p:cNvSpPr>
          <p:nvPr>
            <p:ph type="ctrTitle"/>
          </p:nvPr>
        </p:nvSpPr>
        <p:spPr/>
        <p:txBody>
          <a:bodyPr/>
          <a:lstStyle/>
          <a:p>
            <a:r>
              <a:rPr lang="en-US" dirty="0"/>
              <a:t>Introduction To Algorithms</a:t>
            </a:r>
          </a:p>
        </p:txBody>
      </p:sp>
      <p:sp>
        <p:nvSpPr>
          <p:cNvPr id="3" name="Subtitle 2">
            <a:extLst>
              <a:ext uri="{FF2B5EF4-FFF2-40B4-BE49-F238E27FC236}">
                <a16:creationId xmlns:a16="http://schemas.microsoft.com/office/drawing/2014/main" id="{33F15B13-1D93-97F4-3DBC-B06CC6F12095}"/>
              </a:ext>
            </a:extLst>
          </p:cNvPr>
          <p:cNvSpPr>
            <a:spLocks noGrp="1"/>
          </p:cNvSpPr>
          <p:nvPr>
            <p:ph type="subTitle" idx="1"/>
          </p:nvPr>
        </p:nvSpPr>
        <p:spPr/>
        <p:txBody>
          <a:bodyPr/>
          <a:lstStyle/>
          <a:p>
            <a:r>
              <a:rPr lang="en-US" dirty="0"/>
              <a:t>Week 2 – Growth and Big-O Intuition:</a:t>
            </a:r>
          </a:p>
          <a:p>
            <a:r>
              <a:rPr lang="en-US" i="1" dirty="0"/>
              <a:t>“When Working Code Starts to Slow Down”</a:t>
            </a:r>
          </a:p>
        </p:txBody>
      </p:sp>
    </p:spTree>
    <p:extLst>
      <p:ext uri="{BB962C8B-B14F-4D97-AF65-F5344CB8AC3E}">
        <p14:creationId xmlns:p14="http://schemas.microsoft.com/office/powerpoint/2010/main" val="3795026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F3D0C-6852-20C9-BE87-D0EBE466BC7A}"/>
              </a:ext>
            </a:extLst>
          </p:cNvPr>
          <p:cNvSpPr>
            <a:spLocks noGrp="1"/>
          </p:cNvSpPr>
          <p:nvPr>
            <p:ph type="title"/>
          </p:nvPr>
        </p:nvSpPr>
        <p:spPr>
          <a:xfrm>
            <a:off x="965199" y="609600"/>
            <a:ext cx="7648121" cy="1099457"/>
          </a:xfrm>
        </p:spPr>
        <p:txBody>
          <a:bodyPr>
            <a:normAutofit/>
          </a:bodyPr>
          <a:lstStyle/>
          <a:p>
            <a:r>
              <a:rPr lang="en-US" dirty="0"/>
              <a:t>Terms to Remember</a:t>
            </a:r>
          </a:p>
        </p:txBody>
      </p:sp>
      <p:graphicFrame>
        <p:nvGraphicFramePr>
          <p:cNvPr id="6" name="Content Placeholder 5">
            <a:extLst>
              <a:ext uri="{FF2B5EF4-FFF2-40B4-BE49-F238E27FC236}">
                <a16:creationId xmlns:a16="http://schemas.microsoft.com/office/drawing/2014/main" id="{F27554BC-B3B8-5E0F-2BAA-2455CB83A9CF}"/>
              </a:ext>
            </a:extLst>
          </p:cNvPr>
          <p:cNvGraphicFramePr>
            <a:graphicFrameLocks noGrp="1"/>
          </p:cNvGraphicFramePr>
          <p:nvPr>
            <p:ph idx="1"/>
            <p:extLst>
              <p:ext uri="{D42A27DB-BD31-4B8C-83A1-F6EECF244321}">
                <p14:modId xmlns:p14="http://schemas.microsoft.com/office/powerpoint/2010/main" val="713890459"/>
              </p:ext>
            </p:extLst>
          </p:nvPr>
        </p:nvGraphicFramePr>
        <p:xfrm>
          <a:off x="965200" y="1709057"/>
          <a:ext cx="7213601" cy="4023190"/>
        </p:xfrm>
        <a:graphic>
          <a:graphicData uri="http://schemas.openxmlformats.org/drawingml/2006/table">
            <a:tbl>
              <a:tblPr firstRow="1" bandRow="1">
                <a:tableStyleId>{5C22544A-7EE6-4342-B048-85BDC9FD1C3A}</a:tableStyleId>
              </a:tblPr>
              <a:tblGrid>
                <a:gridCol w="1965002">
                  <a:extLst>
                    <a:ext uri="{9D8B030D-6E8A-4147-A177-3AD203B41FA5}">
                      <a16:colId xmlns:a16="http://schemas.microsoft.com/office/drawing/2014/main" val="2834818674"/>
                    </a:ext>
                  </a:extLst>
                </a:gridCol>
                <a:gridCol w="5248599">
                  <a:extLst>
                    <a:ext uri="{9D8B030D-6E8A-4147-A177-3AD203B41FA5}">
                      <a16:colId xmlns:a16="http://schemas.microsoft.com/office/drawing/2014/main" val="2769425876"/>
                    </a:ext>
                  </a:extLst>
                </a:gridCol>
              </a:tblGrid>
              <a:tr h="334133">
                <a:tc>
                  <a:txBody>
                    <a:bodyPr/>
                    <a:lstStyle/>
                    <a:p>
                      <a:r>
                        <a:rPr lang="en-US" sz="1500"/>
                        <a:t>Term</a:t>
                      </a:r>
                    </a:p>
                  </a:txBody>
                  <a:tcPr marL="75939" marR="75939" marT="37970" marB="37970"/>
                </a:tc>
                <a:tc>
                  <a:txBody>
                    <a:bodyPr/>
                    <a:lstStyle/>
                    <a:p>
                      <a:r>
                        <a:rPr lang="en-US" sz="1500"/>
                        <a:t>Brief Meaning</a:t>
                      </a:r>
                    </a:p>
                  </a:txBody>
                  <a:tcPr marL="75939" marR="75939" marT="37970" marB="37970"/>
                </a:tc>
                <a:extLst>
                  <a:ext uri="{0D108BD9-81ED-4DB2-BD59-A6C34878D82A}">
                    <a16:rowId xmlns:a16="http://schemas.microsoft.com/office/drawing/2014/main" val="2585501838"/>
                  </a:ext>
                </a:extLst>
              </a:tr>
              <a:tr h="308820">
                <a:tc>
                  <a:txBody>
                    <a:bodyPr/>
                    <a:lstStyle/>
                    <a:p>
                      <a:r>
                        <a:rPr lang="en-US" sz="1300" b="1" dirty="0"/>
                        <a:t>Performance analysis</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Studying how an algorithm behaves as resources &amp; input size change</a:t>
                      </a:r>
                    </a:p>
                  </a:txBody>
                  <a:tcPr marL="75939" marR="75939" marT="37970" marB="37970"/>
                </a:tc>
                <a:extLst>
                  <a:ext uri="{0D108BD9-81ED-4DB2-BD59-A6C34878D82A}">
                    <a16:rowId xmlns:a16="http://schemas.microsoft.com/office/drawing/2014/main" val="2286987966"/>
                  </a:ext>
                </a:extLst>
              </a:tr>
              <a:tr h="308820">
                <a:tc>
                  <a:txBody>
                    <a:bodyPr/>
                    <a:lstStyle/>
                    <a:p>
                      <a:r>
                        <a:rPr lang="en-US" sz="1300" b="1" dirty="0"/>
                        <a:t>Space complexity</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How memory use changes as input grows</a:t>
                      </a:r>
                    </a:p>
                  </a:txBody>
                  <a:tcPr marL="75939" marR="75939" marT="37970" marB="37970"/>
                </a:tc>
                <a:extLst>
                  <a:ext uri="{0D108BD9-81ED-4DB2-BD59-A6C34878D82A}">
                    <a16:rowId xmlns:a16="http://schemas.microsoft.com/office/drawing/2014/main" val="4271159523"/>
                  </a:ext>
                </a:extLst>
              </a:tr>
              <a:tr h="308820">
                <a:tc>
                  <a:txBody>
                    <a:bodyPr/>
                    <a:lstStyle/>
                    <a:p>
                      <a:r>
                        <a:rPr lang="en-US" sz="1300" b="1" dirty="0"/>
                        <a:t>Time complexity</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How the amount of work or time changes as input grows</a:t>
                      </a:r>
                    </a:p>
                  </a:txBody>
                  <a:tcPr marL="75939" marR="75939" marT="37970" marB="37970"/>
                </a:tc>
                <a:extLst>
                  <a:ext uri="{0D108BD9-81ED-4DB2-BD59-A6C34878D82A}">
                    <a16:rowId xmlns:a16="http://schemas.microsoft.com/office/drawing/2014/main" val="3521909586"/>
                  </a:ext>
                </a:extLst>
              </a:tr>
              <a:tr h="300411">
                <a:tc>
                  <a:txBody>
                    <a:bodyPr/>
                    <a:lstStyle/>
                    <a:p>
                      <a:r>
                        <a:rPr lang="en-US" sz="1300" b="1" dirty="0"/>
                        <a:t>Input size</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The amount of data the algorithm processes</a:t>
                      </a:r>
                    </a:p>
                  </a:txBody>
                  <a:tcPr marL="75939" marR="75939" marT="37970" marB="37970"/>
                </a:tc>
                <a:extLst>
                  <a:ext uri="{0D108BD9-81ED-4DB2-BD59-A6C34878D82A}">
                    <a16:rowId xmlns:a16="http://schemas.microsoft.com/office/drawing/2014/main" val="1196619962"/>
                  </a:ext>
                </a:extLst>
              </a:tr>
              <a:tr h="300446">
                <a:tc>
                  <a:txBody>
                    <a:bodyPr/>
                    <a:lstStyle/>
                    <a:p>
                      <a:r>
                        <a:rPr lang="en-US" sz="1300" b="1" dirty="0"/>
                        <a:t>Big-O</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A notation for describing growth behavior</a:t>
                      </a:r>
                    </a:p>
                  </a:txBody>
                  <a:tcPr marL="75939" marR="75939" marT="37970" marB="37970"/>
                </a:tc>
                <a:extLst>
                  <a:ext uri="{0D108BD9-81ED-4DB2-BD59-A6C34878D82A}">
                    <a16:rowId xmlns:a16="http://schemas.microsoft.com/office/drawing/2014/main" val="3290694328"/>
                  </a:ext>
                </a:extLst>
              </a:tr>
              <a:tr h="308820">
                <a:tc>
                  <a:txBody>
                    <a:bodyPr/>
                    <a:lstStyle/>
                    <a:p>
                      <a:r>
                        <a:rPr lang="en-US" sz="1300" b="1" dirty="0"/>
                        <a:t>Best case</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dirty="0"/>
                        <a:t>The easiest or fastest likely situation for an algorithm</a:t>
                      </a:r>
                    </a:p>
                  </a:txBody>
                  <a:tcPr marL="75939" marR="75939" marT="37970" marB="37970"/>
                </a:tc>
                <a:extLst>
                  <a:ext uri="{0D108BD9-81ED-4DB2-BD59-A6C34878D82A}">
                    <a16:rowId xmlns:a16="http://schemas.microsoft.com/office/drawing/2014/main" val="2245940545"/>
                  </a:ext>
                </a:extLst>
              </a:tr>
              <a:tr h="308820">
                <a:tc>
                  <a:txBody>
                    <a:bodyPr/>
                    <a:lstStyle/>
                    <a:p>
                      <a:r>
                        <a:rPr lang="en-US" sz="1300" b="1" dirty="0"/>
                        <a:t>Worst case</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The hardest or slowest likely situation for an algorithm</a:t>
                      </a:r>
                    </a:p>
                  </a:txBody>
                  <a:tcPr marL="75939" marR="75939" marT="37970" marB="37970"/>
                </a:tc>
                <a:extLst>
                  <a:ext uri="{0D108BD9-81ED-4DB2-BD59-A6C34878D82A}">
                    <a16:rowId xmlns:a16="http://schemas.microsoft.com/office/drawing/2014/main" val="2857803298"/>
                  </a:ext>
                </a:extLst>
              </a:tr>
              <a:tr h="3088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1" dirty="0"/>
                        <a:t>Average case</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Expected behavior across typical inputs</a:t>
                      </a:r>
                    </a:p>
                  </a:txBody>
                  <a:tcPr marL="75939" marR="75939" marT="37970" marB="37970"/>
                </a:tc>
                <a:extLst>
                  <a:ext uri="{0D108BD9-81ED-4DB2-BD59-A6C34878D82A}">
                    <a16:rowId xmlns:a16="http://schemas.microsoft.com/office/drawing/2014/main" val="2915929785"/>
                  </a:ext>
                </a:extLst>
              </a:tr>
              <a:tr h="308820">
                <a:tc>
                  <a:txBody>
                    <a:bodyPr/>
                    <a:lstStyle/>
                    <a:p>
                      <a:r>
                        <a:rPr lang="en-US" sz="1300" b="1" dirty="0"/>
                        <a:t>Exact algorithm</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Designed to produce an exact correct result</a:t>
                      </a:r>
                    </a:p>
                  </a:txBody>
                  <a:tcPr marL="75939" marR="75939" marT="37970" marB="37970"/>
                </a:tc>
                <a:extLst>
                  <a:ext uri="{0D108BD9-81ED-4DB2-BD59-A6C34878D82A}">
                    <a16:rowId xmlns:a16="http://schemas.microsoft.com/office/drawing/2014/main" val="1497806748"/>
                  </a:ext>
                </a:extLst>
              </a:tr>
              <a:tr h="308820">
                <a:tc>
                  <a:txBody>
                    <a:bodyPr/>
                    <a:lstStyle/>
                    <a:p>
                      <a:r>
                        <a:rPr lang="en-US" sz="1300" b="1" dirty="0"/>
                        <a:t>Approximate algorithm</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Designed to produce a good-enough result under constraints</a:t>
                      </a:r>
                    </a:p>
                  </a:txBody>
                  <a:tcPr marL="75939" marR="75939" marT="37970" marB="37970"/>
                </a:tc>
                <a:extLst>
                  <a:ext uri="{0D108BD9-81ED-4DB2-BD59-A6C34878D82A}">
                    <a16:rowId xmlns:a16="http://schemas.microsoft.com/office/drawing/2014/main" val="2095033334"/>
                  </a:ext>
                </a:extLst>
              </a:tr>
              <a:tr h="308820">
                <a:tc>
                  <a:txBody>
                    <a:bodyPr/>
                    <a:lstStyle/>
                    <a:p>
                      <a:r>
                        <a:rPr lang="en-US" sz="1300" b="1" dirty="0"/>
                        <a:t>Randomized algorithm</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Uses randomness as part of its process</a:t>
                      </a:r>
                    </a:p>
                  </a:txBody>
                  <a:tcPr marL="75939" marR="75939" marT="37970" marB="37970"/>
                </a:tc>
                <a:extLst>
                  <a:ext uri="{0D108BD9-81ED-4DB2-BD59-A6C34878D82A}">
                    <a16:rowId xmlns:a16="http://schemas.microsoft.com/office/drawing/2014/main" val="1646689938"/>
                  </a:ext>
                </a:extLst>
              </a:tr>
              <a:tr h="308820">
                <a:tc>
                  <a:txBody>
                    <a:bodyPr/>
                    <a:lstStyle/>
                    <a:p>
                      <a:r>
                        <a:rPr lang="en-US" sz="1300" b="1" dirty="0"/>
                        <a:t>Explainability</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Ability to describe how or why an algorithm produced a result</a:t>
                      </a:r>
                    </a:p>
                  </a:txBody>
                  <a:tcPr marL="75939" marR="75939" marT="37970" marB="37970"/>
                </a:tc>
                <a:extLst>
                  <a:ext uri="{0D108BD9-81ED-4DB2-BD59-A6C34878D82A}">
                    <a16:rowId xmlns:a16="http://schemas.microsoft.com/office/drawing/2014/main" val="3382760042"/>
                  </a:ext>
                </a:extLst>
              </a:tr>
            </a:tbl>
          </a:graphicData>
        </a:graphic>
      </p:graphicFrame>
    </p:spTree>
    <p:extLst>
      <p:ext uri="{BB962C8B-B14F-4D97-AF65-F5344CB8AC3E}">
        <p14:creationId xmlns:p14="http://schemas.microsoft.com/office/powerpoint/2010/main" val="496793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C1AD2-E72F-7796-291A-36CD1216022D}"/>
              </a:ext>
            </a:extLst>
          </p:cNvPr>
          <p:cNvSpPr>
            <a:spLocks noGrp="1"/>
          </p:cNvSpPr>
          <p:nvPr>
            <p:ph type="title"/>
          </p:nvPr>
        </p:nvSpPr>
        <p:spPr>
          <a:xfrm>
            <a:off x="4152550" y="609600"/>
            <a:ext cx="2802951" cy="1320800"/>
          </a:xfrm>
        </p:spPr>
        <p:txBody>
          <a:bodyPr>
            <a:normAutofit/>
          </a:bodyPr>
          <a:lstStyle/>
          <a:p>
            <a:r>
              <a:rPr lang="en-US" sz="3300" dirty="0"/>
              <a:t>What We Will Use Today</a:t>
            </a:r>
          </a:p>
        </p:txBody>
      </p:sp>
      <p:sp>
        <p:nvSpPr>
          <p:cNvPr id="3" name="Content Placeholder 2">
            <a:extLst>
              <a:ext uri="{FF2B5EF4-FFF2-40B4-BE49-F238E27FC236}">
                <a16:creationId xmlns:a16="http://schemas.microsoft.com/office/drawing/2014/main" id="{186EEC5C-1292-A4A2-1E2D-A19D199A8749}"/>
              </a:ext>
            </a:extLst>
          </p:cNvPr>
          <p:cNvSpPr>
            <a:spLocks noGrp="1"/>
          </p:cNvSpPr>
          <p:nvPr>
            <p:ph idx="1"/>
          </p:nvPr>
        </p:nvSpPr>
        <p:spPr>
          <a:xfrm>
            <a:off x="3907172" y="2160589"/>
            <a:ext cx="3048329" cy="3880773"/>
          </a:xfrm>
        </p:spPr>
        <p:txBody>
          <a:bodyPr>
            <a:normAutofit/>
          </a:bodyPr>
          <a:lstStyle/>
          <a:p>
            <a:pPr>
              <a:lnSpc>
                <a:spcPct val="90000"/>
              </a:lnSpc>
            </a:pPr>
            <a:r>
              <a:rPr lang="en-US" sz="1700"/>
              <a:t>correct, understandable, efficient</a:t>
            </a:r>
          </a:p>
          <a:p>
            <a:pPr>
              <a:lnSpc>
                <a:spcPct val="90000"/>
              </a:lnSpc>
            </a:pPr>
            <a:r>
              <a:rPr lang="en-US" sz="1700"/>
              <a:t>space and time analysis</a:t>
            </a:r>
          </a:p>
          <a:p>
            <a:pPr>
              <a:lnSpc>
                <a:spcPct val="90000"/>
              </a:lnSpc>
            </a:pPr>
            <a:r>
              <a:rPr lang="en-US" sz="1700"/>
              <a:t>input size and growth behavior</a:t>
            </a:r>
          </a:p>
          <a:p>
            <a:pPr>
              <a:lnSpc>
                <a:spcPct val="90000"/>
              </a:lnSpc>
            </a:pPr>
            <a:r>
              <a:rPr lang="en-US" sz="1700"/>
              <a:t>Big-O vocabulary</a:t>
            </a:r>
          </a:p>
          <a:p>
            <a:pPr>
              <a:lnSpc>
                <a:spcPct val="90000"/>
              </a:lnSpc>
            </a:pPr>
            <a:r>
              <a:rPr lang="en-US" sz="1700"/>
              <a:t>best, worst, and average case</a:t>
            </a:r>
          </a:p>
          <a:p>
            <a:pPr>
              <a:lnSpc>
                <a:spcPct val="90000"/>
              </a:lnSpc>
            </a:pPr>
            <a:r>
              <a:rPr lang="en-US" sz="1700"/>
              <a:t>timing evidence and its limits</a:t>
            </a:r>
          </a:p>
          <a:p>
            <a:pPr>
              <a:lnSpc>
                <a:spcPct val="90000"/>
              </a:lnSpc>
            </a:pPr>
            <a:r>
              <a:rPr lang="en-US" sz="1700"/>
              <a:t>algorithm selection and explanation</a:t>
            </a:r>
          </a:p>
        </p:txBody>
      </p:sp>
      <p:pic>
        <p:nvPicPr>
          <p:cNvPr id="28" name="Picture 27" descr="Computer script on a screen">
            <a:extLst>
              <a:ext uri="{FF2B5EF4-FFF2-40B4-BE49-F238E27FC236}">
                <a16:creationId xmlns:a16="http://schemas.microsoft.com/office/drawing/2014/main" id="{38D50984-DDEB-A743-533E-89C11F357B8D}"/>
              </a:ext>
            </a:extLst>
          </p:cNvPr>
          <p:cNvPicPr>
            <a:picLocks noChangeAspect="1"/>
          </p:cNvPicPr>
          <p:nvPr/>
        </p:nvPicPr>
        <p:blipFill>
          <a:blip r:embed="rId3"/>
          <a:srcRect l="10423" r="5019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3" name="Isosceles Triangle 32">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57642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6D73-36C1-785B-BF1E-F70A56E45447}"/>
              </a:ext>
            </a:extLst>
          </p:cNvPr>
          <p:cNvSpPr>
            <a:spLocks noGrp="1"/>
          </p:cNvSpPr>
          <p:nvPr>
            <p:ph type="title"/>
          </p:nvPr>
        </p:nvSpPr>
        <p:spPr>
          <a:xfrm>
            <a:off x="508000" y="609600"/>
            <a:ext cx="6447501" cy="1320800"/>
          </a:xfrm>
        </p:spPr>
        <p:txBody>
          <a:bodyPr anchor="t">
            <a:normAutofit/>
          </a:bodyPr>
          <a:lstStyle/>
          <a:p>
            <a:r>
              <a:rPr lang="en-US"/>
              <a:t>What We Will “Touch On” and Revisit Later</a:t>
            </a:r>
            <a:endParaRPr lang="en-US" dirty="0"/>
          </a:p>
        </p:txBody>
      </p:sp>
      <p:sp>
        <p:nvSpPr>
          <p:cNvPr id="24" name="Content Placeholder 2">
            <a:extLst>
              <a:ext uri="{FF2B5EF4-FFF2-40B4-BE49-F238E27FC236}">
                <a16:creationId xmlns:a16="http://schemas.microsoft.com/office/drawing/2014/main" id="{A8A78D41-48A5-98C1-1F53-FB08BC3F6B1D}"/>
              </a:ext>
            </a:extLst>
          </p:cNvPr>
          <p:cNvSpPr>
            <a:spLocks noGrp="1"/>
          </p:cNvSpPr>
          <p:nvPr>
            <p:ph idx="1"/>
          </p:nvPr>
        </p:nvSpPr>
        <p:spPr>
          <a:xfrm>
            <a:off x="508000" y="2160590"/>
            <a:ext cx="3915323" cy="3701270"/>
          </a:xfrm>
        </p:spPr>
        <p:txBody>
          <a:bodyPr>
            <a:normAutofit/>
          </a:bodyPr>
          <a:lstStyle/>
          <a:p>
            <a:pPr marL="0" indent="0">
              <a:buNone/>
            </a:pPr>
            <a:r>
              <a:rPr lang="en-US"/>
              <a:t>Formal mathematical notation</a:t>
            </a:r>
          </a:p>
          <a:p>
            <a:pPr marL="0" indent="0">
              <a:buNone/>
            </a:pPr>
            <a:r>
              <a:rPr lang="en-US"/>
              <a:t>Recursion-based complexity</a:t>
            </a:r>
          </a:p>
          <a:p>
            <a:pPr marL="0" indent="0">
              <a:buNone/>
            </a:pPr>
            <a:r>
              <a:rPr lang="en-US"/>
              <a:t>Nested recursion</a:t>
            </a:r>
          </a:p>
          <a:p>
            <a:pPr marL="0" indent="0">
              <a:buNone/>
            </a:pPr>
            <a:r>
              <a:rPr lang="en-US"/>
              <a:t>Memory optimization</a:t>
            </a:r>
          </a:p>
          <a:p>
            <a:pPr marL="0" indent="0">
              <a:buNone/>
            </a:pPr>
            <a:r>
              <a:rPr lang="en-US"/>
              <a:t>GPU/CPU details</a:t>
            </a:r>
          </a:p>
          <a:p>
            <a:pPr marL="0" indent="0">
              <a:buNone/>
            </a:pPr>
            <a:r>
              <a:rPr lang="en-US" err="1"/>
              <a:t>Rrandomized</a:t>
            </a:r>
            <a:r>
              <a:rPr lang="en-US"/>
              <a:t> and approximate algorithms in deeper AI/data contexts</a:t>
            </a:r>
          </a:p>
        </p:txBody>
      </p:sp>
      <p:pic>
        <p:nvPicPr>
          <p:cNvPr id="7" name="Graphic 6" descr="Disconnected">
            <a:extLst>
              <a:ext uri="{FF2B5EF4-FFF2-40B4-BE49-F238E27FC236}">
                <a16:creationId xmlns:a16="http://schemas.microsoft.com/office/drawing/2014/main" id="{634669AE-52A5-F086-9BDE-17982042AD8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672713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58CC1AB3-4E10-DC1D-19E9-262AA9AD4807}"/>
              </a:ext>
            </a:extLst>
          </p:cNvPr>
          <p:cNvSpPr>
            <a:spLocks noGrp="1"/>
          </p:cNvSpPr>
          <p:nvPr>
            <p:ph type="title"/>
          </p:nvPr>
        </p:nvSpPr>
        <p:spPr>
          <a:xfrm>
            <a:off x="739476" y="4473227"/>
            <a:ext cx="6216024" cy="1096648"/>
          </a:xfrm>
        </p:spPr>
        <p:txBody>
          <a:bodyPr vert="horz" lIns="91440" tIns="45720" rIns="91440" bIns="45720" rtlCol="0" anchor="b">
            <a:normAutofit/>
          </a:bodyPr>
          <a:lstStyle/>
          <a:p>
            <a:r>
              <a:rPr lang="en-US" sz="4200"/>
              <a:t>Review Coding Lab</a:t>
            </a:r>
          </a:p>
        </p:txBody>
      </p:sp>
      <p:pic>
        <p:nvPicPr>
          <p:cNvPr id="5" name="Picture 4" descr="Computer script on a screen">
            <a:extLst>
              <a:ext uri="{FF2B5EF4-FFF2-40B4-BE49-F238E27FC236}">
                <a16:creationId xmlns:a16="http://schemas.microsoft.com/office/drawing/2014/main" id="{9DC68C51-4C04-4FB3-8831-97CAFAF56E58}"/>
              </a:ext>
            </a:extLst>
          </p:cNvPr>
          <p:cNvPicPr>
            <a:picLocks noChangeAspect="1"/>
          </p:cNvPicPr>
          <p:nvPr/>
        </p:nvPicPr>
        <p:blipFill>
          <a:blip r:embed="rId3"/>
          <a:srcRect t="5843" b="6549"/>
          <a:stretch>
            <a:fillRect/>
          </a:stretch>
        </p:blipFill>
        <p:spPr>
          <a:xfrm>
            <a:off x="739476" y="609600"/>
            <a:ext cx="6216024" cy="3635025"/>
          </a:xfrm>
          <a:prstGeom prst="rect">
            <a:avLst/>
          </a:prstGeom>
        </p:spPr>
      </p:pic>
    </p:spTree>
    <p:extLst>
      <p:ext uri="{BB962C8B-B14F-4D97-AF65-F5344CB8AC3E}">
        <p14:creationId xmlns:p14="http://schemas.microsoft.com/office/powerpoint/2010/main" val="417527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16879-C24F-12E9-F810-6CB9C4BFAB98}"/>
              </a:ext>
            </a:extLst>
          </p:cNvPr>
          <p:cNvSpPr>
            <a:spLocks noGrp="1"/>
          </p:cNvSpPr>
          <p:nvPr>
            <p:ph type="title"/>
          </p:nvPr>
        </p:nvSpPr>
        <p:spPr>
          <a:xfrm>
            <a:off x="508000" y="609600"/>
            <a:ext cx="6447501" cy="1320800"/>
          </a:xfrm>
        </p:spPr>
        <p:txBody>
          <a:bodyPr>
            <a:normAutofit/>
          </a:bodyPr>
          <a:lstStyle/>
          <a:p>
            <a:r>
              <a:rPr lang="en-US" dirty="0"/>
              <a:t>Review: </a:t>
            </a:r>
            <a:br>
              <a:rPr lang="en-US" dirty="0"/>
            </a:br>
            <a:r>
              <a:rPr lang="en-US" dirty="0"/>
              <a:t>What Lab 01 Taught Us</a:t>
            </a:r>
          </a:p>
        </p:txBody>
      </p:sp>
      <p:graphicFrame>
        <p:nvGraphicFramePr>
          <p:cNvPr id="5" name="Content Placeholder 2">
            <a:extLst>
              <a:ext uri="{FF2B5EF4-FFF2-40B4-BE49-F238E27FC236}">
                <a16:creationId xmlns:a16="http://schemas.microsoft.com/office/drawing/2014/main" id="{A5DB8EF8-7380-591B-7DE8-88F9DC4878C8}"/>
              </a:ext>
            </a:extLst>
          </p:cNvPr>
          <p:cNvGraphicFramePr>
            <a:graphicFrameLocks noGrp="1"/>
          </p:cNvGraphicFramePr>
          <p:nvPr>
            <p:ph idx="1"/>
            <p:extLst>
              <p:ext uri="{D42A27DB-BD31-4B8C-83A1-F6EECF244321}">
                <p14:modId xmlns:p14="http://schemas.microsoft.com/office/powerpoint/2010/main" val="3721355343"/>
              </p:ext>
            </p:extLst>
          </p:nvPr>
        </p:nvGraphicFramePr>
        <p:xfrm>
          <a:off x="508397" y="2160588"/>
          <a:ext cx="6447234" cy="3881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1397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1FA1E9A-A320-AF42-F414-B26C9B324438}"/>
              </a:ext>
            </a:extLst>
          </p:cNvPr>
          <p:cNvSpPr>
            <a:spLocks noGrp="1"/>
          </p:cNvSpPr>
          <p:nvPr>
            <p:ph type="title"/>
          </p:nvPr>
        </p:nvSpPr>
        <p:spPr>
          <a:xfrm>
            <a:off x="482600" y="816638"/>
            <a:ext cx="2525519" cy="5224724"/>
          </a:xfrm>
        </p:spPr>
        <p:txBody>
          <a:bodyPr anchor="ctr">
            <a:normAutofit/>
          </a:bodyPr>
          <a:lstStyle/>
          <a:p>
            <a:r>
              <a:rPr lang="en-US" dirty="0"/>
              <a:t>Today’s Question</a:t>
            </a:r>
          </a:p>
        </p:txBody>
      </p:sp>
      <p:sp>
        <p:nvSpPr>
          <p:cNvPr id="3" name="Content Placeholder 2">
            <a:extLst>
              <a:ext uri="{FF2B5EF4-FFF2-40B4-BE49-F238E27FC236}">
                <a16:creationId xmlns:a16="http://schemas.microsoft.com/office/drawing/2014/main" id="{874F45FF-FF75-2BF2-8B20-6A1AB01A627A}"/>
              </a:ext>
            </a:extLst>
          </p:cNvPr>
          <p:cNvSpPr>
            <a:spLocks noGrp="1"/>
          </p:cNvSpPr>
          <p:nvPr>
            <p:ph idx="1"/>
          </p:nvPr>
        </p:nvSpPr>
        <p:spPr>
          <a:xfrm>
            <a:off x="3709855" y="816638"/>
            <a:ext cx="3245645" cy="5224724"/>
          </a:xfrm>
        </p:spPr>
        <p:txBody>
          <a:bodyPr anchor="ctr">
            <a:normAutofit/>
          </a:bodyPr>
          <a:lstStyle/>
          <a:p>
            <a:pPr marL="0" indent="0">
              <a:buNone/>
            </a:pPr>
            <a:r>
              <a:rPr lang="en-US" sz="2000" b="1" dirty="0"/>
              <a:t>What happens when the amount of data </a:t>
            </a:r>
            <a:br>
              <a:rPr lang="en-US" sz="2000" b="1" dirty="0"/>
            </a:br>
            <a:r>
              <a:rPr lang="en-US" sz="2000" b="1" dirty="0"/>
              <a:t>gets larger?</a:t>
            </a:r>
            <a:endParaRPr lang="en-US" sz="2000" dirty="0"/>
          </a:p>
        </p:txBody>
      </p:sp>
    </p:spTree>
    <p:extLst>
      <p:ext uri="{BB962C8B-B14F-4D97-AF65-F5344CB8AC3E}">
        <p14:creationId xmlns:p14="http://schemas.microsoft.com/office/powerpoint/2010/main" val="396491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1000"/>
                                  </p:stCondLst>
                                  <p:childTnLst>
                                    <p:animScale>
                                      <p:cBhvr>
                                        <p:cTn id="6" dur="2000" fill="hold"/>
                                        <p:tgtEl>
                                          <p:spTgt spid="3">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descr="A digital balance scale using circles">
            <a:extLst>
              <a:ext uri="{FF2B5EF4-FFF2-40B4-BE49-F238E27FC236}">
                <a16:creationId xmlns:a16="http://schemas.microsoft.com/office/drawing/2014/main" id="{45D0CD12-A71C-9EE9-7E3D-EEF5F4BFBCDF}"/>
              </a:ext>
            </a:extLst>
          </p:cNvPr>
          <p:cNvPicPr>
            <a:picLocks noChangeAspect="1"/>
          </p:cNvPicPr>
          <p:nvPr/>
        </p:nvPicPr>
        <p:blipFill>
          <a:blip r:embed="rId3"/>
          <a:srcRect l="25100" r="22484" b="1"/>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0DD0C614-0723-A151-3319-1D520F6EDF6A}"/>
              </a:ext>
            </a:extLst>
          </p:cNvPr>
          <p:cNvSpPr>
            <a:spLocks noGrp="1"/>
          </p:cNvSpPr>
          <p:nvPr>
            <p:ph type="title"/>
          </p:nvPr>
        </p:nvSpPr>
        <p:spPr>
          <a:xfrm>
            <a:off x="507999" y="609600"/>
            <a:ext cx="2888343" cy="1320800"/>
          </a:xfrm>
        </p:spPr>
        <p:txBody>
          <a:bodyPr>
            <a:normAutofit/>
          </a:bodyPr>
          <a:lstStyle/>
          <a:p>
            <a:pPr>
              <a:lnSpc>
                <a:spcPct val="90000"/>
              </a:lnSpc>
            </a:pPr>
            <a:r>
              <a:rPr lang="en-US" sz="3100" b="1"/>
              <a:t>From “Works” To “Scales”</a:t>
            </a:r>
            <a:endParaRPr lang="en-US" sz="3100"/>
          </a:p>
        </p:txBody>
      </p:sp>
      <p:sp>
        <p:nvSpPr>
          <p:cNvPr id="3" name="Content Placeholder 2">
            <a:extLst>
              <a:ext uri="{FF2B5EF4-FFF2-40B4-BE49-F238E27FC236}">
                <a16:creationId xmlns:a16="http://schemas.microsoft.com/office/drawing/2014/main" id="{36F9FC9B-80B8-AD19-8D5C-DCD20774F40C}"/>
              </a:ext>
            </a:extLst>
          </p:cNvPr>
          <p:cNvSpPr>
            <a:spLocks noGrp="1"/>
          </p:cNvSpPr>
          <p:nvPr>
            <p:ph idx="1"/>
          </p:nvPr>
        </p:nvSpPr>
        <p:spPr>
          <a:xfrm>
            <a:off x="508000" y="2160589"/>
            <a:ext cx="2888342" cy="3880773"/>
          </a:xfrm>
        </p:spPr>
        <p:txBody>
          <a:bodyPr>
            <a:normAutofit/>
          </a:bodyPr>
          <a:lstStyle/>
          <a:p>
            <a:pPr marL="0" indent="0">
              <a:buNone/>
            </a:pPr>
            <a:r>
              <a:rPr lang="en-US" dirty="0"/>
              <a:t>Correctness asks:</a:t>
            </a:r>
          </a:p>
          <a:p>
            <a:r>
              <a:rPr lang="en-US" dirty="0"/>
              <a:t>Does the algorithm produce the expected result?</a:t>
            </a:r>
          </a:p>
          <a:p>
            <a:pPr marL="0" indent="0">
              <a:buNone/>
            </a:pPr>
            <a:endParaRPr lang="en-US" dirty="0"/>
          </a:p>
          <a:p>
            <a:pPr marL="0" indent="0">
              <a:buNone/>
            </a:pPr>
            <a:r>
              <a:rPr lang="en-US" dirty="0"/>
              <a:t>Growth asks:</a:t>
            </a:r>
          </a:p>
          <a:p>
            <a:r>
              <a:rPr lang="en-US" dirty="0"/>
              <a:t>How does the work change as input grows?</a:t>
            </a:r>
          </a:p>
        </p:txBody>
      </p:sp>
      <p:cxnSp>
        <p:nvCxnSpPr>
          <p:cNvPr id="38" name="Straight Connector 37">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2"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6"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4"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71534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B5BB2258-2A42-7358-855B-3C842DFCA6C1}"/>
              </a:ext>
            </a:extLst>
          </p:cNvPr>
          <p:cNvSpPr>
            <a:spLocks noGrp="1"/>
          </p:cNvSpPr>
          <p:nvPr>
            <p:ph type="title"/>
          </p:nvPr>
        </p:nvSpPr>
        <p:spPr>
          <a:xfrm>
            <a:off x="489360" y="1382486"/>
            <a:ext cx="2660686" cy="4093028"/>
          </a:xfrm>
        </p:spPr>
        <p:txBody>
          <a:bodyPr anchor="ctr">
            <a:normAutofit/>
          </a:bodyPr>
          <a:lstStyle/>
          <a:p>
            <a:r>
              <a:rPr lang="en-US" sz="3800"/>
              <a:t>What Counts as Success Today</a:t>
            </a:r>
          </a:p>
        </p:txBody>
      </p:sp>
      <p:sp>
        <p:nvSpPr>
          <p:cNvPr id="22" name="Rectangle 21">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E8FB340-C6CC-FE68-2C30-7F4BB19196CF}"/>
              </a:ext>
            </a:extLst>
          </p:cNvPr>
          <p:cNvGraphicFramePr>
            <a:graphicFrameLocks noGrp="1"/>
          </p:cNvGraphicFramePr>
          <p:nvPr>
            <p:ph idx="1"/>
            <p:extLst>
              <p:ext uri="{D42A27DB-BD31-4B8C-83A1-F6EECF244321}">
                <p14:modId xmlns:p14="http://schemas.microsoft.com/office/powerpoint/2010/main" val="727880109"/>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2066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8413C-E473-7BB1-5818-2D164CEF8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30655-1F44-A7A1-AD87-667B476811F2}"/>
              </a:ext>
            </a:extLst>
          </p:cNvPr>
          <p:cNvSpPr>
            <a:spLocks noGrp="1"/>
          </p:cNvSpPr>
          <p:nvPr>
            <p:ph type="title"/>
          </p:nvPr>
        </p:nvSpPr>
        <p:spPr>
          <a:xfrm>
            <a:off x="2089535" y="1189369"/>
            <a:ext cx="4865966" cy="745462"/>
          </a:xfrm>
        </p:spPr>
        <p:txBody>
          <a:bodyPr>
            <a:normAutofit/>
          </a:bodyPr>
          <a:lstStyle/>
          <a:p>
            <a:r>
              <a:rPr lang="en-US" dirty="0"/>
              <a:t>Algorithm Quality</a:t>
            </a:r>
          </a:p>
        </p:txBody>
      </p:sp>
      <p:pic>
        <p:nvPicPr>
          <p:cNvPr id="5" name="Picture 4">
            <a:extLst>
              <a:ext uri="{FF2B5EF4-FFF2-40B4-BE49-F238E27FC236}">
                <a16:creationId xmlns:a16="http://schemas.microsoft.com/office/drawing/2014/main" id="{6A1B117B-7548-ADF5-1699-217128A6553A}"/>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F729E677-A23F-A29E-45EE-905BCE0D8D91}"/>
              </a:ext>
            </a:extLst>
          </p:cNvPr>
          <p:cNvSpPr>
            <a:spLocks noGrp="1"/>
          </p:cNvSpPr>
          <p:nvPr>
            <p:ph idx="1"/>
          </p:nvPr>
        </p:nvSpPr>
        <p:spPr>
          <a:xfrm>
            <a:off x="2089535" y="2160589"/>
            <a:ext cx="4865966" cy="3880773"/>
          </a:xfrm>
        </p:spPr>
        <p:txBody>
          <a:bodyPr>
            <a:normAutofit/>
          </a:bodyPr>
          <a:lstStyle/>
          <a:p>
            <a:pPr marL="0" indent="0">
              <a:buNone/>
            </a:pPr>
            <a:r>
              <a:rPr lang="en-US" dirty="0"/>
              <a:t>The reading describes strong algorithms as:</a:t>
            </a:r>
          </a:p>
          <a:p>
            <a:pPr marL="0" indent="0">
              <a:buNone/>
            </a:pPr>
            <a:endParaRPr lang="en-US" dirty="0"/>
          </a:p>
          <a:p>
            <a:r>
              <a:rPr lang="en-US" dirty="0"/>
              <a:t>Correct</a:t>
            </a:r>
          </a:p>
          <a:p>
            <a:r>
              <a:rPr lang="en-US" dirty="0"/>
              <a:t>Understandable</a:t>
            </a:r>
          </a:p>
          <a:p>
            <a:r>
              <a:rPr lang="en-US" dirty="0"/>
              <a:t>Efficient</a:t>
            </a:r>
          </a:p>
        </p:txBody>
      </p:sp>
      <p:sp>
        <p:nvSpPr>
          <p:cNvPr id="3" name="Text Placeholder 3">
            <a:extLst>
              <a:ext uri="{FF2B5EF4-FFF2-40B4-BE49-F238E27FC236}">
                <a16:creationId xmlns:a16="http://schemas.microsoft.com/office/drawing/2014/main" id="{F85F1924-E7B7-D63D-AEF2-560B04790698}"/>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1856241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4591D-3E8C-E4F3-4674-4A697EA12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1B8F9-509A-07C3-43EF-58E516AAC1ED}"/>
              </a:ext>
            </a:extLst>
          </p:cNvPr>
          <p:cNvSpPr>
            <a:spLocks noGrp="1"/>
          </p:cNvSpPr>
          <p:nvPr>
            <p:ph type="title"/>
          </p:nvPr>
        </p:nvSpPr>
        <p:spPr>
          <a:xfrm>
            <a:off x="2089535" y="1189369"/>
            <a:ext cx="4865966" cy="745462"/>
          </a:xfrm>
        </p:spPr>
        <p:txBody>
          <a:bodyPr>
            <a:normAutofit/>
          </a:bodyPr>
          <a:lstStyle/>
          <a:p>
            <a:r>
              <a:rPr lang="en-US" dirty="0"/>
              <a:t>Performance Analysis</a:t>
            </a:r>
          </a:p>
        </p:txBody>
      </p:sp>
      <p:pic>
        <p:nvPicPr>
          <p:cNvPr id="5" name="Picture 4">
            <a:extLst>
              <a:ext uri="{FF2B5EF4-FFF2-40B4-BE49-F238E27FC236}">
                <a16:creationId xmlns:a16="http://schemas.microsoft.com/office/drawing/2014/main" id="{447F4E9D-B914-EC29-E0E7-9A5E4924A89B}"/>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39B7372F-F56F-CE45-38D9-1BB9FF6B0734}"/>
              </a:ext>
            </a:extLst>
          </p:cNvPr>
          <p:cNvSpPr>
            <a:spLocks noGrp="1"/>
          </p:cNvSpPr>
          <p:nvPr>
            <p:ph idx="1"/>
          </p:nvPr>
        </p:nvSpPr>
        <p:spPr>
          <a:xfrm>
            <a:off x="2089535" y="2160589"/>
            <a:ext cx="4865966" cy="3880773"/>
          </a:xfrm>
        </p:spPr>
        <p:txBody>
          <a:bodyPr>
            <a:normAutofit/>
          </a:bodyPr>
          <a:lstStyle/>
          <a:p>
            <a:pPr marL="0" indent="0">
              <a:buNone/>
            </a:pPr>
            <a:r>
              <a:rPr lang="en-US" dirty="0"/>
              <a:t>Performance analysis asks:</a:t>
            </a:r>
          </a:p>
          <a:p>
            <a:pPr marL="0" indent="0">
              <a:buNone/>
            </a:pPr>
            <a:endParaRPr lang="en-US" dirty="0"/>
          </a:p>
          <a:p>
            <a:r>
              <a:rPr lang="en-US" dirty="0"/>
              <a:t>How much time might this take?</a:t>
            </a:r>
          </a:p>
          <a:p>
            <a:r>
              <a:rPr lang="en-US" dirty="0"/>
              <a:t>How much memory might this use?</a:t>
            </a:r>
          </a:p>
          <a:p>
            <a:r>
              <a:rPr lang="en-US" dirty="0"/>
              <a:t>What happens as input size grows?</a:t>
            </a:r>
          </a:p>
        </p:txBody>
      </p:sp>
      <p:sp>
        <p:nvSpPr>
          <p:cNvPr id="3" name="Text Placeholder 3">
            <a:extLst>
              <a:ext uri="{FF2B5EF4-FFF2-40B4-BE49-F238E27FC236}">
                <a16:creationId xmlns:a16="http://schemas.microsoft.com/office/drawing/2014/main" id="{0AEDE52D-99FB-DE09-E909-C938D4C9B028}"/>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75160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CDCBE-C9CB-2F70-2913-3D9EA2219C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C078AE-D546-FDC4-9896-243613301AF1}"/>
              </a:ext>
            </a:extLst>
          </p:cNvPr>
          <p:cNvSpPr>
            <a:spLocks noGrp="1"/>
          </p:cNvSpPr>
          <p:nvPr>
            <p:ph type="title"/>
          </p:nvPr>
        </p:nvSpPr>
        <p:spPr>
          <a:xfrm>
            <a:off x="2089535" y="1189369"/>
            <a:ext cx="4865966" cy="745462"/>
          </a:xfrm>
        </p:spPr>
        <p:txBody>
          <a:bodyPr>
            <a:normAutofit/>
          </a:bodyPr>
          <a:lstStyle/>
          <a:p>
            <a:r>
              <a:rPr lang="en-US" dirty="0"/>
              <a:t>Space And Time</a:t>
            </a:r>
          </a:p>
        </p:txBody>
      </p:sp>
      <p:pic>
        <p:nvPicPr>
          <p:cNvPr id="5" name="Picture 4">
            <a:extLst>
              <a:ext uri="{FF2B5EF4-FFF2-40B4-BE49-F238E27FC236}">
                <a16:creationId xmlns:a16="http://schemas.microsoft.com/office/drawing/2014/main" id="{6D4625BC-F41A-945F-6581-9A417D2B8158}"/>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8D6B9612-186B-BA75-3A7A-F3028FC3DE19}"/>
              </a:ext>
            </a:extLst>
          </p:cNvPr>
          <p:cNvSpPr>
            <a:spLocks noGrp="1"/>
          </p:cNvSpPr>
          <p:nvPr>
            <p:ph idx="1"/>
          </p:nvPr>
        </p:nvSpPr>
        <p:spPr>
          <a:xfrm>
            <a:off x="2089535" y="2160589"/>
            <a:ext cx="4865966" cy="3880773"/>
          </a:xfrm>
        </p:spPr>
        <p:txBody>
          <a:bodyPr>
            <a:normAutofit/>
          </a:bodyPr>
          <a:lstStyle/>
          <a:p>
            <a:pPr marL="0" indent="0">
              <a:buNone/>
            </a:pPr>
            <a:r>
              <a:rPr lang="en-US" dirty="0"/>
              <a:t>Two common analysis types:</a:t>
            </a:r>
            <a:br>
              <a:rPr lang="en-US" dirty="0"/>
            </a:br>
            <a:endParaRPr lang="en-US" dirty="0"/>
          </a:p>
          <a:p>
            <a:r>
              <a:rPr lang="en-US" dirty="0"/>
              <a:t>Space analysis: memory growth</a:t>
            </a:r>
          </a:p>
          <a:p>
            <a:r>
              <a:rPr lang="en-US" dirty="0"/>
              <a:t>Time analysis: work or runtime growth</a:t>
            </a:r>
          </a:p>
          <a:p>
            <a:endParaRPr lang="en-US" dirty="0"/>
          </a:p>
        </p:txBody>
      </p:sp>
      <p:sp>
        <p:nvSpPr>
          <p:cNvPr id="3" name="Text Placeholder 3">
            <a:extLst>
              <a:ext uri="{FF2B5EF4-FFF2-40B4-BE49-F238E27FC236}">
                <a16:creationId xmlns:a16="http://schemas.microsoft.com/office/drawing/2014/main" id="{D2B0801D-33D3-AB8C-E3E5-14E815F21871}"/>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1387547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A18CD-9101-ED2E-36DB-DDCBBA978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9E204-2ECA-E3B8-FDA2-2908AA0B8185}"/>
              </a:ext>
            </a:extLst>
          </p:cNvPr>
          <p:cNvSpPr>
            <a:spLocks noGrp="1"/>
          </p:cNvSpPr>
          <p:nvPr>
            <p:ph type="title"/>
          </p:nvPr>
        </p:nvSpPr>
        <p:spPr>
          <a:xfrm>
            <a:off x="2089535" y="1189369"/>
            <a:ext cx="4865966" cy="745462"/>
          </a:xfrm>
        </p:spPr>
        <p:txBody>
          <a:bodyPr>
            <a:normAutofit/>
          </a:bodyPr>
          <a:lstStyle/>
          <a:p>
            <a:r>
              <a:rPr lang="en-US" dirty="0"/>
              <a:t>Space Complexity</a:t>
            </a:r>
          </a:p>
        </p:txBody>
      </p:sp>
      <p:pic>
        <p:nvPicPr>
          <p:cNvPr id="5" name="Picture 4">
            <a:extLst>
              <a:ext uri="{FF2B5EF4-FFF2-40B4-BE49-F238E27FC236}">
                <a16:creationId xmlns:a16="http://schemas.microsoft.com/office/drawing/2014/main" id="{BF70CDC2-92FB-5ECF-D30E-00992DB794BF}"/>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741C073C-EE85-3042-C4B8-6785152CA1EC}"/>
              </a:ext>
            </a:extLst>
          </p:cNvPr>
          <p:cNvSpPr>
            <a:spLocks noGrp="1"/>
          </p:cNvSpPr>
          <p:nvPr>
            <p:ph idx="1"/>
          </p:nvPr>
        </p:nvSpPr>
        <p:spPr>
          <a:xfrm>
            <a:off x="2089535" y="2160589"/>
            <a:ext cx="4865966" cy="3880773"/>
          </a:xfrm>
        </p:spPr>
        <p:txBody>
          <a:bodyPr>
            <a:normAutofit/>
          </a:bodyPr>
          <a:lstStyle/>
          <a:p>
            <a:pPr marL="0" indent="0">
              <a:buNone/>
            </a:pPr>
            <a:r>
              <a:rPr lang="en-US" dirty="0"/>
              <a:t>Space complexity asks how memory use changes.</a:t>
            </a:r>
            <a:br>
              <a:rPr lang="en-US" dirty="0"/>
            </a:br>
            <a:endParaRPr lang="en-US" dirty="0"/>
          </a:p>
          <a:p>
            <a:pPr marL="0" indent="0">
              <a:buNone/>
            </a:pPr>
            <a:r>
              <a:rPr lang="en-US" dirty="0"/>
              <a:t>Patterns can be:</a:t>
            </a:r>
          </a:p>
          <a:p>
            <a:r>
              <a:rPr lang="en-US" dirty="0"/>
              <a:t>Flat</a:t>
            </a:r>
          </a:p>
          <a:p>
            <a:r>
              <a:rPr lang="en-US" dirty="0"/>
              <a:t>Converging</a:t>
            </a:r>
          </a:p>
          <a:p>
            <a:r>
              <a:rPr lang="en-US" dirty="0"/>
              <a:t>Diverging</a:t>
            </a:r>
          </a:p>
        </p:txBody>
      </p:sp>
      <p:sp>
        <p:nvSpPr>
          <p:cNvPr id="3" name="Text Placeholder 3">
            <a:extLst>
              <a:ext uri="{FF2B5EF4-FFF2-40B4-BE49-F238E27FC236}">
                <a16:creationId xmlns:a16="http://schemas.microsoft.com/office/drawing/2014/main" id="{A9080ECF-3116-3BC8-3390-639778C6C3AC}"/>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3626167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6BE73-E13D-61FA-FDF8-BDCADA571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19B522-8FC7-A831-C160-B024B595495F}"/>
              </a:ext>
            </a:extLst>
          </p:cNvPr>
          <p:cNvSpPr>
            <a:spLocks noGrp="1"/>
          </p:cNvSpPr>
          <p:nvPr>
            <p:ph type="title"/>
          </p:nvPr>
        </p:nvSpPr>
        <p:spPr>
          <a:xfrm>
            <a:off x="2089535" y="1189369"/>
            <a:ext cx="4865966" cy="745462"/>
          </a:xfrm>
        </p:spPr>
        <p:txBody>
          <a:bodyPr>
            <a:normAutofit/>
          </a:bodyPr>
          <a:lstStyle/>
          <a:p>
            <a:r>
              <a:rPr lang="en-US" dirty="0"/>
              <a:t>Time Complexity</a:t>
            </a:r>
          </a:p>
        </p:txBody>
      </p:sp>
      <p:pic>
        <p:nvPicPr>
          <p:cNvPr id="5" name="Picture 4">
            <a:extLst>
              <a:ext uri="{FF2B5EF4-FFF2-40B4-BE49-F238E27FC236}">
                <a16:creationId xmlns:a16="http://schemas.microsoft.com/office/drawing/2014/main" id="{96BAD852-65DB-7E9A-B1FF-43AD0FFDA81C}"/>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2476E6D5-61C2-F06B-6878-9736D1574722}"/>
              </a:ext>
            </a:extLst>
          </p:cNvPr>
          <p:cNvSpPr>
            <a:spLocks noGrp="1"/>
          </p:cNvSpPr>
          <p:nvPr>
            <p:ph idx="1"/>
          </p:nvPr>
        </p:nvSpPr>
        <p:spPr>
          <a:xfrm>
            <a:off x="2089535" y="2160589"/>
            <a:ext cx="4865966" cy="3880773"/>
          </a:xfrm>
        </p:spPr>
        <p:txBody>
          <a:bodyPr>
            <a:normAutofit/>
          </a:bodyPr>
          <a:lstStyle/>
          <a:p>
            <a:pPr marL="0" indent="0">
              <a:buNone/>
            </a:pPr>
            <a:r>
              <a:rPr lang="en-US" dirty="0"/>
              <a:t>Time complexity asks:</a:t>
            </a:r>
          </a:p>
          <a:p>
            <a:pPr marL="0" indent="0">
              <a:buNone/>
            </a:pPr>
            <a:endParaRPr lang="en-US" dirty="0"/>
          </a:p>
          <a:p>
            <a:r>
              <a:rPr lang="en-US" dirty="0"/>
              <a:t>Can this scale?</a:t>
            </a:r>
          </a:p>
          <a:p>
            <a:r>
              <a:rPr lang="en-US" dirty="0"/>
              <a:t>What work does the algorithm repeat?</a:t>
            </a:r>
          </a:p>
          <a:p>
            <a:r>
              <a:rPr lang="en-US" dirty="0"/>
              <a:t>What happens with larger datasets?</a:t>
            </a:r>
          </a:p>
          <a:p>
            <a:r>
              <a:rPr lang="en-US" dirty="0"/>
              <a:t>What resources are involved?</a:t>
            </a:r>
          </a:p>
        </p:txBody>
      </p:sp>
      <p:sp>
        <p:nvSpPr>
          <p:cNvPr id="3" name="Text Placeholder 3">
            <a:extLst>
              <a:ext uri="{FF2B5EF4-FFF2-40B4-BE49-F238E27FC236}">
                <a16:creationId xmlns:a16="http://schemas.microsoft.com/office/drawing/2014/main" id="{1D63736E-920E-0B60-8047-98CAA10E75E7}"/>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3804938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966C9-3025-F3FD-8CD0-42270312D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4B8E64-DF99-9324-C227-D40330FAD22F}"/>
              </a:ext>
            </a:extLst>
          </p:cNvPr>
          <p:cNvSpPr>
            <a:spLocks noGrp="1"/>
          </p:cNvSpPr>
          <p:nvPr>
            <p:ph type="title"/>
          </p:nvPr>
        </p:nvSpPr>
        <p:spPr>
          <a:xfrm>
            <a:off x="2089535" y="1189369"/>
            <a:ext cx="4865966" cy="745462"/>
          </a:xfrm>
        </p:spPr>
        <p:txBody>
          <a:bodyPr>
            <a:normAutofit/>
          </a:bodyPr>
          <a:lstStyle/>
          <a:p>
            <a:r>
              <a:rPr lang="en-US" dirty="0"/>
              <a:t>Input Size</a:t>
            </a:r>
          </a:p>
        </p:txBody>
      </p:sp>
      <p:pic>
        <p:nvPicPr>
          <p:cNvPr id="5" name="Picture 4">
            <a:extLst>
              <a:ext uri="{FF2B5EF4-FFF2-40B4-BE49-F238E27FC236}">
                <a16:creationId xmlns:a16="http://schemas.microsoft.com/office/drawing/2014/main" id="{F8BD0D37-E49A-4E19-4C9E-AB4EA8E95F5F}"/>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1DFAD614-D5EA-D3AD-2E20-245434315899}"/>
              </a:ext>
            </a:extLst>
          </p:cNvPr>
          <p:cNvSpPr>
            <a:spLocks noGrp="1"/>
          </p:cNvSpPr>
          <p:nvPr>
            <p:ph idx="1"/>
          </p:nvPr>
        </p:nvSpPr>
        <p:spPr>
          <a:xfrm>
            <a:off x="2089535" y="2160589"/>
            <a:ext cx="4865966" cy="3880773"/>
          </a:xfrm>
        </p:spPr>
        <p:txBody>
          <a:bodyPr>
            <a:normAutofit/>
          </a:bodyPr>
          <a:lstStyle/>
          <a:p>
            <a:pPr marL="0" indent="0">
              <a:buNone/>
            </a:pPr>
            <a:r>
              <a:rPr lang="en-US" dirty="0"/>
              <a:t>Input size is the amount of data the algorithm works on.</a:t>
            </a:r>
          </a:p>
          <a:p>
            <a:pPr marL="0" indent="0">
              <a:buNone/>
            </a:pPr>
            <a:endParaRPr lang="en-US" dirty="0"/>
          </a:p>
          <a:p>
            <a:pPr marL="0" indent="0">
              <a:buNone/>
            </a:pPr>
            <a:r>
              <a:rPr lang="en-US" dirty="0"/>
              <a:t>Examples:</a:t>
            </a:r>
          </a:p>
          <a:p>
            <a:r>
              <a:rPr lang="en-US" dirty="0"/>
              <a:t>number of list items</a:t>
            </a:r>
          </a:p>
          <a:p>
            <a:r>
              <a:rPr lang="en-US" dirty="0"/>
              <a:t>number of records</a:t>
            </a:r>
          </a:p>
          <a:p>
            <a:r>
              <a:rPr lang="en-US" dirty="0"/>
              <a:t>number of characters</a:t>
            </a:r>
          </a:p>
          <a:p>
            <a:r>
              <a:rPr lang="en-US" dirty="0"/>
              <a:t>number of graph nodes</a:t>
            </a:r>
          </a:p>
        </p:txBody>
      </p:sp>
      <p:sp>
        <p:nvSpPr>
          <p:cNvPr id="3" name="Text Placeholder 3">
            <a:extLst>
              <a:ext uri="{FF2B5EF4-FFF2-40B4-BE49-F238E27FC236}">
                <a16:creationId xmlns:a16="http://schemas.microsoft.com/office/drawing/2014/main" id="{D15C0738-AC7E-E2B4-486F-EF2293C06076}"/>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1153911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 name="Straight Connector 11">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7" name="Picture 6" descr="Financial graphs on a dark display">
            <a:extLst>
              <a:ext uri="{FF2B5EF4-FFF2-40B4-BE49-F238E27FC236}">
                <a16:creationId xmlns:a16="http://schemas.microsoft.com/office/drawing/2014/main" id="{65C5B672-7FA6-2FAB-48CE-40F8BB290B29}"/>
              </a:ext>
            </a:extLst>
          </p:cNvPr>
          <p:cNvPicPr>
            <a:picLocks noChangeAspect="1"/>
          </p:cNvPicPr>
          <p:nvPr/>
        </p:nvPicPr>
        <p:blipFill>
          <a:blip r:embed="rId2">
            <a:duotone>
              <a:prstClr val="black"/>
              <a:prstClr val="white"/>
            </a:duotone>
          </a:blip>
          <a:srcRect l="25216" r="26238"/>
          <a:stretch>
            <a:fillRect/>
          </a:stretch>
        </p:blipFill>
        <p:spPr>
          <a:xfrm>
            <a:off x="3814762" y="-1"/>
            <a:ext cx="5326856" cy="6858001"/>
          </a:xfrm>
          <a:custGeom>
            <a:avLst/>
            <a:gdLst/>
            <a:ahLst/>
            <a:cxnLst/>
            <a:rect l="l" t="t" r="r" b="b"/>
            <a:pathLst>
              <a:path w="7102474" h="6858001">
                <a:moveTo>
                  <a:pt x="417180" y="0"/>
                </a:moveTo>
                <a:lnTo>
                  <a:pt x="7102474" y="0"/>
                </a:lnTo>
                <a:lnTo>
                  <a:pt x="7102474" y="6858001"/>
                </a:lnTo>
                <a:lnTo>
                  <a:pt x="65002" y="6858001"/>
                </a:lnTo>
                <a:lnTo>
                  <a:pt x="1840421" y="4521201"/>
                </a:lnTo>
                <a:close/>
                <a:moveTo>
                  <a:pt x="0" y="0"/>
                </a:moveTo>
                <a:lnTo>
                  <a:pt x="417180" y="0"/>
                </a:lnTo>
                <a:lnTo>
                  <a:pt x="0" y="447"/>
                </a:lnTo>
                <a:close/>
              </a:path>
            </a:pathLst>
          </a:custGeom>
        </p:spPr>
      </p:pic>
      <p:sp>
        <p:nvSpPr>
          <p:cNvPr id="4" name="Title 3">
            <a:extLst>
              <a:ext uri="{FF2B5EF4-FFF2-40B4-BE49-F238E27FC236}">
                <a16:creationId xmlns:a16="http://schemas.microsoft.com/office/drawing/2014/main" id="{D0EE667D-BDC8-2289-B62C-4D709E1BEDC1}"/>
              </a:ext>
            </a:extLst>
          </p:cNvPr>
          <p:cNvSpPr>
            <a:spLocks noGrp="1"/>
          </p:cNvSpPr>
          <p:nvPr>
            <p:ph type="title"/>
          </p:nvPr>
        </p:nvSpPr>
        <p:spPr>
          <a:xfrm>
            <a:off x="501649" y="1678666"/>
            <a:ext cx="3842636" cy="2369093"/>
          </a:xfrm>
        </p:spPr>
        <p:txBody>
          <a:bodyPr vert="horz" lIns="91440" tIns="45720" rIns="91440" bIns="45720" rtlCol="0" anchor="b">
            <a:normAutofit/>
          </a:bodyPr>
          <a:lstStyle/>
          <a:p>
            <a:pPr algn="r"/>
            <a:r>
              <a:rPr lang="en-US" sz="4200" dirty="0"/>
              <a:t>Performance Analysis Foundations</a:t>
            </a:r>
          </a:p>
        </p:txBody>
      </p:sp>
      <p:sp>
        <p:nvSpPr>
          <p:cNvPr id="5" name="Text Placeholder 4">
            <a:extLst>
              <a:ext uri="{FF2B5EF4-FFF2-40B4-BE49-F238E27FC236}">
                <a16:creationId xmlns:a16="http://schemas.microsoft.com/office/drawing/2014/main" id="{3959E71C-F193-A1AF-B171-DCCF8EA4EF6B}"/>
              </a:ext>
            </a:extLst>
          </p:cNvPr>
          <p:cNvSpPr>
            <a:spLocks noGrp="1"/>
          </p:cNvSpPr>
          <p:nvPr>
            <p:ph type="body" idx="1"/>
          </p:nvPr>
        </p:nvSpPr>
        <p:spPr>
          <a:xfrm>
            <a:off x="508001" y="4050831"/>
            <a:ext cx="3834913" cy="1096901"/>
          </a:xfrm>
        </p:spPr>
        <p:txBody>
          <a:bodyPr vert="horz" lIns="91440" tIns="45720" rIns="91440" bIns="45720" rtlCol="0" anchor="t">
            <a:normAutofit/>
          </a:bodyPr>
          <a:lstStyle/>
          <a:p>
            <a:pPr algn="r"/>
            <a:endParaRPr lang="en-US" sz="1400"/>
          </a:p>
        </p:txBody>
      </p:sp>
      <p:cxnSp>
        <p:nvCxnSpPr>
          <p:cNvPr id="23" name="Straight Connector 22">
            <a:extLst>
              <a:ext uri="{FF2B5EF4-FFF2-40B4-BE49-F238E27FC236}">
                <a16:creationId xmlns:a16="http://schemas.microsoft.com/office/drawing/2014/main" id="{A3D2D849-17D8-45A4-9FB8-B955CD22BD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A0A4A95-757B-4092-A077-CA7C3ADE49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2D2FAE71-B8B1-4745-A59A-A88D3FE48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5">
            <a:extLst>
              <a:ext uri="{FF2B5EF4-FFF2-40B4-BE49-F238E27FC236}">
                <a16:creationId xmlns:a16="http://schemas.microsoft.com/office/drawing/2014/main" id="{E4C67344-C816-4380-85F7-CCFD7F8BA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24">
            <a:extLst>
              <a:ext uri="{FF2B5EF4-FFF2-40B4-BE49-F238E27FC236}">
                <a16:creationId xmlns:a16="http://schemas.microsoft.com/office/drawing/2014/main" id="{5A0B04CD-E5BD-4922-BE66-2D5B3A0DEF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7">
            <a:extLst>
              <a:ext uri="{FF2B5EF4-FFF2-40B4-BE49-F238E27FC236}">
                <a16:creationId xmlns:a16="http://schemas.microsoft.com/office/drawing/2014/main" id="{CF4C9BE8-5C78-476D-9042-ECD8BE635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8">
            <a:extLst>
              <a:ext uri="{FF2B5EF4-FFF2-40B4-BE49-F238E27FC236}">
                <a16:creationId xmlns:a16="http://schemas.microsoft.com/office/drawing/2014/main" id="{7D6A31B3-BF49-4DB2-8306-DD2E4B889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9">
            <a:extLst>
              <a:ext uri="{FF2B5EF4-FFF2-40B4-BE49-F238E27FC236}">
                <a16:creationId xmlns:a16="http://schemas.microsoft.com/office/drawing/2014/main" id="{A903E87B-DD97-4095-B106-3218D6AF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Isosceles Triangle 29">
            <a:extLst>
              <a:ext uri="{FF2B5EF4-FFF2-40B4-BE49-F238E27FC236}">
                <a16:creationId xmlns:a16="http://schemas.microsoft.com/office/drawing/2014/main" id="{954CB26F-45F0-4288-A3B1-32535127B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079170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1C7A5-6CE9-1560-ABF1-7629293947C7}"/>
              </a:ext>
            </a:extLst>
          </p:cNvPr>
          <p:cNvSpPr>
            <a:spLocks noGrp="1"/>
          </p:cNvSpPr>
          <p:nvPr>
            <p:ph type="title"/>
          </p:nvPr>
        </p:nvSpPr>
        <p:spPr>
          <a:xfrm>
            <a:off x="508000" y="609600"/>
            <a:ext cx="6447501" cy="1320800"/>
          </a:xfrm>
        </p:spPr>
        <p:txBody>
          <a:bodyPr anchor="t">
            <a:normAutofit/>
          </a:bodyPr>
          <a:lstStyle/>
          <a:p>
            <a:r>
              <a:rPr lang="en-US" dirty="0"/>
              <a:t>Growth Pattern</a:t>
            </a:r>
          </a:p>
        </p:txBody>
      </p:sp>
      <p:sp>
        <p:nvSpPr>
          <p:cNvPr id="3" name="Content Placeholder 2">
            <a:extLst>
              <a:ext uri="{FF2B5EF4-FFF2-40B4-BE49-F238E27FC236}">
                <a16:creationId xmlns:a16="http://schemas.microsoft.com/office/drawing/2014/main" id="{92D4807B-2F7E-F602-D239-E9A11B967363}"/>
              </a:ext>
            </a:extLst>
          </p:cNvPr>
          <p:cNvSpPr>
            <a:spLocks noGrp="1"/>
          </p:cNvSpPr>
          <p:nvPr>
            <p:ph idx="1"/>
          </p:nvPr>
        </p:nvSpPr>
        <p:spPr>
          <a:xfrm>
            <a:off x="508000" y="2160590"/>
            <a:ext cx="3915323" cy="3701270"/>
          </a:xfrm>
        </p:spPr>
        <p:txBody>
          <a:bodyPr>
            <a:normAutofit/>
          </a:bodyPr>
          <a:lstStyle/>
          <a:p>
            <a:pPr marL="0" indent="0">
              <a:buNone/>
            </a:pPr>
            <a:r>
              <a:rPr lang="en-US" dirty="0"/>
              <a:t>Growth pattern means:</a:t>
            </a:r>
          </a:p>
          <a:p>
            <a:r>
              <a:rPr lang="en-US" dirty="0"/>
              <a:t>how work changes</a:t>
            </a:r>
          </a:p>
          <a:p>
            <a:r>
              <a:rPr lang="en-US" dirty="0"/>
              <a:t>as input size changes</a:t>
            </a:r>
          </a:p>
          <a:p>
            <a:pPr marL="0" indent="0">
              <a:buNone/>
            </a:pPr>
            <a:endParaRPr lang="en-US" dirty="0"/>
          </a:p>
          <a:p>
            <a:pPr marL="0" indent="0">
              <a:buNone/>
            </a:pPr>
            <a:r>
              <a:rPr lang="en-US" i="1" dirty="0"/>
              <a:t>Small inputs can hide the pattern.</a:t>
            </a:r>
          </a:p>
        </p:txBody>
      </p:sp>
      <p:pic>
        <p:nvPicPr>
          <p:cNvPr id="7" name="Graphic 6" descr="Workflow">
            <a:extLst>
              <a:ext uri="{FF2B5EF4-FFF2-40B4-BE49-F238E27FC236}">
                <a16:creationId xmlns:a16="http://schemas.microsoft.com/office/drawing/2014/main" id="{DFEB2B57-2BE5-188A-B309-DCFDF8A2B1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751479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1000"/>
                                  </p:stCondLst>
                                  <p:childTnLst>
                                    <p:animScale>
                                      <p:cBhvr>
                                        <p:cTn id="6" dur="2000" fill="hold"/>
                                        <p:tgtEl>
                                          <p:spTgt spid="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8B7C2-6B76-8721-76B9-236619860DBC}"/>
              </a:ext>
            </a:extLst>
          </p:cNvPr>
          <p:cNvSpPr>
            <a:spLocks noGrp="1"/>
          </p:cNvSpPr>
          <p:nvPr>
            <p:ph type="title"/>
          </p:nvPr>
        </p:nvSpPr>
        <p:spPr>
          <a:xfrm>
            <a:off x="508000" y="609600"/>
            <a:ext cx="6447501" cy="1320800"/>
          </a:xfrm>
        </p:spPr>
        <p:txBody>
          <a:bodyPr anchor="t">
            <a:normAutofit/>
          </a:bodyPr>
          <a:lstStyle/>
          <a:p>
            <a:r>
              <a:rPr lang="en-US" b="1" dirty="0"/>
              <a:t>Timing Is Evidence</a:t>
            </a:r>
            <a:endParaRPr lang="en-US" dirty="0"/>
          </a:p>
        </p:txBody>
      </p:sp>
      <p:sp>
        <p:nvSpPr>
          <p:cNvPr id="3" name="Content Placeholder 2">
            <a:extLst>
              <a:ext uri="{FF2B5EF4-FFF2-40B4-BE49-F238E27FC236}">
                <a16:creationId xmlns:a16="http://schemas.microsoft.com/office/drawing/2014/main" id="{52FE91A9-BEEB-017D-C551-7450F6E8E617}"/>
              </a:ext>
            </a:extLst>
          </p:cNvPr>
          <p:cNvSpPr>
            <a:spLocks noGrp="1"/>
          </p:cNvSpPr>
          <p:nvPr>
            <p:ph idx="1"/>
          </p:nvPr>
        </p:nvSpPr>
        <p:spPr>
          <a:xfrm>
            <a:off x="508000" y="2160590"/>
            <a:ext cx="3915323" cy="3701270"/>
          </a:xfrm>
        </p:spPr>
        <p:txBody>
          <a:bodyPr>
            <a:normAutofit/>
          </a:bodyPr>
          <a:lstStyle/>
          <a:p>
            <a:pPr marL="0" indent="0">
              <a:buNone/>
            </a:pPr>
            <a:r>
              <a:rPr lang="en-US" dirty="0"/>
              <a:t>Timing can show:</a:t>
            </a:r>
          </a:p>
          <a:p>
            <a:pPr marL="0" indent="0">
              <a:buNone/>
            </a:pPr>
            <a:endParaRPr lang="en-US" dirty="0"/>
          </a:p>
          <a:p>
            <a:r>
              <a:rPr lang="en-US" dirty="0"/>
              <a:t>what happened in a run</a:t>
            </a:r>
          </a:p>
          <a:p>
            <a:r>
              <a:rPr lang="en-US" dirty="0"/>
              <a:t>on this machine</a:t>
            </a:r>
          </a:p>
          <a:p>
            <a:r>
              <a:rPr lang="en-US" dirty="0"/>
              <a:t>with this code</a:t>
            </a:r>
          </a:p>
          <a:p>
            <a:r>
              <a:rPr lang="en-US" dirty="0"/>
              <a:t>under these conditions</a:t>
            </a:r>
          </a:p>
        </p:txBody>
      </p:sp>
      <p:pic>
        <p:nvPicPr>
          <p:cNvPr id="7" name="Graphic 6" descr="History">
            <a:extLst>
              <a:ext uri="{FF2B5EF4-FFF2-40B4-BE49-F238E27FC236}">
                <a16:creationId xmlns:a16="http://schemas.microsoft.com/office/drawing/2014/main" id="{DEBE07BE-B65A-0286-A682-63737AD6FE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3520784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1000"/>
                                  </p:stCondLst>
                                  <p:childTnLst>
                                    <p:animRot by="-21600000">
                                      <p:cBhvr>
                                        <p:cTn id="6" dur="2000" fill="hold"/>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6963-8849-E008-A3F6-75384484B6BE}"/>
              </a:ext>
            </a:extLst>
          </p:cNvPr>
          <p:cNvSpPr>
            <a:spLocks noGrp="1"/>
          </p:cNvSpPr>
          <p:nvPr>
            <p:ph type="title"/>
          </p:nvPr>
        </p:nvSpPr>
        <p:spPr>
          <a:xfrm>
            <a:off x="4152550" y="609600"/>
            <a:ext cx="2802951" cy="1320800"/>
          </a:xfrm>
        </p:spPr>
        <p:txBody>
          <a:bodyPr>
            <a:normAutofit/>
          </a:bodyPr>
          <a:lstStyle/>
          <a:p>
            <a:r>
              <a:rPr lang="en-US" dirty="0"/>
              <a:t>Timing Can Be Noisy</a:t>
            </a:r>
          </a:p>
        </p:txBody>
      </p:sp>
      <p:sp>
        <p:nvSpPr>
          <p:cNvPr id="3" name="Content Placeholder 2">
            <a:extLst>
              <a:ext uri="{FF2B5EF4-FFF2-40B4-BE49-F238E27FC236}">
                <a16:creationId xmlns:a16="http://schemas.microsoft.com/office/drawing/2014/main" id="{015A569C-51B0-D8A2-D54D-E5370C2FF033}"/>
              </a:ext>
            </a:extLst>
          </p:cNvPr>
          <p:cNvSpPr>
            <a:spLocks noGrp="1"/>
          </p:cNvSpPr>
          <p:nvPr>
            <p:ph idx="1"/>
          </p:nvPr>
        </p:nvSpPr>
        <p:spPr>
          <a:xfrm>
            <a:off x="3907172" y="2160589"/>
            <a:ext cx="3290462" cy="3880773"/>
          </a:xfrm>
        </p:spPr>
        <p:txBody>
          <a:bodyPr>
            <a:normAutofit/>
          </a:bodyPr>
          <a:lstStyle/>
          <a:p>
            <a:pPr marL="0" indent="0">
              <a:buNone/>
            </a:pPr>
            <a:r>
              <a:rPr lang="en-US" dirty="0"/>
              <a:t>Timing can vary because of:</a:t>
            </a:r>
          </a:p>
          <a:p>
            <a:pPr marL="0" indent="0">
              <a:buNone/>
            </a:pPr>
            <a:endParaRPr lang="en-US" dirty="0"/>
          </a:p>
          <a:p>
            <a:r>
              <a:rPr lang="en-US" dirty="0"/>
              <a:t>background activity</a:t>
            </a:r>
          </a:p>
          <a:p>
            <a:r>
              <a:rPr lang="en-US" dirty="0"/>
              <a:t>hardware differences</a:t>
            </a:r>
          </a:p>
          <a:p>
            <a:r>
              <a:rPr lang="en-US" dirty="0"/>
              <a:t>setup code</a:t>
            </a:r>
          </a:p>
          <a:p>
            <a:r>
              <a:rPr lang="en-US" dirty="0"/>
              <a:t>number of trials</a:t>
            </a:r>
          </a:p>
          <a:p>
            <a:r>
              <a:rPr lang="en-US" dirty="0"/>
              <a:t>input construction</a:t>
            </a:r>
          </a:p>
          <a:p>
            <a:pPr marL="0" indent="0">
              <a:buNone/>
            </a:pPr>
            <a:endParaRPr lang="en-US" dirty="0"/>
          </a:p>
        </p:txBody>
      </p:sp>
      <p:pic>
        <p:nvPicPr>
          <p:cNvPr id="5" name="Picture 4" descr="Sunset silhouette of scaffolding in construction site">
            <a:extLst>
              <a:ext uri="{FF2B5EF4-FFF2-40B4-BE49-F238E27FC236}">
                <a16:creationId xmlns:a16="http://schemas.microsoft.com/office/drawing/2014/main" id="{2C7071CB-9EFA-DF9E-F921-72F918DCE9CC}"/>
              </a:ext>
            </a:extLst>
          </p:cNvPr>
          <p:cNvPicPr>
            <a:picLocks noChangeAspect="1"/>
          </p:cNvPicPr>
          <p:nvPr/>
        </p:nvPicPr>
        <p:blipFill>
          <a:blip r:embed="rId3"/>
          <a:srcRect l="34420" r="26197"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4" name="Isosceles Triangle 13">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503406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olorful math learning objects">
            <a:extLst>
              <a:ext uri="{FF2B5EF4-FFF2-40B4-BE49-F238E27FC236}">
                <a16:creationId xmlns:a16="http://schemas.microsoft.com/office/drawing/2014/main" id="{7720DF39-A8A0-1558-26F5-7EB891D55910}"/>
              </a:ext>
            </a:extLst>
          </p:cNvPr>
          <p:cNvPicPr>
            <a:picLocks noChangeAspect="1"/>
          </p:cNvPicPr>
          <p:nvPr/>
        </p:nvPicPr>
        <p:blipFill>
          <a:blip r:embed="rId3"/>
          <a:srcRect l="14712" r="27456"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E7CE914E-7B47-5543-5A15-73B3C4F160BA}"/>
              </a:ext>
            </a:extLst>
          </p:cNvPr>
          <p:cNvSpPr>
            <a:spLocks noGrp="1"/>
          </p:cNvSpPr>
          <p:nvPr>
            <p:ph type="title"/>
          </p:nvPr>
        </p:nvSpPr>
        <p:spPr>
          <a:xfrm>
            <a:off x="507999" y="609600"/>
            <a:ext cx="2888343" cy="1320800"/>
          </a:xfrm>
        </p:spPr>
        <p:txBody>
          <a:bodyPr>
            <a:normAutofit/>
          </a:bodyPr>
          <a:lstStyle/>
          <a:p>
            <a:pPr>
              <a:lnSpc>
                <a:spcPct val="90000"/>
              </a:lnSpc>
            </a:pPr>
            <a:r>
              <a:rPr lang="en-US" sz="2800"/>
              <a:t>Big-O Is Pattern Language</a:t>
            </a:r>
          </a:p>
        </p:txBody>
      </p:sp>
      <p:sp>
        <p:nvSpPr>
          <p:cNvPr id="3" name="Content Placeholder 2">
            <a:extLst>
              <a:ext uri="{FF2B5EF4-FFF2-40B4-BE49-F238E27FC236}">
                <a16:creationId xmlns:a16="http://schemas.microsoft.com/office/drawing/2014/main" id="{62F7AF5F-F2EE-C72C-1B96-3C7742134C0E}"/>
              </a:ext>
            </a:extLst>
          </p:cNvPr>
          <p:cNvSpPr>
            <a:spLocks noGrp="1"/>
          </p:cNvSpPr>
          <p:nvPr>
            <p:ph idx="1"/>
          </p:nvPr>
        </p:nvSpPr>
        <p:spPr>
          <a:xfrm>
            <a:off x="508000" y="2160589"/>
            <a:ext cx="2888342" cy="3880773"/>
          </a:xfrm>
        </p:spPr>
        <p:txBody>
          <a:bodyPr>
            <a:normAutofit/>
          </a:bodyPr>
          <a:lstStyle/>
          <a:p>
            <a:pPr marL="0" indent="0">
              <a:buNone/>
            </a:pPr>
            <a:r>
              <a:rPr lang="en-US" dirty="0"/>
              <a:t>Big-O describes growth behavior.</a:t>
            </a:r>
          </a:p>
          <a:p>
            <a:pPr marL="0" indent="0">
              <a:buNone/>
            </a:pPr>
            <a:endParaRPr lang="en-US" dirty="0"/>
          </a:p>
          <a:p>
            <a:pPr marL="0" indent="0">
              <a:buNone/>
            </a:pPr>
            <a:r>
              <a:rPr lang="en-US" dirty="0"/>
              <a:t>It does not mean:</a:t>
            </a:r>
          </a:p>
          <a:p>
            <a:r>
              <a:rPr lang="en-US" dirty="0"/>
              <a:t>exact seconds</a:t>
            </a:r>
          </a:p>
          <a:p>
            <a:r>
              <a:rPr lang="en-US" dirty="0"/>
              <a:t>one timing result</a:t>
            </a:r>
          </a:p>
          <a:p>
            <a:r>
              <a:rPr lang="en-US" dirty="0"/>
              <a:t>every machine behaves identically</a:t>
            </a:r>
          </a:p>
        </p:txBody>
      </p:sp>
      <p:cxnSp>
        <p:nvCxnSpPr>
          <p:cNvPr id="17" name="Straight Connector 16">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85153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8B1E-6D28-31A7-E990-7D387076388C}"/>
              </a:ext>
            </a:extLst>
          </p:cNvPr>
          <p:cNvSpPr>
            <a:spLocks noGrp="1"/>
          </p:cNvSpPr>
          <p:nvPr>
            <p:ph type="title"/>
          </p:nvPr>
        </p:nvSpPr>
        <p:spPr>
          <a:xfrm>
            <a:off x="4152550" y="609600"/>
            <a:ext cx="2802951" cy="1320800"/>
          </a:xfrm>
        </p:spPr>
        <p:txBody>
          <a:bodyPr>
            <a:normAutofit/>
          </a:bodyPr>
          <a:lstStyle/>
          <a:p>
            <a:r>
              <a:rPr lang="en-US"/>
              <a:t>What Counts As Work?</a:t>
            </a:r>
            <a:endParaRPr lang="en-US" dirty="0"/>
          </a:p>
        </p:txBody>
      </p:sp>
      <p:sp>
        <p:nvSpPr>
          <p:cNvPr id="26" name="Content Placeholder 2">
            <a:extLst>
              <a:ext uri="{FF2B5EF4-FFF2-40B4-BE49-F238E27FC236}">
                <a16:creationId xmlns:a16="http://schemas.microsoft.com/office/drawing/2014/main" id="{F90B43B4-C914-8A2F-0B40-251140A84C29}"/>
              </a:ext>
            </a:extLst>
          </p:cNvPr>
          <p:cNvSpPr>
            <a:spLocks noGrp="1"/>
          </p:cNvSpPr>
          <p:nvPr>
            <p:ph idx="1"/>
          </p:nvPr>
        </p:nvSpPr>
        <p:spPr>
          <a:xfrm>
            <a:off x="3907172" y="2160589"/>
            <a:ext cx="3048329" cy="3880773"/>
          </a:xfrm>
        </p:spPr>
        <p:txBody>
          <a:bodyPr>
            <a:normAutofit/>
          </a:bodyPr>
          <a:lstStyle/>
          <a:p>
            <a:pPr marL="0" indent="0">
              <a:buNone/>
            </a:pPr>
            <a:r>
              <a:rPr lang="en-US"/>
              <a:t>Work may include:</a:t>
            </a:r>
          </a:p>
          <a:p>
            <a:pPr marL="0" indent="0">
              <a:buNone/>
            </a:pPr>
            <a:endParaRPr lang="en-US"/>
          </a:p>
          <a:p>
            <a:r>
              <a:rPr lang="en-US"/>
              <a:t>comparisons</a:t>
            </a:r>
          </a:p>
          <a:p>
            <a:r>
              <a:rPr lang="en-US"/>
              <a:t>loop iterations</a:t>
            </a:r>
          </a:p>
          <a:p>
            <a:r>
              <a:rPr lang="en-US"/>
              <a:t>lookups</a:t>
            </a:r>
          </a:p>
          <a:p>
            <a:r>
              <a:rPr lang="en-US"/>
              <a:t>calculations</a:t>
            </a:r>
          </a:p>
          <a:p>
            <a:r>
              <a:rPr lang="en-US"/>
              <a:t>recursive calls</a:t>
            </a:r>
          </a:p>
          <a:p>
            <a:r>
              <a:rPr lang="en-US"/>
              <a:t>memory writes</a:t>
            </a:r>
          </a:p>
        </p:txBody>
      </p:sp>
      <p:pic>
        <p:nvPicPr>
          <p:cNvPr id="5" name="Picture 4" descr="Calculator and folders">
            <a:extLst>
              <a:ext uri="{FF2B5EF4-FFF2-40B4-BE49-F238E27FC236}">
                <a16:creationId xmlns:a16="http://schemas.microsoft.com/office/drawing/2014/main" id="{474BB752-4EA0-E4F3-619A-008A40B2560A}"/>
              </a:ext>
            </a:extLst>
          </p:cNvPr>
          <p:cNvPicPr>
            <a:picLocks noChangeAspect="1"/>
          </p:cNvPicPr>
          <p:nvPr/>
        </p:nvPicPr>
        <p:blipFill>
          <a:blip r:embed="rId3"/>
          <a:srcRect l="19123" r="40462" b="-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803487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network formed by white dots">
            <a:extLst>
              <a:ext uri="{FF2B5EF4-FFF2-40B4-BE49-F238E27FC236}">
                <a16:creationId xmlns:a16="http://schemas.microsoft.com/office/drawing/2014/main" id="{7E4C607A-70D5-EBA2-6866-4B1E160FE035}"/>
              </a:ext>
            </a:extLst>
          </p:cNvPr>
          <p:cNvPicPr>
            <a:picLocks noChangeAspect="1"/>
          </p:cNvPicPr>
          <p:nvPr/>
        </p:nvPicPr>
        <p:blipFill>
          <a:blip r:embed="rId3"/>
          <a:srcRect l="33289" r="-1" b="-1"/>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4D59018B-FFF1-CFA2-C2B3-B1889ECF3601}"/>
              </a:ext>
            </a:extLst>
          </p:cNvPr>
          <p:cNvSpPr>
            <a:spLocks noGrp="1"/>
          </p:cNvSpPr>
          <p:nvPr>
            <p:ph type="title"/>
          </p:nvPr>
        </p:nvSpPr>
        <p:spPr>
          <a:xfrm>
            <a:off x="507999" y="609600"/>
            <a:ext cx="2888343" cy="1320800"/>
          </a:xfrm>
        </p:spPr>
        <p:txBody>
          <a:bodyPr>
            <a:normAutofit/>
          </a:bodyPr>
          <a:lstStyle/>
          <a:p>
            <a:r>
              <a:rPr lang="en-US" sz="3300"/>
              <a:t>Space And Time Tradeoff</a:t>
            </a:r>
          </a:p>
        </p:txBody>
      </p:sp>
      <p:sp>
        <p:nvSpPr>
          <p:cNvPr id="3" name="Content Placeholder 2">
            <a:extLst>
              <a:ext uri="{FF2B5EF4-FFF2-40B4-BE49-F238E27FC236}">
                <a16:creationId xmlns:a16="http://schemas.microsoft.com/office/drawing/2014/main" id="{561AE186-DBAA-5BE6-0BB3-60CAF0B5FAAD}"/>
              </a:ext>
            </a:extLst>
          </p:cNvPr>
          <p:cNvSpPr>
            <a:spLocks noGrp="1"/>
          </p:cNvSpPr>
          <p:nvPr>
            <p:ph idx="1"/>
          </p:nvPr>
        </p:nvSpPr>
        <p:spPr>
          <a:xfrm>
            <a:off x="508000" y="2160589"/>
            <a:ext cx="2888342" cy="3880773"/>
          </a:xfrm>
        </p:spPr>
        <p:txBody>
          <a:bodyPr>
            <a:normAutofit/>
          </a:bodyPr>
          <a:lstStyle/>
          <a:p>
            <a:pPr marL="0" indent="0">
              <a:buNone/>
            </a:pPr>
            <a:r>
              <a:rPr lang="en-US" dirty="0"/>
              <a:t>Sometimes an approach uses more memory to save time.</a:t>
            </a:r>
          </a:p>
          <a:p>
            <a:pPr marL="0" indent="0">
              <a:buNone/>
            </a:pPr>
            <a:endParaRPr lang="en-US" dirty="0"/>
          </a:p>
          <a:p>
            <a:pPr marL="0" indent="0">
              <a:buNone/>
            </a:pPr>
            <a:r>
              <a:rPr lang="en-US" dirty="0"/>
              <a:t>Example:</a:t>
            </a:r>
          </a:p>
          <a:p>
            <a:r>
              <a:rPr lang="en-US" dirty="0"/>
              <a:t>list scanning: less structure, more repeated checking</a:t>
            </a:r>
          </a:p>
          <a:p>
            <a:r>
              <a:rPr lang="en-US" dirty="0"/>
              <a:t>set lookup: extra structure, faster membership checks</a:t>
            </a:r>
          </a:p>
        </p:txBody>
      </p:sp>
      <p:cxnSp>
        <p:nvCxnSpPr>
          <p:cNvPr id="14" name="Straight Connector 13">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55035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ircuit board">
            <a:extLst>
              <a:ext uri="{FF2B5EF4-FFF2-40B4-BE49-F238E27FC236}">
                <a16:creationId xmlns:a16="http://schemas.microsoft.com/office/drawing/2014/main" id="{C6EED4FD-86A9-9B80-B6E0-13FB59334E77}"/>
              </a:ext>
            </a:extLst>
          </p:cNvPr>
          <p:cNvPicPr>
            <a:picLocks noChangeAspect="1"/>
          </p:cNvPicPr>
          <p:nvPr/>
        </p:nvPicPr>
        <p:blipFill>
          <a:blip r:embed="rId3"/>
          <a:srcRect l="33002" r="9166"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73EBB7D5-BB97-0DCF-5789-FE187BBC74C9}"/>
              </a:ext>
            </a:extLst>
          </p:cNvPr>
          <p:cNvSpPr>
            <a:spLocks noGrp="1"/>
          </p:cNvSpPr>
          <p:nvPr>
            <p:ph type="title"/>
          </p:nvPr>
        </p:nvSpPr>
        <p:spPr>
          <a:xfrm>
            <a:off x="507999" y="609600"/>
            <a:ext cx="2888343" cy="1320800"/>
          </a:xfrm>
        </p:spPr>
        <p:txBody>
          <a:bodyPr>
            <a:normAutofit/>
          </a:bodyPr>
          <a:lstStyle/>
          <a:p>
            <a:r>
              <a:rPr lang="en-US" dirty="0"/>
              <a:t>CPU, GPU, And Memory</a:t>
            </a:r>
          </a:p>
        </p:txBody>
      </p:sp>
      <p:sp>
        <p:nvSpPr>
          <p:cNvPr id="3" name="Content Placeholder 2">
            <a:extLst>
              <a:ext uri="{FF2B5EF4-FFF2-40B4-BE49-F238E27FC236}">
                <a16:creationId xmlns:a16="http://schemas.microsoft.com/office/drawing/2014/main" id="{13B131B9-64A1-E943-63CA-D3E1F053CB46}"/>
              </a:ext>
            </a:extLst>
          </p:cNvPr>
          <p:cNvSpPr>
            <a:spLocks noGrp="1"/>
          </p:cNvSpPr>
          <p:nvPr>
            <p:ph idx="1"/>
          </p:nvPr>
        </p:nvSpPr>
        <p:spPr>
          <a:xfrm>
            <a:off x="508000" y="2160589"/>
            <a:ext cx="2888342" cy="3880773"/>
          </a:xfrm>
        </p:spPr>
        <p:txBody>
          <a:bodyPr>
            <a:normAutofit/>
          </a:bodyPr>
          <a:lstStyle/>
          <a:p>
            <a:pPr marL="0" indent="0">
              <a:buNone/>
            </a:pPr>
            <a:r>
              <a:rPr lang="en-US" dirty="0"/>
              <a:t>Algorithms use machine resources:</a:t>
            </a:r>
          </a:p>
          <a:p>
            <a:pPr marL="0" indent="0">
              <a:buNone/>
            </a:pPr>
            <a:endParaRPr lang="en-US" dirty="0"/>
          </a:p>
          <a:p>
            <a:r>
              <a:rPr lang="en-US" dirty="0"/>
              <a:t>CPU: general processing</a:t>
            </a:r>
          </a:p>
          <a:p>
            <a:r>
              <a:rPr lang="en-US" dirty="0"/>
              <a:t>GPU: many parallel operations</a:t>
            </a:r>
          </a:p>
          <a:p>
            <a:r>
              <a:rPr lang="en-US" dirty="0"/>
              <a:t>memory: stored data and working space</a:t>
            </a:r>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693984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B442627A-DA28-45A8-6C25-E5B1126ED323}"/>
              </a:ext>
            </a:extLst>
          </p:cNvPr>
          <p:cNvSpPr>
            <a:spLocks noGrp="1"/>
          </p:cNvSpPr>
          <p:nvPr>
            <p:ph type="title"/>
          </p:nvPr>
        </p:nvSpPr>
        <p:spPr>
          <a:xfrm>
            <a:off x="489360" y="1382486"/>
            <a:ext cx="2660686" cy="4093028"/>
          </a:xfrm>
        </p:spPr>
        <p:txBody>
          <a:bodyPr anchor="ctr">
            <a:normAutofit/>
          </a:bodyPr>
          <a:lstStyle/>
          <a:p>
            <a:r>
              <a:rPr lang="en-US" sz="3800"/>
              <a:t>Week 2 Practical Rule</a:t>
            </a:r>
          </a:p>
        </p:txBody>
      </p:sp>
      <p:sp>
        <p:nvSpPr>
          <p:cNvPr id="22" name="Rectangle 21">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F59CE35-53DA-0097-1AA2-E564BF1C7298}"/>
              </a:ext>
            </a:extLst>
          </p:cNvPr>
          <p:cNvGraphicFramePr>
            <a:graphicFrameLocks noGrp="1"/>
          </p:cNvGraphicFramePr>
          <p:nvPr>
            <p:ph idx="1"/>
            <p:extLst>
              <p:ext uri="{D42A27DB-BD31-4B8C-83A1-F6EECF244321}">
                <p14:modId xmlns:p14="http://schemas.microsoft.com/office/powerpoint/2010/main" val="2928110061"/>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30176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5" name="Straight Connector 14">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10" name="Picture 9" descr="Wood human figure">
            <a:extLst>
              <a:ext uri="{FF2B5EF4-FFF2-40B4-BE49-F238E27FC236}">
                <a16:creationId xmlns:a16="http://schemas.microsoft.com/office/drawing/2014/main" id="{DD6561B6-9559-F152-60BD-1C589A6F99A3}"/>
              </a:ext>
            </a:extLst>
          </p:cNvPr>
          <p:cNvPicPr>
            <a:picLocks noChangeAspect="1"/>
          </p:cNvPicPr>
          <p:nvPr/>
        </p:nvPicPr>
        <p:blipFill>
          <a:blip r:embed="rId2"/>
          <a:srcRect r="42168"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7" name="Title 6">
            <a:extLst>
              <a:ext uri="{FF2B5EF4-FFF2-40B4-BE49-F238E27FC236}">
                <a16:creationId xmlns:a16="http://schemas.microsoft.com/office/drawing/2014/main" id="{305277A7-6F48-4BBD-9AA7-165B50332AD8}"/>
              </a:ext>
            </a:extLst>
          </p:cNvPr>
          <p:cNvSpPr>
            <a:spLocks noGrp="1"/>
          </p:cNvSpPr>
          <p:nvPr>
            <p:ph type="title"/>
          </p:nvPr>
        </p:nvSpPr>
        <p:spPr>
          <a:xfrm>
            <a:off x="501650" y="1678666"/>
            <a:ext cx="3066142" cy="2369093"/>
          </a:xfrm>
        </p:spPr>
        <p:txBody>
          <a:bodyPr vert="horz" lIns="91440" tIns="45720" rIns="91440" bIns="45720" rtlCol="0" anchor="b">
            <a:normAutofit/>
          </a:bodyPr>
          <a:lstStyle/>
          <a:p>
            <a:pPr algn="r"/>
            <a:r>
              <a:rPr lang="en-US" sz="4200" dirty="0"/>
              <a:t>Big-O Vocabulary</a:t>
            </a:r>
          </a:p>
        </p:txBody>
      </p:sp>
      <p:sp>
        <p:nvSpPr>
          <p:cNvPr id="8" name="Text Placeholder 7">
            <a:extLst>
              <a:ext uri="{FF2B5EF4-FFF2-40B4-BE49-F238E27FC236}">
                <a16:creationId xmlns:a16="http://schemas.microsoft.com/office/drawing/2014/main" id="{2F93EC68-BFAF-5FCD-949A-43A005A1922D}"/>
              </a:ext>
            </a:extLst>
          </p:cNvPr>
          <p:cNvSpPr>
            <a:spLocks noGrp="1"/>
          </p:cNvSpPr>
          <p:nvPr>
            <p:ph type="body" idx="1"/>
          </p:nvPr>
        </p:nvSpPr>
        <p:spPr>
          <a:xfrm>
            <a:off x="508001" y="4050831"/>
            <a:ext cx="3059791" cy="1096901"/>
          </a:xfrm>
        </p:spPr>
        <p:txBody>
          <a:bodyPr vert="horz" lIns="91440" tIns="45720" rIns="91440" bIns="45720" rtlCol="0" anchor="t">
            <a:normAutofit/>
          </a:bodyPr>
          <a:lstStyle/>
          <a:p>
            <a:pPr algn="r"/>
            <a:r>
              <a:rPr lang="en-US" sz="1400"/>
              <a:t>Giving a label to growth behavior</a:t>
            </a:r>
          </a:p>
        </p:txBody>
      </p:sp>
      <p:cxnSp>
        <p:nvCxnSpPr>
          <p:cNvPr id="26" name="Straight Connector 25">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0"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94115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C1E6BC-5725-302E-3B3D-E777C1E9D18B}"/>
              </a:ext>
            </a:extLst>
          </p:cNvPr>
          <p:cNvSpPr>
            <a:spLocks noGrp="1"/>
          </p:cNvSpPr>
          <p:nvPr>
            <p:ph type="title"/>
          </p:nvPr>
        </p:nvSpPr>
        <p:spPr/>
        <p:txBody>
          <a:bodyPr/>
          <a:lstStyle/>
          <a:p>
            <a:r>
              <a:rPr lang="en-US" dirty="0"/>
              <a:t>Big-O Notation</a:t>
            </a:r>
          </a:p>
        </p:txBody>
      </p:sp>
      <p:sp>
        <p:nvSpPr>
          <p:cNvPr id="5" name="Content Placeholder 4">
            <a:extLst>
              <a:ext uri="{FF2B5EF4-FFF2-40B4-BE49-F238E27FC236}">
                <a16:creationId xmlns:a16="http://schemas.microsoft.com/office/drawing/2014/main" id="{40E4391B-69CE-A32B-0143-CC3409826DB0}"/>
              </a:ext>
            </a:extLst>
          </p:cNvPr>
          <p:cNvSpPr>
            <a:spLocks noGrp="1"/>
          </p:cNvSpPr>
          <p:nvPr>
            <p:ph idx="1"/>
          </p:nvPr>
        </p:nvSpPr>
        <p:spPr/>
        <p:txBody>
          <a:bodyPr/>
          <a:lstStyle/>
          <a:p>
            <a:pPr marL="0" indent="0">
              <a:buNone/>
            </a:pPr>
            <a:r>
              <a:rPr lang="pt-BR" dirty="0"/>
              <a:t>Big-O gives a label to growth behavior.</a:t>
            </a:r>
          </a:p>
          <a:p>
            <a:pPr marL="0" indent="0">
              <a:buNone/>
            </a:pPr>
            <a:endParaRPr lang="pt-BR" dirty="0"/>
          </a:p>
          <a:p>
            <a:pPr marL="0" indent="0">
              <a:buNone/>
            </a:pPr>
            <a:r>
              <a:rPr lang="pt-BR" dirty="0"/>
              <a:t>Examples:</a:t>
            </a:r>
          </a:p>
          <a:p>
            <a:r>
              <a:rPr lang="pt-BR" dirty="0"/>
              <a:t>O(1)			“O of one” or “constant time”</a:t>
            </a:r>
          </a:p>
          <a:p>
            <a:r>
              <a:rPr lang="pt-BR" dirty="0"/>
              <a:t>O(log n)		“O of log n” or “O of logarithmic time”</a:t>
            </a:r>
          </a:p>
          <a:p>
            <a:r>
              <a:rPr lang="pt-BR" dirty="0"/>
              <a:t>O(n)			“O of n” or “linear time”</a:t>
            </a:r>
          </a:p>
          <a:p>
            <a:r>
              <a:rPr lang="pt-BR" dirty="0"/>
              <a:t>O(n2)			“O of n squared”</a:t>
            </a:r>
          </a:p>
          <a:p>
            <a:r>
              <a:rPr lang="pt-BR" dirty="0"/>
              <a:t>O(n log n)		“linearithmic (lin-ear-ith-mic)”</a:t>
            </a:r>
            <a:endParaRPr lang="en-US" dirty="0"/>
          </a:p>
        </p:txBody>
      </p:sp>
    </p:spTree>
    <p:extLst>
      <p:ext uri="{BB962C8B-B14F-4D97-AF65-F5344CB8AC3E}">
        <p14:creationId xmlns:p14="http://schemas.microsoft.com/office/powerpoint/2010/main" val="4129484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DFEAC7-76FE-0338-1DC8-6F17644FD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41960-CCD7-51E5-7C27-56674815812F}"/>
              </a:ext>
            </a:extLst>
          </p:cNvPr>
          <p:cNvSpPr>
            <a:spLocks noGrp="1"/>
          </p:cNvSpPr>
          <p:nvPr>
            <p:ph type="title"/>
          </p:nvPr>
        </p:nvSpPr>
        <p:spPr>
          <a:xfrm>
            <a:off x="4152550" y="609600"/>
            <a:ext cx="2802951" cy="1320800"/>
          </a:xfrm>
        </p:spPr>
        <p:txBody>
          <a:bodyPr>
            <a:normAutofit/>
          </a:bodyPr>
          <a:lstStyle/>
          <a:p>
            <a:r>
              <a:rPr lang="en-US"/>
              <a:t>Constant Time: O(1)</a:t>
            </a:r>
          </a:p>
        </p:txBody>
      </p:sp>
      <p:sp>
        <p:nvSpPr>
          <p:cNvPr id="3" name="Content Placeholder 2">
            <a:extLst>
              <a:ext uri="{FF2B5EF4-FFF2-40B4-BE49-F238E27FC236}">
                <a16:creationId xmlns:a16="http://schemas.microsoft.com/office/drawing/2014/main" id="{E4F4D289-8560-01C9-6534-21CB2D42F582}"/>
              </a:ext>
            </a:extLst>
          </p:cNvPr>
          <p:cNvSpPr>
            <a:spLocks noGrp="1"/>
          </p:cNvSpPr>
          <p:nvPr>
            <p:ph idx="1"/>
          </p:nvPr>
        </p:nvSpPr>
        <p:spPr>
          <a:xfrm>
            <a:off x="3907172" y="2160589"/>
            <a:ext cx="3048329" cy="3880773"/>
          </a:xfrm>
        </p:spPr>
        <p:txBody>
          <a:bodyPr>
            <a:normAutofit/>
          </a:bodyPr>
          <a:lstStyle/>
          <a:p>
            <a:pPr marL="0" indent="0">
              <a:buNone/>
            </a:pPr>
            <a:r>
              <a:rPr lang="en-US" dirty="0"/>
              <a:t>O(1) means the work stays about the same as input grows.</a:t>
            </a:r>
          </a:p>
          <a:p>
            <a:pPr marL="0" indent="0">
              <a:buNone/>
            </a:pPr>
            <a:endParaRPr lang="en-US" dirty="0"/>
          </a:p>
          <a:p>
            <a:pPr marL="0" indent="0">
              <a:buNone/>
            </a:pPr>
            <a:r>
              <a:rPr lang="en-US" dirty="0"/>
              <a:t>Example idea:</a:t>
            </a:r>
          </a:p>
          <a:p>
            <a:r>
              <a:rPr lang="en-US" dirty="0"/>
              <a:t>get one known item</a:t>
            </a:r>
          </a:p>
          <a:p>
            <a:r>
              <a:rPr lang="en-US" dirty="0"/>
              <a:t>check one stored value</a:t>
            </a:r>
          </a:p>
          <a:p>
            <a:r>
              <a:rPr lang="en-US" dirty="0"/>
              <a:t>return a cached count</a:t>
            </a:r>
          </a:p>
        </p:txBody>
      </p:sp>
      <p:pic>
        <p:nvPicPr>
          <p:cNvPr id="5" name="Picture 4">
            <a:extLst>
              <a:ext uri="{FF2B5EF4-FFF2-40B4-BE49-F238E27FC236}">
                <a16:creationId xmlns:a16="http://schemas.microsoft.com/office/drawing/2014/main" id="{485984FA-E1F3-7E8B-0603-2531010399A8}"/>
              </a:ext>
            </a:extLst>
          </p:cNvPr>
          <p:cNvPicPr>
            <a:picLocks noChangeAspect="1"/>
          </p:cNvPicPr>
          <p:nvPr/>
        </p:nvPicPr>
        <p:blipFill>
          <a:blip r:embed="rId3"/>
          <a:srcRect l="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18499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8D06A0-20D5-1DE8-791E-D5648B46B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CFC85-659C-0287-4530-24590F19FAB9}"/>
              </a:ext>
            </a:extLst>
          </p:cNvPr>
          <p:cNvSpPr>
            <a:spLocks noGrp="1"/>
          </p:cNvSpPr>
          <p:nvPr>
            <p:ph type="title"/>
          </p:nvPr>
        </p:nvSpPr>
        <p:spPr>
          <a:xfrm>
            <a:off x="4152550" y="609600"/>
            <a:ext cx="2802951" cy="1320800"/>
          </a:xfrm>
        </p:spPr>
        <p:txBody>
          <a:bodyPr>
            <a:normAutofit/>
          </a:bodyPr>
          <a:lstStyle/>
          <a:p>
            <a:r>
              <a:rPr lang="en-US"/>
              <a:t>Linear Time: O(n)</a:t>
            </a:r>
          </a:p>
        </p:txBody>
      </p:sp>
      <p:sp>
        <p:nvSpPr>
          <p:cNvPr id="3" name="Content Placeholder 2">
            <a:extLst>
              <a:ext uri="{FF2B5EF4-FFF2-40B4-BE49-F238E27FC236}">
                <a16:creationId xmlns:a16="http://schemas.microsoft.com/office/drawing/2014/main" id="{63DCD1E7-0100-6CF3-698B-9D9EC322086D}"/>
              </a:ext>
            </a:extLst>
          </p:cNvPr>
          <p:cNvSpPr>
            <a:spLocks noGrp="1"/>
          </p:cNvSpPr>
          <p:nvPr>
            <p:ph idx="1"/>
          </p:nvPr>
        </p:nvSpPr>
        <p:spPr>
          <a:xfrm>
            <a:off x="3907172" y="2160589"/>
            <a:ext cx="3048329" cy="3880773"/>
          </a:xfrm>
        </p:spPr>
        <p:txBody>
          <a:bodyPr>
            <a:normAutofit/>
          </a:bodyPr>
          <a:lstStyle/>
          <a:p>
            <a:pPr marL="0" indent="0">
              <a:buNone/>
            </a:pPr>
            <a:r>
              <a:rPr lang="en-US" dirty="0"/>
              <a:t>O(n) means work grows with the input size.</a:t>
            </a:r>
          </a:p>
          <a:p>
            <a:pPr marL="0" indent="0">
              <a:buNone/>
            </a:pPr>
            <a:endParaRPr lang="en-US" dirty="0"/>
          </a:p>
          <a:p>
            <a:pPr marL="0" indent="0">
              <a:buNone/>
            </a:pPr>
            <a:r>
              <a:rPr lang="en-US" dirty="0"/>
              <a:t>Example idea:</a:t>
            </a:r>
          </a:p>
          <a:p>
            <a:r>
              <a:rPr lang="en-US" dirty="0"/>
              <a:t>look at each item once</a:t>
            </a:r>
          </a:p>
          <a:p>
            <a:r>
              <a:rPr lang="en-US" dirty="0"/>
              <a:t>count matching records</a:t>
            </a:r>
          </a:p>
          <a:p>
            <a:r>
              <a:rPr lang="en-US" dirty="0"/>
              <a:t>find a maximum with one pass</a:t>
            </a:r>
          </a:p>
        </p:txBody>
      </p:sp>
      <p:pic>
        <p:nvPicPr>
          <p:cNvPr id="5" name="Picture 4">
            <a:extLst>
              <a:ext uri="{FF2B5EF4-FFF2-40B4-BE49-F238E27FC236}">
                <a16:creationId xmlns:a16="http://schemas.microsoft.com/office/drawing/2014/main" id="{70F868D5-A777-67F9-168F-74D66F550E30}"/>
              </a:ext>
            </a:extLst>
          </p:cNvPr>
          <p:cNvPicPr>
            <a:picLocks noChangeAspect="1"/>
          </p:cNvPicPr>
          <p:nvPr/>
        </p:nvPicPr>
        <p:blipFill>
          <a:blip r:embed="rId3"/>
          <a:srcRect l="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4912121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FDC701-F0DE-6CC5-B355-DCA07A317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DDAAD-9A64-05E5-5806-5B6D4E9BC2B7}"/>
              </a:ext>
            </a:extLst>
          </p:cNvPr>
          <p:cNvSpPr>
            <a:spLocks noGrp="1"/>
          </p:cNvSpPr>
          <p:nvPr>
            <p:ph type="title"/>
          </p:nvPr>
        </p:nvSpPr>
        <p:spPr>
          <a:xfrm>
            <a:off x="4152550" y="609600"/>
            <a:ext cx="2802951" cy="1320800"/>
          </a:xfrm>
        </p:spPr>
        <p:txBody>
          <a:bodyPr>
            <a:normAutofit/>
          </a:bodyPr>
          <a:lstStyle/>
          <a:p>
            <a:r>
              <a:rPr lang="en-US"/>
              <a:t>Quadratic Time: O(n2)</a:t>
            </a:r>
          </a:p>
        </p:txBody>
      </p:sp>
      <p:sp>
        <p:nvSpPr>
          <p:cNvPr id="3" name="Content Placeholder 2">
            <a:extLst>
              <a:ext uri="{FF2B5EF4-FFF2-40B4-BE49-F238E27FC236}">
                <a16:creationId xmlns:a16="http://schemas.microsoft.com/office/drawing/2014/main" id="{8E1667A3-BA2F-4CD0-29B7-ADBD806CC63C}"/>
              </a:ext>
            </a:extLst>
          </p:cNvPr>
          <p:cNvSpPr>
            <a:spLocks noGrp="1"/>
          </p:cNvSpPr>
          <p:nvPr>
            <p:ph idx="1"/>
          </p:nvPr>
        </p:nvSpPr>
        <p:spPr>
          <a:xfrm>
            <a:off x="3907172" y="2160589"/>
            <a:ext cx="3048329" cy="3880773"/>
          </a:xfrm>
        </p:spPr>
        <p:txBody>
          <a:bodyPr>
            <a:normAutofit/>
          </a:bodyPr>
          <a:lstStyle/>
          <a:p>
            <a:pPr marL="0" indent="0">
              <a:buNone/>
            </a:pPr>
            <a:r>
              <a:rPr lang="en-US" dirty="0"/>
              <a:t>O(n2) often appears when work is nested.</a:t>
            </a:r>
          </a:p>
          <a:p>
            <a:pPr marL="0" indent="0">
              <a:buNone/>
            </a:pPr>
            <a:endParaRPr lang="en-US" dirty="0"/>
          </a:p>
          <a:p>
            <a:pPr marL="0" indent="0">
              <a:buNone/>
            </a:pPr>
            <a:r>
              <a:rPr lang="en-US" dirty="0"/>
              <a:t>Example idea:</a:t>
            </a:r>
          </a:p>
          <a:p>
            <a:r>
              <a:rPr lang="en-US" dirty="0"/>
              <a:t>compare each item to every other item</a:t>
            </a:r>
          </a:p>
          <a:p>
            <a:r>
              <a:rPr lang="en-US" dirty="0"/>
              <a:t>check many possible pairs</a:t>
            </a:r>
          </a:p>
          <a:p>
            <a:r>
              <a:rPr lang="en-US" dirty="0"/>
              <a:t>nested loops over the same input</a:t>
            </a:r>
          </a:p>
        </p:txBody>
      </p:sp>
      <p:pic>
        <p:nvPicPr>
          <p:cNvPr id="5" name="Picture 4">
            <a:extLst>
              <a:ext uri="{FF2B5EF4-FFF2-40B4-BE49-F238E27FC236}">
                <a16:creationId xmlns:a16="http://schemas.microsoft.com/office/drawing/2014/main" id="{3C33F290-EEE0-27A2-6240-A31E2C065608}"/>
              </a:ext>
            </a:extLst>
          </p:cNvPr>
          <p:cNvPicPr>
            <a:picLocks noChangeAspect="1"/>
          </p:cNvPicPr>
          <p:nvPr/>
        </p:nvPicPr>
        <p:blipFill>
          <a:blip r:embed="rId3"/>
          <a:srcRect l="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1134260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DA11BF-2E81-F0B9-D869-1B750439A8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6A8F0-1102-FB62-8EAC-9017E4A17AF8}"/>
              </a:ext>
            </a:extLst>
          </p:cNvPr>
          <p:cNvSpPr>
            <a:spLocks noGrp="1"/>
          </p:cNvSpPr>
          <p:nvPr>
            <p:ph type="title"/>
          </p:nvPr>
        </p:nvSpPr>
        <p:spPr>
          <a:xfrm>
            <a:off x="4152550" y="609600"/>
            <a:ext cx="2802951" cy="1320800"/>
          </a:xfrm>
        </p:spPr>
        <p:txBody>
          <a:bodyPr>
            <a:normAutofit/>
          </a:bodyPr>
          <a:lstStyle/>
          <a:p>
            <a:pPr>
              <a:lnSpc>
                <a:spcPct val="90000"/>
              </a:lnSpc>
            </a:pPr>
            <a:r>
              <a:rPr lang="pt-BR" sz="3100"/>
              <a:t>Logarithmic Time: O(log n)</a:t>
            </a:r>
            <a:endParaRPr lang="en-US" sz="3100"/>
          </a:p>
        </p:txBody>
      </p:sp>
      <p:sp>
        <p:nvSpPr>
          <p:cNvPr id="3" name="Content Placeholder 2">
            <a:extLst>
              <a:ext uri="{FF2B5EF4-FFF2-40B4-BE49-F238E27FC236}">
                <a16:creationId xmlns:a16="http://schemas.microsoft.com/office/drawing/2014/main" id="{BF5DA6A7-4FD8-F0FD-1F76-5FD7CD011B42}"/>
              </a:ext>
            </a:extLst>
          </p:cNvPr>
          <p:cNvSpPr>
            <a:spLocks noGrp="1"/>
          </p:cNvSpPr>
          <p:nvPr>
            <p:ph idx="1"/>
          </p:nvPr>
        </p:nvSpPr>
        <p:spPr>
          <a:xfrm>
            <a:off x="3907172" y="2160589"/>
            <a:ext cx="3048329" cy="3880773"/>
          </a:xfrm>
        </p:spPr>
        <p:txBody>
          <a:bodyPr>
            <a:normAutofit/>
          </a:bodyPr>
          <a:lstStyle/>
          <a:p>
            <a:pPr marL="0" indent="0">
              <a:buNone/>
            </a:pPr>
            <a:r>
              <a:rPr lang="en-US" dirty="0"/>
              <a:t>O(log n) often appears when the search space is repeatedly divided.</a:t>
            </a:r>
          </a:p>
          <a:p>
            <a:pPr marL="0" indent="0">
              <a:buNone/>
            </a:pPr>
            <a:endParaRPr lang="en-US" dirty="0"/>
          </a:p>
          <a:p>
            <a:pPr marL="0" indent="0">
              <a:buNone/>
            </a:pPr>
            <a:r>
              <a:rPr lang="en-US" dirty="0"/>
              <a:t>Example idea:</a:t>
            </a:r>
          </a:p>
          <a:p>
            <a:r>
              <a:rPr lang="en-US" dirty="0"/>
              <a:t>binary search</a:t>
            </a:r>
          </a:p>
          <a:p>
            <a:r>
              <a:rPr lang="en-US" dirty="0"/>
              <a:t>cut the remaining possibilities in half</a:t>
            </a:r>
          </a:p>
          <a:p>
            <a:r>
              <a:rPr lang="en-US" dirty="0"/>
              <a:t>stop when the target is found</a:t>
            </a:r>
          </a:p>
        </p:txBody>
      </p:sp>
      <p:pic>
        <p:nvPicPr>
          <p:cNvPr id="5" name="Picture 4">
            <a:extLst>
              <a:ext uri="{FF2B5EF4-FFF2-40B4-BE49-F238E27FC236}">
                <a16:creationId xmlns:a16="http://schemas.microsoft.com/office/drawing/2014/main" id="{30E9F452-52CC-BCCD-A5CD-59D33262D7AD}"/>
              </a:ext>
            </a:extLst>
          </p:cNvPr>
          <p:cNvPicPr>
            <a:picLocks noChangeAspect="1"/>
          </p:cNvPicPr>
          <p:nvPr/>
        </p:nvPicPr>
        <p:blipFill>
          <a:blip r:embed="rId3"/>
          <a:srcRect l="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4" name="Isosceles Triangle 23">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90430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B1D91-23FE-8390-50FF-4B247CFE531E}"/>
              </a:ext>
            </a:extLst>
          </p:cNvPr>
          <p:cNvSpPr>
            <a:spLocks noGrp="1"/>
          </p:cNvSpPr>
          <p:nvPr>
            <p:ph type="title"/>
          </p:nvPr>
        </p:nvSpPr>
        <p:spPr/>
        <p:txBody>
          <a:bodyPr/>
          <a:lstStyle/>
          <a:p>
            <a:r>
              <a:rPr lang="en-US" dirty="0"/>
              <a:t>Growth Shape Comparison</a:t>
            </a:r>
          </a:p>
        </p:txBody>
      </p:sp>
      <p:pic>
        <p:nvPicPr>
          <p:cNvPr id="5" name="Content Placeholder 4">
            <a:extLst>
              <a:ext uri="{FF2B5EF4-FFF2-40B4-BE49-F238E27FC236}">
                <a16:creationId xmlns:a16="http://schemas.microsoft.com/office/drawing/2014/main" id="{03EB9935-0BAB-412E-C62D-CF1762FA19DE}"/>
              </a:ext>
            </a:extLst>
          </p:cNvPr>
          <p:cNvPicPr>
            <a:picLocks noGrp="1" noChangeAspect="1"/>
          </p:cNvPicPr>
          <p:nvPr>
            <p:ph idx="1"/>
          </p:nvPr>
        </p:nvPicPr>
        <p:blipFill>
          <a:blip r:embed="rId3"/>
          <a:stretch>
            <a:fillRect/>
          </a:stretch>
        </p:blipFill>
        <p:spPr>
          <a:xfrm>
            <a:off x="742100" y="1690325"/>
            <a:ext cx="5822155" cy="3881437"/>
          </a:xfrm>
          <a:prstGeom prst="rect">
            <a:avLst/>
          </a:prstGeom>
          <a:ln>
            <a:solidFill>
              <a:schemeClr val="accent1"/>
            </a:solidFill>
          </a:ln>
        </p:spPr>
      </p:pic>
    </p:spTree>
    <p:extLst>
      <p:ext uri="{BB962C8B-B14F-4D97-AF65-F5344CB8AC3E}">
        <p14:creationId xmlns:p14="http://schemas.microsoft.com/office/powerpoint/2010/main" val="31121085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ED47CE-6BEB-F570-CDC5-1397E6336702}"/>
              </a:ext>
            </a:extLst>
          </p:cNvPr>
          <p:cNvSpPr>
            <a:spLocks noGrp="1"/>
          </p:cNvSpPr>
          <p:nvPr>
            <p:ph type="title"/>
          </p:nvPr>
        </p:nvSpPr>
        <p:spPr>
          <a:xfrm>
            <a:off x="965199" y="609600"/>
            <a:ext cx="7648121" cy="1099457"/>
          </a:xfrm>
        </p:spPr>
        <p:txBody>
          <a:bodyPr>
            <a:normAutofit/>
          </a:bodyPr>
          <a:lstStyle/>
          <a:p>
            <a:r>
              <a:rPr lang="en-US"/>
              <a:t>Rule 1: Sequential Structure</a:t>
            </a:r>
            <a:endParaRPr lang="en-US" dirty="0"/>
          </a:p>
        </p:txBody>
      </p:sp>
      <p:sp>
        <p:nvSpPr>
          <p:cNvPr id="11" name="Isosceles Triangle 10">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E10C9B2D-7E26-5667-3C71-50385282DA47}"/>
              </a:ext>
            </a:extLst>
          </p:cNvPr>
          <p:cNvGraphicFramePr>
            <a:graphicFrameLocks noGrp="1"/>
          </p:cNvGraphicFramePr>
          <p:nvPr>
            <p:ph idx="1"/>
            <p:extLst>
              <p:ext uri="{D42A27DB-BD31-4B8C-83A1-F6EECF244321}">
                <p14:modId xmlns:p14="http://schemas.microsoft.com/office/powerpoint/2010/main" val="2345582551"/>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046719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D687-8E20-8F91-9730-102A446DA0DF}"/>
              </a:ext>
            </a:extLst>
          </p:cNvPr>
          <p:cNvSpPr>
            <a:spLocks noGrp="1"/>
          </p:cNvSpPr>
          <p:nvPr>
            <p:ph type="title"/>
          </p:nvPr>
        </p:nvSpPr>
        <p:spPr>
          <a:xfrm>
            <a:off x="3261842" y="609600"/>
            <a:ext cx="3693658" cy="1320800"/>
          </a:xfrm>
        </p:spPr>
        <p:txBody>
          <a:bodyPr anchor="ctr">
            <a:normAutofit fontScale="90000"/>
          </a:bodyPr>
          <a:lstStyle/>
          <a:p>
            <a:r>
              <a:rPr lang="en-US" dirty="0"/>
              <a:t>Rule 2: </a:t>
            </a:r>
            <a:br>
              <a:rPr lang="en-US" dirty="0"/>
            </a:br>
            <a:r>
              <a:rPr lang="en-US" dirty="0"/>
              <a:t>Divided Structure</a:t>
            </a:r>
          </a:p>
        </p:txBody>
      </p:sp>
      <p:pic>
        <p:nvPicPr>
          <p:cNvPr id="7" name="Graphic 6" descr="Pie chart with solid fill">
            <a:extLst>
              <a:ext uri="{FF2B5EF4-FFF2-40B4-BE49-F238E27FC236}">
                <a16:creationId xmlns:a16="http://schemas.microsoft.com/office/drawing/2014/main" id="{24AE5809-02ED-657C-3F3B-AA71ECBD1F5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99860" y="2133089"/>
            <a:ext cx="2438776" cy="2438776"/>
          </a:xfrm>
          <a:prstGeom prst="rect">
            <a:avLst/>
          </a:prstGeom>
        </p:spPr>
      </p:pic>
      <p:graphicFrame>
        <p:nvGraphicFramePr>
          <p:cNvPr id="9" name="Content Placeholder 2">
            <a:extLst>
              <a:ext uri="{FF2B5EF4-FFF2-40B4-BE49-F238E27FC236}">
                <a16:creationId xmlns:a16="http://schemas.microsoft.com/office/drawing/2014/main" id="{AA68EA44-ECF0-366B-C6CC-F1A1B71B8C16}"/>
              </a:ext>
            </a:extLst>
          </p:cNvPr>
          <p:cNvGraphicFramePr>
            <a:graphicFrameLocks noGrp="1"/>
          </p:cNvGraphicFramePr>
          <p:nvPr>
            <p:ph idx="1"/>
            <p:extLst>
              <p:ext uri="{D42A27DB-BD31-4B8C-83A1-F6EECF244321}">
                <p14:modId xmlns:p14="http://schemas.microsoft.com/office/powerpoint/2010/main" val="586263006"/>
              </p:ext>
            </p:extLst>
          </p:nvPr>
        </p:nvGraphicFramePr>
        <p:xfrm>
          <a:off x="3261842" y="2160590"/>
          <a:ext cx="3691407" cy="37396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367577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006E11-C9B8-D858-158B-8653C754AD1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4CEC29E-E7D7-E893-8198-EF7EB0AD108F}"/>
              </a:ext>
            </a:extLst>
          </p:cNvPr>
          <p:cNvPicPr>
            <a:picLocks noChangeAspect="1"/>
          </p:cNvPicPr>
          <p:nvPr/>
        </p:nvPicPr>
        <p:blipFill>
          <a:blip r:embed="rId3"/>
          <a:srcRect t="19381" b="12230"/>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5F5071D5-FC15-DFF1-6A3A-579F27982B04}"/>
              </a:ext>
            </a:extLst>
          </p:cNvPr>
          <p:cNvSpPr>
            <a:spLocks noGrp="1"/>
          </p:cNvSpPr>
          <p:nvPr>
            <p:ph type="title"/>
          </p:nvPr>
        </p:nvSpPr>
        <p:spPr>
          <a:xfrm>
            <a:off x="507999" y="609600"/>
            <a:ext cx="2888343" cy="1320800"/>
          </a:xfrm>
        </p:spPr>
        <p:txBody>
          <a:bodyPr>
            <a:normAutofit/>
          </a:bodyPr>
          <a:lstStyle/>
          <a:p>
            <a:pPr>
              <a:lnSpc>
                <a:spcPct val="90000"/>
              </a:lnSpc>
            </a:pPr>
            <a:r>
              <a:rPr lang="en-US" sz="2500" dirty="0"/>
              <a:t>Rules 3 &amp; 4: Recursion and Nested Recursion</a:t>
            </a:r>
          </a:p>
        </p:txBody>
      </p:sp>
      <p:sp>
        <p:nvSpPr>
          <p:cNvPr id="3" name="Content Placeholder 2">
            <a:extLst>
              <a:ext uri="{FF2B5EF4-FFF2-40B4-BE49-F238E27FC236}">
                <a16:creationId xmlns:a16="http://schemas.microsoft.com/office/drawing/2014/main" id="{83B35584-F1BA-98C6-0A15-900BC16DCCB0}"/>
              </a:ext>
            </a:extLst>
          </p:cNvPr>
          <p:cNvSpPr>
            <a:spLocks noGrp="1"/>
          </p:cNvSpPr>
          <p:nvPr>
            <p:ph idx="1"/>
          </p:nvPr>
        </p:nvSpPr>
        <p:spPr>
          <a:xfrm>
            <a:off x="508000" y="2160589"/>
            <a:ext cx="2888342" cy="3880773"/>
          </a:xfrm>
        </p:spPr>
        <p:txBody>
          <a:bodyPr>
            <a:normAutofit/>
          </a:bodyPr>
          <a:lstStyle/>
          <a:p>
            <a:pPr marL="0" indent="0">
              <a:buNone/>
            </a:pPr>
            <a:r>
              <a:rPr lang="en-US" dirty="0"/>
              <a:t>Recursion:</a:t>
            </a:r>
          </a:p>
          <a:p>
            <a:r>
              <a:rPr lang="en-US" dirty="0"/>
              <a:t>a function calls itself</a:t>
            </a:r>
          </a:p>
          <a:p>
            <a:pPr marL="0" indent="0">
              <a:buNone/>
            </a:pPr>
            <a:endParaRPr lang="en-US" dirty="0"/>
          </a:p>
          <a:p>
            <a:pPr marL="0" indent="0">
              <a:buNone/>
            </a:pPr>
            <a:r>
              <a:rPr lang="en-US" dirty="0"/>
              <a:t>Nested recursion:</a:t>
            </a:r>
          </a:p>
          <a:p>
            <a:r>
              <a:rPr lang="en-US" dirty="0"/>
              <a:t>recursive work happens inside more recursive work</a:t>
            </a:r>
          </a:p>
        </p:txBody>
      </p:sp>
      <p:cxnSp>
        <p:nvCxnSpPr>
          <p:cNvPr id="13" name="Straight Connector 12">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2703204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F3060-0B9F-2D93-54A2-628C765C488B}"/>
              </a:ext>
            </a:extLst>
          </p:cNvPr>
          <p:cNvSpPr>
            <a:spLocks noGrp="1"/>
          </p:cNvSpPr>
          <p:nvPr>
            <p:ph type="title"/>
          </p:nvPr>
        </p:nvSpPr>
        <p:spPr>
          <a:xfrm>
            <a:off x="4152550" y="609600"/>
            <a:ext cx="2802951" cy="1320800"/>
          </a:xfrm>
        </p:spPr>
        <p:txBody>
          <a:bodyPr>
            <a:normAutofit/>
          </a:bodyPr>
          <a:lstStyle/>
          <a:p>
            <a:pPr>
              <a:lnSpc>
                <a:spcPct val="90000"/>
              </a:lnSpc>
            </a:pPr>
            <a:r>
              <a:rPr lang="en-US" sz="2800" dirty="0"/>
              <a:t>Rule 5: </a:t>
            </a:r>
            <a:br>
              <a:rPr lang="en-US" sz="2800" dirty="0"/>
            </a:br>
            <a:r>
              <a:rPr lang="en-US" sz="2800" dirty="0"/>
              <a:t>Ignore Constant Multiples</a:t>
            </a:r>
          </a:p>
        </p:txBody>
      </p:sp>
      <p:sp>
        <p:nvSpPr>
          <p:cNvPr id="3" name="Content Placeholder 2">
            <a:extLst>
              <a:ext uri="{FF2B5EF4-FFF2-40B4-BE49-F238E27FC236}">
                <a16:creationId xmlns:a16="http://schemas.microsoft.com/office/drawing/2014/main" id="{052C6BF0-3F9D-7F14-3DDB-655B0843B5D5}"/>
              </a:ext>
            </a:extLst>
          </p:cNvPr>
          <p:cNvSpPr>
            <a:spLocks noGrp="1"/>
          </p:cNvSpPr>
          <p:nvPr>
            <p:ph idx="1"/>
          </p:nvPr>
        </p:nvSpPr>
        <p:spPr>
          <a:xfrm>
            <a:off x="3907172" y="2160589"/>
            <a:ext cx="3048329" cy="3880773"/>
          </a:xfrm>
        </p:spPr>
        <p:txBody>
          <a:bodyPr>
            <a:normAutofit/>
          </a:bodyPr>
          <a:lstStyle/>
          <a:p>
            <a:pPr marL="0" indent="0">
              <a:buNone/>
            </a:pPr>
            <a:r>
              <a:rPr lang="en-US" dirty="0"/>
              <a:t>Big-O focuses on growth shape.</a:t>
            </a:r>
          </a:p>
          <a:p>
            <a:pPr marL="0" indent="0">
              <a:buNone/>
            </a:pPr>
            <a:r>
              <a:rPr lang="en-US" dirty="0"/>
              <a:t>For basic analysis, constant multiples are usually ignored.</a:t>
            </a:r>
          </a:p>
          <a:p>
            <a:pPr marL="0" indent="0">
              <a:buNone/>
            </a:pPr>
            <a:r>
              <a:rPr lang="en-US" dirty="0"/>
              <a:t>Example:</a:t>
            </a:r>
          </a:p>
          <a:p>
            <a:r>
              <a:rPr lang="en-US" dirty="0"/>
              <a:t>3n still grows like n</a:t>
            </a:r>
          </a:p>
          <a:p>
            <a:r>
              <a:rPr lang="en-US" dirty="0"/>
              <a:t>100n still grows like n</a:t>
            </a:r>
          </a:p>
        </p:txBody>
      </p:sp>
      <p:pic>
        <p:nvPicPr>
          <p:cNvPr id="5" name="Picture 4" descr="Plant sprouting from the ground">
            <a:extLst>
              <a:ext uri="{FF2B5EF4-FFF2-40B4-BE49-F238E27FC236}">
                <a16:creationId xmlns:a16="http://schemas.microsoft.com/office/drawing/2014/main" id="{DB9E23C1-B809-ACDE-3990-5421742D107D}"/>
              </a:ext>
            </a:extLst>
          </p:cNvPr>
          <p:cNvPicPr>
            <a:picLocks noChangeAspect="1"/>
          </p:cNvPicPr>
          <p:nvPr/>
        </p:nvPicPr>
        <p:blipFill>
          <a:blip r:embed="rId3"/>
          <a:srcRect l="36866" r="23751"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6" name="Isosceles Triangle 35">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030855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E1F10-6E33-DCEC-4DAC-07B36EC5908F}"/>
              </a:ext>
            </a:extLst>
          </p:cNvPr>
          <p:cNvSpPr>
            <a:spLocks noGrp="1"/>
          </p:cNvSpPr>
          <p:nvPr>
            <p:ph type="title"/>
          </p:nvPr>
        </p:nvSpPr>
        <p:spPr/>
        <p:txBody>
          <a:bodyPr/>
          <a:lstStyle/>
          <a:p>
            <a:r>
              <a:rPr lang="en-US" dirty="0"/>
              <a:t>Timing Evidence vs Big-O Reasoning</a:t>
            </a:r>
          </a:p>
        </p:txBody>
      </p:sp>
      <p:sp>
        <p:nvSpPr>
          <p:cNvPr id="3" name="Content Placeholder 2">
            <a:extLst>
              <a:ext uri="{FF2B5EF4-FFF2-40B4-BE49-F238E27FC236}">
                <a16:creationId xmlns:a16="http://schemas.microsoft.com/office/drawing/2014/main" id="{D3B7446E-8E64-95E6-B5E4-68B643CC9023}"/>
              </a:ext>
            </a:extLst>
          </p:cNvPr>
          <p:cNvSpPr>
            <a:spLocks noGrp="1"/>
          </p:cNvSpPr>
          <p:nvPr>
            <p:ph idx="1"/>
          </p:nvPr>
        </p:nvSpPr>
        <p:spPr/>
        <p:txBody>
          <a:bodyPr/>
          <a:lstStyle/>
          <a:p>
            <a:pPr marL="0" indent="0">
              <a:buNone/>
            </a:pPr>
            <a:r>
              <a:rPr lang="en-US" dirty="0"/>
              <a:t>Timing asks:</a:t>
            </a:r>
          </a:p>
          <a:p>
            <a:r>
              <a:rPr lang="en-US" dirty="0"/>
              <a:t>What happened in this experiment?</a:t>
            </a:r>
          </a:p>
          <a:p>
            <a:pPr marL="0" indent="0">
              <a:buNone/>
            </a:pPr>
            <a:endParaRPr lang="en-US" dirty="0"/>
          </a:p>
          <a:p>
            <a:pPr marL="0" indent="0">
              <a:buNone/>
            </a:pPr>
            <a:r>
              <a:rPr lang="en-US" dirty="0"/>
              <a:t>Big-O asks:</a:t>
            </a:r>
          </a:p>
          <a:p>
            <a:r>
              <a:rPr lang="en-US" dirty="0"/>
              <a:t>What growth pattern should we expect?</a:t>
            </a:r>
          </a:p>
          <a:p>
            <a:pPr marL="0" indent="0">
              <a:buNone/>
            </a:pPr>
            <a:endParaRPr lang="en-US" dirty="0"/>
          </a:p>
          <a:p>
            <a:pPr marL="0" indent="0">
              <a:buNone/>
            </a:pPr>
            <a:r>
              <a:rPr lang="en-US" dirty="0"/>
              <a:t>Use both carefully.</a:t>
            </a:r>
          </a:p>
        </p:txBody>
      </p:sp>
    </p:spTree>
    <p:extLst>
      <p:ext uri="{BB962C8B-B14F-4D97-AF65-F5344CB8AC3E}">
        <p14:creationId xmlns:p14="http://schemas.microsoft.com/office/powerpoint/2010/main" val="2489427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6" name="Picture 5" descr="An early morning coffee with bread and a newspaper on top of the table">
            <a:extLst>
              <a:ext uri="{FF2B5EF4-FFF2-40B4-BE49-F238E27FC236}">
                <a16:creationId xmlns:a16="http://schemas.microsoft.com/office/drawing/2014/main" id="{2CA68A41-59AC-F3FD-75C1-FCADEBC3CAC0}"/>
              </a:ext>
            </a:extLst>
          </p:cNvPr>
          <p:cNvPicPr>
            <a:picLocks noChangeAspect="1"/>
          </p:cNvPicPr>
          <p:nvPr/>
        </p:nvPicPr>
        <p:blipFill>
          <a:blip r:embed="rId3"/>
          <a:srcRect l="27073" r="33544"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63908760-A3AD-E66A-3E04-035F758D74CE}"/>
              </a:ext>
            </a:extLst>
          </p:cNvPr>
          <p:cNvSpPr>
            <a:spLocks noGrp="1"/>
          </p:cNvSpPr>
          <p:nvPr>
            <p:ph type="title"/>
          </p:nvPr>
        </p:nvSpPr>
        <p:spPr>
          <a:xfrm>
            <a:off x="4035422" y="1678665"/>
            <a:ext cx="2915879" cy="2372168"/>
          </a:xfrm>
        </p:spPr>
        <p:txBody>
          <a:bodyPr vert="horz" lIns="91440" tIns="45720" rIns="91440" bIns="45720" rtlCol="0" anchor="b">
            <a:normAutofit/>
          </a:bodyPr>
          <a:lstStyle/>
          <a:p>
            <a:pPr algn="r"/>
            <a:r>
              <a:rPr lang="en-US" sz="5400"/>
              <a:t>Break</a:t>
            </a:r>
          </a:p>
        </p:txBody>
      </p:sp>
      <p:sp>
        <p:nvSpPr>
          <p:cNvPr id="4" name="Text Placeholder 3">
            <a:extLst>
              <a:ext uri="{FF2B5EF4-FFF2-40B4-BE49-F238E27FC236}">
                <a16:creationId xmlns:a16="http://schemas.microsoft.com/office/drawing/2014/main" id="{C9D4AA2D-3713-F440-C083-19BB24F18FEB}"/>
              </a:ext>
            </a:extLst>
          </p:cNvPr>
          <p:cNvSpPr>
            <a:spLocks noGrp="1"/>
          </p:cNvSpPr>
          <p:nvPr>
            <p:ph type="body" idx="1"/>
          </p:nvPr>
        </p:nvSpPr>
        <p:spPr>
          <a:xfrm>
            <a:off x="4035422" y="4050833"/>
            <a:ext cx="2920080" cy="1096899"/>
          </a:xfrm>
        </p:spPr>
        <p:txBody>
          <a:bodyPr vert="horz" lIns="91440" tIns="45720" rIns="91440" bIns="45720" rtlCol="0" anchor="t">
            <a:normAutofit/>
          </a:bodyPr>
          <a:lstStyle/>
          <a:p>
            <a:pPr algn="r"/>
            <a:r>
              <a:rPr lang="en-US" sz="1800" dirty="0"/>
              <a:t>10 Minute “Human” </a:t>
            </a:r>
            <a:br>
              <a:rPr lang="en-US" sz="1800" dirty="0"/>
            </a:br>
            <a:r>
              <a:rPr lang="en-US" sz="1800" dirty="0"/>
              <a:t>bio-break</a:t>
            </a:r>
          </a:p>
        </p:txBody>
      </p:sp>
    </p:spTree>
    <p:extLst>
      <p:ext uri="{BB962C8B-B14F-4D97-AF65-F5344CB8AC3E}">
        <p14:creationId xmlns:p14="http://schemas.microsoft.com/office/powerpoint/2010/main" val="1244407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 name="Straight Connector 11">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7" name="Picture 6" descr="Bubble sheet test paper and pencil">
            <a:extLst>
              <a:ext uri="{FF2B5EF4-FFF2-40B4-BE49-F238E27FC236}">
                <a16:creationId xmlns:a16="http://schemas.microsoft.com/office/drawing/2014/main" id="{D44CFC9D-0FE6-E190-3B71-A5DA0AC9113A}"/>
              </a:ext>
            </a:extLst>
          </p:cNvPr>
          <p:cNvPicPr>
            <a:picLocks noChangeAspect="1"/>
          </p:cNvPicPr>
          <p:nvPr/>
        </p:nvPicPr>
        <p:blipFill>
          <a:blip r:embed="rId3">
            <a:duotone>
              <a:prstClr val="black"/>
              <a:prstClr val="white"/>
            </a:duotone>
          </a:blip>
          <a:srcRect l="49512"/>
          <a:stretch>
            <a:fillRect/>
          </a:stretch>
        </p:blipFill>
        <p:spPr>
          <a:xfrm>
            <a:off x="3814762" y="-1"/>
            <a:ext cx="5326856" cy="6858001"/>
          </a:xfrm>
          <a:custGeom>
            <a:avLst/>
            <a:gdLst/>
            <a:ahLst/>
            <a:cxnLst/>
            <a:rect l="l" t="t" r="r" b="b"/>
            <a:pathLst>
              <a:path w="7102474" h="6858001">
                <a:moveTo>
                  <a:pt x="417180" y="0"/>
                </a:moveTo>
                <a:lnTo>
                  <a:pt x="7102474" y="0"/>
                </a:lnTo>
                <a:lnTo>
                  <a:pt x="7102474" y="6858001"/>
                </a:lnTo>
                <a:lnTo>
                  <a:pt x="65002" y="6858001"/>
                </a:lnTo>
                <a:lnTo>
                  <a:pt x="1840421" y="4521201"/>
                </a:lnTo>
                <a:close/>
                <a:moveTo>
                  <a:pt x="0" y="0"/>
                </a:moveTo>
                <a:lnTo>
                  <a:pt x="417180" y="0"/>
                </a:lnTo>
                <a:lnTo>
                  <a:pt x="0" y="447"/>
                </a:lnTo>
                <a:close/>
              </a:path>
            </a:pathLst>
          </a:custGeom>
        </p:spPr>
      </p:pic>
      <p:sp>
        <p:nvSpPr>
          <p:cNvPr id="4" name="Title 3">
            <a:extLst>
              <a:ext uri="{FF2B5EF4-FFF2-40B4-BE49-F238E27FC236}">
                <a16:creationId xmlns:a16="http://schemas.microsoft.com/office/drawing/2014/main" id="{52917625-2392-D641-AA18-A1D098DB5D14}"/>
              </a:ext>
            </a:extLst>
          </p:cNvPr>
          <p:cNvSpPr>
            <a:spLocks noGrp="1"/>
          </p:cNvSpPr>
          <p:nvPr>
            <p:ph type="title"/>
          </p:nvPr>
        </p:nvSpPr>
        <p:spPr>
          <a:xfrm>
            <a:off x="501649" y="1678666"/>
            <a:ext cx="3842636" cy="2369093"/>
          </a:xfrm>
        </p:spPr>
        <p:txBody>
          <a:bodyPr vert="horz" lIns="91440" tIns="45720" rIns="91440" bIns="45720" rtlCol="0" anchor="b">
            <a:normAutofit/>
          </a:bodyPr>
          <a:lstStyle/>
          <a:p>
            <a:pPr algn="r"/>
            <a:r>
              <a:rPr lang="en-US" sz="4200"/>
              <a:t>Estimating and Selecting</a:t>
            </a:r>
          </a:p>
        </p:txBody>
      </p:sp>
      <p:sp>
        <p:nvSpPr>
          <p:cNvPr id="5" name="Text Placeholder 4">
            <a:extLst>
              <a:ext uri="{FF2B5EF4-FFF2-40B4-BE49-F238E27FC236}">
                <a16:creationId xmlns:a16="http://schemas.microsoft.com/office/drawing/2014/main" id="{9CCDD97C-AF09-2C99-2B52-435871AD88D8}"/>
              </a:ext>
            </a:extLst>
          </p:cNvPr>
          <p:cNvSpPr>
            <a:spLocks noGrp="1"/>
          </p:cNvSpPr>
          <p:nvPr>
            <p:ph type="body" idx="1"/>
          </p:nvPr>
        </p:nvSpPr>
        <p:spPr>
          <a:xfrm>
            <a:off x="508001" y="4050831"/>
            <a:ext cx="3834913" cy="1096901"/>
          </a:xfrm>
        </p:spPr>
        <p:txBody>
          <a:bodyPr vert="horz" lIns="91440" tIns="45720" rIns="91440" bIns="45720" rtlCol="0" anchor="t">
            <a:normAutofit/>
          </a:bodyPr>
          <a:lstStyle/>
          <a:p>
            <a:pPr algn="r"/>
            <a:endParaRPr lang="en-US" sz="1400"/>
          </a:p>
        </p:txBody>
      </p:sp>
      <p:cxnSp>
        <p:nvCxnSpPr>
          <p:cNvPr id="23" name="Straight Connector 22">
            <a:extLst>
              <a:ext uri="{FF2B5EF4-FFF2-40B4-BE49-F238E27FC236}">
                <a16:creationId xmlns:a16="http://schemas.microsoft.com/office/drawing/2014/main" id="{A3D2D849-17D8-45A4-9FB8-B955CD22BD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A0A4A95-757B-4092-A077-CA7C3ADE49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2D2FAE71-B8B1-4745-A59A-A88D3FE48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5">
            <a:extLst>
              <a:ext uri="{FF2B5EF4-FFF2-40B4-BE49-F238E27FC236}">
                <a16:creationId xmlns:a16="http://schemas.microsoft.com/office/drawing/2014/main" id="{E4C67344-C816-4380-85F7-CCFD7F8BA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24">
            <a:extLst>
              <a:ext uri="{FF2B5EF4-FFF2-40B4-BE49-F238E27FC236}">
                <a16:creationId xmlns:a16="http://schemas.microsoft.com/office/drawing/2014/main" id="{5A0B04CD-E5BD-4922-BE66-2D5B3A0DEF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7">
            <a:extLst>
              <a:ext uri="{FF2B5EF4-FFF2-40B4-BE49-F238E27FC236}">
                <a16:creationId xmlns:a16="http://schemas.microsoft.com/office/drawing/2014/main" id="{CF4C9BE8-5C78-476D-9042-ECD8BE635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8">
            <a:extLst>
              <a:ext uri="{FF2B5EF4-FFF2-40B4-BE49-F238E27FC236}">
                <a16:creationId xmlns:a16="http://schemas.microsoft.com/office/drawing/2014/main" id="{7D6A31B3-BF49-4DB2-8306-DD2E4B889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9">
            <a:extLst>
              <a:ext uri="{FF2B5EF4-FFF2-40B4-BE49-F238E27FC236}">
                <a16:creationId xmlns:a16="http://schemas.microsoft.com/office/drawing/2014/main" id="{A903E87B-DD97-4095-B106-3218D6AF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Isosceles Triangle 29">
            <a:extLst>
              <a:ext uri="{FF2B5EF4-FFF2-40B4-BE49-F238E27FC236}">
                <a16:creationId xmlns:a16="http://schemas.microsoft.com/office/drawing/2014/main" id="{954CB26F-45F0-4288-A3B1-32535127B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461772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5A8B07-2F07-D4C3-9B54-B8CA93765FC0}"/>
              </a:ext>
            </a:extLst>
          </p:cNvPr>
          <p:cNvSpPr>
            <a:spLocks noGrp="1"/>
          </p:cNvSpPr>
          <p:nvPr>
            <p:ph type="title"/>
          </p:nvPr>
        </p:nvSpPr>
        <p:spPr>
          <a:xfrm>
            <a:off x="965199" y="609600"/>
            <a:ext cx="7648121" cy="1099457"/>
          </a:xfrm>
        </p:spPr>
        <p:txBody>
          <a:bodyPr>
            <a:normAutofit/>
          </a:bodyPr>
          <a:lstStyle/>
          <a:p>
            <a:r>
              <a:rPr lang="en-US" dirty="0"/>
              <a:t>Best, Worst, And Average Case</a:t>
            </a:r>
          </a:p>
        </p:txBody>
      </p:sp>
      <p:sp>
        <p:nvSpPr>
          <p:cNvPr id="11" name="Isosceles Triangle 10">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DF8D7B5F-E448-CAFA-E0C7-3B00FDD2099B}"/>
              </a:ext>
            </a:extLst>
          </p:cNvPr>
          <p:cNvGraphicFramePr>
            <a:graphicFrameLocks noGrp="1"/>
          </p:cNvGraphicFramePr>
          <p:nvPr>
            <p:ph idx="1"/>
            <p:extLst>
              <p:ext uri="{D42A27DB-BD31-4B8C-83A1-F6EECF244321}">
                <p14:modId xmlns:p14="http://schemas.microsoft.com/office/powerpoint/2010/main" val="51262425"/>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215688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A28F2-8428-19C5-58F8-C8D34D7A099A}"/>
              </a:ext>
            </a:extLst>
          </p:cNvPr>
          <p:cNvSpPr>
            <a:spLocks noGrp="1"/>
          </p:cNvSpPr>
          <p:nvPr>
            <p:ph type="title"/>
          </p:nvPr>
        </p:nvSpPr>
        <p:spPr>
          <a:xfrm>
            <a:off x="4152550" y="609600"/>
            <a:ext cx="2802951" cy="1320800"/>
          </a:xfrm>
        </p:spPr>
        <p:txBody>
          <a:bodyPr>
            <a:normAutofit/>
          </a:bodyPr>
          <a:lstStyle/>
          <a:p>
            <a:r>
              <a:rPr lang="en-US" dirty="0"/>
              <a:t>Why Case Matters</a:t>
            </a:r>
          </a:p>
        </p:txBody>
      </p:sp>
      <p:sp>
        <p:nvSpPr>
          <p:cNvPr id="3" name="Content Placeholder 2">
            <a:extLst>
              <a:ext uri="{FF2B5EF4-FFF2-40B4-BE49-F238E27FC236}">
                <a16:creationId xmlns:a16="http://schemas.microsoft.com/office/drawing/2014/main" id="{296B8442-C10D-9B29-94CA-E37FCD9B0CD9}"/>
              </a:ext>
            </a:extLst>
          </p:cNvPr>
          <p:cNvSpPr>
            <a:spLocks noGrp="1"/>
          </p:cNvSpPr>
          <p:nvPr>
            <p:ph idx="1"/>
          </p:nvPr>
        </p:nvSpPr>
        <p:spPr>
          <a:xfrm>
            <a:off x="3907172" y="2160589"/>
            <a:ext cx="3048329" cy="3880773"/>
          </a:xfrm>
        </p:spPr>
        <p:txBody>
          <a:bodyPr>
            <a:normAutofit/>
          </a:bodyPr>
          <a:lstStyle/>
          <a:p>
            <a:pPr marL="0" indent="0">
              <a:buNone/>
            </a:pPr>
            <a:r>
              <a:rPr lang="en-US" dirty="0"/>
              <a:t>The same algorithm may look different depending on:</a:t>
            </a:r>
          </a:p>
          <a:p>
            <a:r>
              <a:rPr lang="en-US" dirty="0"/>
              <a:t>Where the target appears</a:t>
            </a:r>
          </a:p>
          <a:p>
            <a:r>
              <a:rPr lang="en-US" dirty="0"/>
              <a:t>Whether the target exists</a:t>
            </a:r>
          </a:p>
          <a:p>
            <a:r>
              <a:rPr lang="en-US" dirty="0"/>
              <a:t>Whether input is already organized</a:t>
            </a:r>
          </a:p>
          <a:p>
            <a:r>
              <a:rPr lang="en-US" dirty="0"/>
              <a:t>Whether data has duplicates</a:t>
            </a:r>
          </a:p>
        </p:txBody>
      </p:sp>
      <p:pic>
        <p:nvPicPr>
          <p:cNvPr id="5" name="Picture 4" descr="White arrows going to the red target">
            <a:extLst>
              <a:ext uri="{FF2B5EF4-FFF2-40B4-BE49-F238E27FC236}">
                <a16:creationId xmlns:a16="http://schemas.microsoft.com/office/drawing/2014/main" id="{9EED04CA-2B1B-C28B-4D69-857616228C1C}"/>
              </a:ext>
            </a:extLst>
          </p:cNvPr>
          <p:cNvPicPr>
            <a:picLocks noChangeAspect="1"/>
          </p:cNvPicPr>
          <p:nvPr/>
        </p:nvPicPr>
        <p:blipFill>
          <a:blip r:embed="rId3"/>
          <a:srcRect l="48066" r="12551"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672439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F15FA0A2-262A-E2EB-3935-16F66B629789}"/>
              </a:ext>
            </a:extLst>
          </p:cNvPr>
          <p:cNvSpPr>
            <a:spLocks noGrp="1"/>
          </p:cNvSpPr>
          <p:nvPr>
            <p:ph type="title"/>
          </p:nvPr>
        </p:nvSpPr>
        <p:spPr>
          <a:xfrm>
            <a:off x="489360" y="1382486"/>
            <a:ext cx="2660686" cy="4093028"/>
          </a:xfrm>
        </p:spPr>
        <p:txBody>
          <a:bodyPr anchor="ctr">
            <a:normAutofit/>
          </a:bodyPr>
          <a:lstStyle/>
          <a:p>
            <a:r>
              <a:rPr lang="en-US" sz="3800"/>
              <a:t>Selecting An Algorithm</a:t>
            </a:r>
          </a:p>
        </p:txBody>
      </p:sp>
      <p:sp>
        <p:nvSpPr>
          <p:cNvPr id="22" name="Rectangle 21">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DCF09A4-5A24-CD2E-00B5-CEC8C604A438}"/>
              </a:ext>
            </a:extLst>
          </p:cNvPr>
          <p:cNvGraphicFramePr>
            <a:graphicFrameLocks noGrp="1"/>
          </p:cNvGraphicFramePr>
          <p:nvPr>
            <p:ph idx="1"/>
            <p:extLst>
              <p:ext uri="{D42A27DB-BD31-4B8C-83A1-F6EECF244321}">
                <p14:modId xmlns:p14="http://schemas.microsoft.com/office/powerpoint/2010/main" val="2393605105"/>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68119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4E866C3-E39A-13B6-B276-1008944B1240}"/>
              </a:ext>
            </a:extLst>
          </p:cNvPr>
          <p:cNvSpPr>
            <a:spLocks noGrp="1"/>
          </p:cNvSpPr>
          <p:nvPr>
            <p:ph type="title"/>
          </p:nvPr>
        </p:nvSpPr>
        <p:spPr>
          <a:xfrm>
            <a:off x="482600" y="816638"/>
            <a:ext cx="2525519" cy="5224724"/>
          </a:xfrm>
        </p:spPr>
        <p:txBody>
          <a:bodyPr anchor="ctr">
            <a:normAutofit/>
          </a:bodyPr>
          <a:lstStyle/>
          <a:p>
            <a:r>
              <a:rPr lang="en-US" dirty="0"/>
              <a:t>Validating Algorithms</a:t>
            </a:r>
          </a:p>
        </p:txBody>
      </p:sp>
      <p:sp>
        <p:nvSpPr>
          <p:cNvPr id="3" name="Content Placeholder 2">
            <a:extLst>
              <a:ext uri="{FF2B5EF4-FFF2-40B4-BE49-F238E27FC236}">
                <a16:creationId xmlns:a16="http://schemas.microsoft.com/office/drawing/2014/main" id="{79D3CAC6-6696-5F4D-7C09-D8EBBE07ED65}"/>
              </a:ext>
            </a:extLst>
          </p:cNvPr>
          <p:cNvSpPr>
            <a:spLocks noGrp="1"/>
          </p:cNvSpPr>
          <p:nvPr>
            <p:ph idx="1"/>
          </p:nvPr>
        </p:nvSpPr>
        <p:spPr>
          <a:xfrm>
            <a:off x="3490721" y="816638"/>
            <a:ext cx="3464779" cy="5224724"/>
          </a:xfrm>
        </p:spPr>
        <p:txBody>
          <a:bodyPr anchor="ctr">
            <a:normAutofit/>
          </a:bodyPr>
          <a:lstStyle/>
          <a:p>
            <a:pPr marL="0" indent="0">
              <a:buNone/>
            </a:pPr>
            <a:r>
              <a:rPr lang="en-US" dirty="0"/>
              <a:t>Validation depends on the algorithm type:</a:t>
            </a:r>
          </a:p>
          <a:p>
            <a:pPr marL="0" indent="0">
              <a:buNone/>
            </a:pPr>
            <a:endParaRPr lang="en-US" dirty="0"/>
          </a:p>
          <a:p>
            <a:r>
              <a:rPr lang="en-US" dirty="0"/>
              <a:t>Exact</a:t>
            </a:r>
          </a:p>
          <a:p>
            <a:r>
              <a:rPr lang="en-US" dirty="0"/>
              <a:t>Approximate</a:t>
            </a:r>
          </a:p>
          <a:p>
            <a:r>
              <a:rPr lang="en-US" dirty="0"/>
              <a:t>Randomized</a:t>
            </a:r>
          </a:p>
        </p:txBody>
      </p:sp>
    </p:spTree>
    <p:extLst>
      <p:ext uri="{BB962C8B-B14F-4D97-AF65-F5344CB8AC3E}">
        <p14:creationId xmlns:p14="http://schemas.microsoft.com/office/powerpoint/2010/main" val="23104554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C67C56F6-A468-1F92-9F77-846D5BF95A6B}"/>
              </a:ext>
            </a:extLst>
          </p:cNvPr>
          <p:cNvSpPr>
            <a:spLocks noGrp="1"/>
          </p:cNvSpPr>
          <p:nvPr>
            <p:ph type="title"/>
          </p:nvPr>
        </p:nvSpPr>
        <p:spPr>
          <a:xfrm>
            <a:off x="489360" y="1382486"/>
            <a:ext cx="2660686" cy="4093028"/>
          </a:xfrm>
        </p:spPr>
        <p:txBody>
          <a:bodyPr anchor="ctr">
            <a:normAutofit/>
          </a:bodyPr>
          <a:lstStyle/>
          <a:p>
            <a:r>
              <a:rPr lang="en-US" sz="3800"/>
              <a:t>What Evidence Does NOT Prove</a:t>
            </a:r>
          </a:p>
        </p:txBody>
      </p:sp>
      <p:sp>
        <p:nvSpPr>
          <p:cNvPr id="22" name="Rectangle 21">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8869078-AD0D-75B7-C750-D747D6A4C282}"/>
              </a:ext>
            </a:extLst>
          </p:cNvPr>
          <p:cNvGraphicFramePr>
            <a:graphicFrameLocks noGrp="1"/>
          </p:cNvGraphicFramePr>
          <p:nvPr>
            <p:ph idx="1"/>
            <p:extLst>
              <p:ext uri="{D42A27DB-BD31-4B8C-83A1-F6EECF244321}">
                <p14:modId xmlns:p14="http://schemas.microsoft.com/office/powerpoint/2010/main" val="4106661254"/>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3778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8369844-B327-4D49-98E4-827203ADF0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715249AA-E70E-4DAE-A265-2E3DE9D7C98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D16B149-ADB4-41B1-A60E-1A03588790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6" name="Rectangle 23">
              <a:extLst>
                <a:ext uri="{FF2B5EF4-FFF2-40B4-BE49-F238E27FC236}">
                  <a16:creationId xmlns:a16="http://schemas.microsoft.com/office/drawing/2014/main" id="{B53998E5-48EB-4528-87CF-792F41468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5">
              <a:extLst>
                <a:ext uri="{FF2B5EF4-FFF2-40B4-BE49-F238E27FC236}">
                  <a16:creationId xmlns:a16="http://schemas.microsoft.com/office/drawing/2014/main" id="{870554EF-7AD0-4B55-9FFF-38E8FA108D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37">
              <a:extLst>
                <a:ext uri="{FF2B5EF4-FFF2-40B4-BE49-F238E27FC236}">
                  <a16:creationId xmlns:a16="http://schemas.microsoft.com/office/drawing/2014/main" id="{2CB215DE-9630-439F-A0A9-1D96839C5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27">
              <a:extLst>
                <a:ext uri="{FF2B5EF4-FFF2-40B4-BE49-F238E27FC236}">
                  <a16:creationId xmlns:a16="http://schemas.microsoft.com/office/drawing/2014/main" id="{F73C83A3-9645-481D-A4C0-430939918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Rectangle 28">
              <a:extLst>
                <a:ext uri="{FF2B5EF4-FFF2-40B4-BE49-F238E27FC236}">
                  <a16:creationId xmlns:a16="http://schemas.microsoft.com/office/drawing/2014/main" id="{2FA98AB7-2E6E-4C28-BB73-33EA563644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Rectangle 29">
              <a:extLst>
                <a:ext uri="{FF2B5EF4-FFF2-40B4-BE49-F238E27FC236}">
                  <a16:creationId xmlns:a16="http://schemas.microsoft.com/office/drawing/2014/main" id="{C11A2791-813E-4B8A-BE6F-BF3F8979EA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Isosceles Triangle 41">
              <a:extLst>
                <a:ext uri="{FF2B5EF4-FFF2-40B4-BE49-F238E27FC236}">
                  <a16:creationId xmlns:a16="http://schemas.microsoft.com/office/drawing/2014/main" id="{6DFFDA6E-1AB0-456D-9AFE-6CA686043F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3" name="Isosceles Triangle 42">
              <a:extLst>
                <a:ext uri="{FF2B5EF4-FFF2-40B4-BE49-F238E27FC236}">
                  <a16:creationId xmlns:a16="http://schemas.microsoft.com/office/drawing/2014/main" id="{3E3E1654-1512-4D06-9969-80D50078FB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44" name="Rectangle 43">
            <a:extLst>
              <a:ext uri="{FF2B5EF4-FFF2-40B4-BE49-F238E27FC236}">
                <a16:creationId xmlns:a16="http://schemas.microsoft.com/office/drawing/2014/main" id="{4F57DB1C-6494-4CC4-A5E8-931957565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FFFB778B-5206-4BB0-A468-327E71367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Freeform: Shape 25">
            <a:extLst>
              <a:ext uri="{FF2B5EF4-FFF2-40B4-BE49-F238E27FC236}">
                <a16:creationId xmlns:a16="http://schemas.microsoft.com/office/drawing/2014/main" id="{E6C0471D-BE03-4D81-BDB5-D510BC0D8A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034" y="0"/>
            <a:ext cx="4078966" cy="6857999"/>
          </a:xfrm>
          <a:custGeom>
            <a:avLst/>
            <a:gdLst>
              <a:gd name="connsiteX0" fmla="*/ 0 w 5438621"/>
              <a:gd name="connsiteY0" fmla="*/ 0 h 6857999"/>
              <a:gd name="connsiteX1" fmla="*/ 573774 w 5438621"/>
              <a:gd name="connsiteY1" fmla="*/ 0 h 6857999"/>
              <a:gd name="connsiteX2" fmla="*/ 1182808 w 5438621"/>
              <a:gd name="connsiteY2" fmla="*/ 0 h 6857999"/>
              <a:gd name="connsiteX3" fmla="*/ 4537195 w 5438621"/>
              <a:gd name="connsiteY3" fmla="*/ 0 h 6857999"/>
              <a:gd name="connsiteX4" fmla="*/ 5187609 w 5438621"/>
              <a:gd name="connsiteY4" fmla="*/ 0 h 6857999"/>
              <a:gd name="connsiteX5" fmla="*/ 5438621 w 5438621"/>
              <a:gd name="connsiteY5" fmla="*/ 0 h 6857999"/>
              <a:gd name="connsiteX6" fmla="*/ 5438621 w 5438621"/>
              <a:gd name="connsiteY6" fmla="*/ 6857999 h 6857999"/>
              <a:gd name="connsiteX7" fmla="*/ 4802807 w 5438621"/>
              <a:gd name="connsiteY7" fmla="*/ 6857999 h 6857999"/>
              <a:gd name="connsiteX8" fmla="*/ 4537195 w 5438621"/>
              <a:gd name="connsiteY8" fmla="*/ 6857999 h 6857999"/>
              <a:gd name="connsiteX9" fmla="*/ 1182808 w 5438621"/>
              <a:gd name="connsiteY9" fmla="*/ 6857999 h 6857999"/>
              <a:gd name="connsiteX10" fmla="*/ 1049897 w 5438621"/>
              <a:gd name="connsiteY1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38621" h="6857999">
                <a:moveTo>
                  <a:pt x="0" y="0"/>
                </a:moveTo>
                <a:lnTo>
                  <a:pt x="573774" y="0"/>
                </a:lnTo>
                <a:lnTo>
                  <a:pt x="1182808" y="0"/>
                </a:lnTo>
                <a:lnTo>
                  <a:pt x="4537195" y="0"/>
                </a:lnTo>
                <a:lnTo>
                  <a:pt x="5187609" y="0"/>
                </a:lnTo>
                <a:lnTo>
                  <a:pt x="5438621" y="0"/>
                </a:lnTo>
                <a:lnTo>
                  <a:pt x="5438621" y="6857999"/>
                </a:lnTo>
                <a:lnTo>
                  <a:pt x="4802807" y="6857999"/>
                </a:lnTo>
                <a:lnTo>
                  <a:pt x="4537195" y="6857999"/>
                </a:lnTo>
                <a:lnTo>
                  <a:pt x="1182808" y="6857999"/>
                </a:lnTo>
                <a:lnTo>
                  <a:pt x="1049897" y="6857999"/>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6" name="Straight Connector 45">
            <a:extLst>
              <a:ext uri="{FF2B5EF4-FFF2-40B4-BE49-F238E27FC236}">
                <a16:creationId xmlns:a16="http://schemas.microsoft.com/office/drawing/2014/main" id="{22721A85-1EA4-4D87-97AB-0BB4AB78F9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08607" y="0"/>
            <a:ext cx="645472" cy="6857999"/>
          </a:xfrm>
          <a:prstGeom prst="line">
            <a:avLst/>
          </a:prstGeom>
          <a:ln w="15875" cap="sq">
            <a:solidFill>
              <a:schemeClr val="accent1"/>
            </a:solidFill>
            <a:beve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E5E836EB-03CD-4BA5-A751-21D2ACC283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090307" y="3483429"/>
            <a:ext cx="5053693" cy="3374570"/>
          </a:xfrm>
          <a:prstGeom prst="line">
            <a:avLst/>
          </a:prstGeom>
          <a:ln w="9525">
            <a:solidFill>
              <a:schemeClr val="accent1">
                <a:lumMod val="60000"/>
                <a:lumOff val="40000"/>
                <a:alpha val="80000"/>
              </a:schemeClr>
            </a:solidFill>
          </a:ln>
        </p:spPr>
        <p:style>
          <a:lnRef idx="2">
            <a:schemeClr val="accent1"/>
          </a:lnRef>
          <a:fillRef idx="0">
            <a:schemeClr val="accent1"/>
          </a:fillRef>
          <a:effectRef idx="1">
            <a:schemeClr val="accent1"/>
          </a:effectRef>
          <a:fontRef idx="minor">
            <a:schemeClr val="tx1"/>
          </a:fontRef>
        </p:style>
      </p:cxnSp>
      <p:sp>
        <p:nvSpPr>
          <p:cNvPr id="5" name="Text Placeholder 4">
            <a:extLst>
              <a:ext uri="{FF2B5EF4-FFF2-40B4-BE49-F238E27FC236}">
                <a16:creationId xmlns:a16="http://schemas.microsoft.com/office/drawing/2014/main" id="{9128F1B7-9001-BEF5-F521-0DB30C72C380}"/>
              </a:ext>
            </a:extLst>
          </p:cNvPr>
          <p:cNvSpPr>
            <a:spLocks noGrp="1"/>
          </p:cNvSpPr>
          <p:nvPr>
            <p:ph type="body" idx="1"/>
          </p:nvPr>
        </p:nvSpPr>
        <p:spPr>
          <a:xfrm>
            <a:off x="5650990" y="1892300"/>
            <a:ext cx="2569084" cy="3073400"/>
          </a:xfrm>
        </p:spPr>
        <p:txBody>
          <a:bodyPr vert="horz" lIns="91440" tIns="45720" rIns="91440" bIns="45720" rtlCol="0" anchor="ctr">
            <a:normAutofit/>
          </a:bodyPr>
          <a:lstStyle/>
          <a:p>
            <a:endParaRPr lang="en-US" sz="1700">
              <a:solidFill>
                <a:srgbClr val="FFFFFF"/>
              </a:solidFill>
            </a:endParaRPr>
          </a:p>
        </p:txBody>
      </p:sp>
      <p:sp>
        <p:nvSpPr>
          <p:cNvPr id="32" name="Isosceles Triangle 31">
            <a:extLst>
              <a:ext uri="{FF2B5EF4-FFF2-40B4-BE49-F238E27FC236}">
                <a16:creationId xmlns:a16="http://schemas.microsoft.com/office/drawing/2014/main" id="{A27691EB-14CF-4237-B5EB-C94B92677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512053" y="0"/>
            <a:ext cx="631947" cy="5666154"/>
          </a:xfrm>
          <a:prstGeom prst="triangle">
            <a:avLst>
              <a:gd name="adj" fmla="val 100000"/>
            </a:avLst>
          </a:prstGeom>
          <a:solidFill>
            <a:schemeClr val="accent2">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5B593E69-52B0-1B6C-0B2A-72735E545CE7}"/>
              </a:ext>
            </a:extLst>
          </p:cNvPr>
          <p:cNvSpPr>
            <a:spLocks noGrp="1"/>
          </p:cNvSpPr>
          <p:nvPr>
            <p:ph type="title"/>
          </p:nvPr>
        </p:nvSpPr>
        <p:spPr>
          <a:xfrm>
            <a:off x="622300" y="854529"/>
            <a:ext cx="4349749" cy="5148943"/>
          </a:xfrm>
        </p:spPr>
        <p:txBody>
          <a:bodyPr vert="horz" lIns="91440" tIns="45720" rIns="91440" bIns="45720" rtlCol="0" anchor="ctr">
            <a:normAutofit/>
          </a:bodyPr>
          <a:lstStyle/>
          <a:p>
            <a:pPr algn="r"/>
            <a:r>
              <a:rPr lang="en-US" sz="5200"/>
              <a:t>Explainability</a:t>
            </a:r>
          </a:p>
        </p:txBody>
      </p:sp>
    </p:spTree>
    <p:extLst>
      <p:ext uri="{BB962C8B-B14F-4D97-AF65-F5344CB8AC3E}">
        <p14:creationId xmlns:p14="http://schemas.microsoft.com/office/powerpoint/2010/main" val="18690426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016C7-ED8E-5F7C-D432-DA36E7C4F189}"/>
              </a:ext>
            </a:extLst>
          </p:cNvPr>
          <p:cNvSpPr>
            <a:spLocks noGrp="1"/>
          </p:cNvSpPr>
          <p:nvPr>
            <p:ph type="title"/>
          </p:nvPr>
        </p:nvSpPr>
        <p:spPr>
          <a:xfrm>
            <a:off x="2089535" y="609600"/>
            <a:ext cx="4865966" cy="1320800"/>
          </a:xfrm>
        </p:spPr>
        <p:txBody>
          <a:bodyPr>
            <a:normAutofit/>
          </a:bodyPr>
          <a:lstStyle/>
          <a:p>
            <a:r>
              <a:rPr lang="en-US" dirty="0"/>
              <a:t>Explainability</a:t>
            </a:r>
          </a:p>
        </p:txBody>
      </p:sp>
      <p:pic>
        <p:nvPicPr>
          <p:cNvPr id="5" name="Picture 4" descr="A calculus formula">
            <a:extLst>
              <a:ext uri="{FF2B5EF4-FFF2-40B4-BE49-F238E27FC236}">
                <a16:creationId xmlns:a16="http://schemas.microsoft.com/office/drawing/2014/main" id="{EB1FF5B0-1D07-6DC4-0541-9E7F56092739}"/>
              </a:ext>
            </a:extLst>
          </p:cNvPr>
          <p:cNvPicPr>
            <a:picLocks noChangeAspect="1"/>
          </p:cNvPicPr>
          <p:nvPr/>
        </p:nvPicPr>
        <p:blipFill>
          <a:blip r:embed="rId3">
            <a:duotone>
              <a:prstClr val="black"/>
              <a:schemeClr val="tx2">
                <a:tint val="45000"/>
                <a:satMod val="400000"/>
              </a:schemeClr>
            </a:duotone>
          </a:blip>
          <a:srcRect l="37025" r="43070" b="1"/>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9" name="Isosceles Triangle 8">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6984A276-2C56-9742-C89D-F971B59EAC15}"/>
              </a:ext>
            </a:extLst>
          </p:cNvPr>
          <p:cNvSpPr>
            <a:spLocks noGrp="1"/>
          </p:cNvSpPr>
          <p:nvPr>
            <p:ph idx="1"/>
          </p:nvPr>
        </p:nvSpPr>
        <p:spPr>
          <a:xfrm>
            <a:off x="2089535" y="2160589"/>
            <a:ext cx="4865966" cy="3880773"/>
          </a:xfrm>
        </p:spPr>
        <p:txBody>
          <a:bodyPr>
            <a:normAutofit/>
          </a:bodyPr>
          <a:lstStyle/>
          <a:p>
            <a:pPr marL="0" indent="0">
              <a:buNone/>
            </a:pPr>
            <a:r>
              <a:rPr lang="en-US" dirty="0"/>
              <a:t>Explainability means you can describe:</a:t>
            </a:r>
          </a:p>
          <a:p>
            <a:pPr marL="0" indent="0">
              <a:buNone/>
            </a:pPr>
            <a:endParaRPr lang="en-US" dirty="0"/>
          </a:p>
          <a:p>
            <a:r>
              <a:rPr lang="en-US" dirty="0"/>
              <a:t>What the algorithm does</a:t>
            </a:r>
          </a:p>
          <a:p>
            <a:r>
              <a:rPr lang="en-US" dirty="0"/>
              <a:t>Why the approach fits</a:t>
            </a:r>
          </a:p>
          <a:p>
            <a:r>
              <a:rPr lang="en-US" dirty="0"/>
              <a:t>What evidence supports it</a:t>
            </a:r>
          </a:p>
          <a:p>
            <a:r>
              <a:rPr lang="en-US" dirty="0"/>
              <a:t>What limits remain</a:t>
            </a:r>
          </a:p>
        </p:txBody>
      </p:sp>
    </p:spTree>
    <p:extLst>
      <p:ext uri="{BB962C8B-B14F-4D97-AF65-F5344CB8AC3E}">
        <p14:creationId xmlns:p14="http://schemas.microsoft.com/office/powerpoint/2010/main" val="21503920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05B16-5BF2-4EC4-A1CD-C47F4C45A2EF}"/>
              </a:ext>
            </a:extLst>
          </p:cNvPr>
          <p:cNvSpPr>
            <a:spLocks noGrp="1"/>
          </p:cNvSpPr>
          <p:nvPr>
            <p:ph type="title"/>
          </p:nvPr>
        </p:nvSpPr>
        <p:spPr>
          <a:xfrm>
            <a:off x="508000" y="609600"/>
            <a:ext cx="6447501" cy="1320800"/>
          </a:xfrm>
        </p:spPr>
        <p:txBody>
          <a:bodyPr anchor="t">
            <a:normAutofit/>
          </a:bodyPr>
          <a:lstStyle/>
          <a:p>
            <a:r>
              <a:rPr lang="en-US" dirty="0"/>
              <a:t>Good Growth Explanation</a:t>
            </a:r>
          </a:p>
        </p:txBody>
      </p:sp>
      <p:sp>
        <p:nvSpPr>
          <p:cNvPr id="3" name="Content Placeholder 2">
            <a:extLst>
              <a:ext uri="{FF2B5EF4-FFF2-40B4-BE49-F238E27FC236}">
                <a16:creationId xmlns:a16="http://schemas.microsoft.com/office/drawing/2014/main" id="{19CB8FAB-BC7F-95D4-C966-AC86423A4158}"/>
              </a:ext>
            </a:extLst>
          </p:cNvPr>
          <p:cNvSpPr>
            <a:spLocks noGrp="1"/>
          </p:cNvSpPr>
          <p:nvPr>
            <p:ph idx="1"/>
          </p:nvPr>
        </p:nvSpPr>
        <p:spPr>
          <a:xfrm>
            <a:off x="508000" y="2160590"/>
            <a:ext cx="3915323" cy="3701270"/>
          </a:xfrm>
        </p:spPr>
        <p:txBody>
          <a:bodyPr>
            <a:normAutofit/>
          </a:bodyPr>
          <a:lstStyle/>
          <a:p>
            <a:pPr marL="0" indent="0">
              <a:buNone/>
            </a:pPr>
            <a:r>
              <a:rPr lang="en-US" dirty="0"/>
              <a:t>A responsible explanation says:</a:t>
            </a:r>
          </a:p>
          <a:p>
            <a:pPr marL="0" indent="0">
              <a:buNone/>
            </a:pPr>
            <a:endParaRPr lang="en-US" dirty="0"/>
          </a:p>
          <a:p>
            <a:r>
              <a:rPr lang="en-US" dirty="0"/>
              <a:t>What changed</a:t>
            </a:r>
          </a:p>
          <a:p>
            <a:r>
              <a:rPr lang="en-US" dirty="0"/>
              <a:t>What evidence showed</a:t>
            </a:r>
          </a:p>
          <a:p>
            <a:r>
              <a:rPr lang="en-US" dirty="0"/>
              <a:t>What Big-O label likely fits</a:t>
            </a:r>
          </a:p>
          <a:p>
            <a:r>
              <a:rPr lang="en-US" dirty="0"/>
              <a:t>What the evidence does not prove</a:t>
            </a:r>
          </a:p>
        </p:txBody>
      </p:sp>
      <p:pic>
        <p:nvPicPr>
          <p:cNvPr id="7" name="Graphic 6" descr="Questions">
            <a:extLst>
              <a:ext uri="{FF2B5EF4-FFF2-40B4-BE49-F238E27FC236}">
                <a16:creationId xmlns:a16="http://schemas.microsoft.com/office/drawing/2014/main" id="{78C3A3D2-8D96-329A-CAC0-E21807452F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13935980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C5F68-CEFC-FB89-B2BF-24762AA93BE6}"/>
              </a:ext>
            </a:extLst>
          </p:cNvPr>
          <p:cNvSpPr>
            <a:spLocks noGrp="1"/>
          </p:cNvSpPr>
          <p:nvPr>
            <p:ph type="title"/>
          </p:nvPr>
        </p:nvSpPr>
        <p:spPr>
          <a:xfrm>
            <a:off x="508000" y="609600"/>
            <a:ext cx="6447501" cy="1320800"/>
          </a:xfrm>
        </p:spPr>
        <p:txBody>
          <a:bodyPr anchor="t">
            <a:normAutofit/>
          </a:bodyPr>
          <a:lstStyle/>
          <a:p>
            <a:r>
              <a:rPr lang="en-US" dirty="0"/>
              <a:t>Example</a:t>
            </a:r>
          </a:p>
        </p:txBody>
      </p:sp>
      <p:sp>
        <p:nvSpPr>
          <p:cNvPr id="3" name="Content Placeholder 2">
            <a:extLst>
              <a:ext uri="{FF2B5EF4-FFF2-40B4-BE49-F238E27FC236}">
                <a16:creationId xmlns:a16="http://schemas.microsoft.com/office/drawing/2014/main" id="{D42FA122-302B-386B-D698-F5CB68C16D2B}"/>
              </a:ext>
            </a:extLst>
          </p:cNvPr>
          <p:cNvSpPr>
            <a:spLocks noGrp="1"/>
          </p:cNvSpPr>
          <p:nvPr>
            <p:ph idx="1"/>
          </p:nvPr>
        </p:nvSpPr>
        <p:spPr>
          <a:xfrm>
            <a:off x="508000" y="2160590"/>
            <a:ext cx="3915323" cy="3701270"/>
          </a:xfrm>
        </p:spPr>
        <p:txBody>
          <a:bodyPr>
            <a:normAutofit/>
          </a:bodyPr>
          <a:lstStyle/>
          <a:p>
            <a:pPr marL="0" indent="0">
              <a:buNone/>
            </a:pPr>
            <a:r>
              <a:rPr lang="en-US" dirty="0"/>
              <a:t>"In my timing table, Approach A increased more as input size grew. This matches the idea of repeated scanning, so linear or worse growth may be involved. However, my timing results are limited by machine noise and only four input sizes."</a:t>
            </a:r>
          </a:p>
          <a:p>
            <a:pPr marL="0" indent="0">
              <a:buNone/>
            </a:pPr>
            <a:endParaRPr lang="en-US" dirty="0"/>
          </a:p>
        </p:txBody>
      </p:sp>
      <p:pic>
        <p:nvPicPr>
          <p:cNvPr id="7" name="Graphic 6" descr="Error">
            <a:extLst>
              <a:ext uri="{FF2B5EF4-FFF2-40B4-BE49-F238E27FC236}">
                <a16:creationId xmlns:a16="http://schemas.microsoft.com/office/drawing/2014/main" id="{D3521159-5F9B-55AF-CB73-4FC5CE1303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4181118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0EAD0D-5DF0-3C27-244F-69BE59250638}"/>
              </a:ext>
            </a:extLst>
          </p:cNvPr>
          <p:cNvSpPr>
            <a:spLocks noGrp="1"/>
          </p:cNvSpPr>
          <p:nvPr>
            <p:ph type="title"/>
          </p:nvPr>
        </p:nvSpPr>
        <p:spPr>
          <a:xfrm>
            <a:off x="965199" y="609600"/>
            <a:ext cx="7648121" cy="1099457"/>
          </a:xfrm>
        </p:spPr>
        <p:txBody>
          <a:bodyPr>
            <a:normAutofit/>
          </a:bodyPr>
          <a:lstStyle/>
          <a:p>
            <a:r>
              <a:rPr lang="en-US" dirty="0"/>
              <a:t>Demo Scenario</a:t>
            </a:r>
          </a:p>
        </p:txBody>
      </p:sp>
      <p:sp>
        <p:nvSpPr>
          <p:cNvPr id="21" name="Isosceles Triangle 20">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C82E2C4B-768E-D97F-9F33-8764314B38EF}"/>
              </a:ext>
            </a:extLst>
          </p:cNvPr>
          <p:cNvGraphicFramePr>
            <a:graphicFrameLocks noGrp="1"/>
          </p:cNvGraphicFramePr>
          <p:nvPr>
            <p:ph idx="1"/>
            <p:extLst>
              <p:ext uri="{D42A27DB-BD31-4B8C-83A1-F6EECF244321}">
                <p14:modId xmlns:p14="http://schemas.microsoft.com/office/powerpoint/2010/main" val="3757792911"/>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77947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A9F2-02C8-12F2-8AE3-8E7A91A4AD59}"/>
              </a:ext>
            </a:extLst>
          </p:cNvPr>
          <p:cNvSpPr>
            <a:spLocks noGrp="1"/>
          </p:cNvSpPr>
          <p:nvPr>
            <p:ph type="title"/>
          </p:nvPr>
        </p:nvSpPr>
        <p:spPr>
          <a:xfrm>
            <a:off x="2089535" y="609600"/>
            <a:ext cx="4865966" cy="1320800"/>
          </a:xfrm>
        </p:spPr>
        <p:txBody>
          <a:bodyPr>
            <a:normAutofit/>
          </a:bodyPr>
          <a:lstStyle/>
          <a:p>
            <a:r>
              <a:rPr lang="en-US" dirty="0"/>
              <a:t>Predict The Work</a:t>
            </a:r>
          </a:p>
        </p:txBody>
      </p:sp>
      <p:pic>
        <p:nvPicPr>
          <p:cNvPr id="5" name="Picture 4" descr="Graph">
            <a:extLst>
              <a:ext uri="{FF2B5EF4-FFF2-40B4-BE49-F238E27FC236}">
                <a16:creationId xmlns:a16="http://schemas.microsoft.com/office/drawing/2014/main" id="{54B0F9E8-BCAD-8367-E1DE-26C1E15EEAA5}"/>
              </a:ext>
            </a:extLst>
          </p:cNvPr>
          <p:cNvPicPr>
            <a:picLocks noChangeAspect="1"/>
          </p:cNvPicPr>
          <p:nvPr/>
        </p:nvPicPr>
        <p:blipFill>
          <a:blip r:embed="rId3">
            <a:duotone>
              <a:prstClr val="black"/>
              <a:schemeClr val="tx2">
                <a:tint val="45000"/>
                <a:satMod val="400000"/>
              </a:schemeClr>
            </a:duotone>
          </a:blip>
          <a:srcRect l="35049" r="46314"/>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9" name="Isosceles Triangle 8">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CBBDB3EB-295E-4B6A-08F9-09415B585E57}"/>
              </a:ext>
            </a:extLst>
          </p:cNvPr>
          <p:cNvSpPr>
            <a:spLocks noGrp="1"/>
          </p:cNvSpPr>
          <p:nvPr>
            <p:ph idx="1"/>
          </p:nvPr>
        </p:nvSpPr>
        <p:spPr>
          <a:xfrm>
            <a:off x="2089535" y="2160589"/>
            <a:ext cx="4865966" cy="3880773"/>
          </a:xfrm>
        </p:spPr>
        <p:txBody>
          <a:bodyPr>
            <a:normAutofit/>
          </a:bodyPr>
          <a:lstStyle/>
          <a:p>
            <a:pPr marL="0" indent="0">
              <a:buNone/>
            </a:pPr>
            <a:r>
              <a:rPr lang="en-US" dirty="0"/>
              <a:t>List lookup may:</a:t>
            </a:r>
          </a:p>
          <a:p>
            <a:r>
              <a:rPr lang="en-US" dirty="0"/>
              <a:t>Check many values</a:t>
            </a:r>
          </a:p>
          <a:p>
            <a:r>
              <a:rPr lang="en-US" dirty="0"/>
              <a:t>Repeat scanning</a:t>
            </a:r>
          </a:p>
          <a:p>
            <a:r>
              <a:rPr lang="en-US" dirty="0"/>
              <a:t>Grow with collection size</a:t>
            </a:r>
          </a:p>
          <a:p>
            <a:pPr marL="0" indent="0">
              <a:buNone/>
            </a:pPr>
            <a:endParaRPr lang="en-US" dirty="0"/>
          </a:p>
          <a:p>
            <a:pPr marL="0" indent="0">
              <a:buNone/>
            </a:pPr>
            <a:r>
              <a:rPr lang="en-US" dirty="0"/>
              <a:t>Set membership may:</a:t>
            </a:r>
          </a:p>
          <a:p>
            <a:r>
              <a:rPr lang="en-US" dirty="0"/>
              <a:t>Use a structure built for lookup</a:t>
            </a:r>
          </a:p>
          <a:p>
            <a:r>
              <a:rPr lang="en-US" dirty="0"/>
              <a:t>Avoid visible full scanning</a:t>
            </a:r>
          </a:p>
          <a:p>
            <a:pPr marL="0" indent="0">
              <a:buNone/>
            </a:pPr>
            <a:endParaRPr lang="en-US" dirty="0"/>
          </a:p>
        </p:txBody>
      </p:sp>
    </p:spTree>
    <p:extLst>
      <p:ext uri="{BB962C8B-B14F-4D97-AF65-F5344CB8AC3E}">
        <p14:creationId xmlns:p14="http://schemas.microsoft.com/office/powerpoint/2010/main" val="37842572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07DE8-5929-B0B5-9807-1CBF41312755}"/>
              </a:ext>
            </a:extLst>
          </p:cNvPr>
          <p:cNvSpPr>
            <a:spLocks noGrp="1"/>
          </p:cNvSpPr>
          <p:nvPr>
            <p:ph type="title"/>
          </p:nvPr>
        </p:nvSpPr>
        <p:spPr>
          <a:xfrm>
            <a:off x="2137171" y="609600"/>
            <a:ext cx="4818330" cy="1320800"/>
          </a:xfrm>
        </p:spPr>
        <p:txBody>
          <a:bodyPr>
            <a:normAutofit/>
          </a:bodyPr>
          <a:lstStyle/>
          <a:p>
            <a:r>
              <a:rPr lang="en-US" dirty="0"/>
              <a:t>Demo Evidence</a:t>
            </a:r>
          </a:p>
        </p:txBody>
      </p:sp>
      <p:sp>
        <p:nvSpPr>
          <p:cNvPr id="9" name="Isosceles Triangle 8">
            <a:extLst>
              <a:ext uri="{FF2B5EF4-FFF2-40B4-BE49-F238E27FC236}">
                <a16:creationId xmlns:a16="http://schemas.microsoft.com/office/drawing/2014/main" id="{9F8803AC-EE0E-40C2-AD46-FD84FAD82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187" y="3822970"/>
            <a:ext cx="372084" cy="2918298"/>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descr="Alarm clocks in a line">
            <a:extLst>
              <a:ext uri="{FF2B5EF4-FFF2-40B4-BE49-F238E27FC236}">
                <a16:creationId xmlns:a16="http://schemas.microsoft.com/office/drawing/2014/main" id="{31D0B3E9-A3D1-FACE-E2E6-681332F1375C}"/>
              </a:ext>
            </a:extLst>
          </p:cNvPr>
          <p:cNvPicPr>
            <a:picLocks noChangeAspect="1"/>
          </p:cNvPicPr>
          <p:nvPr/>
        </p:nvPicPr>
        <p:blipFill>
          <a:blip r:embed="rId3"/>
          <a:srcRect l="44606" r="38575"/>
          <a:stretch>
            <a:fillRect/>
          </a:stretch>
        </p:blipFill>
        <p:spPr>
          <a:xfrm>
            <a:off x="20" y="1"/>
            <a:ext cx="2050522" cy="6858000"/>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11" name="Isosceles Triangle 10">
            <a:extLst>
              <a:ext uri="{FF2B5EF4-FFF2-40B4-BE49-F238E27FC236}">
                <a16:creationId xmlns:a16="http://schemas.microsoft.com/office/drawing/2014/main" id="{051A3413-562D-435C-AAE4-56808F0CB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357491"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8C22E960-1F06-32DC-5357-EDB07873D462}"/>
              </a:ext>
            </a:extLst>
          </p:cNvPr>
          <p:cNvSpPr>
            <a:spLocks noGrp="1"/>
          </p:cNvSpPr>
          <p:nvPr>
            <p:ph idx="1"/>
          </p:nvPr>
        </p:nvSpPr>
        <p:spPr>
          <a:xfrm>
            <a:off x="2137171" y="2160589"/>
            <a:ext cx="4818330" cy="3880773"/>
          </a:xfrm>
        </p:spPr>
        <p:txBody>
          <a:bodyPr>
            <a:normAutofit/>
          </a:bodyPr>
          <a:lstStyle/>
          <a:p>
            <a:pPr marL="0" indent="0">
              <a:buNone/>
            </a:pPr>
            <a:r>
              <a:rPr lang="en-US" dirty="0"/>
              <a:t>Watch the table for:</a:t>
            </a:r>
          </a:p>
          <a:p>
            <a:pPr marL="0" indent="0">
              <a:buNone/>
            </a:pPr>
            <a:endParaRPr lang="en-US" dirty="0"/>
          </a:p>
          <a:p>
            <a:r>
              <a:rPr lang="en-US" dirty="0"/>
              <a:t>Input size</a:t>
            </a:r>
          </a:p>
          <a:p>
            <a:r>
              <a:rPr lang="en-US" dirty="0"/>
              <a:t>List lookup time</a:t>
            </a:r>
          </a:p>
          <a:p>
            <a:r>
              <a:rPr lang="en-US" dirty="0"/>
              <a:t>Set lookup time</a:t>
            </a:r>
          </a:p>
          <a:p>
            <a:r>
              <a:rPr lang="en-US" dirty="0"/>
              <a:t>Change across rows</a:t>
            </a:r>
          </a:p>
          <a:p>
            <a:r>
              <a:rPr lang="en-US" dirty="0"/>
              <a:t>Reminder about noisy timing</a:t>
            </a:r>
          </a:p>
        </p:txBody>
      </p:sp>
    </p:spTree>
    <p:extLst>
      <p:ext uri="{BB962C8B-B14F-4D97-AF65-F5344CB8AC3E}">
        <p14:creationId xmlns:p14="http://schemas.microsoft.com/office/powerpoint/2010/main" val="2750112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0D0E5-C82A-2821-F372-34D79453A8FE}"/>
              </a:ext>
            </a:extLst>
          </p:cNvPr>
          <p:cNvSpPr>
            <a:spLocks noGrp="1"/>
          </p:cNvSpPr>
          <p:nvPr>
            <p:ph type="title"/>
          </p:nvPr>
        </p:nvSpPr>
        <p:spPr>
          <a:xfrm>
            <a:off x="2089535" y="609600"/>
            <a:ext cx="4865966" cy="1320800"/>
          </a:xfrm>
        </p:spPr>
        <p:txBody>
          <a:bodyPr>
            <a:normAutofit/>
          </a:bodyPr>
          <a:lstStyle/>
          <a:p>
            <a:r>
              <a:rPr lang="en-US" dirty="0"/>
              <a:t>Demo Explanation</a:t>
            </a:r>
          </a:p>
        </p:txBody>
      </p:sp>
      <p:pic>
        <p:nvPicPr>
          <p:cNvPr id="5" name="Picture 4" descr="Dark blue shattered geometric chain">
            <a:extLst>
              <a:ext uri="{FF2B5EF4-FFF2-40B4-BE49-F238E27FC236}">
                <a16:creationId xmlns:a16="http://schemas.microsoft.com/office/drawing/2014/main" id="{377F6D4D-BE10-60D9-4BD4-003EB5B66673}"/>
              </a:ext>
            </a:extLst>
          </p:cNvPr>
          <p:cNvPicPr>
            <a:picLocks noChangeAspect="1"/>
          </p:cNvPicPr>
          <p:nvPr/>
        </p:nvPicPr>
        <p:blipFill>
          <a:blip r:embed="rId3">
            <a:duotone>
              <a:prstClr val="black"/>
              <a:schemeClr val="tx2">
                <a:tint val="45000"/>
                <a:satMod val="400000"/>
              </a:schemeClr>
            </a:duotone>
          </a:blip>
          <a:srcRect l="72987" r="10239" b="-1"/>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9" name="Isosceles Triangle 8">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8613BE1-56FB-86D8-D85E-F894C535F86F}"/>
              </a:ext>
            </a:extLst>
          </p:cNvPr>
          <p:cNvSpPr>
            <a:spLocks noGrp="1"/>
          </p:cNvSpPr>
          <p:nvPr>
            <p:ph idx="1"/>
          </p:nvPr>
        </p:nvSpPr>
        <p:spPr>
          <a:xfrm>
            <a:off x="2089535" y="2160589"/>
            <a:ext cx="4865966" cy="3880773"/>
          </a:xfrm>
        </p:spPr>
        <p:txBody>
          <a:bodyPr>
            <a:normAutofit/>
          </a:bodyPr>
          <a:lstStyle/>
          <a:p>
            <a:pPr marL="0" indent="0">
              <a:buNone/>
            </a:pPr>
            <a:r>
              <a:rPr lang="en-US" dirty="0"/>
              <a:t>Demo explanation pattern:</a:t>
            </a:r>
          </a:p>
          <a:p>
            <a:pPr marL="0" indent="0">
              <a:buNone/>
            </a:pPr>
            <a:endParaRPr lang="en-US" dirty="0"/>
          </a:p>
          <a:p>
            <a:r>
              <a:rPr lang="en-US" dirty="0"/>
              <a:t>Both approaches were correct</a:t>
            </a:r>
          </a:p>
          <a:p>
            <a:r>
              <a:rPr lang="en-US" dirty="0"/>
              <a:t>Timing changed as input grew</a:t>
            </a:r>
          </a:p>
          <a:p>
            <a:r>
              <a:rPr lang="en-US" dirty="0"/>
              <a:t>List lookup grew more noticeably</a:t>
            </a:r>
          </a:p>
          <a:p>
            <a:r>
              <a:rPr lang="en-US" dirty="0"/>
              <a:t>Set lookup changed less in this demo</a:t>
            </a:r>
          </a:p>
          <a:p>
            <a:r>
              <a:rPr lang="en-US" dirty="0"/>
              <a:t>Exact numbers may vary</a:t>
            </a:r>
          </a:p>
        </p:txBody>
      </p:sp>
    </p:spTree>
    <p:extLst>
      <p:ext uri="{BB962C8B-B14F-4D97-AF65-F5344CB8AC3E}">
        <p14:creationId xmlns:p14="http://schemas.microsoft.com/office/powerpoint/2010/main" val="29782299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 name="Straight Connector 11">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7" name="Picture 6" descr="A 3D pattern of ring shapes connected by lines">
            <a:extLst>
              <a:ext uri="{FF2B5EF4-FFF2-40B4-BE49-F238E27FC236}">
                <a16:creationId xmlns:a16="http://schemas.microsoft.com/office/drawing/2014/main" id="{C7D6F5B2-48E2-9D1C-04C2-3F6895D50DD9}"/>
              </a:ext>
            </a:extLst>
          </p:cNvPr>
          <p:cNvPicPr>
            <a:picLocks noChangeAspect="1"/>
          </p:cNvPicPr>
          <p:nvPr/>
        </p:nvPicPr>
        <p:blipFill>
          <a:blip r:embed="rId3"/>
          <a:srcRect l="17998" r="48815"/>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4" name="Title 3">
            <a:extLst>
              <a:ext uri="{FF2B5EF4-FFF2-40B4-BE49-F238E27FC236}">
                <a16:creationId xmlns:a16="http://schemas.microsoft.com/office/drawing/2014/main" id="{ED568893-1D7D-5B97-B00E-61957CB8016E}"/>
              </a:ext>
            </a:extLst>
          </p:cNvPr>
          <p:cNvSpPr>
            <a:spLocks noGrp="1"/>
          </p:cNvSpPr>
          <p:nvPr>
            <p:ph type="title"/>
          </p:nvPr>
        </p:nvSpPr>
        <p:spPr>
          <a:xfrm>
            <a:off x="4035422" y="1678665"/>
            <a:ext cx="2915879" cy="2372168"/>
          </a:xfrm>
        </p:spPr>
        <p:txBody>
          <a:bodyPr vert="horz" lIns="91440" tIns="45720" rIns="91440" bIns="45720" rtlCol="0" anchor="b">
            <a:normAutofit/>
          </a:bodyPr>
          <a:lstStyle/>
          <a:p>
            <a:pPr algn="r">
              <a:lnSpc>
                <a:spcPct val="90000"/>
              </a:lnSpc>
            </a:pPr>
            <a:r>
              <a:rPr lang="en-US" sz="4200"/>
              <a:t>AI-Assisted Complexity Review</a:t>
            </a:r>
          </a:p>
        </p:txBody>
      </p:sp>
      <p:sp>
        <p:nvSpPr>
          <p:cNvPr id="5" name="Text Placeholder 4">
            <a:extLst>
              <a:ext uri="{FF2B5EF4-FFF2-40B4-BE49-F238E27FC236}">
                <a16:creationId xmlns:a16="http://schemas.microsoft.com/office/drawing/2014/main" id="{10D41018-2BCD-5520-7D10-8188000BD7C9}"/>
              </a:ext>
            </a:extLst>
          </p:cNvPr>
          <p:cNvSpPr>
            <a:spLocks noGrp="1"/>
          </p:cNvSpPr>
          <p:nvPr>
            <p:ph type="body" idx="1"/>
          </p:nvPr>
        </p:nvSpPr>
        <p:spPr>
          <a:xfrm>
            <a:off x="4035422" y="4050833"/>
            <a:ext cx="2920080" cy="1096899"/>
          </a:xfrm>
        </p:spPr>
        <p:txBody>
          <a:bodyPr vert="horz" lIns="91440" tIns="45720" rIns="91440" bIns="45720" rtlCol="0" anchor="t">
            <a:normAutofit/>
          </a:bodyPr>
          <a:lstStyle/>
          <a:p>
            <a:pPr algn="r"/>
            <a:endParaRPr lang="en-US" sz="1800"/>
          </a:p>
        </p:txBody>
      </p:sp>
    </p:spTree>
    <p:extLst>
      <p:ext uri="{BB962C8B-B14F-4D97-AF65-F5344CB8AC3E}">
        <p14:creationId xmlns:p14="http://schemas.microsoft.com/office/powerpoint/2010/main" val="14242541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4A65F6-BF90-3C13-E51F-9FBF064C09ED}"/>
              </a:ext>
            </a:extLst>
          </p:cNvPr>
          <p:cNvSpPr>
            <a:spLocks noGrp="1"/>
          </p:cNvSpPr>
          <p:nvPr>
            <p:ph type="title"/>
          </p:nvPr>
        </p:nvSpPr>
        <p:spPr>
          <a:xfrm>
            <a:off x="508000" y="609600"/>
            <a:ext cx="6447501" cy="1320800"/>
          </a:xfrm>
        </p:spPr>
        <p:txBody>
          <a:bodyPr anchor="t">
            <a:normAutofit/>
          </a:bodyPr>
          <a:lstStyle/>
          <a:p>
            <a:r>
              <a:rPr lang="en-US" dirty="0"/>
              <a:t>AI Can Help Review Complexity</a:t>
            </a:r>
          </a:p>
        </p:txBody>
      </p:sp>
      <p:sp>
        <p:nvSpPr>
          <p:cNvPr id="5" name="Content Placeholder 4">
            <a:extLst>
              <a:ext uri="{FF2B5EF4-FFF2-40B4-BE49-F238E27FC236}">
                <a16:creationId xmlns:a16="http://schemas.microsoft.com/office/drawing/2014/main" id="{2E8E4D3D-7E1A-D7CD-7269-304F89D60562}"/>
              </a:ext>
            </a:extLst>
          </p:cNvPr>
          <p:cNvSpPr>
            <a:spLocks noGrp="1"/>
          </p:cNvSpPr>
          <p:nvPr>
            <p:ph idx="1"/>
          </p:nvPr>
        </p:nvSpPr>
        <p:spPr>
          <a:xfrm>
            <a:off x="508000" y="2160590"/>
            <a:ext cx="3915323" cy="3701270"/>
          </a:xfrm>
        </p:spPr>
        <p:txBody>
          <a:bodyPr>
            <a:normAutofit/>
          </a:bodyPr>
          <a:lstStyle/>
          <a:p>
            <a:pPr marL="0" indent="0">
              <a:buNone/>
            </a:pPr>
            <a:r>
              <a:rPr lang="en-US" dirty="0"/>
              <a:t>AI can help you:</a:t>
            </a:r>
          </a:p>
          <a:p>
            <a:pPr marL="0" indent="0">
              <a:buNone/>
            </a:pPr>
            <a:endParaRPr lang="en-US" dirty="0"/>
          </a:p>
          <a:p>
            <a:r>
              <a:rPr lang="en-US" dirty="0"/>
              <a:t>Analyze likely time complexity</a:t>
            </a:r>
          </a:p>
          <a:p>
            <a:r>
              <a:rPr lang="en-US" dirty="0"/>
              <a:t>Analyze likely space complexity</a:t>
            </a:r>
          </a:p>
          <a:p>
            <a:r>
              <a:rPr lang="en-US" dirty="0"/>
              <a:t>Identify repeated work</a:t>
            </a:r>
          </a:p>
          <a:p>
            <a:r>
              <a:rPr lang="en-US" dirty="0"/>
              <a:t>Explain Big-O in plain language</a:t>
            </a:r>
          </a:p>
          <a:p>
            <a:r>
              <a:rPr lang="en-US" dirty="0"/>
              <a:t>Suggest alternative approaches</a:t>
            </a:r>
          </a:p>
        </p:txBody>
      </p:sp>
      <p:pic>
        <p:nvPicPr>
          <p:cNvPr id="9" name="Graphic 8" descr="Head with Gears">
            <a:extLst>
              <a:ext uri="{FF2B5EF4-FFF2-40B4-BE49-F238E27FC236}">
                <a16:creationId xmlns:a16="http://schemas.microsoft.com/office/drawing/2014/main" id="{3C2A7F5E-E1BA-BDB6-196D-859C98A77CC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16440072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C0622-6194-2CC7-4489-A2CB9355EEB3}"/>
              </a:ext>
            </a:extLst>
          </p:cNvPr>
          <p:cNvSpPr>
            <a:spLocks noGrp="1"/>
          </p:cNvSpPr>
          <p:nvPr>
            <p:ph type="title"/>
          </p:nvPr>
        </p:nvSpPr>
        <p:spPr>
          <a:xfrm>
            <a:off x="4152550" y="609600"/>
            <a:ext cx="2802951" cy="1320800"/>
          </a:xfrm>
        </p:spPr>
        <p:txBody>
          <a:bodyPr>
            <a:normAutofit/>
          </a:bodyPr>
          <a:lstStyle/>
          <a:p>
            <a:pPr>
              <a:lnSpc>
                <a:spcPct val="90000"/>
              </a:lnSpc>
            </a:pPr>
            <a:r>
              <a:rPr lang="en-US" sz="2800"/>
              <a:t>Useful AI Prompt Pattern</a:t>
            </a:r>
          </a:p>
        </p:txBody>
      </p:sp>
      <p:sp>
        <p:nvSpPr>
          <p:cNvPr id="3" name="Content Placeholder 2">
            <a:extLst>
              <a:ext uri="{FF2B5EF4-FFF2-40B4-BE49-F238E27FC236}">
                <a16:creationId xmlns:a16="http://schemas.microsoft.com/office/drawing/2014/main" id="{13B4359E-464A-DA30-EFD5-4AAB4A198544}"/>
              </a:ext>
            </a:extLst>
          </p:cNvPr>
          <p:cNvSpPr>
            <a:spLocks noGrp="1"/>
          </p:cNvSpPr>
          <p:nvPr>
            <p:ph idx="1"/>
          </p:nvPr>
        </p:nvSpPr>
        <p:spPr>
          <a:xfrm>
            <a:off x="3907172" y="2160589"/>
            <a:ext cx="3048329" cy="3880773"/>
          </a:xfrm>
        </p:spPr>
        <p:txBody>
          <a:bodyPr>
            <a:normAutofit/>
          </a:bodyPr>
          <a:lstStyle/>
          <a:p>
            <a:pPr marL="0" indent="0">
              <a:buNone/>
            </a:pPr>
            <a:r>
              <a:rPr lang="en-US" dirty="0"/>
              <a:t>“Analyze this Python function for likely time and space complexity.</a:t>
            </a:r>
          </a:p>
          <a:p>
            <a:pPr marL="0" indent="0">
              <a:buNone/>
            </a:pPr>
            <a:r>
              <a:rPr lang="en-US" dirty="0"/>
              <a:t>Explain the reasoning in beginner-friendly language.</a:t>
            </a:r>
          </a:p>
          <a:p>
            <a:pPr marL="0" indent="0">
              <a:buNone/>
            </a:pPr>
            <a:r>
              <a:rPr lang="en-US" dirty="0"/>
              <a:t>Identify repeated work.</a:t>
            </a:r>
          </a:p>
          <a:p>
            <a:pPr marL="0" indent="0">
              <a:buNone/>
            </a:pPr>
            <a:r>
              <a:rPr lang="en-US" dirty="0"/>
              <a:t>Suggest one alternative if the current approach may not scale.</a:t>
            </a:r>
          </a:p>
          <a:p>
            <a:pPr marL="0" indent="0">
              <a:buNone/>
            </a:pPr>
            <a:r>
              <a:rPr lang="en-US" dirty="0"/>
              <a:t>Do not rewrite the code unless I ask.”</a:t>
            </a:r>
          </a:p>
        </p:txBody>
      </p:sp>
      <p:pic>
        <p:nvPicPr>
          <p:cNvPr id="21" name="Picture 20" descr="Computer code representation.">
            <a:extLst>
              <a:ext uri="{FF2B5EF4-FFF2-40B4-BE49-F238E27FC236}">
                <a16:creationId xmlns:a16="http://schemas.microsoft.com/office/drawing/2014/main" id="{8A728018-283E-379A-70A7-867E4A3D7239}"/>
              </a:ext>
            </a:extLst>
          </p:cNvPr>
          <p:cNvPicPr>
            <a:picLocks noChangeAspect="1"/>
          </p:cNvPicPr>
          <p:nvPr/>
        </p:nvPicPr>
        <p:blipFill>
          <a:blip r:embed="rId3"/>
          <a:srcRect l="39524" r="27436"/>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2" name="Isosceles Triangle 21">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57257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CFEC8-C36E-8138-AFF9-1BCB8E92E2B8}"/>
              </a:ext>
            </a:extLst>
          </p:cNvPr>
          <p:cNvSpPr>
            <a:spLocks noGrp="1"/>
          </p:cNvSpPr>
          <p:nvPr>
            <p:ph type="title"/>
          </p:nvPr>
        </p:nvSpPr>
        <p:spPr>
          <a:xfrm>
            <a:off x="4152550" y="609600"/>
            <a:ext cx="2802951" cy="1320800"/>
          </a:xfrm>
        </p:spPr>
        <p:txBody>
          <a:bodyPr vert="horz" lIns="91440" tIns="45720" rIns="91440" bIns="45720" rtlCol="0">
            <a:normAutofit/>
          </a:bodyPr>
          <a:lstStyle/>
          <a:p>
            <a:r>
              <a:rPr lang="en-US"/>
              <a:t>Verify The AI Review</a:t>
            </a:r>
          </a:p>
        </p:txBody>
      </p:sp>
      <p:sp>
        <p:nvSpPr>
          <p:cNvPr id="4" name="Content Placeholder 3">
            <a:extLst>
              <a:ext uri="{FF2B5EF4-FFF2-40B4-BE49-F238E27FC236}">
                <a16:creationId xmlns:a16="http://schemas.microsoft.com/office/drawing/2014/main" id="{F95F7C5D-76E8-1B83-C806-C3C7939961B9}"/>
              </a:ext>
            </a:extLst>
          </p:cNvPr>
          <p:cNvSpPr>
            <a:spLocks noGrp="1"/>
          </p:cNvSpPr>
          <p:nvPr>
            <p:ph idx="1"/>
          </p:nvPr>
        </p:nvSpPr>
        <p:spPr>
          <a:xfrm>
            <a:off x="3907172" y="2160589"/>
            <a:ext cx="3048329" cy="3880773"/>
          </a:xfrm>
        </p:spPr>
        <p:txBody>
          <a:bodyPr>
            <a:normAutofit/>
          </a:bodyPr>
          <a:lstStyle/>
          <a:p>
            <a:pPr marL="0" indent="0">
              <a:buNone/>
            </a:pPr>
            <a:r>
              <a:rPr lang="en-US" dirty="0"/>
              <a:t>After AI responds, check:</a:t>
            </a:r>
          </a:p>
          <a:p>
            <a:r>
              <a:rPr lang="en-US" dirty="0"/>
              <a:t>Does it match the code?</a:t>
            </a:r>
          </a:p>
          <a:p>
            <a:r>
              <a:rPr lang="en-US" dirty="0"/>
              <a:t>Does it identify the repeated work?</a:t>
            </a:r>
          </a:p>
          <a:p>
            <a:r>
              <a:rPr lang="en-US" dirty="0"/>
              <a:t>Does it match the timing pattern?</a:t>
            </a:r>
          </a:p>
          <a:p>
            <a:r>
              <a:rPr lang="en-US" dirty="0"/>
              <a:t>Did it overclaim?</a:t>
            </a:r>
          </a:p>
          <a:p>
            <a:r>
              <a:rPr lang="en-US" dirty="0"/>
              <a:t>Can you restate it yourself?</a:t>
            </a:r>
          </a:p>
        </p:txBody>
      </p:sp>
      <p:pic>
        <p:nvPicPr>
          <p:cNvPr id="5" name="Picture 4" descr="Robot operating a machine">
            <a:extLst>
              <a:ext uri="{FF2B5EF4-FFF2-40B4-BE49-F238E27FC236}">
                <a16:creationId xmlns:a16="http://schemas.microsoft.com/office/drawing/2014/main" id="{638035A6-8F2B-CFAB-F2A0-C40F7D534C83}"/>
              </a:ext>
            </a:extLst>
          </p:cNvPr>
          <p:cNvPicPr>
            <a:picLocks noChangeAspect="1"/>
          </p:cNvPicPr>
          <p:nvPr/>
        </p:nvPicPr>
        <p:blipFill>
          <a:blip r:embed="rId3"/>
          <a:srcRect l="29619" r="25099" b="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915854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4591B-4B2D-1C75-29AF-8BFC1214AC9B}"/>
              </a:ext>
            </a:extLst>
          </p:cNvPr>
          <p:cNvSpPr>
            <a:spLocks noGrp="1"/>
          </p:cNvSpPr>
          <p:nvPr>
            <p:ph type="title"/>
          </p:nvPr>
        </p:nvSpPr>
        <p:spPr>
          <a:xfrm>
            <a:off x="4152550" y="609600"/>
            <a:ext cx="2802951" cy="1320800"/>
          </a:xfrm>
        </p:spPr>
        <p:txBody>
          <a:bodyPr>
            <a:normAutofit/>
          </a:bodyPr>
          <a:lstStyle/>
          <a:p>
            <a:pPr>
              <a:lnSpc>
                <a:spcPct val="90000"/>
              </a:lnSpc>
            </a:pPr>
            <a:r>
              <a:rPr lang="en-US" sz="3100" dirty="0"/>
              <a:t>Demo Add-On: Console Color</a:t>
            </a:r>
          </a:p>
        </p:txBody>
      </p:sp>
      <p:sp>
        <p:nvSpPr>
          <p:cNvPr id="3" name="Content Placeholder 2">
            <a:extLst>
              <a:ext uri="{FF2B5EF4-FFF2-40B4-BE49-F238E27FC236}">
                <a16:creationId xmlns:a16="http://schemas.microsoft.com/office/drawing/2014/main" id="{4C2AA165-0504-B02C-E43F-0EC149BE0EF7}"/>
              </a:ext>
            </a:extLst>
          </p:cNvPr>
          <p:cNvSpPr>
            <a:spLocks noGrp="1"/>
          </p:cNvSpPr>
          <p:nvPr>
            <p:ph idx="1"/>
          </p:nvPr>
        </p:nvSpPr>
        <p:spPr>
          <a:xfrm>
            <a:off x="3907172" y="2160589"/>
            <a:ext cx="3048329" cy="3880773"/>
          </a:xfrm>
        </p:spPr>
        <p:txBody>
          <a:bodyPr>
            <a:normAutofit/>
          </a:bodyPr>
          <a:lstStyle/>
          <a:p>
            <a:pPr marL="0" indent="0">
              <a:buNone/>
            </a:pPr>
            <a:r>
              <a:rPr lang="en-US" dirty="0"/>
              <a:t>After the plain demo works, add light console color.</a:t>
            </a:r>
          </a:p>
          <a:p>
            <a:pPr marL="0" indent="0">
              <a:buNone/>
            </a:pPr>
            <a:r>
              <a:rPr lang="en-US" dirty="0"/>
              <a:t>The color helps highlight:</a:t>
            </a:r>
          </a:p>
          <a:p>
            <a:r>
              <a:rPr lang="en-US" dirty="0"/>
              <a:t>section headings</a:t>
            </a:r>
          </a:p>
          <a:p>
            <a:r>
              <a:rPr lang="en-US" dirty="0"/>
              <a:t>passed tests</a:t>
            </a:r>
          </a:p>
          <a:p>
            <a:r>
              <a:rPr lang="en-US" dirty="0"/>
              <a:t>failed tests</a:t>
            </a:r>
          </a:p>
          <a:p>
            <a:r>
              <a:rPr lang="en-US" dirty="0"/>
              <a:t>important boundary cases</a:t>
            </a:r>
          </a:p>
        </p:txBody>
      </p:sp>
      <p:pic>
        <p:nvPicPr>
          <p:cNvPr id="5" name="Picture 4" descr="An abstract burst of blue and pink">
            <a:extLst>
              <a:ext uri="{FF2B5EF4-FFF2-40B4-BE49-F238E27FC236}">
                <a16:creationId xmlns:a16="http://schemas.microsoft.com/office/drawing/2014/main" id="{631304DC-0227-B850-27AB-8CF9F6427492}"/>
              </a:ext>
            </a:extLst>
          </p:cNvPr>
          <p:cNvPicPr>
            <a:picLocks noChangeAspect="1"/>
          </p:cNvPicPr>
          <p:nvPr/>
        </p:nvPicPr>
        <p:blipFill>
          <a:blip r:embed="rId3"/>
          <a:srcRect l="34146" r="32667"/>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Tree>
    <p:extLst>
      <p:ext uri="{BB962C8B-B14F-4D97-AF65-F5344CB8AC3E}">
        <p14:creationId xmlns:p14="http://schemas.microsoft.com/office/powerpoint/2010/main" val="11684944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F827-0A5A-D6D9-6C73-5ACE22424AF2}"/>
              </a:ext>
            </a:extLst>
          </p:cNvPr>
          <p:cNvSpPr>
            <a:spLocks noGrp="1"/>
          </p:cNvSpPr>
          <p:nvPr>
            <p:ph type="title"/>
          </p:nvPr>
        </p:nvSpPr>
        <p:spPr>
          <a:xfrm>
            <a:off x="4152550" y="609600"/>
            <a:ext cx="2802951" cy="1320800"/>
          </a:xfrm>
        </p:spPr>
        <p:txBody>
          <a:bodyPr>
            <a:normAutofit/>
          </a:bodyPr>
          <a:lstStyle/>
          <a:p>
            <a:r>
              <a:rPr lang="en-US" dirty="0"/>
              <a:t>From Demo to Lab</a:t>
            </a:r>
          </a:p>
        </p:txBody>
      </p:sp>
      <p:sp>
        <p:nvSpPr>
          <p:cNvPr id="3" name="Content Placeholder 2">
            <a:extLst>
              <a:ext uri="{FF2B5EF4-FFF2-40B4-BE49-F238E27FC236}">
                <a16:creationId xmlns:a16="http://schemas.microsoft.com/office/drawing/2014/main" id="{B08E31B9-CEED-D579-BC3C-E6F2B784D1BE}"/>
              </a:ext>
            </a:extLst>
          </p:cNvPr>
          <p:cNvSpPr>
            <a:spLocks noGrp="1"/>
          </p:cNvSpPr>
          <p:nvPr>
            <p:ph idx="1"/>
          </p:nvPr>
        </p:nvSpPr>
        <p:spPr>
          <a:xfrm>
            <a:off x="3907172" y="2160589"/>
            <a:ext cx="3048329" cy="3880773"/>
          </a:xfrm>
        </p:spPr>
        <p:txBody>
          <a:bodyPr>
            <a:normAutofit/>
          </a:bodyPr>
          <a:lstStyle/>
          <a:p>
            <a:pPr marL="0" indent="0">
              <a:buNone/>
            </a:pPr>
            <a:r>
              <a:rPr lang="en-US" dirty="0"/>
              <a:t>In Lab 02, you will compare two approaches.</a:t>
            </a:r>
          </a:p>
          <a:p>
            <a:pPr marL="0" indent="0">
              <a:buNone/>
            </a:pPr>
            <a:r>
              <a:rPr lang="en-US" dirty="0"/>
              <a:t>Your work must include:</a:t>
            </a:r>
          </a:p>
          <a:p>
            <a:r>
              <a:rPr lang="en-US" dirty="0"/>
              <a:t>Two implementations</a:t>
            </a:r>
          </a:p>
          <a:p>
            <a:r>
              <a:rPr lang="en-US" dirty="0"/>
              <a:t>At least four input sizes</a:t>
            </a:r>
          </a:p>
          <a:p>
            <a:r>
              <a:rPr lang="en-US" dirty="0"/>
              <a:t>Timing table</a:t>
            </a:r>
          </a:p>
          <a:p>
            <a:r>
              <a:rPr lang="en-US" dirty="0"/>
              <a:t>Chart or comparison table</a:t>
            </a:r>
          </a:p>
          <a:p>
            <a:r>
              <a:rPr lang="en-US" dirty="0"/>
              <a:t>Growth explanation</a:t>
            </a:r>
          </a:p>
          <a:p>
            <a:r>
              <a:rPr lang="en-US" dirty="0"/>
              <a:t>Limitation note</a:t>
            </a:r>
          </a:p>
        </p:txBody>
      </p:sp>
      <p:pic>
        <p:nvPicPr>
          <p:cNvPr id="5" name="Picture 4" descr="A row of samples for medical testing">
            <a:extLst>
              <a:ext uri="{FF2B5EF4-FFF2-40B4-BE49-F238E27FC236}">
                <a16:creationId xmlns:a16="http://schemas.microsoft.com/office/drawing/2014/main" id="{5406C1C5-46D3-5662-C887-3DA2319E776C}"/>
              </a:ext>
            </a:extLst>
          </p:cNvPr>
          <p:cNvPicPr>
            <a:picLocks noChangeAspect="1"/>
          </p:cNvPicPr>
          <p:nvPr/>
        </p:nvPicPr>
        <p:blipFill>
          <a:blip r:embed="rId3"/>
          <a:srcRect l="51375" r="4376"/>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Tree>
    <p:extLst>
      <p:ext uri="{BB962C8B-B14F-4D97-AF65-F5344CB8AC3E}">
        <p14:creationId xmlns:p14="http://schemas.microsoft.com/office/powerpoint/2010/main" val="4347200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38778-464A-01E4-5FE9-A651D96F3C42}"/>
              </a:ext>
            </a:extLst>
          </p:cNvPr>
          <p:cNvSpPr>
            <a:spLocks noGrp="1"/>
          </p:cNvSpPr>
          <p:nvPr>
            <p:ph type="title"/>
          </p:nvPr>
        </p:nvSpPr>
        <p:spPr>
          <a:xfrm>
            <a:off x="4152550" y="609600"/>
            <a:ext cx="2802951" cy="1320800"/>
          </a:xfrm>
        </p:spPr>
        <p:txBody>
          <a:bodyPr>
            <a:normAutofit/>
          </a:bodyPr>
          <a:lstStyle/>
          <a:p>
            <a:r>
              <a:rPr lang="en-US" dirty="0"/>
              <a:t>Walkthrough Support</a:t>
            </a:r>
          </a:p>
        </p:txBody>
      </p:sp>
      <p:sp>
        <p:nvSpPr>
          <p:cNvPr id="3" name="Content Placeholder 2">
            <a:extLst>
              <a:ext uri="{FF2B5EF4-FFF2-40B4-BE49-F238E27FC236}">
                <a16:creationId xmlns:a16="http://schemas.microsoft.com/office/drawing/2014/main" id="{93596B46-5734-C699-CDD9-BD0D055D086D}"/>
              </a:ext>
            </a:extLst>
          </p:cNvPr>
          <p:cNvSpPr>
            <a:spLocks noGrp="1"/>
          </p:cNvSpPr>
          <p:nvPr>
            <p:ph idx="1"/>
          </p:nvPr>
        </p:nvSpPr>
        <p:spPr>
          <a:xfrm>
            <a:off x="3907172" y="2160589"/>
            <a:ext cx="3048329" cy="3880773"/>
          </a:xfrm>
        </p:spPr>
        <p:txBody>
          <a:bodyPr>
            <a:normAutofit lnSpcReduction="10000"/>
          </a:bodyPr>
          <a:lstStyle/>
          <a:p>
            <a:pPr marL="0" indent="0">
              <a:buNone/>
            </a:pPr>
            <a:r>
              <a:rPr lang="en-US" dirty="0"/>
              <a:t>The walkthrough artifact can help you:</a:t>
            </a:r>
          </a:p>
          <a:p>
            <a:r>
              <a:rPr lang="en-US" dirty="0"/>
              <a:t>Identify both approaches</a:t>
            </a:r>
          </a:p>
          <a:p>
            <a:r>
              <a:rPr lang="en-US" dirty="0"/>
              <a:t>Predict repeated work</a:t>
            </a:r>
          </a:p>
          <a:p>
            <a:r>
              <a:rPr lang="en-US" dirty="0"/>
              <a:t>Decide what to time</a:t>
            </a:r>
          </a:p>
          <a:p>
            <a:r>
              <a:rPr lang="en-US" dirty="0"/>
              <a:t>Explain the difference</a:t>
            </a:r>
          </a:p>
          <a:p>
            <a:pPr marL="0" indent="0">
              <a:buNone/>
            </a:pPr>
            <a:r>
              <a:rPr lang="en-US" dirty="0"/>
              <a:t>If you use it, you must explain the pattern in your own words, what you changes, and your decisions:</a:t>
            </a:r>
          </a:p>
          <a:p>
            <a:pPr marL="0" indent="0">
              <a:buNone/>
            </a:pPr>
            <a:endParaRPr lang="en-US" dirty="0"/>
          </a:p>
        </p:txBody>
      </p:sp>
      <p:pic>
        <p:nvPicPr>
          <p:cNvPr id="5" name="Picture 4" descr="Chairs in a circle">
            <a:extLst>
              <a:ext uri="{FF2B5EF4-FFF2-40B4-BE49-F238E27FC236}">
                <a16:creationId xmlns:a16="http://schemas.microsoft.com/office/drawing/2014/main" id="{23C4C2E2-34BA-5263-91FA-971E8FF7A44D}"/>
              </a:ext>
            </a:extLst>
          </p:cNvPr>
          <p:cNvPicPr>
            <a:picLocks noChangeAspect="1"/>
          </p:cNvPicPr>
          <p:nvPr/>
        </p:nvPicPr>
        <p:blipFill>
          <a:blip r:embed="rId3"/>
          <a:srcRect l="29355" r="20053" b="-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Tree>
    <p:extLst>
      <p:ext uri="{BB962C8B-B14F-4D97-AF65-F5344CB8AC3E}">
        <p14:creationId xmlns:p14="http://schemas.microsoft.com/office/powerpoint/2010/main" val="15545372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FD9D7-DC22-67B7-C127-E213A7D7E5B5}"/>
              </a:ext>
            </a:extLst>
          </p:cNvPr>
          <p:cNvSpPr>
            <a:spLocks noGrp="1"/>
          </p:cNvSpPr>
          <p:nvPr>
            <p:ph type="title"/>
          </p:nvPr>
        </p:nvSpPr>
        <p:spPr>
          <a:xfrm>
            <a:off x="3747981" y="609600"/>
            <a:ext cx="3207519" cy="1320800"/>
          </a:xfrm>
        </p:spPr>
        <p:txBody>
          <a:bodyPr anchor="ctr">
            <a:normAutofit/>
          </a:bodyPr>
          <a:lstStyle/>
          <a:p>
            <a:r>
              <a:rPr lang="en-US" b="1" dirty="0"/>
              <a:t>README Evidence</a:t>
            </a:r>
            <a:endParaRPr lang="en-US" dirty="0"/>
          </a:p>
        </p:txBody>
      </p:sp>
      <p:pic>
        <p:nvPicPr>
          <p:cNvPr id="7" name="Graphic 6" descr="Check List">
            <a:extLst>
              <a:ext uri="{FF2B5EF4-FFF2-40B4-BE49-F238E27FC236}">
                <a16:creationId xmlns:a16="http://schemas.microsoft.com/office/drawing/2014/main" id="{ECC9DEAD-0143-BEB6-CDDF-ECA972867E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3" name="Content Placeholder 2">
            <a:extLst>
              <a:ext uri="{FF2B5EF4-FFF2-40B4-BE49-F238E27FC236}">
                <a16:creationId xmlns:a16="http://schemas.microsoft.com/office/drawing/2014/main" id="{A170A1EC-C9C7-D8BC-8C60-91337D1A5DBC}"/>
              </a:ext>
            </a:extLst>
          </p:cNvPr>
          <p:cNvSpPr>
            <a:spLocks noGrp="1"/>
          </p:cNvSpPr>
          <p:nvPr>
            <p:ph idx="1"/>
          </p:nvPr>
        </p:nvSpPr>
        <p:spPr>
          <a:xfrm>
            <a:off x="3739367" y="2160589"/>
            <a:ext cx="3213882" cy="3768573"/>
          </a:xfrm>
        </p:spPr>
        <p:txBody>
          <a:bodyPr>
            <a:normAutofit/>
          </a:bodyPr>
          <a:lstStyle/>
          <a:p>
            <a:pPr marL="0" indent="0">
              <a:buNone/>
            </a:pPr>
            <a:r>
              <a:rPr lang="en-US" dirty="0"/>
              <a:t>Your README should show:</a:t>
            </a:r>
          </a:p>
          <a:p>
            <a:r>
              <a:rPr lang="en-US" dirty="0"/>
              <a:t>approaches compared</a:t>
            </a:r>
          </a:p>
          <a:p>
            <a:r>
              <a:rPr lang="en-US" dirty="0"/>
              <a:t>input sizes</a:t>
            </a:r>
          </a:p>
          <a:p>
            <a:r>
              <a:rPr lang="en-US" dirty="0"/>
              <a:t>timing evidence</a:t>
            </a:r>
          </a:p>
          <a:p>
            <a:r>
              <a:rPr lang="en-US" dirty="0"/>
              <a:t>chart or comparison table</a:t>
            </a:r>
          </a:p>
          <a:p>
            <a:r>
              <a:rPr lang="en-US" dirty="0"/>
              <a:t>likely growth pattern</a:t>
            </a:r>
          </a:p>
          <a:p>
            <a:r>
              <a:rPr lang="en-US" dirty="0"/>
              <a:t>timing limitation</a:t>
            </a:r>
          </a:p>
          <a:p>
            <a:r>
              <a:rPr lang="en-US" dirty="0"/>
              <a:t>AI-use note, if applicable</a:t>
            </a:r>
          </a:p>
        </p:txBody>
      </p:sp>
    </p:spTree>
    <p:extLst>
      <p:ext uri="{BB962C8B-B14F-4D97-AF65-F5344CB8AC3E}">
        <p14:creationId xmlns:p14="http://schemas.microsoft.com/office/powerpoint/2010/main" val="19239636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olorful rolled magazines">
            <a:extLst>
              <a:ext uri="{FF2B5EF4-FFF2-40B4-BE49-F238E27FC236}">
                <a16:creationId xmlns:a16="http://schemas.microsoft.com/office/drawing/2014/main" id="{771DCBED-D310-6C5A-AFAE-9D7EAA4A6972}"/>
              </a:ext>
            </a:extLst>
          </p:cNvPr>
          <p:cNvPicPr>
            <a:picLocks noChangeAspect="1"/>
          </p:cNvPicPr>
          <p:nvPr/>
        </p:nvPicPr>
        <p:blipFill>
          <a:blip r:embed="rId3">
            <a:duotone>
              <a:prstClr val="black"/>
              <a:prstClr val="white"/>
            </a:duotone>
          </a:blip>
          <a:srcRect l="29767" r="18385" b="-2"/>
          <a:stretch>
            <a:fillRect/>
          </a:stretch>
        </p:blipFill>
        <p:spPr>
          <a:xfrm>
            <a:off x="3814762" y="-1"/>
            <a:ext cx="5326856" cy="6858001"/>
          </a:xfrm>
          <a:custGeom>
            <a:avLst/>
            <a:gdLst/>
            <a:ahLst/>
            <a:cxnLst/>
            <a:rect l="l" t="t" r="r" b="b"/>
            <a:pathLst>
              <a:path w="7102474" h="6858001">
                <a:moveTo>
                  <a:pt x="417180" y="0"/>
                </a:moveTo>
                <a:lnTo>
                  <a:pt x="7102474" y="0"/>
                </a:lnTo>
                <a:lnTo>
                  <a:pt x="7102474" y="6858001"/>
                </a:lnTo>
                <a:lnTo>
                  <a:pt x="65002" y="6858001"/>
                </a:lnTo>
                <a:lnTo>
                  <a:pt x="1840421" y="4521201"/>
                </a:lnTo>
                <a:close/>
                <a:moveTo>
                  <a:pt x="0" y="0"/>
                </a:moveTo>
                <a:lnTo>
                  <a:pt x="417180" y="0"/>
                </a:lnTo>
                <a:lnTo>
                  <a:pt x="0" y="447"/>
                </a:lnTo>
                <a:close/>
              </a:path>
            </a:pathLst>
          </a:custGeom>
        </p:spPr>
      </p:pic>
      <p:sp>
        <p:nvSpPr>
          <p:cNvPr id="2" name="Title 1">
            <a:extLst>
              <a:ext uri="{FF2B5EF4-FFF2-40B4-BE49-F238E27FC236}">
                <a16:creationId xmlns:a16="http://schemas.microsoft.com/office/drawing/2014/main" id="{42861510-CA61-0D1A-72BB-E420D0840410}"/>
              </a:ext>
            </a:extLst>
          </p:cNvPr>
          <p:cNvSpPr>
            <a:spLocks noGrp="1"/>
          </p:cNvSpPr>
          <p:nvPr>
            <p:ph type="title"/>
          </p:nvPr>
        </p:nvSpPr>
        <p:spPr>
          <a:xfrm>
            <a:off x="501649" y="1678666"/>
            <a:ext cx="3842636" cy="2369093"/>
          </a:xfrm>
        </p:spPr>
        <p:txBody>
          <a:bodyPr vert="horz" lIns="91440" tIns="45720" rIns="91440" bIns="45720" rtlCol="0" anchor="b">
            <a:normAutofit/>
          </a:bodyPr>
          <a:lstStyle/>
          <a:p>
            <a:pPr algn="r"/>
            <a:r>
              <a:rPr lang="en-US" sz="4200"/>
              <a:t>Wrap up</a:t>
            </a:r>
          </a:p>
        </p:txBody>
      </p:sp>
      <p:sp>
        <p:nvSpPr>
          <p:cNvPr id="3" name="Text Placeholder 2">
            <a:extLst>
              <a:ext uri="{FF2B5EF4-FFF2-40B4-BE49-F238E27FC236}">
                <a16:creationId xmlns:a16="http://schemas.microsoft.com/office/drawing/2014/main" id="{1EDDDF35-D014-F980-031E-B5A95948CD4C}"/>
              </a:ext>
            </a:extLst>
          </p:cNvPr>
          <p:cNvSpPr>
            <a:spLocks noGrp="1"/>
          </p:cNvSpPr>
          <p:nvPr>
            <p:ph type="body" idx="1"/>
          </p:nvPr>
        </p:nvSpPr>
        <p:spPr>
          <a:xfrm>
            <a:off x="508001" y="4050831"/>
            <a:ext cx="3834913" cy="1096901"/>
          </a:xfrm>
        </p:spPr>
        <p:txBody>
          <a:bodyPr vert="horz" lIns="91440" tIns="45720" rIns="91440" bIns="45720" rtlCol="0" anchor="t">
            <a:normAutofit/>
          </a:bodyPr>
          <a:lstStyle/>
          <a:p>
            <a:pPr algn="r"/>
            <a:endParaRPr lang="en-US" sz="1400"/>
          </a:p>
        </p:txBody>
      </p:sp>
    </p:spTree>
    <p:extLst>
      <p:ext uri="{BB962C8B-B14F-4D97-AF65-F5344CB8AC3E}">
        <p14:creationId xmlns:p14="http://schemas.microsoft.com/office/powerpoint/2010/main" val="10315479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4C146-617D-4E39-D705-22B72B38BE48}"/>
              </a:ext>
            </a:extLst>
          </p:cNvPr>
          <p:cNvSpPr>
            <a:spLocks noGrp="1"/>
          </p:cNvSpPr>
          <p:nvPr>
            <p:ph type="title"/>
          </p:nvPr>
        </p:nvSpPr>
        <p:spPr>
          <a:xfrm>
            <a:off x="3747981" y="609600"/>
            <a:ext cx="3207519" cy="1320800"/>
          </a:xfrm>
        </p:spPr>
        <p:txBody>
          <a:bodyPr anchor="ctr">
            <a:normAutofit/>
          </a:bodyPr>
          <a:lstStyle/>
          <a:p>
            <a:r>
              <a:rPr lang="en-US" b="1" dirty="0"/>
              <a:t>What To Carry Forward</a:t>
            </a:r>
            <a:endParaRPr lang="en-US" dirty="0"/>
          </a:p>
        </p:txBody>
      </p:sp>
      <p:pic>
        <p:nvPicPr>
          <p:cNvPr id="7" name="Graphic 6" descr="Finger Print">
            <a:extLst>
              <a:ext uri="{FF2B5EF4-FFF2-40B4-BE49-F238E27FC236}">
                <a16:creationId xmlns:a16="http://schemas.microsoft.com/office/drawing/2014/main" id="{9CDA5D42-CD20-71ED-88DF-C280BC6218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3" name="Content Placeholder 2">
            <a:extLst>
              <a:ext uri="{FF2B5EF4-FFF2-40B4-BE49-F238E27FC236}">
                <a16:creationId xmlns:a16="http://schemas.microsoft.com/office/drawing/2014/main" id="{6A433235-9D16-6582-9577-58004FB83875}"/>
              </a:ext>
            </a:extLst>
          </p:cNvPr>
          <p:cNvSpPr>
            <a:spLocks noGrp="1"/>
          </p:cNvSpPr>
          <p:nvPr>
            <p:ph idx="1"/>
          </p:nvPr>
        </p:nvSpPr>
        <p:spPr>
          <a:xfrm>
            <a:off x="3739367" y="2160589"/>
            <a:ext cx="3213882" cy="3768573"/>
          </a:xfrm>
        </p:spPr>
        <p:txBody>
          <a:bodyPr>
            <a:normAutofit/>
          </a:bodyPr>
          <a:lstStyle/>
          <a:p>
            <a:pPr marL="0" indent="0">
              <a:buNone/>
            </a:pPr>
            <a:r>
              <a:rPr lang="en-US" dirty="0"/>
              <a:t>Performance analysis asks:</a:t>
            </a:r>
          </a:p>
          <a:p>
            <a:pPr marL="0" indent="0">
              <a:buNone/>
            </a:pPr>
            <a:endParaRPr lang="en-US" dirty="0"/>
          </a:p>
          <a:p>
            <a:r>
              <a:rPr lang="en-US" dirty="0"/>
              <a:t>Does it work?</a:t>
            </a:r>
          </a:p>
          <a:p>
            <a:r>
              <a:rPr lang="en-US" dirty="0"/>
              <a:t>Is it understandable?</a:t>
            </a:r>
          </a:p>
          <a:p>
            <a:r>
              <a:rPr lang="en-US" dirty="0"/>
              <a:t>How does it grow?</a:t>
            </a:r>
          </a:p>
          <a:p>
            <a:r>
              <a:rPr lang="en-US" dirty="0"/>
              <a:t>What evidence supports the claim?</a:t>
            </a:r>
          </a:p>
        </p:txBody>
      </p:sp>
    </p:spTree>
    <p:extLst>
      <p:ext uri="{BB962C8B-B14F-4D97-AF65-F5344CB8AC3E}">
        <p14:creationId xmlns:p14="http://schemas.microsoft.com/office/powerpoint/2010/main" val="12796929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E9555-1E16-8E8B-E548-105BA59C0BD8}"/>
              </a:ext>
            </a:extLst>
          </p:cNvPr>
          <p:cNvSpPr>
            <a:spLocks noGrp="1"/>
          </p:cNvSpPr>
          <p:nvPr>
            <p:ph type="title"/>
          </p:nvPr>
        </p:nvSpPr>
        <p:spPr>
          <a:xfrm>
            <a:off x="4152550" y="609600"/>
            <a:ext cx="2802951" cy="1320800"/>
          </a:xfrm>
        </p:spPr>
        <p:txBody>
          <a:bodyPr>
            <a:normAutofit/>
          </a:bodyPr>
          <a:lstStyle/>
          <a:p>
            <a:pPr>
              <a:lnSpc>
                <a:spcPct val="90000"/>
              </a:lnSpc>
            </a:pPr>
            <a:r>
              <a:rPr lang="en-US" sz="3100"/>
              <a:t>Lab 02 Success Check</a:t>
            </a:r>
          </a:p>
        </p:txBody>
      </p:sp>
      <p:sp>
        <p:nvSpPr>
          <p:cNvPr id="3" name="Content Placeholder 2">
            <a:extLst>
              <a:ext uri="{FF2B5EF4-FFF2-40B4-BE49-F238E27FC236}">
                <a16:creationId xmlns:a16="http://schemas.microsoft.com/office/drawing/2014/main" id="{77AFF21A-F8C1-15AA-C705-4530AE58A074}"/>
              </a:ext>
            </a:extLst>
          </p:cNvPr>
          <p:cNvSpPr>
            <a:spLocks noGrp="1"/>
          </p:cNvSpPr>
          <p:nvPr>
            <p:ph idx="1"/>
          </p:nvPr>
        </p:nvSpPr>
        <p:spPr>
          <a:xfrm>
            <a:off x="3907172" y="2160589"/>
            <a:ext cx="3048329" cy="3880773"/>
          </a:xfrm>
        </p:spPr>
        <p:txBody>
          <a:bodyPr>
            <a:normAutofit/>
          </a:bodyPr>
          <a:lstStyle/>
          <a:p>
            <a:r>
              <a:rPr lang="en-US" dirty="0"/>
              <a:t>Compares two correct approaches</a:t>
            </a:r>
          </a:p>
          <a:p>
            <a:r>
              <a:rPr lang="en-US" dirty="0"/>
              <a:t>Uses increasing input sizes</a:t>
            </a:r>
          </a:p>
          <a:p>
            <a:r>
              <a:rPr lang="en-US" dirty="0"/>
              <a:t>Reports measured timing</a:t>
            </a:r>
          </a:p>
          <a:p>
            <a:r>
              <a:rPr lang="en-US" dirty="0"/>
              <a:t>Explains likely growth</a:t>
            </a:r>
          </a:p>
          <a:p>
            <a:r>
              <a:rPr lang="en-US" dirty="0"/>
              <a:t>Names a limitation</a:t>
            </a:r>
          </a:p>
        </p:txBody>
      </p:sp>
      <p:pic>
        <p:nvPicPr>
          <p:cNvPr id="5" name="Picture 4" descr="Beakers with solution on shelf in lab">
            <a:extLst>
              <a:ext uri="{FF2B5EF4-FFF2-40B4-BE49-F238E27FC236}">
                <a16:creationId xmlns:a16="http://schemas.microsoft.com/office/drawing/2014/main" id="{255A690D-4CB8-0C66-184B-33949F8D651C}"/>
              </a:ext>
            </a:extLst>
          </p:cNvPr>
          <p:cNvPicPr>
            <a:picLocks noChangeAspect="1"/>
          </p:cNvPicPr>
          <p:nvPr/>
        </p:nvPicPr>
        <p:blipFill>
          <a:blip r:embed="rId3"/>
          <a:srcRect l="36287" r="24330"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895131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85D3F-E078-FC55-695F-976B83CD5338}"/>
              </a:ext>
            </a:extLst>
          </p:cNvPr>
          <p:cNvSpPr>
            <a:spLocks noGrp="1"/>
          </p:cNvSpPr>
          <p:nvPr>
            <p:ph type="title"/>
          </p:nvPr>
        </p:nvSpPr>
        <p:spPr/>
        <p:txBody>
          <a:bodyPr/>
          <a:lstStyle/>
          <a:p>
            <a:r>
              <a:rPr lang="en-US" dirty="0"/>
              <a:t>Next Step</a:t>
            </a:r>
          </a:p>
        </p:txBody>
      </p:sp>
      <p:graphicFrame>
        <p:nvGraphicFramePr>
          <p:cNvPr id="7" name="Content Placeholder 2">
            <a:extLst>
              <a:ext uri="{FF2B5EF4-FFF2-40B4-BE49-F238E27FC236}">
                <a16:creationId xmlns:a16="http://schemas.microsoft.com/office/drawing/2014/main" id="{DE882C46-7257-FC97-CBC6-E983CBE66DE3}"/>
              </a:ext>
            </a:extLst>
          </p:cNvPr>
          <p:cNvGraphicFramePr>
            <a:graphicFrameLocks noGrp="1"/>
          </p:cNvGraphicFramePr>
          <p:nvPr>
            <p:ph idx="1"/>
            <p:extLst>
              <p:ext uri="{D42A27DB-BD31-4B8C-83A1-F6EECF244321}">
                <p14:modId xmlns:p14="http://schemas.microsoft.com/office/powerpoint/2010/main" val="3118512408"/>
              </p:ext>
            </p:extLst>
          </p:nvPr>
        </p:nvGraphicFramePr>
        <p:xfrm>
          <a:off x="609599" y="2160590"/>
          <a:ext cx="6347714"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79268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9F70-8F60-D3FC-3A79-9DFB4AC2D52D}"/>
              </a:ext>
            </a:extLst>
          </p:cNvPr>
          <p:cNvSpPr>
            <a:spLocks noGrp="1"/>
          </p:cNvSpPr>
          <p:nvPr>
            <p:ph type="title"/>
          </p:nvPr>
        </p:nvSpPr>
        <p:spPr>
          <a:xfrm>
            <a:off x="3747981" y="609600"/>
            <a:ext cx="3207519" cy="1320800"/>
          </a:xfrm>
        </p:spPr>
        <p:txBody>
          <a:bodyPr anchor="ctr">
            <a:normAutofit/>
          </a:bodyPr>
          <a:lstStyle/>
          <a:p>
            <a:pPr>
              <a:lnSpc>
                <a:spcPct val="90000"/>
              </a:lnSpc>
            </a:pPr>
            <a:r>
              <a:rPr lang="en-US" sz="2500" b="1"/>
              <a:t>How To Use The Textbook For Next Week's Reading</a:t>
            </a:r>
            <a:endParaRPr lang="en-US" sz="2500"/>
          </a:p>
        </p:txBody>
      </p:sp>
      <p:pic>
        <p:nvPicPr>
          <p:cNvPr id="7" name="Graphic 6" descr="Books">
            <a:extLst>
              <a:ext uri="{FF2B5EF4-FFF2-40B4-BE49-F238E27FC236}">
                <a16:creationId xmlns:a16="http://schemas.microsoft.com/office/drawing/2014/main" id="{CB844410-8630-6014-129E-F9F9F6F0894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3" name="Content Placeholder 2">
            <a:extLst>
              <a:ext uri="{FF2B5EF4-FFF2-40B4-BE49-F238E27FC236}">
                <a16:creationId xmlns:a16="http://schemas.microsoft.com/office/drawing/2014/main" id="{A57DEBDE-72CE-C2D6-1555-027E1505BD1F}"/>
              </a:ext>
            </a:extLst>
          </p:cNvPr>
          <p:cNvSpPr>
            <a:spLocks noGrp="1"/>
          </p:cNvSpPr>
          <p:nvPr>
            <p:ph idx="1"/>
          </p:nvPr>
        </p:nvSpPr>
        <p:spPr>
          <a:xfrm>
            <a:off x="3739367" y="2160589"/>
            <a:ext cx="3213882" cy="3768573"/>
          </a:xfrm>
        </p:spPr>
        <p:txBody>
          <a:bodyPr>
            <a:normAutofit lnSpcReduction="10000"/>
          </a:bodyPr>
          <a:lstStyle/>
          <a:p>
            <a:pPr marL="0" indent="0">
              <a:lnSpc>
                <a:spcPct val="90000"/>
              </a:lnSpc>
              <a:buNone/>
            </a:pPr>
            <a:r>
              <a:rPr lang="en-US" sz="1400" dirty="0"/>
              <a:t>For next week, read for structure choice.</a:t>
            </a:r>
          </a:p>
          <a:p>
            <a:pPr marL="0" indent="0">
              <a:lnSpc>
                <a:spcPct val="90000"/>
              </a:lnSpc>
              <a:buNone/>
            </a:pPr>
            <a:r>
              <a:rPr lang="en-US" sz="1400" dirty="0"/>
              <a:t>Focus on:</a:t>
            </a:r>
          </a:p>
          <a:p>
            <a:pPr>
              <a:lnSpc>
                <a:spcPct val="90000"/>
              </a:lnSpc>
            </a:pPr>
            <a:r>
              <a:rPr lang="en-US" sz="1400" dirty="0"/>
              <a:t>What each structure is for</a:t>
            </a:r>
          </a:p>
          <a:p>
            <a:pPr>
              <a:lnSpc>
                <a:spcPct val="90000"/>
              </a:lnSpc>
            </a:pPr>
            <a:r>
              <a:rPr lang="en-US" sz="1400" dirty="0"/>
              <a:t>What operations each structure makes easier</a:t>
            </a:r>
          </a:p>
          <a:p>
            <a:pPr>
              <a:lnSpc>
                <a:spcPct val="90000"/>
              </a:lnSpc>
            </a:pPr>
            <a:r>
              <a:rPr lang="en-US" sz="1400" dirty="0"/>
              <a:t>What operations each structure makes harder</a:t>
            </a:r>
          </a:p>
          <a:p>
            <a:pPr>
              <a:lnSpc>
                <a:spcPct val="90000"/>
              </a:lnSpc>
            </a:pPr>
            <a:r>
              <a:rPr lang="en-US" sz="1400" dirty="0"/>
              <a:t>How complexity tables can guide decisions</a:t>
            </a:r>
          </a:p>
          <a:p>
            <a:pPr>
              <a:lnSpc>
                <a:spcPct val="90000"/>
              </a:lnSpc>
            </a:pPr>
            <a:r>
              <a:rPr lang="en-US" sz="1400" dirty="0"/>
              <a:t>Why tabular, matrix, and abstract structures appear in algorithm work</a:t>
            </a:r>
          </a:p>
          <a:p>
            <a:pPr marL="0" indent="0">
              <a:lnSpc>
                <a:spcPct val="90000"/>
              </a:lnSpc>
              <a:buNone/>
            </a:pPr>
            <a:r>
              <a:rPr lang="en-US" sz="1400" dirty="0"/>
              <a:t>Do not memorize every operation cost. Use the tables like reference maps.</a:t>
            </a:r>
          </a:p>
        </p:txBody>
      </p:sp>
    </p:spTree>
    <p:extLst>
      <p:ext uri="{BB962C8B-B14F-4D97-AF65-F5344CB8AC3E}">
        <p14:creationId xmlns:p14="http://schemas.microsoft.com/office/powerpoint/2010/main" val="23699964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B291DAF8-8CBA-95A1-BEA8-AAD0C09C5642}"/>
              </a:ext>
            </a:extLst>
          </p:cNvPr>
          <p:cNvSpPr>
            <a:spLocks noGrp="1"/>
          </p:cNvSpPr>
          <p:nvPr>
            <p:ph type="title"/>
          </p:nvPr>
        </p:nvSpPr>
        <p:spPr>
          <a:xfrm>
            <a:off x="3730752" y="1265314"/>
            <a:ext cx="3572668" cy="3249131"/>
          </a:xfrm>
        </p:spPr>
        <p:txBody>
          <a:bodyPr vert="horz" lIns="91440" tIns="45720" rIns="91440" bIns="45720" rtlCol="0" anchor="b">
            <a:normAutofit/>
          </a:bodyPr>
          <a:lstStyle/>
          <a:p>
            <a:pPr>
              <a:lnSpc>
                <a:spcPct val="90000"/>
              </a:lnSpc>
            </a:pPr>
            <a:r>
              <a:rPr lang="en-US" sz="4800" dirty="0"/>
              <a:t>Thank you!</a:t>
            </a:r>
            <a:br>
              <a:rPr lang="en-US" sz="4800" dirty="0"/>
            </a:br>
            <a:br>
              <a:rPr lang="en-US" sz="4800" dirty="0"/>
            </a:br>
            <a:r>
              <a:rPr lang="en-US" sz="4800" dirty="0"/>
              <a:t>Have Fun!</a:t>
            </a:r>
          </a:p>
        </p:txBody>
      </p:sp>
      <p:sp>
        <p:nvSpPr>
          <p:cNvPr id="5" name="Text Placeholder 4">
            <a:extLst>
              <a:ext uri="{FF2B5EF4-FFF2-40B4-BE49-F238E27FC236}">
                <a16:creationId xmlns:a16="http://schemas.microsoft.com/office/drawing/2014/main" id="{8FE61A93-6BD2-677B-DBB4-F66B15926039}"/>
              </a:ext>
            </a:extLst>
          </p:cNvPr>
          <p:cNvSpPr>
            <a:spLocks noGrp="1"/>
          </p:cNvSpPr>
          <p:nvPr>
            <p:ph type="body" idx="1"/>
          </p:nvPr>
        </p:nvSpPr>
        <p:spPr>
          <a:xfrm>
            <a:off x="3730752" y="4514446"/>
            <a:ext cx="3224749" cy="871042"/>
          </a:xfrm>
        </p:spPr>
        <p:txBody>
          <a:bodyPr vert="horz" lIns="91440" tIns="45720" rIns="91440" bIns="45720" rtlCol="0" anchor="t">
            <a:normAutofit/>
          </a:bodyPr>
          <a:lstStyle/>
          <a:p>
            <a:endParaRPr lang="en-US" sz="1800"/>
          </a:p>
        </p:txBody>
      </p:sp>
      <p:sp>
        <p:nvSpPr>
          <p:cNvPr id="24" name="Isosceles Triangle 23">
            <a:extLst>
              <a:ext uri="{FF2B5EF4-FFF2-40B4-BE49-F238E27FC236}">
                <a16:creationId xmlns:a16="http://schemas.microsoft.com/office/drawing/2014/main" id="{ADC5C86B-28CE-4597-97B7-4C09E2014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Thumbs Up Sign">
            <a:extLst>
              <a:ext uri="{FF2B5EF4-FFF2-40B4-BE49-F238E27FC236}">
                <a16:creationId xmlns:a16="http://schemas.microsoft.com/office/drawing/2014/main" id="{CD1A5982-49F4-6629-1884-3B7061C5B5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Tree>
    <p:extLst>
      <p:ext uri="{BB962C8B-B14F-4D97-AF65-F5344CB8AC3E}">
        <p14:creationId xmlns:p14="http://schemas.microsoft.com/office/powerpoint/2010/main" val="842682234"/>
      </p:ext>
    </p:extLst>
  </p:cSld>
  <p:clrMapOvr>
    <a:masterClrMapping/>
  </p:clrMapOvr>
</p:sld>
</file>

<file path=ppt/theme/theme1.xml><?xml version="1.0" encoding="utf-8"?>
<a:theme xmlns:a="http://schemas.openxmlformats.org/drawingml/2006/main" name="Facet">
  <a:themeElements>
    <a:clrScheme name="Southwest Tech">
      <a:dk1>
        <a:srgbClr val="0B4F8A"/>
      </a:dk1>
      <a:lt1>
        <a:sysClr val="window" lastClr="FFFFFF"/>
      </a:lt1>
      <a:dk2>
        <a:srgbClr val="6F6F6F"/>
      </a:dk2>
      <a:lt2>
        <a:srgbClr val="F4F6F8"/>
      </a:lt2>
      <a:accent1>
        <a:srgbClr val="0B4F8A"/>
      </a:accent1>
      <a:accent2>
        <a:srgbClr val="2E73B8"/>
      </a:accent2>
      <a:accent3>
        <a:srgbClr val="F2B705"/>
      </a:accent3>
      <a:accent4>
        <a:srgbClr val="6F6F6F"/>
      </a:accent4>
      <a:accent5>
        <a:srgbClr val="2E73B8"/>
      </a:accent5>
      <a:accent6>
        <a:srgbClr val="F2B705"/>
      </a:accent6>
      <a:hlink>
        <a:srgbClr val="2E73B8"/>
      </a:hlink>
      <a:folHlink>
        <a:srgbClr val="0B4F8A"/>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7490</TotalTime>
  <Words>5403</Words>
  <Application>Microsoft Office PowerPoint</Application>
  <PresentationFormat>On-screen Show (4:3)</PresentationFormat>
  <Paragraphs>815</Paragraphs>
  <Slides>65</Slides>
  <Notes>63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Aptos</vt:lpstr>
      <vt:lpstr>Arial</vt:lpstr>
      <vt:lpstr>Trebuchet MS</vt:lpstr>
      <vt:lpstr>Wingdings 3</vt:lpstr>
      <vt:lpstr>Facet</vt:lpstr>
      <vt:lpstr>Introduction To Algorithms</vt:lpstr>
      <vt:lpstr>Terms to Remember</vt:lpstr>
      <vt:lpstr>What We Will Use Today</vt:lpstr>
      <vt:lpstr>What We Will “Touch On” and Revisit Later</vt:lpstr>
      <vt:lpstr>Review Coding Lab</vt:lpstr>
      <vt:lpstr>Review:  What Lab 01 Taught Us</vt:lpstr>
      <vt:lpstr>Today’s Question</vt:lpstr>
      <vt:lpstr>From “Works” To “Scales”</vt:lpstr>
      <vt:lpstr>What Counts as Success Today</vt:lpstr>
      <vt:lpstr>Algorithm Quality</vt:lpstr>
      <vt:lpstr>Performance Analysis</vt:lpstr>
      <vt:lpstr>Space And Time</vt:lpstr>
      <vt:lpstr>Space Complexity</vt:lpstr>
      <vt:lpstr>Time Complexity</vt:lpstr>
      <vt:lpstr>Input Size</vt:lpstr>
      <vt:lpstr>Performance Analysis Foundations</vt:lpstr>
      <vt:lpstr>Growth Pattern</vt:lpstr>
      <vt:lpstr>Timing Is Evidence</vt:lpstr>
      <vt:lpstr>Timing Can Be Noisy</vt:lpstr>
      <vt:lpstr>Big-O Is Pattern Language</vt:lpstr>
      <vt:lpstr>What Counts As Work?</vt:lpstr>
      <vt:lpstr>Space And Time Tradeoff</vt:lpstr>
      <vt:lpstr>CPU, GPU, And Memory</vt:lpstr>
      <vt:lpstr>Week 2 Practical Rule</vt:lpstr>
      <vt:lpstr>Big-O Vocabulary</vt:lpstr>
      <vt:lpstr>Big-O Notation</vt:lpstr>
      <vt:lpstr>Constant Time: O(1)</vt:lpstr>
      <vt:lpstr>Linear Time: O(n)</vt:lpstr>
      <vt:lpstr>Quadratic Time: O(n2)</vt:lpstr>
      <vt:lpstr>Logarithmic Time: O(log n)</vt:lpstr>
      <vt:lpstr>Growth Shape Comparison</vt:lpstr>
      <vt:lpstr>Rule 1: Sequential Structure</vt:lpstr>
      <vt:lpstr>Rule 2:  Divided Structure</vt:lpstr>
      <vt:lpstr>Rules 3 &amp; 4: Recursion and Nested Recursion</vt:lpstr>
      <vt:lpstr>Rule 5:  Ignore Constant Multiples</vt:lpstr>
      <vt:lpstr>Timing Evidence vs Big-O Reasoning</vt:lpstr>
      <vt:lpstr>Break</vt:lpstr>
      <vt:lpstr>Estimating and Selecting</vt:lpstr>
      <vt:lpstr>Best, Worst, And Average Case</vt:lpstr>
      <vt:lpstr>Why Case Matters</vt:lpstr>
      <vt:lpstr>Selecting An Algorithm</vt:lpstr>
      <vt:lpstr>Validating Algorithms</vt:lpstr>
      <vt:lpstr>What Evidence Does NOT Prove</vt:lpstr>
      <vt:lpstr>Explainability</vt:lpstr>
      <vt:lpstr>Explainability</vt:lpstr>
      <vt:lpstr>Good Growth Explanation</vt:lpstr>
      <vt:lpstr>Example</vt:lpstr>
      <vt:lpstr>Demo Scenario</vt:lpstr>
      <vt:lpstr>Predict The Work</vt:lpstr>
      <vt:lpstr>Demo Evidence</vt:lpstr>
      <vt:lpstr>Demo Explanation</vt:lpstr>
      <vt:lpstr>AI-Assisted Complexity Review</vt:lpstr>
      <vt:lpstr>AI Can Help Review Complexity</vt:lpstr>
      <vt:lpstr>Useful AI Prompt Pattern</vt:lpstr>
      <vt:lpstr>Verify The AI Review</vt:lpstr>
      <vt:lpstr>Demo Add-On: Console Color</vt:lpstr>
      <vt:lpstr>From Demo to Lab</vt:lpstr>
      <vt:lpstr>Walkthrough Support</vt:lpstr>
      <vt:lpstr>README Evidence</vt:lpstr>
      <vt:lpstr>Wrap up</vt:lpstr>
      <vt:lpstr>What To Carry Forward</vt:lpstr>
      <vt:lpstr>Lab 02 Success Check</vt:lpstr>
      <vt:lpstr>Next Step</vt:lpstr>
      <vt:lpstr>How To Use The Textbook For Next Week's Reading</vt:lpstr>
      <vt:lpstr>Thank you!  Have Fun!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Cash Myers</dc:creator>
  <cp:keywords/>
  <dc:description>generated using python-pptx</dc:description>
  <cp:lastModifiedBy>Cash Myers</cp:lastModifiedBy>
  <cp:revision>111</cp:revision>
  <dcterms:created xsi:type="dcterms:W3CDTF">2013-01-27T09:14:16Z</dcterms:created>
  <dcterms:modified xsi:type="dcterms:W3CDTF">2026-06-05T15:00:41Z</dcterms:modified>
  <cp:category/>
</cp:coreProperties>
</file>