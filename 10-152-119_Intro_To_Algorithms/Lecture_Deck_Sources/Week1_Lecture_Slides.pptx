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60"/>
  </p:notesMasterIdLst>
  <p:handoutMasterIdLst>
    <p:handoutMasterId r:id="rId61"/>
  </p:handoutMasterIdLst>
  <p:sldIdLst>
    <p:sldId id="256" r:id="rId2"/>
    <p:sldId id="257" r:id="rId3"/>
    <p:sldId id="262" r:id="rId4"/>
    <p:sldId id="276" r:id="rId5"/>
    <p:sldId id="263" r:id="rId6"/>
    <p:sldId id="260" r:id="rId7"/>
    <p:sldId id="268" r:id="rId8"/>
    <p:sldId id="259" r:id="rId9"/>
    <p:sldId id="261" r:id="rId10"/>
    <p:sldId id="265" r:id="rId11"/>
    <p:sldId id="264" r:id="rId12"/>
    <p:sldId id="266" r:id="rId13"/>
    <p:sldId id="269" r:id="rId14"/>
    <p:sldId id="270" r:id="rId15"/>
    <p:sldId id="271" r:id="rId16"/>
    <p:sldId id="272" r:id="rId17"/>
    <p:sldId id="282" r:id="rId18"/>
    <p:sldId id="273" r:id="rId19"/>
    <p:sldId id="278" r:id="rId20"/>
    <p:sldId id="279" r:id="rId21"/>
    <p:sldId id="280" r:id="rId22"/>
    <p:sldId id="283" r:id="rId23"/>
    <p:sldId id="281" r:id="rId24"/>
    <p:sldId id="284" r:id="rId25"/>
    <p:sldId id="285" r:id="rId26"/>
    <p:sldId id="286" r:id="rId27"/>
    <p:sldId id="287" r:id="rId28"/>
    <p:sldId id="288" r:id="rId29"/>
    <p:sldId id="289" r:id="rId30"/>
    <p:sldId id="290" r:id="rId31"/>
    <p:sldId id="291" r:id="rId32"/>
    <p:sldId id="292" r:id="rId33"/>
    <p:sldId id="293" r:id="rId34"/>
    <p:sldId id="297" r:id="rId35"/>
    <p:sldId id="294" r:id="rId36"/>
    <p:sldId id="295" r:id="rId37"/>
    <p:sldId id="296" r:id="rId38"/>
    <p:sldId id="298" r:id="rId39"/>
    <p:sldId id="299" r:id="rId40"/>
    <p:sldId id="301" r:id="rId41"/>
    <p:sldId id="302" r:id="rId42"/>
    <p:sldId id="303" r:id="rId43"/>
    <p:sldId id="304" r:id="rId44"/>
    <p:sldId id="305" r:id="rId45"/>
    <p:sldId id="306" r:id="rId46"/>
    <p:sldId id="307" r:id="rId47"/>
    <p:sldId id="308" r:id="rId48"/>
    <p:sldId id="309" r:id="rId49"/>
    <p:sldId id="311" r:id="rId50"/>
    <p:sldId id="312" r:id="rId51"/>
    <p:sldId id="313" r:id="rId52"/>
    <p:sldId id="314" r:id="rId53"/>
    <p:sldId id="315" r:id="rId54"/>
    <p:sldId id="317" r:id="rId55"/>
    <p:sldId id="316" r:id="rId56"/>
    <p:sldId id="318" r:id="rId57"/>
    <p:sldId id="319" r:id="rId58"/>
    <p:sldId id="320"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8900" autoAdjust="0"/>
  </p:normalViewPr>
  <p:slideViewPr>
    <p:cSldViewPr snapToGrid="0" snapToObjects="1">
      <p:cViewPr varScale="1">
        <p:scale>
          <a:sx n="73" d="100"/>
          <a:sy n="73" d="100"/>
        </p:scale>
        <p:origin x="1812" y="54"/>
      </p:cViewPr>
      <p:guideLst>
        <p:guide orient="horz" pos="2160"/>
        <p:guide pos="2880"/>
      </p:guideLst>
    </p:cSldViewPr>
  </p:slideViewPr>
  <p:outlineViewPr>
    <p:cViewPr>
      <p:scale>
        <a:sx n="33" d="100"/>
        <a:sy n="33" d="100"/>
      </p:scale>
      <p:origin x="0" y="-11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0" d="100"/>
          <a:sy n="80" d="100"/>
        </p:scale>
        <p:origin x="4002" y="11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5.sv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5" Type="http://schemas.openxmlformats.org/officeDocument/2006/relationships/image" Target="../media/image21.sv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5.sv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5" Type="http://schemas.openxmlformats.org/officeDocument/2006/relationships/image" Target="../media/image21.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400200-04AC-4310-98B5-4003F4448A5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B564234-8764-421D-8DC1-E95BEAD56312}">
      <dgm:prSet/>
      <dgm:spPr/>
      <dgm:t>
        <a:bodyPr/>
        <a:lstStyle/>
        <a:p>
          <a:pPr>
            <a:lnSpc>
              <a:spcPct val="100000"/>
            </a:lnSpc>
          </a:pPr>
          <a:r>
            <a:rPr lang="en-US"/>
            <a:t>- Algorithms are not just code.</a:t>
          </a:r>
        </a:p>
      </dgm:t>
    </dgm:pt>
    <dgm:pt modelId="{C3FEAAEE-9923-4CB5-90B3-8E871F897ACA}" type="parTrans" cxnId="{80CB65F8-865F-4692-87CC-F75D38673595}">
      <dgm:prSet/>
      <dgm:spPr/>
      <dgm:t>
        <a:bodyPr/>
        <a:lstStyle/>
        <a:p>
          <a:endParaRPr lang="en-US"/>
        </a:p>
      </dgm:t>
    </dgm:pt>
    <dgm:pt modelId="{1F0699A2-5CD3-4860-92E4-E34D8185746C}" type="sibTrans" cxnId="{80CB65F8-865F-4692-87CC-F75D38673595}">
      <dgm:prSet/>
      <dgm:spPr/>
      <dgm:t>
        <a:bodyPr/>
        <a:lstStyle/>
        <a:p>
          <a:endParaRPr lang="en-US"/>
        </a:p>
      </dgm:t>
    </dgm:pt>
    <dgm:pt modelId="{2EEC344D-0B2F-4B4B-B832-36033085023E}">
      <dgm:prSet/>
      <dgm:spPr/>
      <dgm:t>
        <a:bodyPr/>
        <a:lstStyle/>
        <a:p>
          <a:pPr>
            <a:lnSpc>
              <a:spcPct val="100000"/>
            </a:lnSpc>
          </a:pPr>
          <a:r>
            <a:rPr lang="en-US"/>
            <a:t>- Algorithms are structured ways to solve problems.</a:t>
          </a:r>
        </a:p>
      </dgm:t>
    </dgm:pt>
    <dgm:pt modelId="{7B9B00A4-6B58-4A8D-BC7F-C8FFE3A0A460}" type="parTrans" cxnId="{84DABBB1-447B-4A4D-B5FB-D00CEC0C91D8}">
      <dgm:prSet/>
      <dgm:spPr/>
      <dgm:t>
        <a:bodyPr/>
        <a:lstStyle/>
        <a:p>
          <a:endParaRPr lang="en-US"/>
        </a:p>
      </dgm:t>
    </dgm:pt>
    <dgm:pt modelId="{2F01B255-61D4-4F10-99E3-31332A340D1D}" type="sibTrans" cxnId="{84DABBB1-447B-4A4D-B5FB-D00CEC0C91D8}">
      <dgm:prSet/>
      <dgm:spPr/>
      <dgm:t>
        <a:bodyPr/>
        <a:lstStyle/>
        <a:p>
          <a:endParaRPr lang="en-US"/>
        </a:p>
      </dgm:t>
    </dgm:pt>
    <dgm:pt modelId="{B7891767-1F6B-46B1-9B54-D66CD6D875B5}">
      <dgm:prSet/>
      <dgm:spPr/>
      <dgm:t>
        <a:bodyPr/>
        <a:lstStyle/>
        <a:p>
          <a:pPr>
            <a:lnSpc>
              <a:spcPct val="100000"/>
            </a:lnSpc>
          </a:pPr>
          <a:r>
            <a:rPr lang="en-US"/>
            <a:t>- This course focuses on designing, testing, explaining, and improving them.</a:t>
          </a:r>
        </a:p>
      </dgm:t>
    </dgm:pt>
    <dgm:pt modelId="{53E54CEE-4EFB-4AA9-86DA-CC29D0D17C65}" type="parTrans" cxnId="{2AD38294-45BB-43E2-AC03-63F0FC509FD2}">
      <dgm:prSet/>
      <dgm:spPr/>
      <dgm:t>
        <a:bodyPr/>
        <a:lstStyle/>
        <a:p>
          <a:endParaRPr lang="en-US"/>
        </a:p>
      </dgm:t>
    </dgm:pt>
    <dgm:pt modelId="{24D3C08D-9D90-41C2-AD99-6A6E599B7426}" type="sibTrans" cxnId="{2AD38294-45BB-43E2-AC03-63F0FC509FD2}">
      <dgm:prSet/>
      <dgm:spPr/>
      <dgm:t>
        <a:bodyPr/>
        <a:lstStyle/>
        <a:p>
          <a:endParaRPr lang="en-US"/>
        </a:p>
      </dgm:t>
    </dgm:pt>
    <dgm:pt modelId="{11E4B740-5730-4F2E-9C49-DAC40C8BC9B8}" type="pres">
      <dgm:prSet presAssocID="{F9400200-04AC-4310-98B5-4003F4448A5B}" presName="root" presStyleCnt="0">
        <dgm:presLayoutVars>
          <dgm:dir/>
          <dgm:resizeHandles val="exact"/>
        </dgm:presLayoutVars>
      </dgm:prSet>
      <dgm:spPr/>
    </dgm:pt>
    <dgm:pt modelId="{58DC231E-BDBE-446F-BEA5-5949DF215053}" type="pres">
      <dgm:prSet presAssocID="{5B564234-8764-421D-8DC1-E95BEAD56312}" presName="compNode" presStyleCnt="0"/>
      <dgm:spPr/>
    </dgm:pt>
    <dgm:pt modelId="{2163ACF8-E648-4882-A9E9-685D27385AC3}" type="pres">
      <dgm:prSet presAssocID="{5B564234-8764-421D-8DC1-E95BEAD56312}" presName="bgRect" presStyleLbl="bgShp" presStyleIdx="0" presStyleCnt="3"/>
      <dgm:spPr/>
    </dgm:pt>
    <dgm:pt modelId="{1D76AEFE-DBF7-492B-860F-B58907624725}" type="pres">
      <dgm:prSet presAssocID="{5B564234-8764-421D-8DC1-E95BEAD5631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grammer"/>
        </a:ext>
      </dgm:extLst>
    </dgm:pt>
    <dgm:pt modelId="{B3701E8E-D14C-4377-8E4A-D845F5403871}" type="pres">
      <dgm:prSet presAssocID="{5B564234-8764-421D-8DC1-E95BEAD56312}" presName="spaceRect" presStyleCnt="0"/>
      <dgm:spPr/>
    </dgm:pt>
    <dgm:pt modelId="{900D393F-0940-4675-9CE1-DD42EB0DF52E}" type="pres">
      <dgm:prSet presAssocID="{5B564234-8764-421D-8DC1-E95BEAD56312}" presName="parTx" presStyleLbl="revTx" presStyleIdx="0" presStyleCnt="3">
        <dgm:presLayoutVars>
          <dgm:chMax val="0"/>
          <dgm:chPref val="0"/>
        </dgm:presLayoutVars>
      </dgm:prSet>
      <dgm:spPr/>
    </dgm:pt>
    <dgm:pt modelId="{A24E4947-58AD-429E-94E0-27844F7E0F37}" type="pres">
      <dgm:prSet presAssocID="{1F0699A2-5CD3-4860-92E4-E34D8185746C}" presName="sibTrans" presStyleCnt="0"/>
      <dgm:spPr/>
    </dgm:pt>
    <dgm:pt modelId="{5F76CDDC-56DB-411E-A36D-9521D6FEF581}" type="pres">
      <dgm:prSet presAssocID="{2EEC344D-0B2F-4B4B-B832-36033085023E}" presName="compNode" presStyleCnt="0"/>
      <dgm:spPr/>
    </dgm:pt>
    <dgm:pt modelId="{F888A481-A9F4-4E2A-90B5-0FE6CB47A011}" type="pres">
      <dgm:prSet presAssocID="{2EEC344D-0B2F-4B4B-B832-36033085023E}" presName="bgRect" presStyleLbl="bgShp" presStyleIdx="1" presStyleCnt="3"/>
      <dgm:spPr/>
    </dgm:pt>
    <dgm:pt modelId="{5D6D0AB4-579E-4A24-BF03-976CD5C290B5}" type="pres">
      <dgm:prSet presAssocID="{2EEC344D-0B2F-4B4B-B832-36033085023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DB50C1F7-E712-4793-9FFF-1327D55586C2}" type="pres">
      <dgm:prSet presAssocID="{2EEC344D-0B2F-4B4B-B832-36033085023E}" presName="spaceRect" presStyleCnt="0"/>
      <dgm:spPr/>
    </dgm:pt>
    <dgm:pt modelId="{64C0A87F-37EF-4336-93D7-1951FA72FC70}" type="pres">
      <dgm:prSet presAssocID="{2EEC344D-0B2F-4B4B-B832-36033085023E}" presName="parTx" presStyleLbl="revTx" presStyleIdx="1" presStyleCnt="3">
        <dgm:presLayoutVars>
          <dgm:chMax val="0"/>
          <dgm:chPref val="0"/>
        </dgm:presLayoutVars>
      </dgm:prSet>
      <dgm:spPr/>
    </dgm:pt>
    <dgm:pt modelId="{A304D50D-A6C1-43E6-8C6B-98A8E08606CC}" type="pres">
      <dgm:prSet presAssocID="{2F01B255-61D4-4F10-99E3-31332A340D1D}" presName="sibTrans" presStyleCnt="0"/>
      <dgm:spPr/>
    </dgm:pt>
    <dgm:pt modelId="{F5DEEE5E-745B-4849-B8ED-DB771291B262}" type="pres">
      <dgm:prSet presAssocID="{B7891767-1F6B-46B1-9B54-D66CD6D875B5}" presName="compNode" presStyleCnt="0"/>
      <dgm:spPr/>
    </dgm:pt>
    <dgm:pt modelId="{0824948D-910F-40F9-9CCD-95CE6C293F8E}" type="pres">
      <dgm:prSet presAssocID="{B7891767-1F6B-46B1-9B54-D66CD6D875B5}" presName="bgRect" presStyleLbl="bgShp" presStyleIdx="2" presStyleCnt="3"/>
      <dgm:spPr/>
    </dgm:pt>
    <dgm:pt modelId="{007AA651-3B6C-406A-BB93-FD4E4CBF1877}" type="pres">
      <dgm:prSet presAssocID="{B7891767-1F6B-46B1-9B54-D66CD6D875B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lassroom"/>
        </a:ext>
      </dgm:extLst>
    </dgm:pt>
    <dgm:pt modelId="{5F21AB93-4559-4507-BA32-3E7D47FB656F}" type="pres">
      <dgm:prSet presAssocID="{B7891767-1F6B-46B1-9B54-D66CD6D875B5}" presName="spaceRect" presStyleCnt="0"/>
      <dgm:spPr/>
    </dgm:pt>
    <dgm:pt modelId="{E692F953-880A-40AE-95F2-1EFB58161CEF}" type="pres">
      <dgm:prSet presAssocID="{B7891767-1F6B-46B1-9B54-D66CD6D875B5}" presName="parTx" presStyleLbl="revTx" presStyleIdx="2" presStyleCnt="3">
        <dgm:presLayoutVars>
          <dgm:chMax val="0"/>
          <dgm:chPref val="0"/>
        </dgm:presLayoutVars>
      </dgm:prSet>
      <dgm:spPr/>
    </dgm:pt>
  </dgm:ptLst>
  <dgm:cxnLst>
    <dgm:cxn modelId="{52B4B81E-76B2-46F6-9424-9280EAA580FF}" type="presOf" srcId="{5B564234-8764-421D-8DC1-E95BEAD56312}" destId="{900D393F-0940-4675-9CE1-DD42EB0DF52E}" srcOrd="0" destOrd="0" presId="urn:microsoft.com/office/officeart/2018/2/layout/IconVerticalSolidList"/>
    <dgm:cxn modelId="{F22F7C81-85C3-4F49-9BDE-D351D00948FE}" type="presOf" srcId="{2EEC344D-0B2F-4B4B-B832-36033085023E}" destId="{64C0A87F-37EF-4336-93D7-1951FA72FC70}" srcOrd="0" destOrd="0" presId="urn:microsoft.com/office/officeart/2018/2/layout/IconVerticalSolidList"/>
    <dgm:cxn modelId="{2AD38294-45BB-43E2-AC03-63F0FC509FD2}" srcId="{F9400200-04AC-4310-98B5-4003F4448A5B}" destId="{B7891767-1F6B-46B1-9B54-D66CD6D875B5}" srcOrd="2" destOrd="0" parTransId="{53E54CEE-4EFB-4AA9-86DA-CC29D0D17C65}" sibTransId="{24D3C08D-9D90-41C2-AD99-6A6E599B7426}"/>
    <dgm:cxn modelId="{84DABBB1-447B-4A4D-B5FB-D00CEC0C91D8}" srcId="{F9400200-04AC-4310-98B5-4003F4448A5B}" destId="{2EEC344D-0B2F-4B4B-B832-36033085023E}" srcOrd="1" destOrd="0" parTransId="{7B9B00A4-6B58-4A8D-BC7F-C8FFE3A0A460}" sibTransId="{2F01B255-61D4-4F10-99E3-31332A340D1D}"/>
    <dgm:cxn modelId="{12115AC5-512E-4EE2-A31F-6CAC32F4E4AB}" type="presOf" srcId="{B7891767-1F6B-46B1-9B54-D66CD6D875B5}" destId="{E692F953-880A-40AE-95F2-1EFB58161CEF}" srcOrd="0" destOrd="0" presId="urn:microsoft.com/office/officeart/2018/2/layout/IconVerticalSolidList"/>
    <dgm:cxn modelId="{80CB65F8-865F-4692-87CC-F75D38673595}" srcId="{F9400200-04AC-4310-98B5-4003F4448A5B}" destId="{5B564234-8764-421D-8DC1-E95BEAD56312}" srcOrd="0" destOrd="0" parTransId="{C3FEAAEE-9923-4CB5-90B3-8E871F897ACA}" sibTransId="{1F0699A2-5CD3-4860-92E4-E34D8185746C}"/>
    <dgm:cxn modelId="{4F46A9FB-8EE5-496C-B640-2DD7E81EDEEB}" type="presOf" srcId="{F9400200-04AC-4310-98B5-4003F4448A5B}" destId="{11E4B740-5730-4F2E-9C49-DAC40C8BC9B8}" srcOrd="0" destOrd="0" presId="urn:microsoft.com/office/officeart/2018/2/layout/IconVerticalSolidList"/>
    <dgm:cxn modelId="{9649DB40-3537-48AA-B6C1-A7E66F7E7692}" type="presParOf" srcId="{11E4B740-5730-4F2E-9C49-DAC40C8BC9B8}" destId="{58DC231E-BDBE-446F-BEA5-5949DF215053}" srcOrd="0" destOrd="0" presId="urn:microsoft.com/office/officeart/2018/2/layout/IconVerticalSolidList"/>
    <dgm:cxn modelId="{EFEE4292-43B2-46DF-9262-C4FE7BBA33C3}" type="presParOf" srcId="{58DC231E-BDBE-446F-BEA5-5949DF215053}" destId="{2163ACF8-E648-4882-A9E9-685D27385AC3}" srcOrd="0" destOrd="0" presId="urn:microsoft.com/office/officeart/2018/2/layout/IconVerticalSolidList"/>
    <dgm:cxn modelId="{BBD2DCC1-B2DF-490A-A149-537B6B768CE3}" type="presParOf" srcId="{58DC231E-BDBE-446F-BEA5-5949DF215053}" destId="{1D76AEFE-DBF7-492B-860F-B58907624725}" srcOrd="1" destOrd="0" presId="urn:microsoft.com/office/officeart/2018/2/layout/IconVerticalSolidList"/>
    <dgm:cxn modelId="{1A27F17A-CEE1-40C6-986B-C66C1B567654}" type="presParOf" srcId="{58DC231E-BDBE-446F-BEA5-5949DF215053}" destId="{B3701E8E-D14C-4377-8E4A-D845F5403871}" srcOrd="2" destOrd="0" presId="urn:microsoft.com/office/officeart/2018/2/layout/IconVerticalSolidList"/>
    <dgm:cxn modelId="{82C42FD9-C5E7-427C-AB74-152AAAB37EDF}" type="presParOf" srcId="{58DC231E-BDBE-446F-BEA5-5949DF215053}" destId="{900D393F-0940-4675-9CE1-DD42EB0DF52E}" srcOrd="3" destOrd="0" presId="urn:microsoft.com/office/officeart/2018/2/layout/IconVerticalSolidList"/>
    <dgm:cxn modelId="{3EB00545-AE4A-4640-923E-6F90EF0C30FF}" type="presParOf" srcId="{11E4B740-5730-4F2E-9C49-DAC40C8BC9B8}" destId="{A24E4947-58AD-429E-94E0-27844F7E0F37}" srcOrd="1" destOrd="0" presId="urn:microsoft.com/office/officeart/2018/2/layout/IconVerticalSolidList"/>
    <dgm:cxn modelId="{EDCCAF4E-C8C7-4E96-B93D-E9896E61ACA4}" type="presParOf" srcId="{11E4B740-5730-4F2E-9C49-DAC40C8BC9B8}" destId="{5F76CDDC-56DB-411E-A36D-9521D6FEF581}" srcOrd="2" destOrd="0" presId="urn:microsoft.com/office/officeart/2018/2/layout/IconVerticalSolidList"/>
    <dgm:cxn modelId="{3E86A936-5967-41A7-85E8-808E6CD6A1C0}" type="presParOf" srcId="{5F76CDDC-56DB-411E-A36D-9521D6FEF581}" destId="{F888A481-A9F4-4E2A-90B5-0FE6CB47A011}" srcOrd="0" destOrd="0" presId="urn:microsoft.com/office/officeart/2018/2/layout/IconVerticalSolidList"/>
    <dgm:cxn modelId="{423B8667-2723-4A6A-B43D-FD82A857AA02}" type="presParOf" srcId="{5F76CDDC-56DB-411E-A36D-9521D6FEF581}" destId="{5D6D0AB4-579E-4A24-BF03-976CD5C290B5}" srcOrd="1" destOrd="0" presId="urn:microsoft.com/office/officeart/2018/2/layout/IconVerticalSolidList"/>
    <dgm:cxn modelId="{33068620-7A9F-454B-A8B9-309462CB7966}" type="presParOf" srcId="{5F76CDDC-56DB-411E-A36D-9521D6FEF581}" destId="{DB50C1F7-E712-4793-9FFF-1327D55586C2}" srcOrd="2" destOrd="0" presId="urn:microsoft.com/office/officeart/2018/2/layout/IconVerticalSolidList"/>
    <dgm:cxn modelId="{F5851AE5-761D-4A85-9964-2712961B2653}" type="presParOf" srcId="{5F76CDDC-56DB-411E-A36D-9521D6FEF581}" destId="{64C0A87F-37EF-4336-93D7-1951FA72FC70}" srcOrd="3" destOrd="0" presId="urn:microsoft.com/office/officeart/2018/2/layout/IconVerticalSolidList"/>
    <dgm:cxn modelId="{DFA769FC-C31C-4A8E-BF46-777172E91E4F}" type="presParOf" srcId="{11E4B740-5730-4F2E-9C49-DAC40C8BC9B8}" destId="{A304D50D-A6C1-43E6-8C6B-98A8E08606CC}" srcOrd="3" destOrd="0" presId="urn:microsoft.com/office/officeart/2018/2/layout/IconVerticalSolidList"/>
    <dgm:cxn modelId="{EE9F4D27-C2F1-4706-BC35-EC9B6D369E86}" type="presParOf" srcId="{11E4B740-5730-4F2E-9C49-DAC40C8BC9B8}" destId="{F5DEEE5E-745B-4849-B8ED-DB771291B262}" srcOrd="4" destOrd="0" presId="urn:microsoft.com/office/officeart/2018/2/layout/IconVerticalSolidList"/>
    <dgm:cxn modelId="{3F28591D-7DB6-4C9C-AFAE-D0354C085645}" type="presParOf" srcId="{F5DEEE5E-745B-4849-B8ED-DB771291B262}" destId="{0824948D-910F-40F9-9CCD-95CE6C293F8E}" srcOrd="0" destOrd="0" presId="urn:microsoft.com/office/officeart/2018/2/layout/IconVerticalSolidList"/>
    <dgm:cxn modelId="{676BF420-04F9-46F9-802E-65E1DD0730C9}" type="presParOf" srcId="{F5DEEE5E-745B-4849-B8ED-DB771291B262}" destId="{007AA651-3B6C-406A-BB93-FD4E4CBF1877}" srcOrd="1" destOrd="0" presId="urn:microsoft.com/office/officeart/2018/2/layout/IconVerticalSolidList"/>
    <dgm:cxn modelId="{7D7474FE-8233-4BB5-A6FD-DE189EC5081D}" type="presParOf" srcId="{F5DEEE5E-745B-4849-B8ED-DB771291B262}" destId="{5F21AB93-4559-4507-BA32-3E7D47FB656F}" srcOrd="2" destOrd="0" presId="urn:microsoft.com/office/officeart/2018/2/layout/IconVerticalSolidList"/>
    <dgm:cxn modelId="{166CA4E3-4043-4AB0-88FB-84F1CDB7E5A7}" type="presParOf" srcId="{F5DEEE5E-745B-4849-B8ED-DB771291B262}" destId="{E692F953-880A-40AE-95F2-1EFB58161CE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E2A025-EE66-4DCF-8BB5-9DDE16A0485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7243604-2D3A-4D5E-819E-190299888792}">
      <dgm:prSet/>
      <dgm:spPr/>
      <dgm:t>
        <a:bodyPr/>
        <a:lstStyle/>
        <a:p>
          <a:r>
            <a:rPr lang="en-US"/>
            <a:t>- Lecture concept</a:t>
          </a:r>
        </a:p>
      </dgm:t>
    </dgm:pt>
    <dgm:pt modelId="{E28F9B4B-807B-4CAC-909C-59FCD3FE81AB}" type="parTrans" cxnId="{1C1E9354-CB22-4BF1-B08F-6E4E11164A75}">
      <dgm:prSet/>
      <dgm:spPr/>
      <dgm:t>
        <a:bodyPr/>
        <a:lstStyle/>
        <a:p>
          <a:endParaRPr lang="en-US"/>
        </a:p>
      </dgm:t>
    </dgm:pt>
    <dgm:pt modelId="{69E5FDAD-B197-43D5-8BB0-F5664B88B098}" type="sibTrans" cxnId="{1C1E9354-CB22-4BF1-B08F-6E4E11164A75}">
      <dgm:prSet/>
      <dgm:spPr/>
      <dgm:t>
        <a:bodyPr/>
        <a:lstStyle/>
        <a:p>
          <a:endParaRPr lang="en-US"/>
        </a:p>
      </dgm:t>
    </dgm:pt>
    <dgm:pt modelId="{0ECC83A5-B465-415F-AFD7-966777FE8DCE}">
      <dgm:prSet/>
      <dgm:spPr/>
      <dgm:t>
        <a:bodyPr/>
        <a:lstStyle/>
        <a:p>
          <a:r>
            <a:rPr lang="en-US"/>
            <a:t>- Instructor demo</a:t>
          </a:r>
        </a:p>
      </dgm:t>
    </dgm:pt>
    <dgm:pt modelId="{5737605F-EB03-4870-9759-49DF831A2290}" type="parTrans" cxnId="{11CFE462-4524-4185-AB1E-A07C7289B9DB}">
      <dgm:prSet/>
      <dgm:spPr/>
      <dgm:t>
        <a:bodyPr/>
        <a:lstStyle/>
        <a:p>
          <a:endParaRPr lang="en-US"/>
        </a:p>
      </dgm:t>
    </dgm:pt>
    <dgm:pt modelId="{89964B4E-59FC-4A25-A6A0-231DC13BF0AD}" type="sibTrans" cxnId="{11CFE462-4524-4185-AB1E-A07C7289B9DB}">
      <dgm:prSet/>
      <dgm:spPr/>
      <dgm:t>
        <a:bodyPr/>
        <a:lstStyle/>
        <a:p>
          <a:endParaRPr lang="en-US"/>
        </a:p>
      </dgm:t>
    </dgm:pt>
    <dgm:pt modelId="{73D082D7-513A-4B4B-B312-DB9B5B2B4E5D}">
      <dgm:prSet/>
      <dgm:spPr/>
      <dgm:t>
        <a:bodyPr/>
        <a:lstStyle/>
        <a:p>
          <a:r>
            <a:rPr lang="en-US"/>
            <a:t>- Related but different lab</a:t>
          </a:r>
        </a:p>
      </dgm:t>
    </dgm:pt>
    <dgm:pt modelId="{A6902C95-A231-483C-A5D5-9539CF0F0875}" type="parTrans" cxnId="{81034E45-D187-4E01-8D71-4AF5978CFAF1}">
      <dgm:prSet/>
      <dgm:spPr/>
      <dgm:t>
        <a:bodyPr/>
        <a:lstStyle/>
        <a:p>
          <a:endParaRPr lang="en-US"/>
        </a:p>
      </dgm:t>
    </dgm:pt>
    <dgm:pt modelId="{F159B32D-D7CE-439E-A4D0-81A864074F34}" type="sibTrans" cxnId="{81034E45-D187-4E01-8D71-4AF5978CFAF1}">
      <dgm:prSet/>
      <dgm:spPr/>
      <dgm:t>
        <a:bodyPr/>
        <a:lstStyle/>
        <a:p>
          <a:endParaRPr lang="en-US"/>
        </a:p>
      </dgm:t>
    </dgm:pt>
    <dgm:pt modelId="{F68B4B68-EE30-40ED-930F-F115057246C6}">
      <dgm:prSet/>
      <dgm:spPr/>
      <dgm:t>
        <a:bodyPr/>
        <a:lstStyle/>
        <a:p>
          <a:r>
            <a:rPr lang="en-US"/>
            <a:t>- Evidence and explanation</a:t>
          </a:r>
        </a:p>
      </dgm:t>
    </dgm:pt>
    <dgm:pt modelId="{7A1E3692-7BD4-48CD-A622-2D2C61BBAF8F}" type="parTrans" cxnId="{7A0C2E70-ECBB-4AA4-9F53-7D83A2D0748A}">
      <dgm:prSet/>
      <dgm:spPr/>
      <dgm:t>
        <a:bodyPr/>
        <a:lstStyle/>
        <a:p>
          <a:endParaRPr lang="en-US"/>
        </a:p>
      </dgm:t>
    </dgm:pt>
    <dgm:pt modelId="{D91D861F-84E2-4814-8997-4F3616CD98C0}" type="sibTrans" cxnId="{7A0C2E70-ECBB-4AA4-9F53-7D83A2D0748A}">
      <dgm:prSet/>
      <dgm:spPr/>
      <dgm:t>
        <a:bodyPr/>
        <a:lstStyle/>
        <a:p>
          <a:endParaRPr lang="en-US"/>
        </a:p>
      </dgm:t>
    </dgm:pt>
    <dgm:pt modelId="{A7352DA0-E790-4835-B93F-9C1652C5947E}">
      <dgm:prSet/>
      <dgm:spPr/>
      <dgm:t>
        <a:bodyPr/>
        <a:lstStyle/>
        <a:p>
          <a:r>
            <a:rPr lang="en-US"/>
            <a:t>- Responsible AI use</a:t>
          </a:r>
        </a:p>
      </dgm:t>
    </dgm:pt>
    <dgm:pt modelId="{B6F930CF-0D64-45D7-A1D4-44791DD23F8C}" type="parTrans" cxnId="{8EB39D1C-ED56-4D73-AC19-4C852C07F2CF}">
      <dgm:prSet/>
      <dgm:spPr/>
      <dgm:t>
        <a:bodyPr/>
        <a:lstStyle/>
        <a:p>
          <a:endParaRPr lang="en-US"/>
        </a:p>
      </dgm:t>
    </dgm:pt>
    <dgm:pt modelId="{D4B1759A-284A-4925-8E04-8D8DC125C512}" type="sibTrans" cxnId="{8EB39D1C-ED56-4D73-AC19-4C852C07F2CF}">
      <dgm:prSet/>
      <dgm:spPr/>
      <dgm:t>
        <a:bodyPr/>
        <a:lstStyle/>
        <a:p>
          <a:endParaRPr lang="en-US"/>
        </a:p>
      </dgm:t>
    </dgm:pt>
    <dgm:pt modelId="{B1D961A3-5E21-42CC-B51B-24A2B4922BED}" type="pres">
      <dgm:prSet presAssocID="{9AE2A025-EE66-4DCF-8BB5-9DDE16A04853}" presName="root" presStyleCnt="0">
        <dgm:presLayoutVars>
          <dgm:dir/>
          <dgm:resizeHandles val="exact"/>
        </dgm:presLayoutVars>
      </dgm:prSet>
      <dgm:spPr/>
    </dgm:pt>
    <dgm:pt modelId="{293591A0-94F9-4491-A154-0236A9A32AA4}" type="pres">
      <dgm:prSet presAssocID="{17243604-2D3A-4D5E-819E-190299888792}" presName="compNode" presStyleCnt="0"/>
      <dgm:spPr/>
    </dgm:pt>
    <dgm:pt modelId="{0692A04B-01CD-4EE7-B7C2-529315524663}" type="pres">
      <dgm:prSet presAssocID="{17243604-2D3A-4D5E-819E-190299888792}" presName="bgRect" presStyleLbl="bgShp" presStyleIdx="0" presStyleCnt="5"/>
      <dgm:spPr/>
    </dgm:pt>
    <dgm:pt modelId="{4AA6080A-E576-47A5-8441-2F8A8060715E}" type="pres">
      <dgm:prSet presAssocID="{17243604-2D3A-4D5E-819E-19029988879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eacher"/>
        </a:ext>
      </dgm:extLst>
    </dgm:pt>
    <dgm:pt modelId="{D09F402C-E958-4151-A021-97EBF5DD0602}" type="pres">
      <dgm:prSet presAssocID="{17243604-2D3A-4D5E-819E-190299888792}" presName="spaceRect" presStyleCnt="0"/>
      <dgm:spPr/>
    </dgm:pt>
    <dgm:pt modelId="{E4B7F7AD-EED9-4642-BA93-6FD4FD2CC00B}" type="pres">
      <dgm:prSet presAssocID="{17243604-2D3A-4D5E-819E-190299888792}" presName="parTx" presStyleLbl="revTx" presStyleIdx="0" presStyleCnt="5">
        <dgm:presLayoutVars>
          <dgm:chMax val="0"/>
          <dgm:chPref val="0"/>
        </dgm:presLayoutVars>
      </dgm:prSet>
      <dgm:spPr/>
    </dgm:pt>
    <dgm:pt modelId="{D15C612A-DC35-443F-9CED-8CBF28E7C765}" type="pres">
      <dgm:prSet presAssocID="{69E5FDAD-B197-43D5-8BB0-F5664B88B098}" presName="sibTrans" presStyleCnt="0"/>
      <dgm:spPr/>
    </dgm:pt>
    <dgm:pt modelId="{A7701289-07F0-4AFD-812A-4D033C7F5DE4}" type="pres">
      <dgm:prSet presAssocID="{0ECC83A5-B465-415F-AFD7-966777FE8DCE}" presName="compNode" presStyleCnt="0"/>
      <dgm:spPr/>
    </dgm:pt>
    <dgm:pt modelId="{E76A484C-056A-4EE8-BBB2-217FD7FAA68A}" type="pres">
      <dgm:prSet presAssocID="{0ECC83A5-B465-415F-AFD7-966777FE8DCE}" presName="bgRect" presStyleLbl="bgShp" presStyleIdx="1" presStyleCnt="5"/>
      <dgm:spPr/>
    </dgm:pt>
    <dgm:pt modelId="{428D218F-9475-471A-BAB4-9DDBCCA05392}" type="pres">
      <dgm:prSet presAssocID="{0ECC83A5-B465-415F-AFD7-966777FE8DCE}"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ecturer"/>
        </a:ext>
      </dgm:extLst>
    </dgm:pt>
    <dgm:pt modelId="{A8ADB644-231C-4830-8F8D-904DDADE446F}" type="pres">
      <dgm:prSet presAssocID="{0ECC83A5-B465-415F-AFD7-966777FE8DCE}" presName="spaceRect" presStyleCnt="0"/>
      <dgm:spPr/>
    </dgm:pt>
    <dgm:pt modelId="{85976128-6DE7-42DB-8722-282C9DBE9385}" type="pres">
      <dgm:prSet presAssocID="{0ECC83A5-B465-415F-AFD7-966777FE8DCE}" presName="parTx" presStyleLbl="revTx" presStyleIdx="1" presStyleCnt="5">
        <dgm:presLayoutVars>
          <dgm:chMax val="0"/>
          <dgm:chPref val="0"/>
        </dgm:presLayoutVars>
      </dgm:prSet>
      <dgm:spPr/>
    </dgm:pt>
    <dgm:pt modelId="{A2B19B7A-AFCF-46FE-AC7F-832C754317D2}" type="pres">
      <dgm:prSet presAssocID="{89964B4E-59FC-4A25-A6A0-231DC13BF0AD}" presName="sibTrans" presStyleCnt="0"/>
      <dgm:spPr/>
    </dgm:pt>
    <dgm:pt modelId="{66E6B810-F740-4865-82A0-FFF902093B42}" type="pres">
      <dgm:prSet presAssocID="{73D082D7-513A-4B4B-B312-DB9B5B2B4E5D}" presName="compNode" presStyleCnt="0"/>
      <dgm:spPr/>
    </dgm:pt>
    <dgm:pt modelId="{15FEF489-7AFD-430D-89D9-90CE2CF21E27}" type="pres">
      <dgm:prSet presAssocID="{73D082D7-513A-4B4B-B312-DB9B5B2B4E5D}" presName="bgRect" presStyleLbl="bgShp" presStyleIdx="2" presStyleCnt="5"/>
      <dgm:spPr/>
    </dgm:pt>
    <dgm:pt modelId="{6C1D61A3-6CE2-4E74-A143-3441AC106AA1}" type="pres">
      <dgm:prSet presAssocID="{73D082D7-513A-4B4B-B312-DB9B5B2B4E5D}"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ask"/>
        </a:ext>
      </dgm:extLst>
    </dgm:pt>
    <dgm:pt modelId="{5B95F6A6-490B-4AFF-9150-E10265747B44}" type="pres">
      <dgm:prSet presAssocID="{73D082D7-513A-4B4B-B312-DB9B5B2B4E5D}" presName="spaceRect" presStyleCnt="0"/>
      <dgm:spPr/>
    </dgm:pt>
    <dgm:pt modelId="{7888E337-73CC-4F3D-9288-494D690D1BD1}" type="pres">
      <dgm:prSet presAssocID="{73D082D7-513A-4B4B-B312-DB9B5B2B4E5D}" presName="parTx" presStyleLbl="revTx" presStyleIdx="2" presStyleCnt="5">
        <dgm:presLayoutVars>
          <dgm:chMax val="0"/>
          <dgm:chPref val="0"/>
        </dgm:presLayoutVars>
      </dgm:prSet>
      <dgm:spPr/>
    </dgm:pt>
    <dgm:pt modelId="{3CF373F7-41F4-4CF4-A51F-B6E4A0CAB0F3}" type="pres">
      <dgm:prSet presAssocID="{F159B32D-D7CE-439E-A4D0-81A864074F34}" presName="sibTrans" presStyleCnt="0"/>
      <dgm:spPr/>
    </dgm:pt>
    <dgm:pt modelId="{8D13A0BC-CA50-4F36-AD45-19DF0E15F634}" type="pres">
      <dgm:prSet presAssocID="{F68B4B68-EE30-40ED-930F-F115057246C6}" presName="compNode" presStyleCnt="0"/>
      <dgm:spPr/>
    </dgm:pt>
    <dgm:pt modelId="{08C7D293-B9E3-431A-B185-3E1CC7295F87}" type="pres">
      <dgm:prSet presAssocID="{F68B4B68-EE30-40ED-930F-F115057246C6}" presName="bgRect" presStyleLbl="bgShp" presStyleIdx="3" presStyleCnt="5"/>
      <dgm:spPr/>
    </dgm:pt>
    <dgm:pt modelId="{342F5B4E-910D-4914-A5A5-65A07386FC73}" type="pres">
      <dgm:prSet presAssocID="{F68B4B68-EE30-40ED-930F-F115057246C6}"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9A17D45C-1257-4E20-9ED6-D8F27D8B170A}" type="pres">
      <dgm:prSet presAssocID="{F68B4B68-EE30-40ED-930F-F115057246C6}" presName="spaceRect" presStyleCnt="0"/>
      <dgm:spPr/>
    </dgm:pt>
    <dgm:pt modelId="{9BCF2CA2-18F8-421A-8C8B-5888088E82DC}" type="pres">
      <dgm:prSet presAssocID="{F68B4B68-EE30-40ED-930F-F115057246C6}" presName="parTx" presStyleLbl="revTx" presStyleIdx="3" presStyleCnt="5">
        <dgm:presLayoutVars>
          <dgm:chMax val="0"/>
          <dgm:chPref val="0"/>
        </dgm:presLayoutVars>
      </dgm:prSet>
      <dgm:spPr/>
    </dgm:pt>
    <dgm:pt modelId="{1DFD8D10-D708-4859-9234-0AE9D149D5C8}" type="pres">
      <dgm:prSet presAssocID="{D91D861F-84E2-4814-8997-4F3616CD98C0}" presName="sibTrans" presStyleCnt="0"/>
      <dgm:spPr/>
    </dgm:pt>
    <dgm:pt modelId="{B55168BA-155B-42DA-A029-5B2DAC159C95}" type="pres">
      <dgm:prSet presAssocID="{A7352DA0-E790-4835-B93F-9C1652C5947E}" presName="compNode" presStyleCnt="0"/>
      <dgm:spPr/>
    </dgm:pt>
    <dgm:pt modelId="{0A6A7949-A9CF-4C3B-B97C-1672767966AC}" type="pres">
      <dgm:prSet presAssocID="{A7352DA0-E790-4835-B93F-9C1652C5947E}" presName="bgRect" presStyleLbl="bgShp" presStyleIdx="4" presStyleCnt="5"/>
      <dgm:spPr/>
    </dgm:pt>
    <dgm:pt modelId="{FD07BAD9-3031-4F57-9E6B-073B5281BADB}" type="pres">
      <dgm:prSet presAssocID="{A7352DA0-E790-4835-B93F-9C1652C5947E}"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A5F94A3F-133D-475D-AAC3-1C036E588CB6}" type="pres">
      <dgm:prSet presAssocID="{A7352DA0-E790-4835-B93F-9C1652C5947E}" presName="spaceRect" presStyleCnt="0"/>
      <dgm:spPr/>
    </dgm:pt>
    <dgm:pt modelId="{AC19B829-1FB0-4D29-A757-F63208127C52}" type="pres">
      <dgm:prSet presAssocID="{A7352DA0-E790-4835-B93F-9C1652C5947E}" presName="parTx" presStyleLbl="revTx" presStyleIdx="4" presStyleCnt="5">
        <dgm:presLayoutVars>
          <dgm:chMax val="0"/>
          <dgm:chPref val="0"/>
        </dgm:presLayoutVars>
      </dgm:prSet>
      <dgm:spPr/>
    </dgm:pt>
  </dgm:ptLst>
  <dgm:cxnLst>
    <dgm:cxn modelId="{8EB39D1C-ED56-4D73-AC19-4C852C07F2CF}" srcId="{9AE2A025-EE66-4DCF-8BB5-9DDE16A04853}" destId="{A7352DA0-E790-4835-B93F-9C1652C5947E}" srcOrd="4" destOrd="0" parTransId="{B6F930CF-0D64-45D7-A1D4-44791DD23F8C}" sibTransId="{D4B1759A-284A-4925-8E04-8D8DC125C512}"/>
    <dgm:cxn modelId="{C985AA2B-2174-470B-9EF3-E2ACE5130154}" type="presOf" srcId="{A7352DA0-E790-4835-B93F-9C1652C5947E}" destId="{AC19B829-1FB0-4D29-A757-F63208127C52}" srcOrd="0" destOrd="0" presId="urn:microsoft.com/office/officeart/2018/2/layout/IconVerticalSolidList"/>
    <dgm:cxn modelId="{11CFE462-4524-4185-AB1E-A07C7289B9DB}" srcId="{9AE2A025-EE66-4DCF-8BB5-9DDE16A04853}" destId="{0ECC83A5-B465-415F-AFD7-966777FE8DCE}" srcOrd="1" destOrd="0" parTransId="{5737605F-EB03-4870-9759-49DF831A2290}" sibTransId="{89964B4E-59FC-4A25-A6A0-231DC13BF0AD}"/>
    <dgm:cxn modelId="{106E0345-0DBD-4581-8FEF-D41B2AF69C48}" type="presOf" srcId="{17243604-2D3A-4D5E-819E-190299888792}" destId="{E4B7F7AD-EED9-4642-BA93-6FD4FD2CC00B}" srcOrd="0" destOrd="0" presId="urn:microsoft.com/office/officeart/2018/2/layout/IconVerticalSolidList"/>
    <dgm:cxn modelId="{81034E45-D187-4E01-8D71-4AF5978CFAF1}" srcId="{9AE2A025-EE66-4DCF-8BB5-9DDE16A04853}" destId="{73D082D7-513A-4B4B-B312-DB9B5B2B4E5D}" srcOrd="2" destOrd="0" parTransId="{A6902C95-A231-483C-A5D5-9539CF0F0875}" sibTransId="{F159B32D-D7CE-439E-A4D0-81A864074F34}"/>
    <dgm:cxn modelId="{7A0C2E70-ECBB-4AA4-9F53-7D83A2D0748A}" srcId="{9AE2A025-EE66-4DCF-8BB5-9DDE16A04853}" destId="{F68B4B68-EE30-40ED-930F-F115057246C6}" srcOrd="3" destOrd="0" parTransId="{7A1E3692-7BD4-48CD-A622-2D2C61BBAF8F}" sibTransId="{D91D861F-84E2-4814-8997-4F3616CD98C0}"/>
    <dgm:cxn modelId="{1C1E9354-CB22-4BF1-B08F-6E4E11164A75}" srcId="{9AE2A025-EE66-4DCF-8BB5-9DDE16A04853}" destId="{17243604-2D3A-4D5E-819E-190299888792}" srcOrd="0" destOrd="0" parTransId="{E28F9B4B-807B-4CAC-909C-59FCD3FE81AB}" sibTransId="{69E5FDAD-B197-43D5-8BB0-F5664B88B098}"/>
    <dgm:cxn modelId="{65230F99-9970-4675-A025-D2576010B40B}" type="presOf" srcId="{73D082D7-513A-4B4B-B312-DB9B5B2B4E5D}" destId="{7888E337-73CC-4F3D-9288-494D690D1BD1}" srcOrd="0" destOrd="0" presId="urn:microsoft.com/office/officeart/2018/2/layout/IconVerticalSolidList"/>
    <dgm:cxn modelId="{5E81BFE3-EB50-4829-B2D2-019052FFF806}" type="presOf" srcId="{F68B4B68-EE30-40ED-930F-F115057246C6}" destId="{9BCF2CA2-18F8-421A-8C8B-5888088E82DC}" srcOrd="0" destOrd="0" presId="urn:microsoft.com/office/officeart/2018/2/layout/IconVerticalSolidList"/>
    <dgm:cxn modelId="{0C73A7E7-06DC-4C2C-9D45-86855526AC47}" type="presOf" srcId="{9AE2A025-EE66-4DCF-8BB5-9DDE16A04853}" destId="{B1D961A3-5E21-42CC-B51B-24A2B4922BED}" srcOrd="0" destOrd="0" presId="urn:microsoft.com/office/officeart/2018/2/layout/IconVerticalSolidList"/>
    <dgm:cxn modelId="{FF46D8EE-638E-4928-80F6-B271C1C62EB9}" type="presOf" srcId="{0ECC83A5-B465-415F-AFD7-966777FE8DCE}" destId="{85976128-6DE7-42DB-8722-282C9DBE9385}" srcOrd="0" destOrd="0" presId="urn:microsoft.com/office/officeart/2018/2/layout/IconVerticalSolidList"/>
    <dgm:cxn modelId="{8638578E-FC76-402F-B32E-6283964FE031}" type="presParOf" srcId="{B1D961A3-5E21-42CC-B51B-24A2B4922BED}" destId="{293591A0-94F9-4491-A154-0236A9A32AA4}" srcOrd="0" destOrd="0" presId="urn:microsoft.com/office/officeart/2018/2/layout/IconVerticalSolidList"/>
    <dgm:cxn modelId="{537127CE-1633-46D9-A0BA-7DD92D2FE0EC}" type="presParOf" srcId="{293591A0-94F9-4491-A154-0236A9A32AA4}" destId="{0692A04B-01CD-4EE7-B7C2-529315524663}" srcOrd="0" destOrd="0" presId="urn:microsoft.com/office/officeart/2018/2/layout/IconVerticalSolidList"/>
    <dgm:cxn modelId="{C4D4D0EE-05EB-4943-9951-20F462BA509F}" type="presParOf" srcId="{293591A0-94F9-4491-A154-0236A9A32AA4}" destId="{4AA6080A-E576-47A5-8441-2F8A8060715E}" srcOrd="1" destOrd="0" presId="urn:microsoft.com/office/officeart/2018/2/layout/IconVerticalSolidList"/>
    <dgm:cxn modelId="{D5079B1D-9EC6-41E2-8F11-2A1C4E7BAC77}" type="presParOf" srcId="{293591A0-94F9-4491-A154-0236A9A32AA4}" destId="{D09F402C-E958-4151-A021-97EBF5DD0602}" srcOrd="2" destOrd="0" presId="urn:microsoft.com/office/officeart/2018/2/layout/IconVerticalSolidList"/>
    <dgm:cxn modelId="{0F07E2EB-E140-474F-8A20-77F7F5B65D71}" type="presParOf" srcId="{293591A0-94F9-4491-A154-0236A9A32AA4}" destId="{E4B7F7AD-EED9-4642-BA93-6FD4FD2CC00B}" srcOrd="3" destOrd="0" presId="urn:microsoft.com/office/officeart/2018/2/layout/IconVerticalSolidList"/>
    <dgm:cxn modelId="{3CC993A4-C4CF-4D68-AEB6-CDD203A2B78A}" type="presParOf" srcId="{B1D961A3-5E21-42CC-B51B-24A2B4922BED}" destId="{D15C612A-DC35-443F-9CED-8CBF28E7C765}" srcOrd="1" destOrd="0" presId="urn:microsoft.com/office/officeart/2018/2/layout/IconVerticalSolidList"/>
    <dgm:cxn modelId="{BAF0D21F-F3EC-4860-9FF3-F926E853D0BD}" type="presParOf" srcId="{B1D961A3-5E21-42CC-B51B-24A2B4922BED}" destId="{A7701289-07F0-4AFD-812A-4D033C7F5DE4}" srcOrd="2" destOrd="0" presId="urn:microsoft.com/office/officeart/2018/2/layout/IconVerticalSolidList"/>
    <dgm:cxn modelId="{5E42E928-DCE0-415A-852D-CCEBBBC0A5F8}" type="presParOf" srcId="{A7701289-07F0-4AFD-812A-4D033C7F5DE4}" destId="{E76A484C-056A-4EE8-BBB2-217FD7FAA68A}" srcOrd="0" destOrd="0" presId="urn:microsoft.com/office/officeart/2018/2/layout/IconVerticalSolidList"/>
    <dgm:cxn modelId="{8A74762F-152F-458D-9CCD-FB5A2CBFF71D}" type="presParOf" srcId="{A7701289-07F0-4AFD-812A-4D033C7F5DE4}" destId="{428D218F-9475-471A-BAB4-9DDBCCA05392}" srcOrd="1" destOrd="0" presId="urn:microsoft.com/office/officeart/2018/2/layout/IconVerticalSolidList"/>
    <dgm:cxn modelId="{500ACBB8-EB03-4022-82AC-3EB278382091}" type="presParOf" srcId="{A7701289-07F0-4AFD-812A-4D033C7F5DE4}" destId="{A8ADB644-231C-4830-8F8D-904DDADE446F}" srcOrd="2" destOrd="0" presId="urn:microsoft.com/office/officeart/2018/2/layout/IconVerticalSolidList"/>
    <dgm:cxn modelId="{1AD6CDE9-54D7-4857-A2D0-16BB56D4A264}" type="presParOf" srcId="{A7701289-07F0-4AFD-812A-4D033C7F5DE4}" destId="{85976128-6DE7-42DB-8722-282C9DBE9385}" srcOrd="3" destOrd="0" presId="urn:microsoft.com/office/officeart/2018/2/layout/IconVerticalSolidList"/>
    <dgm:cxn modelId="{55A37E6E-3907-4EC9-A2E1-7F492560EC0F}" type="presParOf" srcId="{B1D961A3-5E21-42CC-B51B-24A2B4922BED}" destId="{A2B19B7A-AFCF-46FE-AC7F-832C754317D2}" srcOrd="3" destOrd="0" presId="urn:microsoft.com/office/officeart/2018/2/layout/IconVerticalSolidList"/>
    <dgm:cxn modelId="{37700C62-A6C6-4C9B-A885-A376EF16F7F5}" type="presParOf" srcId="{B1D961A3-5E21-42CC-B51B-24A2B4922BED}" destId="{66E6B810-F740-4865-82A0-FFF902093B42}" srcOrd="4" destOrd="0" presId="urn:microsoft.com/office/officeart/2018/2/layout/IconVerticalSolidList"/>
    <dgm:cxn modelId="{E22B0BE2-201E-4CE9-B5AB-7C677E3407F6}" type="presParOf" srcId="{66E6B810-F740-4865-82A0-FFF902093B42}" destId="{15FEF489-7AFD-430D-89D9-90CE2CF21E27}" srcOrd="0" destOrd="0" presId="urn:microsoft.com/office/officeart/2018/2/layout/IconVerticalSolidList"/>
    <dgm:cxn modelId="{432EFE32-DDC6-488F-A870-45BCF1363B1D}" type="presParOf" srcId="{66E6B810-F740-4865-82A0-FFF902093B42}" destId="{6C1D61A3-6CE2-4E74-A143-3441AC106AA1}" srcOrd="1" destOrd="0" presId="urn:microsoft.com/office/officeart/2018/2/layout/IconVerticalSolidList"/>
    <dgm:cxn modelId="{E1175387-DB5F-4E82-83AA-CD662033F988}" type="presParOf" srcId="{66E6B810-F740-4865-82A0-FFF902093B42}" destId="{5B95F6A6-490B-4AFF-9150-E10265747B44}" srcOrd="2" destOrd="0" presId="urn:microsoft.com/office/officeart/2018/2/layout/IconVerticalSolidList"/>
    <dgm:cxn modelId="{9BE5C61E-F762-4C30-8C13-69DF3DC8D44B}" type="presParOf" srcId="{66E6B810-F740-4865-82A0-FFF902093B42}" destId="{7888E337-73CC-4F3D-9288-494D690D1BD1}" srcOrd="3" destOrd="0" presId="urn:microsoft.com/office/officeart/2018/2/layout/IconVerticalSolidList"/>
    <dgm:cxn modelId="{B2433D8F-8DE8-4681-9E70-30891C4ED457}" type="presParOf" srcId="{B1D961A3-5E21-42CC-B51B-24A2B4922BED}" destId="{3CF373F7-41F4-4CF4-A51F-B6E4A0CAB0F3}" srcOrd="5" destOrd="0" presId="urn:microsoft.com/office/officeart/2018/2/layout/IconVerticalSolidList"/>
    <dgm:cxn modelId="{13ED6C6C-20F2-46B1-AA5F-7D89E0D1DD1C}" type="presParOf" srcId="{B1D961A3-5E21-42CC-B51B-24A2B4922BED}" destId="{8D13A0BC-CA50-4F36-AD45-19DF0E15F634}" srcOrd="6" destOrd="0" presId="urn:microsoft.com/office/officeart/2018/2/layout/IconVerticalSolidList"/>
    <dgm:cxn modelId="{4C1CA18C-C43A-4D78-AEEE-DBB22C199943}" type="presParOf" srcId="{8D13A0BC-CA50-4F36-AD45-19DF0E15F634}" destId="{08C7D293-B9E3-431A-B185-3E1CC7295F87}" srcOrd="0" destOrd="0" presId="urn:microsoft.com/office/officeart/2018/2/layout/IconVerticalSolidList"/>
    <dgm:cxn modelId="{5343D38A-70B3-4B8B-8647-951EB429FEC2}" type="presParOf" srcId="{8D13A0BC-CA50-4F36-AD45-19DF0E15F634}" destId="{342F5B4E-910D-4914-A5A5-65A07386FC73}" srcOrd="1" destOrd="0" presId="urn:microsoft.com/office/officeart/2018/2/layout/IconVerticalSolidList"/>
    <dgm:cxn modelId="{1F2DACFD-1800-492C-B804-D9FDE1DF8BB9}" type="presParOf" srcId="{8D13A0BC-CA50-4F36-AD45-19DF0E15F634}" destId="{9A17D45C-1257-4E20-9ED6-D8F27D8B170A}" srcOrd="2" destOrd="0" presId="urn:microsoft.com/office/officeart/2018/2/layout/IconVerticalSolidList"/>
    <dgm:cxn modelId="{4784CC74-2DED-4212-880B-089BB826A0D2}" type="presParOf" srcId="{8D13A0BC-CA50-4F36-AD45-19DF0E15F634}" destId="{9BCF2CA2-18F8-421A-8C8B-5888088E82DC}" srcOrd="3" destOrd="0" presId="urn:microsoft.com/office/officeart/2018/2/layout/IconVerticalSolidList"/>
    <dgm:cxn modelId="{8C904421-AF31-4D81-98D6-32906C115E45}" type="presParOf" srcId="{B1D961A3-5E21-42CC-B51B-24A2B4922BED}" destId="{1DFD8D10-D708-4859-9234-0AE9D149D5C8}" srcOrd="7" destOrd="0" presId="urn:microsoft.com/office/officeart/2018/2/layout/IconVerticalSolidList"/>
    <dgm:cxn modelId="{0D578BC7-2865-4FD7-A333-A9D30D063A9C}" type="presParOf" srcId="{B1D961A3-5E21-42CC-B51B-24A2B4922BED}" destId="{B55168BA-155B-42DA-A029-5B2DAC159C95}" srcOrd="8" destOrd="0" presId="urn:microsoft.com/office/officeart/2018/2/layout/IconVerticalSolidList"/>
    <dgm:cxn modelId="{E0F75B90-1256-4F3C-8479-C2756C355DDA}" type="presParOf" srcId="{B55168BA-155B-42DA-A029-5B2DAC159C95}" destId="{0A6A7949-A9CF-4C3B-B97C-1672767966AC}" srcOrd="0" destOrd="0" presId="urn:microsoft.com/office/officeart/2018/2/layout/IconVerticalSolidList"/>
    <dgm:cxn modelId="{40B8F162-4DBC-411B-BF68-FF6EAF78EBD4}" type="presParOf" srcId="{B55168BA-155B-42DA-A029-5B2DAC159C95}" destId="{FD07BAD9-3031-4F57-9E6B-073B5281BADB}" srcOrd="1" destOrd="0" presId="urn:microsoft.com/office/officeart/2018/2/layout/IconVerticalSolidList"/>
    <dgm:cxn modelId="{99880DE0-2736-45BA-AB67-E8F559E22E9D}" type="presParOf" srcId="{B55168BA-155B-42DA-A029-5B2DAC159C95}" destId="{A5F94A3F-133D-475D-AAC3-1C036E588CB6}" srcOrd="2" destOrd="0" presId="urn:microsoft.com/office/officeart/2018/2/layout/IconVerticalSolidList"/>
    <dgm:cxn modelId="{679F9356-8198-4A8D-8D12-EC877008C2EE}" type="presParOf" srcId="{B55168BA-155B-42DA-A029-5B2DAC159C95}" destId="{AC19B829-1FB0-4D29-A757-F63208127C5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5AFB8D2-A0AA-4BA9-BC2B-9334DD1E83A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1913B87-7B6E-453B-9C72-ED6F23FC2508}">
      <dgm:prSet/>
      <dgm:spPr/>
      <dgm:t>
        <a:bodyPr/>
        <a:lstStyle/>
        <a:p>
          <a:r>
            <a:rPr lang="en-US" dirty="0"/>
            <a:t>name the inputs and outputs</a:t>
          </a:r>
        </a:p>
      </dgm:t>
    </dgm:pt>
    <dgm:pt modelId="{3171F782-B086-4DBE-91C6-7CDFAF89C5A2}" type="parTrans" cxnId="{B9C3EE46-15AB-4EA9-95BD-E8369A97E1A9}">
      <dgm:prSet/>
      <dgm:spPr/>
      <dgm:t>
        <a:bodyPr/>
        <a:lstStyle/>
        <a:p>
          <a:endParaRPr lang="en-US"/>
        </a:p>
      </dgm:t>
    </dgm:pt>
    <dgm:pt modelId="{B1DDEB20-DFFD-4E74-95B0-7CD63CA95C1D}" type="sibTrans" cxnId="{B9C3EE46-15AB-4EA9-95BD-E8369A97E1A9}">
      <dgm:prSet/>
      <dgm:spPr/>
      <dgm:t>
        <a:bodyPr/>
        <a:lstStyle/>
        <a:p>
          <a:endParaRPr lang="en-US"/>
        </a:p>
      </dgm:t>
    </dgm:pt>
    <dgm:pt modelId="{69BADF73-F8F6-4D32-9F25-55A2F5EF1551}">
      <dgm:prSet/>
      <dgm:spPr/>
      <dgm:t>
        <a:bodyPr/>
        <a:lstStyle/>
        <a:p>
          <a:r>
            <a:rPr lang="en-US" dirty="0"/>
            <a:t>state assumptions</a:t>
          </a:r>
        </a:p>
      </dgm:t>
    </dgm:pt>
    <dgm:pt modelId="{1B8ECD89-3AE0-4F38-A98D-71ECB403FE37}" type="parTrans" cxnId="{12FDD2AC-113B-4393-9B92-F0E6BD498360}">
      <dgm:prSet/>
      <dgm:spPr/>
      <dgm:t>
        <a:bodyPr/>
        <a:lstStyle/>
        <a:p>
          <a:endParaRPr lang="en-US"/>
        </a:p>
      </dgm:t>
    </dgm:pt>
    <dgm:pt modelId="{CB6D0B00-BB9A-4B33-88DE-EF968563F464}" type="sibTrans" cxnId="{12FDD2AC-113B-4393-9B92-F0E6BD498360}">
      <dgm:prSet/>
      <dgm:spPr/>
      <dgm:t>
        <a:bodyPr/>
        <a:lstStyle/>
        <a:p>
          <a:endParaRPr lang="en-US"/>
        </a:p>
      </dgm:t>
    </dgm:pt>
    <dgm:pt modelId="{D9CB1CA6-27E1-4D06-B1C1-1A114EF6BE2F}">
      <dgm:prSet/>
      <dgm:spPr/>
      <dgm:t>
        <a:bodyPr/>
        <a:lstStyle/>
        <a:p>
          <a:r>
            <a:rPr lang="en-US" dirty="0"/>
            <a:t>write precise steps</a:t>
          </a:r>
        </a:p>
      </dgm:t>
    </dgm:pt>
    <dgm:pt modelId="{2DE5ED3B-D58A-4432-9D9F-502B3C65DBFF}" type="parTrans" cxnId="{9F0659C6-0526-45DB-963C-EF0EA7BC9A72}">
      <dgm:prSet/>
      <dgm:spPr/>
      <dgm:t>
        <a:bodyPr/>
        <a:lstStyle/>
        <a:p>
          <a:endParaRPr lang="en-US"/>
        </a:p>
      </dgm:t>
    </dgm:pt>
    <dgm:pt modelId="{155DB003-2F57-4726-856A-27F2522413EB}" type="sibTrans" cxnId="{9F0659C6-0526-45DB-963C-EF0EA7BC9A72}">
      <dgm:prSet/>
      <dgm:spPr/>
      <dgm:t>
        <a:bodyPr/>
        <a:lstStyle/>
        <a:p>
          <a:endParaRPr lang="en-US"/>
        </a:p>
      </dgm:t>
    </dgm:pt>
    <dgm:pt modelId="{9BDA5331-6B55-423A-91F0-C24ADCCF129D}">
      <dgm:prSet/>
      <dgm:spPr/>
      <dgm:t>
        <a:bodyPr/>
        <a:lstStyle/>
        <a:p>
          <a:r>
            <a:rPr lang="en-US" dirty="0"/>
            <a:t>test normal and edge cases</a:t>
          </a:r>
        </a:p>
      </dgm:t>
    </dgm:pt>
    <dgm:pt modelId="{A35D008B-186E-4F69-8EE7-88A20371538B}" type="parTrans" cxnId="{2BA93F91-774D-476E-8F2D-D19C1B6F8CB5}">
      <dgm:prSet/>
      <dgm:spPr/>
      <dgm:t>
        <a:bodyPr/>
        <a:lstStyle/>
        <a:p>
          <a:endParaRPr lang="en-US"/>
        </a:p>
      </dgm:t>
    </dgm:pt>
    <dgm:pt modelId="{B6E77980-2B7E-438D-A760-EFF518934674}" type="sibTrans" cxnId="{2BA93F91-774D-476E-8F2D-D19C1B6F8CB5}">
      <dgm:prSet/>
      <dgm:spPr/>
      <dgm:t>
        <a:bodyPr/>
        <a:lstStyle/>
        <a:p>
          <a:endParaRPr lang="en-US"/>
        </a:p>
      </dgm:t>
    </dgm:pt>
    <dgm:pt modelId="{AE5F5F4F-E514-4434-9D12-CDBFF92760B1}">
      <dgm:prSet/>
      <dgm:spPr/>
      <dgm:t>
        <a:bodyPr/>
        <a:lstStyle/>
        <a:p>
          <a:r>
            <a:rPr lang="en-US" dirty="0"/>
            <a:t>revise when evidence exposes ambiguity</a:t>
          </a:r>
        </a:p>
      </dgm:t>
    </dgm:pt>
    <dgm:pt modelId="{2DD6CC84-2D01-4CC2-B09E-6B4EED8F5140}" type="parTrans" cxnId="{3C2D4FDB-21B1-46E1-B2F7-A244651109E6}">
      <dgm:prSet/>
      <dgm:spPr/>
      <dgm:t>
        <a:bodyPr/>
        <a:lstStyle/>
        <a:p>
          <a:endParaRPr lang="en-US"/>
        </a:p>
      </dgm:t>
    </dgm:pt>
    <dgm:pt modelId="{2B3ACA9F-D069-429E-917B-D4E1FA97A4A0}" type="sibTrans" cxnId="{3C2D4FDB-21B1-46E1-B2F7-A244651109E6}">
      <dgm:prSet/>
      <dgm:spPr/>
      <dgm:t>
        <a:bodyPr/>
        <a:lstStyle/>
        <a:p>
          <a:endParaRPr lang="en-US"/>
        </a:p>
      </dgm:t>
    </dgm:pt>
    <dgm:pt modelId="{FCF9921F-6DB6-4059-B582-53700E7F9FA9}" type="pres">
      <dgm:prSet presAssocID="{45AFB8D2-A0AA-4BA9-BC2B-9334DD1E83A8}" presName="root" presStyleCnt="0">
        <dgm:presLayoutVars>
          <dgm:dir/>
          <dgm:resizeHandles val="exact"/>
        </dgm:presLayoutVars>
      </dgm:prSet>
      <dgm:spPr/>
    </dgm:pt>
    <dgm:pt modelId="{1A326405-EDFC-4E0F-960F-E03E4EAEDD67}" type="pres">
      <dgm:prSet presAssocID="{81913B87-7B6E-453B-9C72-ED6F23FC2508}" presName="compNode" presStyleCnt="0"/>
      <dgm:spPr/>
    </dgm:pt>
    <dgm:pt modelId="{00635E6C-9604-47DD-8FF7-ABA40A7EE5A0}" type="pres">
      <dgm:prSet presAssocID="{81913B87-7B6E-453B-9C72-ED6F23FC2508}" presName="bgRect" presStyleLbl="bgShp" presStyleIdx="0" presStyleCnt="5"/>
      <dgm:spPr/>
    </dgm:pt>
    <dgm:pt modelId="{3F1209BE-FFBC-437F-874D-B582C0FAE05A}" type="pres">
      <dgm:prSet presAssocID="{81913B87-7B6E-453B-9C72-ED6F23FC2508}"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D57FE127-224F-4EDC-8195-F6E3636E0849}" type="pres">
      <dgm:prSet presAssocID="{81913B87-7B6E-453B-9C72-ED6F23FC2508}" presName="spaceRect" presStyleCnt="0"/>
      <dgm:spPr/>
    </dgm:pt>
    <dgm:pt modelId="{E2B3258D-959E-4A3E-AE68-4FC99A273F18}" type="pres">
      <dgm:prSet presAssocID="{81913B87-7B6E-453B-9C72-ED6F23FC2508}" presName="parTx" presStyleLbl="revTx" presStyleIdx="0" presStyleCnt="5">
        <dgm:presLayoutVars>
          <dgm:chMax val="0"/>
          <dgm:chPref val="0"/>
        </dgm:presLayoutVars>
      </dgm:prSet>
      <dgm:spPr/>
    </dgm:pt>
    <dgm:pt modelId="{DF200214-FDE1-4D82-BA3D-2F0105E8B272}" type="pres">
      <dgm:prSet presAssocID="{B1DDEB20-DFFD-4E74-95B0-7CD63CA95C1D}" presName="sibTrans" presStyleCnt="0"/>
      <dgm:spPr/>
    </dgm:pt>
    <dgm:pt modelId="{3D926727-ACBE-42D1-86C8-172222CE286E}" type="pres">
      <dgm:prSet presAssocID="{69BADF73-F8F6-4D32-9F25-55A2F5EF1551}" presName="compNode" presStyleCnt="0"/>
      <dgm:spPr/>
    </dgm:pt>
    <dgm:pt modelId="{6F0F1236-5A24-49CB-9A9F-99AAEFE9919E}" type="pres">
      <dgm:prSet presAssocID="{69BADF73-F8F6-4D32-9F25-55A2F5EF1551}" presName="bgRect" presStyleLbl="bgShp" presStyleIdx="1" presStyleCnt="5"/>
      <dgm:spPr/>
    </dgm:pt>
    <dgm:pt modelId="{4321A322-543A-464E-8365-E7474DB7559A}" type="pres">
      <dgm:prSet presAssocID="{69BADF73-F8F6-4D32-9F25-55A2F5EF1551}"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582A9CBF-FF46-4F7F-B15D-163769CB1C92}" type="pres">
      <dgm:prSet presAssocID="{69BADF73-F8F6-4D32-9F25-55A2F5EF1551}" presName="spaceRect" presStyleCnt="0"/>
      <dgm:spPr/>
    </dgm:pt>
    <dgm:pt modelId="{746BEEB4-D5C9-49B1-A21D-F7DA3FA13D3C}" type="pres">
      <dgm:prSet presAssocID="{69BADF73-F8F6-4D32-9F25-55A2F5EF1551}" presName="parTx" presStyleLbl="revTx" presStyleIdx="1" presStyleCnt="5">
        <dgm:presLayoutVars>
          <dgm:chMax val="0"/>
          <dgm:chPref val="0"/>
        </dgm:presLayoutVars>
      </dgm:prSet>
      <dgm:spPr/>
    </dgm:pt>
    <dgm:pt modelId="{516C50BE-20C6-4733-841D-B1F9C551F0FB}" type="pres">
      <dgm:prSet presAssocID="{CB6D0B00-BB9A-4B33-88DE-EF968563F464}" presName="sibTrans" presStyleCnt="0"/>
      <dgm:spPr/>
    </dgm:pt>
    <dgm:pt modelId="{DB6986B0-F1B8-4F06-BED2-8593C408123F}" type="pres">
      <dgm:prSet presAssocID="{D9CB1CA6-27E1-4D06-B1C1-1A114EF6BE2F}" presName="compNode" presStyleCnt="0"/>
      <dgm:spPr/>
    </dgm:pt>
    <dgm:pt modelId="{C8917F24-FAA7-4F3D-AC0A-DBA37CDFFE6A}" type="pres">
      <dgm:prSet presAssocID="{D9CB1CA6-27E1-4D06-B1C1-1A114EF6BE2F}" presName="bgRect" presStyleLbl="bgShp" presStyleIdx="2" presStyleCnt="5"/>
      <dgm:spPr/>
    </dgm:pt>
    <dgm:pt modelId="{F8F9A4F1-1281-4491-BF3E-C7BA649BF0C1}" type="pres">
      <dgm:prSet presAssocID="{D9CB1CA6-27E1-4D06-B1C1-1A114EF6BE2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encil"/>
        </a:ext>
      </dgm:extLst>
    </dgm:pt>
    <dgm:pt modelId="{C8243116-CC63-4DB2-978B-9D37BEE946EB}" type="pres">
      <dgm:prSet presAssocID="{D9CB1CA6-27E1-4D06-B1C1-1A114EF6BE2F}" presName="spaceRect" presStyleCnt="0"/>
      <dgm:spPr/>
    </dgm:pt>
    <dgm:pt modelId="{6F244943-F785-4F3C-BA9A-4F7C5F1ED1B0}" type="pres">
      <dgm:prSet presAssocID="{D9CB1CA6-27E1-4D06-B1C1-1A114EF6BE2F}" presName="parTx" presStyleLbl="revTx" presStyleIdx="2" presStyleCnt="5">
        <dgm:presLayoutVars>
          <dgm:chMax val="0"/>
          <dgm:chPref val="0"/>
        </dgm:presLayoutVars>
      </dgm:prSet>
      <dgm:spPr/>
    </dgm:pt>
    <dgm:pt modelId="{CF16D1D4-8842-462B-8456-55E125F72F49}" type="pres">
      <dgm:prSet presAssocID="{155DB003-2F57-4726-856A-27F2522413EB}" presName="sibTrans" presStyleCnt="0"/>
      <dgm:spPr/>
    </dgm:pt>
    <dgm:pt modelId="{F773DF81-B4C1-4F3E-91C1-E9857AF6B4D2}" type="pres">
      <dgm:prSet presAssocID="{9BDA5331-6B55-423A-91F0-C24ADCCF129D}" presName="compNode" presStyleCnt="0"/>
      <dgm:spPr/>
    </dgm:pt>
    <dgm:pt modelId="{59096BEA-B7EF-43A1-83B5-5F4D06E6F270}" type="pres">
      <dgm:prSet presAssocID="{9BDA5331-6B55-423A-91F0-C24ADCCF129D}" presName="bgRect" presStyleLbl="bgShp" presStyleIdx="3" presStyleCnt="5"/>
      <dgm:spPr/>
    </dgm:pt>
    <dgm:pt modelId="{424FF926-F889-4872-8B2D-DD61A0D9B14A}" type="pres">
      <dgm:prSet presAssocID="{9BDA5331-6B55-423A-91F0-C24ADCCF129D}"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mera"/>
        </a:ext>
      </dgm:extLst>
    </dgm:pt>
    <dgm:pt modelId="{2B5DAA3B-E596-43A0-AA35-EDA825890B5D}" type="pres">
      <dgm:prSet presAssocID="{9BDA5331-6B55-423A-91F0-C24ADCCF129D}" presName="spaceRect" presStyleCnt="0"/>
      <dgm:spPr/>
    </dgm:pt>
    <dgm:pt modelId="{0B65CF33-C460-43EC-BDE3-694AC8FC4F86}" type="pres">
      <dgm:prSet presAssocID="{9BDA5331-6B55-423A-91F0-C24ADCCF129D}" presName="parTx" presStyleLbl="revTx" presStyleIdx="3" presStyleCnt="5">
        <dgm:presLayoutVars>
          <dgm:chMax val="0"/>
          <dgm:chPref val="0"/>
        </dgm:presLayoutVars>
      </dgm:prSet>
      <dgm:spPr/>
    </dgm:pt>
    <dgm:pt modelId="{CD41B933-C883-4AD4-8965-BB4C45F45AB0}" type="pres">
      <dgm:prSet presAssocID="{B6E77980-2B7E-438D-A760-EFF518934674}" presName="sibTrans" presStyleCnt="0"/>
      <dgm:spPr/>
    </dgm:pt>
    <dgm:pt modelId="{214283EE-BDB6-40BD-B891-8CD633C40393}" type="pres">
      <dgm:prSet presAssocID="{AE5F5F4F-E514-4434-9D12-CDBFF92760B1}" presName="compNode" presStyleCnt="0"/>
      <dgm:spPr/>
    </dgm:pt>
    <dgm:pt modelId="{D38D0B81-A0B5-436F-9F30-809C43CB5E87}" type="pres">
      <dgm:prSet presAssocID="{AE5F5F4F-E514-4434-9D12-CDBFF92760B1}" presName="bgRect" presStyleLbl="bgShp" presStyleIdx="4" presStyleCnt="5"/>
      <dgm:spPr/>
    </dgm:pt>
    <dgm:pt modelId="{FE218B90-2B52-431F-86FF-E2170465B46A}" type="pres">
      <dgm:prSet presAssocID="{AE5F5F4F-E514-4434-9D12-CDBFF92760B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Question mark"/>
        </a:ext>
      </dgm:extLst>
    </dgm:pt>
    <dgm:pt modelId="{5BC8F0ED-C0FE-4B3D-BBB0-F746EE822CE8}" type="pres">
      <dgm:prSet presAssocID="{AE5F5F4F-E514-4434-9D12-CDBFF92760B1}" presName="spaceRect" presStyleCnt="0"/>
      <dgm:spPr/>
    </dgm:pt>
    <dgm:pt modelId="{DD18FF24-B86B-4BA3-97A4-31FBAC4FAA69}" type="pres">
      <dgm:prSet presAssocID="{AE5F5F4F-E514-4434-9D12-CDBFF92760B1}" presName="parTx" presStyleLbl="revTx" presStyleIdx="4" presStyleCnt="5">
        <dgm:presLayoutVars>
          <dgm:chMax val="0"/>
          <dgm:chPref val="0"/>
        </dgm:presLayoutVars>
      </dgm:prSet>
      <dgm:spPr/>
    </dgm:pt>
  </dgm:ptLst>
  <dgm:cxnLst>
    <dgm:cxn modelId="{B9C3EE46-15AB-4EA9-95BD-E8369A97E1A9}" srcId="{45AFB8D2-A0AA-4BA9-BC2B-9334DD1E83A8}" destId="{81913B87-7B6E-453B-9C72-ED6F23FC2508}" srcOrd="0" destOrd="0" parTransId="{3171F782-B086-4DBE-91C6-7CDFAF89C5A2}" sibTransId="{B1DDEB20-DFFD-4E74-95B0-7CD63CA95C1D}"/>
    <dgm:cxn modelId="{A5F3D74E-BA3A-401C-AACD-586534B98CDE}" type="presOf" srcId="{AE5F5F4F-E514-4434-9D12-CDBFF92760B1}" destId="{DD18FF24-B86B-4BA3-97A4-31FBAC4FAA69}" srcOrd="0" destOrd="0" presId="urn:microsoft.com/office/officeart/2018/2/layout/IconVerticalSolidList"/>
    <dgm:cxn modelId="{AB425C73-3CDC-4974-9FE7-6F2174C07824}" type="presOf" srcId="{D9CB1CA6-27E1-4D06-B1C1-1A114EF6BE2F}" destId="{6F244943-F785-4F3C-BA9A-4F7C5F1ED1B0}" srcOrd="0" destOrd="0" presId="urn:microsoft.com/office/officeart/2018/2/layout/IconVerticalSolidList"/>
    <dgm:cxn modelId="{2BA93F91-774D-476E-8F2D-D19C1B6F8CB5}" srcId="{45AFB8D2-A0AA-4BA9-BC2B-9334DD1E83A8}" destId="{9BDA5331-6B55-423A-91F0-C24ADCCF129D}" srcOrd="3" destOrd="0" parTransId="{A35D008B-186E-4F69-8EE7-88A20371538B}" sibTransId="{B6E77980-2B7E-438D-A760-EFF518934674}"/>
    <dgm:cxn modelId="{ABD5A594-E353-4B35-B1E7-717F8AACDD50}" type="presOf" srcId="{45AFB8D2-A0AA-4BA9-BC2B-9334DD1E83A8}" destId="{FCF9921F-6DB6-4059-B582-53700E7F9FA9}" srcOrd="0" destOrd="0" presId="urn:microsoft.com/office/officeart/2018/2/layout/IconVerticalSolidList"/>
    <dgm:cxn modelId="{DB25E696-57DD-44FD-996E-F82A51B59955}" type="presOf" srcId="{81913B87-7B6E-453B-9C72-ED6F23FC2508}" destId="{E2B3258D-959E-4A3E-AE68-4FC99A273F18}" srcOrd="0" destOrd="0" presId="urn:microsoft.com/office/officeart/2018/2/layout/IconVerticalSolidList"/>
    <dgm:cxn modelId="{12FDD2AC-113B-4393-9B92-F0E6BD498360}" srcId="{45AFB8D2-A0AA-4BA9-BC2B-9334DD1E83A8}" destId="{69BADF73-F8F6-4D32-9F25-55A2F5EF1551}" srcOrd="1" destOrd="0" parTransId="{1B8ECD89-3AE0-4F38-A98D-71ECB403FE37}" sibTransId="{CB6D0B00-BB9A-4B33-88DE-EF968563F464}"/>
    <dgm:cxn modelId="{9F0659C6-0526-45DB-963C-EF0EA7BC9A72}" srcId="{45AFB8D2-A0AA-4BA9-BC2B-9334DD1E83A8}" destId="{D9CB1CA6-27E1-4D06-B1C1-1A114EF6BE2F}" srcOrd="2" destOrd="0" parTransId="{2DE5ED3B-D58A-4432-9D9F-502B3C65DBFF}" sibTransId="{155DB003-2F57-4726-856A-27F2522413EB}"/>
    <dgm:cxn modelId="{482F37D4-60A5-4E71-B497-816CA36BA8BC}" type="presOf" srcId="{9BDA5331-6B55-423A-91F0-C24ADCCF129D}" destId="{0B65CF33-C460-43EC-BDE3-694AC8FC4F86}" srcOrd="0" destOrd="0" presId="urn:microsoft.com/office/officeart/2018/2/layout/IconVerticalSolidList"/>
    <dgm:cxn modelId="{3C2D4FDB-21B1-46E1-B2F7-A244651109E6}" srcId="{45AFB8D2-A0AA-4BA9-BC2B-9334DD1E83A8}" destId="{AE5F5F4F-E514-4434-9D12-CDBFF92760B1}" srcOrd="4" destOrd="0" parTransId="{2DD6CC84-2D01-4CC2-B09E-6B4EED8F5140}" sibTransId="{2B3ACA9F-D069-429E-917B-D4E1FA97A4A0}"/>
    <dgm:cxn modelId="{99A56FF2-DC9E-4410-BAC8-E41E882CD036}" type="presOf" srcId="{69BADF73-F8F6-4D32-9F25-55A2F5EF1551}" destId="{746BEEB4-D5C9-49B1-A21D-F7DA3FA13D3C}" srcOrd="0" destOrd="0" presId="urn:microsoft.com/office/officeart/2018/2/layout/IconVerticalSolidList"/>
    <dgm:cxn modelId="{5B0B0E30-64DD-4A26-9476-B1281B62DCE4}" type="presParOf" srcId="{FCF9921F-6DB6-4059-B582-53700E7F9FA9}" destId="{1A326405-EDFC-4E0F-960F-E03E4EAEDD67}" srcOrd="0" destOrd="0" presId="urn:microsoft.com/office/officeart/2018/2/layout/IconVerticalSolidList"/>
    <dgm:cxn modelId="{5771EE65-FAEE-4CCB-9E93-552AAB0B412B}" type="presParOf" srcId="{1A326405-EDFC-4E0F-960F-E03E4EAEDD67}" destId="{00635E6C-9604-47DD-8FF7-ABA40A7EE5A0}" srcOrd="0" destOrd="0" presId="urn:microsoft.com/office/officeart/2018/2/layout/IconVerticalSolidList"/>
    <dgm:cxn modelId="{A736BFF0-A81D-49D6-9C3F-63E3CFA996AB}" type="presParOf" srcId="{1A326405-EDFC-4E0F-960F-E03E4EAEDD67}" destId="{3F1209BE-FFBC-437F-874D-B582C0FAE05A}" srcOrd="1" destOrd="0" presId="urn:microsoft.com/office/officeart/2018/2/layout/IconVerticalSolidList"/>
    <dgm:cxn modelId="{820AD339-5E5A-4A49-8A71-1D6251BC2E57}" type="presParOf" srcId="{1A326405-EDFC-4E0F-960F-E03E4EAEDD67}" destId="{D57FE127-224F-4EDC-8195-F6E3636E0849}" srcOrd="2" destOrd="0" presId="urn:microsoft.com/office/officeart/2018/2/layout/IconVerticalSolidList"/>
    <dgm:cxn modelId="{2DFDEB04-5C8C-4048-A53C-407B2955C811}" type="presParOf" srcId="{1A326405-EDFC-4E0F-960F-E03E4EAEDD67}" destId="{E2B3258D-959E-4A3E-AE68-4FC99A273F18}" srcOrd="3" destOrd="0" presId="urn:microsoft.com/office/officeart/2018/2/layout/IconVerticalSolidList"/>
    <dgm:cxn modelId="{3C0C3FC3-6417-4790-8EAB-1F263CA29E2B}" type="presParOf" srcId="{FCF9921F-6DB6-4059-B582-53700E7F9FA9}" destId="{DF200214-FDE1-4D82-BA3D-2F0105E8B272}" srcOrd="1" destOrd="0" presId="urn:microsoft.com/office/officeart/2018/2/layout/IconVerticalSolidList"/>
    <dgm:cxn modelId="{399ECEB9-FE1C-47E1-AA81-745B6645DBA2}" type="presParOf" srcId="{FCF9921F-6DB6-4059-B582-53700E7F9FA9}" destId="{3D926727-ACBE-42D1-86C8-172222CE286E}" srcOrd="2" destOrd="0" presId="urn:microsoft.com/office/officeart/2018/2/layout/IconVerticalSolidList"/>
    <dgm:cxn modelId="{70B0D076-2978-40A2-B0BE-FD934140644B}" type="presParOf" srcId="{3D926727-ACBE-42D1-86C8-172222CE286E}" destId="{6F0F1236-5A24-49CB-9A9F-99AAEFE9919E}" srcOrd="0" destOrd="0" presId="urn:microsoft.com/office/officeart/2018/2/layout/IconVerticalSolidList"/>
    <dgm:cxn modelId="{DE6988BE-92DD-4930-9934-811E19141227}" type="presParOf" srcId="{3D926727-ACBE-42D1-86C8-172222CE286E}" destId="{4321A322-543A-464E-8365-E7474DB7559A}" srcOrd="1" destOrd="0" presId="urn:microsoft.com/office/officeart/2018/2/layout/IconVerticalSolidList"/>
    <dgm:cxn modelId="{50769A63-9128-415E-9BA8-F13E49F76E28}" type="presParOf" srcId="{3D926727-ACBE-42D1-86C8-172222CE286E}" destId="{582A9CBF-FF46-4F7F-B15D-163769CB1C92}" srcOrd="2" destOrd="0" presId="urn:microsoft.com/office/officeart/2018/2/layout/IconVerticalSolidList"/>
    <dgm:cxn modelId="{2B079657-35E1-41D5-9608-2FB9299217EE}" type="presParOf" srcId="{3D926727-ACBE-42D1-86C8-172222CE286E}" destId="{746BEEB4-D5C9-49B1-A21D-F7DA3FA13D3C}" srcOrd="3" destOrd="0" presId="urn:microsoft.com/office/officeart/2018/2/layout/IconVerticalSolidList"/>
    <dgm:cxn modelId="{2DA9FC05-172F-406D-A6A0-E0BA3F8D9B3F}" type="presParOf" srcId="{FCF9921F-6DB6-4059-B582-53700E7F9FA9}" destId="{516C50BE-20C6-4733-841D-B1F9C551F0FB}" srcOrd="3" destOrd="0" presId="urn:microsoft.com/office/officeart/2018/2/layout/IconVerticalSolidList"/>
    <dgm:cxn modelId="{0DE7C772-5AD5-4142-B6AD-70DA6D948ADA}" type="presParOf" srcId="{FCF9921F-6DB6-4059-B582-53700E7F9FA9}" destId="{DB6986B0-F1B8-4F06-BED2-8593C408123F}" srcOrd="4" destOrd="0" presId="urn:microsoft.com/office/officeart/2018/2/layout/IconVerticalSolidList"/>
    <dgm:cxn modelId="{CB73E9B1-718B-4043-8652-572904B4EEB0}" type="presParOf" srcId="{DB6986B0-F1B8-4F06-BED2-8593C408123F}" destId="{C8917F24-FAA7-4F3D-AC0A-DBA37CDFFE6A}" srcOrd="0" destOrd="0" presId="urn:microsoft.com/office/officeart/2018/2/layout/IconVerticalSolidList"/>
    <dgm:cxn modelId="{1ECF1E2C-0E17-4F51-8CE6-2AD14F3CB819}" type="presParOf" srcId="{DB6986B0-F1B8-4F06-BED2-8593C408123F}" destId="{F8F9A4F1-1281-4491-BF3E-C7BA649BF0C1}" srcOrd="1" destOrd="0" presId="urn:microsoft.com/office/officeart/2018/2/layout/IconVerticalSolidList"/>
    <dgm:cxn modelId="{40B09291-2B55-4ED4-8B45-6CA638117272}" type="presParOf" srcId="{DB6986B0-F1B8-4F06-BED2-8593C408123F}" destId="{C8243116-CC63-4DB2-978B-9D37BEE946EB}" srcOrd="2" destOrd="0" presId="urn:microsoft.com/office/officeart/2018/2/layout/IconVerticalSolidList"/>
    <dgm:cxn modelId="{50CFCA6C-2303-4A16-A875-8B1C49CCB63E}" type="presParOf" srcId="{DB6986B0-F1B8-4F06-BED2-8593C408123F}" destId="{6F244943-F785-4F3C-BA9A-4F7C5F1ED1B0}" srcOrd="3" destOrd="0" presId="urn:microsoft.com/office/officeart/2018/2/layout/IconVerticalSolidList"/>
    <dgm:cxn modelId="{4BFD9900-E808-47E4-95A0-2B825ACB9FA5}" type="presParOf" srcId="{FCF9921F-6DB6-4059-B582-53700E7F9FA9}" destId="{CF16D1D4-8842-462B-8456-55E125F72F49}" srcOrd="5" destOrd="0" presId="urn:microsoft.com/office/officeart/2018/2/layout/IconVerticalSolidList"/>
    <dgm:cxn modelId="{E2BB53EB-5E37-48B7-B811-6A11B71267D5}" type="presParOf" srcId="{FCF9921F-6DB6-4059-B582-53700E7F9FA9}" destId="{F773DF81-B4C1-4F3E-91C1-E9857AF6B4D2}" srcOrd="6" destOrd="0" presId="urn:microsoft.com/office/officeart/2018/2/layout/IconVerticalSolidList"/>
    <dgm:cxn modelId="{3ACB9600-5FF3-49D0-A322-B0E2CD80C455}" type="presParOf" srcId="{F773DF81-B4C1-4F3E-91C1-E9857AF6B4D2}" destId="{59096BEA-B7EF-43A1-83B5-5F4D06E6F270}" srcOrd="0" destOrd="0" presId="urn:microsoft.com/office/officeart/2018/2/layout/IconVerticalSolidList"/>
    <dgm:cxn modelId="{87240271-EA9A-428B-9571-37F4C2F8C201}" type="presParOf" srcId="{F773DF81-B4C1-4F3E-91C1-E9857AF6B4D2}" destId="{424FF926-F889-4872-8B2D-DD61A0D9B14A}" srcOrd="1" destOrd="0" presId="urn:microsoft.com/office/officeart/2018/2/layout/IconVerticalSolidList"/>
    <dgm:cxn modelId="{B38C194C-716E-44BF-8B94-28C0B0FEE74C}" type="presParOf" srcId="{F773DF81-B4C1-4F3E-91C1-E9857AF6B4D2}" destId="{2B5DAA3B-E596-43A0-AA35-EDA825890B5D}" srcOrd="2" destOrd="0" presId="urn:microsoft.com/office/officeart/2018/2/layout/IconVerticalSolidList"/>
    <dgm:cxn modelId="{A424554D-AEBE-4724-AA69-1351F3D925BC}" type="presParOf" srcId="{F773DF81-B4C1-4F3E-91C1-E9857AF6B4D2}" destId="{0B65CF33-C460-43EC-BDE3-694AC8FC4F86}" srcOrd="3" destOrd="0" presId="urn:microsoft.com/office/officeart/2018/2/layout/IconVerticalSolidList"/>
    <dgm:cxn modelId="{CAC4ABA8-2ED3-4918-986C-75FC3A7E72ED}" type="presParOf" srcId="{FCF9921F-6DB6-4059-B582-53700E7F9FA9}" destId="{CD41B933-C883-4AD4-8965-BB4C45F45AB0}" srcOrd="7" destOrd="0" presId="urn:microsoft.com/office/officeart/2018/2/layout/IconVerticalSolidList"/>
    <dgm:cxn modelId="{28055B28-E899-4B7C-A067-F4C8C0CF11C6}" type="presParOf" srcId="{FCF9921F-6DB6-4059-B582-53700E7F9FA9}" destId="{214283EE-BDB6-40BD-B891-8CD633C40393}" srcOrd="8" destOrd="0" presId="urn:microsoft.com/office/officeart/2018/2/layout/IconVerticalSolidList"/>
    <dgm:cxn modelId="{B98EB5D2-F1A9-489A-835E-EFDA61B122DF}" type="presParOf" srcId="{214283EE-BDB6-40BD-B891-8CD633C40393}" destId="{D38D0B81-A0B5-436F-9F30-809C43CB5E87}" srcOrd="0" destOrd="0" presId="urn:microsoft.com/office/officeart/2018/2/layout/IconVerticalSolidList"/>
    <dgm:cxn modelId="{B5B6BC08-A451-40D0-809B-9AA23D04D55B}" type="presParOf" srcId="{214283EE-BDB6-40BD-B891-8CD633C40393}" destId="{FE218B90-2B52-431F-86FF-E2170465B46A}" srcOrd="1" destOrd="0" presId="urn:microsoft.com/office/officeart/2018/2/layout/IconVerticalSolidList"/>
    <dgm:cxn modelId="{B4E0E2CD-8202-4301-89DE-5F17EACB4020}" type="presParOf" srcId="{214283EE-BDB6-40BD-B891-8CD633C40393}" destId="{5BC8F0ED-C0FE-4B3D-BBB0-F746EE822CE8}" srcOrd="2" destOrd="0" presId="urn:microsoft.com/office/officeart/2018/2/layout/IconVerticalSolidList"/>
    <dgm:cxn modelId="{E3387090-218C-428B-8CB2-642DC8996CF2}" type="presParOf" srcId="{214283EE-BDB6-40BD-B891-8CD633C40393}" destId="{DD18FF24-B86B-4BA3-97A4-31FBAC4FAA6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BE09C96-B0A4-490B-9D5F-CA4B293159EE}" type="doc">
      <dgm:prSet loTypeId="urn:microsoft.com/office/officeart/2005/8/layout/matrix3" loCatId="matrix" qsTypeId="urn:microsoft.com/office/officeart/2005/8/quickstyle/simple1" qsCatId="simple" csTypeId="urn:microsoft.com/office/officeart/2005/8/colors/colorful5" csCatId="colorful"/>
      <dgm:spPr/>
      <dgm:t>
        <a:bodyPr/>
        <a:lstStyle/>
        <a:p>
          <a:endParaRPr lang="en-US"/>
        </a:p>
      </dgm:t>
    </dgm:pt>
    <dgm:pt modelId="{A2CE571B-FB4B-4116-A418-0545FB34A12F}">
      <dgm:prSet/>
      <dgm:spPr/>
      <dgm:t>
        <a:bodyPr/>
        <a:lstStyle/>
        <a:p>
          <a:r>
            <a:rPr lang="en-US"/>
            <a:t>What information do I start with?</a:t>
          </a:r>
        </a:p>
      </dgm:t>
    </dgm:pt>
    <dgm:pt modelId="{4C83A661-209B-4843-A03B-65D060A84258}" type="parTrans" cxnId="{0D7B0A2B-3A64-4AD3-A4F6-8B34FC5D9F9F}">
      <dgm:prSet/>
      <dgm:spPr/>
      <dgm:t>
        <a:bodyPr/>
        <a:lstStyle/>
        <a:p>
          <a:endParaRPr lang="en-US"/>
        </a:p>
      </dgm:t>
    </dgm:pt>
    <dgm:pt modelId="{73DB3AFF-E5D3-4EC6-B9A3-D666CED0CDEA}" type="sibTrans" cxnId="{0D7B0A2B-3A64-4AD3-A4F6-8B34FC5D9F9F}">
      <dgm:prSet/>
      <dgm:spPr/>
      <dgm:t>
        <a:bodyPr/>
        <a:lstStyle/>
        <a:p>
          <a:endParaRPr lang="en-US"/>
        </a:p>
      </dgm:t>
    </dgm:pt>
    <dgm:pt modelId="{D6A0FB24-969D-4589-92DA-BDF8C6F01EFD}">
      <dgm:prSet/>
      <dgm:spPr/>
      <dgm:t>
        <a:bodyPr/>
        <a:lstStyle/>
        <a:p>
          <a:r>
            <a:rPr lang="en-US"/>
            <a:t>What steps do I follow?</a:t>
          </a:r>
        </a:p>
      </dgm:t>
    </dgm:pt>
    <dgm:pt modelId="{E2F551B7-AA47-4047-8B1E-5E569BBE13DE}" type="parTrans" cxnId="{9994F069-FCA4-48A9-86AF-749219348F28}">
      <dgm:prSet/>
      <dgm:spPr/>
      <dgm:t>
        <a:bodyPr/>
        <a:lstStyle/>
        <a:p>
          <a:endParaRPr lang="en-US"/>
        </a:p>
      </dgm:t>
    </dgm:pt>
    <dgm:pt modelId="{56ED05DB-E128-4C5D-8779-35ACA3A6FB55}" type="sibTrans" cxnId="{9994F069-FCA4-48A9-86AF-749219348F28}">
      <dgm:prSet/>
      <dgm:spPr/>
      <dgm:t>
        <a:bodyPr/>
        <a:lstStyle/>
        <a:p>
          <a:endParaRPr lang="en-US"/>
        </a:p>
      </dgm:t>
    </dgm:pt>
    <dgm:pt modelId="{EA07B58F-59FB-49FE-86DF-6A55125910CD}">
      <dgm:prSet/>
      <dgm:spPr/>
      <dgm:t>
        <a:bodyPr/>
        <a:lstStyle/>
        <a:p>
          <a:r>
            <a:rPr lang="en-US"/>
            <a:t>What result should I produce?</a:t>
          </a:r>
        </a:p>
      </dgm:t>
    </dgm:pt>
    <dgm:pt modelId="{57DC028A-E7AD-432F-9EE9-EA7A571CB47E}" type="parTrans" cxnId="{D8C660EA-2C7E-407B-9DC4-574ED7A06710}">
      <dgm:prSet/>
      <dgm:spPr/>
      <dgm:t>
        <a:bodyPr/>
        <a:lstStyle/>
        <a:p>
          <a:endParaRPr lang="en-US"/>
        </a:p>
      </dgm:t>
    </dgm:pt>
    <dgm:pt modelId="{27C1BDEC-E7F2-452A-BE07-1CD08C69E852}" type="sibTrans" cxnId="{D8C660EA-2C7E-407B-9DC4-574ED7A06710}">
      <dgm:prSet/>
      <dgm:spPr/>
      <dgm:t>
        <a:bodyPr/>
        <a:lstStyle/>
        <a:p>
          <a:endParaRPr lang="en-US"/>
        </a:p>
      </dgm:t>
    </dgm:pt>
    <dgm:pt modelId="{C3304E2F-503D-489B-A9CE-649C0343AE04}">
      <dgm:prSet/>
      <dgm:spPr/>
      <dgm:t>
        <a:bodyPr/>
        <a:lstStyle/>
        <a:p>
          <a:r>
            <a:rPr lang="en-US"/>
            <a:t>How will I know it worked?</a:t>
          </a:r>
        </a:p>
      </dgm:t>
    </dgm:pt>
    <dgm:pt modelId="{2FA95D0F-3DFD-4BF8-8033-A93A75D218D4}" type="parTrans" cxnId="{3A6F5A17-9677-41B8-86BB-B248158341EC}">
      <dgm:prSet/>
      <dgm:spPr/>
      <dgm:t>
        <a:bodyPr/>
        <a:lstStyle/>
        <a:p>
          <a:endParaRPr lang="en-US"/>
        </a:p>
      </dgm:t>
    </dgm:pt>
    <dgm:pt modelId="{EF868399-0797-4C42-9213-45C32A2DAFDC}" type="sibTrans" cxnId="{3A6F5A17-9677-41B8-86BB-B248158341EC}">
      <dgm:prSet/>
      <dgm:spPr/>
      <dgm:t>
        <a:bodyPr/>
        <a:lstStyle/>
        <a:p>
          <a:endParaRPr lang="en-US"/>
        </a:p>
      </dgm:t>
    </dgm:pt>
    <dgm:pt modelId="{0F6CD6CA-E614-4152-8F0A-3BE09669EF96}" type="pres">
      <dgm:prSet presAssocID="{FBE09C96-B0A4-490B-9D5F-CA4B293159EE}" presName="matrix" presStyleCnt="0">
        <dgm:presLayoutVars>
          <dgm:chMax val="1"/>
          <dgm:dir/>
          <dgm:resizeHandles val="exact"/>
        </dgm:presLayoutVars>
      </dgm:prSet>
      <dgm:spPr/>
    </dgm:pt>
    <dgm:pt modelId="{874C5B41-AD54-47FD-A4FC-3910F9ADC46E}" type="pres">
      <dgm:prSet presAssocID="{FBE09C96-B0A4-490B-9D5F-CA4B293159EE}" presName="diamond" presStyleLbl="bgShp" presStyleIdx="0" presStyleCnt="1"/>
      <dgm:spPr/>
    </dgm:pt>
    <dgm:pt modelId="{17FC3C87-04FE-4195-AA06-607FA5985935}" type="pres">
      <dgm:prSet presAssocID="{FBE09C96-B0A4-490B-9D5F-CA4B293159EE}" presName="quad1" presStyleLbl="node1" presStyleIdx="0" presStyleCnt="4">
        <dgm:presLayoutVars>
          <dgm:chMax val="0"/>
          <dgm:chPref val="0"/>
          <dgm:bulletEnabled val="1"/>
        </dgm:presLayoutVars>
      </dgm:prSet>
      <dgm:spPr/>
    </dgm:pt>
    <dgm:pt modelId="{4E12119A-93A4-4344-A1FB-61A3A4CA772D}" type="pres">
      <dgm:prSet presAssocID="{FBE09C96-B0A4-490B-9D5F-CA4B293159EE}" presName="quad2" presStyleLbl="node1" presStyleIdx="1" presStyleCnt="4">
        <dgm:presLayoutVars>
          <dgm:chMax val="0"/>
          <dgm:chPref val="0"/>
          <dgm:bulletEnabled val="1"/>
        </dgm:presLayoutVars>
      </dgm:prSet>
      <dgm:spPr/>
    </dgm:pt>
    <dgm:pt modelId="{60ACC203-8FD6-4F88-A38F-FC9BDB0E5C1F}" type="pres">
      <dgm:prSet presAssocID="{FBE09C96-B0A4-490B-9D5F-CA4B293159EE}" presName="quad3" presStyleLbl="node1" presStyleIdx="2" presStyleCnt="4">
        <dgm:presLayoutVars>
          <dgm:chMax val="0"/>
          <dgm:chPref val="0"/>
          <dgm:bulletEnabled val="1"/>
        </dgm:presLayoutVars>
      </dgm:prSet>
      <dgm:spPr/>
    </dgm:pt>
    <dgm:pt modelId="{94C4F992-F9B7-4C42-A57C-0EC0092E60E0}" type="pres">
      <dgm:prSet presAssocID="{FBE09C96-B0A4-490B-9D5F-CA4B293159EE}" presName="quad4" presStyleLbl="node1" presStyleIdx="3" presStyleCnt="4">
        <dgm:presLayoutVars>
          <dgm:chMax val="0"/>
          <dgm:chPref val="0"/>
          <dgm:bulletEnabled val="1"/>
        </dgm:presLayoutVars>
      </dgm:prSet>
      <dgm:spPr/>
    </dgm:pt>
  </dgm:ptLst>
  <dgm:cxnLst>
    <dgm:cxn modelId="{498CE916-A2F9-4A11-8076-E10551DBB623}" type="presOf" srcId="{C3304E2F-503D-489B-A9CE-649C0343AE04}" destId="{94C4F992-F9B7-4C42-A57C-0EC0092E60E0}" srcOrd="0" destOrd="0" presId="urn:microsoft.com/office/officeart/2005/8/layout/matrix3"/>
    <dgm:cxn modelId="{3A6F5A17-9677-41B8-86BB-B248158341EC}" srcId="{FBE09C96-B0A4-490B-9D5F-CA4B293159EE}" destId="{C3304E2F-503D-489B-A9CE-649C0343AE04}" srcOrd="3" destOrd="0" parTransId="{2FA95D0F-3DFD-4BF8-8033-A93A75D218D4}" sibTransId="{EF868399-0797-4C42-9213-45C32A2DAFDC}"/>
    <dgm:cxn modelId="{23B01422-676E-49A9-B60E-B6630406F172}" type="presOf" srcId="{EA07B58F-59FB-49FE-86DF-6A55125910CD}" destId="{60ACC203-8FD6-4F88-A38F-FC9BDB0E5C1F}" srcOrd="0" destOrd="0" presId="urn:microsoft.com/office/officeart/2005/8/layout/matrix3"/>
    <dgm:cxn modelId="{606D2124-7485-46C6-8432-4AE22D86BB6B}" type="presOf" srcId="{A2CE571B-FB4B-4116-A418-0545FB34A12F}" destId="{17FC3C87-04FE-4195-AA06-607FA5985935}" srcOrd="0" destOrd="0" presId="urn:microsoft.com/office/officeart/2005/8/layout/matrix3"/>
    <dgm:cxn modelId="{0D7B0A2B-3A64-4AD3-A4F6-8B34FC5D9F9F}" srcId="{FBE09C96-B0A4-490B-9D5F-CA4B293159EE}" destId="{A2CE571B-FB4B-4116-A418-0545FB34A12F}" srcOrd="0" destOrd="0" parTransId="{4C83A661-209B-4843-A03B-65D060A84258}" sibTransId="{73DB3AFF-E5D3-4EC6-B9A3-D666CED0CDEA}"/>
    <dgm:cxn modelId="{94944444-7A7D-4DAE-858C-E927B273F31F}" type="presOf" srcId="{D6A0FB24-969D-4589-92DA-BDF8C6F01EFD}" destId="{4E12119A-93A4-4344-A1FB-61A3A4CA772D}" srcOrd="0" destOrd="0" presId="urn:microsoft.com/office/officeart/2005/8/layout/matrix3"/>
    <dgm:cxn modelId="{9994F069-FCA4-48A9-86AF-749219348F28}" srcId="{FBE09C96-B0A4-490B-9D5F-CA4B293159EE}" destId="{D6A0FB24-969D-4589-92DA-BDF8C6F01EFD}" srcOrd="1" destOrd="0" parTransId="{E2F551B7-AA47-4047-8B1E-5E569BBE13DE}" sibTransId="{56ED05DB-E128-4C5D-8779-35ACA3A6FB55}"/>
    <dgm:cxn modelId="{9A46394C-B3DA-4D98-968E-6225C3AD962F}" type="presOf" srcId="{FBE09C96-B0A4-490B-9D5F-CA4B293159EE}" destId="{0F6CD6CA-E614-4152-8F0A-3BE09669EF96}" srcOrd="0" destOrd="0" presId="urn:microsoft.com/office/officeart/2005/8/layout/matrix3"/>
    <dgm:cxn modelId="{D8C660EA-2C7E-407B-9DC4-574ED7A06710}" srcId="{FBE09C96-B0A4-490B-9D5F-CA4B293159EE}" destId="{EA07B58F-59FB-49FE-86DF-6A55125910CD}" srcOrd="2" destOrd="0" parTransId="{57DC028A-E7AD-432F-9EE9-EA7A571CB47E}" sibTransId="{27C1BDEC-E7F2-452A-BE07-1CD08C69E852}"/>
    <dgm:cxn modelId="{C96FC27F-EAE9-4238-89EB-0A230588510B}" type="presParOf" srcId="{0F6CD6CA-E614-4152-8F0A-3BE09669EF96}" destId="{874C5B41-AD54-47FD-A4FC-3910F9ADC46E}" srcOrd="0" destOrd="0" presId="urn:microsoft.com/office/officeart/2005/8/layout/matrix3"/>
    <dgm:cxn modelId="{7619B75D-6E2D-40D8-A567-1AA63A11978B}" type="presParOf" srcId="{0F6CD6CA-E614-4152-8F0A-3BE09669EF96}" destId="{17FC3C87-04FE-4195-AA06-607FA5985935}" srcOrd="1" destOrd="0" presId="urn:microsoft.com/office/officeart/2005/8/layout/matrix3"/>
    <dgm:cxn modelId="{42B93DBC-F087-4414-A507-35169C9A6BA5}" type="presParOf" srcId="{0F6CD6CA-E614-4152-8F0A-3BE09669EF96}" destId="{4E12119A-93A4-4344-A1FB-61A3A4CA772D}" srcOrd="2" destOrd="0" presId="urn:microsoft.com/office/officeart/2005/8/layout/matrix3"/>
    <dgm:cxn modelId="{2EC967FA-8657-4A60-9F6B-88C83CFA71FD}" type="presParOf" srcId="{0F6CD6CA-E614-4152-8F0A-3BE09669EF96}" destId="{60ACC203-8FD6-4F88-A38F-FC9BDB0E5C1F}" srcOrd="3" destOrd="0" presId="urn:microsoft.com/office/officeart/2005/8/layout/matrix3"/>
    <dgm:cxn modelId="{D88B1FA4-19D8-435F-95A0-C1C4AAC034B0}" type="presParOf" srcId="{0F6CD6CA-E614-4152-8F0A-3BE09669EF96}" destId="{94C4F992-F9B7-4C42-A57C-0EC0092E60E0}"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A0F6726-2856-4A51-A9FE-50B63175A45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FEF55A4-3D14-4BC1-B5F6-E0587F6572ED}">
      <dgm:prSet/>
      <dgm:spPr/>
      <dgm:t>
        <a:bodyPr/>
        <a:lstStyle/>
        <a:p>
          <a:r>
            <a:rPr lang="en-US" dirty="0"/>
            <a:t>Vague Words:</a:t>
          </a:r>
        </a:p>
      </dgm:t>
    </dgm:pt>
    <dgm:pt modelId="{DE2317C8-1275-4199-A7E7-1D9223962FA8}" type="parTrans" cxnId="{36D91B06-B1B6-4CF0-821F-F09E0E932BF4}">
      <dgm:prSet/>
      <dgm:spPr/>
      <dgm:t>
        <a:bodyPr/>
        <a:lstStyle/>
        <a:p>
          <a:endParaRPr lang="en-US"/>
        </a:p>
      </dgm:t>
    </dgm:pt>
    <dgm:pt modelId="{B36D3EC5-DDC6-4B19-A1BE-7E35F42E3372}" type="sibTrans" cxnId="{36D91B06-B1B6-4CF0-821F-F09E0E932BF4}">
      <dgm:prSet/>
      <dgm:spPr/>
      <dgm:t>
        <a:bodyPr/>
        <a:lstStyle/>
        <a:p>
          <a:endParaRPr lang="en-US"/>
        </a:p>
      </dgm:t>
    </dgm:pt>
    <dgm:pt modelId="{5C839B86-AA9C-4BE7-8AA6-C796DB4842FE}">
      <dgm:prSet/>
      <dgm:spPr/>
      <dgm:t>
        <a:bodyPr/>
        <a:lstStyle/>
        <a:p>
          <a:r>
            <a:rPr lang="en-US"/>
            <a:t>Low</a:t>
          </a:r>
        </a:p>
      </dgm:t>
    </dgm:pt>
    <dgm:pt modelId="{A0D055F5-1C51-4697-9FD2-752BCBD31C53}" type="parTrans" cxnId="{58C15915-D15A-4C8F-8413-67A4F962FBF7}">
      <dgm:prSet/>
      <dgm:spPr/>
      <dgm:t>
        <a:bodyPr/>
        <a:lstStyle/>
        <a:p>
          <a:endParaRPr lang="en-US"/>
        </a:p>
      </dgm:t>
    </dgm:pt>
    <dgm:pt modelId="{E275EAA2-9480-455A-9A72-4535825E44DF}" type="sibTrans" cxnId="{58C15915-D15A-4C8F-8413-67A4F962FBF7}">
      <dgm:prSet/>
      <dgm:spPr/>
      <dgm:t>
        <a:bodyPr/>
        <a:lstStyle/>
        <a:p>
          <a:endParaRPr lang="en-US"/>
        </a:p>
      </dgm:t>
    </dgm:pt>
    <dgm:pt modelId="{5643656F-A44A-4A80-95DB-360BF86FB32A}">
      <dgm:prSet/>
      <dgm:spPr/>
      <dgm:t>
        <a:bodyPr/>
        <a:lstStyle/>
        <a:p>
          <a:r>
            <a:rPr lang="en-US"/>
            <a:t>Soon</a:t>
          </a:r>
        </a:p>
      </dgm:t>
    </dgm:pt>
    <dgm:pt modelId="{F892446F-E2D9-4114-A345-7B86620D1D61}" type="parTrans" cxnId="{420CF153-E437-4230-A64B-339BA0AAB3DC}">
      <dgm:prSet/>
      <dgm:spPr/>
      <dgm:t>
        <a:bodyPr/>
        <a:lstStyle/>
        <a:p>
          <a:endParaRPr lang="en-US"/>
        </a:p>
      </dgm:t>
    </dgm:pt>
    <dgm:pt modelId="{F74A14D2-3AB2-4225-884B-9A6734AD5C13}" type="sibTrans" cxnId="{420CF153-E437-4230-A64B-339BA0AAB3DC}">
      <dgm:prSet/>
      <dgm:spPr/>
      <dgm:t>
        <a:bodyPr/>
        <a:lstStyle/>
        <a:p>
          <a:endParaRPr lang="en-US"/>
        </a:p>
      </dgm:t>
    </dgm:pt>
    <dgm:pt modelId="{030F79F4-C462-4942-A213-6A2080D9AAF4}">
      <dgm:prSet/>
      <dgm:spPr/>
      <dgm:t>
        <a:bodyPr/>
        <a:lstStyle/>
        <a:p>
          <a:r>
            <a:rPr lang="en-US"/>
            <a:t>Many</a:t>
          </a:r>
        </a:p>
      </dgm:t>
    </dgm:pt>
    <dgm:pt modelId="{A32AD023-4928-403F-B96B-D0F0CD11DEA3}" type="parTrans" cxnId="{BB2DB925-9663-4C69-87DB-1B509C369C51}">
      <dgm:prSet/>
      <dgm:spPr/>
      <dgm:t>
        <a:bodyPr/>
        <a:lstStyle/>
        <a:p>
          <a:endParaRPr lang="en-US"/>
        </a:p>
      </dgm:t>
    </dgm:pt>
    <dgm:pt modelId="{AB180A39-7572-491E-A703-0259E02AA4D9}" type="sibTrans" cxnId="{BB2DB925-9663-4C69-87DB-1B509C369C51}">
      <dgm:prSet/>
      <dgm:spPr/>
      <dgm:t>
        <a:bodyPr/>
        <a:lstStyle/>
        <a:p>
          <a:endParaRPr lang="en-US"/>
        </a:p>
      </dgm:t>
    </dgm:pt>
    <dgm:pt modelId="{106E108F-525D-4170-A2C2-A5954577379F}">
      <dgm:prSet/>
      <dgm:spPr/>
      <dgm:t>
        <a:bodyPr/>
        <a:lstStyle/>
        <a:p>
          <a:r>
            <a:rPr lang="en-US"/>
            <a:t>Best</a:t>
          </a:r>
        </a:p>
      </dgm:t>
    </dgm:pt>
    <dgm:pt modelId="{DC06198E-5F00-4E5B-841F-F864C750C897}" type="parTrans" cxnId="{E69DD94C-7588-4E47-80E2-D5B88F3790BE}">
      <dgm:prSet/>
      <dgm:spPr/>
      <dgm:t>
        <a:bodyPr/>
        <a:lstStyle/>
        <a:p>
          <a:endParaRPr lang="en-US"/>
        </a:p>
      </dgm:t>
    </dgm:pt>
    <dgm:pt modelId="{33FB4B62-76A2-464B-81D0-CC5C45F9CE29}" type="sibTrans" cxnId="{E69DD94C-7588-4E47-80E2-D5B88F3790BE}">
      <dgm:prSet/>
      <dgm:spPr/>
      <dgm:t>
        <a:bodyPr/>
        <a:lstStyle/>
        <a:p>
          <a:endParaRPr lang="en-US"/>
        </a:p>
      </dgm:t>
    </dgm:pt>
    <dgm:pt modelId="{4AA5E0E2-4C85-4452-8D3A-FB579CEF9FB8}">
      <dgm:prSet/>
      <dgm:spPr/>
      <dgm:t>
        <a:bodyPr/>
        <a:lstStyle/>
        <a:p>
          <a:r>
            <a:rPr lang="en-US"/>
            <a:t>Reasonable</a:t>
          </a:r>
        </a:p>
      </dgm:t>
    </dgm:pt>
    <dgm:pt modelId="{9480649B-9438-4564-AA5F-8EB996FAF9B5}" type="parTrans" cxnId="{802A7EDB-94B8-41C8-BC80-60A18D0DE72C}">
      <dgm:prSet/>
      <dgm:spPr/>
      <dgm:t>
        <a:bodyPr/>
        <a:lstStyle/>
        <a:p>
          <a:endParaRPr lang="en-US"/>
        </a:p>
      </dgm:t>
    </dgm:pt>
    <dgm:pt modelId="{D03AE43A-24E9-4CE2-96F5-878F3567024E}" type="sibTrans" cxnId="{802A7EDB-94B8-41C8-BC80-60A18D0DE72C}">
      <dgm:prSet/>
      <dgm:spPr/>
      <dgm:t>
        <a:bodyPr/>
        <a:lstStyle/>
        <a:p>
          <a:endParaRPr lang="en-US"/>
        </a:p>
      </dgm:t>
    </dgm:pt>
    <dgm:pt modelId="{26484683-FC53-42D0-B51B-7139A306C9A6}">
      <dgm:prSet/>
      <dgm:spPr/>
      <dgm:t>
        <a:bodyPr/>
        <a:lstStyle/>
        <a:p>
          <a:r>
            <a:rPr lang="en-US" dirty="0"/>
            <a:t>Urgent</a:t>
          </a:r>
        </a:p>
      </dgm:t>
    </dgm:pt>
    <dgm:pt modelId="{C6FCD3EE-0D56-4694-81F9-D8F078B58E93}" type="parTrans" cxnId="{288225F6-011F-459E-999D-2EF587756327}">
      <dgm:prSet/>
      <dgm:spPr/>
      <dgm:t>
        <a:bodyPr/>
        <a:lstStyle/>
        <a:p>
          <a:endParaRPr lang="en-US"/>
        </a:p>
      </dgm:t>
    </dgm:pt>
    <dgm:pt modelId="{663C70DA-C72E-4B37-9F04-73E2076F1B1C}" type="sibTrans" cxnId="{288225F6-011F-459E-999D-2EF587756327}">
      <dgm:prSet/>
      <dgm:spPr/>
      <dgm:t>
        <a:bodyPr/>
        <a:lstStyle/>
        <a:p>
          <a:endParaRPr lang="en-US"/>
        </a:p>
      </dgm:t>
    </dgm:pt>
    <dgm:pt modelId="{0240CB46-917D-42DF-AE7D-5D661B2BEDF1}" type="pres">
      <dgm:prSet presAssocID="{3A0F6726-2856-4A51-A9FE-50B63175A457}" presName="vert0" presStyleCnt="0">
        <dgm:presLayoutVars>
          <dgm:dir/>
          <dgm:animOne val="branch"/>
          <dgm:animLvl val="lvl"/>
        </dgm:presLayoutVars>
      </dgm:prSet>
      <dgm:spPr/>
    </dgm:pt>
    <dgm:pt modelId="{AC65E652-5339-48DF-AD8A-24F7D2D282F8}" type="pres">
      <dgm:prSet presAssocID="{6FEF55A4-3D14-4BC1-B5F6-E0587F6572ED}" presName="thickLine" presStyleLbl="alignNode1" presStyleIdx="0" presStyleCnt="1"/>
      <dgm:spPr/>
    </dgm:pt>
    <dgm:pt modelId="{6A2CE66A-90C4-490C-A97F-231D3B3D37DA}" type="pres">
      <dgm:prSet presAssocID="{6FEF55A4-3D14-4BC1-B5F6-E0587F6572ED}" presName="horz1" presStyleCnt="0"/>
      <dgm:spPr/>
    </dgm:pt>
    <dgm:pt modelId="{9C52A342-BAF8-4D14-9038-C67C3F0594C7}" type="pres">
      <dgm:prSet presAssocID="{6FEF55A4-3D14-4BC1-B5F6-E0587F6572ED}" presName="tx1" presStyleLbl="revTx" presStyleIdx="0" presStyleCnt="7"/>
      <dgm:spPr/>
    </dgm:pt>
    <dgm:pt modelId="{4D94F150-CE53-4BAF-915C-BE04097C1965}" type="pres">
      <dgm:prSet presAssocID="{6FEF55A4-3D14-4BC1-B5F6-E0587F6572ED}" presName="vert1" presStyleCnt="0"/>
      <dgm:spPr/>
    </dgm:pt>
    <dgm:pt modelId="{EFA60937-BACE-4E48-AD8B-9F95A059B404}" type="pres">
      <dgm:prSet presAssocID="{5C839B86-AA9C-4BE7-8AA6-C796DB4842FE}" presName="vertSpace2a" presStyleCnt="0"/>
      <dgm:spPr/>
    </dgm:pt>
    <dgm:pt modelId="{B36CCD07-3D7F-46A4-AD10-A3D34C5A337B}" type="pres">
      <dgm:prSet presAssocID="{5C839B86-AA9C-4BE7-8AA6-C796DB4842FE}" presName="horz2" presStyleCnt="0"/>
      <dgm:spPr/>
    </dgm:pt>
    <dgm:pt modelId="{60178440-6FA1-467F-9FE0-B509F7E83200}" type="pres">
      <dgm:prSet presAssocID="{5C839B86-AA9C-4BE7-8AA6-C796DB4842FE}" presName="horzSpace2" presStyleCnt="0"/>
      <dgm:spPr/>
    </dgm:pt>
    <dgm:pt modelId="{9BAEFEE7-C3BC-4DD0-AEDC-E60423D312EC}" type="pres">
      <dgm:prSet presAssocID="{5C839B86-AA9C-4BE7-8AA6-C796DB4842FE}" presName="tx2" presStyleLbl="revTx" presStyleIdx="1" presStyleCnt="7"/>
      <dgm:spPr/>
    </dgm:pt>
    <dgm:pt modelId="{EE4FE1F6-A861-4907-814B-B4F8C56DB3C4}" type="pres">
      <dgm:prSet presAssocID="{5C839B86-AA9C-4BE7-8AA6-C796DB4842FE}" presName="vert2" presStyleCnt="0"/>
      <dgm:spPr/>
    </dgm:pt>
    <dgm:pt modelId="{411DFEC6-A130-472F-BDCD-4C18105B716B}" type="pres">
      <dgm:prSet presAssocID="{5C839B86-AA9C-4BE7-8AA6-C796DB4842FE}" presName="thinLine2b" presStyleLbl="callout" presStyleIdx="0" presStyleCnt="6"/>
      <dgm:spPr/>
    </dgm:pt>
    <dgm:pt modelId="{576026D3-38FB-4536-A135-6344BA10A8F0}" type="pres">
      <dgm:prSet presAssocID="{5C839B86-AA9C-4BE7-8AA6-C796DB4842FE}" presName="vertSpace2b" presStyleCnt="0"/>
      <dgm:spPr/>
    </dgm:pt>
    <dgm:pt modelId="{A323DA47-9565-4873-B4AD-C3FFD2E6E433}" type="pres">
      <dgm:prSet presAssocID="{5643656F-A44A-4A80-95DB-360BF86FB32A}" presName="horz2" presStyleCnt="0"/>
      <dgm:spPr/>
    </dgm:pt>
    <dgm:pt modelId="{24A87980-FCA9-45CA-A7EB-52F9820F7C88}" type="pres">
      <dgm:prSet presAssocID="{5643656F-A44A-4A80-95DB-360BF86FB32A}" presName="horzSpace2" presStyleCnt="0"/>
      <dgm:spPr/>
    </dgm:pt>
    <dgm:pt modelId="{C218F2E3-E0E1-4CAE-9397-28EA56623455}" type="pres">
      <dgm:prSet presAssocID="{5643656F-A44A-4A80-95DB-360BF86FB32A}" presName="tx2" presStyleLbl="revTx" presStyleIdx="2" presStyleCnt="7"/>
      <dgm:spPr/>
    </dgm:pt>
    <dgm:pt modelId="{9225C250-1F33-408A-B249-80CA6B49AC2F}" type="pres">
      <dgm:prSet presAssocID="{5643656F-A44A-4A80-95DB-360BF86FB32A}" presName="vert2" presStyleCnt="0"/>
      <dgm:spPr/>
    </dgm:pt>
    <dgm:pt modelId="{72FBEE0C-25B5-42A0-A98E-C8AF28B070AD}" type="pres">
      <dgm:prSet presAssocID="{5643656F-A44A-4A80-95DB-360BF86FB32A}" presName="thinLine2b" presStyleLbl="callout" presStyleIdx="1" presStyleCnt="6"/>
      <dgm:spPr/>
    </dgm:pt>
    <dgm:pt modelId="{563A0D88-E127-4203-B0A4-5BED410FD663}" type="pres">
      <dgm:prSet presAssocID="{5643656F-A44A-4A80-95DB-360BF86FB32A}" presName="vertSpace2b" presStyleCnt="0"/>
      <dgm:spPr/>
    </dgm:pt>
    <dgm:pt modelId="{A295AEB0-65FB-43D5-A6D9-0952A53302E0}" type="pres">
      <dgm:prSet presAssocID="{030F79F4-C462-4942-A213-6A2080D9AAF4}" presName="horz2" presStyleCnt="0"/>
      <dgm:spPr/>
    </dgm:pt>
    <dgm:pt modelId="{35439F63-0E1F-4F4F-A4DD-07E19624A310}" type="pres">
      <dgm:prSet presAssocID="{030F79F4-C462-4942-A213-6A2080D9AAF4}" presName="horzSpace2" presStyleCnt="0"/>
      <dgm:spPr/>
    </dgm:pt>
    <dgm:pt modelId="{A9B14066-EFC1-4E34-AD52-9CAAF21FD84D}" type="pres">
      <dgm:prSet presAssocID="{030F79F4-C462-4942-A213-6A2080D9AAF4}" presName="tx2" presStyleLbl="revTx" presStyleIdx="3" presStyleCnt="7"/>
      <dgm:spPr/>
    </dgm:pt>
    <dgm:pt modelId="{8D4FDEAE-5BD6-48DB-A14B-75CD37815F62}" type="pres">
      <dgm:prSet presAssocID="{030F79F4-C462-4942-A213-6A2080D9AAF4}" presName="vert2" presStyleCnt="0"/>
      <dgm:spPr/>
    </dgm:pt>
    <dgm:pt modelId="{25AE5E3B-1BF7-412E-85BA-B1623FBF70F0}" type="pres">
      <dgm:prSet presAssocID="{030F79F4-C462-4942-A213-6A2080D9AAF4}" presName="thinLine2b" presStyleLbl="callout" presStyleIdx="2" presStyleCnt="6"/>
      <dgm:spPr/>
    </dgm:pt>
    <dgm:pt modelId="{9BD77E01-CAD2-4EF8-8A3D-F1984A478138}" type="pres">
      <dgm:prSet presAssocID="{030F79F4-C462-4942-A213-6A2080D9AAF4}" presName="vertSpace2b" presStyleCnt="0"/>
      <dgm:spPr/>
    </dgm:pt>
    <dgm:pt modelId="{CF94DD19-0860-4732-BBD7-268808CE251E}" type="pres">
      <dgm:prSet presAssocID="{106E108F-525D-4170-A2C2-A5954577379F}" presName="horz2" presStyleCnt="0"/>
      <dgm:spPr/>
    </dgm:pt>
    <dgm:pt modelId="{3FCD9A3D-E52E-42A8-96B6-64521DC61006}" type="pres">
      <dgm:prSet presAssocID="{106E108F-525D-4170-A2C2-A5954577379F}" presName="horzSpace2" presStyleCnt="0"/>
      <dgm:spPr/>
    </dgm:pt>
    <dgm:pt modelId="{8E3EAE6E-9F4D-4A11-988A-2764B5CE0811}" type="pres">
      <dgm:prSet presAssocID="{106E108F-525D-4170-A2C2-A5954577379F}" presName="tx2" presStyleLbl="revTx" presStyleIdx="4" presStyleCnt="7"/>
      <dgm:spPr/>
    </dgm:pt>
    <dgm:pt modelId="{1F6C2B4F-76FC-4487-A97A-7D49A1F30593}" type="pres">
      <dgm:prSet presAssocID="{106E108F-525D-4170-A2C2-A5954577379F}" presName="vert2" presStyleCnt="0"/>
      <dgm:spPr/>
    </dgm:pt>
    <dgm:pt modelId="{28D8D3E3-6A13-4D54-8A3C-D71B0D199697}" type="pres">
      <dgm:prSet presAssocID="{106E108F-525D-4170-A2C2-A5954577379F}" presName="thinLine2b" presStyleLbl="callout" presStyleIdx="3" presStyleCnt="6"/>
      <dgm:spPr/>
    </dgm:pt>
    <dgm:pt modelId="{639E4831-66B2-4E10-9BEB-C9EE14ADE482}" type="pres">
      <dgm:prSet presAssocID="{106E108F-525D-4170-A2C2-A5954577379F}" presName="vertSpace2b" presStyleCnt="0"/>
      <dgm:spPr/>
    </dgm:pt>
    <dgm:pt modelId="{59FD9F99-511D-4FEA-862A-48C818DF1670}" type="pres">
      <dgm:prSet presAssocID="{4AA5E0E2-4C85-4452-8D3A-FB579CEF9FB8}" presName="horz2" presStyleCnt="0"/>
      <dgm:spPr/>
    </dgm:pt>
    <dgm:pt modelId="{DFF002EE-D855-45AF-A2B2-74EB0854891F}" type="pres">
      <dgm:prSet presAssocID="{4AA5E0E2-4C85-4452-8D3A-FB579CEF9FB8}" presName="horzSpace2" presStyleCnt="0"/>
      <dgm:spPr/>
    </dgm:pt>
    <dgm:pt modelId="{C196AADB-E607-4E4D-A258-99B83E2262E9}" type="pres">
      <dgm:prSet presAssocID="{4AA5E0E2-4C85-4452-8D3A-FB579CEF9FB8}" presName="tx2" presStyleLbl="revTx" presStyleIdx="5" presStyleCnt="7"/>
      <dgm:spPr/>
    </dgm:pt>
    <dgm:pt modelId="{61D344B7-B335-4A09-B380-37FF7AC3F17B}" type="pres">
      <dgm:prSet presAssocID="{4AA5E0E2-4C85-4452-8D3A-FB579CEF9FB8}" presName="vert2" presStyleCnt="0"/>
      <dgm:spPr/>
    </dgm:pt>
    <dgm:pt modelId="{57A57590-46A6-43A7-9E59-1234E1C87324}" type="pres">
      <dgm:prSet presAssocID="{4AA5E0E2-4C85-4452-8D3A-FB579CEF9FB8}" presName="thinLine2b" presStyleLbl="callout" presStyleIdx="4" presStyleCnt="6"/>
      <dgm:spPr/>
    </dgm:pt>
    <dgm:pt modelId="{DBD2D716-8302-40AF-B303-629E34F22F19}" type="pres">
      <dgm:prSet presAssocID="{4AA5E0E2-4C85-4452-8D3A-FB579CEF9FB8}" presName="vertSpace2b" presStyleCnt="0"/>
      <dgm:spPr/>
    </dgm:pt>
    <dgm:pt modelId="{42412681-D794-4BD0-AD98-993B7E0D2614}" type="pres">
      <dgm:prSet presAssocID="{26484683-FC53-42D0-B51B-7139A306C9A6}" presName="horz2" presStyleCnt="0"/>
      <dgm:spPr/>
    </dgm:pt>
    <dgm:pt modelId="{4F139A6B-FF1B-490F-AA88-D857958DD381}" type="pres">
      <dgm:prSet presAssocID="{26484683-FC53-42D0-B51B-7139A306C9A6}" presName="horzSpace2" presStyleCnt="0"/>
      <dgm:spPr/>
    </dgm:pt>
    <dgm:pt modelId="{A298F680-A498-4F23-97AC-742AA26EE349}" type="pres">
      <dgm:prSet presAssocID="{26484683-FC53-42D0-B51B-7139A306C9A6}" presName="tx2" presStyleLbl="revTx" presStyleIdx="6" presStyleCnt="7"/>
      <dgm:spPr/>
    </dgm:pt>
    <dgm:pt modelId="{0AF951A5-1BB2-4240-8B47-20436D8142CB}" type="pres">
      <dgm:prSet presAssocID="{26484683-FC53-42D0-B51B-7139A306C9A6}" presName="vert2" presStyleCnt="0"/>
      <dgm:spPr/>
    </dgm:pt>
    <dgm:pt modelId="{CD0C1C79-8ABA-4459-B5FD-5EF978E2D215}" type="pres">
      <dgm:prSet presAssocID="{26484683-FC53-42D0-B51B-7139A306C9A6}" presName="thinLine2b" presStyleLbl="callout" presStyleIdx="5" presStyleCnt="6"/>
      <dgm:spPr/>
    </dgm:pt>
    <dgm:pt modelId="{85D9119E-1F38-4F16-8747-87E4E7F58832}" type="pres">
      <dgm:prSet presAssocID="{26484683-FC53-42D0-B51B-7139A306C9A6}" presName="vertSpace2b" presStyleCnt="0"/>
      <dgm:spPr/>
    </dgm:pt>
  </dgm:ptLst>
  <dgm:cxnLst>
    <dgm:cxn modelId="{36D91B06-B1B6-4CF0-821F-F09E0E932BF4}" srcId="{3A0F6726-2856-4A51-A9FE-50B63175A457}" destId="{6FEF55A4-3D14-4BC1-B5F6-E0587F6572ED}" srcOrd="0" destOrd="0" parTransId="{DE2317C8-1275-4199-A7E7-1D9223962FA8}" sibTransId="{B36D3EC5-DDC6-4B19-A1BE-7E35F42E3372}"/>
    <dgm:cxn modelId="{6BA09C0E-61D6-49CB-AAA1-64AEF6DC7774}" type="presOf" srcId="{26484683-FC53-42D0-B51B-7139A306C9A6}" destId="{A298F680-A498-4F23-97AC-742AA26EE349}" srcOrd="0" destOrd="0" presId="urn:microsoft.com/office/officeart/2008/layout/LinedList"/>
    <dgm:cxn modelId="{58C15915-D15A-4C8F-8413-67A4F962FBF7}" srcId="{6FEF55A4-3D14-4BC1-B5F6-E0587F6572ED}" destId="{5C839B86-AA9C-4BE7-8AA6-C796DB4842FE}" srcOrd="0" destOrd="0" parTransId="{A0D055F5-1C51-4697-9FD2-752BCBD31C53}" sibTransId="{E275EAA2-9480-455A-9A72-4535825E44DF}"/>
    <dgm:cxn modelId="{BB2DB925-9663-4C69-87DB-1B509C369C51}" srcId="{6FEF55A4-3D14-4BC1-B5F6-E0587F6572ED}" destId="{030F79F4-C462-4942-A213-6A2080D9AAF4}" srcOrd="2" destOrd="0" parTransId="{A32AD023-4928-403F-B96B-D0F0CD11DEA3}" sibTransId="{AB180A39-7572-491E-A703-0259E02AA4D9}"/>
    <dgm:cxn modelId="{B7CE2126-E229-4AA3-8F2C-AC55978E1338}" type="presOf" srcId="{4AA5E0E2-4C85-4452-8D3A-FB579CEF9FB8}" destId="{C196AADB-E607-4E4D-A258-99B83E2262E9}" srcOrd="0" destOrd="0" presId="urn:microsoft.com/office/officeart/2008/layout/LinedList"/>
    <dgm:cxn modelId="{D1B33C46-FECB-4920-8949-BE47787722E0}" type="presOf" srcId="{3A0F6726-2856-4A51-A9FE-50B63175A457}" destId="{0240CB46-917D-42DF-AE7D-5D661B2BEDF1}" srcOrd="0" destOrd="0" presId="urn:microsoft.com/office/officeart/2008/layout/LinedList"/>
    <dgm:cxn modelId="{E69DD94C-7588-4E47-80E2-D5B88F3790BE}" srcId="{6FEF55A4-3D14-4BC1-B5F6-E0587F6572ED}" destId="{106E108F-525D-4170-A2C2-A5954577379F}" srcOrd="3" destOrd="0" parTransId="{DC06198E-5F00-4E5B-841F-F864C750C897}" sibTransId="{33FB4B62-76A2-464B-81D0-CC5C45F9CE29}"/>
    <dgm:cxn modelId="{420CF153-E437-4230-A64B-339BA0AAB3DC}" srcId="{6FEF55A4-3D14-4BC1-B5F6-E0587F6572ED}" destId="{5643656F-A44A-4A80-95DB-360BF86FB32A}" srcOrd="1" destOrd="0" parTransId="{F892446F-E2D9-4114-A345-7B86620D1D61}" sibTransId="{F74A14D2-3AB2-4225-884B-9A6734AD5C13}"/>
    <dgm:cxn modelId="{AED9687C-30F9-450E-913E-91C691266AD5}" type="presOf" srcId="{030F79F4-C462-4942-A213-6A2080D9AAF4}" destId="{A9B14066-EFC1-4E34-AD52-9CAAF21FD84D}" srcOrd="0" destOrd="0" presId="urn:microsoft.com/office/officeart/2008/layout/LinedList"/>
    <dgm:cxn modelId="{D382B28B-8136-481B-8D3D-78BFEE93C2F6}" type="presOf" srcId="{5C839B86-AA9C-4BE7-8AA6-C796DB4842FE}" destId="{9BAEFEE7-C3BC-4DD0-AEDC-E60423D312EC}" srcOrd="0" destOrd="0" presId="urn:microsoft.com/office/officeart/2008/layout/LinedList"/>
    <dgm:cxn modelId="{8BA0779D-7CF7-4DBF-9B63-84551D8389AC}" type="presOf" srcId="{5643656F-A44A-4A80-95DB-360BF86FB32A}" destId="{C218F2E3-E0E1-4CAE-9397-28EA56623455}" srcOrd="0" destOrd="0" presId="urn:microsoft.com/office/officeart/2008/layout/LinedList"/>
    <dgm:cxn modelId="{4EC0F3BA-8EBD-4057-AC74-FE5C62CB1B04}" type="presOf" srcId="{6FEF55A4-3D14-4BC1-B5F6-E0587F6572ED}" destId="{9C52A342-BAF8-4D14-9038-C67C3F0594C7}" srcOrd="0" destOrd="0" presId="urn:microsoft.com/office/officeart/2008/layout/LinedList"/>
    <dgm:cxn modelId="{802A7EDB-94B8-41C8-BC80-60A18D0DE72C}" srcId="{6FEF55A4-3D14-4BC1-B5F6-E0587F6572ED}" destId="{4AA5E0E2-4C85-4452-8D3A-FB579CEF9FB8}" srcOrd="4" destOrd="0" parTransId="{9480649B-9438-4564-AA5F-8EB996FAF9B5}" sibTransId="{D03AE43A-24E9-4CE2-96F5-878F3567024E}"/>
    <dgm:cxn modelId="{20792EE6-E6EF-4193-BBE6-6FAF2D8F3584}" type="presOf" srcId="{106E108F-525D-4170-A2C2-A5954577379F}" destId="{8E3EAE6E-9F4D-4A11-988A-2764B5CE0811}" srcOrd="0" destOrd="0" presId="urn:microsoft.com/office/officeart/2008/layout/LinedList"/>
    <dgm:cxn modelId="{288225F6-011F-459E-999D-2EF587756327}" srcId="{6FEF55A4-3D14-4BC1-B5F6-E0587F6572ED}" destId="{26484683-FC53-42D0-B51B-7139A306C9A6}" srcOrd="5" destOrd="0" parTransId="{C6FCD3EE-0D56-4694-81F9-D8F078B58E93}" sibTransId="{663C70DA-C72E-4B37-9F04-73E2076F1B1C}"/>
    <dgm:cxn modelId="{4F952AA5-B294-409D-9ED8-624E276D3BA8}" type="presParOf" srcId="{0240CB46-917D-42DF-AE7D-5D661B2BEDF1}" destId="{AC65E652-5339-48DF-AD8A-24F7D2D282F8}" srcOrd="0" destOrd="0" presId="urn:microsoft.com/office/officeart/2008/layout/LinedList"/>
    <dgm:cxn modelId="{B895C8B5-8AF5-48C8-9F8F-9998ECE0B986}" type="presParOf" srcId="{0240CB46-917D-42DF-AE7D-5D661B2BEDF1}" destId="{6A2CE66A-90C4-490C-A97F-231D3B3D37DA}" srcOrd="1" destOrd="0" presId="urn:microsoft.com/office/officeart/2008/layout/LinedList"/>
    <dgm:cxn modelId="{2BE9C7E2-02A9-4CF0-AE62-3A1B0176A3FF}" type="presParOf" srcId="{6A2CE66A-90C4-490C-A97F-231D3B3D37DA}" destId="{9C52A342-BAF8-4D14-9038-C67C3F0594C7}" srcOrd="0" destOrd="0" presId="urn:microsoft.com/office/officeart/2008/layout/LinedList"/>
    <dgm:cxn modelId="{58E8EB76-A02A-4FA8-AB4B-5849D73369B1}" type="presParOf" srcId="{6A2CE66A-90C4-490C-A97F-231D3B3D37DA}" destId="{4D94F150-CE53-4BAF-915C-BE04097C1965}" srcOrd="1" destOrd="0" presId="urn:microsoft.com/office/officeart/2008/layout/LinedList"/>
    <dgm:cxn modelId="{6B56B92A-D988-4A90-9EF7-BF5A41095949}" type="presParOf" srcId="{4D94F150-CE53-4BAF-915C-BE04097C1965}" destId="{EFA60937-BACE-4E48-AD8B-9F95A059B404}" srcOrd="0" destOrd="0" presId="urn:microsoft.com/office/officeart/2008/layout/LinedList"/>
    <dgm:cxn modelId="{40F4C4F1-D950-44CE-AFC9-F15769C0CC90}" type="presParOf" srcId="{4D94F150-CE53-4BAF-915C-BE04097C1965}" destId="{B36CCD07-3D7F-46A4-AD10-A3D34C5A337B}" srcOrd="1" destOrd="0" presId="urn:microsoft.com/office/officeart/2008/layout/LinedList"/>
    <dgm:cxn modelId="{EF6323CA-543F-40E4-ADA7-514E67A3346A}" type="presParOf" srcId="{B36CCD07-3D7F-46A4-AD10-A3D34C5A337B}" destId="{60178440-6FA1-467F-9FE0-B509F7E83200}" srcOrd="0" destOrd="0" presId="urn:microsoft.com/office/officeart/2008/layout/LinedList"/>
    <dgm:cxn modelId="{FB057D37-A849-4131-B9A3-62742F077645}" type="presParOf" srcId="{B36CCD07-3D7F-46A4-AD10-A3D34C5A337B}" destId="{9BAEFEE7-C3BC-4DD0-AEDC-E60423D312EC}" srcOrd="1" destOrd="0" presId="urn:microsoft.com/office/officeart/2008/layout/LinedList"/>
    <dgm:cxn modelId="{196BF023-ABBA-4287-AE7D-55BCD6111457}" type="presParOf" srcId="{B36CCD07-3D7F-46A4-AD10-A3D34C5A337B}" destId="{EE4FE1F6-A861-4907-814B-B4F8C56DB3C4}" srcOrd="2" destOrd="0" presId="urn:microsoft.com/office/officeart/2008/layout/LinedList"/>
    <dgm:cxn modelId="{D692A056-5C9B-4796-8DF5-A43B4B561193}" type="presParOf" srcId="{4D94F150-CE53-4BAF-915C-BE04097C1965}" destId="{411DFEC6-A130-472F-BDCD-4C18105B716B}" srcOrd="2" destOrd="0" presId="urn:microsoft.com/office/officeart/2008/layout/LinedList"/>
    <dgm:cxn modelId="{F54E748C-9ED2-4E56-9FBA-91F7C12F38C7}" type="presParOf" srcId="{4D94F150-CE53-4BAF-915C-BE04097C1965}" destId="{576026D3-38FB-4536-A135-6344BA10A8F0}" srcOrd="3" destOrd="0" presId="urn:microsoft.com/office/officeart/2008/layout/LinedList"/>
    <dgm:cxn modelId="{26340005-2B0F-4985-80E8-F5929C5803B7}" type="presParOf" srcId="{4D94F150-CE53-4BAF-915C-BE04097C1965}" destId="{A323DA47-9565-4873-B4AD-C3FFD2E6E433}" srcOrd="4" destOrd="0" presId="urn:microsoft.com/office/officeart/2008/layout/LinedList"/>
    <dgm:cxn modelId="{7CE9DE5D-5FA9-466B-936F-114EB4108505}" type="presParOf" srcId="{A323DA47-9565-4873-B4AD-C3FFD2E6E433}" destId="{24A87980-FCA9-45CA-A7EB-52F9820F7C88}" srcOrd="0" destOrd="0" presId="urn:microsoft.com/office/officeart/2008/layout/LinedList"/>
    <dgm:cxn modelId="{6C474733-24FD-47FC-9759-D75572B8F4B3}" type="presParOf" srcId="{A323DA47-9565-4873-B4AD-C3FFD2E6E433}" destId="{C218F2E3-E0E1-4CAE-9397-28EA56623455}" srcOrd="1" destOrd="0" presId="urn:microsoft.com/office/officeart/2008/layout/LinedList"/>
    <dgm:cxn modelId="{98D5C409-FBC3-484C-AA2F-9425341FC533}" type="presParOf" srcId="{A323DA47-9565-4873-B4AD-C3FFD2E6E433}" destId="{9225C250-1F33-408A-B249-80CA6B49AC2F}" srcOrd="2" destOrd="0" presId="urn:microsoft.com/office/officeart/2008/layout/LinedList"/>
    <dgm:cxn modelId="{4C54B150-4586-4099-8964-5EEEC3EBA127}" type="presParOf" srcId="{4D94F150-CE53-4BAF-915C-BE04097C1965}" destId="{72FBEE0C-25B5-42A0-A98E-C8AF28B070AD}" srcOrd="5" destOrd="0" presId="urn:microsoft.com/office/officeart/2008/layout/LinedList"/>
    <dgm:cxn modelId="{EE98B77A-2643-4353-B013-CCEAE01AD171}" type="presParOf" srcId="{4D94F150-CE53-4BAF-915C-BE04097C1965}" destId="{563A0D88-E127-4203-B0A4-5BED410FD663}" srcOrd="6" destOrd="0" presId="urn:microsoft.com/office/officeart/2008/layout/LinedList"/>
    <dgm:cxn modelId="{75040A63-AB5B-4A0F-9AE1-AC1FF12D2FA0}" type="presParOf" srcId="{4D94F150-CE53-4BAF-915C-BE04097C1965}" destId="{A295AEB0-65FB-43D5-A6D9-0952A53302E0}" srcOrd="7" destOrd="0" presId="urn:microsoft.com/office/officeart/2008/layout/LinedList"/>
    <dgm:cxn modelId="{07FCDF72-E3FC-4869-A579-A9A0789DE453}" type="presParOf" srcId="{A295AEB0-65FB-43D5-A6D9-0952A53302E0}" destId="{35439F63-0E1F-4F4F-A4DD-07E19624A310}" srcOrd="0" destOrd="0" presId="urn:microsoft.com/office/officeart/2008/layout/LinedList"/>
    <dgm:cxn modelId="{06E6A74E-C8EA-40F6-B59D-1EBB107561DE}" type="presParOf" srcId="{A295AEB0-65FB-43D5-A6D9-0952A53302E0}" destId="{A9B14066-EFC1-4E34-AD52-9CAAF21FD84D}" srcOrd="1" destOrd="0" presId="urn:microsoft.com/office/officeart/2008/layout/LinedList"/>
    <dgm:cxn modelId="{09D00133-D062-4882-B93A-87E1BFF42F3E}" type="presParOf" srcId="{A295AEB0-65FB-43D5-A6D9-0952A53302E0}" destId="{8D4FDEAE-5BD6-48DB-A14B-75CD37815F62}" srcOrd="2" destOrd="0" presId="urn:microsoft.com/office/officeart/2008/layout/LinedList"/>
    <dgm:cxn modelId="{8B1045D3-504C-4E01-ABD8-AFE02DE3CB44}" type="presParOf" srcId="{4D94F150-CE53-4BAF-915C-BE04097C1965}" destId="{25AE5E3B-1BF7-412E-85BA-B1623FBF70F0}" srcOrd="8" destOrd="0" presId="urn:microsoft.com/office/officeart/2008/layout/LinedList"/>
    <dgm:cxn modelId="{23B18580-6BCE-4E09-AD2F-B5E578FB100B}" type="presParOf" srcId="{4D94F150-CE53-4BAF-915C-BE04097C1965}" destId="{9BD77E01-CAD2-4EF8-8A3D-F1984A478138}" srcOrd="9" destOrd="0" presId="urn:microsoft.com/office/officeart/2008/layout/LinedList"/>
    <dgm:cxn modelId="{A2AFEFEF-AFED-4DF2-9DA3-53A8064CA742}" type="presParOf" srcId="{4D94F150-CE53-4BAF-915C-BE04097C1965}" destId="{CF94DD19-0860-4732-BBD7-268808CE251E}" srcOrd="10" destOrd="0" presId="urn:microsoft.com/office/officeart/2008/layout/LinedList"/>
    <dgm:cxn modelId="{5D25B7C8-187A-4AB2-80FF-5A7719A95524}" type="presParOf" srcId="{CF94DD19-0860-4732-BBD7-268808CE251E}" destId="{3FCD9A3D-E52E-42A8-96B6-64521DC61006}" srcOrd="0" destOrd="0" presId="urn:microsoft.com/office/officeart/2008/layout/LinedList"/>
    <dgm:cxn modelId="{84C2075E-FD99-4EA7-89DE-ECF710C1E79D}" type="presParOf" srcId="{CF94DD19-0860-4732-BBD7-268808CE251E}" destId="{8E3EAE6E-9F4D-4A11-988A-2764B5CE0811}" srcOrd="1" destOrd="0" presId="urn:microsoft.com/office/officeart/2008/layout/LinedList"/>
    <dgm:cxn modelId="{FF1C3A20-7268-40E7-B9D3-98F6ADF90059}" type="presParOf" srcId="{CF94DD19-0860-4732-BBD7-268808CE251E}" destId="{1F6C2B4F-76FC-4487-A97A-7D49A1F30593}" srcOrd="2" destOrd="0" presId="urn:microsoft.com/office/officeart/2008/layout/LinedList"/>
    <dgm:cxn modelId="{204E756E-FBA5-4856-ABD0-C53EA62E116A}" type="presParOf" srcId="{4D94F150-CE53-4BAF-915C-BE04097C1965}" destId="{28D8D3E3-6A13-4D54-8A3C-D71B0D199697}" srcOrd="11" destOrd="0" presId="urn:microsoft.com/office/officeart/2008/layout/LinedList"/>
    <dgm:cxn modelId="{EEA8DF51-C0A7-45A3-BEAB-CE669E13772E}" type="presParOf" srcId="{4D94F150-CE53-4BAF-915C-BE04097C1965}" destId="{639E4831-66B2-4E10-9BEB-C9EE14ADE482}" srcOrd="12" destOrd="0" presId="urn:microsoft.com/office/officeart/2008/layout/LinedList"/>
    <dgm:cxn modelId="{0138723D-015D-41BB-847D-D78FC02528B0}" type="presParOf" srcId="{4D94F150-CE53-4BAF-915C-BE04097C1965}" destId="{59FD9F99-511D-4FEA-862A-48C818DF1670}" srcOrd="13" destOrd="0" presId="urn:microsoft.com/office/officeart/2008/layout/LinedList"/>
    <dgm:cxn modelId="{7604FF19-80F9-4A4A-9E13-F14D8A798780}" type="presParOf" srcId="{59FD9F99-511D-4FEA-862A-48C818DF1670}" destId="{DFF002EE-D855-45AF-A2B2-74EB0854891F}" srcOrd="0" destOrd="0" presId="urn:microsoft.com/office/officeart/2008/layout/LinedList"/>
    <dgm:cxn modelId="{BD82B4BF-4F4D-4A1B-9363-FD69C3CA4C13}" type="presParOf" srcId="{59FD9F99-511D-4FEA-862A-48C818DF1670}" destId="{C196AADB-E607-4E4D-A258-99B83E2262E9}" srcOrd="1" destOrd="0" presId="urn:microsoft.com/office/officeart/2008/layout/LinedList"/>
    <dgm:cxn modelId="{83B38E0A-3099-4CDD-8F63-677E324F311D}" type="presParOf" srcId="{59FD9F99-511D-4FEA-862A-48C818DF1670}" destId="{61D344B7-B335-4A09-B380-37FF7AC3F17B}" srcOrd="2" destOrd="0" presId="urn:microsoft.com/office/officeart/2008/layout/LinedList"/>
    <dgm:cxn modelId="{8004DAD8-3B02-46E7-8FB7-05B33D2F814C}" type="presParOf" srcId="{4D94F150-CE53-4BAF-915C-BE04097C1965}" destId="{57A57590-46A6-43A7-9E59-1234E1C87324}" srcOrd="14" destOrd="0" presId="urn:microsoft.com/office/officeart/2008/layout/LinedList"/>
    <dgm:cxn modelId="{1EA84564-821C-4957-BABC-2BDC36BEBE7D}" type="presParOf" srcId="{4D94F150-CE53-4BAF-915C-BE04097C1965}" destId="{DBD2D716-8302-40AF-B303-629E34F22F19}" srcOrd="15" destOrd="0" presId="urn:microsoft.com/office/officeart/2008/layout/LinedList"/>
    <dgm:cxn modelId="{1566B7FD-5CAC-4A28-BE29-38F242053CB2}" type="presParOf" srcId="{4D94F150-CE53-4BAF-915C-BE04097C1965}" destId="{42412681-D794-4BD0-AD98-993B7E0D2614}" srcOrd="16" destOrd="0" presId="urn:microsoft.com/office/officeart/2008/layout/LinedList"/>
    <dgm:cxn modelId="{6EA8D7B6-5DB7-48DD-A9C6-35C48387B8D2}" type="presParOf" srcId="{42412681-D794-4BD0-AD98-993B7E0D2614}" destId="{4F139A6B-FF1B-490F-AA88-D857958DD381}" srcOrd="0" destOrd="0" presId="urn:microsoft.com/office/officeart/2008/layout/LinedList"/>
    <dgm:cxn modelId="{435B45EC-C4C4-4E03-B2CC-BFA68597BB96}" type="presParOf" srcId="{42412681-D794-4BD0-AD98-993B7E0D2614}" destId="{A298F680-A498-4F23-97AC-742AA26EE349}" srcOrd="1" destOrd="0" presId="urn:microsoft.com/office/officeart/2008/layout/LinedList"/>
    <dgm:cxn modelId="{684FCC58-BD5D-4C44-8D77-0D53857F2BBA}" type="presParOf" srcId="{42412681-D794-4BD0-AD98-993B7E0D2614}" destId="{0AF951A5-1BB2-4240-8B47-20436D8142CB}" srcOrd="2" destOrd="0" presId="urn:microsoft.com/office/officeart/2008/layout/LinedList"/>
    <dgm:cxn modelId="{D2F8C01B-3D2C-478D-81BB-71ADA284EC17}" type="presParOf" srcId="{4D94F150-CE53-4BAF-915C-BE04097C1965}" destId="{CD0C1C79-8ABA-4459-B5FD-5EF978E2D215}" srcOrd="17" destOrd="0" presId="urn:microsoft.com/office/officeart/2008/layout/LinedList"/>
    <dgm:cxn modelId="{07CF78F0-FD76-448B-87BD-6997ED7C20EA}" type="presParOf" srcId="{4D94F150-CE53-4BAF-915C-BE04097C1965}" destId="{85D9119E-1F38-4F16-8747-87E4E7F58832}" srcOrd="18"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840F5F2-94FA-4CD6-8BF7-63040BA0352C}"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EC86DCDB-D26F-4965-A378-9E795C7D775F}">
      <dgm:prSet/>
      <dgm:spPr/>
      <dgm:t>
        <a:bodyPr/>
        <a:lstStyle/>
        <a:p>
          <a:r>
            <a:rPr lang="en-US"/>
            <a:t>For Lab 01:</a:t>
          </a:r>
        </a:p>
      </dgm:t>
    </dgm:pt>
    <dgm:pt modelId="{F2CCADF5-E015-411F-940B-AB7D39FAA7E3}" type="parTrans" cxnId="{EAC7EA03-237A-4177-AF39-F258BD03A84C}">
      <dgm:prSet/>
      <dgm:spPr/>
      <dgm:t>
        <a:bodyPr/>
        <a:lstStyle/>
        <a:p>
          <a:endParaRPr lang="en-US"/>
        </a:p>
      </dgm:t>
    </dgm:pt>
    <dgm:pt modelId="{B3C1317B-62C2-4315-A086-9B12A0C575B2}" type="sibTrans" cxnId="{EAC7EA03-237A-4177-AF39-F258BD03A84C}">
      <dgm:prSet phldrT="1" phldr="0"/>
      <dgm:spPr/>
      <dgm:t>
        <a:bodyPr/>
        <a:lstStyle/>
        <a:p>
          <a:r>
            <a:rPr lang="en-US"/>
            <a:t>1</a:t>
          </a:r>
        </a:p>
      </dgm:t>
    </dgm:pt>
    <dgm:pt modelId="{5DAB3EFD-C8EA-4F2F-961D-33487B9B3831}">
      <dgm:prSet/>
      <dgm:spPr/>
      <dgm:t>
        <a:bodyPr/>
        <a:lstStyle/>
        <a:p>
          <a:r>
            <a:rPr lang="en-US"/>
            <a:t>choose a scenario</a:t>
          </a:r>
        </a:p>
      </dgm:t>
    </dgm:pt>
    <dgm:pt modelId="{73AD42D8-AA3A-4E33-9B90-29603715FDE0}" type="parTrans" cxnId="{32E31762-0749-4460-8A35-25E82B824E60}">
      <dgm:prSet/>
      <dgm:spPr/>
      <dgm:t>
        <a:bodyPr/>
        <a:lstStyle/>
        <a:p>
          <a:endParaRPr lang="en-US"/>
        </a:p>
      </dgm:t>
    </dgm:pt>
    <dgm:pt modelId="{E807C405-E54E-43CB-8BFA-0F5B35E6C200}" type="sibTrans" cxnId="{32E31762-0749-4460-8A35-25E82B824E60}">
      <dgm:prSet/>
      <dgm:spPr/>
      <dgm:t>
        <a:bodyPr/>
        <a:lstStyle/>
        <a:p>
          <a:endParaRPr lang="en-US"/>
        </a:p>
      </dgm:t>
    </dgm:pt>
    <dgm:pt modelId="{FDAB4C03-BC44-4502-9AB3-92F732898B62}">
      <dgm:prSet/>
      <dgm:spPr/>
      <dgm:t>
        <a:bodyPr/>
        <a:lstStyle/>
        <a:p>
          <a:r>
            <a:rPr lang="en-US"/>
            <a:t>write precise rules</a:t>
          </a:r>
        </a:p>
      </dgm:t>
    </dgm:pt>
    <dgm:pt modelId="{F452423D-C7DB-4FEB-BCC5-BB8851CF6F62}" type="parTrans" cxnId="{D9D3277F-A041-4D61-9B1D-322D0D462F2D}">
      <dgm:prSet/>
      <dgm:spPr/>
      <dgm:t>
        <a:bodyPr/>
        <a:lstStyle/>
        <a:p>
          <a:endParaRPr lang="en-US"/>
        </a:p>
      </dgm:t>
    </dgm:pt>
    <dgm:pt modelId="{228A5F7B-3686-471A-B3B1-6F54AF148FF6}" type="sibTrans" cxnId="{D9D3277F-A041-4D61-9B1D-322D0D462F2D}">
      <dgm:prSet/>
      <dgm:spPr/>
      <dgm:t>
        <a:bodyPr/>
        <a:lstStyle/>
        <a:p>
          <a:endParaRPr lang="en-US"/>
        </a:p>
      </dgm:t>
    </dgm:pt>
    <dgm:pt modelId="{CD7C9256-00A0-48D5-BC1E-06736F656DFA}">
      <dgm:prSet/>
      <dgm:spPr/>
      <dgm:t>
        <a:bodyPr/>
        <a:lstStyle/>
        <a:p>
          <a:r>
            <a:rPr lang="en-US"/>
            <a:t>create normal and edge-case tests</a:t>
          </a:r>
        </a:p>
      </dgm:t>
    </dgm:pt>
    <dgm:pt modelId="{06DD7A13-38DA-4B26-A4E3-7B1FA3BB99CC}" type="parTrans" cxnId="{8577C6FF-2119-4605-9064-65A327E2732A}">
      <dgm:prSet/>
      <dgm:spPr/>
      <dgm:t>
        <a:bodyPr/>
        <a:lstStyle/>
        <a:p>
          <a:endParaRPr lang="en-US"/>
        </a:p>
      </dgm:t>
    </dgm:pt>
    <dgm:pt modelId="{70489BBD-E919-452E-B05E-710E75F6FF39}" type="sibTrans" cxnId="{8577C6FF-2119-4605-9064-65A327E2732A}">
      <dgm:prSet/>
      <dgm:spPr/>
      <dgm:t>
        <a:bodyPr/>
        <a:lstStyle/>
        <a:p>
          <a:endParaRPr lang="en-US"/>
        </a:p>
      </dgm:t>
    </dgm:pt>
    <dgm:pt modelId="{853CCFA7-EC43-49FC-975F-A8DADD997F89}">
      <dgm:prSet/>
      <dgm:spPr/>
      <dgm:t>
        <a:bodyPr/>
        <a:lstStyle/>
        <a:p>
          <a:r>
            <a:rPr lang="en-US"/>
            <a:t>compare expected and actual results</a:t>
          </a:r>
        </a:p>
      </dgm:t>
    </dgm:pt>
    <dgm:pt modelId="{1D9DC0F8-7BDB-492D-94DB-A6741CA83E7C}" type="parTrans" cxnId="{3C779A8D-22DF-4E20-B949-1230AEC4FEB7}">
      <dgm:prSet/>
      <dgm:spPr/>
      <dgm:t>
        <a:bodyPr/>
        <a:lstStyle/>
        <a:p>
          <a:endParaRPr lang="en-US"/>
        </a:p>
      </dgm:t>
    </dgm:pt>
    <dgm:pt modelId="{A9FEE908-2105-41E0-9B2F-44A9ACE87C3D}" type="sibTrans" cxnId="{3C779A8D-22DF-4E20-B949-1230AEC4FEB7}">
      <dgm:prSet/>
      <dgm:spPr/>
      <dgm:t>
        <a:bodyPr/>
        <a:lstStyle/>
        <a:p>
          <a:endParaRPr lang="en-US"/>
        </a:p>
      </dgm:t>
    </dgm:pt>
    <dgm:pt modelId="{91FA5A59-2B14-4A6B-B70F-EE884DB315CE}">
      <dgm:prSet/>
      <dgm:spPr/>
      <dgm:t>
        <a:bodyPr/>
        <a:lstStyle/>
        <a:p>
          <a:r>
            <a:rPr lang="en-US"/>
            <a:t>revise one ambiguity</a:t>
          </a:r>
        </a:p>
      </dgm:t>
    </dgm:pt>
    <dgm:pt modelId="{2A915395-42E2-4DFE-A788-56065126D0F1}" type="parTrans" cxnId="{462EE520-210D-4D41-BBC8-54D294DEF780}">
      <dgm:prSet/>
      <dgm:spPr/>
      <dgm:t>
        <a:bodyPr/>
        <a:lstStyle/>
        <a:p>
          <a:endParaRPr lang="en-US"/>
        </a:p>
      </dgm:t>
    </dgm:pt>
    <dgm:pt modelId="{0647C277-B8C4-4E07-99B2-0C300ACC6B23}" type="sibTrans" cxnId="{462EE520-210D-4D41-BBC8-54D294DEF780}">
      <dgm:prSet/>
      <dgm:spPr/>
      <dgm:t>
        <a:bodyPr/>
        <a:lstStyle/>
        <a:p>
          <a:endParaRPr lang="en-US"/>
        </a:p>
      </dgm:t>
    </dgm:pt>
    <dgm:pt modelId="{A4CEFACC-AFAC-472E-9C7D-78289EFB63D1}" type="pres">
      <dgm:prSet presAssocID="{4840F5F2-94FA-4CD6-8BF7-63040BA0352C}" presName="Name0" presStyleCnt="0">
        <dgm:presLayoutVars>
          <dgm:animLvl val="lvl"/>
          <dgm:resizeHandles val="exact"/>
        </dgm:presLayoutVars>
      </dgm:prSet>
      <dgm:spPr/>
    </dgm:pt>
    <dgm:pt modelId="{15D43CAF-FB9C-4C2E-A178-B5846807A9A3}" type="pres">
      <dgm:prSet presAssocID="{EC86DCDB-D26F-4965-A378-9E795C7D775F}" presName="compositeNode" presStyleCnt="0">
        <dgm:presLayoutVars>
          <dgm:bulletEnabled val="1"/>
        </dgm:presLayoutVars>
      </dgm:prSet>
      <dgm:spPr/>
    </dgm:pt>
    <dgm:pt modelId="{0579B2E2-F254-4758-975D-BCCCEBEB091F}" type="pres">
      <dgm:prSet presAssocID="{EC86DCDB-D26F-4965-A378-9E795C7D775F}" presName="bgRect" presStyleLbl="bgAccFollowNode1" presStyleIdx="0" presStyleCnt="1"/>
      <dgm:spPr/>
    </dgm:pt>
    <dgm:pt modelId="{6E066B6B-870C-47BB-B0D4-7DDBD6CCC405}" type="pres">
      <dgm:prSet presAssocID="{B3C1317B-62C2-4315-A086-9B12A0C575B2}" presName="sibTransNodeCircle" presStyleLbl="alignNode1" presStyleIdx="0" presStyleCnt="2">
        <dgm:presLayoutVars>
          <dgm:chMax val="0"/>
          <dgm:bulletEnabled/>
        </dgm:presLayoutVars>
      </dgm:prSet>
      <dgm:spPr/>
    </dgm:pt>
    <dgm:pt modelId="{661C993E-716A-4EDE-A4B7-74802377363E}" type="pres">
      <dgm:prSet presAssocID="{EC86DCDB-D26F-4965-A378-9E795C7D775F}" presName="bottomLine" presStyleLbl="alignNode1" presStyleIdx="1" presStyleCnt="2">
        <dgm:presLayoutVars/>
      </dgm:prSet>
      <dgm:spPr/>
    </dgm:pt>
    <dgm:pt modelId="{4F1D6665-5290-476B-9B2D-0218BE499140}" type="pres">
      <dgm:prSet presAssocID="{EC86DCDB-D26F-4965-A378-9E795C7D775F}" presName="nodeText" presStyleLbl="bgAccFollowNode1" presStyleIdx="0" presStyleCnt="1">
        <dgm:presLayoutVars>
          <dgm:bulletEnabled val="1"/>
        </dgm:presLayoutVars>
      </dgm:prSet>
      <dgm:spPr/>
    </dgm:pt>
  </dgm:ptLst>
  <dgm:cxnLst>
    <dgm:cxn modelId="{EAC7EA03-237A-4177-AF39-F258BD03A84C}" srcId="{4840F5F2-94FA-4CD6-8BF7-63040BA0352C}" destId="{EC86DCDB-D26F-4965-A378-9E795C7D775F}" srcOrd="0" destOrd="0" parTransId="{F2CCADF5-E015-411F-940B-AB7D39FAA7E3}" sibTransId="{B3C1317B-62C2-4315-A086-9B12A0C575B2}"/>
    <dgm:cxn modelId="{462EE520-210D-4D41-BBC8-54D294DEF780}" srcId="{EC86DCDB-D26F-4965-A378-9E795C7D775F}" destId="{91FA5A59-2B14-4A6B-B70F-EE884DB315CE}" srcOrd="4" destOrd="0" parTransId="{2A915395-42E2-4DFE-A788-56065126D0F1}" sibTransId="{0647C277-B8C4-4E07-99B2-0C300ACC6B23}"/>
    <dgm:cxn modelId="{C549792F-4F7B-4BB3-A2B4-E9A896DBC512}" type="presOf" srcId="{853CCFA7-EC43-49FC-975F-A8DADD997F89}" destId="{4F1D6665-5290-476B-9B2D-0218BE499140}" srcOrd="0" destOrd="4" presId="urn:microsoft.com/office/officeart/2016/7/layout/BasicLinearProcessNumbered"/>
    <dgm:cxn modelId="{17595D5F-4DE4-4F45-BB49-7071125E3710}" type="presOf" srcId="{B3C1317B-62C2-4315-A086-9B12A0C575B2}" destId="{6E066B6B-870C-47BB-B0D4-7DDBD6CCC405}" srcOrd="0" destOrd="0" presId="urn:microsoft.com/office/officeart/2016/7/layout/BasicLinearProcessNumbered"/>
    <dgm:cxn modelId="{32E31762-0749-4460-8A35-25E82B824E60}" srcId="{EC86DCDB-D26F-4965-A378-9E795C7D775F}" destId="{5DAB3EFD-C8EA-4F2F-961D-33487B9B3831}" srcOrd="0" destOrd="0" parTransId="{73AD42D8-AA3A-4E33-9B90-29603715FDE0}" sibTransId="{E807C405-E54E-43CB-8BFA-0F5B35E6C200}"/>
    <dgm:cxn modelId="{49258759-432A-4EBB-B687-D2F3F3273EC3}" type="presOf" srcId="{EC86DCDB-D26F-4965-A378-9E795C7D775F}" destId="{4F1D6665-5290-476B-9B2D-0218BE499140}" srcOrd="1" destOrd="0" presId="urn:microsoft.com/office/officeart/2016/7/layout/BasicLinearProcessNumbered"/>
    <dgm:cxn modelId="{D9D3277F-A041-4D61-9B1D-322D0D462F2D}" srcId="{EC86DCDB-D26F-4965-A378-9E795C7D775F}" destId="{FDAB4C03-BC44-4502-9AB3-92F732898B62}" srcOrd="1" destOrd="0" parTransId="{F452423D-C7DB-4FEB-BCC5-BB8851CF6F62}" sibTransId="{228A5F7B-3686-471A-B3B1-6F54AF148FF6}"/>
    <dgm:cxn modelId="{29E32D80-53E6-4E66-B57D-3FC32696A914}" type="presOf" srcId="{5DAB3EFD-C8EA-4F2F-961D-33487B9B3831}" destId="{4F1D6665-5290-476B-9B2D-0218BE499140}" srcOrd="0" destOrd="1" presId="urn:microsoft.com/office/officeart/2016/7/layout/BasicLinearProcessNumbered"/>
    <dgm:cxn modelId="{CF347182-8224-4435-AE06-FE1B0C5EA910}" type="presOf" srcId="{CD7C9256-00A0-48D5-BC1E-06736F656DFA}" destId="{4F1D6665-5290-476B-9B2D-0218BE499140}" srcOrd="0" destOrd="3" presId="urn:microsoft.com/office/officeart/2016/7/layout/BasicLinearProcessNumbered"/>
    <dgm:cxn modelId="{3C779A8D-22DF-4E20-B949-1230AEC4FEB7}" srcId="{EC86DCDB-D26F-4965-A378-9E795C7D775F}" destId="{853CCFA7-EC43-49FC-975F-A8DADD997F89}" srcOrd="3" destOrd="0" parTransId="{1D9DC0F8-7BDB-492D-94DB-A6741CA83E7C}" sibTransId="{A9FEE908-2105-41E0-9B2F-44A9ACE87C3D}"/>
    <dgm:cxn modelId="{DBCAB18E-D95F-4068-999A-1A7F3D9E9AAF}" type="presOf" srcId="{4840F5F2-94FA-4CD6-8BF7-63040BA0352C}" destId="{A4CEFACC-AFAC-472E-9C7D-78289EFB63D1}" srcOrd="0" destOrd="0" presId="urn:microsoft.com/office/officeart/2016/7/layout/BasicLinearProcessNumbered"/>
    <dgm:cxn modelId="{19957AA2-0EF5-426A-AEE8-9C759DEB4B95}" type="presOf" srcId="{EC86DCDB-D26F-4965-A378-9E795C7D775F}" destId="{0579B2E2-F254-4758-975D-BCCCEBEB091F}" srcOrd="0" destOrd="0" presId="urn:microsoft.com/office/officeart/2016/7/layout/BasicLinearProcessNumbered"/>
    <dgm:cxn modelId="{8DE6E4A6-5813-4EBC-92E1-D87F1F89028D}" type="presOf" srcId="{91FA5A59-2B14-4A6B-B70F-EE884DB315CE}" destId="{4F1D6665-5290-476B-9B2D-0218BE499140}" srcOrd="0" destOrd="5" presId="urn:microsoft.com/office/officeart/2016/7/layout/BasicLinearProcessNumbered"/>
    <dgm:cxn modelId="{9FC855D5-2C22-4332-BDC1-AE495768F935}" type="presOf" srcId="{FDAB4C03-BC44-4502-9AB3-92F732898B62}" destId="{4F1D6665-5290-476B-9B2D-0218BE499140}" srcOrd="0" destOrd="2" presId="urn:microsoft.com/office/officeart/2016/7/layout/BasicLinearProcessNumbered"/>
    <dgm:cxn modelId="{8577C6FF-2119-4605-9064-65A327E2732A}" srcId="{EC86DCDB-D26F-4965-A378-9E795C7D775F}" destId="{CD7C9256-00A0-48D5-BC1E-06736F656DFA}" srcOrd="2" destOrd="0" parTransId="{06DD7A13-38DA-4B26-A4E3-7B1FA3BB99CC}" sibTransId="{70489BBD-E919-452E-B05E-710E75F6FF39}"/>
    <dgm:cxn modelId="{62C420E6-AB07-4C07-B2EB-BAE7F1C95841}" type="presParOf" srcId="{A4CEFACC-AFAC-472E-9C7D-78289EFB63D1}" destId="{15D43CAF-FB9C-4C2E-A178-B5846807A9A3}" srcOrd="0" destOrd="0" presId="urn:microsoft.com/office/officeart/2016/7/layout/BasicLinearProcessNumbered"/>
    <dgm:cxn modelId="{3A84E957-B8F0-4904-9475-D0C2C191683F}" type="presParOf" srcId="{15D43CAF-FB9C-4C2E-A178-B5846807A9A3}" destId="{0579B2E2-F254-4758-975D-BCCCEBEB091F}" srcOrd="0" destOrd="0" presId="urn:microsoft.com/office/officeart/2016/7/layout/BasicLinearProcessNumbered"/>
    <dgm:cxn modelId="{5B6BBE3F-852E-43DD-B04A-D69445C81C71}" type="presParOf" srcId="{15D43CAF-FB9C-4C2E-A178-B5846807A9A3}" destId="{6E066B6B-870C-47BB-B0D4-7DDBD6CCC405}" srcOrd="1" destOrd="0" presId="urn:microsoft.com/office/officeart/2016/7/layout/BasicLinearProcessNumbered"/>
    <dgm:cxn modelId="{F3E2039E-6180-4865-8B0E-0D9841205EAE}" type="presParOf" srcId="{15D43CAF-FB9C-4C2E-A178-B5846807A9A3}" destId="{661C993E-716A-4EDE-A4B7-74802377363E}" srcOrd="2" destOrd="0" presId="urn:microsoft.com/office/officeart/2016/7/layout/BasicLinearProcessNumbered"/>
    <dgm:cxn modelId="{D80A3FA2-14B2-4876-9B62-C1D54E266A0A}" type="presParOf" srcId="{15D43CAF-FB9C-4C2E-A178-B5846807A9A3}" destId="{4F1D6665-5290-476B-9B2D-0218BE499140}"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63ACF8-E648-4882-A9E9-685D27385AC3}">
      <dsp:nvSpPr>
        <dsp:cNvPr id="0" name=""/>
        <dsp:cNvSpPr/>
      </dsp:nvSpPr>
      <dsp:spPr>
        <a:xfrm>
          <a:off x="0" y="473"/>
          <a:ext cx="6347714" cy="11085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76AEFE-DBF7-492B-860F-B58907624725}">
      <dsp:nvSpPr>
        <dsp:cNvPr id="0" name=""/>
        <dsp:cNvSpPr/>
      </dsp:nvSpPr>
      <dsp:spPr>
        <a:xfrm>
          <a:off x="335327" y="249891"/>
          <a:ext cx="609686" cy="6096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0D393F-0940-4675-9CE1-DD42EB0DF52E}">
      <dsp:nvSpPr>
        <dsp:cNvPr id="0" name=""/>
        <dsp:cNvSpPr/>
      </dsp:nvSpPr>
      <dsp:spPr>
        <a:xfrm>
          <a:off x="1280342" y="473"/>
          <a:ext cx="5067371" cy="11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19" tIns="117319" rIns="117319" bIns="117319" numCol="1" spcCol="1270" anchor="ctr" anchorCtr="0">
          <a:noAutofit/>
        </a:bodyPr>
        <a:lstStyle/>
        <a:p>
          <a:pPr marL="0" lvl="0" indent="0" algn="l" defTabSz="889000">
            <a:lnSpc>
              <a:spcPct val="100000"/>
            </a:lnSpc>
            <a:spcBef>
              <a:spcPct val="0"/>
            </a:spcBef>
            <a:spcAft>
              <a:spcPct val="35000"/>
            </a:spcAft>
            <a:buNone/>
          </a:pPr>
          <a:r>
            <a:rPr lang="en-US" sz="2000" kern="1200"/>
            <a:t>- Algorithms are not just code.</a:t>
          </a:r>
        </a:p>
      </dsp:txBody>
      <dsp:txXfrm>
        <a:off x="1280342" y="473"/>
        <a:ext cx="5067371" cy="1108521"/>
      </dsp:txXfrm>
    </dsp:sp>
    <dsp:sp modelId="{F888A481-A9F4-4E2A-90B5-0FE6CB47A011}">
      <dsp:nvSpPr>
        <dsp:cNvPr id="0" name=""/>
        <dsp:cNvSpPr/>
      </dsp:nvSpPr>
      <dsp:spPr>
        <a:xfrm>
          <a:off x="0" y="1386125"/>
          <a:ext cx="6347714" cy="11085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6D0AB4-579E-4A24-BF03-976CD5C290B5}">
      <dsp:nvSpPr>
        <dsp:cNvPr id="0" name=""/>
        <dsp:cNvSpPr/>
      </dsp:nvSpPr>
      <dsp:spPr>
        <a:xfrm>
          <a:off x="335327" y="1635543"/>
          <a:ext cx="609686" cy="6096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C0A87F-37EF-4336-93D7-1951FA72FC70}">
      <dsp:nvSpPr>
        <dsp:cNvPr id="0" name=""/>
        <dsp:cNvSpPr/>
      </dsp:nvSpPr>
      <dsp:spPr>
        <a:xfrm>
          <a:off x="1280342" y="1386125"/>
          <a:ext cx="5067371" cy="11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19" tIns="117319" rIns="117319" bIns="117319" numCol="1" spcCol="1270" anchor="ctr" anchorCtr="0">
          <a:noAutofit/>
        </a:bodyPr>
        <a:lstStyle/>
        <a:p>
          <a:pPr marL="0" lvl="0" indent="0" algn="l" defTabSz="889000">
            <a:lnSpc>
              <a:spcPct val="100000"/>
            </a:lnSpc>
            <a:spcBef>
              <a:spcPct val="0"/>
            </a:spcBef>
            <a:spcAft>
              <a:spcPct val="35000"/>
            </a:spcAft>
            <a:buNone/>
          </a:pPr>
          <a:r>
            <a:rPr lang="en-US" sz="2000" kern="1200"/>
            <a:t>- Algorithms are structured ways to solve problems.</a:t>
          </a:r>
        </a:p>
      </dsp:txBody>
      <dsp:txXfrm>
        <a:off x="1280342" y="1386125"/>
        <a:ext cx="5067371" cy="1108521"/>
      </dsp:txXfrm>
    </dsp:sp>
    <dsp:sp modelId="{0824948D-910F-40F9-9CCD-95CE6C293F8E}">
      <dsp:nvSpPr>
        <dsp:cNvPr id="0" name=""/>
        <dsp:cNvSpPr/>
      </dsp:nvSpPr>
      <dsp:spPr>
        <a:xfrm>
          <a:off x="0" y="2771777"/>
          <a:ext cx="6347714" cy="11085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7AA651-3B6C-406A-BB93-FD4E4CBF1877}">
      <dsp:nvSpPr>
        <dsp:cNvPr id="0" name=""/>
        <dsp:cNvSpPr/>
      </dsp:nvSpPr>
      <dsp:spPr>
        <a:xfrm>
          <a:off x="335327" y="3021195"/>
          <a:ext cx="609686" cy="6096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92F953-880A-40AE-95F2-1EFB58161CEF}">
      <dsp:nvSpPr>
        <dsp:cNvPr id="0" name=""/>
        <dsp:cNvSpPr/>
      </dsp:nvSpPr>
      <dsp:spPr>
        <a:xfrm>
          <a:off x="1280342" y="2771777"/>
          <a:ext cx="5067371" cy="1108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19" tIns="117319" rIns="117319" bIns="117319" numCol="1" spcCol="1270" anchor="ctr" anchorCtr="0">
          <a:noAutofit/>
        </a:bodyPr>
        <a:lstStyle/>
        <a:p>
          <a:pPr marL="0" lvl="0" indent="0" algn="l" defTabSz="889000">
            <a:lnSpc>
              <a:spcPct val="100000"/>
            </a:lnSpc>
            <a:spcBef>
              <a:spcPct val="0"/>
            </a:spcBef>
            <a:spcAft>
              <a:spcPct val="35000"/>
            </a:spcAft>
            <a:buNone/>
          </a:pPr>
          <a:r>
            <a:rPr lang="en-US" sz="2000" kern="1200"/>
            <a:t>- This course focuses on designing, testing, explaining, and improving them.</a:t>
          </a:r>
        </a:p>
      </dsp:txBody>
      <dsp:txXfrm>
        <a:off x="1280342" y="2771777"/>
        <a:ext cx="5067371" cy="11085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2A04B-01CD-4EE7-B7C2-529315524663}">
      <dsp:nvSpPr>
        <dsp:cNvPr id="0" name=""/>
        <dsp:cNvSpPr/>
      </dsp:nvSpPr>
      <dsp:spPr>
        <a:xfrm>
          <a:off x="0" y="3198"/>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A6080A-E576-47A5-8441-2F8A8060715E}">
      <dsp:nvSpPr>
        <dsp:cNvPr id="0" name=""/>
        <dsp:cNvSpPr/>
      </dsp:nvSpPr>
      <dsp:spPr>
        <a:xfrm>
          <a:off x="206057" y="156463"/>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B7F7AD-EED9-4642-BA93-6FD4FD2CC00B}">
      <dsp:nvSpPr>
        <dsp:cNvPr id="0" name=""/>
        <dsp:cNvSpPr/>
      </dsp:nvSpPr>
      <dsp:spPr>
        <a:xfrm>
          <a:off x="786764" y="3198"/>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Lecture concept</a:t>
          </a:r>
        </a:p>
      </dsp:txBody>
      <dsp:txXfrm>
        <a:off x="786764" y="3198"/>
        <a:ext cx="6426835" cy="681180"/>
      </dsp:txXfrm>
    </dsp:sp>
    <dsp:sp modelId="{E76A484C-056A-4EE8-BBB2-217FD7FAA68A}">
      <dsp:nvSpPr>
        <dsp:cNvPr id="0" name=""/>
        <dsp:cNvSpPr/>
      </dsp:nvSpPr>
      <dsp:spPr>
        <a:xfrm>
          <a:off x="0" y="854674"/>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8D218F-9475-471A-BAB4-9DDBCCA05392}">
      <dsp:nvSpPr>
        <dsp:cNvPr id="0" name=""/>
        <dsp:cNvSpPr/>
      </dsp:nvSpPr>
      <dsp:spPr>
        <a:xfrm>
          <a:off x="206057" y="1007939"/>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5976128-6DE7-42DB-8722-282C9DBE9385}">
      <dsp:nvSpPr>
        <dsp:cNvPr id="0" name=""/>
        <dsp:cNvSpPr/>
      </dsp:nvSpPr>
      <dsp:spPr>
        <a:xfrm>
          <a:off x="786764" y="854674"/>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Instructor demo</a:t>
          </a:r>
        </a:p>
      </dsp:txBody>
      <dsp:txXfrm>
        <a:off x="786764" y="854674"/>
        <a:ext cx="6426835" cy="681180"/>
      </dsp:txXfrm>
    </dsp:sp>
    <dsp:sp modelId="{15FEF489-7AFD-430D-89D9-90CE2CF21E27}">
      <dsp:nvSpPr>
        <dsp:cNvPr id="0" name=""/>
        <dsp:cNvSpPr/>
      </dsp:nvSpPr>
      <dsp:spPr>
        <a:xfrm>
          <a:off x="0" y="1706150"/>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1D61A3-6CE2-4E74-A143-3441AC106AA1}">
      <dsp:nvSpPr>
        <dsp:cNvPr id="0" name=""/>
        <dsp:cNvSpPr/>
      </dsp:nvSpPr>
      <dsp:spPr>
        <a:xfrm>
          <a:off x="206057" y="1859416"/>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888E337-73CC-4F3D-9288-494D690D1BD1}">
      <dsp:nvSpPr>
        <dsp:cNvPr id="0" name=""/>
        <dsp:cNvSpPr/>
      </dsp:nvSpPr>
      <dsp:spPr>
        <a:xfrm>
          <a:off x="786764" y="1706150"/>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Related but different lab</a:t>
          </a:r>
        </a:p>
      </dsp:txBody>
      <dsp:txXfrm>
        <a:off x="786764" y="1706150"/>
        <a:ext cx="6426835" cy="681180"/>
      </dsp:txXfrm>
    </dsp:sp>
    <dsp:sp modelId="{08C7D293-B9E3-431A-B185-3E1CC7295F87}">
      <dsp:nvSpPr>
        <dsp:cNvPr id="0" name=""/>
        <dsp:cNvSpPr/>
      </dsp:nvSpPr>
      <dsp:spPr>
        <a:xfrm>
          <a:off x="0" y="2557626"/>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2F5B4E-910D-4914-A5A5-65A07386FC73}">
      <dsp:nvSpPr>
        <dsp:cNvPr id="0" name=""/>
        <dsp:cNvSpPr/>
      </dsp:nvSpPr>
      <dsp:spPr>
        <a:xfrm>
          <a:off x="206057" y="2710892"/>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CF2CA2-18F8-421A-8C8B-5888088E82DC}">
      <dsp:nvSpPr>
        <dsp:cNvPr id="0" name=""/>
        <dsp:cNvSpPr/>
      </dsp:nvSpPr>
      <dsp:spPr>
        <a:xfrm>
          <a:off x="786764" y="2557626"/>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Evidence and explanation</a:t>
          </a:r>
        </a:p>
      </dsp:txBody>
      <dsp:txXfrm>
        <a:off x="786764" y="2557626"/>
        <a:ext cx="6426835" cy="681180"/>
      </dsp:txXfrm>
    </dsp:sp>
    <dsp:sp modelId="{0A6A7949-A9CF-4C3B-B97C-1672767966AC}">
      <dsp:nvSpPr>
        <dsp:cNvPr id="0" name=""/>
        <dsp:cNvSpPr/>
      </dsp:nvSpPr>
      <dsp:spPr>
        <a:xfrm>
          <a:off x="0" y="3409102"/>
          <a:ext cx="7213600" cy="681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07BAD9-3031-4F57-9E6B-073B5281BADB}">
      <dsp:nvSpPr>
        <dsp:cNvPr id="0" name=""/>
        <dsp:cNvSpPr/>
      </dsp:nvSpPr>
      <dsp:spPr>
        <a:xfrm>
          <a:off x="206057" y="3562368"/>
          <a:ext cx="374649" cy="3746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19B829-1FB0-4D29-A757-F63208127C52}">
      <dsp:nvSpPr>
        <dsp:cNvPr id="0" name=""/>
        <dsp:cNvSpPr/>
      </dsp:nvSpPr>
      <dsp:spPr>
        <a:xfrm>
          <a:off x="786764" y="3409102"/>
          <a:ext cx="6426835"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844550">
            <a:lnSpc>
              <a:spcPct val="90000"/>
            </a:lnSpc>
            <a:spcBef>
              <a:spcPct val="0"/>
            </a:spcBef>
            <a:spcAft>
              <a:spcPct val="35000"/>
            </a:spcAft>
            <a:buNone/>
          </a:pPr>
          <a:r>
            <a:rPr lang="en-US" sz="1900" kern="1200"/>
            <a:t>- Responsible AI use</a:t>
          </a:r>
        </a:p>
      </dsp:txBody>
      <dsp:txXfrm>
        <a:off x="786764" y="3409102"/>
        <a:ext cx="6426835" cy="6811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635E6C-9604-47DD-8FF7-ABA40A7EE5A0}">
      <dsp:nvSpPr>
        <dsp:cNvPr id="0" name=""/>
        <dsp:cNvSpPr/>
      </dsp:nvSpPr>
      <dsp:spPr>
        <a:xfrm>
          <a:off x="0" y="3768"/>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1209BE-FFBC-437F-874D-B582C0FAE05A}">
      <dsp:nvSpPr>
        <dsp:cNvPr id="0" name=""/>
        <dsp:cNvSpPr/>
      </dsp:nvSpPr>
      <dsp:spPr>
        <a:xfrm>
          <a:off x="242789" y="184355"/>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2B3258D-959E-4A3E-AE68-4FC99A273F18}">
      <dsp:nvSpPr>
        <dsp:cNvPr id="0" name=""/>
        <dsp:cNvSpPr/>
      </dsp:nvSpPr>
      <dsp:spPr>
        <a:xfrm>
          <a:off x="927013" y="3768"/>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name the inputs and outputs</a:t>
          </a:r>
        </a:p>
      </dsp:txBody>
      <dsp:txXfrm>
        <a:off x="927013" y="3768"/>
        <a:ext cx="4092596" cy="802608"/>
      </dsp:txXfrm>
    </dsp:sp>
    <dsp:sp modelId="{6F0F1236-5A24-49CB-9A9F-99AAEFE9919E}">
      <dsp:nvSpPr>
        <dsp:cNvPr id="0" name=""/>
        <dsp:cNvSpPr/>
      </dsp:nvSpPr>
      <dsp:spPr>
        <a:xfrm>
          <a:off x="0" y="1007029"/>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21A322-543A-464E-8365-E7474DB7559A}">
      <dsp:nvSpPr>
        <dsp:cNvPr id="0" name=""/>
        <dsp:cNvSpPr/>
      </dsp:nvSpPr>
      <dsp:spPr>
        <a:xfrm>
          <a:off x="242789" y="1187616"/>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46BEEB4-D5C9-49B1-A21D-F7DA3FA13D3C}">
      <dsp:nvSpPr>
        <dsp:cNvPr id="0" name=""/>
        <dsp:cNvSpPr/>
      </dsp:nvSpPr>
      <dsp:spPr>
        <a:xfrm>
          <a:off x="927013" y="1007029"/>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state assumptions</a:t>
          </a:r>
        </a:p>
      </dsp:txBody>
      <dsp:txXfrm>
        <a:off x="927013" y="1007029"/>
        <a:ext cx="4092596" cy="802608"/>
      </dsp:txXfrm>
    </dsp:sp>
    <dsp:sp modelId="{C8917F24-FAA7-4F3D-AC0A-DBA37CDFFE6A}">
      <dsp:nvSpPr>
        <dsp:cNvPr id="0" name=""/>
        <dsp:cNvSpPr/>
      </dsp:nvSpPr>
      <dsp:spPr>
        <a:xfrm>
          <a:off x="0" y="2010290"/>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F9A4F1-1281-4491-BF3E-C7BA649BF0C1}">
      <dsp:nvSpPr>
        <dsp:cNvPr id="0" name=""/>
        <dsp:cNvSpPr/>
      </dsp:nvSpPr>
      <dsp:spPr>
        <a:xfrm>
          <a:off x="242789" y="2190877"/>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F244943-F785-4F3C-BA9A-4F7C5F1ED1B0}">
      <dsp:nvSpPr>
        <dsp:cNvPr id="0" name=""/>
        <dsp:cNvSpPr/>
      </dsp:nvSpPr>
      <dsp:spPr>
        <a:xfrm>
          <a:off x="927013" y="2010290"/>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write precise steps</a:t>
          </a:r>
        </a:p>
      </dsp:txBody>
      <dsp:txXfrm>
        <a:off x="927013" y="2010290"/>
        <a:ext cx="4092596" cy="802608"/>
      </dsp:txXfrm>
    </dsp:sp>
    <dsp:sp modelId="{59096BEA-B7EF-43A1-83B5-5F4D06E6F270}">
      <dsp:nvSpPr>
        <dsp:cNvPr id="0" name=""/>
        <dsp:cNvSpPr/>
      </dsp:nvSpPr>
      <dsp:spPr>
        <a:xfrm>
          <a:off x="0" y="3013551"/>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4FF926-F889-4872-8B2D-DD61A0D9B14A}">
      <dsp:nvSpPr>
        <dsp:cNvPr id="0" name=""/>
        <dsp:cNvSpPr/>
      </dsp:nvSpPr>
      <dsp:spPr>
        <a:xfrm>
          <a:off x="242789" y="3194138"/>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B65CF33-C460-43EC-BDE3-694AC8FC4F86}">
      <dsp:nvSpPr>
        <dsp:cNvPr id="0" name=""/>
        <dsp:cNvSpPr/>
      </dsp:nvSpPr>
      <dsp:spPr>
        <a:xfrm>
          <a:off x="927013" y="3013551"/>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test normal and edge cases</a:t>
          </a:r>
        </a:p>
      </dsp:txBody>
      <dsp:txXfrm>
        <a:off x="927013" y="3013551"/>
        <a:ext cx="4092596" cy="802608"/>
      </dsp:txXfrm>
    </dsp:sp>
    <dsp:sp modelId="{D38D0B81-A0B5-436F-9F30-809C43CB5E87}">
      <dsp:nvSpPr>
        <dsp:cNvPr id="0" name=""/>
        <dsp:cNvSpPr/>
      </dsp:nvSpPr>
      <dsp:spPr>
        <a:xfrm>
          <a:off x="0" y="4016812"/>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218B90-2B52-431F-86FF-E2170465B46A}">
      <dsp:nvSpPr>
        <dsp:cNvPr id="0" name=""/>
        <dsp:cNvSpPr/>
      </dsp:nvSpPr>
      <dsp:spPr>
        <a:xfrm>
          <a:off x="242789" y="4197399"/>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D18FF24-B86B-4BA3-97A4-31FBAC4FAA69}">
      <dsp:nvSpPr>
        <dsp:cNvPr id="0" name=""/>
        <dsp:cNvSpPr/>
      </dsp:nvSpPr>
      <dsp:spPr>
        <a:xfrm>
          <a:off x="927013" y="4016812"/>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dirty="0"/>
            <a:t>revise when evidence exposes ambiguity</a:t>
          </a:r>
        </a:p>
      </dsp:txBody>
      <dsp:txXfrm>
        <a:off x="927013" y="4016812"/>
        <a:ext cx="4092596" cy="8026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4C5B41-AD54-47FD-A4FC-3910F9ADC46E}">
      <dsp:nvSpPr>
        <dsp:cNvPr id="0" name=""/>
        <dsp:cNvSpPr/>
      </dsp:nvSpPr>
      <dsp:spPr>
        <a:xfrm>
          <a:off x="1282898" y="0"/>
          <a:ext cx="3881437" cy="3881437"/>
        </a:xfrm>
        <a:prstGeom prst="diamond">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FC3C87-04FE-4195-AA06-607FA5985935}">
      <dsp:nvSpPr>
        <dsp:cNvPr id="0" name=""/>
        <dsp:cNvSpPr/>
      </dsp:nvSpPr>
      <dsp:spPr>
        <a:xfrm>
          <a:off x="1651635" y="368736"/>
          <a:ext cx="1513760" cy="151376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What information do I start with?</a:t>
          </a:r>
        </a:p>
      </dsp:txBody>
      <dsp:txXfrm>
        <a:off x="1725531" y="442632"/>
        <a:ext cx="1365968" cy="1365968"/>
      </dsp:txXfrm>
    </dsp:sp>
    <dsp:sp modelId="{4E12119A-93A4-4344-A1FB-61A3A4CA772D}">
      <dsp:nvSpPr>
        <dsp:cNvPr id="0" name=""/>
        <dsp:cNvSpPr/>
      </dsp:nvSpPr>
      <dsp:spPr>
        <a:xfrm>
          <a:off x="3281838" y="368736"/>
          <a:ext cx="1513760" cy="1513760"/>
        </a:xfrm>
        <a:prstGeom prst="roundRect">
          <a:avLst/>
        </a:prstGeom>
        <a:solidFill>
          <a:schemeClr val="accent5">
            <a:hueOff val="-3298743"/>
            <a:satOff val="11981"/>
            <a:lumOff val="111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What steps do I follow?</a:t>
          </a:r>
        </a:p>
      </dsp:txBody>
      <dsp:txXfrm>
        <a:off x="3355734" y="442632"/>
        <a:ext cx="1365968" cy="1365968"/>
      </dsp:txXfrm>
    </dsp:sp>
    <dsp:sp modelId="{60ACC203-8FD6-4F88-A38F-FC9BDB0E5C1F}">
      <dsp:nvSpPr>
        <dsp:cNvPr id="0" name=""/>
        <dsp:cNvSpPr/>
      </dsp:nvSpPr>
      <dsp:spPr>
        <a:xfrm>
          <a:off x="1651635" y="1998940"/>
          <a:ext cx="1513760" cy="1513760"/>
        </a:xfrm>
        <a:prstGeom prst="roundRect">
          <a:avLst/>
        </a:prstGeom>
        <a:solidFill>
          <a:schemeClr val="accent5">
            <a:hueOff val="-6597487"/>
            <a:satOff val="23963"/>
            <a:lumOff val="222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What result should I produce?</a:t>
          </a:r>
        </a:p>
      </dsp:txBody>
      <dsp:txXfrm>
        <a:off x="1725531" y="2072836"/>
        <a:ext cx="1365968" cy="1365968"/>
      </dsp:txXfrm>
    </dsp:sp>
    <dsp:sp modelId="{94C4F992-F9B7-4C42-A57C-0EC0092E60E0}">
      <dsp:nvSpPr>
        <dsp:cNvPr id="0" name=""/>
        <dsp:cNvSpPr/>
      </dsp:nvSpPr>
      <dsp:spPr>
        <a:xfrm>
          <a:off x="3281838" y="1998940"/>
          <a:ext cx="1513760" cy="1513760"/>
        </a:xfrm>
        <a:prstGeom prst="roundRect">
          <a:avLst/>
        </a:prstGeom>
        <a:solidFill>
          <a:schemeClr val="accent5">
            <a:hueOff val="-9896230"/>
            <a:satOff val="35944"/>
            <a:lumOff val="33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How will I know it worked?</a:t>
          </a:r>
        </a:p>
      </dsp:txBody>
      <dsp:txXfrm>
        <a:off x="3355734" y="2072836"/>
        <a:ext cx="1365968" cy="13659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5E652-5339-48DF-AD8A-24F7D2D282F8}">
      <dsp:nvSpPr>
        <dsp:cNvPr id="0" name=""/>
        <dsp:cNvSpPr/>
      </dsp:nvSpPr>
      <dsp:spPr>
        <a:xfrm>
          <a:off x="0" y="0"/>
          <a:ext cx="6347714"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52A342-BAF8-4D14-9038-C67C3F0594C7}">
      <dsp:nvSpPr>
        <dsp:cNvPr id="0" name=""/>
        <dsp:cNvSpPr/>
      </dsp:nvSpPr>
      <dsp:spPr>
        <a:xfrm>
          <a:off x="0" y="0"/>
          <a:ext cx="1269542" cy="3880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Vague Words:</a:t>
          </a:r>
        </a:p>
      </dsp:txBody>
      <dsp:txXfrm>
        <a:off x="0" y="0"/>
        <a:ext cx="1269542" cy="3880773"/>
      </dsp:txXfrm>
    </dsp:sp>
    <dsp:sp modelId="{9BAEFEE7-C3BC-4DD0-AEDC-E60423D312EC}">
      <dsp:nvSpPr>
        <dsp:cNvPr id="0" name=""/>
        <dsp:cNvSpPr/>
      </dsp:nvSpPr>
      <dsp:spPr>
        <a:xfrm>
          <a:off x="1364758" y="30555"/>
          <a:ext cx="4982955" cy="611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Low</a:t>
          </a:r>
        </a:p>
      </dsp:txBody>
      <dsp:txXfrm>
        <a:off x="1364758" y="30555"/>
        <a:ext cx="4982955" cy="611108"/>
      </dsp:txXfrm>
    </dsp:sp>
    <dsp:sp modelId="{411DFEC6-A130-472F-BDCD-4C18105B716B}">
      <dsp:nvSpPr>
        <dsp:cNvPr id="0" name=""/>
        <dsp:cNvSpPr/>
      </dsp:nvSpPr>
      <dsp:spPr>
        <a:xfrm>
          <a:off x="1269542" y="641663"/>
          <a:ext cx="5078171"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18F2E3-E0E1-4CAE-9397-28EA56623455}">
      <dsp:nvSpPr>
        <dsp:cNvPr id="0" name=""/>
        <dsp:cNvSpPr/>
      </dsp:nvSpPr>
      <dsp:spPr>
        <a:xfrm>
          <a:off x="1364758" y="672218"/>
          <a:ext cx="4982955" cy="611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Soon</a:t>
          </a:r>
        </a:p>
      </dsp:txBody>
      <dsp:txXfrm>
        <a:off x="1364758" y="672218"/>
        <a:ext cx="4982955" cy="611108"/>
      </dsp:txXfrm>
    </dsp:sp>
    <dsp:sp modelId="{72FBEE0C-25B5-42A0-A98E-C8AF28B070AD}">
      <dsp:nvSpPr>
        <dsp:cNvPr id="0" name=""/>
        <dsp:cNvSpPr/>
      </dsp:nvSpPr>
      <dsp:spPr>
        <a:xfrm>
          <a:off x="1269542" y="1283326"/>
          <a:ext cx="5078171"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B14066-EFC1-4E34-AD52-9CAAF21FD84D}">
      <dsp:nvSpPr>
        <dsp:cNvPr id="0" name=""/>
        <dsp:cNvSpPr/>
      </dsp:nvSpPr>
      <dsp:spPr>
        <a:xfrm>
          <a:off x="1364758" y="1313882"/>
          <a:ext cx="4982955" cy="611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Many</a:t>
          </a:r>
        </a:p>
      </dsp:txBody>
      <dsp:txXfrm>
        <a:off x="1364758" y="1313882"/>
        <a:ext cx="4982955" cy="611108"/>
      </dsp:txXfrm>
    </dsp:sp>
    <dsp:sp modelId="{25AE5E3B-1BF7-412E-85BA-B1623FBF70F0}">
      <dsp:nvSpPr>
        <dsp:cNvPr id="0" name=""/>
        <dsp:cNvSpPr/>
      </dsp:nvSpPr>
      <dsp:spPr>
        <a:xfrm>
          <a:off x="1269542" y="1924990"/>
          <a:ext cx="5078171"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3EAE6E-9F4D-4A11-988A-2764B5CE0811}">
      <dsp:nvSpPr>
        <dsp:cNvPr id="0" name=""/>
        <dsp:cNvSpPr/>
      </dsp:nvSpPr>
      <dsp:spPr>
        <a:xfrm>
          <a:off x="1364758" y="1955545"/>
          <a:ext cx="4982955" cy="611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Best</a:t>
          </a:r>
        </a:p>
      </dsp:txBody>
      <dsp:txXfrm>
        <a:off x="1364758" y="1955545"/>
        <a:ext cx="4982955" cy="611108"/>
      </dsp:txXfrm>
    </dsp:sp>
    <dsp:sp modelId="{28D8D3E3-6A13-4D54-8A3C-D71B0D199697}">
      <dsp:nvSpPr>
        <dsp:cNvPr id="0" name=""/>
        <dsp:cNvSpPr/>
      </dsp:nvSpPr>
      <dsp:spPr>
        <a:xfrm>
          <a:off x="1269542" y="2566653"/>
          <a:ext cx="5078171"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196AADB-E607-4E4D-A258-99B83E2262E9}">
      <dsp:nvSpPr>
        <dsp:cNvPr id="0" name=""/>
        <dsp:cNvSpPr/>
      </dsp:nvSpPr>
      <dsp:spPr>
        <a:xfrm>
          <a:off x="1364758" y="2597209"/>
          <a:ext cx="4982955" cy="611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Reasonable</a:t>
          </a:r>
        </a:p>
      </dsp:txBody>
      <dsp:txXfrm>
        <a:off x="1364758" y="2597209"/>
        <a:ext cx="4982955" cy="611108"/>
      </dsp:txXfrm>
    </dsp:sp>
    <dsp:sp modelId="{57A57590-46A6-43A7-9E59-1234E1C87324}">
      <dsp:nvSpPr>
        <dsp:cNvPr id="0" name=""/>
        <dsp:cNvSpPr/>
      </dsp:nvSpPr>
      <dsp:spPr>
        <a:xfrm>
          <a:off x="1269542" y="3208317"/>
          <a:ext cx="5078171"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98F680-A498-4F23-97AC-742AA26EE349}">
      <dsp:nvSpPr>
        <dsp:cNvPr id="0" name=""/>
        <dsp:cNvSpPr/>
      </dsp:nvSpPr>
      <dsp:spPr>
        <a:xfrm>
          <a:off x="1364758" y="3238872"/>
          <a:ext cx="4982955" cy="611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Urgent</a:t>
          </a:r>
        </a:p>
      </dsp:txBody>
      <dsp:txXfrm>
        <a:off x="1364758" y="3238872"/>
        <a:ext cx="4982955" cy="611108"/>
      </dsp:txXfrm>
    </dsp:sp>
    <dsp:sp modelId="{CD0C1C79-8ABA-4459-B5FD-5EF978E2D215}">
      <dsp:nvSpPr>
        <dsp:cNvPr id="0" name=""/>
        <dsp:cNvSpPr/>
      </dsp:nvSpPr>
      <dsp:spPr>
        <a:xfrm>
          <a:off x="1269542" y="3849980"/>
          <a:ext cx="5078171"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9B2E2-F254-4758-975D-BCCCEBEB091F}">
      <dsp:nvSpPr>
        <dsp:cNvPr id="0" name=""/>
        <dsp:cNvSpPr/>
      </dsp:nvSpPr>
      <dsp:spPr>
        <a:xfrm>
          <a:off x="0" y="0"/>
          <a:ext cx="6347714" cy="3880773"/>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4892" tIns="330200" rIns="494892" bIns="330200" numCol="1" spcCol="1270" anchor="t" anchorCtr="0">
          <a:noAutofit/>
        </a:bodyPr>
        <a:lstStyle/>
        <a:p>
          <a:pPr marL="0" lvl="0" indent="0" algn="l" defTabSz="933450">
            <a:lnSpc>
              <a:spcPct val="90000"/>
            </a:lnSpc>
            <a:spcBef>
              <a:spcPct val="0"/>
            </a:spcBef>
            <a:spcAft>
              <a:spcPct val="35000"/>
            </a:spcAft>
            <a:buNone/>
          </a:pPr>
          <a:r>
            <a:rPr lang="en-US" sz="2100" kern="1200"/>
            <a:t>For Lab 01:</a:t>
          </a:r>
        </a:p>
        <a:p>
          <a:pPr marL="171450" lvl="1" indent="-171450" algn="l" defTabSz="711200">
            <a:lnSpc>
              <a:spcPct val="90000"/>
            </a:lnSpc>
            <a:spcBef>
              <a:spcPct val="0"/>
            </a:spcBef>
            <a:spcAft>
              <a:spcPct val="15000"/>
            </a:spcAft>
            <a:buChar char="•"/>
          </a:pPr>
          <a:r>
            <a:rPr lang="en-US" sz="1600" kern="1200"/>
            <a:t>choose a scenario</a:t>
          </a:r>
        </a:p>
        <a:p>
          <a:pPr marL="171450" lvl="1" indent="-171450" algn="l" defTabSz="711200">
            <a:lnSpc>
              <a:spcPct val="90000"/>
            </a:lnSpc>
            <a:spcBef>
              <a:spcPct val="0"/>
            </a:spcBef>
            <a:spcAft>
              <a:spcPct val="15000"/>
            </a:spcAft>
            <a:buChar char="•"/>
          </a:pPr>
          <a:r>
            <a:rPr lang="en-US" sz="1600" kern="1200"/>
            <a:t>write precise rules</a:t>
          </a:r>
        </a:p>
        <a:p>
          <a:pPr marL="171450" lvl="1" indent="-171450" algn="l" defTabSz="711200">
            <a:lnSpc>
              <a:spcPct val="90000"/>
            </a:lnSpc>
            <a:spcBef>
              <a:spcPct val="0"/>
            </a:spcBef>
            <a:spcAft>
              <a:spcPct val="15000"/>
            </a:spcAft>
            <a:buChar char="•"/>
          </a:pPr>
          <a:r>
            <a:rPr lang="en-US" sz="1600" kern="1200"/>
            <a:t>create normal and edge-case tests</a:t>
          </a:r>
        </a:p>
        <a:p>
          <a:pPr marL="171450" lvl="1" indent="-171450" algn="l" defTabSz="711200">
            <a:lnSpc>
              <a:spcPct val="90000"/>
            </a:lnSpc>
            <a:spcBef>
              <a:spcPct val="0"/>
            </a:spcBef>
            <a:spcAft>
              <a:spcPct val="15000"/>
            </a:spcAft>
            <a:buChar char="•"/>
          </a:pPr>
          <a:r>
            <a:rPr lang="en-US" sz="1600" kern="1200"/>
            <a:t>compare expected and actual results</a:t>
          </a:r>
        </a:p>
        <a:p>
          <a:pPr marL="171450" lvl="1" indent="-171450" algn="l" defTabSz="711200">
            <a:lnSpc>
              <a:spcPct val="90000"/>
            </a:lnSpc>
            <a:spcBef>
              <a:spcPct val="0"/>
            </a:spcBef>
            <a:spcAft>
              <a:spcPct val="15000"/>
            </a:spcAft>
            <a:buChar char="•"/>
          </a:pPr>
          <a:r>
            <a:rPr lang="en-US" sz="1600" kern="1200"/>
            <a:t>revise one ambiguity</a:t>
          </a:r>
        </a:p>
      </dsp:txBody>
      <dsp:txXfrm>
        <a:off x="0" y="1474693"/>
        <a:ext cx="6347714" cy="2328463"/>
      </dsp:txXfrm>
    </dsp:sp>
    <dsp:sp modelId="{6E066B6B-870C-47BB-B0D4-7DDBD6CCC405}">
      <dsp:nvSpPr>
        <dsp:cNvPr id="0" name=""/>
        <dsp:cNvSpPr/>
      </dsp:nvSpPr>
      <dsp:spPr>
        <a:xfrm>
          <a:off x="2591741" y="388077"/>
          <a:ext cx="1164231" cy="1164231"/>
        </a:xfrm>
        <a:prstGeom prst="ellips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0768" tIns="12700" rIns="90768"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2762239" y="558575"/>
        <a:ext cx="823235" cy="823235"/>
      </dsp:txXfrm>
    </dsp:sp>
    <dsp:sp modelId="{661C993E-716A-4EDE-A4B7-74802377363E}">
      <dsp:nvSpPr>
        <dsp:cNvPr id="0" name=""/>
        <dsp:cNvSpPr/>
      </dsp:nvSpPr>
      <dsp:spPr>
        <a:xfrm>
          <a:off x="0" y="3880701"/>
          <a:ext cx="6347714" cy="72"/>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9AF9F-1092-690D-006F-EBCE2C96B7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1FC0900-FCC2-2A2A-613C-A277F4B712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943E5A-6629-4B53-8BAD-0FC37077EB14}" type="datetimeFigureOut">
              <a:rPr lang="en-US" smtClean="0"/>
              <a:t>5/29/2026</a:t>
            </a:fld>
            <a:endParaRPr lang="en-US"/>
          </a:p>
        </p:txBody>
      </p:sp>
      <p:sp>
        <p:nvSpPr>
          <p:cNvPr id="4" name="Footer Placeholder 3">
            <a:extLst>
              <a:ext uri="{FF2B5EF4-FFF2-40B4-BE49-F238E27FC236}">
                <a16:creationId xmlns:a16="http://schemas.microsoft.com/office/drawing/2014/main" id="{6A2D7F8D-A102-3CF3-78CD-2CA4C36115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D03618-FB8B-BA92-AF2F-43138FFAD9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05D54-93E9-4845-A874-0CB2F7E46362}" type="slidenum">
              <a:rPr lang="en-US" smtClean="0"/>
              <a:t>‹#›</a:t>
            </a:fld>
            <a:endParaRPr lang="en-US"/>
          </a:p>
        </p:txBody>
      </p:sp>
    </p:spTree>
    <p:extLst>
      <p:ext uri="{BB962C8B-B14F-4D97-AF65-F5344CB8AC3E}">
        <p14:creationId xmlns:p14="http://schemas.microsoft.com/office/powerpoint/2010/main" val="92536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382475-516A-409A-944E-F435F3DFCCF2}" type="datetimeFigureOut">
              <a:rPr lang="en-US" smtClean="0"/>
              <a:t>5/29/2026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1</a:t>
            </a:fld>
            <a:endParaRPr lang="en-US"/>
          </a:p>
        </p:txBody>
      </p:sp>
    </p:spTree>
    <p:extLst>
      <p:ext uri="{BB962C8B-B14F-4D97-AF65-F5344CB8AC3E}">
        <p14:creationId xmlns:p14="http://schemas.microsoft.com/office/powerpoint/2010/main" val="300523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a:t>
            </a:fld>
            <a:endParaRPr lang="en-US"/>
          </a:p>
        </p:txBody>
      </p:sp>
    </p:spTree>
    <p:extLst>
      <p:ext uri="{BB962C8B-B14F-4D97-AF65-F5344CB8AC3E}">
        <p14:creationId xmlns:p14="http://schemas.microsoft.com/office/powerpoint/2010/main" val="1759147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a:t>
            </a:fld>
            <a:endParaRPr lang="en-US"/>
          </a:p>
        </p:txBody>
      </p:sp>
    </p:spTree>
    <p:extLst>
      <p:ext uri="{BB962C8B-B14F-4D97-AF65-F5344CB8AC3E}">
        <p14:creationId xmlns:p14="http://schemas.microsoft.com/office/powerpoint/2010/main" val="371392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B9419-D7AC-9948-9B26-79DF0C570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D7F49-BC91-A0E4-8A76-DAD9F7B21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2E12A-709D-C33B-FC7E-C9BF5B0A7143}"/>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Heuristic Projection for AI Assisted Developer using more Advanced </a:t>
            </a:r>
            <a:r>
              <a:rPr lang="en-US" sz="1200" b="1" kern="1200" dirty="0" err="1">
                <a:solidFill>
                  <a:schemeClr val="tx1"/>
                </a:solidFill>
                <a:effectLst/>
                <a:latin typeface="+mn-lt"/>
                <a:ea typeface="+mn-ea"/>
                <a:cs typeface="+mn-cs"/>
              </a:rPr>
              <a:t>Alogorithms</a:t>
            </a:r>
            <a:r>
              <a:rPr lang="en-US" sz="1200" b="1" kern="1200" dirty="0">
                <a:solidFill>
                  <a:schemeClr val="tx1"/>
                </a:solidFill>
                <a:effectLst/>
                <a:latin typeface="+mn-lt"/>
                <a:ea typeface="+mn-ea"/>
                <a:cs typeface="+mn-cs"/>
              </a:rPr>
              <a: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Developer Level 	| Effective Use 		| Notes |</a:t>
            </a:r>
          </a:p>
          <a:p>
            <a:r>
              <a:rPr lang="en-US" sz="1200" b="0" kern="1200" dirty="0">
                <a:solidFill>
                  <a:schemeClr val="tx1"/>
                </a:solidFill>
                <a:effectLst/>
                <a:latin typeface="+mn-lt"/>
                <a:ea typeface="+mn-ea"/>
                <a:cs typeface="+mn-cs"/>
              </a:rPr>
              <a:t>| Junior Developer 	| 10-20% 		| May recognize terms, but often cannot independently apply them beyond tutorials. AI can help, but they may not know when the AI is wrong. |</a:t>
            </a:r>
          </a:p>
          <a:p>
            <a:r>
              <a:rPr lang="en-US" sz="1200" b="0" kern="1200" dirty="0">
                <a:solidFill>
                  <a:schemeClr val="tx1"/>
                </a:solidFill>
                <a:effectLst/>
                <a:latin typeface="+mn-lt"/>
                <a:ea typeface="+mn-ea"/>
                <a:cs typeface="+mn-cs"/>
              </a:rPr>
              <a:t>| Mid-Level Developer 	| 25-45% 		| Can apply selected concepts when prompted by the problem. Often uses AI to refresh Big-O, choose structures, compare strategies, or explain tradeoffs. |</a:t>
            </a:r>
          </a:p>
          <a:p>
            <a:r>
              <a:rPr lang="en-US" sz="1200" b="0" kern="1200" dirty="0">
                <a:solidFill>
                  <a:schemeClr val="tx1"/>
                </a:solidFill>
                <a:effectLst/>
                <a:latin typeface="+mn-lt"/>
                <a:ea typeface="+mn-ea"/>
                <a:cs typeface="+mn-cs"/>
              </a:rPr>
              <a:t>| Senior Developer 	| 45-70% 		| More likely to identify when advanced concepts matter, even if they do not remember formal details. Uses AI as a reasoning/reference accelerator. |</a:t>
            </a:r>
          </a:p>
          <a:p>
            <a:endParaRPr lang="en-US" dirty="0"/>
          </a:p>
        </p:txBody>
      </p:sp>
      <p:sp>
        <p:nvSpPr>
          <p:cNvPr id="4" name="Slide Number Placeholder 3">
            <a:extLst>
              <a:ext uri="{FF2B5EF4-FFF2-40B4-BE49-F238E27FC236}">
                <a16:creationId xmlns:a16="http://schemas.microsoft.com/office/drawing/2014/main" id="{F85CB51B-70A3-45D1-EAAB-63A211636821}"/>
              </a:ext>
            </a:extLst>
          </p:cNvPr>
          <p:cNvSpPr>
            <a:spLocks noGrp="1"/>
          </p:cNvSpPr>
          <p:nvPr>
            <p:ph type="sldNum" sz="quarter" idx="5"/>
          </p:nvPr>
        </p:nvSpPr>
        <p:spPr/>
        <p:txBody>
          <a:bodyPr/>
          <a:lstStyle/>
          <a:p>
            <a:fld id="{1916ACA2-47E6-42D2-BEC8-EDC49A1A9FA1}" type="slidenum">
              <a:rPr lang="en-US" smtClean="0"/>
              <a:t>4</a:t>
            </a:fld>
            <a:endParaRPr lang="en-US"/>
          </a:p>
        </p:txBody>
      </p:sp>
    </p:spTree>
    <p:extLst>
      <p:ext uri="{BB962C8B-B14F-4D97-AF65-F5344CB8AC3E}">
        <p14:creationId xmlns:p14="http://schemas.microsoft.com/office/powerpoint/2010/main" val="1996645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5</a:t>
            </a:fld>
            <a:endParaRPr lang="en-US"/>
          </a:p>
        </p:txBody>
      </p:sp>
    </p:spTree>
    <p:extLst>
      <p:ext uri="{BB962C8B-B14F-4D97-AF65-F5344CB8AC3E}">
        <p14:creationId xmlns:p14="http://schemas.microsoft.com/office/powerpoint/2010/main" val="409290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6</a:t>
            </a:fld>
            <a:endParaRPr lang="en-US"/>
          </a:p>
        </p:txBody>
      </p:sp>
    </p:spTree>
    <p:extLst>
      <p:ext uri="{BB962C8B-B14F-4D97-AF65-F5344CB8AC3E}">
        <p14:creationId xmlns:p14="http://schemas.microsoft.com/office/powerpoint/2010/main" val="1229613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Open by positioning the course as a bridge from "I can write Python" to "I can reason about a solution before and after I write Python."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clear that this course is not abandoning coding. Instead, it slows down the thinking around the code: why this approach, why this data, why this test, and why this result should be trusted.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already associate algorithms with code, math, or intimidating formal notation. Start there, then broaden the word so it means a structured problem-solving process that can eventually be implemented and tested.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2594674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8</a:t>
            </a:fld>
            <a:endParaRPr lang="en-US"/>
          </a:p>
        </p:txBody>
      </p:sp>
    </p:spTree>
    <p:extLst>
      <p:ext uri="{BB962C8B-B14F-4D97-AF65-F5344CB8AC3E}">
        <p14:creationId xmlns:p14="http://schemas.microsoft.com/office/powerpoint/2010/main" val="374933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 </a:t>
            </a:r>
            <a:r>
              <a:rPr lang="en-US" sz="1200" b="0" kern="1200" dirty="0">
                <a:solidFill>
                  <a:schemeClr val="tx1"/>
                </a:solidFill>
                <a:effectLst/>
                <a:latin typeface="+mn-lt"/>
                <a:ea typeface="+mn-ea"/>
                <a:cs typeface="+mn-cs"/>
              </a:rPr>
              <a:t>(Use this slide to lower unnecessary anxiety without lowering expectations.)</a:t>
            </a:r>
          </a:p>
          <a:p>
            <a:r>
              <a:rPr lang="en-US" sz="1200" b="0" kern="1200" dirty="0">
                <a:solidFill>
                  <a:schemeClr val="tx1"/>
                </a:solidFill>
                <a:effectLst/>
                <a:latin typeface="+mn-lt"/>
                <a:ea typeface="+mn-ea"/>
                <a:cs typeface="+mn-cs"/>
              </a:rPr>
              <a:t>Explain that the textbook is intentionally broad and sometimes gives a fuller mathematical treatment than beginning developers need on first contact. That is not a failure by the student. The first goal is to recognize the idea, become familiar with the vocabulary and understand why the concept matters.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Say explicitly: "When you write a Python function that takes input, follows steps, and returns a result, you are already creating an algorithm. This course will help you recognize, test, explain, and improve that process."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Also explain that some textbook topics may appear before students are ready to master them fully. Later topics such as P, NP, NP-Complete, and NP-Hard are important in computer science, but the beginning developer does not need to master them to become competent at introductory algorithmic problem solving.</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**Misconception Warning:**</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interpret unfamiliar formulas as proof that they are "not math people" or that they cannot learn algorithms. Reframe the formulas as one way experts compress reasoning, not the only way to begin understanding the idea.</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With that textbook posture in mind, today we will start with the developer version of algorithmic thinking: turning a vague instruction into a testable process.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9</a:t>
            </a:fld>
            <a:endParaRPr lang="en-US"/>
          </a:p>
        </p:txBody>
      </p:sp>
    </p:spTree>
    <p:extLst>
      <p:ext uri="{BB962C8B-B14F-4D97-AF65-F5344CB8AC3E}">
        <p14:creationId xmlns:p14="http://schemas.microsoft.com/office/powerpoint/2010/main" val="1755530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Explain the repeated course rhythm. Emphasize that the demo will be similar to the lab but not the same.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demo is a teaching example. The lab is a transfer task. Students should look for the pattern from the demo, then apply that pattern to a different scenario instead of copying the demo's exact rules.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pattern starts today with a small decision algorithm because decision rules are easy to understand but still reveal ambiguity, assumptions, and edge cases.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4015783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anchor question for the entire lesson. Keep returning to it during the demo and lab bridge.</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Explain that "testable" means another person can follow the rule, predict an expected result, run or simulate the process, and compare the actual result to the expected one.</a:t>
            </a:r>
          </a:p>
          <a:p>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Most everyday instructions feel clear to the person who wrote them. The problem appears when another person or a computer has to follow those instructions without sharing the hidden context.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143017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makes the success target concrete and lowers anxiety. It also sets up the Lab 01 grading emphasis.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Mention that the first week is not about clever code. It is about making a small solution precise enough that it can be reviewed, tested, and improved.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r>
              <a:rPr lang="en-US" sz="1200" b="0" kern="1200" dirty="0">
                <a:solidFill>
                  <a:schemeClr val="tx1"/>
                </a:solidFill>
                <a:effectLst/>
                <a:latin typeface="+mn-lt"/>
                <a:ea typeface="+mn-ea"/>
                <a:cs typeface="+mn-cs"/>
              </a:rPr>
              <a: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assigned reading gives vocabulary for this work. The lecture will use those terms, but it will also translate them into small examples students can apply in Lab 01.</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1398302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the course phrase explicitly: "An algorithm does not have to look mathematical to be real."</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Then add the working standard for the course: it must be clear, repeatable, testable, explainable, and implementable. This definition is intentionally practical because students will use it in labs.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Once students understand what an algorithm is, the next question is how an algorithm is developed. The reading separates that work into design and coding.</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13</a:t>
            </a:fld>
            <a:endParaRPr lang="en-US"/>
          </a:p>
        </p:txBody>
      </p:sp>
    </p:spTree>
    <p:extLst>
      <p:ext uri="{BB962C8B-B14F-4D97-AF65-F5344CB8AC3E}">
        <p14:creationId xmlns:p14="http://schemas.microsoft.com/office/powerpoint/2010/main" val="532020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39AD-78AB-0778-505F-4707025A7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05BC2-BC84-9FA7-33C4-CC80CAFF5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C08FC-D966-6047-0753-82F46129A2A2}"/>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(Do not overstate the separation.) </a:t>
            </a:r>
            <a:r>
              <a:rPr lang="en-US" sz="1200" b="0" kern="1200" dirty="0">
                <a:solidFill>
                  <a:schemeClr val="tx1"/>
                </a:solidFill>
                <a:effectLst/>
                <a:latin typeface="+mn-lt"/>
                <a:ea typeface="+mn-ea"/>
                <a:cs typeface="+mn-cs"/>
              </a:rPr>
              <a:t>In real work, design and coding can loop. The teaching point is that design questions should be visible before students race</a:t>
            </a:r>
          </a:p>
          <a:p>
            <a:r>
              <a:rPr lang="en-US" sz="1200" b="0" kern="1200" dirty="0">
                <a:solidFill>
                  <a:schemeClr val="tx1"/>
                </a:solidFill>
                <a:effectLst/>
                <a:latin typeface="+mn-lt"/>
                <a:ea typeface="+mn-ea"/>
                <a:cs typeface="+mn-cs"/>
              </a:rPr>
              <a:t>into code.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Give a simple example: before writing a function that recommends "bring charger," we should decide what counts as low battery and long time on campus.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Design is where we decide what the algorithm is supposed to do and how we will know whether it did it correctly.</a:t>
            </a:r>
          </a:p>
          <a:p>
            <a:endParaRPr lang="en-US" dirty="0"/>
          </a:p>
        </p:txBody>
      </p:sp>
      <p:sp>
        <p:nvSpPr>
          <p:cNvPr id="4" name="Slide Number Placeholder 3">
            <a:extLst>
              <a:ext uri="{FF2B5EF4-FFF2-40B4-BE49-F238E27FC236}">
                <a16:creationId xmlns:a16="http://schemas.microsoft.com/office/drawing/2014/main" id="{C835A702-97A1-E88F-EBF7-B36C53BB4098}"/>
              </a:ext>
            </a:extLst>
          </p:cNvPr>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3719750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56859-FF68-44EC-6CD9-0C5116744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9A431-E987-96F1-AB64-C28FE97DF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2DE931-97AF-8E61-7E3F-BE41EE94959F}"/>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introductory. Week 1 does not need full software requirements theory. Students only need the difference between "what it does" and "how well it behaves."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Use a quick example: a functional requirement might be "return approved, denied, or needs review." A non-functional requirement might be "the decision should be easy to explain" or "the approach should still work when there are many records."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Those requirements lead to three design questions we will keep using in the course: expected result, reasonable approach, and larger-data behavior.</a:t>
            </a:r>
          </a:p>
          <a:p>
            <a:endParaRPr lang="en-US" dirty="0"/>
          </a:p>
        </p:txBody>
      </p:sp>
      <p:sp>
        <p:nvSpPr>
          <p:cNvPr id="4" name="Slide Number Placeholder 3">
            <a:extLst>
              <a:ext uri="{FF2B5EF4-FFF2-40B4-BE49-F238E27FC236}">
                <a16:creationId xmlns:a16="http://schemas.microsoft.com/office/drawing/2014/main" id="{E5208FA8-D139-FE43-98E7-182913BFA380}"/>
              </a:ext>
            </a:extLst>
          </p:cNvPr>
          <p:cNvSpPr>
            <a:spLocks noGrp="1"/>
          </p:cNvSpPr>
          <p:nvPr>
            <p:ph type="sldNum" sz="quarter" idx="5"/>
          </p:nvPr>
        </p:nvSpPr>
        <p:spPr/>
        <p:txBody>
          <a:bodyPr/>
          <a:lstStyle/>
          <a:p>
            <a:fld id="{1916ACA2-47E6-42D2-BEC8-EDC49A1A9FA1}" type="slidenum">
              <a:rPr lang="en-US" smtClean="0"/>
              <a:t>15</a:t>
            </a:fld>
            <a:endParaRPr lang="en-US"/>
          </a:p>
        </p:txBody>
      </p:sp>
    </p:spTree>
    <p:extLst>
      <p:ext uri="{BB962C8B-B14F-4D97-AF65-F5344CB8AC3E}">
        <p14:creationId xmlns:p14="http://schemas.microsoft.com/office/powerpoint/2010/main" val="724041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D32DD-6995-1978-1012-5E8B084DC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A97E91-57C7-B40C-A479-C09AAAC85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726DA2-D0B3-2A7C-6F80-B17D4BE50553}"/>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these three as the Week 1 version of correctness, approach fit, and scale.</a:t>
            </a:r>
          </a:p>
          <a:p>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(Formal Big-O comes later. - Do </a:t>
            </a:r>
            <a:r>
              <a:rPr lang="en-US" sz="1200" b="1" i="1" kern="1200" dirty="0">
                <a:solidFill>
                  <a:schemeClr val="tx1"/>
                </a:solidFill>
                <a:effectLst/>
                <a:latin typeface="+mn-lt"/>
                <a:ea typeface="+mn-ea"/>
                <a:cs typeface="+mn-cs"/>
              </a:rPr>
              <a:t>not</a:t>
            </a:r>
            <a:r>
              <a:rPr lang="en-US" sz="1200" b="0" i="1" kern="1200" dirty="0">
                <a:solidFill>
                  <a:schemeClr val="tx1"/>
                </a:solidFill>
                <a:effectLst/>
                <a:latin typeface="+mn-lt"/>
                <a:ea typeface="+mn-ea"/>
                <a:cs typeface="+mn-cs"/>
              </a:rPr>
              <a:t> introduce formal notation here.)</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goal is to plant the questions so Week 2's growth and Big-O discussion has somewhere to attach.</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move from: … the reading summary … into the course's working definition of an algorithm: a procedure that starts with information, follows steps, produces a result, and can be checked.</a:t>
            </a:r>
          </a:p>
          <a:p>
            <a:endParaRPr lang="en-US"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FC409FDE-1585-5F09-87AC-4F88EFC03491}"/>
              </a:ext>
            </a:extLst>
          </p:cNvPr>
          <p:cNvSpPr>
            <a:spLocks noGrp="1"/>
          </p:cNvSpPr>
          <p:nvPr>
            <p:ph type="sldNum" sz="quarter" idx="5"/>
          </p:nvPr>
        </p:nvSpPr>
        <p:spPr/>
        <p:txBody>
          <a:bodyPr/>
          <a:lstStyle/>
          <a:p>
            <a:fld id="{1916ACA2-47E6-42D2-BEC8-EDC49A1A9FA1}" type="slidenum">
              <a:rPr lang="en-US" smtClean="0"/>
              <a:t>16</a:t>
            </a:fld>
            <a:endParaRPr lang="en-US"/>
          </a:p>
        </p:txBody>
      </p:sp>
    </p:spTree>
    <p:extLst>
      <p:ext uri="{BB962C8B-B14F-4D97-AF65-F5344CB8AC3E}">
        <p14:creationId xmlns:p14="http://schemas.microsoft.com/office/powerpoint/2010/main" val="2986793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Topic Block 1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Key Terms</a:t>
            </a:r>
          </a:p>
          <a:p>
            <a:r>
              <a:rPr lang="en-US" sz="1200" b="0" kern="1200" dirty="0">
                <a:solidFill>
                  <a:schemeClr val="tx1"/>
                </a:solidFill>
                <a:effectLst/>
                <a:latin typeface="+mn-lt"/>
                <a:ea typeface="+mn-ea"/>
                <a:cs typeface="+mn-cs"/>
              </a:rPr>
              <a:t>Algorithm 	- A precise process for solving a problem</a:t>
            </a:r>
          </a:p>
          <a:p>
            <a:r>
              <a:rPr lang="en-US" sz="1200" b="0" kern="1200" dirty="0">
                <a:solidFill>
                  <a:schemeClr val="tx1"/>
                </a:solidFill>
                <a:effectLst/>
                <a:latin typeface="+mn-lt"/>
                <a:ea typeface="+mn-ea"/>
                <a:cs typeface="+mn-cs"/>
              </a:rPr>
              <a:t>Procedure 	- Ordered steps</a:t>
            </a:r>
          </a:p>
          <a:p>
            <a:r>
              <a:rPr lang="en-US" sz="1200" b="0" kern="1200" dirty="0" err="1">
                <a:solidFill>
                  <a:schemeClr val="tx1"/>
                </a:solidFill>
                <a:effectLst/>
                <a:latin typeface="+mn-lt"/>
                <a:ea typeface="+mn-ea"/>
                <a:cs typeface="+mn-cs"/>
              </a:rPr>
              <a:t>Expectd</a:t>
            </a:r>
            <a:r>
              <a:rPr lang="en-US" sz="1200" b="0" kern="1200" dirty="0">
                <a:solidFill>
                  <a:schemeClr val="tx1"/>
                </a:solidFill>
                <a:effectLst/>
                <a:latin typeface="+mn-lt"/>
                <a:ea typeface="+mn-ea"/>
                <a:cs typeface="+mn-cs"/>
              </a:rPr>
              <a:t> result 	- What should happen if the algorithm is correct</a:t>
            </a:r>
          </a:p>
          <a:p>
            <a:r>
              <a:rPr lang="en-US" sz="1200" b="0" kern="1200" dirty="0">
                <a:solidFill>
                  <a:schemeClr val="tx1"/>
                </a:solidFill>
                <a:effectLst/>
                <a:latin typeface="+mn-lt"/>
                <a:ea typeface="+mn-ea"/>
                <a:cs typeface="+mn-cs"/>
              </a:rPr>
              <a:t>Testable 	- Clear enough that we can check the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17</a:t>
            </a:fld>
            <a:endParaRPr lang="en-US"/>
          </a:p>
        </p:txBody>
      </p:sp>
    </p:spTree>
    <p:extLst>
      <p:ext uri="{BB962C8B-B14F-4D97-AF65-F5344CB8AC3E}">
        <p14:creationId xmlns:p14="http://schemas.microsoft.com/office/powerpoint/2010/main" val="3639519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Ask students for one everyday process that has steps.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If they hesitate, offer examples such as deciding what to wear, calculating a tip, choosing a route, or prioritizing a task</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Then ask them to identify the starting information and final decision for that example. The goal is to help them see that algorithmic thinking can begin with ordinary decision processes before it becomes code.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Once we can describe the process, we can represent that same process in more than one form. The representation changes, but the underlying reasoning should stay the same.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18</a:t>
            </a:fld>
            <a:endParaRPr lang="en-US"/>
          </a:p>
        </p:txBody>
      </p:sp>
    </p:spTree>
    <p:extLst>
      <p:ext uri="{BB962C8B-B14F-4D97-AF65-F5344CB8AC3E}">
        <p14:creationId xmlns:p14="http://schemas.microsoft.com/office/powerpoint/2010/main" val="30761581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9C694-F0F0-9377-0B71-B6F6822CB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DDF0B-DB35-B974-E99C-6822055C2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43403-FCBA-CDFA-E0B4-69C131769599}"/>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this slide to directly address the misconception that algorithms are only equations or only code.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Say explicitly that plain English can be a valid starting representation when the steps are precise enough to follow and test. Pseudocode and Python are not separate ideas; they are more structured ways to express the same reasoning.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Next we need to ask what separates a real algorithm from a vague suggestion. The answer is not the format. The answer is whether the process is ordered, precise, repeatable, testable, and connected to a result.</a:t>
            </a:r>
          </a:p>
          <a:p>
            <a:endParaRPr lang="en-US" dirty="0"/>
          </a:p>
        </p:txBody>
      </p:sp>
      <p:sp>
        <p:nvSpPr>
          <p:cNvPr id="4" name="Slide Number Placeholder 3">
            <a:extLst>
              <a:ext uri="{FF2B5EF4-FFF2-40B4-BE49-F238E27FC236}">
                <a16:creationId xmlns:a16="http://schemas.microsoft.com/office/drawing/2014/main" id="{C92E888D-52B9-635A-BFFE-1AE04A470C6D}"/>
              </a:ext>
            </a:extLst>
          </p:cNvPr>
          <p:cNvSpPr>
            <a:spLocks noGrp="1"/>
          </p:cNvSpPr>
          <p:nvPr>
            <p:ph type="sldNum" sz="quarter" idx="5"/>
          </p:nvPr>
        </p:nvSpPr>
        <p:spPr/>
        <p:txBody>
          <a:bodyPr/>
          <a:lstStyle/>
          <a:p>
            <a:fld id="{1916ACA2-47E6-42D2-BEC8-EDC49A1A9FA1}" type="slidenum">
              <a:rPr lang="en-US" smtClean="0"/>
              <a:t>19</a:t>
            </a:fld>
            <a:endParaRPr lang="en-US"/>
          </a:p>
        </p:txBody>
      </p:sp>
    </p:spTree>
    <p:extLst>
      <p:ext uri="{BB962C8B-B14F-4D97-AF65-F5344CB8AC3E}">
        <p14:creationId xmlns:p14="http://schemas.microsoft.com/office/powerpoint/2010/main" val="17360269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 deliberately weak instruction: "Pick the best option."</a:t>
            </a:r>
          </a:p>
          <a:p>
            <a:r>
              <a:rPr lang="en-US" sz="1200" b="0" kern="1200" dirty="0">
                <a:solidFill>
                  <a:schemeClr val="tx1"/>
                </a:solidFill>
                <a:effectLst/>
                <a:latin typeface="+mn-lt"/>
                <a:ea typeface="+mn-ea"/>
                <a:cs typeface="+mn-cs"/>
              </a:rPr>
              <a:t>Ask students what makes that instruction hard for someone else to follow. The problem is that "best" has not been defined. Best could mean cheapest, fastest, healthiest, easiest, highest quality, or most appropriate for a specific person.</a:t>
            </a:r>
          </a:p>
          <a:p>
            <a:r>
              <a:rPr lang="en-US" sz="1200" b="0" kern="1200" dirty="0">
                <a:solidFill>
                  <a:schemeClr val="tx1"/>
                </a:solidFill>
                <a:effectLst/>
                <a:latin typeface="+mn-lt"/>
                <a:ea typeface="+mn-ea"/>
                <a:cs typeface="+mn-cs"/>
              </a:rPr>
              <a:t>Then connect the weak instruction back to the slide. It is not precise enough, not repeatable across people, and not testable unless "best" is defined with specific rules or scoring criteria.</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**Misconception Warning:**</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think everyday steps are too simple to be algorithms. That is not true if the steps are precise and testable.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is why precision matters. Vague instructions often feel obvious to the person who wrote them because that person is silently filling in hidden decisions. Algorithms require those hidden decisions to be written down.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20</a:t>
            </a:fld>
            <a:endParaRPr lang="en-US"/>
          </a:p>
        </p:txBody>
      </p:sp>
    </p:spTree>
    <p:extLst>
      <p:ext uri="{BB962C8B-B14F-4D97-AF65-F5344CB8AC3E}">
        <p14:creationId xmlns:p14="http://schemas.microsoft.com/office/powerpoint/2010/main" val="4206439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Ask: "What counts as urgent?"</a:t>
            </a:r>
          </a:p>
          <a:p>
            <a:r>
              <a:rPr lang="en-US" sz="1200" b="0" kern="1200" dirty="0">
                <a:solidFill>
                  <a:schemeClr val="tx1"/>
                </a:solidFill>
                <a:effectLst/>
                <a:latin typeface="+mn-lt"/>
                <a:ea typeface="+mn-ea"/>
                <a:cs typeface="+mn-cs"/>
              </a:rPr>
              <a:t>Let students give two or three different answers. One student may define urgent as "due today." Another may define urgent as "affects many people.“ Another may define it as "blocks all work."</a:t>
            </a:r>
          </a:p>
          <a:p>
            <a:r>
              <a:rPr lang="en-US" sz="1200" b="0" kern="1200" dirty="0">
                <a:solidFill>
                  <a:schemeClr val="tx1"/>
                </a:solidFill>
                <a:effectLst/>
                <a:latin typeface="+mn-lt"/>
                <a:ea typeface="+mn-ea"/>
                <a:cs typeface="+mn-cs"/>
              </a:rPr>
              <a:t>Point out that those answers are not just opinions. Each answer implies a different rule. Those hidden rules are part of the algorithm even before code exists.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design phase is where we make those hidden rules explicit before we ask Python to execute them.</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21</a:t>
            </a:fld>
            <a:endParaRPr lang="en-US"/>
          </a:p>
        </p:txBody>
      </p:sp>
    </p:spTree>
    <p:extLst>
      <p:ext uri="{BB962C8B-B14F-4D97-AF65-F5344CB8AC3E}">
        <p14:creationId xmlns:p14="http://schemas.microsoft.com/office/powerpoint/2010/main" val="16555516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Topic Block 2 **</a:t>
            </a:r>
          </a:p>
          <a:p>
            <a:endParaRPr lang="en-US" dirty="0"/>
          </a:p>
          <a:p>
            <a:r>
              <a:rPr lang="en-US" b="1" dirty="0"/>
              <a:t>Key Terms</a:t>
            </a:r>
          </a:p>
          <a:p>
            <a:r>
              <a:rPr lang="en-US" sz="1200" b="0" kern="1200" dirty="0">
                <a:solidFill>
                  <a:schemeClr val="tx1"/>
                </a:solidFill>
                <a:effectLst/>
                <a:latin typeface="+mn-lt"/>
                <a:ea typeface="+mn-ea"/>
                <a:cs typeface="+mn-cs"/>
              </a:rPr>
              <a:t>Design 	- Deciding how the solution should work </a:t>
            </a:r>
          </a:p>
          <a:p>
            <a:r>
              <a:rPr lang="en-US" sz="1200" b="0" kern="1200" dirty="0">
                <a:solidFill>
                  <a:schemeClr val="tx1"/>
                </a:solidFill>
                <a:effectLst/>
                <a:latin typeface="+mn-lt"/>
                <a:ea typeface="+mn-ea"/>
                <a:cs typeface="+mn-cs"/>
              </a:rPr>
              <a:t>Coding 	- Turning the design into executable instructions </a:t>
            </a:r>
          </a:p>
          <a:p>
            <a:r>
              <a:rPr lang="en-US" sz="1200" b="0" kern="1200" dirty="0">
                <a:solidFill>
                  <a:schemeClr val="tx1"/>
                </a:solidFill>
                <a:effectLst/>
                <a:latin typeface="+mn-lt"/>
                <a:ea typeface="+mn-ea"/>
                <a:cs typeface="+mn-cs"/>
              </a:rPr>
              <a:t>Assumption 	- Something treated as true for the solution </a:t>
            </a:r>
          </a:p>
          <a:p>
            <a:r>
              <a:rPr lang="en-US" sz="1200" b="0" kern="1200" dirty="0">
                <a:solidFill>
                  <a:schemeClr val="tx1"/>
                </a:solidFill>
                <a:effectLst/>
                <a:latin typeface="+mn-lt"/>
                <a:ea typeface="+mn-ea"/>
                <a:cs typeface="+mn-cs"/>
              </a:rPr>
              <a:t>Constraint 	-  A limit or rule the solution must respect </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22</a:t>
            </a:fld>
            <a:endParaRPr lang="en-US"/>
          </a:p>
        </p:txBody>
      </p:sp>
    </p:spTree>
    <p:extLst>
      <p:ext uri="{BB962C8B-B14F-4D97-AF65-F5344CB8AC3E}">
        <p14:creationId xmlns:p14="http://schemas.microsoft.com/office/powerpoint/2010/main" val="26797368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(Connect each bullet directly to Lab 01)</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Students will not only submit code or pseudocode. They will also submit the problem statement, inputs, outputs, assumptions, constraints, and expected results in their README.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These design pieces are part of the assessed work because they show whether the student understands the problem before trying to solve it.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Once the design is clear enough to test, coding becomes the act of making that design executable.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23</a:t>
            </a:fld>
            <a:endParaRPr lang="en-US"/>
          </a:p>
        </p:txBody>
      </p:sp>
    </p:spTree>
    <p:extLst>
      <p:ext uri="{BB962C8B-B14F-4D97-AF65-F5344CB8AC3E}">
        <p14:creationId xmlns:p14="http://schemas.microsoft.com/office/powerpoint/2010/main" val="14205657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Mention that Python is chosen because students have already used it and because it keeps the course focused on algorithmic thinking.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point is not that Python is the only language for algorithms. The point is that Python gives the class a familiar execution environment where students can run small examples, inspect output, and revise quickly.</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However, getting Python to run is only one part of the job. A running program can still implement the wrong rule or miss an important boundary case.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24</a:t>
            </a:fld>
            <a:endParaRPr lang="en-US"/>
          </a:p>
        </p:txBody>
      </p:sp>
    </p:spTree>
    <p:extLst>
      <p:ext uri="{BB962C8B-B14F-4D97-AF65-F5344CB8AC3E}">
        <p14:creationId xmlns:p14="http://schemas.microsoft.com/office/powerpoint/2010/main" val="28702100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(This is one of the most important Week 1 points.)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often equate "no error message" with correctness. Make the distinction plain: no error message only means Python was able to execute the instructions.</a:t>
            </a:r>
          </a:p>
          <a:p>
            <a:r>
              <a:rPr lang="en-US" sz="1200" b="0" kern="1200" dirty="0">
                <a:solidFill>
                  <a:schemeClr val="tx1"/>
                </a:solidFill>
                <a:effectLst/>
                <a:latin typeface="+mn-lt"/>
                <a:ea typeface="+mn-ea"/>
                <a:cs typeface="+mn-cs"/>
              </a:rPr>
              <a:t>It does not prove that the instructions match the intended rule or produce the right result for important cases.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is why we write expected results. The expected result records what we believe should happen before we compare it to what the algorithm actually did.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25</a:t>
            </a:fld>
            <a:endParaRPr lang="en-US"/>
          </a:p>
        </p:txBody>
      </p:sp>
    </p:spTree>
    <p:extLst>
      <p:ext uri="{BB962C8B-B14F-4D97-AF65-F5344CB8AC3E}">
        <p14:creationId xmlns:p14="http://schemas.microsoft.com/office/powerpoint/2010/main" val="3142456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Explain that expected outputs in tests represent our mental expectation. They are not usually handed to us in real-world data.</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 a lab or success example, expected values are included so we can check whether the algorithm behaved the way we intended.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In a real-world dataset, the answer usually has to be reasoned out, validated by a subject-matter expert, or confirmed through business rules, tests, or user feedback.</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connect expected and actual results to the three design concerns from the reading: Does it produce the expected result, is the approach reasonable, and what happens when the data gets larger?</a:t>
            </a:r>
          </a:p>
        </p:txBody>
      </p:sp>
      <p:sp>
        <p:nvSpPr>
          <p:cNvPr id="4" name="Slide Number Placeholder 3"/>
          <p:cNvSpPr>
            <a:spLocks noGrp="1"/>
          </p:cNvSpPr>
          <p:nvPr>
            <p:ph type="sldNum" sz="quarter" idx="5"/>
          </p:nvPr>
        </p:nvSpPr>
        <p:spPr/>
        <p:txBody>
          <a:bodyPr/>
          <a:lstStyle/>
          <a:p>
            <a:fld id="{1916ACA2-47E6-42D2-BEC8-EDC49A1A9FA1}" type="slidenum">
              <a:rPr lang="en-US" smtClean="0"/>
              <a:t>26</a:t>
            </a:fld>
            <a:endParaRPr lang="en-US"/>
          </a:p>
        </p:txBody>
      </p:sp>
    </p:spTree>
    <p:extLst>
      <p:ext uri="{BB962C8B-B14F-4D97-AF65-F5344CB8AC3E}">
        <p14:creationId xmlns:p14="http://schemas.microsoft.com/office/powerpoint/2010/main" val="12602756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Topic Block 3 **</a:t>
            </a:r>
          </a:p>
          <a:p>
            <a:endParaRPr lang="en-US" b="1" dirty="0"/>
          </a:p>
          <a:p>
            <a:r>
              <a:rPr lang="en-US" b="1" dirty="0"/>
              <a:t>Key Terms: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Correctness	- </a:t>
            </a:r>
            <a:r>
              <a:rPr lang="en-US" sz="1200" b="0" kern="1200" dirty="0">
                <a:solidFill>
                  <a:schemeClr val="tx1"/>
                </a:solidFill>
                <a:effectLst/>
                <a:latin typeface="+mn-lt"/>
                <a:ea typeface="+mn-ea"/>
                <a:cs typeface="+mn-cs"/>
              </a:rPr>
              <a:t>Whether the algorithm gives expected results for the right reasons</a:t>
            </a:r>
            <a:endParaRPr lang="en-US" b="0" dirty="0"/>
          </a:p>
          <a:p>
            <a:r>
              <a:rPr lang="en-US" b="0" dirty="0"/>
              <a:t>Optimality	- </a:t>
            </a:r>
            <a:r>
              <a:rPr lang="en-US" sz="1200" b="0" kern="1200" dirty="0">
                <a:solidFill>
                  <a:schemeClr val="tx1"/>
                </a:solidFill>
                <a:effectLst/>
                <a:latin typeface="+mn-lt"/>
                <a:ea typeface="+mn-ea"/>
                <a:cs typeface="+mn-cs"/>
              </a:rPr>
              <a:t>Whether the approach is reasonably efficient or suitable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Scale	- </a:t>
            </a:r>
            <a:r>
              <a:rPr lang="en-US" sz="1200" b="0" kern="1200" dirty="0">
                <a:solidFill>
                  <a:schemeClr val="tx1"/>
                </a:solidFill>
                <a:effectLst/>
                <a:latin typeface="+mn-lt"/>
                <a:ea typeface="+mn-ea"/>
                <a:cs typeface="+mn-cs"/>
              </a:rPr>
              <a:t>What happens as the input grows</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Evidence	- </a:t>
            </a:r>
            <a:r>
              <a:rPr lang="en-US" sz="1200" b="0" kern="1200" dirty="0">
                <a:solidFill>
                  <a:schemeClr val="tx1"/>
                </a:solidFill>
                <a:effectLst/>
                <a:latin typeface="+mn-lt"/>
                <a:ea typeface="+mn-ea"/>
                <a:cs typeface="+mn-cs"/>
              </a:rPr>
              <a:t>Output, tests, tables, or traces that support a claim</a:t>
            </a:r>
          </a:p>
        </p:txBody>
      </p:sp>
      <p:sp>
        <p:nvSpPr>
          <p:cNvPr id="4" name="Slide Number Placeholder 3"/>
          <p:cNvSpPr>
            <a:spLocks noGrp="1"/>
          </p:cNvSpPr>
          <p:nvPr>
            <p:ph type="sldNum" sz="quarter" idx="5"/>
          </p:nvPr>
        </p:nvSpPr>
        <p:spPr/>
        <p:txBody>
          <a:bodyPr/>
          <a:lstStyle/>
          <a:p>
            <a:fld id="{1916ACA2-47E6-42D2-BEC8-EDC49A1A9FA1}" type="slidenum">
              <a:rPr lang="en-US" smtClean="0"/>
              <a:t>27</a:t>
            </a:fld>
            <a:endParaRPr lang="en-US"/>
          </a:p>
        </p:txBody>
      </p:sp>
    </p:spTree>
    <p:extLst>
      <p:ext uri="{BB962C8B-B14F-4D97-AF65-F5344CB8AC3E}">
        <p14:creationId xmlns:p14="http://schemas.microsoft.com/office/powerpoint/2010/main" val="7574612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drift into formal proofs.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Week 1, correctness evidence should be practical and visible.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Students should understand that a test table, a trace, or a before/after comparison can support a claim that the algorithm is improving.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we have some evidence that the result is correct, we can ask a second question: even if this works, is this a reasonable way to solve the problem?</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28</a:t>
            </a:fld>
            <a:endParaRPr lang="en-US"/>
          </a:p>
        </p:txBody>
      </p:sp>
    </p:spTree>
    <p:extLst>
      <p:ext uri="{BB962C8B-B14F-4D97-AF65-F5344CB8AC3E}">
        <p14:creationId xmlns:p14="http://schemas.microsoft.com/office/powerpoint/2010/main" val="42902789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 small decision problem. If a denial rule should stop the process, checking extra rules first may be confusing or wasteful.</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example, if an event registration requires payment and seats are available, the algorithm might check payment first or seat availability first. </a:t>
            </a:r>
          </a:p>
          <a:p>
            <a:r>
              <a:rPr lang="en-US" sz="1200" b="0" kern="1200" dirty="0">
                <a:solidFill>
                  <a:schemeClr val="tx1"/>
                </a:solidFill>
                <a:effectLst/>
                <a:latin typeface="+mn-lt"/>
                <a:ea typeface="+mn-ea"/>
                <a:cs typeface="+mn-cs"/>
              </a:rPr>
              <a:t>Either may work, but the order should be intentional. A reasonable approach is one that a person can read, maintain, and explain.</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same approach may feel fine when there are only a few examples.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Later, when there are hundreds or thousands of inputs, the amount of repeated work starts to matter.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29</a:t>
            </a:fld>
            <a:endParaRPr lang="en-US"/>
          </a:p>
        </p:txBody>
      </p:sp>
    </p:spTree>
    <p:extLst>
      <p:ext uri="{BB962C8B-B14F-4D97-AF65-F5344CB8AC3E}">
        <p14:creationId xmlns:p14="http://schemas.microsoft.com/office/powerpoint/2010/main" val="8765915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only Big-O intuition. Avoid notation unless students ask.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formal growth vocabulary comes in Week 2.)</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For now, the point is only that algorithms do work, and that work may increase as the input grows.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Students do not need to calculate complexity yet.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They only need to start noticing repeated work and growth behavior.</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Tests and small evidence tables help reveal whether the algorithm behaves as expected. Normal cases and edge cases give us two different kinds of evidence.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30</a:t>
            </a:fld>
            <a:endParaRPr lang="en-US"/>
          </a:p>
        </p:txBody>
      </p:sp>
    </p:spTree>
    <p:extLst>
      <p:ext uri="{BB962C8B-B14F-4D97-AF65-F5344CB8AC3E}">
        <p14:creationId xmlns:p14="http://schemas.microsoft.com/office/powerpoint/2010/main" val="41791412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Give the charger example verbally: 25% battery is normal low-battery behavior; exactly 40% is an edge case because it tests the boundary.</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Make the distinction clear. A normal case checks an ordinary situation that the algorithm should handle easily. </a:t>
            </a:r>
          </a:p>
          <a:p>
            <a:r>
              <a:rPr lang="en-US" sz="1200" b="0" kern="1200" dirty="0">
                <a:solidFill>
                  <a:schemeClr val="tx1"/>
                </a:solidFill>
                <a:effectLst/>
                <a:latin typeface="+mn-lt"/>
                <a:ea typeface="+mn-ea"/>
                <a:cs typeface="+mn-cs"/>
              </a:rPr>
              <a:t>An edge case checks a boundary, missing value, tie, threshold, or unusual combination that may expose an unclear rule.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When an edge case fails, it often reveals an assumption that was never written down clearly enough.</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31</a:t>
            </a:fld>
            <a:endParaRPr lang="en-US"/>
          </a:p>
        </p:txBody>
      </p:sp>
    </p:spTree>
    <p:extLst>
      <p:ext uri="{BB962C8B-B14F-4D97-AF65-F5344CB8AC3E}">
        <p14:creationId xmlns:p14="http://schemas.microsoft.com/office/powerpoint/2010/main" val="39336421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sets up the demo failure as a productive moment, not an instructor mistake.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Tell students that revision is part of algorithm design. The first version is often useful because it gives us something concrete to test.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goal is not to pretend the first version is perfect. The goal is to use evidence to improve it.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the demo, connect one more reading idea: algorithms are shaped by both the data they process and the amount of work they ask the computer to do.</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32</a:t>
            </a:fld>
            <a:endParaRPr lang="en-US"/>
          </a:p>
        </p:txBody>
      </p:sp>
    </p:spTree>
    <p:extLst>
      <p:ext uri="{BB962C8B-B14F-4D97-AF65-F5344CB8AC3E}">
        <p14:creationId xmlns:p14="http://schemas.microsoft.com/office/powerpoint/2010/main" val="32816168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Topic Block 4 **</a:t>
            </a:r>
          </a:p>
          <a:p>
            <a:endParaRPr lang="en-US" b="1" dirty="0"/>
          </a:p>
          <a:p>
            <a:r>
              <a:rPr lang="en-US" b="1" dirty="0"/>
              <a:t>Key Terms</a:t>
            </a:r>
          </a:p>
          <a:p>
            <a:r>
              <a:rPr lang="en-US" sz="1200" b="0" kern="1200" dirty="0">
                <a:solidFill>
                  <a:schemeClr val="tx1"/>
                </a:solidFill>
                <a:effectLst/>
                <a:latin typeface="+mn-lt"/>
                <a:ea typeface="+mn-ea"/>
                <a:cs typeface="+mn-cs"/>
              </a:rPr>
              <a:t>Data-intensive 	- The challenge is mainly the data </a:t>
            </a:r>
          </a:p>
          <a:p>
            <a:r>
              <a:rPr lang="en-US" sz="1200" b="0" kern="1200" dirty="0">
                <a:solidFill>
                  <a:schemeClr val="tx1"/>
                </a:solidFill>
                <a:effectLst/>
                <a:latin typeface="+mn-lt"/>
                <a:ea typeface="+mn-ea"/>
                <a:cs typeface="+mn-cs"/>
              </a:rPr>
              <a:t>Compute-intensive 	- The challenge is mainly the processing </a:t>
            </a:r>
          </a:p>
          <a:p>
            <a:r>
              <a:rPr lang="en-US" sz="1200" b="0" kern="1200" dirty="0">
                <a:solidFill>
                  <a:schemeClr val="tx1"/>
                </a:solidFill>
                <a:effectLst/>
                <a:latin typeface="+mn-lt"/>
                <a:ea typeface="+mn-ea"/>
                <a:cs typeface="+mn-cs"/>
              </a:rPr>
              <a:t>Volume 		- How much data exists </a:t>
            </a:r>
          </a:p>
          <a:p>
            <a:r>
              <a:rPr lang="en-US" sz="1200" b="0" kern="1200" dirty="0">
                <a:solidFill>
                  <a:schemeClr val="tx1"/>
                </a:solidFill>
                <a:effectLst/>
                <a:latin typeface="+mn-lt"/>
                <a:ea typeface="+mn-ea"/>
                <a:cs typeface="+mn-cs"/>
              </a:rPr>
              <a:t>Velocity 		- How fast data arrives or changes </a:t>
            </a:r>
          </a:p>
          <a:p>
            <a:r>
              <a:rPr lang="en-US" sz="1200" b="0" kern="1200" dirty="0">
                <a:solidFill>
                  <a:schemeClr val="tx1"/>
                </a:solidFill>
                <a:effectLst/>
                <a:latin typeface="+mn-lt"/>
                <a:ea typeface="+mn-ea"/>
                <a:cs typeface="+mn-cs"/>
              </a:rPr>
              <a:t>Variety 		- How many different forms the data takes </a:t>
            </a:r>
          </a:p>
          <a:p>
            <a:endParaRPr lang="en-US" b="1" dirty="0"/>
          </a:p>
        </p:txBody>
      </p:sp>
      <p:sp>
        <p:nvSpPr>
          <p:cNvPr id="4" name="Slide Number Placeholder 3"/>
          <p:cNvSpPr>
            <a:spLocks noGrp="1"/>
          </p:cNvSpPr>
          <p:nvPr>
            <p:ph type="sldNum" sz="quarter" idx="5"/>
          </p:nvPr>
        </p:nvSpPr>
        <p:spPr/>
        <p:txBody>
          <a:bodyPr/>
          <a:lstStyle/>
          <a:p>
            <a:fld id="{1916ACA2-47E6-42D2-BEC8-EDC49A1A9FA1}" type="slidenum">
              <a:rPr lang="en-US" smtClean="0"/>
              <a:t>33</a:t>
            </a:fld>
            <a:endParaRPr lang="en-US"/>
          </a:p>
        </p:txBody>
      </p:sp>
    </p:spTree>
    <p:extLst>
      <p:ext uri="{BB962C8B-B14F-4D97-AF65-F5344CB8AC3E}">
        <p14:creationId xmlns:p14="http://schemas.microsoft.com/office/powerpoint/2010/main" val="42753234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concrete: registration records, support tickets, logs, form submissions, product reviews.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reading names this as the data dimension.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34</a:t>
            </a:fld>
            <a:endParaRPr lang="en-US"/>
          </a:p>
        </p:txBody>
      </p:sp>
    </p:spTree>
    <p:extLst>
      <p:ext uri="{BB962C8B-B14F-4D97-AF65-F5344CB8AC3E}">
        <p14:creationId xmlns:p14="http://schemas.microsoft.com/office/powerpoint/2010/main" val="5478111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make this a big-data lecture. </a:t>
            </a:r>
          </a:p>
          <a:p>
            <a:r>
              <a:rPr lang="en-US" sz="1200" b="0" kern="1200" dirty="0">
                <a:solidFill>
                  <a:schemeClr val="tx1"/>
                </a:solidFill>
                <a:effectLst/>
                <a:latin typeface="+mn-lt"/>
                <a:ea typeface="+mn-ea"/>
                <a:cs typeface="+mn-cs"/>
              </a:rPr>
              <a:t>It is a </a:t>
            </a:r>
            <a:r>
              <a:rPr lang="en-US" sz="1200" b="1" i="1" kern="1200" dirty="0">
                <a:solidFill>
                  <a:schemeClr val="tx1"/>
                </a:solidFill>
                <a:effectLst/>
                <a:latin typeface="+mn-lt"/>
                <a:ea typeface="+mn-ea"/>
                <a:cs typeface="+mn-cs"/>
              </a:rPr>
              <a:t>vocabulary</a:t>
            </a:r>
            <a:r>
              <a:rPr lang="en-US" sz="1200" b="0" kern="1200" dirty="0">
                <a:solidFill>
                  <a:schemeClr val="tx1"/>
                </a:solidFill>
                <a:effectLst/>
                <a:latin typeface="+mn-lt"/>
                <a:ea typeface="+mn-ea"/>
                <a:cs typeface="+mn-cs"/>
              </a:rPr>
              <a:t> bridge for later data analytics and AI foundations.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Some algorithms are shaped less by data size and more by processing demand.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35</a:t>
            </a:fld>
            <a:endParaRPr lang="en-US"/>
          </a:p>
        </p:txBody>
      </p:sp>
    </p:spTree>
    <p:extLst>
      <p:ext uri="{BB962C8B-B14F-4D97-AF65-F5344CB8AC3E}">
        <p14:creationId xmlns:p14="http://schemas.microsoft.com/office/powerpoint/2010/main" val="34391053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reading references Chapter 16 for deeper compute topics. Treat this as a preview, not a deep dive.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Some problems are both data-intensive and compute-intensive.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36</a:t>
            </a:fld>
            <a:endParaRPr lang="en-US"/>
          </a:p>
        </p:txBody>
      </p:sp>
    </p:spTree>
    <p:extLst>
      <p:ext uri="{BB962C8B-B14F-4D97-AF65-F5344CB8AC3E}">
        <p14:creationId xmlns:p14="http://schemas.microsoft.com/office/powerpoint/2010/main" val="15133093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an AI example lightly: ranking many support resources by many features can become both a data and compute problem as scale increases.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Week 1, the practical takeaway is simple: ask about data and work early.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37</a:t>
            </a:fld>
            <a:endParaRPr lang="en-US"/>
          </a:p>
        </p:txBody>
      </p:sp>
    </p:spTree>
    <p:extLst>
      <p:ext uri="{BB962C8B-B14F-4D97-AF65-F5344CB8AC3E}">
        <p14:creationId xmlns:p14="http://schemas.microsoft.com/office/powerpoint/2010/main" val="24984468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connects the data/compute dimension back to Lab 01 without overwhelming students.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we will apply these ideas to a small decision algorithm.</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38</a:t>
            </a:fld>
            <a:endParaRPr lang="en-US"/>
          </a:p>
        </p:txBody>
      </p:sp>
    </p:spTree>
    <p:extLst>
      <p:ext uri="{BB962C8B-B14F-4D97-AF65-F5344CB8AC3E}">
        <p14:creationId xmlns:p14="http://schemas.microsoft.com/office/powerpoint/2010/main" val="6369165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clear that this is not a lab scenario option. It is the demo scenario.</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**Demo File / Artifact:**</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`Assignments/Lab_01/demo/demo_code.py`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(Start with a </a:t>
            </a:r>
            <a:r>
              <a:rPr lang="en-US" sz="1200" b="1" i="1" kern="1200" dirty="0">
                <a:solidFill>
                  <a:schemeClr val="tx1"/>
                </a:solidFill>
                <a:effectLst/>
                <a:latin typeface="+mn-lt"/>
                <a:ea typeface="+mn-ea"/>
                <a:cs typeface="+mn-cs"/>
              </a:rPr>
              <a:t>vague</a:t>
            </a:r>
            <a:r>
              <a:rPr lang="en-US" sz="1200" b="0" kern="1200" dirty="0">
                <a:solidFill>
                  <a:schemeClr val="tx1"/>
                </a:solidFill>
                <a:effectLst/>
                <a:latin typeface="+mn-lt"/>
                <a:ea typeface="+mn-ea"/>
                <a:cs typeface="+mn-cs"/>
              </a:rPr>
              <a:t> version.)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39</a:t>
            </a:fld>
            <a:endParaRPr lang="en-US"/>
          </a:p>
        </p:txBody>
      </p:sp>
    </p:spTree>
    <p:extLst>
      <p:ext uri="{BB962C8B-B14F-4D97-AF65-F5344CB8AC3E}">
        <p14:creationId xmlns:p14="http://schemas.microsoft.com/office/powerpoint/2010/main" val="34851734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Point out that the revised version still may not be perfect, but it is now testable.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important improvement is that the rule now names exact boundaries: `40 or below`, `4 or more`, and `outlet access is false`. </a:t>
            </a:r>
          </a:p>
          <a:p>
            <a:r>
              <a:rPr lang="en-US" sz="1200" b="0" kern="1200" dirty="0">
                <a:solidFill>
                  <a:schemeClr val="tx1"/>
                </a:solidFill>
                <a:effectLst/>
                <a:latin typeface="+mn-lt"/>
                <a:ea typeface="+mn-ea"/>
                <a:cs typeface="+mn-cs"/>
              </a:rPr>
              <a:t>These boundaries make it possible to create expected results and compare them to actual results.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running the code, show that this same decision logic can be represented in plain English, pseudocode, Python-style logic, and a test table.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40</a:t>
            </a:fld>
            <a:endParaRPr lang="en-US"/>
          </a:p>
        </p:txBody>
      </p:sp>
    </p:spTree>
    <p:extLst>
      <p:ext uri="{BB962C8B-B14F-4D97-AF65-F5344CB8AC3E}">
        <p14:creationId xmlns:p14="http://schemas.microsoft.com/office/powerpoint/2010/main" val="26638142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7BA73-B436-0203-0692-7E4B2449B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F5991-0676-1F05-2410-E8ECD9AAF8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8DFC9-8DDC-FBB4-586D-68BC03A83F29}"/>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Point out that the revised version still may not be perfect, but it is now testable.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important improvement is that the rule now names exact boundaries: `40 or below`, `4 or more`, and `outlet access is false`. </a:t>
            </a:r>
          </a:p>
          <a:p>
            <a:r>
              <a:rPr lang="en-US" sz="1200" b="0" kern="1200" dirty="0">
                <a:solidFill>
                  <a:schemeClr val="tx1"/>
                </a:solidFill>
                <a:effectLst/>
                <a:latin typeface="+mn-lt"/>
                <a:ea typeface="+mn-ea"/>
                <a:cs typeface="+mn-cs"/>
              </a:rPr>
              <a:t>These boundaries make it possible to create expected results and compare them to actual results.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running the code, show that this same decision logic can be represented in plain English, pseudocode, Python-style logic, and a test table.</a:t>
            </a:r>
          </a:p>
          <a:p>
            <a:endParaRPr lang="en-US" dirty="0"/>
          </a:p>
        </p:txBody>
      </p:sp>
      <p:sp>
        <p:nvSpPr>
          <p:cNvPr id="4" name="Slide Number Placeholder 3">
            <a:extLst>
              <a:ext uri="{FF2B5EF4-FFF2-40B4-BE49-F238E27FC236}">
                <a16:creationId xmlns:a16="http://schemas.microsoft.com/office/drawing/2014/main" id="{7EF943B4-9289-954B-0D9D-CFA9D126DBCF}"/>
              </a:ext>
            </a:extLst>
          </p:cNvPr>
          <p:cNvSpPr>
            <a:spLocks noGrp="1"/>
          </p:cNvSpPr>
          <p:nvPr>
            <p:ph type="sldNum" sz="quarter" idx="5"/>
          </p:nvPr>
        </p:nvSpPr>
        <p:spPr/>
        <p:txBody>
          <a:bodyPr/>
          <a:lstStyle/>
          <a:p>
            <a:fld id="{1916ACA2-47E6-42D2-BEC8-EDC49A1A9FA1}" type="slidenum">
              <a:rPr lang="en-US" smtClean="0"/>
              <a:t>41</a:t>
            </a:fld>
            <a:endParaRPr lang="en-US"/>
          </a:p>
        </p:txBody>
      </p:sp>
    </p:spTree>
    <p:extLst>
      <p:ext uri="{BB962C8B-B14F-4D97-AF65-F5344CB8AC3E}">
        <p14:creationId xmlns:p14="http://schemas.microsoft.com/office/powerpoint/2010/main" val="12160513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the demo output to show the bridge. Emphasize that the reasoning should stay stable as representation changes.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Say explicitly: if the plain-English rule says `40 or below`, the pseudocode and Python should not quietly change that to `below 40`. </a:t>
            </a:r>
          </a:p>
          <a:p>
            <a:r>
              <a:rPr lang="en-US" sz="1200" b="0" kern="1200" dirty="0">
                <a:solidFill>
                  <a:schemeClr val="tx1"/>
                </a:solidFill>
                <a:effectLst/>
                <a:latin typeface="+mn-lt"/>
                <a:ea typeface="+mn-ea"/>
                <a:cs typeface="+mn-cs"/>
              </a:rPr>
              <a:t>A representation bridge is useful because it helps us detect when the same idea has drifted between formats.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**Observable Output / Evidence:**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demo prints the revised rules, pseudocode, Python-style logic, and test tables.</a:t>
            </a:r>
          </a:p>
          <a:p>
            <a:r>
              <a:rPr lang="en-US" sz="1200" b="0" kern="1200" dirty="0">
                <a:solidFill>
                  <a:schemeClr val="tx1"/>
                </a:solidFill>
                <a:effectLst/>
                <a:latin typeface="+mn-lt"/>
                <a:ea typeface="+mn-ea"/>
                <a:cs typeface="+mn-cs"/>
              </a:rPr>
              <a:t>S</a:t>
            </a: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run the tests and let the evidence show whether the initial rule and revised rule behave the way we expected.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42</a:t>
            </a:fld>
            <a:endParaRPr lang="en-US"/>
          </a:p>
        </p:txBody>
      </p:sp>
    </p:spTree>
    <p:extLst>
      <p:ext uri="{BB962C8B-B14F-4D97-AF65-F5344CB8AC3E}">
        <p14:creationId xmlns:p14="http://schemas.microsoft.com/office/powerpoint/2010/main" val="32342382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Run the initial rule set first. Ask students to predict the boundary case before revealing the result. </a:t>
            </a:r>
          </a:p>
          <a:p>
            <a:r>
              <a:rPr lang="en-US" sz="1200" b="0" kern="1200" dirty="0">
                <a:solidFill>
                  <a:schemeClr val="tx1"/>
                </a:solidFill>
                <a:effectLst/>
                <a:latin typeface="+mn-lt"/>
                <a:ea typeface="+mn-ea"/>
                <a:cs typeface="+mn-cs"/>
              </a:rPr>
              <a:t>The boundary case is battery exactly `40`, expected campus time `4` hours, and no outlet access.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After the initial rule set fails that case, pause and ask what caused the failure. </a:t>
            </a:r>
          </a:p>
          <a:p>
            <a:r>
              <a:rPr lang="en-US" sz="1200" b="0" kern="1200" dirty="0">
                <a:solidFill>
                  <a:schemeClr val="tx1"/>
                </a:solidFill>
                <a:effectLst/>
                <a:latin typeface="+mn-lt"/>
                <a:ea typeface="+mn-ea"/>
                <a:cs typeface="+mn-cs"/>
              </a:rPr>
              <a:t>The intended answer is that the first version used strict comparisons where the intended rule needed inclusive comparisons. </a:t>
            </a:r>
          </a:p>
          <a:p>
            <a:r>
              <a:rPr lang="en-US" sz="1200" b="0" kern="1200" dirty="0">
                <a:solidFill>
                  <a:schemeClr val="tx1"/>
                </a:solidFill>
                <a:effectLst/>
                <a:latin typeface="+mn-lt"/>
                <a:ea typeface="+mn-ea"/>
                <a:cs typeface="+mn-cs"/>
              </a:rPr>
              <a:t>Then run the revised rule set to show that the corrected threshold passes.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**Observable Output / Evidence:**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Test 4 should expose the exact-threshold issue in the initial version.</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moving to the lab, add one small refinement to the demo. The algorithm already works in plain text. </a:t>
            </a:r>
          </a:p>
          <a:p>
            <a:r>
              <a:rPr lang="en-US" sz="1200" b="0" kern="1200" dirty="0">
                <a:solidFill>
                  <a:schemeClr val="tx1"/>
                </a:solidFill>
                <a:effectLst/>
                <a:latin typeface="+mn-lt"/>
                <a:ea typeface="+mn-ea"/>
                <a:cs typeface="+mn-cs"/>
              </a:rPr>
              <a:t>&gt; Now we will add console color as a presentation layer so the evidence is easier for human readers to scan.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43</a:t>
            </a:fld>
            <a:endParaRPr lang="en-US"/>
          </a:p>
        </p:txBody>
      </p:sp>
    </p:spTree>
    <p:extLst>
      <p:ext uri="{BB962C8B-B14F-4D97-AF65-F5344CB8AC3E}">
        <p14:creationId xmlns:p14="http://schemas.microsoft.com/office/powerpoint/2010/main" val="2253243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Present this as an add-on step after the plain-text version has already been run and tested.</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Say explicitly: "</a:t>
            </a:r>
            <a:r>
              <a:rPr lang="en-US" sz="1200" b="0" i="1" kern="1200" dirty="0">
                <a:solidFill>
                  <a:schemeClr val="tx1"/>
                </a:solidFill>
                <a:effectLst/>
                <a:latin typeface="+mn-lt"/>
                <a:ea typeface="+mn-ea"/>
                <a:cs typeface="+mn-cs"/>
              </a:rPr>
              <a:t>The algorithm is already complete. We are not changing the decision rule. We are improving how the evidence is displayed</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Then add the color support code and rerun the demo. Use the output as the example. </a:t>
            </a:r>
          </a:p>
          <a:p>
            <a:r>
              <a:rPr lang="en-US" sz="1200" b="0" kern="1200" dirty="0">
                <a:solidFill>
                  <a:schemeClr val="tx1"/>
                </a:solidFill>
                <a:effectLst/>
                <a:latin typeface="+mn-lt"/>
                <a:ea typeface="+mn-ea"/>
                <a:cs typeface="+mn-cs"/>
              </a:rPr>
              <a:t>The green and red pass/fail indicators make the failed boundary case easier to notice. </a:t>
            </a:r>
          </a:p>
          <a:p>
            <a:r>
              <a:rPr lang="en-US" sz="1200" b="0" kern="1200" dirty="0">
                <a:solidFill>
                  <a:schemeClr val="tx1"/>
                </a:solidFill>
                <a:effectLst/>
                <a:latin typeface="+mn-lt"/>
                <a:ea typeface="+mn-ea"/>
                <a:cs typeface="+mn-cs"/>
              </a:rPr>
              <a:t>This supports learning because students can see </a:t>
            </a:r>
            <a:r>
              <a:rPr lang="en-US" sz="1200" b="0" i="1" kern="1200" dirty="0">
                <a:solidFill>
                  <a:schemeClr val="tx1"/>
                </a:solidFill>
                <a:effectLst/>
                <a:latin typeface="+mn-lt"/>
                <a:ea typeface="+mn-ea"/>
                <a:cs typeface="+mn-cs"/>
              </a:rPr>
              <a:t>where</a:t>
            </a:r>
            <a:r>
              <a:rPr lang="en-US" sz="1200" b="0" kern="1200" dirty="0">
                <a:solidFill>
                  <a:schemeClr val="tx1"/>
                </a:solidFill>
                <a:effectLst/>
                <a:latin typeface="+mn-lt"/>
                <a:ea typeface="+mn-ea"/>
                <a:cs typeface="+mn-cs"/>
              </a:rPr>
              <a:t> the evidence points without hunting through plain text.</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(Do not over-teach ANSI escape codes in Week 1. )</a:t>
            </a:r>
          </a:p>
          <a:p>
            <a:r>
              <a:rPr lang="en-US" sz="1200" b="0" kern="1200" dirty="0">
                <a:solidFill>
                  <a:schemeClr val="tx1"/>
                </a:solidFill>
                <a:effectLst/>
                <a:latin typeface="+mn-lt"/>
                <a:ea typeface="+mn-ea"/>
                <a:cs typeface="+mn-cs"/>
              </a:rPr>
              <a:t>The main point is readability: console output can be designed for humans, even when the program is still simple.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**Misconception Warning:**</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think colorized output is a requirement for Lab 01. </a:t>
            </a:r>
          </a:p>
          <a:p>
            <a:r>
              <a:rPr lang="en-US" sz="1200" b="0" kern="1200" dirty="0">
                <a:solidFill>
                  <a:schemeClr val="tx1"/>
                </a:solidFill>
                <a:effectLst/>
                <a:latin typeface="+mn-lt"/>
                <a:ea typeface="+mn-ea"/>
                <a:cs typeface="+mn-cs"/>
              </a:rPr>
              <a:t>Clarify that it is not required. </a:t>
            </a:r>
          </a:p>
          <a:p>
            <a:r>
              <a:rPr lang="en-US" sz="1200" b="0" kern="1200" dirty="0">
                <a:solidFill>
                  <a:schemeClr val="tx1"/>
                </a:solidFill>
                <a:effectLst/>
                <a:latin typeface="+mn-lt"/>
                <a:ea typeface="+mn-ea"/>
                <a:cs typeface="+mn-cs"/>
              </a:rPr>
              <a:t>The lab requirement is clear evidence. </a:t>
            </a:r>
          </a:p>
          <a:p>
            <a:r>
              <a:rPr lang="en-US" sz="1200" b="0" kern="1200" dirty="0">
                <a:solidFill>
                  <a:schemeClr val="tx1"/>
                </a:solidFill>
                <a:effectLst/>
                <a:latin typeface="+mn-lt"/>
                <a:ea typeface="+mn-ea"/>
                <a:cs typeface="+mn-cs"/>
              </a:rPr>
              <a:t>Color is an optional presentation improvement.</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Because this is only a presentation add-on, the program should still work and remain understandable without color.</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44</a:t>
            </a:fld>
            <a:endParaRPr lang="en-US"/>
          </a:p>
        </p:txBody>
      </p:sp>
    </p:spTree>
    <p:extLst>
      <p:ext uri="{BB962C8B-B14F-4D97-AF65-F5344CB8AC3E}">
        <p14:creationId xmlns:p14="http://schemas.microsoft.com/office/powerpoint/2010/main" val="20372609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Point out that the final demo includes a `NO_COLOR` fallback. This means the same algorithm and evidence table can still run in plain text if color is disabled or unsupported.</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This is a small example of a larger professional habit: do not mix the core logic so tightly with the display layer that the algorithm becomes hard to test, read, or reuse.</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For Week 1, students do not need to implement color. They only need to notice the design principle: build the working logic first, verify the evidence, and then optionally improve presentation without changing the algorithm.</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**Optional Visual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Three-layer diagram: logic -&gt; evidence table -&gt; presentation polish.</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the lab asks students to use the same thinking pattern with a different scenario: define the rule, expose hidden assumptions, test the boundary, and revise based on evidence.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45</a:t>
            </a:fld>
            <a:endParaRPr lang="en-US"/>
          </a:p>
        </p:txBody>
      </p:sp>
    </p:spTree>
    <p:extLst>
      <p:ext uri="{BB962C8B-B14F-4D97-AF65-F5344CB8AC3E}">
        <p14:creationId xmlns:p14="http://schemas.microsoft.com/office/powerpoint/2010/main" val="2025210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Make the transfer explicit: the lab is not about copying the charger demo. It is about applying the same reasoning pattern.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Name the reasoning pattern out loud: choose a small decision problem, identify inputs and outputs, write precise rules, test normal and edge cases, compare expected and actual results, and revise one ambiguity.</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**Related Lab Requirements:**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Lab 01 requires at least 5 test cases, including 3 normal cases and 2 edge cases. (Cash - VERIFY THIS STATEMENT)</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Some students may need help seeing how an everyday scenario becomes an algorithm. </a:t>
            </a:r>
          </a:p>
          <a:p>
            <a:r>
              <a:rPr lang="en-US" sz="1200" b="0" kern="1200" dirty="0">
                <a:solidFill>
                  <a:schemeClr val="tx1"/>
                </a:solidFill>
                <a:effectLst/>
                <a:latin typeface="+mn-lt"/>
                <a:ea typeface="+mn-ea"/>
                <a:cs typeface="+mn-cs"/>
              </a:rPr>
              <a:t>The walkthrough artifact is there for that support, but it is not a finished answer to copy.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46</a:t>
            </a:fld>
            <a:endParaRPr lang="en-US"/>
          </a:p>
        </p:txBody>
      </p:sp>
    </p:spTree>
    <p:extLst>
      <p:ext uri="{BB962C8B-B14F-4D97-AF65-F5344CB8AC3E}">
        <p14:creationId xmlns:p14="http://schemas.microsoft.com/office/powerpoint/2010/main" val="8590686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preserves scaffolding while preventing mindless copying.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a student uses the walkthrough, the student must explain the general pattern in their own words and identify what they changed for their own scenario. </a:t>
            </a:r>
          </a:p>
          <a:p>
            <a:r>
              <a:rPr lang="en-US" sz="1200" b="0" kern="1200" dirty="0">
                <a:solidFill>
                  <a:schemeClr val="tx1"/>
                </a:solidFill>
                <a:effectLst/>
                <a:latin typeface="+mn-lt"/>
                <a:ea typeface="+mn-ea"/>
                <a:cs typeface="+mn-cs"/>
              </a:rPr>
              <a:t>This turns the walkthrough into a learning support instead of a substitute for thinking.</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**Related Artifact:**</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`Lab_01_Full_English_Algorithm_Walkthroughs.md`</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README is where students make the thinking visible. The code or pseudocode shows the algorithm, but the README shows the evidence, assumptions, revision, and explanation.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47</a:t>
            </a:fld>
            <a:endParaRPr lang="en-US"/>
          </a:p>
        </p:txBody>
      </p:sp>
    </p:spTree>
    <p:extLst>
      <p:ext uri="{BB962C8B-B14F-4D97-AF65-F5344CB8AC3E}">
        <p14:creationId xmlns:p14="http://schemas.microsoft.com/office/powerpoint/2010/main" val="663380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reinforces the GitHub/README submission model and sets expectations early.</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Explain that the README is not extra paperwork. It is part of the algorithmic evidence. </a:t>
            </a:r>
          </a:p>
          <a:p>
            <a:r>
              <a:rPr lang="en-US" sz="1200" b="0" kern="1200" dirty="0">
                <a:solidFill>
                  <a:schemeClr val="tx1"/>
                </a:solidFill>
                <a:effectLst/>
                <a:latin typeface="+mn-lt"/>
                <a:ea typeface="+mn-ea"/>
                <a:cs typeface="+mn-cs"/>
              </a:rPr>
              <a:t>When grading, the instructor should be able to open the repository and see the problem, assumptions, tests, expected results, actual results, and revision without hunting through separate documents.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students seem ready or if time remains, use the optional examples to deepen the design concerns. </a:t>
            </a:r>
          </a:p>
          <a:p>
            <a:r>
              <a:rPr lang="en-US" sz="1200" b="0" kern="1200" dirty="0">
                <a:solidFill>
                  <a:schemeClr val="tx1"/>
                </a:solidFill>
                <a:effectLst/>
                <a:latin typeface="+mn-lt"/>
                <a:ea typeface="+mn-ea"/>
                <a:cs typeface="+mn-cs"/>
              </a:rPr>
              <a:t>If the class is saturated, </a:t>
            </a:r>
            <a:r>
              <a:rPr lang="en-US" sz="1200" b="1" i="1" kern="1200" dirty="0">
                <a:solidFill>
                  <a:schemeClr val="tx1"/>
                </a:solidFill>
                <a:effectLst/>
                <a:latin typeface="+mn-lt"/>
                <a:ea typeface="+mn-ea"/>
                <a:cs typeface="+mn-cs"/>
              </a:rPr>
              <a:t>skip the optional section </a:t>
            </a:r>
            <a:r>
              <a:rPr lang="en-US" sz="1200" b="0" kern="1200" dirty="0">
                <a:solidFill>
                  <a:schemeClr val="tx1"/>
                </a:solidFill>
                <a:effectLst/>
                <a:latin typeface="+mn-lt"/>
                <a:ea typeface="+mn-ea"/>
                <a:cs typeface="+mn-cs"/>
              </a:rPr>
              <a:t>and move directly to lab work.</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48</a:t>
            </a:fld>
            <a:endParaRPr lang="en-US"/>
          </a:p>
        </p:txBody>
      </p:sp>
    </p:spTree>
    <p:extLst>
      <p:ext uri="{BB962C8B-B14F-4D97-AF65-F5344CB8AC3E}">
        <p14:creationId xmlns:p14="http://schemas.microsoft.com/office/powerpoint/2010/main" val="41462131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help desk priority as a quick verbal example without solving the lab scenario.</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**When To Use:**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if students are struggling to see why expected results matter.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50</a:t>
            </a:fld>
            <a:endParaRPr lang="en-US"/>
          </a:p>
        </p:txBody>
      </p:sp>
    </p:spTree>
    <p:extLst>
      <p:ext uri="{BB962C8B-B14F-4D97-AF65-F5344CB8AC3E}">
        <p14:creationId xmlns:p14="http://schemas.microsoft.com/office/powerpoint/2010/main" val="32364528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will matter in later search/sort and decision-ladder labs. For Week 1, keep it simple.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**When To Use:**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if students ask why the charger rule checks battery before time.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51</a:t>
            </a:fld>
            <a:endParaRPr lang="en-US"/>
          </a:p>
        </p:txBody>
      </p:sp>
    </p:spTree>
    <p:extLst>
      <p:ext uri="{BB962C8B-B14F-4D97-AF65-F5344CB8AC3E}">
        <p14:creationId xmlns:p14="http://schemas.microsoft.com/office/powerpoint/2010/main" val="162240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foreshadows Week 2 without teaching full complexity yet.</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**When To Use:**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if time allows or students ask why larger datasets matter in an algorithms course.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52</a:t>
            </a:fld>
            <a:endParaRPr lang="en-US"/>
          </a:p>
        </p:txBody>
      </p:sp>
    </p:spTree>
    <p:extLst>
      <p:ext uri="{BB962C8B-B14F-4D97-AF65-F5344CB8AC3E}">
        <p14:creationId xmlns:p14="http://schemas.microsoft.com/office/powerpoint/2010/main" val="12566914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a light preview of later AI/data bridge topics. Do not overdevelop it in Week 1.</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**Use When:**</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 for advanced learners or if the class asks how this connects to AI.</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53</a:t>
            </a:fld>
            <a:endParaRPr lang="en-US"/>
          </a:p>
        </p:txBody>
      </p:sp>
    </p:spTree>
    <p:extLst>
      <p:ext uri="{BB962C8B-B14F-4D97-AF65-F5344CB8AC3E}">
        <p14:creationId xmlns:p14="http://schemas.microsoft.com/office/powerpoint/2010/main" val="35492109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54</a:t>
            </a:fld>
            <a:endParaRPr lang="en-US"/>
          </a:p>
        </p:txBody>
      </p:sp>
    </p:spTree>
    <p:extLst>
      <p:ext uri="{BB962C8B-B14F-4D97-AF65-F5344CB8AC3E}">
        <p14:creationId xmlns:p14="http://schemas.microsoft.com/office/powerpoint/2010/main" val="42100807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core Week 1 takeaway.</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End with the immediate lab action.</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55</a:t>
            </a:fld>
            <a:endParaRPr lang="en-US"/>
          </a:p>
        </p:txBody>
      </p:sp>
    </p:spTree>
    <p:extLst>
      <p:ext uri="{BB962C8B-B14F-4D97-AF65-F5344CB8AC3E}">
        <p14:creationId xmlns:p14="http://schemas.microsoft.com/office/powerpoint/2010/main" val="2184695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Remind students to start manually. AI critique comes only after their first version and at least three test cases.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students leave, prepare them for the Week 2 reading.</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56</a:t>
            </a:fld>
            <a:endParaRPr lang="en-US"/>
          </a:p>
        </p:txBody>
      </p:sp>
    </p:spTree>
    <p:extLst>
      <p:ext uri="{BB962C8B-B14F-4D97-AF65-F5344CB8AC3E}">
        <p14:creationId xmlns:p14="http://schemas.microsoft.com/office/powerpoint/2010/main" val="12961221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prepares the Week 2 reading without suggesting that the reading is optional. </a:t>
            </a:r>
          </a:p>
          <a:p>
            <a:r>
              <a:rPr lang="en-US" sz="1200" b="0" kern="1200" dirty="0">
                <a:solidFill>
                  <a:schemeClr val="tx1"/>
                </a:solidFill>
                <a:effectLst/>
                <a:latin typeface="+mn-lt"/>
                <a:ea typeface="+mn-ea"/>
                <a:cs typeface="+mn-cs"/>
              </a:rPr>
              <a:t>Tell students that the textbook may use compact mathematical notation because that is how computer science often communicates growth patterns.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practical goal for the next reading is recognition and translation: </a:t>
            </a:r>
          </a:p>
          <a:p>
            <a:r>
              <a:rPr lang="en-US" sz="1200" b="0" kern="1200" dirty="0">
                <a:solidFill>
                  <a:schemeClr val="tx1"/>
                </a:solidFill>
                <a:effectLst/>
                <a:latin typeface="+mn-lt"/>
                <a:ea typeface="+mn-ea"/>
                <a:cs typeface="+mn-cs"/>
              </a:rPr>
              <a:t>students should come in ready to talk about how an algorithm's behavior changes when the amount of input grows.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57</a:t>
            </a:fld>
            <a:endParaRPr lang="en-US"/>
          </a:p>
        </p:txBody>
      </p:sp>
    </p:spTree>
    <p:extLst>
      <p:ext uri="{BB962C8B-B14F-4D97-AF65-F5344CB8AC3E}">
        <p14:creationId xmlns:p14="http://schemas.microsoft.com/office/powerpoint/2010/main" val="21803616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58</a:t>
            </a:fld>
            <a:endParaRPr lang="en-US"/>
          </a:p>
        </p:txBody>
      </p:sp>
    </p:spTree>
    <p:extLst>
      <p:ext uri="{BB962C8B-B14F-4D97-AF65-F5344CB8AC3E}">
        <p14:creationId xmlns:p14="http://schemas.microsoft.com/office/powerpoint/2010/main" val="2384196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p:txBody>
          <a:bodyPr/>
          <a:lstStyle/>
          <a:p>
            <a:r>
              <a:rPr lang="en-US" dirty="0"/>
              <a:t>Introduction To Algorithms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Week 1 – Algorithms, Precision, and Correctness:</a:t>
            </a:r>
          </a:p>
          <a:p>
            <a:r>
              <a:rPr lang="en-US" i="1" dirty="0"/>
              <a:t>“From Ambiguous Instructions to Testable Algorithms”</a:t>
            </a:r>
          </a:p>
        </p:txBody>
      </p:sp>
    </p:spTree>
    <p:extLst>
      <p:ext uri="{BB962C8B-B14F-4D97-AF65-F5344CB8AC3E}">
        <p14:creationId xmlns:p14="http://schemas.microsoft.com/office/powerpoint/2010/main" val="379502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5" name="Straight Connector 14">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 name="Picture 4" descr="Magnifying glass and question mark">
            <a:extLst>
              <a:ext uri="{FF2B5EF4-FFF2-40B4-BE49-F238E27FC236}">
                <a16:creationId xmlns:a16="http://schemas.microsoft.com/office/drawing/2014/main" id="{24F4563C-741D-53A2-2B1F-DB51110FD4BA}"/>
              </a:ext>
            </a:extLst>
          </p:cNvPr>
          <p:cNvPicPr>
            <a:picLocks noChangeAspect="1"/>
          </p:cNvPicPr>
          <p:nvPr/>
        </p:nvPicPr>
        <p:blipFill>
          <a:blip r:embed="rId3"/>
          <a:srcRect l="30174" r="3663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A35965D9-F536-A4A7-4199-B87661B5DE05}"/>
              </a:ext>
            </a:extLst>
          </p:cNvPr>
          <p:cNvSpPr>
            <a:spLocks noGrp="1"/>
          </p:cNvSpPr>
          <p:nvPr>
            <p:ph type="title"/>
          </p:nvPr>
        </p:nvSpPr>
        <p:spPr>
          <a:xfrm>
            <a:off x="4035422" y="1678665"/>
            <a:ext cx="2915879" cy="1369335"/>
          </a:xfrm>
        </p:spPr>
        <p:txBody>
          <a:bodyPr vert="horz" lIns="91440" tIns="45720" rIns="91440" bIns="45720" rtlCol="0" anchor="b">
            <a:normAutofit/>
          </a:bodyPr>
          <a:lstStyle/>
          <a:p>
            <a:pPr algn="r">
              <a:lnSpc>
                <a:spcPct val="90000"/>
              </a:lnSpc>
            </a:pPr>
            <a:r>
              <a:rPr lang="en-US" sz="4200" dirty="0"/>
              <a:t>Why this is important?</a:t>
            </a:r>
          </a:p>
        </p:txBody>
      </p:sp>
      <p:sp>
        <p:nvSpPr>
          <p:cNvPr id="3" name="Content Placeholder 2">
            <a:extLst>
              <a:ext uri="{FF2B5EF4-FFF2-40B4-BE49-F238E27FC236}">
                <a16:creationId xmlns:a16="http://schemas.microsoft.com/office/drawing/2014/main" id="{1C3204EA-CD0D-28DF-A942-E9BD55E0A723}"/>
              </a:ext>
            </a:extLst>
          </p:cNvPr>
          <p:cNvSpPr>
            <a:spLocks noGrp="1"/>
          </p:cNvSpPr>
          <p:nvPr>
            <p:ph idx="1"/>
          </p:nvPr>
        </p:nvSpPr>
        <p:spPr>
          <a:xfrm>
            <a:off x="4108911" y="3496351"/>
            <a:ext cx="2920080" cy="1841967"/>
          </a:xfrm>
        </p:spPr>
        <p:txBody>
          <a:bodyPr vert="horz" lIns="91440" tIns="45720" rIns="91440" bIns="45720" rtlCol="0" anchor="t">
            <a:noAutofit/>
          </a:bodyPr>
          <a:lstStyle/>
          <a:p>
            <a:pPr marL="0" indent="0" algn="r">
              <a:buNone/>
            </a:pPr>
            <a:r>
              <a:rPr lang="en-US" sz="2800" dirty="0">
                <a:solidFill>
                  <a:schemeClr val="tx1">
                    <a:lumMod val="50000"/>
                    <a:lumOff val="50000"/>
                  </a:schemeClr>
                </a:solidFill>
              </a:rPr>
              <a:t>“Because great software starts with great reasoning!”</a:t>
            </a:r>
          </a:p>
        </p:txBody>
      </p:sp>
    </p:spTree>
    <p:extLst>
      <p:ext uri="{BB962C8B-B14F-4D97-AF65-F5344CB8AC3E}">
        <p14:creationId xmlns:p14="http://schemas.microsoft.com/office/powerpoint/2010/main" val="349969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DAF8575-DDD0-43E3-95E0-CF812F06AF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31" name="Straight Connector 30">
              <a:extLst>
                <a:ext uri="{FF2B5EF4-FFF2-40B4-BE49-F238E27FC236}">
                  <a16:creationId xmlns:a16="http://schemas.microsoft.com/office/drawing/2014/main" id="{5CCA1792-C598-45A3-82EC-60F305DCB1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484F3208-0F93-4217-AB03-C74E5657299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F862CE08-0EF8-4D30-9F34-5CEF2E35C9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5">
              <a:extLst>
                <a:ext uri="{FF2B5EF4-FFF2-40B4-BE49-F238E27FC236}">
                  <a16:creationId xmlns:a16="http://schemas.microsoft.com/office/drawing/2014/main" id="{CF707B85-7DC9-4931-8C39-C2802F1F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Isosceles Triangle 34">
              <a:extLst>
                <a:ext uri="{FF2B5EF4-FFF2-40B4-BE49-F238E27FC236}">
                  <a16:creationId xmlns:a16="http://schemas.microsoft.com/office/drawing/2014/main" id="{39409EB7-9549-43B7-9597-771D971CA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7">
              <a:extLst>
                <a:ext uri="{FF2B5EF4-FFF2-40B4-BE49-F238E27FC236}">
                  <a16:creationId xmlns:a16="http://schemas.microsoft.com/office/drawing/2014/main" id="{995D6453-5D14-445F-B965-BA2F9177D0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8">
              <a:extLst>
                <a:ext uri="{FF2B5EF4-FFF2-40B4-BE49-F238E27FC236}">
                  <a16:creationId xmlns:a16="http://schemas.microsoft.com/office/drawing/2014/main" id="{562F0BDF-F752-4F9D-826C-376BA43AF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9">
              <a:extLst>
                <a:ext uri="{FF2B5EF4-FFF2-40B4-BE49-F238E27FC236}">
                  <a16:creationId xmlns:a16="http://schemas.microsoft.com/office/drawing/2014/main" id="{019CD532-CC2D-41A0-B2E5-1A177CC060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38">
              <a:extLst>
                <a:ext uri="{FF2B5EF4-FFF2-40B4-BE49-F238E27FC236}">
                  <a16:creationId xmlns:a16="http://schemas.microsoft.com/office/drawing/2014/main" id="{751829B1-B54D-428F-B99F-234847A0C3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Isosceles Triangle 39">
              <a:extLst>
                <a:ext uri="{FF2B5EF4-FFF2-40B4-BE49-F238E27FC236}">
                  <a16:creationId xmlns:a16="http://schemas.microsoft.com/office/drawing/2014/main" id="{C8483DED-5995-47C7-9E6E-3340224B3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2" name="Rectangle 4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45" name="Straight Connector 4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Isosceles Triangle 4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Isosceles Triangle 5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Isosceles Triangle 5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55" name="Rectangle 5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349E825F-4B9A-39D7-7B45-468D7B350121}"/>
              </a:ext>
            </a:extLst>
          </p:cNvPr>
          <p:cNvPicPr>
            <a:picLocks noGrp="1" noChangeAspect="1"/>
          </p:cNvPicPr>
          <p:nvPr>
            <p:ph idx="1"/>
          </p:nvPr>
        </p:nvPicPr>
        <p:blipFill>
          <a:blip r:embed="rId3"/>
          <a:srcRect/>
          <a:stretch/>
        </p:blipFill>
        <p:spPr>
          <a:xfrm>
            <a:off x="688640" y="782755"/>
            <a:ext cx="7845760" cy="5237045"/>
          </a:xfrm>
          <a:prstGeom prst="rect">
            <a:avLst/>
          </a:prstGeom>
        </p:spPr>
      </p:pic>
    </p:spTree>
    <p:extLst>
      <p:ext uri="{BB962C8B-B14F-4D97-AF65-F5344CB8AC3E}">
        <p14:creationId xmlns:p14="http://schemas.microsoft.com/office/powerpoint/2010/main" val="1166676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36403F-6C55-4D9F-1DB5-BB532DB656D8}"/>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B2212AE1-AF5B-D7AC-334F-83DA6D6D84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31" name="Straight Connector 30">
              <a:extLst>
                <a:ext uri="{FF2B5EF4-FFF2-40B4-BE49-F238E27FC236}">
                  <a16:creationId xmlns:a16="http://schemas.microsoft.com/office/drawing/2014/main" id="{D37FFD6E-EBB8-F943-F8A5-816E7929B6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EB63D3D-AA15-0010-CB1D-4B654C4F59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7A53DED4-3B74-D16B-E233-8CC58BC96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5">
              <a:extLst>
                <a:ext uri="{FF2B5EF4-FFF2-40B4-BE49-F238E27FC236}">
                  <a16:creationId xmlns:a16="http://schemas.microsoft.com/office/drawing/2014/main" id="{3B7F5D56-3207-B697-11EF-80D7CB4C68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Isosceles Triangle 34">
              <a:extLst>
                <a:ext uri="{FF2B5EF4-FFF2-40B4-BE49-F238E27FC236}">
                  <a16:creationId xmlns:a16="http://schemas.microsoft.com/office/drawing/2014/main" id="{5F796CE2-8467-56FC-75D6-92C5E2ED1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7">
              <a:extLst>
                <a:ext uri="{FF2B5EF4-FFF2-40B4-BE49-F238E27FC236}">
                  <a16:creationId xmlns:a16="http://schemas.microsoft.com/office/drawing/2014/main" id="{6668D2F8-30EB-7C4B-454B-F28828E760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8">
              <a:extLst>
                <a:ext uri="{FF2B5EF4-FFF2-40B4-BE49-F238E27FC236}">
                  <a16:creationId xmlns:a16="http://schemas.microsoft.com/office/drawing/2014/main" id="{E1E7E8F2-6DBA-DECC-3A25-FA298EA22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9">
              <a:extLst>
                <a:ext uri="{FF2B5EF4-FFF2-40B4-BE49-F238E27FC236}">
                  <a16:creationId xmlns:a16="http://schemas.microsoft.com/office/drawing/2014/main" id="{A1B45181-DC96-B4C8-E527-812A823D7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38">
              <a:extLst>
                <a:ext uri="{FF2B5EF4-FFF2-40B4-BE49-F238E27FC236}">
                  <a16:creationId xmlns:a16="http://schemas.microsoft.com/office/drawing/2014/main" id="{A5CADC7A-AB4F-6204-B276-37CE4A303D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Isosceles Triangle 39">
              <a:extLst>
                <a:ext uri="{FF2B5EF4-FFF2-40B4-BE49-F238E27FC236}">
                  <a16:creationId xmlns:a16="http://schemas.microsoft.com/office/drawing/2014/main" id="{F2FE7403-0DCF-1874-ACB4-C0568CBB50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2" name="Rectangle 41">
            <a:extLst>
              <a:ext uri="{FF2B5EF4-FFF2-40B4-BE49-F238E27FC236}">
                <a16:creationId xmlns:a16="http://schemas.microsoft.com/office/drawing/2014/main" id="{7AD4ABBD-86C5-8DC8-8DE3-22737C396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BB2A5213-B7E6-C047-AB91-53B3FA71E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45" name="Straight Connector 44">
              <a:extLst>
                <a:ext uri="{FF2B5EF4-FFF2-40B4-BE49-F238E27FC236}">
                  <a16:creationId xmlns:a16="http://schemas.microsoft.com/office/drawing/2014/main" id="{2D0F1FF7-E390-9766-A1CF-B02A412CB0C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6" name="Rectangle 23">
              <a:extLst>
                <a:ext uri="{FF2B5EF4-FFF2-40B4-BE49-F238E27FC236}">
                  <a16:creationId xmlns:a16="http://schemas.microsoft.com/office/drawing/2014/main" id="{F465DE82-F9FD-BDD8-6D7D-DD349D5E3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25">
              <a:extLst>
                <a:ext uri="{FF2B5EF4-FFF2-40B4-BE49-F238E27FC236}">
                  <a16:creationId xmlns:a16="http://schemas.microsoft.com/office/drawing/2014/main" id="{6B42307A-2B48-6298-7557-4E6ED2C258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Isosceles Triangle 47">
              <a:extLst>
                <a:ext uri="{FF2B5EF4-FFF2-40B4-BE49-F238E27FC236}">
                  <a16:creationId xmlns:a16="http://schemas.microsoft.com/office/drawing/2014/main" id="{1CB3AA90-CEC0-74DE-6C86-631848CD9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27">
              <a:extLst>
                <a:ext uri="{FF2B5EF4-FFF2-40B4-BE49-F238E27FC236}">
                  <a16:creationId xmlns:a16="http://schemas.microsoft.com/office/drawing/2014/main" id="{79F0CB21-A337-CF31-87CC-981143A94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28">
              <a:extLst>
                <a:ext uri="{FF2B5EF4-FFF2-40B4-BE49-F238E27FC236}">
                  <a16:creationId xmlns:a16="http://schemas.microsoft.com/office/drawing/2014/main" id="{C1B2D92E-6AD6-35FF-2D01-77FADA6D4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Rectangle 29">
              <a:extLst>
                <a:ext uri="{FF2B5EF4-FFF2-40B4-BE49-F238E27FC236}">
                  <a16:creationId xmlns:a16="http://schemas.microsoft.com/office/drawing/2014/main" id="{F112148A-28D9-0D53-01CB-A29AE70A2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Isosceles Triangle 51">
              <a:extLst>
                <a:ext uri="{FF2B5EF4-FFF2-40B4-BE49-F238E27FC236}">
                  <a16:creationId xmlns:a16="http://schemas.microsoft.com/office/drawing/2014/main" id="{FD3F8EAE-81C3-FFF6-F0D6-0998A3A6B3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Isosceles Triangle 52">
              <a:extLst>
                <a:ext uri="{FF2B5EF4-FFF2-40B4-BE49-F238E27FC236}">
                  <a16:creationId xmlns:a16="http://schemas.microsoft.com/office/drawing/2014/main" id="{9FDB94B2-9434-1403-87DD-253EB280A2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55" name="Rectangle 54">
            <a:extLst>
              <a:ext uri="{FF2B5EF4-FFF2-40B4-BE49-F238E27FC236}">
                <a16:creationId xmlns:a16="http://schemas.microsoft.com/office/drawing/2014/main" id="{E0F92766-3D24-645F-214A-0551A974B5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0A691A1D-8178-10CF-188D-0D0444F26BAA}"/>
              </a:ext>
            </a:extLst>
          </p:cNvPr>
          <p:cNvPicPr>
            <a:picLocks noGrp="1" noChangeAspect="1"/>
          </p:cNvPicPr>
          <p:nvPr>
            <p:ph idx="1"/>
          </p:nvPr>
        </p:nvPicPr>
        <p:blipFill>
          <a:blip r:embed="rId3"/>
          <a:srcRect/>
          <a:stretch/>
        </p:blipFill>
        <p:spPr>
          <a:xfrm>
            <a:off x="688640" y="782755"/>
            <a:ext cx="7845760" cy="5237045"/>
          </a:xfrm>
          <a:prstGeom prst="rect">
            <a:avLst/>
          </a:prstGeom>
        </p:spPr>
      </p:pic>
    </p:spTree>
    <p:extLst>
      <p:ext uri="{BB962C8B-B14F-4D97-AF65-F5344CB8AC3E}">
        <p14:creationId xmlns:p14="http://schemas.microsoft.com/office/powerpoint/2010/main" val="1595181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E4B8-54B3-8901-0ABD-81B8DCDA9946}"/>
              </a:ext>
            </a:extLst>
          </p:cNvPr>
          <p:cNvSpPr>
            <a:spLocks noGrp="1"/>
          </p:cNvSpPr>
          <p:nvPr>
            <p:ph type="title"/>
          </p:nvPr>
        </p:nvSpPr>
        <p:spPr>
          <a:xfrm>
            <a:off x="2089535" y="609600"/>
            <a:ext cx="4865966" cy="1320800"/>
          </a:xfrm>
        </p:spPr>
        <p:txBody>
          <a:bodyPr>
            <a:normAutofit/>
          </a:bodyPr>
          <a:lstStyle/>
          <a:p>
            <a:r>
              <a:rPr lang="en-US" dirty="0"/>
              <a:t>Why this course matters</a:t>
            </a:r>
          </a:p>
        </p:txBody>
      </p:sp>
      <p:pic>
        <p:nvPicPr>
          <p:cNvPr id="5" name="Picture 4" descr="Empty train">
            <a:extLst>
              <a:ext uri="{FF2B5EF4-FFF2-40B4-BE49-F238E27FC236}">
                <a16:creationId xmlns:a16="http://schemas.microsoft.com/office/drawing/2014/main" id="{F358C160-269F-963C-41B8-E4E47D3434FB}"/>
              </a:ext>
            </a:extLst>
          </p:cNvPr>
          <p:cNvPicPr>
            <a:picLocks noChangeAspect="1"/>
          </p:cNvPicPr>
          <p:nvPr/>
        </p:nvPicPr>
        <p:blipFill>
          <a:blip r:embed="rId3">
            <a:duotone>
              <a:prstClr val="black"/>
              <a:schemeClr val="tx2">
                <a:tint val="45000"/>
                <a:satMod val="400000"/>
              </a:schemeClr>
            </a:duotone>
          </a:blip>
          <a:srcRect l="38938" r="42966" b="9090"/>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8" name="Isosceles Triangle 17">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Content Placeholder 2">
            <a:extLst>
              <a:ext uri="{FF2B5EF4-FFF2-40B4-BE49-F238E27FC236}">
                <a16:creationId xmlns:a16="http://schemas.microsoft.com/office/drawing/2014/main" id="{91BD8709-4698-D676-9380-0C27D12975AE}"/>
              </a:ext>
            </a:extLst>
          </p:cNvPr>
          <p:cNvSpPr>
            <a:spLocks noGrp="1"/>
          </p:cNvSpPr>
          <p:nvPr>
            <p:ph idx="1"/>
          </p:nvPr>
        </p:nvSpPr>
        <p:spPr>
          <a:xfrm>
            <a:off x="2089535" y="2160589"/>
            <a:ext cx="4865966" cy="3880773"/>
          </a:xfrm>
        </p:spPr>
        <p:txBody>
          <a:bodyPr>
            <a:normAutofit/>
          </a:bodyPr>
          <a:lstStyle/>
          <a:p>
            <a:pPr marL="0" indent="0">
              <a:buNone/>
            </a:pPr>
            <a:r>
              <a:rPr lang="en-US" dirty="0"/>
              <a:t>Many junior developers can say:</a:t>
            </a:r>
          </a:p>
          <a:p>
            <a:r>
              <a:rPr lang="en-US" dirty="0"/>
              <a:t>"I made it work."</a:t>
            </a:r>
          </a:p>
          <a:p>
            <a:pPr marL="0" indent="0">
              <a:buNone/>
            </a:pPr>
            <a:r>
              <a:rPr lang="en-US" dirty="0"/>
              <a:t>This course trains you to say:</a:t>
            </a:r>
          </a:p>
          <a:p>
            <a:r>
              <a:rPr lang="en-US" dirty="0"/>
              <a:t>"Here is the problem I solved.</a:t>
            </a:r>
            <a:br>
              <a:rPr lang="en-US" dirty="0"/>
            </a:br>
            <a:r>
              <a:rPr lang="en-US" dirty="0"/>
              <a:t>Here are the assumptions I made.</a:t>
            </a:r>
            <a:br>
              <a:rPr lang="en-US" dirty="0"/>
            </a:br>
            <a:r>
              <a:rPr lang="en-US" dirty="0"/>
              <a:t>Here is the strategy I chose.</a:t>
            </a:r>
            <a:br>
              <a:rPr lang="en-US" dirty="0"/>
            </a:br>
            <a:r>
              <a:rPr lang="en-US" dirty="0"/>
              <a:t>Here is the evidence that it works.</a:t>
            </a:r>
            <a:br>
              <a:rPr lang="en-US" dirty="0"/>
            </a:br>
            <a:r>
              <a:rPr lang="en-US" dirty="0"/>
              <a:t>Here is the tradeoff I accepted.</a:t>
            </a:r>
            <a:br>
              <a:rPr lang="en-US" dirty="0"/>
            </a:br>
            <a:r>
              <a:rPr lang="en-US" dirty="0"/>
              <a:t>Here is how I used AI without surrendering judgment."</a:t>
            </a:r>
          </a:p>
          <a:p>
            <a:endParaRPr lang="en-US" dirty="0"/>
          </a:p>
        </p:txBody>
      </p:sp>
    </p:spTree>
    <p:extLst>
      <p:ext uri="{BB962C8B-B14F-4D97-AF65-F5344CB8AC3E}">
        <p14:creationId xmlns:p14="http://schemas.microsoft.com/office/powerpoint/2010/main" val="369752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1AD2-E72F-7796-291A-36CD1216022D}"/>
              </a:ext>
            </a:extLst>
          </p:cNvPr>
          <p:cNvSpPr>
            <a:spLocks noGrp="1"/>
          </p:cNvSpPr>
          <p:nvPr>
            <p:ph type="title"/>
          </p:nvPr>
        </p:nvSpPr>
        <p:spPr>
          <a:xfrm>
            <a:off x="4152550" y="753293"/>
            <a:ext cx="2802951" cy="1320800"/>
          </a:xfrm>
        </p:spPr>
        <p:txBody>
          <a:bodyPr>
            <a:normAutofit/>
          </a:bodyPr>
          <a:lstStyle/>
          <a:p>
            <a:r>
              <a:rPr lang="en-US" sz="3300" dirty="0"/>
              <a:t>What We Will Use Today</a:t>
            </a:r>
          </a:p>
        </p:txBody>
      </p:sp>
      <p:sp>
        <p:nvSpPr>
          <p:cNvPr id="3" name="Content Placeholder 2">
            <a:extLst>
              <a:ext uri="{FF2B5EF4-FFF2-40B4-BE49-F238E27FC236}">
                <a16:creationId xmlns:a16="http://schemas.microsoft.com/office/drawing/2014/main" id="{186EEC5C-1292-A4A2-1E2D-A19D199A8749}"/>
              </a:ext>
            </a:extLst>
          </p:cNvPr>
          <p:cNvSpPr>
            <a:spLocks noGrp="1"/>
          </p:cNvSpPr>
          <p:nvPr>
            <p:ph idx="1"/>
          </p:nvPr>
        </p:nvSpPr>
        <p:spPr>
          <a:xfrm>
            <a:off x="3907172" y="2304283"/>
            <a:ext cx="3048329" cy="3338874"/>
          </a:xfrm>
        </p:spPr>
        <p:txBody>
          <a:bodyPr>
            <a:normAutofit/>
          </a:bodyPr>
          <a:lstStyle/>
          <a:p>
            <a:r>
              <a:rPr lang="en-US" dirty="0"/>
              <a:t>definition of algorithm</a:t>
            </a:r>
          </a:p>
          <a:p>
            <a:r>
              <a:rPr lang="en-US" dirty="0"/>
              <a:t>design before coding</a:t>
            </a:r>
          </a:p>
          <a:p>
            <a:r>
              <a:rPr lang="en-US" dirty="0"/>
              <a:t>expected result</a:t>
            </a:r>
          </a:p>
          <a:p>
            <a:r>
              <a:rPr lang="en-US" dirty="0"/>
              <a:t>ambiguity and assumptions</a:t>
            </a:r>
          </a:p>
          <a:p>
            <a:r>
              <a:rPr lang="en-US" dirty="0"/>
              <a:t>test cases and edge cases</a:t>
            </a:r>
          </a:p>
          <a:p>
            <a:r>
              <a:rPr lang="en-US" dirty="0"/>
              <a:t>data and compute as early design concerns</a:t>
            </a:r>
          </a:p>
          <a:p>
            <a:endParaRPr lang="en-US" dirty="0"/>
          </a:p>
        </p:txBody>
      </p:sp>
      <p:pic>
        <p:nvPicPr>
          <p:cNvPr id="28" name="Picture 27" descr="Computer script on a screen">
            <a:extLst>
              <a:ext uri="{FF2B5EF4-FFF2-40B4-BE49-F238E27FC236}">
                <a16:creationId xmlns:a16="http://schemas.microsoft.com/office/drawing/2014/main" id="{38D50984-DDEB-A743-533E-89C11F357B8D}"/>
              </a:ext>
            </a:extLst>
          </p:cNvPr>
          <p:cNvPicPr>
            <a:picLocks noChangeAspect="1"/>
          </p:cNvPicPr>
          <p:nvPr/>
        </p:nvPicPr>
        <p:blipFill>
          <a:blip r:embed="rId3"/>
          <a:srcRect l="10422"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2" name="Isosceles Triangle 31">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7642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FBC3A-6E33-DDF1-BE61-5271C9DFAA81}"/>
              </a:ext>
            </a:extLst>
          </p:cNvPr>
          <p:cNvSpPr>
            <a:spLocks noGrp="1"/>
          </p:cNvSpPr>
          <p:nvPr>
            <p:ph type="title"/>
          </p:nvPr>
        </p:nvSpPr>
        <p:spPr/>
        <p:txBody>
          <a:bodyPr/>
          <a:lstStyle/>
          <a:p>
            <a:r>
              <a:rPr lang="en-US" dirty="0"/>
              <a:t>Algorithmic Problem Solving</a:t>
            </a:r>
          </a:p>
        </p:txBody>
      </p:sp>
      <p:graphicFrame>
        <p:nvGraphicFramePr>
          <p:cNvPr id="6" name="Content Placeholder 2">
            <a:extLst>
              <a:ext uri="{FF2B5EF4-FFF2-40B4-BE49-F238E27FC236}">
                <a16:creationId xmlns:a16="http://schemas.microsoft.com/office/drawing/2014/main" id="{D0011121-6BB9-21DB-5B63-C7D44BBC84BE}"/>
              </a:ext>
            </a:extLst>
          </p:cNvPr>
          <p:cNvGraphicFramePr>
            <a:graphicFrameLocks noGrp="1"/>
          </p:cNvGraphicFramePr>
          <p:nvPr>
            <p:ph idx="1"/>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3DF8DEDA-522B-7929-0F70-C721FC00C055}"/>
              </a:ext>
            </a:extLst>
          </p:cNvPr>
          <p:cNvSpPr txBox="1"/>
          <p:nvPr/>
        </p:nvSpPr>
        <p:spPr>
          <a:xfrm>
            <a:off x="1447799" y="1237126"/>
            <a:ext cx="5509513" cy="369332"/>
          </a:xfrm>
          <a:prstGeom prst="rect">
            <a:avLst/>
          </a:prstGeom>
          <a:noFill/>
        </p:spPr>
        <p:txBody>
          <a:bodyPr wrap="square" rtlCol="0">
            <a:spAutoFit/>
          </a:bodyPr>
          <a:lstStyle/>
          <a:p>
            <a:r>
              <a:rPr lang="en-US"/>
              <a:t>problem -&gt; steps -&gt; evidence -&gt; revision.</a:t>
            </a:r>
            <a:endParaRPr lang="en-US" dirty="0"/>
          </a:p>
        </p:txBody>
      </p:sp>
    </p:spTree>
    <p:extLst>
      <p:ext uri="{BB962C8B-B14F-4D97-AF65-F5344CB8AC3E}">
        <p14:creationId xmlns:p14="http://schemas.microsoft.com/office/powerpoint/2010/main" val="3397817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F3D0C-6852-20C9-BE87-D0EBE466BC7A}"/>
              </a:ext>
            </a:extLst>
          </p:cNvPr>
          <p:cNvSpPr>
            <a:spLocks noGrp="1"/>
          </p:cNvSpPr>
          <p:nvPr>
            <p:ph type="title"/>
          </p:nvPr>
        </p:nvSpPr>
        <p:spPr>
          <a:xfrm>
            <a:off x="965199" y="609600"/>
            <a:ext cx="7648121" cy="1099457"/>
          </a:xfrm>
        </p:spPr>
        <p:txBody>
          <a:bodyPr>
            <a:normAutofit/>
          </a:bodyPr>
          <a:lstStyle/>
          <a:p>
            <a:r>
              <a:rPr lang="en-US" dirty="0"/>
              <a:t>Terms to Remember</a:t>
            </a:r>
          </a:p>
        </p:txBody>
      </p:sp>
      <p:sp>
        <p:nvSpPr>
          <p:cNvPr id="13" name="Isosceles Triangle 12">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6" name="Content Placeholder 5">
            <a:extLst>
              <a:ext uri="{FF2B5EF4-FFF2-40B4-BE49-F238E27FC236}">
                <a16:creationId xmlns:a16="http://schemas.microsoft.com/office/drawing/2014/main" id="{F27554BC-B3B8-5E0F-2BAA-2455CB83A9CF}"/>
              </a:ext>
            </a:extLst>
          </p:cNvPr>
          <p:cNvGraphicFramePr>
            <a:graphicFrameLocks noGrp="1"/>
          </p:cNvGraphicFramePr>
          <p:nvPr>
            <p:ph idx="1"/>
            <p:extLst>
              <p:ext uri="{D42A27DB-BD31-4B8C-83A1-F6EECF244321}">
                <p14:modId xmlns:p14="http://schemas.microsoft.com/office/powerpoint/2010/main" val="715568834"/>
              </p:ext>
            </p:extLst>
          </p:nvPr>
        </p:nvGraphicFramePr>
        <p:xfrm>
          <a:off x="965199" y="2390436"/>
          <a:ext cx="7213601" cy="3209701"/>
        </p:xfrm>
        <a:graphic>
          <a:graphicData uri="http://schemas.openxmlformats.org/drawingml/2006/table">
            <a:tbl>
              <a:tblPr firstRow="1" bandRow="1">
                <a:tableStyleId>{5C22544A-7EE6-4342-B048-85BDC9FD1C3A}</a:tableStyleId>
              </a:tblPr>
              <a:tblGrid>
                <a:gridCol w="1965002">
                  <a:extLst>
                    <a:ext uri="{9D8B030D-6E8A-4147-A177-3AD203B41FA5}">
                      <a16:colId xmlns:a16="http://schemas.microsoft.com/office/drawing/2014/main" val="2834818674"/>
                    </a:ext>
                  </a:extLst>
                </a:gridCol>
                <a:gridCol w="5248599">
                  <a:extLst>
                    <a:ext uri="{9D8B030D-6E8A-4147-A177-3AD203B41FA5}">
                      <a16:colId xmlns:a16="http://schemas.microsoft.com/office/drawing/2014/main" val="2769425876"/>
                    </a:ext>
                  </a:extLst>
                </a:gridCol>
              </a:tblGrid>
              <a:tr h="334133">
                <a:tc>
                  <a:txBody>
                    <a:bodyPr/>
                    <a:lstStyle/>
                    <a:p>
                      <a:r>
                        <a:rPr lang="en-US" sz="1500"/>
                        <a:t>Term</a:t>
                      </a:r>
                    </a:p>
                  </a:txBody>
                  <a:tcPr marL="75939" marR="75939" marT="37970" marB="37970"/>
                </a:tc>
                <a:tc>
                  <a:txBody>
                    <a:bodyPr/>
                    <a:lstStyle/>
                    <a:p>
                      <a:r>
                        <a:rPr lang="en-US" sz="1500"/>
                        <a:t>Brief Meaning</a:t>
                      </a:r>
                    </a:p>
                  </a:txBody>
                  <a:tcPr marL="75939" marR="75939" marT="37970" marB="37970"/>
                </a:tc>
                <a:extLst>
                  <a:ext uri="{0D108BD9-81ED-4DB2-BD59-A6C34878D82A}">
                    <a16:rowId xmlns:a16="http://schemas.microsoft.com/office/drawing/2014/main" val="2585501838"/>
                  </a:ext>
                </a:extLst>
              </a:tr>
              <a:tr h="308820">
                <a:tc>
                  <a:txBody>
                    <a:bodyPr/>
                    <a:lstStyle/>
                    <a:p>
                      <a:r>
                        <a:rPr lang="en-US" sz="1300" b="1"/>
                        <a:t>Algorithm</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A clear, repeatable, testable process for solving a problem</a:t>
                      </a:r>
                    </a:p>
                  </a:txBody>
                  <a:tcPr marL="75939" marR="75939" marT="37970" marB="37970"/>
                </a:tc>
                <a:extLst>
                  <a:ext uri="{0D108BD9-81ED-4DB2-BD59-A6C34878D82A}">
                    <a16:rowId xmlns:a16="http://schemas.microsoft.com/office/drawing/2014/main" val="2286987966"/>
                  </a:ext>
                </a:extLst>
              </a:tr>
              <a:tr h="308820">
                <a:tc>
                  <a:txBody>
                    <a:bodyPr/>
                    <a:lstStyle/>
                    <a:p>
                      <a:r>
                        <a:rPr lang="en-US" sz="1300" b="1"/>
                        <a:t>Design Phase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The planning and reasoning work before or alongside coding</a:t>
                      </a:r>
                    </a:p>
                  </a:txBody>
                  <a:tcPr marL="75939" marR="75939" marT="37970" marB="37970"/>
                </a:tc>
                <a:extLst>
                  <a:ext uri="{0D108BD9-81ED-4DB2-BD59-A6C34878D82A}">
                    <a16:rowId xmlns:a16="http://schemas.microsoft.com/office/drawing/2014/main" val="4271159523"/>
                  </a:ext>
                </a:extLst>
              </a:tr>
              <a:tr h="308820">
                <a:tc>
                  <a:txBody>
                    <a:bodyPr/>
                    <a:lstStyle/>
                    <a:p>
                      <a:r>
                        <a:rPr lang="en-US" sz="1300" b="1"/>
                        <a:t>Coding Phase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The implementation of the designed procedure</a:t>
                      </a:r>
                    </a:p>
                  </a:txBody>
                  <a:tcPr marL="75939" marR="75939" marT="37970" marB="37970"/>
                </a:tc>
                <a:extLst>
                  <a:ext uri="{0D108BD9-81ED-4DB2-BD59-A6C34878D82A}">
                    <a16:rowId xmlns:a16="http://schemas.microsoft.com/office/drawing/2014/main" val="3521909586"/>
                  </a:ext>
                </a:extLst>
              </a:tr>
              <a:tr h="511324">
                <a:tc>
                  <a:txBody>
                    <a:bodyPr/>
                    <a:lstStyle/>
                    <a:p>
                      <a:r>
                        <a:rPr lang="en-US" sz="1300" b="1"/>
                        <a:t>Functional Requirement</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What the algorithm must produce or do</a:t>
                      </a:r>
                    </a:p>
                  </a:txBody>
                  <a:tcPr marL="75939" marR="75939" marT="37970" marB="37970"/>
                </a:tc>
                <a:extLst>
                  <a:ext uri="{0D108BD9-81ED-4DB2-BD59-A6C34878D82A}">
                    <a16:rowId xmlns:a16="http://schemas.microsoft.com/office/drawing/2014/main" val="1196619962"/>
                  </a:ext>
                </a:extLst>
              </a:tr>
              <a:tr h="511324">
                <a:tc>
                  <a:txBody>
                    <a:bodyPr/>
                    <a:lstStyle/>
                    <a:p>
                      <a:r>
                        <a:rPr lang="en-US" sz="1300" b="1"/>
                        <a:t>Non-functional Requirement</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How well the algorithm should behave under constraints</a:t>
                      </a:r>
                    </a:p>
                  </a:txBody>
                  <a:tcPr marL="75939" marR="75939" marT="37970" marB="37970"/>
                </a:tc>
                <a:extLst>
                  <a:ext uri="{0D108BD9-81ED-4DB2-BD59-A6C34878D82A}">
                    <a16:rowId xmlns:a16="http://schemas.microsoft.com/office/drawing/2014/main" val="3290694328"/>
                  </a:ext>
                </a:extLst>
              </a:tr>
              <a:tr h="308820">
                <a:tc>
                  <a:txBody>
                    <a:bodyPr/>
                    <a:lstStyle/>
                    <a:p>
                      <a:r>
                        <a:rPr lang="en-US" sz="1300" b="1"/>
                        <a:t>Data-intensive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Work shaped mainly by the amount, speed, or variety of data</a:t>
                      </a:r>
                      <a:endParaRPr lang="en-US" sz="1300"/>
                    </a:p>
                  </a:txBody>
                  <a:tcPr marL="75939" marR="75939" marT="37970" marB="37970"/>
                </a:tc>
                <a:extLst>
                  <a:ext uri="{0D108BD9-81ED-4DB2-BD59-A6C34878D82A}">
                    <a16:rowId xmlns:a16="http://schemas.microsoft.com/office/drawing/2014/main" val="2245940545"/>
                  </a:ext>
                </a:extLst>
              </a:tr>
              <a:tr h="308820">
                <a:tc>
                  <a:txBody>
                    <a:bodyPr/>
                    <a:lstStyle/>
                    <a:p>
                      <a:r>
                        <a:rPr lang="en-US" sz="1300" b="1"/>
                        <a:t>Compute-intensive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 Work shaped mainly by the amount of processing required</a:t>
                      </a:r>
                    </a:p>
                  </a:txBody>
                  <a:tcPr marL="75939" marR="75939" marT="37970" marB="37970"/>
                </a:tc>
                <a:extLst>
                  <a:ext uri="{0D108BD9-81ED-4DB2-BD59-A6C34878D82A}">
                    <a16:rowId xmlns:a16="http://schemas.microsoft.com/office/drawing/2014/main" val="2857803298"/>
                  </a:ext>
                </a:extLst>
              </a:tr>
              <a:tr h="308820">
                <a:tc>
                  <a:txBody>
                    <a:bodyPr/>
                    <a:lstStyle/>
                    <a:p>
                      <a:r>
                        <a:rPr lang="en-US" sz="1300" b="1"/>
                        <a:t>Edge Case</a:t>
                      </a:r>
                    </a:p>
                  </a:txBody>
                  <a:tcPr marL="75939" marR="75939" marT="37970" marB="3797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0" kern="1200">
                          <a:solidFill>
                            <a:schemeClr val="dk1"/>
                          </a:solidFill>
                          <a:effectLst/>
                          <a:latin typeface="+mn-lt"/>
                          <a:ea typeface="+mn-ea"/>
                          <a:cs typeface="+mn-cs"/>
                        </a:rPr>
                        <a:t>A boundary or unusual input that tests hidden assumptions</a:t>
                      </a:r>
                    </a:p>
                  </a:txBody>
                  <a:tcPr marL="75939" marR="75939" marT="37970" marB="37970"/>
                </a:tc>
                <a:extLst>
                  <a:ext uri="{0D108BD9-81ED-4DB2-BD59-A6C34878D82A}">
                    <a16:rowId xmlns:a16="http://schemas.microsoft.com/office/drawing/2014/main" val="3382760042"/>
                  </a:ext>
                </a:extLst>
              </a:tr>
            </a:tbl>
          </a:graphicData>
        </a:graphic>
      </p:graphicFrame>
    </p:spTree>
    <p:extLst>
      <p:ext uri="{BB962C8B-B14F-4D97-AF65-F5344CB8AC3E}">
        <p14:creationId xmlns:p14="http://schemas.microsoft.com/office/powerpoint/2010/main" val="496793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D2A16-B9E0-8D42-E404-5CFA69E8DFFB}"/>
              </a:ext>
            </a:extLst>
          </p:cNvPr>
          <p:cNvSpPr>
            <a:spLocks noGrp="1"/>
          </p:cNvSpPr>
          <p:nvPr>
            <p:ph type="title"/>
          </p:nvPr>
        </p:nvSpPr>
        <p:spPr>
          <a:xfrm>
            <a:off x="3747981" y="609600"/>
            <a:ext cx="3207519" cy="1320800"/>
          </a:xfrm>
        </p:spPr>
        <p:txBody>
          <a:bodyPr anchor="ctr">
            <a:normAutofit/>
          </a:bodyPr>
          <a:lstStyle/>
          <a:p>
            <a:r>
              <a:rPr lang="en-US"/>
              <a:t>How To Use the Textbook</a:t>
            </a:r>
            <a:endParaRPr lang="en-US" dirty="0"/>
          </a:p>
        </p:txBody>
      </p:sp>
      <p:pic>
        <p:nvPicPr>
          <p:cNvPr id="7" name="Graphic 6" descr="Books on Shelf">
            <a:extLst>
              <a:ext uri="{FF2B5EF4-FFF2-40B4-BE49-F238E27FC236}">
                <a16:creationId xmlns:a16="http://schemas.microsoft.com/office/drawing/2014/main" id="{516F235B-F0FF-F1D3-6760-4EB45421FD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28" name="Content Placeholder 2">
            <a:extLst>
              <a:ext uri="{FF2B5EF4-FFF2-40B4-BE49-F238E27FC236}">
                <a16:creationId xmlns:a16="http://schemas.microsoft.com/office/drawing/2014/main" id="{85E1165C-24FD-756C-D70C-4DAF770102FA}"/>
              </a:ext>
            </a:extLst>
          </p:cNvPr>
          <p:cNvSpPr>
            <a:spLocks noGrp="1"/>
          </p:cNvSpPr>
          <p:nvPr>
            <p:ph idx="1"/>
          </p:nvPr>
        </p:nvSpPr>
        <p:spPr>
          <a:xfrm>
            <a:off x="3739367" y="2160589"/>
            <a:ext cx="3213882" cy="3768573"/>
          </a:xfrm>
        </p:spPr>
        <p:txBody>
          <a:bodyPr>
            <a:normAutofit/>
          </a:bodyPr>
          <a:lstStyle/>
          <a:p>
            <a:pPr marL="0" indent="0">
              <a:lnSpc>
                <a:spcPct val="90000"/>
              </a:lnSpc>
              <a:buNone/>
            </a:pPr>
            <a:r>
              <a:rPr lang="en-US" sz="1400" i="1" dirty="0"/>
              <a:t>The textbook may look more mathematical than this course feels at first.</a:t>
            </a:r>
          </a:p>
          <a:p>
            <a:pPr marL="0" indent="0">
              <a:lnSpc>
                <a:spcPct val="90000"/>
              </a:lnSpc>
              <a:buNone/>
            </a:pPr>
            <a:r>
              <a:rPr lang="en-US" sz="1700" dirty="0"/>
              <a:t>For now:</a:t>
            </a:r>
          </a:p>
          <a:p>
            <a:pPr>
              <a:lnSpc>
                <a:spcPct val="90000"/>
              </a:lnSpc>
            </a:pPr>
            <a:r>
              <a:rPr lang="en-US" sz="1700" dirty="0"/>
              <a:t>skim for the idea</a:t>
            </a:r>
          </a:p>
          <a:p>
            <a:pPr>
              <a:lnSpc>
                <a:spcPct val="90000"/>
              </a:lnSpc>
            </a:pPr>
            <a:r>
              <a:rPr lang="en-US" sz="1700" dirty="0"/>
              <a:t>notice key terms</a:t>
            </a:r>
          </a:p>
          <a:p>
            <a:pPr>
              <a:lnSpc>
                <a:spcPct val="90000"/>
              </a:lnSpc>
            </a:pPr>
            <a:r>
              <a:rPr lang="en-US" sz="1700" dirty="0"/>
              <a:t>mark what looks unfamiliar</a:t>
            </a:r>
          </a:p>
          <a:p>
            <a:pPr>
              <a:lnSpc>
                <a:spcPct val="90000"/>
              </a:lnSpc>
            </a:pPr>
            <a:r>
              <a:rPr lang="en-US" sz="1700" dirty="0"/>
              <a:t>do not panic over every formula</a:t>
            </a:r>
          </a:p>
          <a:p>
            <a:pPr>
              <a:lnSpc>
                <a:spcPct val="90000"/>
              </a:lnSpc>
            </a:pPr>
            <a:r>
              <a:rPr lang="en-US" sz="1700" dirty="0"/>
              <a:t>connect the concept back to Python functions</a:t>
            </a:r>
          </a:p>
          <a:p>
            <a:pPr>
              <a:lnSpc>
                <a:spcPct val="90000"/>
              </a:lnSpc>
            </a:pPr>
            <a:endParaRPr lang="en-US" sz="1700" dirty="0"/>
          </a:p>
        </p:txBody>
      </p:sp>
    </p:spTree>
    <p:extLst>
      <p:ext uri="{BB962C8B-B14F-4D97-AF65-F5344CB8AC3E}">
        <p14:creationId xmlns:p14="http://schemas.microsoft.com/office/powerpoint/2010/main" val="660845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BC150E-2DE4-C93F-656C-BC49E2280FBF}"/>
              </a:ext>
            </a:extLst>
          </p:cNvPr>
          <p:cNvSpPr>
            <a:spLocks noGrp="1"/>
          </p:cNvSpPr>
          <p:nvPr>
            <p:ph type="title"/>
          </p:nvPr>
        </p:nvSpPr>
        <p:spPr>
          <a:xfrm>
            <a:off x="965199" y="609600"/>
            <a:ext cx="7648121" cy="1099457"/>
          </a:xfrm>
        </p:spPr>
        <p:txBody>
          <a:bodyPr>
            <a:normAutofit/>
          </a:bodyPr>
          <a:lstStyle/>
          <a:p>
            <a:r>
              <a:rPr lang="en-US" dirty="0"/>
              <a:t>Course Pattern</a:t>
            </a:r>
          </a:p>
        </p:txBody>
      </p:sp>
      <p:sp>
        <p:nvSpPr>
          <p:cNvPr id="11" name="Isosceles Triangle 10">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5E31E9C8-37A3-BD7D-B2F6-DA0B240ABCBF}"/>
              </a:ext>
            </a:extLst>
          </p:cNvPr>
          <p:cNvGraphicFramePr>
            <a:graphicFrameLocks noGrp="1"/>
          </p:cNvGraphicFramePr>
          <p:nvPr>
            <p:ph idx="1"/>
            <p:extLst>
              <p:ext uri="{D42A27DB-BD31-4B8C-83A1-F6EECF244321}">
                <p14:modId xmlns:p14="http://schemas.microsoft.com/office/powerpoint/2010/main" val="829145707"/>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3199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A1E9A-A320-AF42-F414-B26C9B324438}"/>
              </a:ext>
            </a:extLst>
          </p:cNvPr>
          <p:cNvSpPr>
            <a:spLocks noGrp="1"/>
          </p:cNvSpPr>
          <p:nvPr>
            <p:ph type="title"/>
          </p:nvPr>
        </p:nvSpPr>
        <p:spPr/>
        <p:txBody>
          <a:bodyPr/>
          <a:lstStyle/>
          <a:p>
            <a:r>
              <a:rPr lang="en-US" dirty="0"/>
              <a:t>Today’s Question</a:t>
            </a:r>
          </a:p>
        </p:txBody>
      </p:sp>
      <p:sp>
        <p:nvSpPr>
          <p:cNvPr id="3" name="Content Placeholder 2">
            <a:extLst>
              <a:ext uri="{FF2B5EF4-FFF2-40B4-BE49-F238E27FC236}">
                <a16:creationId xmlns:a16="http://schemas.microsoft.com/office/drawing/2014/main" id="{874F45FF-FF75-2BF2-8B20-6A1AB01A627A}"/>
              </a:ext>
            </a:extLst>
          </p:cNvPr>
          <p:cNvSpPr>
            <a:spLocks noGrp="1"/>
          </p:cNvSpPr>
          <p:nvPr>
            <p:ph idx="1"/>
          </p:nvPr>
        </p:nvSpPr>
        <p:spPr/>
        <p:txBody>
          <a:bodyPr/>
          <a:lstStyle/>
          <a:p>
            <a:pPr marL="0" indent="0" algn="ctr">
              <a:buNone/>
            </a:pPr>
            <a:r>
              <a:rPr lang="en-US" sz="2300" b="1" dirty="0">
                <a:solidFill>
                  <a:schemeClr val="bg2">
                    <a:lumMod val="10000"/>
                  </a:schemeClr>
                </a:solidFill>
              </a:rPr>
              <a:t>How do we turn a vague instruction </a:t>
            </a:r>
            <a:br>
              <a:rPr lang="en-US" sz="2300" b="1" dirty="0">
                <a:solidFill>
                  <a:schemeClr val="bg2">
                    <a:lumMod val="10000"/>
                  </a:schemeClr>
                </a:solidFill>
              </a:rPr>
            </a:br>
            <a:r>
              <a:rPr lang="en-US" sz="2300" b="1" dirty="0">
                <a:solidFill>
                  <a:schemeClr val="bg2">
                    <a:lumMod val="10000"/>
                  </a:schemeClr>
                </a:solidFill>
              </a:rPr>
              <a:t>into a testable algorithm?</a:t>
            </a:r>
          </a:p>
          <a:p>
            <a:pPr marL="0" indent="0">
              <a:buNone/>
            </a:pPr>
            <a:endParaRPr lang="en-US" dirty="0"/>
          </a:p>
        </p:txBody>
      </p:sp>
      <p:pic>
        <p:nvPicPr>
          <p:cNvPr id="6" name="Picture 5">
            <a:extLst>
              <a:ext uri="{FF2B5EF4-FFF2-40B4-BE49-F238E27FC236}">
                <a16:creationId xmlns:a16="http://schemas.microsoft.com/office/drawing/2014/main" id="{5121ED79-9744-0DE9-2D62-F7E03CDF2827}"/>
              </a:ext>
            </a:extLst>
          </p:cNvPr>
          <p:cNvPicPr>
            <a:picLocks noChangeAspect="1"/>
          </p:cNvPicPr>
          <p:nvPr/>
        </p:nvPicPr>
        <p:blipFill>
          <a:blip r:embed="rId3"/>
          <a:stretch>
            <a:fillRect/>
          </a:stretch>
        </p:blipFill>
        <p:spPr>
          <a:xfrm>
            <a:off x="609599" y="2111248"/>
            <a:ext cx="6205728" cy="4137152"/>
          </a:xfrm>
          <a:prstGeom prst="rect">
            <a:avLst/>
          </a:prstGeom>
        </p:spPr>
      </p:pic>
    </p:spTree>
    <p:extLst>
      <p:ext uri="{BB962C8B-B14F-4D97-AF65-F5344CB8AC3E}">
        <p14:creationId xmlns:p14="http://schemas.microsoft.com/office/powerpoint/2010/main" val="396491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4F47B759-3B8D-8007-046A-752146EE1398}"/>
              </a:ext>
            </a:extLst>
          </p:cNvPr>
          <p:cNvSpPr>
            <a:spLocks noGrp="1"/>
          </p:cNvSpPr>
          <p:nvPr>
            <p:ph type="title"/>
          </p:nvPr>
        </p:nvSpPr>
        <p:spPr>
          <a:xfrm>
            <a:off x="489360" y="1382486"/>
            <a:ext cx="2660686" cy="4093028"/>
          </a:xfrm>
        </p:spPr>
        <p:txBody>
          <a:bodyPr anchor="ctr">
            <a:normAutofit/>
          </a:bodyPr>
          <a:lstStyle/>
          <a:p>
            <a:r>
              <a:rPr lang="en-US" sz="3800" dirty="0"/>
              <a:t>What Counts As Success Today</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CA7BFAB-8A4E-8942-91FA-3DCF3169AD9F}"/>
              </a:ext>
            </a:extLst>
          </p:cNvPr>
          <p:cNvGraphicFramePr>
            <a:graphicFrameLocks noGrp="1"/>
          </p:cNvGraphicFramePr>
          <p:nvPr>
            <p:ph idx="1"/>
            <p:extLst>
              <p:ext uri="{D42A27DB-BD31-4B8C-83A1-F6EECF244321}">
                <p14:modId xmlns:p14="http://schemas.microsoft.com/office/powerpoint/2010/main" val="1990538351"/>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7720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413C-E473-7BB1-5818-2D164CEF8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30655-1F44-A7A1-AD87-667B476811F2}"/>
              </a:ext>
            </a:extLst>
          </p:cNvPr>
          <p:cNvSpPr>
            <a:spLocks noGrp="1"/>
          </p:cNvSpPr>
          <p:nvPr>
            <p:ph type="title"/>
          </p:nvPr>
        </p:nvSpPr>
        <p:spPr>
          <a:xfrm>
            <a:off x="2089535" y="1189369"/>
            <a:ext cx="4865966" cy="745462"/>
          </a:xfrm>
        </p:spPr>
        <p:txBody>
          <a:bodyPr>
            <a:normAutofit/>
          </a:bodyPr>
          <a:lstStyle/>
          <a:p>
            <a:r>
              <a:rPr lang="en-US" dirty="0"/>
              <a:t>What is an Algorithm?</a:t>
            </a:r>
          </a:p>
        </p:txBody>
      </p:sp>
      <p:pic>
        <p:nvPicPr>
          <p:cNvPr id="5" name="Picture 4">
            <a:extLst>
              <a:ext uri="{FF2B5EF4-FFF2-40B4-BE49-F238E27FC236}">
                <a16:creationId xmlns:a16="http://schemas.microsoft.com/office/drawing/2014/main" id="{6A1B117B-7548-ADF5-1699-217128A6553A}"/>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F729E677-A23F-A29E-45EE-905BCE0D8D91}"/>
              </a:ext>
            </a:extLst>
          </p:cNvPr>
          <p:cNvSpPr>
            <a:spLocks noGrp="1"/>
          </p:cNvSpPr>
          <p:nvPr>
            <p:ph idx="1"/>
          </p:nvPr>
        </p:nvSpPr>
        <p:spPr>
          <a:xfrm>
            <a:off x="2089535" y="2160589"/>
            <a:ext cx="4865966" cy="3880773"/>
          </a:xfrm>
        </p:spPr>
        <p:txBody>
          <a:bodyPr>
            <a:normAutofit/>
          </a:bodyPr>
          <a:lstStyle/>
          <a:p>
            <a:pPr marL="0" indent="0">
              <a:buNone/>
            </a:pPr>
            <a:r>
              <a:rPr lang="en-US" dirty="0"/>
              <a:t>An algorithm is a structured process for solving a problem.</a:t>
            </a:r>
          </a:p>
          <a:p>
            <a:pPr marL="0" indent="0">
              <a:buNone/>
            </a:pPr>
            <a:r>
              <a:rPr lang="en-US" dirty="0"/>
              <a:t>It should be:</a:t>
            </a:r>
          </a:p>
          <a:p>
            <a:pPr lvl="1"/>
            <a:r>
              <a:rPr lang="en-US" dirty="0"/>
              <a:t>clear</a:t>
            </a:r>
          </a:p>
          <a:p>
            <a:pPr lvl="1"/>
            <a:r>
              <a:rPr lang="en-US" dirty="0"/>
              <a:t>repeatable</a:t>
            </a:r>
          </a:p>
          <a:p>
            <a:pPr lvl="1"/>
            <a:r>
              <a:rPr lang="en-US" dirty="0"/>
              <a:t>testable</a:t>
            </a:r>
          </a:p>
          <a:p>
            <a:pPr lvl="1"/>
            <a:r>
              <a:rPr lang="en-US" dirty="0"/>
              <a:t>explainable</a:t>
            </a:r>
          </a:p>
          <a:p>
            <a:pPr lvl="1"/>
            <a:r>
              <a:rPr lang="en-US" dirty="0"/>
              <a:t>implementable</a:t>
            </a:r>
          </a:p>
          <a:p>
            <a:endParaRPr lang="en-US" dirty="0"/>
          </a:p>
        </p:txBody>
      </p:sp>
      <p:sp>
        <p:nvSpPr>
          <p:cNvPr id="3" name="Text Placeholder 3">
            <a:extLst>
              <a:ext uri="{FF2B5EF4-FFF2-40B4-BE49-F238E27FC236}">
                <a16:creationId xmlns:a16="http://schemas.microsoft.com/office/drawing/2014/main" id="{F85F1924-E7B7-D63D-AEF2-560B04790698}"/>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1856241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5D56B-B3EC-AA76-EBF5-79F19FA91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9C62E-5E23-5D8D-F40B-319B6FB99F3D}"/>
              </a:ext>
            </a:extLst>
          </p:cNvPr>
          <p:cNvSpPr>
            <a:spLocks noGrp="1"/>
          </p:cNvSpPr>
          <p:nvPr>
            <p:ph type="title"/>
          </p:nvPr>
        </p:nvSpPr>
        <p:spPr>
          <a:xfrm>
            <a:off x="2089535" y="1189369"/>
            <a:ext cx="4865966" cy="745462"/>
          </a:xfrm>
        </p:spPr>
        <p:txBody>
          <a:bodyPr>
            <a:normAutofit/>
          </a:bodyPr>
          <a:lstStyle/>
          <a:p>
            <a:r>
              <a:rPr lang="en-US" dirty="0"/>
              <a:t>Design and Coding</a:t>
            </a:r>
          </a:p>
        </p:txBody>
      </p:sp>
      <p:pic>
        <p:nvPicPr>
          <p:cNvPr id="5" name="Picture 4">
            <a:extLst>
              <a:ext uri="{FF2B5EF4-FFF2-40B4-BE49-F238E27FC236}">
                <a16:creationId xmlns:a16="http://schemas.microsoft.com/office/drawing/2014/main" id="{4D830A1F-5400-8DB4-161F-1BFC6E24E168}"/>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30D54B3E-E2B9-9B76-9DC4-ACD50BB3B335}"/>
              </a:ext>
            </a:extLst>
          </p:cNvPr>
          <p:cNvSpPr>
            <a:spLocks noGrp="1"/>
          </p:cNvSpPr>
          <p:nvPr>
            <p:ph idx="1"/>
          </p:nvPr>
        </p:nvSpPr>
        <p:spPr>
          <a:xfrm>
            <a:off x="2089535" y="2160589"/>
            <a:ext cx="4865966" cy="2071777"/>
          </a:xfrm>
        </p:spPr>
        <p:txBody>
          <a:bodyPr>
            <a:normAutofit/>
          </a:bodyPr>
          <a:lstStyle/>
          <a:p>
            <a:pPr marL="0" indent="0">
              <a:buNone/>
            </a:pPr>
            <a:r>
              <a:rPr lang="en-US" dirty="0"/>
              <a:t>Algorithm work has two connected phases:</a:t>
            </a:r>
          </a:p>
          <a:p>
            <a:pPr lvl="1"/>
            <a:r>
              <a:rPr lang="en-US" dirty="0"/>
              <a:t>Design: decide the logic</a:t>
            </a:r>
          </a:p>
          <a:p>
            <a:pPr lvl="1"/>
            <a:r>
              <a:rPr lang="en-US" dirty="0"/>
              <a:t>Coding: implement the logic</a:t>
            </a:r>
          </a:p>
          <a:p>
            <a:pPr marL="0" indent="0">
              <a:buNone/>
            </a:pPr>
            <a:br>
              <a:rPr lang="en-US" dirty="0"/>
            </a:br>
            <a:r>
              <a:rPr lang="en-US" dirty="0"/>
              <a:t>Good coding cannot fully rescue </a:t>
            </a:r>
            <a:r>
              <a:rPr lang="en-US" i="1" dirty="0"/>
              <a:t>unclear</a:t>
            </a:r>
            <a:r>
              <a:rPr lang="en-US" dirty="0"/>
              <a:t> design.</a:t>
            </a:r>
          </a:p>
          <a:p>
            <a:pPr marL="457200" lvl="1" indent="0">
              <a:buNone/>
            </a:pPr>
            <a:endParaRPr lang="en-US" dirty="0"/>
          </a:p>
          <a:p>
            <a:endParaRPr lang="en-US" dirty="0"/>
          </a:p>
        </p:txBody>
      </p:sp>
      <p:sp>
        <p:nvSpPr>
          <p:cNvPr id="3" name="Text Placeholder 3">
            <a:extLst>
              <a:ext uri="{FF2B5EF4-FFF2-40B4-BE49-F238E27FC236}">
                <a16:creationId xmlns:a16="http://schemas.microsoft.com/office/drawing/2014/main" id="{2D2F0AFB-D6CA-7229-0EAF-3BF61BA6AD03}"/>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3528213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D233-66E1-B90B-2D4B-D6DB21056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C7932-EAE0-D46D-CC98-F3433277D166}"/>
              </a:ext>
            </a:extLst>
          </p:cNvPr>
          <p:cNvSpPr>
            <a:spLocks noGrp="1"/>
          </p:cNvSpPr>
          <p:nvPr>
            <p:ph type="title"/>
          </p:nvPr>
        </p:nvSpPr>
        <p:spPr>
          <a:xfrm>
            <a:off x="2089535" y="1189369"/>
            <a:ext cx="4865966" cy="745462"/>
          </a:xfrm>
        </p:spPr>
        <p:txBody>
          <a:bodyPr>
            <a:normAutofit/>
          </a:bodyPr>
          <a:lstStyle/>
          <a:p>
            <a:r>
              <a:rPr lang="en-US" dirty="0"/>
              <a:t>Requirements</a:t>
            </a:r>
          </a:p>
        </p:txBody>
      </p:sp>
      <p:pic>
        <p:nvPicPr>
          <p:cNvPr id="5" name="Picture 4">
            <a:extLst>
              <a:ext uri="{FF2B5EF4-FFF2-40B4-BE49-F238E27FC236}">
                <a16:creationId xmlns:a16="http://schemas.microsoft.com/office/drawing/2014/main" id="{859871DF-9A01-DD64-66BE-AD02097EBD59}"/>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099E1AA1-3F93-EBFA-0D03-A617CE83003F}"/>
              </a:ext>
            </a:extLst>
          </p:cNvPr>
          <p:cNvSpPr>
            <a:spLocks noGrp="1"/>
          </p:cNvSpPr>
          <p:nvPr>
            <p:ph idx="1"/>
          </p:nvPr>
        </p:nvSpPr>
        <p:spPr>
          <a:xfrm>
            <a:off x="2089535" y="2160589"/>
            <a:ext cx="4865966" cy="3077617"/>
          </a:xfrm>
        </p:spPr>
        <p:txBody>
          <a:bodyPr>
            <a:normAutofit/>
          </a:bodyPr>
          <a:lstStyle/>
          <a:p>
            <a:pPr marL="0" indent="0">
              <a:buNone/>
            </a:pPr>
            <a:r>
              <a:rPr lang="en-US" b="1" i="1" dirty="0">
                <a:solidFill>
                  <a:srgbClr val="7030A0"/>
                </a:solidFill>
              </a:rPr>
              <a:t>Functional</a:t>
            </a:r>
            <a:r>
              <a:rPr lang="en-US" i="1" dirty="0"/>
              <a:t> </a:t>
            </a:r>
            <a:r>
              <a:rPr lang="en-US" dirty="0"/>
              <a:t>requirements:</a:t>
            </a:r>
          </a:p>
          <a:p>
            <a:r>
              <a:rPr lang="en-US" dirty="0"/>
              <a:t>What result should the algorithm produce?</a:t>
            </a:r>
          </a:p>
          <a:p>
            <a:pPr marL="0" indent="0">
              <a:buNone/>
            </a:pPr>
            <a:br>
              <a:rPr lang="en-US" dirty="0"/>
            </a:br>
            <a:r>
              <a:rPr lang="en-US" b="1" i="1" dirty="0">
                <a:solidFill>
                  <a:srgbClr val="7030A0"/>
                </a:solidFill>
              </a:rPr>
              <a:t>Non-functional</a:t>
            </a:r>
            <a:r>
              <a:rPr lang="en-US" b="1" i="1" dirty="0"/>
              <a:t> </a:t>
            </a:r>
            <a:r>
              <a:rPr lang="en-US" dirty="0"/>
              <a:t>requirements:</a:t>
            </a:r>
          </a:p>
          <a:p>
            <a:r>
              <a:rPr lang="en-US" dirty="0"/>
              <a:t>How well should it perform?</a:t>
            </a:r>
          </a:p>
          <a:p>
            <a:r>
              <a:rPr lang="en-US" dirty="0"/>
              <a:t>How readable should it be?</a:t>
            </a:r>
          </a:p>
          <a:p>
            <a:r>
              <a:rPr lang="en-US" dirty="0"/>
              <a:t>How well should it handle growth?</a:t>
            </a:r>
          </a:p>
          <a:p>
            <a:pPr marL="457200" lvl="1" indent="0">
              <a:buNone/>
            </a:pPr>
            <a:endParaRPr lang="en-US" dirty="0"/>
          </a:p>
          <a:p>
            <a:endParaRPr lang="en-US" dirty="0"/>
          </a:p>
        </p:txBody>
      </p:sp>
      <p:sp>
        <p:nvSpPr>
          <p:cNvPr id="3" name="Text Placeholder 3">
            <a:extLst>
              <a:ext uri="{FF2B5EF4-FFF2-40B4-BE49-F238E27FC236}">
                <a16:creationId xmlns:a16="http://schemas.microsoft.com/office/drawing/2014/main" id="{A539F3A2-E104-8A8B-06DE-74970D19F1C5}"/>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2463571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EEF5B-905E-25CF-CB92-4C35BC779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3ED54-27B7-0EB5-7E94-24EADA2A37E7}"/>
              </a:ext>
            </a:extLst>
          </p:cNvPr>
          <p:cNvSpPr>
            <a:spLocks noGrp="1"/>
          </p:cNvSpPr>
          <p:nvPr>
            <p:ph type="title"/>
          </p:nvPr>
        </p:nvSpPr>
        <p:spPr>
          <a:xfrm>
            <a:off x="2089535" y="1189369"/>
            <a:ext cx="4865966" cy="745462"/>
          </a:xfrm>
        </p:spPr>
        <p:txBody>
          <a:bodyPr>
            <a:normAutofit fontScale="90000"/>
          </a:bodyPr>
          <a:lstStyle/>
          <a:p>
            <a:r>
              <a:rPr lang="en-US" dirty="0"/>
              <a:t>Three Design Questions</a:t>
            </a:r>
          </a:p>
        </p:txBody>
      </p:sp>
      <p:pic>
        <p:nvPicPr>
          <p:cNvPr id="5" name="Picture 4">
            <a:extLst>
              <a:ext uri="{FF2B5EF4-FFF2-40B4-BE49-F238E27FC236}">
                <a16:creationId xmlns:a16="http://schemas.microsoft.com/office/drawing/2014/main" id="{8E454546-9CD4-2113-26C9-3CA376369EBB}"/>
              </a:ext>
            </a:extLst>
          </p:cNvPr>
          <p:cNvPicPr>
            <a:picLocks noChangeAspect="1"/>
          </p:cNvPicPr>
          <p:nvPr/>
        </p:nvPicPr>
        <p:blipFill>
          <a:blip r:embed="rId3">
            <a:duotone>
              <a:prstClr val="black"/>
              <a:schemeClr val="tx2">
                <a:tint val="45000"/>
                <a:satMod val="400000"/>
              </a:schemeClr>
            </a:duotone>
          </a:blip>
          <a:srcRect l="17145" r="17145"/>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3" name="Content Placeholder 2">
            <a:extLst>
              <a:ext uri="{FF2B5EF4-FFF2-40B4-BE49-F238E27FC236}">
                <a16:creationId xmlns:a16="http://schemas.microsoft.com/office/drawing/2014/main" id="{29EB6E25-BF79-796C-D1DA-E749CD8D8F71}"/>
              </a:ext>
            </a:extLst>
          </p:cNvPr>
          <p:cNvSpPr>
            <a:spLocks noGrp="1"/>
          </p:cNvSpPr>
          <p:nvPr>
            <p:ph idx="1"/>
          </p:nvPr>
        </p:nvSpPr>
        <p:spPr>
          <a:xfrm>
            <a:off x="2089535" y="2160589"/>
            <a:ext cx="4865966" cy="3077617"/>
          </a:xfrm>
        </p:spPr>
        <p:txBody>
          <a:bodyPr>
            <a:normAutofit/>
          </a:bodyPr>
          <a:lstStyle/>
          <a:p>
            <a:pPr marL="0" indent="0">
              <a:buNone/>
            </a:pPr>
            <a:r>
              <a:rPr lang="en-US" sz="2000" dirty="0"/>
              <a:t>When designing an algorithm, ask:</a:t>
            </a:r>
            <a:br>
              <a:rPr lang="en-US" dirty="0"/>
            </a:br>
            <a:endParaRPr lang="en-US" dirty="0"/>
          </a:p>
          <a:p>
            <a:pPr>
              <a:buFont typeface="+mj-lt"/>
              <a:buAutoNum type="arabicPeriod"/>
            </a:pPr>
            <a:r>
              <a:rPr lang="en-US" dirty="0"/>
              <a:t>Does it produce the expected result?</a:t>
            </a:r>
          </a:p>
          <a:p>
            <a:pPr>
              <a:buFont typeface="+mj-lt"/>
              <a:buAutoNum type="arabicPeriod"/>
            </a:pPr>
            <a:r>
              <a:rPr lang="en-US" dirty="0"/>
              <a:t>Is this a reasonable way to get the result?</a:t>
            </a:r>
          </a:p>
          <a:p>
            <a:pPr>
              <a:buFont typeface="+mj-lt"/>
              <a:buAutoNum type="arabicPeriod"/>
            </a:pPr>
            <a:r>
              <a:rPr lang="en-US" dirty="0"/>
              <a:t>What happens when the data gets larger?</a:t>
            </a:r>
          </a:p>
        </p:txBody>
      </p:sp>
      <p:sp>
        <p:nvSpPr>
          <p:cNvPr id="3" name="Text Placeholder 3">
            <a:extLst>
              <a:ext uri="{FF2B5EF4-FFF2-40B4-BE49-F238E27FC236}">
                <a16:creationId xmlns:a16="http://schemas.microsoft.com/office/drawing/2014/main" id="{8AF8C54C-499A-2C31-734D-E078FF391B9B}"/>
              </a:ext>
            </a:extLst>
          </p:cNvPr>
          <p:cNvSpPr txBox="1">
            <a:spLocks/>
          </p:cNvSpPr>
          <p:nvPr/>
        </p:nvSpPr>
        <p:spPr>
          <a:xfrm>
            <a:off x="1835960" y="213080"/>
            <a:ext cx="2686558" cy="5003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i="1" dirty="0"/>
              <a:t>Textbook Review</a:t>
            </a:r>
            <a:endParaRPr lang="en-US" sz="2000" i="1" dirty="0"/>
          </a:p>
          <a:p>
            <a:endParaRPr lang="en-US" dirty="0"/>
          </a:p>
        </p:txBody>
      </p:sp>
    </p:spTree>
    <p:extLst>
      <p:ext uri="{BB962C8B-B14F-4D97-AF65-F5344CB8AC3E}">
        <p14:creationId xmlns:p14="http://schemas.microsoft.com/office/powerpoint/2010/main" val="3438553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 name="Picture 4" descr="Water droplet on a petal">
            <a:extLst>
              <a:ext uri="{FF2B5EF4-FFF2-40B4-BE49-F238E27FC236}">
                <a16:creationId xmlns:a16="http://schemas.microsoft.com/office/drawing/2014/main" id="{5F4F740B-5BD9-D54C-0121-6826E6EDB6F3}"/>
              </a:ext>
            </a:extLst>
          </p:cNvPr>
          <p:cNvPicPr>
            <a:picLocks noChangeAspect="1"/>
          </p:cNvPicPr>
          <p:nvPr/>
        </p:nvPicPr>
        <p:blipFill>
          <a:blip r:embed="rId3">
            <a:duotone>
              <a:prstClr val="black"/>
              <a:prstClr val="white"/>
            </a:duotone>
          </a:blip>
          <a:srcRect l="33485" r="22823"/>
          <a:stretch>
            <a:fillRect/>
          </a:stretch>
        </p:blipFill>
        <p:spPr>
          <a:xfrm>
            <a:off x="3814762" y="-1"/>
            <a:ext cx="5326856" cy="6858001"/>
          </a:xfrm>
          <a:custGeom>
            <a:avLst/>
            <a:gdLst/>
            <a:ahLst/>
            <a:cxnLst/>
            <a:rect l="l" t="t" r="r" b="b"/>
            <a:pathLst>
              <a:path w="7102474" h="6858001">
                <a:moveTo>
                  <a:pt x="417180" y="0"/>
                </a:moveTo>
                <a:lnTo>
                  <a:pt x="7102474" y="0"/>
                </a:lnTo>
                <a:lnTo>
                  <a:pt x="7102474" y="6858001"/>
                </a:lnTo>
                <a:lnTo>
                  <a:pt x="65002" y="6858001"/>
                </a:lnTo>
                <a:lnTo>
                  <a:pt x="1840421" y="4521201"/>
                </a:lnTo>
                <a:close/>
                <a:moveTo>
                  <a:pt x="0" y="0"/>
                </a:moveTo>
                <a:lnTo>
                  <a:pt x="417180" y="0"/>
                </a:lnTo>
                <a:lnTo>
                  <a:pt x="0" y="447"/>
                </a:lnTo>
                <a:close/>
              </a:path>
            </a:pathLst>
          </a:custGeom>
        </p:spPr>
      </p:pic>
      <p:sp>
        <p:nvSpPr>
          <p:cNvPr id="2" name="Title 1">
            <a:extLst>
              <a:ext uri="{FF2B5EF4-FFF2-40B4-BE49-F238E27FC236}">
                <a16:creationId xmlns:a16="http://schemas.microsoft.com/office/drawing/2014/main" id="{7E6A1460-69EA-A1B0-F58D-CF4B71BD744F}"/>
              </a:ext>
            </a:extLst>
          </p:cNvPr>
          <p:cNvSpPr>
            <a:spLocks noGrp="1"/>
          </p:cNvSpPr>
          <p:nvPr>
            <p:ph type="title"/>
          </p:nvPr>
        </p:nvSpPr>
        <p:spPr>
          <a:xfrm>
            <a:off x="501649" y="1678666"/>
            <a:ext cx="3842636" cy="2369093"/>
          </a:xfrm>
        </p:spPr>
        <p:txBody>
          <a:bodyPr vert="horz" lIns="91440" tIns="45720" rIns="91440" bIns="45720" rtlCol="0" anchor="b">
            <a:normAutofit/>
          </a:bodyPr>
          <a:lstStyle/>
          <a:p>
            <a:pPr algn="r"/>
            <a:r>
              <a:rPr lang="en-US" sz="4200" dirty="0"/>
              <a:t>Algorithmic Meaning</a:t>
            </a:r>
          </a:p>
        </p:txBody>
      </p:sp>
      <p:sp>
        <p:nvSpPr>
          <p:cNvPr id="3" name="Text Placeholder 2">
            <a:extLst>
              <a:ext uri="{FF2B5EF4-FFF2-40B4-BE49-F238E27FC236}">
                <a16:creationId xmlns:a16="http://schemas.microsoft.com/office/drawing/2014/main" id="{507E81F0-6D6E-8BAE-8D09-8A0332FA3ED4}"/>
              </a:ext>
            </a:extLst>
          </p:cNvPr>
          <p:cNvSpPr>
            <a:spLocks noGrp="1"/>
          </p:cNvSpPr>
          <p:nvPr>
            <p:ph type="body" idx="1"/>
          </p:nvPr>
        </p:nvSpPr>
        <p:spPr>
          <a:xfrm>
            <a:off x="508001" y="4050831"/>
            <a:ext cx="3834913" cy="1096901"/>
          </a:xfrm>
        </p:spPr>
        <p:txBody>
          <a:bodyPr vert="horz" lIns="91440" tIns="45720" rIns="91440" bIns="45720" rtlCol="0" anchor="t">
            <a:normAutofit/>
          </a:bodyPr>
          <a:lstStyle/>
          <a:p>
            <a:pPr algn="r"/>
            <a:r>
              <a:rPr lang="en-US" sz="1400" dirty="0"/>
              <a:t>“Algorithm" names the reasoning pattern, </a:t>
            </a:r>
            <a:br>
              <a:rPr lang="en-US" sz="1400" dirty="0"/>
            </a:br>
            <a:r>
              <a:rPr lang="en-US" sz="1400" dirty="0"/>
              <a:t>not only the final code.</a:t>
            </a:r>
          </a:p>
          <a:p>
            <a:pPr algn="r"/>
            <a:endParaRPr lang="en-US" sz="1400" dirty="0"/>
          </a:p>
        </p:txBody>
      </p:sp>
      <p:cxnSp>
        <p:nvCxnSpPr>
          <p:cNvPr id="21" name="Straight Connector 20">
            <a:extLst>
              <a:ext uri="{FF2B5EF4-FFF2-40B4-BE49-F238E27FC236}">
                <a16:creationId xmlns:a16="http://schemas.microsoft.com/office/drawing/2014/main" id="{A3D2D849-17D8-45A4-9FB8-B955CD22BD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A0A4A95-757B-4092-A077-CA7C3ADE49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2D2FAE71-B8B1-4745-A59A-A88D3FE48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E4C67344-C816-4380-85F7-CCFD7F8BA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4">
            <a:extLst>
              <a:ext uri="{FF2B5EF4-FFF2-40B4-BE49-F238E27FC236}">
                <a16:creationId xmlns:a16="http://schemas.microsoft.com/office/drawing/2014/main" id="{5A0B04CD-E5BD-4922-BE66-2D5B3A0DEF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7">
            <a:extLst>
              <a:ext uri="{FF2B5EF4-FFF2-40B4-BE49-F238E27FC236}">
                <a16:creationId xmlns:a16="http://schemas.microsoft.com/office/drawing/2014/main" id="{CF4C9BE8-5C78-476D-9042-ECD8BE635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8">
            <a:extLst>
              <a:ext uri="{FF2B5EF4-FFF2-40B4-BE49-F238E27FC236}">
                <a16:creationId xmlns:a16="http://schemas.microsoft.com/office/drawing/2014/main" id="{7D6A31B3-BF49-4DB2-8306-DD2E4B889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9">
            <a:extLst>
              <a:ext uri="{FF2B5EF4-FFF2-40B4-BE49-F238E27FC236}">
                <a16:creationId xmlns:a16="http://schemas.microsoft.com/office/drawing/2014/main" id="{A903E87B-DD97-4095-B106-3218D6AF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29">
            <a:extLst>
              <a:ext uri="{FF2B5EF4-FFF2-40B4-BE49-F238E27FC236}">
                <a16:creationId xmlns:a16="http://schemas.microsoft.com/office/drawing/2014/main" id="{954CB26F-45F0-4288-A3B1-32535127B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54029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ED635-C8E7-AA54-F1C7-B5E59D379434}"/>
              </a:ext>
            </a:extLst>
          </p:cNvPr>
          <p:cNvSpPr>
            <a:spLocks noGrp="1"/>
          </p:cNvSpPr>
          <p:nvPr>
            <p:ph type="title"/>
          </p:nvPr>
        </p:nvSpPr>
        <p:spPr>
          <a:xfrm>
            <a:off x="508000" y="609600"/>
            <a:ext cx="6447501" cy="735874"/>
          </a:xfrm>
        </p:spPr>
        <p:txBody>
          <a:bodyPr>
            <a:normAutofit/>
          </a:bodyPr>
          <a:lstStyle/>
          <a:p>
            <a:r>
              <a:rPr lang="en-US" dirty="0"/>
              <a:t>An Algorithm is A Procedure</a:t>
            </a:r>
          </a:p>
        </p:txBody>
      </p:sp>
      <p:graphicFrame>
        <p:nvGraphicFramePr>
          <p:cNvPr id="5" name="Content Placeholder 2">
            <a:extLst>
              <a:ext uri="{FF2B5EF4-FFF2-40B4-BE49-F238E27FC236}">
                <a16:creationId xmlns:a16="http://schemas.microsoft.com/office/drawing/2014/main" id="{656DD0B5-7D9C-792A-05E8-0BDE1B3C1F9A}"/>
              </a:ext>
            </a:extLst>
          </p:cNvPr>
          <p:cNvGraphicFramePr>
            <a:graphicFrameLocks noGrp="1"/>
          </p:cNvGraphicFramePr>
          <p:nvPr>
            <p:ph idx="1"/>
            <p:extLst>
              <p:ext uri="{D42A27DB-BD31-4B8C-83A1-F6EECF244321}">
                <p14:modId xmlns:p14="http://schemas.microsoft.com/office/powerpoint/2010/main" val="3371555560"/>
              </p:ext>
            </p:extLst>
          </p:nvPr>
        </p:nvGraphicFramePr>
        <p:xfrm>
          <a:off x="508397" y="2160588"/>
          <a:ext cx="6447234"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CE5B5C71-5916-CACD-1AC9-26B5A47F3F7B}"/>
              </a:ext>
            </a:extLst>
          </p:cNvPr>
          <p:cNvSpPr txBox="1"/>
          <p:nvPr/>
        </p:nvSpPr>
        <p:spPr>
          <a:xfrm>
            <a:off x="955892" y="1568365"/>
            <a:ext cx="5551715" cy="369332"/>
          </a:xfrm>
          <a:prstGeom prst="rect">
            <a:avLst/>
          </a:prstGeom>
          <a:noFill/>
        </p:spPr>
        <p:txBody>
          <a:bodyPr wrap="square" rtlCol="0">
            <a:spAutoFit/>
          </a:bodyPr>
          <a:lstStyle/>
          <a:p>
            <a:pPr algn="ctr"/>
            <a:r>
              <a:rPr lang="en-US" dirty="0"/>
              <a:t>It Answers:</a:t>
            </a:r>
          </a:p>
        </p:txBody>
      </p:sp>
    </p:spTree>
    <p:extLst>
      <p:ext uri="{BB962C8B-B14F-4D97-AF65-F5344CB8AC3E}">
        <p14:creationId xmlns:p14="http://schemas.microsoft.com/office/powerpoint/2010/main" val="105115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CA1440-FC3A-270F-096E-39016A32507A}"/>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2F4CD188-276B-C767-052C-9305AAF78F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31" name="Straight Connector 30">
              <a:extLst>
                <a:ext uri="{FF2B5EF4-FFF2-40B4-BE49-F238E27FC236}">
                  <a16:creationId xmlns:a16="http://schemas.microsoft.com/office/drawing/2014/main" id="{B166DBF5-7421-BB1D-86B5-F903D43E293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E2C45EA-B216-CE74-88CE-B41F78DD55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17FC1B2B-8325-AE72-3450-4E6A0FA9E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5">
              <a:extLst>
                <a:ext uri="{FF2B5EF4-FFF2-40B4-BE49-F238E27FC236}">
                  <a16:creationId xmlns:a16="http://schemas.microsoft.com/office/drawing/2014/main" id="{B052A2F6-97C8-205D-89DF-AE15C46B2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Isosceles Triangle 34">
              <a:extLst>
                <a:ext uri="{FF2B5EF4-FFF2-40B4-BE49-F238E27FC236}">
                  <a16:creationId xmlns:a16="http://schemas.microsoft.com/office/drawing/2014/main" id="{FAABA61A-00E9-E6EF-4A2E-BE042B565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7">
              <a:extLst>
                <a:ext uri="{FF2B5EF4-FFF2-40B4-BE49-F238E27FC236}">
                  <a16:creationId xmlns:a16="http://schemas.microsoft.com/office/drawing/2014/main" id="{BA9F1D60-BF23-0E70-E5A2-3CFE4BE8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8">
              <a:extLst>
                <a:ext uri="{FF2B5EF4-FFF2-40B4-BE49-F238E27FC236}">
                  <a16:creationId xmlns:a16="http://schemas.microsoft.com/office/drawing/2014/main" id="{7351803C-EC69-A2B2-443F-630953E2E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9">
              <a:extLst>
                <a:ext uri="{FF2B5EF4-FFF2-40B4-BE49-F238E27FC236}">
                  <a16:creationId xmlns:a16="http://schemas.microsoft.com/office/drawing/2014/main" id="{0BA812E2-FD06-D403-29EB-8B42800EED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38">
              <a:extLst>
                <a:ext uri="{FF2B5EF4-FFF2-40B4-BE49-F238E27FC236}">
                  <a16:creationId xmlns:a16="http://schemas.microsoft.com/office/drawing/2014/main" id="{D61289D5-A95C-6C59-4C1E-D52052AB9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Isosceles Triangle 39">
              <a:extLst>
                <a:ext uri="{FF2B5EF4-FFF2-40B4-BE49-F238E27FC236}">
                  <a16:creationId xmlns:a16="http://schemas.microsoft.com/office/drawing/2014/main" id="{9FE683F3-519F-92A6-E67C-AF8C1190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2" name="Rectangle 41">
            <a:extLst>
              <a:ext uri="{FF2B5EF4-FFF2-40B4-BE49-F238E27FC236}">
                <a16:creationId xmlns:a16="http://schemas.microsoft.com/office/drawing/2014/main" id="{187AB0BF-EEAC-B67C-A928-89C2311CF3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D1FB2AB3-BB51-90C4-EF5A-65DC7CAFE7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45" name="Straight Connector 44">
              <a:extLst>
                <a:ext uri="{FF2B5EF4-FFF2-40B4-BE49-F238E27FC236}">
                  <a16:creationId xmlns:a16="http://schemas.microsoft.com/office/drawing/2014/main" id="{9C79264C-3FDC-B7E0-58D3-0E84C9AFE0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6" name="Rectangle 23">
              <a:extLst>
                <a:ext uri="{FF2B5EF4-FFF2-40B4-BE49-F238E27FC236}">
                  <a16:creationId xmlns:a16="http://schemas.microsoft.com/office/drawing/2014/main" id="{35B87D84-E130-A56B-F0B7-82FF30D577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25">
              <a:extLst>
                <a:ext uri="{FF2B5EF4-FFF2-40B4-BE49-F238E27FC236}">
                  <a16:creationId xmlns:a16="http://schemas.microsoft.com/office/drawing/2014/main" id="{24249B76-7B39-544F-2881-D3DDCB3551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Isosceles Triangle 47">
              <a:extLst>
                <a:ext uri="{FF2B5EF4-FFF2-40B4-BE49-F238E27FC236}">
                  <a16:creationId xmlns:a16="http://schemas.microsoft.com/office/drawing/2014/main" id="{D3A4ADEF-B1B6-E9C4-AB8C-CDD200B70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27">
              <a:extLst>
                <a:ext uri="{FF2B5EF4-FFF2-40B4-BE49-F238E27FC236}">
                  <a16:creationId xmlns:a16="http://schemas.microsoft.com/office/drawing/2014/main" id="{10FCC0AE-F953-300D-9903-D1A52DE176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28">
              <a:extLst>
                <a:ext uri="{FF2B5EF4-FFF2-40B4-BE49-F238E27FC236}">
                  <a16:creationId xmlns:a16="http://schemas.microsoft.com/office/drawing/2014/main" id="{629E7BC3-C1B8-CF04-55A0-2213BC07F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Rectangle 29">
              <a:extLst>
                <a:ext uri="{FF2B5EF4-FFF2-40B4-BE49-F238E27FC236}">
                  <a16:creationId xmlns:a16="http://schemas.microsoft.com/office/drawing/2014/main" id="{F7352093-34FB-AE8B-FB2E-0D0A691E9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Isosceles Triangle 51">
              <a:extLst>
                <a:ext uri="{FF2B5EF4-FFF2-40B4-BE49-F238E27FC236}">
                  <a16:creationId xmlns:a16="http://schemas.microsoft.com/office/drawing/2014/main" id="{3982DD0E-AF9A-0606-5CA3-2D8870F9C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Isosceles Triangle 52">
              <a:extLst>
                <a:ext uri="{FF2B5EF4-FFF2-40B4-BE49-F238E27FC236}">
                  <a16:creationId xmlns:a16="http://schemas.microsoft.com/office/drawing/2014/main" id="{92D7EB66-453D-217F-FE57-A0676B91A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55" name="Rectangle 54">
            <a:extLst>
              <a:ext uri="{FF2B5EF4-FFF2-40B4-BE49-F238E27FC236}">
                <a16:creationId xmlns:a16="http://schemas.microsoft.com/office/drawing/2014/main" id="{45D71FD4-572B-228D-AAC8-1778D2B7C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1158E702-26BC-E2DE-4F7A-7AA8F524758B}"/>
              </a:ext>
            </a:extLst>
          </p:cNvPr>
          <p:cNvPicPr>
            <a:picLocks noGrp="1" noChangeAspect="1"/>
          </p:cNvPicPr>
          <p:nvPr>
            <p:ph idx="1"/>
          </p:nvPr>
        </p:nvPicPr>
        <p:blipFill>
          <a:blip r:embed="rId3"/>
          <a:srcRect/>
          <a:stretch/>
        </p:blipFill>
        <p:spPr>
          <a:xfrm>
            <a:off x="688640" y="782755"/>
            <a:ext cx="7845760" cy="5237045"/>
          </a:xfrm>
          <a:prstGeom prst="rect">
            <a:avLst/>
          </a:prstGeom>
        </p:spPr>
      </p:pic>
    </p:spTree>
    <p:extLst>
      <p:ext uri="{BB962C8B-B14F-4D97-AF65-F5344CB8AC3E}">
        <p14:creationId xmlns:p14="http://schemas.microsoft.com/office/powerpoint/2010/main" val="1568781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1" name="Rectangle 20">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Isosceles Triangle 34">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Freeform: Shape 41">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BA24D5C-3247-FD2A-973B-33173C1DE794}"/>
              </a:ext>
            </a:extLst>
          </p:cNvPr>
          <p:cNvSpPr>
            <a:spLocks noGrp="1"/>
          </p:cNvSpPr>
          <p:nvPr>
            <p:ph type="title"/>
          </p:nvPr>
        </p:nvSpPr>
        <p:spPr>
          <a:xfrm>
            <a:off x="5386292" y="609600"/>
            <a:ext cx="3384742" cy="2227730"/>
          </a:xfrm>
        </p:spPr>
        <p:txBody>
          <a:bodyPr anchor="ctr">
            <a:normAutofit/>
          </a:bodyPr>
          <a:lstStyle/>
          <a:p>
            <a:r>
              <a:rPr lang="en-US">
                <a:solidFill>
                  <a:srgbClr val="FFFFFF"/>
                </a:solidFill>
              </a:rPr>
              <a:t>“So, What Makes it Algorithmic?”</a:t>
            </a:r>
          </a:p>
        </p:txBody>
      </p:sp>
      <p:pic>
        <p:nvPicPr>
          <p:cNvPr id="5" name="Picture 4" descr="Complex math formulas on a blackboard">
            <a:extLst>
              <a:ext uri="{FF2B5EF4-FFF2-40B4-BE49-F238E27FC236}">
                <a16:creationId xmlns:a16="http://schemas.microsoft.com/office/drawing/2014/main" id="{3319736F-1665-12EF-736D-2A5F18FE3DF5}"/>
              </a:ext>
            </a:extLst>
          </p:cNvPr>
          <p:cNvPicPr>
            <a:picLocks noChangeAspect="1"/>
          </p:cNvPicPr>
          <p:nvPr/>
        </p:nvPicPr>
        <p:blipFill>
          <a:blip r:embed="rId3"/>
          <a:srcRect l="35427" r="21503" b="-1"/>
          <a:stretch>
            <a:fillRect/>
          </a:stretch>
        </p:blipFill>
        <p:spPr>
          <a:xfrm>
            <a:off x="654262" y="1168399"/>
            <a:ext cx="2719933" cy="4610101"/>
          </a:xfrm>
          <a:prstGeom prst="rect">
            <a:avLst/>
          </a:prstGeom>
        </p:spPr>
      </p:pic>
      <p:sp>
        <p:nvSpPr>
          <p:cNvPr id="3" name="Content Placeholder 2">
            <a:extLst>
              <a:ext uri="{FF2B5EF4-FFF2-40B4-BE49-F238E27FC236}">
                <a16:creationId xmlns:a16="http://schemas.microsoft.com/office/drawing/2014/main" id="{BCA7D7BD-5EEA-3934-7571-A6854279909E}"/>
              </a:ext>
            </a:extLst>
          </p:cNvPr>
          <p:cNvSpPr>
            <a:spLocks noGrp="1"/>
          </p:cNvSpPr>
          <p:nvPr>
            <p:ph idx="1"/>
          </p:nvPr>
        </p:nvSpPr>
        <p:spPr>
          <a:xfrm>
            <a:off x="5386293" y="2837329"/>
            <a:ext cx="3384741" cy="3317938"/>
          </a:xfrm>
        </p:spPr>
        <p:txBody>
          <a:bodyPr anchor="t">
            <a:normAutofit/>
          </a:bodyPr>
          <a:lstStyle/>
          <a:p>
            <a:pPr marL="0" indent="0">
              <a:buNone/>
            </a:pPr>
            <a:r>
              <a:rPr lang="en-US">
                <a:solidFill>
                  <a:srgbClr val="FFFFFF"/>
                </a:solidFill>
              </a:rPr>
              <a:t>The process must be</a:t>
            </a:r>
          </a:p>
          <a:p>
            <a:r>
              <a:rPr lang="en-US">
                <a:solidFill>
                  <a:srgbClr val="FFFFFF"/>
                </a:solidFill>
              </a:rPr>
              <a:t>Ordered</a:t>
            </a:r>
          </a:p>
          <a:p>
            <a:r>
              <a:rPr lang="en-US">
                <a:solidFill>
                  <a:srgbClr val="FFFFFF"/>
                </a:solidFill>
              </a:rPr>
              <a:t>Precise</a:t>
            </a:r>
          </a:p>
          <a:p>
            <a:r>
              <a:rPr lang="en-US">
                <a:solidFill>
                  <a:srgbClr val="FFFFFF"/>
                </a:solidFill>
              </a:rPr>
              <a:t>Repeatable</a:t>
            </a:r>
          </a:p>
          <a:p>
            <a:r>
              <a:rPr lang="en-US">
                <a:solidFill>
                  <a:srgbClr val="FFFFFF"/>
                </a:solidFill>
              </a:rPr>
              <a:t>Testable</a:t>
            </a:r>
          </a:p>
          <a:p>
            <a:r>
              <a:rPr lang="en-US">
                <a:solidFill>
                  <a:srgbClr val="FFFFFF"/>
                </a:solidFill>
              </a:rPr>
              <a:t>Connected to a result</a:t>
            </a:r>
          </a:p>
        </p:txBody>
      </p:sp>
    </p:spTree>
    <p:extLst>
      <p:ext uri="{BB962C8B-B14F-4D97-AF65-F5344CB8AC3E}">
        <p14:creationId xmlns:p14="http://schemas.microsoft.com/office/powerpoint/2010/main" val="1349948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CD666-7EA0-F8A9-8D9F-03B9A2D5B93D}"/>
              </a:ext>
            </a:extLst>
          </p:cNvPr>
          <p:cNvSpPr>
            <a:spLocks noGrp="1"/>
          </p:cNvSpPr>
          <p:nvPr>
            <p:ph type="title"/>
          </p:nvPr>
        </p:nvSpPr>
        <p:spPr/>
        <p:txBody>
          <a:bodyPr/>
          <a:lstStyle/>
          <a:p>
            <a:r>
              <a:rPr lang="en-US" dirty="0"/>
              <a:t>Vague Instructions Hide Decisions</a:t>
            </a:r>
          </a:p>
        </p:txBody>
      </p:sp>
      <p:graphicFrame>
        <p:nvGraphicFramePr>
          <p:cNvPr id="5" name="Content Placeholder 2">
            <a:extLst>
              <a:ext uri="{FF2B5EF4-FFF2-40B4-BE49-F238E27FC236}">
                <a16:creationId xmlns:a16="http://schemas.microsoft.com/office/drawing/2014/main" id="{30CA32D8-7C08-C23E-1F07-CCF724E4597C}"/>
              </a:ext>
            </a:extLst>
          </p:cNvPr>
          <p:cNvGraphicFramePr>
            <a:graphicFrameLocks noGrp="1"/>
          </p:cNvGraphicFramePr>
          <p:nvPr>
            <p:ph idx="1"/>
            <p:extLst>
              <p:ext uri="{D42A27DB-BD31-4B8C-83A1-F6EECF244321}">
                <p14:modId xmlns:p14="http://schemas.microsoft.com/office/powerpoint/2010/main" val="1476731021"/>
              </p:ext>
            </p:extLst>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0595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80053EEE-34CB-E251-B839-C0ACA834247C}"/>
              </a:ext>
            </a:extLst>
          </p:cNvPr>
          <p:cNvSpPr>
            <a:spLocks noGrp="1"/>
          </p:cNvSpPr>
          <p:nvPr>
            <p:ph type="title"/>
          </p:nvPr>
        </p:nvSpPr>
        <p:spPr>
          <a:xfrm>
            <a:off x="3730752" y="1265314"/>
            <a:ext cx="3224750" cy="3249131"/>
          </a:xfrm>
        </p:spPr>
        <p:txBody>
          <a:bodyPr vert="horz" lIns="91440" tIns="45720" rIns="91440" bIns="45720" rtlCol="0" anchor="b">
            <a:normAutofit/>
          </a:bodyPr>
          <a:lstStyle/>
          <a:p>
            <a:r>
              <a:rPr lang="en-US" sz="5400" dirty="0"/>
              <a:t>Design Before Coding</a:t>
            </a:r>
          </a:p>
        </p:txBody>
      </p:sp>
      <p:sp>
        <p:nvSpPr>
          <p:cNvPr id="3" name="Text Placeholder 2">
            <a:extLst>
              <a:ext uri="{FF2B5EF4-FFF2-40B4-BE49-F238E27FC236}">
                <a16:creationId xmlns:a16="http://schemas.microsoft.com/office/drawing/2014/main" id="{4699E21F-4F61-D168-5704-254D53307964}"/>
              </a:ext>
            </a:extLst>
          </p:cNvPr>
          <p:cNvSpPr>
            <a:spLocks noGrp="1"/>
          </p:cNvSpPr>
          <p:nvPr>
            <p:ph type="body" idx="1"/>
          </p:nvPr>
        </p:nvSpPr>
        <p:spPr>
          <a:xfrm>
            <a:off x="3730752" y="4514446"/>
            <a:ext cx="3224749" cy="871042"/>
          </a:xfrm>
        </p:spPr>
        <p:txBody>
          <a:bodyPr vert="horz" lIns="91440" tIns="45720" rIns="91440" bIns="45720" rtlCol="0" anchor="t">
            <a:normAutofit/>
          </a:bodyPr>
          <a:lstStyle/>
          <a:p>
            <a:pPr>
              <a:lnSpc>
                <a:spcPct val="90000"/>
              </a:lnSpc>
            </a:pPr>
            <a:r>
              <a:rPr lang="en-US" sz="1500"/>
              <a:t>Coding is implementation, not the whole algorithmic</a:t>
            </a:r>
          </a:p>
          <a:p>
            <a:pPr>
              <a:lnSpc>
                <a:spcPct val="90000"/>
              </a:lnSpc>
            </a:pPr>
            <a:r>
              <a:rPr lang="en-US" sz="1500"/>
              <a:t>thinking process.</a:t>
            </a:r>
          </a:p>
          <a:p>
            <a:pPr>
              <a:lnSpc>
                <a:spcPct val="90000"/>
              </a:lnSpc>
            </a:pPr>
            <a:endParaRPr lang="en-US" sz="1500"/>
          </a:p>
        </p:txBody>
      </p:sp>
      <p:sp>
        <p:nvSpPr>
          <p:cNvPr id="22" name="Isosceles Triangle 21">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Graphic 6" descr="Head with Gears">
            <a:extLst>
              <a:ext uri="{FF2B5EF4-FFF2-40B4-BE49-F238E27FC236}">
                <a16:creationId xmlns:a16="http://schemas.microsoft.com/office/drawing/2014/main" id="{ABBFF340-6CA6-D0E7-02B2-C181EBEA2D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2613716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FDE15-A5FB-CF98-D8C0-D98D8CED6158}"/>
              </a:ext>
            </a:extLst>
          </p:cNvPr>
          <p:cNvSpPr>
            <a:spLocks noGrp="1"/>
          </p:cNvSpPr>
          <p:nvPr>
            <p:ph type="title"/>
          </p:nvPr>
        </p:nvSpPr>
        <p:spPr>
          <a:xfrm>
            <a:off x="4152550" y="609600"/>
            <a:ext cx="2802951" cy="1320800"/>
          </a:xfrm>
        </p:spPr>
        <p:txBody>
          <a:bodyPr>
            <a:normAutofit/>
          </a:bodyPr>
          <a:lstStyle/>
          <a:p>
            <a:r>
              <a:rPr lang="en-US" b="1" dirty="0"/>
              <a:t>Design Phase</a:t>
            </a:r>
            <a:endParaRPr lang="en-US" dirty="0"/>
          </a:p>
        </p:txBody>
      </p:sp>
      <p:sp>
        <p:nvSpPr>
          <p:cNvPr id="3" name="Content Placeholder 2">
            <a:extLst>
              <a:ext uri="{FF2B5EF4-FFF2-40B4-BE49-F238E27FC236}">
                <a16:creationId xmlns:a16="http://schemas.microsoft.com/office/drawing/2014/main" id="{E824F236-CAD8-CCF6-0312-38B9804970FF}"/>
              </a:ext>
            </a:extLst>
          </p:cNvPr>
          <p:cNvSpPr>
            <a:spLocks noGrp="1"/>
          </p:cNvSpPr>
          <p:nvPr>
            <p:ph idx="1"/>
          </p:nvPr>
        </p:nvSpPr>
        <p:spPr>
          <a:xfrm>
            <a:off x="3907172" y="2160589"/>
            <a:ext cx="3048329" cy="3880773"/>
          </a:xfrm>
        </p:spPr>
        <p:txBody>
          <a:bodyPr>
            <a:normAutofit/>
          </a:bodyPr>
          <a:lstStyle/>
          <a:p>
            <a:pPr marL="0" indent="0">
              <a:buNone/>
            </a:pPr>
            <a:r>
              <a:rPr lang="en-US" dirty="0"/>
              <a:t>Before coding, we define:</a:t>
            </a:r>
          </a:p>
          <a:p>
            <a:r>
              <a:rPr lang="en-US" dirty="0"/>
              <a:t>Problem</a:t>
            </a:r>
          </a:p>
          <a:p>
            <a:r>
              <a:rPr lang="en-US" dirty="0"/>
              <a:t>Inputs</a:t>
            </a:r>
          </a:p>
          <a:p>
            <a:r>
              <a:rPr lang="en-US" dirty="0"/>
              <a:t>Outputs</a:t>
            </a:r>
          </a:p>
          <a:p>
            <a:r>
              <a:rPr lang="en-US" dirty="0"/>
              <a:t>Assumptions</a:t>
            </a:r>
          </a:p>
          <a:p>
            <a:r>
              <a:rPr lang="en-US" dirty="0"/>
              <a:t>Constraints</a:t>
            </a:r>
          </a:p>
          <a:p>
            <a:r>
              <a:rPr lang="en-US" dirty="0"/>
              <a:t>Expected Results</a:t>
            </a:r>
          </a:p>
        </p:txBody>
      </p:sp>
      <p:pic>
        <p:nvPicPr>
          <p:cNvPr id="27" name="Picture 26" descr="Top view of cubes connected with black lines">
            <a:extLst>
              <a:ext uri="{FF2B5EF4-FFF2-40B4-BE49-F238E27FC236}">
                <a16:creationId xmlns:a16="http://schemas.microsoft.com/office/drawing/2014/main" id="{BE1C0A75-5B27-498A-C34B-839903704D2F}"/>
              </a:ext>
            </a:extLst>
          </p:cNvPr>
          <p:cNvPicPr>
            <a:picLocks noChangeAspect="1"/>
          </p:cNvPicPr>
          <p:nvPr/>
        </p:nvPicPr>
        <p:blipFill>
          <a:blip r:embed="rId3"/>
          <a:srcRect l="32836" r="22914"/>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8" name="Isosceles Triangle 27">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54517888"/>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AB2F-0493-60B0-2721-2CBB1DEBE33F}"/>
              </a:ext>
            </a:extLst>
          </p:cNvPr>
          <p:cNvSpPr>
            <a:spLocks noGrp="1"/>
          </p:cNvSpPr>
          <p:nvPr>
            <p:ph type="title"/>
          </p:nvPr>
        </p:nvSpPr>
        <p:spPr>
          <a:xfrm>
            <a:off x="4152550" y="609600"/>
            <a:ext cx="2802951" cy="1320800"/>
          </a:xfrm>
        </p:spPr>
        <p:txBody>
          <a:bodyPr>
            <a:normAutofit/>
          </a:bodyPr>
          <a:lstStyle/>
          <a:p>
            <a:r>
              <a:rPr lang="en-US" dirty="0"/>
              <a:t>Coding Phase</a:t>
            </a:r>
          </a:p>
        </p:txBody>
      </p:sp>
      <p:sp>
        <p:nvSpPr>
          <p:cNvPr id="3" name="Content Placeholder 2">
            <a:extLst>
              <a:ext uri="{FF2B5EF4-FFF2-40B4-BE49-F238E27FC236}">
                <a16:creationId xmlns:a16="http://schemas.microsoft.com/office/drawing/2014/main" id="{ACC1C000-C063-F06D-2DFA-6C8033ADF6DA}"/>
              </a:ext>
            </a:extLst>
          </p:cNvPr>
          <p:cNvSpPr>
            <a:spLocks noGrp="1"/>
          </p:cNvSpPr>
          <p:nvPr>
            <p:ph idx="1"/>
          </p:nvPr>
        </p:nvSpPr>
        <p:spPr>
          <a:xfrm>
            <a:off x="3907172" y="2160589"/>
            <a:ext cx="3048329" cy="3880773"/>
          </a:xfrm>
        </p:spPr>
        <p:txBody>
          <a:bodyPr>
            <a:normAutofit/>
          </a:bodyPr>
          <a:lstStyle/>
          <a:p>
            <a:pPr marL="0" indent="0">
              <a:buNone/>
            </a:pPr>
            <a:r>
              <a:rPr lang="en-US" dirty="0"/>
              <a:t>Coding turns the design into something executable</a:t>
            </a:r>
          </a:p>
          <a:p>
            <a:pPr marL="0" indent="0">
              <a:buNone/>
            </a:pPr>
            <a:r>
              <a:rPr lang="en-US" dirty="0"/>
              <a:t>In this course, </a:t>
            </a:r>
            <a:br>
              <a:rPr lang="en-US" dirty="0"/>
            </a:br>
            <a:r>
              <a:rPr lang="en-US" dirty="0"/>
              <a:t>Python helps us:</a:t>
            </a:r>
          </a:p>
          <a:p>
            <a:r>
              <a:rPr lang="en-US" dirty="0"/>
              <a:t>Run the logic</a:t>
            </a:r>
          </a:p>
          <a:p>
            <a:r>
              <a:rPr lang="en-US" dirty="0"/>
              <a:t>Test cases quickly</a:t>
            </a:r>
          </a:p>
          <a:p>
            <a:r>
              <a:rPr lang="en-US" dirty="0"/>
              <a:t>Compare results</a:t>
            </a:r>
          </a:p>
          <a:p>
            <a:r>
              <a:rPr lang="en-US" dirty="0"/>
              <a:t>Revise based on evidence</a:t>
            </a:r>
          </a:p>
        </p:txBody>
      </p:sp>
      <p:pic>
        <p:nvPicPr>
          <p:cNvPr id="5" name="Picture 4" descr="Computer script on a screen">
            <a:extLst>
              <a:ext uri="{FF2B5EF4-FFF2-40B4-BE49-F238E27FC236}">
                <a16:creationId xmlns:a16="http://schemas.microsoft.com/office/drawing/2014/main" id="{106F6266-5221-161E-3FE5-9EAF99271B2A}"/>
              </a:ext>
            </a:extLst>
          </p:cNvPr>
          <p:cNvPicPr>
            <a:picLocks noChangeAspect="1"/>
          </p:cNvPicPr>
          <p:nvPr/>
        </p:nvPicPr>
        <p:blipFill>
          <a:blip r:embed="rId3"/>
          <a:srcRect l="10422"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92189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Worm's eye view of the feet of a person running on the road">
            <a:extLst>
              <a:ext uri="{FF2B5EF4-FFF2-40B4-BE49-F238E27FC236}">
                <a16:creationId xmlns:a16="http://schemas.microsoft.com/office/drawing/2014/main" id="{6D32A848-4BF2-C844-D955-DD5FBD15A057}"/>
              </a:ext>
            </a:extLst>
          </p:cNvPr>
          <p:cNvPicPr>
            <a:picLocks noChangeAspect="1"/>
          </p:cNvPicPr>
          <p:nvPr/>
        </p:nvPicPr>
        <p:blipFill>
          <a:blip r:embed="rId3"/>
          <a:srcRect l="22728" r="-2" b="9089"/>
          <a:stretch>
            <a:fillRect/>
          </a:stretch>
        </p:blipFill>
        <p:spPr>
          <a:xfrm>
            <a:off x="20" y="10"/>
            <a:ext cx="9143980" cy="6857990"/>
          </a:xfrm>
          <a:prstGeom prst="rect">
            <a:avLst/>
          </a:prstGeom>
        </p:spPr>
      </p:pic>
      <p:sp>
        <p:nvSpPr>
          <p:cNvPr id="14" name="Isosceles Triangle 13">
            <a:extLst>
              <a:ext uri="{FF2B5EF4-FFF2-40B4-BE49-F238E27FC236}">
                <a16:creationId xmlns:a16="http://schemas.microsoft.com/office/drawing/2014/main" id="{EFFADC9E-E53C-4A0B-A5F7-914F96297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Parallelogram 15">
            <a:extLst>
              <a:ext uri="{FF2B5EF4-FFF2-40B4-BE49-F238E27FC236}">
                <a16:creationId xmlns:a16="http://schemas.microsoft.com/office/drawing/2014/main" id="{C449ECB7-AD08-44BE-AD5B-BB5A0D7AC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8141" y="0"/>
            <a:ext cx="702945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2C51D804-C301-4EE3-A891-7EB241066F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371931B-4393-46AF-8BF1-6BD27758DD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a:extLst>
              <a:ext uri="{FF2B5EF4-FFF2-40B4-BE49-F238E27FC236}">
                <a16:creationId xmlns:a16="http://schemas.microsoft.com/office/drawing/2014/main" id="{1F3818A7-4B05-4FC4-979D-743242721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8D4EFA7-4FA1-297E-5D65-69854DC8F696}"/>
              </a:ext>
            </a:extLst>
          </p:cNvPr>
          <p:cNvSpPr>
            <a:spLocks noGrp="1"/>
          </p:cNvSpPr>
          <p:nvPr>
            <p:ph type="title"/>
          </p:nvPr>
        </p:nvSpPr>
        <p:spPr>
          <a:xfrm>
            <a:off x="2089535" y="609600"/>
            <a:ext cx="4865966" cy="1320800"/>
          </a:xfrm>
        </p:spPr>
        <p:txBody>
          <a:bodyPr anchor="t">
            <a:normAutofit/>
          </a:bodyPr>
          <a:lstStyle/>
          <a:p>
            <a:r>
              <a:rPr lang="en-US"/>
              <a:t>Running Is Not The Same As Correct</a:t>
            </a:r>
          </a:p>
        </p:txBody>
      </p:sp>
      <p:sp>
        <p:nvSpPr>
          <p:cNvPr id="24" name="Rectangle 25">
            <a:extLst>
              <a:ext uri="{FF2B5EF4-FFF2-40B4-BE49-F238E27FC236}">
                <a16:creationId xmlns:a16="http://schemas.microsoft.com/office/drawing/2014/main" id="{10277C27-7A8A-4F89-B7C8-C99014836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5">
            <a:extLst>
              <a:ext uri="{FF2B5EF4-FFF2-40B4-BE49-F238E27FC236}">
                <a16:creationId xmlns:a16="http://schemas.microsoft.com/office/drawing/2014/main" id="{4D7DC2DC-2509-4873-A034-50568869B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FFE6413C-DEDD-53ED-BFB8-9CD31F12507C}"/>
              </a:ext>
            </a:extLst>
          </p:cNvPr>
          <p:cNvSpPr>
            <a:spLocks noGrp="1"/>
          </p:cNvSpPr>
          <p:nvPr>
            <p:ph idx="1"/>
          </p:nvPr>
        </p:nvSpPr>
        <p:spPr>
          <a:xfrm>
            <a:off x="2089535" y="2159000"/>
            <a:ext cx="4865966" cy="3882362"/>
          </a:xfrm>
        </p:spPr>
        <p:txBody>
          <a:bodyPr>
            <a:normAutofit/>
          </a:bodyPr>
          <a:lstStyle/>
          <a:p>
            <a:pPr marL="0" indent="0">
              <a:buNone/>
            </a:pPr>
            <a:r>
              <a:rPr lang="en-US" dirty="0"/>
              <a:t>A Program can run and STILL be wrong.</a:t>
            </a:r>
          </a:p>
          <a:p>
            <a:pPr marL="0" indent="0">
              <a:buNone/>
            </a:pPr>
            <a:r>
              <a:rPr lang="en-US" dirty="0"/>
              <a:t>It may:</a:t>
            </a:r>
          </a:p>
          <a:p>
            <a:r>
              <a:rPr lang="en-US" dirty="0"/>
              <a:t>Use the wrong rule</a:t>
            </a:r>
          </a:p>
          <a:p>
            <a:r>
              <a:rPr lang="en-US" dirty="0"/>
              <a:t>Miss an edge case</a:t>
            </a:r>
          </a:p>
          <a:p>
            <a:r>
              <a:rPr lang="en-US" dirty="0"/>
              <a:t>Return the wrong result</a:t>
            </a:r>
          </a:p>
          <a:p>
            <a:r>
              <a:rPr lang="en-US" dirty="0"/>
              <a:t>Work only for one example</a:t>
            </a:r>
          </a:p>
        </p:txBody>
      </p:sp>
      <p:sp>
        <p:nvSpPr>
          <p:cNvPr id="28" name="Rectangle 27">
            <a:extLst>
              <a:ext uri="{FF2B5EF4-FFF2-40B4-BE49-F238E27FC236}">
                <a16:creationId xmlns:a16="http://schemas.microsoft.com/office/drawing/2014/main" id="{022D0B7C-0B17-4C8E-BA79-D7E3AD58D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CCE414C6-A8E2-4A8F-BE26-8EC431D1C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49056809-9887-4E04-A8AD-104FF86CC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0A8AE74C-BE44-4E00-B22E-D88E1E985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45454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odes on papers">
            <a:extLst>
              <a:ext uri="{FF2B5EF4-FFF2-40B4-BE49-F238E27FC236}">
                <a16:creationId xmlns:a16="http://schemas.microsoft.com/office/drawing/2014/main" id="{FC8465BC-38D2-179B-D5EF-D63FD25CD9C2}"/>
              </a:ext>
            </a:extLst>
          </p:cNvPr>
          <p:cNvPicPr>
            <a:picLocks noChangeAspect="1"/>
          </p:cNvPicPr>
          <p:nvPr/>
        </p:nvPicPr>
        <p:blipFill>
          <a:blip r:embed="rId3"/>
          <a:srcRect l="22060" r="20109"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DAE5BA7A-0E03-519C-7237-1FA023D5CBA4}"/>
              </a:ext>
            </a:extLst>
          </p:cNvPr>
          <p:cNvSpPr>
            <a:spLocks noGrp="1"/>
          </p:cNvSpPr>
          <p:nvPr>
            <p:ph type="title"/>
          </p:nvPr>
        </p:nvSpPr>
        <p:spPr>
          <a:xfrm>
            <a:off x="507999" y="609600"/>
            <a:ext cx="2888343" cy="1320800"/>
          </a:xfrm>
        </p:spPr>
        <p:txBody>
          <a:bodyPr>
            <a:normAutofit/>
          </a:bodyPr>
          <a:lstStyle/>
          <a:p>
            <a:r>
              <a:rPr lang="en-US" dirty="0"/>
              <a:t>Expected Results</a:t>
            </a:r>
          </a:p>
        </p:txBody>
      </p:sp>
      <p:sp>
        <p:nvSpPr>
          <p:cNvPr id="3" name="Content Placeholder 2">
            <a:extLst>
              <a:ext uri="{FF2B5EF4-FFF2-40B4-BE49-F238E27FC236}">
                <a16:creationId xmlns:a16="http://schemas.microsoft.com/office/drawing/2014/main" id="{7856C114-508F-F30F-D25B-21AD85A1AEEC}"/>
              </a:ext>
            </a:extLst>
          </p:cNvPr>
          <p:cNvSpPr>
            <a:spLocks noGrp="1"/>
          </p:cNvSpPr>
          <p:nvPr>
            <p:ph idx="1"/>
          </p:nvPr>
        </p:nvSpPr>
        <p:spPr>
          <a:xfrm>
            <a:off x="508000" y="2160589"/>
            <a:ext cx="2888342" cy="3880773"/>
          </a:xfrm>
        </p:spPr>
        <p:txBody>
          <a:bodyPr>
            <a:normAutofit/>
          </a:bodyPr>
          <a:lstStyle/>
          <a:p>
            <a:pPr marL="0" indent="0">
              <a:buNone/>
            </a:pPr>
            <a:r>
              <a:rPr lang="en-US" dirty="0"/>
              <a:t>Expected result:</a:t>
            </a:r>
          </a:p>
          <a:p>
            <a:r>
              <a:rPr lang="en-US" dirty="0"/>
              <a:t>what we believe should happen</a:t>
            </a:r>
          </a:p>
          <a:p>
            <a:r>
              <a:rPr lang="en-US" dirty="0"/>
              <a:t>based on the rule we intended</a:t>
            </a:r>
          </a:p>
          <a:p>
            <a:r>
              <a:rPr lang="en-US" dirty="0"/>
              <a:t>written before or alongside the test</a:t>
            </a:r>
          </a:p>
          <a:p>
            <a:pPr marL="0" indent="0">
              <a:buNone/>
            </a:pPr>
            <a:r>
              <a:rPr lang="en-US" dirty="0"/>
              <a:t>Actual result:</a:t>
            </a:r>
          </a:p>
          <a:p>
            <a:r>
              <a:rPr lang="en-US" dirty="0"/>
              <a:t>what the algorithm produced</a:t>
            </a:r>
          </a:p>
          <a:p>
            <a:pPr marL="0" indent="0">
              <a:buNone/>
            </a:pPr>
            <a:endParaRPr lang="en-US" dirty="0"/>
          </a:p>
        </p:txBody>
      </p:sp>
      <p:cxnSp>
        <p:nvCxnSpPr>
          <p:cNvPr id="14" name="Straight Connector 13">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31925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 name="Picture 4" descr="Top view of cubes connected with black lines">
            <a:extLst>
              <a:ext uri="{FF2B5EF4-FFF2-40B4-BE49-F238E27FC236}">
                <a16:creationId xmlns:a16="http://schemas.microsoft.com/office/drawing/2014/main" id="{30490AA7-168C-7DE6-DF03-BE211A5A3123}"/>
              </a:ext>
            </a:extLst>
          </p:cNvPr>
          <p:cNvPicPr>
            <a:picLocks noChangeAspect="1"/>
          </p:cNvPicPr>
          <p:nvPr/>
        </p:nvPicPr>
        <p:blipFill>
          <a:blip r:embed="rId3"/>
          <a:srcRect l="34106" r="21644"/>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B2B1373A-DA75-66EC-2551-EEED1498EBA9}"/>
              </a:ext>
            </a:extLst>
          </p:cNvPr>
          <p:cNvSpPr>
            <a:spLocks noGrp="1"/>
          </p:cNvSpPr>
          <p:nvPr>
            <p:ph type="title"/>
          </p:nvPr>
        </p:nvSpPr>
        <p:spPr>
          <a:xfrm>
            <a:off x="4035422" y="1678665"/>
            <a:ext cx="2915879" cy="2372168"/>
          </a:xfrm>
        </p:spPr>
        <p:txBody>
          <a:bodyPr vert="horz" lIns="91440" tIns="45720" rIns="91440" bIns="45720" rtlCol="0" anchor="b">
            <a:normAutofit/>
          </a:bodyPr>
          <a:lstStyle/>
          <a:p>
            <a:pPr algn="r">
              <a:lnSpc>
                <a:spcPct val="90000"/>
              </a:lnSpc>
            </a:pPr>
            <a:r>
              <a:rPr lang="en-US" sz="4600" b="1"/>
              <a:t>Algorithm Design Concerns</a:t>
            </a:r>
            <a:endParaRPr lang="en-US" sz="4600"/>
          </a:p>
        </p:txBody>
      </p:sp>
      <p:sp>
        <p:nvSpPr>
          <p:cNvPr id="3" name="Text Placeholder 2">
            <a:extLst>
              <a:ext uri="{FF2B5EF4-FFF2-40B4-BE49-F238E27FC236}">
                <a16:creationId xmlns:a16="http://schemas.microsoft.com/office/drawing/2014/main" id="{D1128F73-9781-E44B-274E-89C486E7922B}"/>
              </a:ext>
            </a:extLst>
          </p:cNvPr>
          <p:cNvSpPr>
            <a:spLocks noGrp="1"/>
          </p:cNvSpPr>
          <p:nvPr>
            <p:ph type="body" idx="1"/>
          </p:nvPr>
        </p:nvSpPr>
        <p:spPr>
          <a:xfrm>
            <a:off x="4035422" y="4050833"/>
            <a:ext cx="2920080" cy="1096899"/>
          </a:xfrm>
        </p:spPr>
        <p:txBody>
          <a:bodyPr vert="horz" lIns="91440" tIns="45720" rIns="91440" bIns="45720" rtlCol="0" anchor="t">
            <a:normAutofit/>
          </a:bodyPr>
          <a:lstStyle/>
          <a:p>
            <a:pPr algn="r">
              <a:lnSpc>
                <a:spcPct val="90000"/>
              </a:lnSpc>
            </a:pPr>
            <a:r>
              <a:rPr lang="en-US" sz="1800"/>
              <a:t>Need a version of correctness, approach fit, and scale before forma complexity analysis begins</a:t>
            </a:r>
          </a:p>
        </p:txBody>
      </p:sp>
    </p:spTree>
    <p:extLst>
      <p:ext uri="{BB962C8B-B14F-4D97-AF65-F5344CB8AC3E}">
        <p14:creationId xmlns:p14="http://schemas.microsoft.com/office/powerpoint/2010/main" val="2796962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4" name="Rectangle 1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Freeform: Shape 29">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AA601859-5FC1-A81C-1966-4850340C2FC8}"/>
              </a:ext>
            </a:extLst>
          </p:cNvPr>
          <p:cNvSpPr>
            <a:spLocks noGrp="1"/>
          </p:cNvSpPr>
          <p:nvPr>
            <p:ph type="title"/>
          </p:nvPr>
        </p:nvSpPr>
        <p:spPr>
          <a:xfrm>
            <a:off x="5386292" y="609600"/>
            <a:ext cx="3384742" cy="2227730"/>
          </a:xfrm>
        </p:spPr>
        <p:txBody>
          <a:bodyPr anchor="ctr">
            <a:normAutofit/>
          </a:bodyPr>
          <a:lstStyle/>
          <a:p>
            <a:r>
              <a:rPr lang="en-US" b="1">
                <a:solidFill>
                  <a:srgbClr val="FFFFFF"/>
                </a:solidFill>
              </a:rPr>
              <a:t>Concern 1: Expected Result</a:t>
            </a:r>
            <a:endParaRPr lang="en-US">
              <a:solidFill>
                <a:srgbClr val="FFFFFF"/>
              </a:solidFill>
            </a:endParaRPr>
          </a:p>
        </p:txBody>
      </p:sp>
      <p:pic>
        <p:nvPicPr>
          <p:cNvPr id="9" name="Graphic 8" descr="Fingerprint">
            <a:extLst>
              <a:ext uri="{FF2B5EF4-FFF2-40B4-BE49-F238E27FC236}">
                <a16:creationId xmlns:a16="http://schemas.microsoft.com/office/drawing/2014/main" id="{5F0755D5-44BF-639B-8315-BECAC5DE6D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938" y="2027159"/>
            <a:ext cx="2892580" cy="2892580"/>
          </a:xfrm>
          <a:prstGeom prst="rect">
            <a:avLst/>
          </a:prstGeom>
        </p:spPr>
      </p:pic>
      <p:sp>
        <p:nvSpPr>
          <p:cNvPr id="5" name="Content Placeholder 4">
            <a:extLst>
              <a:ext uri="{FF2B5EF4-FFF2-40B4-BE49-F238E27FC236}">
                <a16:creationId xmlns:a16="http://schemas.microsoft.com/office/drawing/2014/main" id="{145DE077-CEF6-297C-FFB2-9B3659CD6293}"/>
              </a:ext>
            </a:extLst>
          </p:cNvPr>
          <p:cNvSpPr>
            <a:spLocks noGrp="1"/>
          </p:cNvSpPr>
          <p:nvPr>
            <p:ph idx="1"/>
          </p:nvPr>
        </p:nvSpPr>
        <p:spPr>
          <a:xfrm>
            <a:off x="5386293" y="2837329"/>
            <a:ext cx="3384741" cy="3317938"/>
          </a:xfrm>
        </p:spPr>
        <p:txBody>
          <a:bodyPr anchor="t">
            <a:normAutofit/>
          </a:bodyPr>
          <a:lstStyle/>
          <a:p>
            <a:pPr marL="0" indent="0">
              <a:lnSpc>
                <a:spcPct val="90000"/>
              </a:lnSpc>
              <a:buNone/>
            </a:pPr>
            <a:r>
              <a:rPr lang="en-US">
                <a:solidFill>
                  <a:srgbClr val="FFFFFF"/>
                </a:solidFill>
              </a:rPr>
              <a:t>First question:</a:t>
            </a:r>
          </a:p>
          <a:p>
            <a:pPr marL="400050" lvl="1" indent="0">
              <a:lnSpc>
                <a:spcPct val="90000"/>
              </a:lnSpc>
              <a:buNone/>
            </a:pPr>
            <a:r>
              <a:rPr lang="en-US">
                <a:solidFill>
                  <a:srgbClr val="FFFFFF"/>
                </a:solidFill>
              </a:rPr>
              <a:t>“Does the algorithm produce the expected result?”</a:t>
            </a:r>
          </a:p>
          <a:p>
            <a:pPr marL="0" indent="0">
              <a:lnSpc>
                <a:spcPct val="90000"/>
              </a:lnSpc>
              <a:buNone/>
            </a:pPr>
            <a:endParaRPr lang="en-US">
              <a:solidFill>
                <a:srgbClr val="FFFFFF"/>
              </a:solidFill>
            </a:endParaRPr>
          </a:p>
          <a:p>
            <a:pPr marL="0" indent="0">
              <a:lnSpc>
                <a:spcPct val="90000"/>
              </a:lnSpc>
              <a:buNone/>
            </a:pPr>
            <a:r>
              <a:rPr lang="en-US">
                <a:solidFill>
                  <a:srgbClr val="FFFFFF"/>
                </a:solidFill>
              </a:rPr>
              <a:t>Evidence may include:</a:t>
            </a:r>
          </a:p>
          <a:p>
            <a:pPr>
              <a:lnSpc>
                <a:spcPct val="90000"/>
              </a:lnSpc>
            </a:pPr>
            <a:r>
              <a:rPr lang="en-US">
                <a:solidFill>
                  <a:srgbClr val="FFFFFF"/>
                </a:solidFill>
              </a:rPr>
              <a:t>test cases</a:t>
            </a:r>
          </a:p>
          <a:p>
            <a:pPr>
              <a:lnSpc>
                <a:spcPct val="90000"/>
              </a:lnSpc>
            </a:pPr>
            <a:r>
              <a:rPr lang="en-US">
                <a:solidFill>
                  <a:srgbClr val="FFFFFF"/>
                </a:solidFill>
              </a:rPr>
              <a:t>input/output tables</a:t>
            </a:r>
          </a:p>
          <a:p>
            <a:pPr>
              <a:lnSpc>
                <a:spcPct val="90000"/>
              </a:lnSpc>
            </a:pPr>
            <a:r>
              <a:rPr lang="en-US">
                <a:solidFill>
                  <a:srgbClr val="FFFFFF"/>
                </a:solidFill>
              </a:rPr>
              <a:t>traces</a:t>
            </a:r>
          </a:p>
          <a:p>
            <a:pPr>
              <a:lnSpc>
                <a:spcPct val="90000"/>
              </a:lnSpc>
            </a:pPr>
            <a:r>
              <a:rPr lang="en-US">
                <a:solidFill>
                  <a:srgbClr val="FFFFFF"/>
                </a:solidFill>
              </a:rPr>
              <a:t>before/after comparisons</a:t>
            </a:r>
          </a:p>
        </p:txBody>
      </p:sp>
    </p:spTree>
    <p:extLst>
      <p:ext uri="{BB962C8B-B14F-4D97-AF65-F5344CB8AC3E}">
        <p14:creationId xmlns:p14="http://schemas.microsoft.com/office/powerpoint/2010/main" val="503022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4" name="Rectangle 1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Freeform: Shape 29">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AA25BA3B-40A4-DC1D-2432-AAFA59DC6C6C}"/>
              </a:ext>
            </a:extLst>
          </p:cNvPr>
          <p:cNvSpPr>
            <a:spLocks noGrp="1"/>
          </p:cNvSpPr>
          <p:nvPr>
            <p:ph type="title"/>
          </p:nvPr>
        </p:nvSpPr>
        <p:spPr>
          <a:xfrm>
            <a:off x="5386292" y="609600"/>
            <a:ext cx="3384742" cy="2227730"/>
          </a:xfrm>
        </p:spPr>
        <p:txBody>
          <a:bodyPr anchor="ctr">
            <a:normAutofit/>
          </a:bodyPr>
          <a:lstStyle/>
          <a:p>
            <a:r>
              <a:rPr lang="en-US" b="1">
                <a:solidFill>
                  <a:srgbClr val="FFFFFF"/>
                </a:solidFill>
              </a:rPr>
              <a:t>Concern 2: Reasonable Approach</a:t>
            </a:r>
            <a:endParaRPr lang="en-US">
              <a:solidFill>
                <a:srgbClr val="FFFFFF"/>
              </a:solidFill>
            </a:endParaRPr>
          </a:p>
        </p:txBody>
      </p:sp>
      <p:pic>
        <p:nvPicPr>
          <p:cNvPr id="9" name="Graphic 8" descr="Questions">
            <a:extLst>
              <a:ext uri="{FF2B5EF4-FFF2-40B4-BE49-F238E27FC236}">
                <a16:creationId xmlns:a16="http://schemas.microsoft.com/office/drawing/2014/main" id="{523773FC-494F-B5BF-5BC4-E8557F7F38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938" y="2027159"/>
            <a:ext cx="2892580" cy="2892580"/>
          </a:xfrm>
          <a:prstGeom prst="rect">
            <a:avLst/>
          </a:prstGeom>
        </p:spPr>
      </p:pic>
      <p:sp>
        <p:nvSpPr>
          <p:cNvPr id="5" name="Content Placeholder 4">
            <a:extLst>
              <a:ext uri="{FF2B5EF4-FFF2-40B4-BE49-F238E27FC236}">
                <a16:creationId xmlns:a16="http://schemas.microsoft.com/office/drawing/2014/main" id="{AD540D50-07D3-922F-7E96-650D2E7F44AF}"/>
              </a:ext>
            </a:extLst>
          </p:cNvPr>
          <p:cNvSpPr>
            <a:spLocks noGrp="1"/>
          </p:cNvSpPr>
          <p:nvPr>
            <p:ph idx="1"/>
          </p:nvPr>
        </p:nvSpPr>
        <p:spPr>
          <a:xfrm>
            <a:off x="5386293" y="2837329"/>
            <a:ext cx="3384741" cy="3317938"/>
          </a:xfrm>
        </p:spPr>
        <p:txBody>
          <a:bodyPr anchor="t">
            <a:normAutofit/>
          </a:bodyPr>
          <a:lstStyle/>
          <a:p>
            <a:pPr marL="0" indent="0">
              <a:buNone/>
            </a:pPr>
            <a:r>
              <a:rPr lang="en-US">
                <a:solidFill>
                  <a:srgbClr val="FFFFFF"/>
                </a:solidFill>
              </a:rPr>
              <a:t>Second question:</a:t>
            </a:r>
          </a:p>
          <a:p>
            <a:pPr marL="400050" lvl="1" indent="0">
              <a:buNone/>
            </a:pPr>
            <a:r>
              <a:rPr lang="en-US">
                <a:solidFill>
                  <a:srgbClr val="FFFFFF"/>
                </a:solidFill>
              </a:rPr>
              <a:t>“Is this a reasonable way to get the result?”</a:t>
            </a:r>
          </a:p>
          <a:p>
            <a:pPr marL="0" indent="0">
              <a:buNone/>
            </a:pPr>
            <a:r>
              <a:rPr lang="en-US">
                <a:solidFill>
                  <a:srgbClr val="FFFFFF"/>
                </a:solidFill>
              </a:rPr>
              <a:t>Consider:</a:t>
            </a:r>
          </a:p>
          <a:p>
            <a:r>
              <a:rPr lang="en-US">
                <a:solidFill>
                  <a:srgbClr val="FFFFFF"/>
                </a:solidFill>
              </a:rPr>
              <a:t>rule order</a:t>
            </a:r>
          </a:p>
          <a:p>
            <a:r>
              <a:rPr lang="en-US">
                <a:solidFill>
                  <a:srgbClr val="FFFFFF"/>
                </a:solidFill>
              </a:rPr>
              <a:t>readability</a:t>
            </a:r>
          </a:p>
          <a:p>
            <a:r>
              <a:rPr lang="en-US">
                <a:solidFill>
                  <a:srgbClr val="FFFFFF"/>
                </a:solidFill>
              </a:rPr>
              <a:t>unnecessary steps</a:t>
            </a:r>
          </a:p>
          <a:p>
            <a:r>
              <a:rPr lang="en-US">
                <a:solidFill>
                  <a:srgbClr val="FFFFFF"/>
                </a:solidFill>
              </a:rPr>
              <a:t>confusing assumptions</a:t>
            </a:r>
          </a:p>
        </p:txBody>
      </p:sp>
    </p:spTree>
    <p:extLst>
      <p:ext uri="{BB962C8B-B14F-4D97-AF65-F5344CB8AC3E}">
        <p14:creationId xmlns:p14="http://schemas.microsoft.com/office/powerpoint/2010/main" val="337787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4" name="Rectangle 1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Freeform: Shape 29">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7BD24A8A-7D41-3E8C-916E-865E7ECBBDB2}"/>
              </a:ext>
            </a:extLst>
          </p:cNvPr>
          <p:cNvSpPr>
            <a:spLocks noGrp="1"/>
          </p:cNvSpPr>
          <p:nvPr>
            <p:ph type="title"/>
          </p:nvPr>
        </p:nvSpPr>
        <p:spPr>
          <a:xfrm>
            <a:off x="5386292" y="609600"/>
            <a:ext cx="3384742" cy="2227730"/>
          </a:xfrm>
        </p:spPr>
        <p:txBody>
          <a:bodyPr anchor="ctr">
            <a:normAutofit/>
          </a:bodyPr>
          <a:lstStyle/>
          <a:p>
            <a:r>
              <a:rPr lang="en-US" b="1">
                <a:solidFill>
                  <a:srgbClr val="FFFFFF"/>
                </a:solidFill>
              </a:rPr>
              <a:t>Concern 3: Larger Data</a:t>
            </a:r>
            <a:endParaRPr lang="en-US">
              <a:solidFill>
                <a:srgbClr val="FFFFFF"/>
              </a:solidFill>
            </a:endParaRPr>
          </a:p>
        </p:txBody>
      </p:sp>
      <p:pic>
        <p:nvPicPr>
          <p:cNvPr id="9" name="Graphic 8" descr="Pie chart with solid fill">
            <a:extLst>
              <a:ext uri="{FF2B5EF4-FFF2-40B4-BE49-F238E27FC236}">
                <a16:creationId xmlns:a16="http://schemas.microsoft.com/office/drawing/2014/main" id="{567911CD-0AFA-BEF6-212F-7C0821B4D10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7938" y="2027159"/>
            <a:ext cx="2892580" cy="2892580"/>
          </a:xfrm>
          <a:prstGeom prst="rect">
            <a:avLst/>
          </a:prstGeom>
        </p:spPr>
      </p:pic>
      <p:sp>
        <p:nvSpPr>
          <p:cNvPr id="5" name="Content Placeholder 4">
            <a:extLst>
              <a:ext uri="{FF2B5EF4-FFF2-40B4-BE49-F238E27FC236}">
                <a16:creationId xmlns:a16="http://schemas.microsoft.com/office/drawing/2014/main" id="{4C74796E-43D5-C482-BC6F-1D4EDC2130A9}"/>
              </a:ext>
            </a:extLst>
          </p:cNvPr>
          <p:cNvSpPr>
            <a:spLocks noGrp="1"/>
          </p:cNvSpPr>
          <p:nvPr>
            <p:ph idx="1"/>
          </p:nvPr>
        </p:nvSpPr>
        <p:spPr>
          <a:xfrm>
            <a:off x="5386293" y="2837329"/>
            <a:ext cx="3384741" cy="3317938"/>
          </a:xfrm>
        </p:spPr>
        <p:txBody>
          <a:bodyPr anchor="t">
            <a:normAutofit/>
          </a:bodyPr>
          <a:lstStyle/>
          <a:p>
            <a:pPr marL="0" indent="0">
              <a:buNone/>
            </a:pPr>
            <a:r>
              <a:rPr lang="en-US">
                <a:solidFill>
                  <a:srgbClr val="FFFFFF"/>
                </a:solidFill>
              </a:rPr>
              <a:t>Third question:</a:t>
            </a:r>
          </a:p>
          <a:p>
            <a:pPr marL="400050" lvl="1" indent="0">
              <a:buNone/>
            </a:pPr>
            <a:r>
              <a:rPr lang="en-US">
                <a:solidFill>
                  <a:srgbClr val="FFFFFF"/>
                </a:solidFill>
              </a:rPr>
              <a:t>“What happens when the input gets larger?”</a:t>
            </a:r>
          </a:p>
          <a:p>
            <a:pPr marL="0" indent="0">
              <a:buNone/>
            </a:pPr>
            <a:r>
              <a:rPr lang="en-US">
                <a:solidFill>
                  <a:srgbClr val="FFFFFF"/>
                </a:solidFill>
              </a:rPr>
              <a:t>Ask:</a:t>
            </a:r>
          </a:p>
          <a:p>
            <a:r>
              <a:rPr lang="en-US">
                <a:solidFill>
                  <a:srgbClr val="FFFFFF"/>
                </a:solidFill>
              </a:rPr>
              <a:t>Does the work grow slowly?</a:t>
            </a:r>
          </a:p>
          <a:p>
            <a:r>
              <a:rPr lang="en-US">
                <a:solidFill>
                  <a:srgbClr val="FFFFFF"/>
                </a:solidFill>
              </a:rPr>
              <a:t>Does the work grow quickly?</a:t>
            </a:r>
          </a:p>
          <a:p>
            <a:r>
              <a:rPr lang="en-US">
                <a:solidFill>
                  <a:srgbClr val="FFFFFF"/>
                </a:solidFill>
              </a:rPr>
              <a:t>Does the algorithm repeat work?</a:t>
            </a:r>
          </a:p>
        </p:txBody>
      </p:sp>
    </p:spTree>
    <p:extLst>
      <p:ext uri="{BB962C8B-B14F-4D97-AF65-F5344CB8AC3E}">
        <p14:creationId xmlns:p14="http://schemas.microsoft.com/office/powerpoint/2010/main" val="2863532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3E194-99F4-46DC-B927-0E6275A9A97B}"/>
              </a:ext>
            </a:extLst>
          </p:cNvPr>
          <p:cNvSpPr>
            <a:spLocks noGrp="1"/>
          </p:cNvSpPr>
          <p:nvPr>
            <p:ph type="title"/>
          </p:nvPr>
        </p:nvSpPr>
        <p:spPr>
          <a:xfrm>
            <a:off x="4152550" y="609600"/>
            <a:ext cx="2802951" cy="1320800"/>
          </a:xfrm>
        </p:spPr>
        <p:txBody>
          <a:bodyPr>
            <a:normAutofit/>
          </a:bodyPr>
          <a:lstStyle/>
          <a:p>
            <a:pPr>
              <a:lnSpc>
                <a:spcPct val="90000"/>
              </a:lnSpc>
            </a:pPr>
            <a:r>
              <a:rPr lang="en-US" sz="2800" b="1" dirty="0"/>
              <a:t>Normal Cases And Edge Cases</a:t>
            </a:r>
            <a:endParaRPr lang="en-US" sz="2800" dirty="0"/>
          </a:p>
        </p:txBody>
      </p:sp>
      <p:sp>
        <p:nvSpPr>
          <p:cNvPr id="3" name="Content Placeholder 2">
            <a:extLst>
              <a:ext uri="{FF2B5EF4-FFF2-40B4-BE49-F238E27FC236}">
                <a16:creationId xmlns:a16="http://schemas.microsoft.com/office/drawing/2014/main" id="{0D501629-36AC-D06F-902D-7E972B14AF82}"/>
              </a:ext>
            </a:extLst>
          </p:cNvPr>
          <p:cNvSpPr>
            <a:spLocks noGrp="1"/>
          </p:cNvSpPr>
          <p:nvPr>
            <p:ph idx="1"/>
          </p:nvPr>
        </p:nvSpPr>
        <p:spPr>
          <a:xfrm>
            <a:off x="3907172" y="2160589"/>
            <a:ext cx="3048329" cy="3880773"/>
          </a:xfrm>
        </p:spPr>
        <p:txBody>
          <a:bodyPr>
            <a:normAutofit/>
          </a:bodyPr>
          <a:lstStyle/>
          <a:p>
            <a:pPr marL="0" indent="0">
              <a:buNone/>
            </a:pPr>
            <a:r>
              <a:rPr lang="en-US" i="1" dirty="0"/>
              <a:t>Normal</a:t>
            </a:r>
            <a:r>
              <a:rPr lang="en-US" dirty="0"/>
              <a:t> cases test expected everyday behavior.</a:t>
            </a:r>
          </a:p>
          <a:p>
            <a:pPr marL="0" indent="0">
              <a:buNone/>
            </a:pPr>
            <a:r>
              <a:rPr lang="en-US" i="1" dirty="0"/>
              <a:t>Edge cases </a:t>
            </a:r>
            <a:r>
              <a:rPr lang="en-US" dirty="0"/>
              <a:t>test boundaries, missing information, or unusual combinations.</a:t>
            </a:r>
          </a:p>
          <a:p>
            <a:pPr marL="0" indent="0">
              <a:buNone/>
            </a:pPr>
            <a:br>
              <a:rPr lang="en-US" dirty="0"/>
            </a:br>
            <a:r>
              <a:rPr lang="en-US" dirty="0"/>
              <a:t>Both matter.</a:t>
            </a:r>
          </a:p>
        </p:txBody>
      </p:sp>
      <p:pic>
        <p:nvPicPr>
          <p:cNvPr id="5" name="Picture 4" descr="A row of samples for medical testing">
            <a:extLst>
              <a:ext uri="{FF2B5EF4-FFF2-40B4-BE49-F238E27FC236}">
                <a16:creationId xmlns:a16="http://schemas.microsoft.com/office/drawing/2014/main" id="{18BD266D-3314-6C0B-D1CE-3C6D5AB00006}"/>
              </a:ext>
            </a:extLst>
          </p:cNvPr>
          <p:cNvPicPr>
            <a:picLocks noChangeAspect="1"/>
          </p:cNvPicPr>
          <p:nvPr/>
        </p:nvPicPr>
        <p:blipFill>
          <a:blip r:embed="rId3"/>
          <a:srcRect l="51361" r="438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4" name="Isosceles Triangle 1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85783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AD6-EEF4-750A-315F-39AD51435200}"/>
              </a:ext>
            </a:extLst>
          </p:cNvPr>
          <p:cNvSpPr>
            <a:spLocks noGrp="1"/>
          </p:cNvSpPr>
          <p:nvPr>
            <p:ph type="title"/>
          </p:nvPr>
        </p:nvSpPr>
        <p:spPr/>
        <p:txBody>
          <a:bodyPr>
            <a:normAutofit/>
          </a:bodyPr>
          <a:lstStyle/>
          <a:p>
            <a:r>
              <a:rPr lang="en-US" b="1"/>
              <a:t>Revision Is Part Of The Process</a:t>
            </a:r>
            <a:endParaRPr lang="en-US" dirty="0"/>
          </a:p>
        </p:txBody>
      </p:sp>
      <p:sp>
        <p:nvSpPr>
          <p:cNvPr id="3" name="Content Placeholder 2">
            <a:extLst>
              <a:ext uri="{FF2B5EF4-FFF2-40B4-BE49-F238E27FC236}">
                <a16:creationId xmlns:a16="http://schemas.microsoft.com/office/drawing/2014/main" id="{F22CA74C-FA92-C86C-CD43-F20659B501CA}"/>
              </a:ext>
            </a:extLst>
          </p:cNvPr>
          <p:cNvSpPr>
            <a:spLocks noGrp="1"/>
          </p:cNvSpPr>
          <p:nvPr>
            <p:ph idx="1"/>
          </p:nvPr>
        </p:nvSpPr>
        <p:spPr/>
        <p:txBody>
          <a:bodyPr/>
          <a:lstStyle/>
          <a:p>
            <a:pPr marL="0" indent="0">
              <a:buNone/>
            </a:pPr>
            <a:r>
              <a:rPr lang="en-US" dirty="0"/>
              <a:t>Testing may show:</a:t>
            </a:r>
          </a:p>
          <a:p>
            <a:r>
              <a:rPr lang="en-US" dirty="0"/>
              <a:t>the rule is unclear</a:t>
            </a:r>
          </a:p>
          <a:p>
            <a:r>
              <a:rPr lang="en-US" dirty="0"/>
              <a:t>the threshold is wrong</a:t>
            </a:r>
          </a:p>
          <a:p>
            <a:r>
              <a:rPr lang="en-US" dirty="0"/>
              <a:t>the order matters</a:t>
            </a:r>
          </a:p>
          <a:p>
            <a:r>
              <a:rPr lang="en-US" dirty="0"/>
              <a:t>the output needs more detail</a:t>
            </a:r>
          </a:p>
          <a:p>
            <a:pPr marL="0" indent="0">
              <a:buNone/>
            </a:pPr>
            <a:endParaRPr lang="en-US" dirty="0"/>
          </a:p>
          <a:p>
            <a:pPr marL="0" indent="0">
              <a:buNone/>
            </a:pPr>
            <a:r>
              <a:rPr lang="en-US" dirty="0"/>
              <a:t>Revision is not failure. It is evidence-driven improvement.</a:t>
            </a:r>
          </a:p>
        </p:txBody>
      </p:sp>
    </p:spTree>
    <p:extLst>
      <p:ext uri="{BB962C8B-B14F-4D97-AF65-F5344CB8AC3E}">
        <p14:creationId xmlns:p14="http://schemas.microsoft.com/office/powerpoint/2010/main" val="446501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7" name="Picture 6">
            <a:extLst>
              <a:ext uri="{FF2B5EF4-FFF2-40B4-BE49-F238E27FC236}">
                <a16:creationId xmlns:a16="http://schemas.microsoft.com/office/drawing/2014/main" id="{800EF531-9EA7-905F-35BC-F7A384C1C480}"/>
              </a:ext>
            </a:extLst>
          </p:cNvPr>
          <p:cNvPicPr>
            <a:picLocks noChangeAspect="1"/>
          </p:cNvPicPr>
          <p:nvPr/>
        </p:nvPicPr>
        <p:blipFill>
          <a:blip r:embed="rId3"/>
          <a:srcRect l="16891" r="4992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4" name="Title 3">
            <a:extLst>
              <a:ext uri="{FF2B5EF4-FFF2-40B4-BE49-F238E27FC236}">
                <a16:creationId xmlns:a16="http://schemas.microsoft.com/office/drawing/2014/main" id="{1466861E-92DA-377E-914F-0BE327EB3B7F}"/>
              </a:ext>
            </a:extLst>
          </p:cNvPr>
          <p:cNvSpPr>
            <a:spLocks noGrp="1"/>
          </p:cNvSpPr>
          <p:nvPr>
            <p:ph type="title"/>
          </p:nvPr>
        </p:nvSpPr>
        <p:spPr>
          <a:xfrm>
            <a:off x="4035422" y="1678665"/>
            <a:ext cx="2915879" cy="2372168"/>
          </a:xfrm>
        </p:spPr>
        <p:txBody>
          <a:bodyPr vert="horz" lIns="91440" tIns="45720" rIns="91440" bIns="45720" rtlCol="0" anchor="b">
            <a:normAutofit/>
          </a:bodyPr>
          <a:lstStyle/>
          <a:p>
            <a:pPr algn="r">
              <a:lnSpc>
                <a:spcPct val="90000"/>
              </a:lnSpc>
            </a:pPr>
            <a:r>
              <a:rPr lang="en-US" sz="3800" b="1"/>
              <a:t>Data and Compute Dimensions</a:t>
            </a:r>
            <a:endParaRPr lang="en-US" sz="3800"/>
          </a:p>
        </p:txBody>
      </p:sp>
      <p:sp>
        <p:nvSpPr>
          <p:cNvPr id="5" name="Text Placeholder 4">
            <a:extLst>
              <a:ext uri="{FF2B5EF4-FFF2-40B4-BE49-F238E27FC236}">
                <a16:creationId xmlns:a16="http://schemas.microsoft.com/office/drawing/2014/main" id="{65DCAF8F-6D46-4779-57CE-503DD3ACC579}"/>
              </a:ext>
            </a:extLst>
          </p:cNvPr>
          <p:cNvSpPr>
            <a:spLocks noGrp="1"/>
          </p:cNvSpPr>
          <p:nvPr>
            <p:ph type="body" idx="1"/>
          </p:nvPr>
        </p:nvSpPr>
        <p:spPr>
          <a:xfrm>
            <a:off x="4035422" y="4050833"/>
            <a:ext cx="2920080" cy="1096899"/>
          </a:xfrm>
        </p:spPr>
        <p:txBody>
          <a:bodyPr vert="horz" lIns="91440" tIns="45720" rIns="91440" bIns="45720" rtlCol="0" anchor="t">
            <a:normAutofit/>
          </a:bodyPr>
          <a:lstStyle/>
          <a:p>
            <a:pPr algn="r">
              <a:lnSpc>
                <a:spcPct val="90000"/>
              </a:lnSpc>
            </a:pPr>
            <a:r>
              <a:rPr lang="en-US" sz="1800"/>
              <a:t>Algorithms are affected by the data they process and the work they require from the computer.</a:t>
            </a:r>
          </a:p>
          <a:p>
            <a:pPr algn="r">
              <a:lnSpc>
                <a:spcPct val="90000"/>
              </a:lnSpc>
            </a:pPr>
            <a:endParaRPr lang="en-US" sz="1800"/>
          </a:p>
        </p:txBody>
      </p:sp>
    </p:spTree>
    <p:extLst>
      <p:ext uri="{BB962C8B-B14F-4D97-AF65-F5344CB8AC3E}">
        <p14:creationId xmlns:p14="http://schemas.microsoft.com/office/powerpoint/2010/main" val="1337035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101010 data lines to infinity">
            <a:extLst>
              <a:ext uri="{FF2B5EF4-FFF2-40B4-BE49-F238E27FC236}">
                <a16:creationId xmlns:a16="http://schemas.microsoft.com/office/drawing/2014/main" id="{596754DB-D949-C706-FA0C-390C118D4371}"/>
              </a:ext>
            </a:extLst>
          </p:cNvPr>
          <p:cNvPicPr>
            <a:picLocks noChangeAspect="1"/>
          </p:cNvPicPr>
          <p:nvPr/>
        </p:nvPicPr>
        <p:blipFill>
          <a:blip r:embed="rId3"/>
          <a:srcRect l="23703" r="20200" b="1"/>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6858FE30-B913-DF1C-D08E-906E2193644C}"/>
              </a:ext>
            </a:extLst>
          </p:cNvPr>
          <p:cNvSpPr>
            <a:spLocks noGrp="1"/>
          </p:cNvSpPr>
          <p:nvPr>
            <p:ph type="title"/>
          </p:nvPr>
        </p:nvSpPr>
        <p:spPr>
          <a:xfrm>
            <a:off x="507999" y="609600"/>
            <a:ext cx="2888343" cy="1320800"/>
          </a:xfrm>
        </p:spPr>
        <p:txBody>
          <a:bodyPr>
            <a:normAutofit/>
          </a:bodyPr>
          <a:lstStyle/>
          <a:p>
            <a:pPr>
              <a:lnSpc>
                <a:spcPct val="90000"/>
              </a:lnSpc>
            </a:pPr>
            <a:r>
              <a:rPr lang="en-US" sz="3100"/>
              <a:t>Data-Intensive Algorithms</a:t>
            </a:r>
          </a:p>
        </p:txBody>
      </p:sp>
      <p:sp>
        <p:nvSpPr>
          <p:cNvPr id="3" name="Content Placeholder 2">
            <a:extLst>
              <a:ext uri="{FF2B5EF4-FFF2-40B4-BE49-F238E27FC236}">
                <a16:creationId xmlns:a16="http://schemas.microsoft.com/office/drawing/2014/main" id="{5B6FE409-EF22-E0D3-861F-75E9BA58387D}"/>
              </a:ext>
            </a:extLst>
          </p:cNvPr>
          <p:cNvSpPr>
            <a:spLocks noGrp="1"/>
          </p:cNvSpPr>
          <p:nvPr>
            <p:ph idx="1"/>
          </p:nvPr>
        </p:nvSpPr>
        <p:spPr>
          <a:xfrm>
            <a:off x="508000" y="2160589"/>
            <a:ext cx="2888342" cy="3880773"/>
          </a:xfrm>
        </p:spPr>
        <p:txBody>
          <a:bodyPr>
            <a:normAutofit/>
          </a:bodyPr>
          <a:lstStyle/>
          <a:p>
            <a:pPr marL="0" indent="0">
              <a:buNone/>
            </a:pPr>
            <a:r>
              <a:rPr lang="en-US" dirty="0"/>
              <a:t>A data-intensive algorithm is shaped mainly by the data.</a:t>
            </a:r>
          </a:p>
          <a:p>
            <a:pPr marL="0" indent="0">
              <a:buNone/>
            </a:pPr>
            <a:r>
              <a:rPr lang="en-US" dirty="0"/>
              <a:t>Questions:</a:t>
            </a:r>
          </a:p>
          <a:p>
            <a:r>
              <a:rPr lang="en-US" dirty="0"/>
              <a:t>How much data?</a:t>
            </a:r>
          </a:p>
          <a:p>
            <a:r>
              <a:rPr lang="en-US" dirty="0"/>
              <a:t>How fast does it arrive?</a:t>
            </a:r>
          </a:p>
          <a:p>
            <a:r>
              <a:rPr lang="en-US" dirty="0"/>
              <a:t>How many forms does it take?</a:t>
            </a:r>
          </a:p>
        </p:txBody>
      </p:sp>
      <p:cxnSp>
        <p:nvCxnSpPr>
          <p:cNvPr id="14" name="Straight Connector 13">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80065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Financial graphs on a dark display">
            <a:extLst>
              <a:ext uri="{FF2B5EF4-FFF2-40B4-BE49-F238E27FC236}">
                <a16:creationId xmlns:a16="http://schemas.microsoft.com/office/drawing/2014/main" id="{6DA5651D-799A-4610-C63F-12E32D826C25}"/>
              </a:ext>
            </a:extLst>
          </p:cNvPr>
          <p:cNvPicPr>
            <a:picLocks noChangeAspect="1"/>
          </p:cNvPicPr>
          <p:nvPr/>
        </p:nvPicPr>
        <p:blipFill>
          <a:blip r:embed="rId3"/>
          <a:srcRect l="19511" r="26340"/>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4" name="Title 3">
            <a:extLst>
              <a:ext uri="{FF2B5EF4-FFF2-40B4-BE49-F238E27FC236}">
                <a16:creationId xmlns:a16="http://schemas.microsoft.com/office/drawing/2014/main" id="{65D7FA23-7C9C-3BF7-73E2-3C9BF0B5CFEB}"/>
              </a:ext>
            </a:extLst>
          </p:cNvPr>
          <p:cNvSpPr>
            <a:spLocks noGrp="1"/>
          </p:cNvSpPr>
          <p:nvPr>
            <p:ph type="title"/>
          </p:nvPr>
        </p:nvSpPr>
        <p:spPr>
          <a:xfrm>
            <a:off x="507999" y="609600"/>
            <a:ext cx="2888343" cy="1320800"/>
          </a:xfrm>
        </p:spPr>
        <p:txBody>
          <a:bodyPr>
            <a:normAutofit/>
          </a:bodyPr>
          <a:lstStyle/>
          <a:p>
            <a:r>
              <a:rPr lang="en-US" dirty="0"/>
              <a:t>The Data Dimension</a:t>
            </a:r>
          </a:p>
        </p:txBody>
      </p:sp>
      <p:sp>
        <p:nvSpPr>
          <p:cNvPr id="5" name="Content Placeholder 4">
            <a:extLst>
              <a:ext uri="{FF2B5EF4-FFF2-40B4-BE49-F238E27FC236}">
                <a16:creationId xmlns:a16="http://schemas.microsoft.com/office/drawing/2014/main" id="{12DCF9DB-F9F3-F34C-1428-39230C4726F9}"/>
              </a:ext>
            </a:extLst>
          </p:cNvPr>
          <p:cNvSpPr>
            <a:spLocks noGrp="1"/>
          </p:cNvSpPr>
          <p:nvPr>
            <p:ph idx="1"/>
          </p:nvPr>
        </p:nvSpPr>
        <p:spPr>
          <a:xfrm>
            <a:off x="508000" y="2160589"/>
            <a:ext cx="2888342" cy="3880773"/>
          </a:xfrm>
        </p:spPr>
        <p:txBody>
          <a:bodyPr>
            <a:normAutofit/>
          </a:bodyPr>
          <a:lstStyle/>
          <a:p>
            <a:pPr marL="0" indent="0">
              <a:buNone/>
            </a:pPr>
            <a:r>
              <a:rPr lang="en-US" dirty="0"/>
              <a:t>Data can be described by:</a:t>
            </a:r>
          </a:p>
          <a:p>
            <a:r>
              <a:rPr lang="en-US" dirty="0"/>
              <a:t>volume: how much</a:t>
            </a:r>
          </a:p>
          <a:p>
            <a:r>
              <a:rPr lang="en-US" dirty="0"/>
              <a:t>velocity: how fast</a:t>
            </a:r>
          </a:p>
          <a:p>
            <a:r>
              <a:rPr lang="en-US" dirty="0"/>
              <a:t>variety: how many forms</a:t>
            </a:r>
          </a:p>
          <a:p>
            <a:pPr marL="0" indent="0">
              <a:buNone/>
            </a:pPr>
            <a:r>
              <a:rPr lang="en-US" dirty="0"/>
              <a:t>These affect which algorithmic approach fits.</a:t>
            </a:r>
          </a:p>
        </p:txBody>
      </p:sp>
      <p:cxnSp>
        <p:nvCxnSpPr>
          <p:cNvPr id="16" name="Straight Connector 15">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0"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53056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igital financial graph">
            <a:extLst>
              <a:ext uri="{FF2B5EF4-FFF2-40B4-BE49-F238E27FC236}">
                <a16:creationId xmlns:a16="http://schemas.microsoft.com/office/drawing/2014/main" id="{DAEB4EE1-CE70-87E4-11CE-7B53705FD6E3}"/>
              </a:ext>
            </a:extLst>
          </p:cNvPr>
          <p:cNvPicPr>
            <a:picLocks noChangeAspect="1"/>
          </p:cNvPicPr>
          <p:nvPr/>
        </p:nvPicPr>
        <p:blipFill>
          <a:blip r:embed="rId3"/>
          <a:srcRect l="25000"/>
          <a:stretch>
            <a:fillRect/>
          </a:stretch>
        </p:blipFill>
        <p:spPr>
          <a:xfrm>
            <a:off x="20" y="10"/>
            <a:ext cx="9143980" cy="6857990"/>
          </a:xfrm>
          <a:prstGeom prst="rect">
            <a:avLst/>
          </a:prstGeom>
        </p:spPr>
      </p:pic>
      <p:sp>
        <p:nvSpPr>
          <p:cNvPr id="30" name="Isosceles Triangle 29">
            <a:extLst>
              <a:ext uri="{FF2B5EF4-FFF2-40B4-BE49-F238E27FC236}">
                <a16:creationId xmlns:a16="http://schemas.microsoft.com/office/drawing/2014/main" id="{EFFADC9E-E53C-4A0B-A5F7-914F96297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Parallelogram 31">
            <a:extLst>
              <a:ext uri="{FF2B5EF4-FFF2-40B4-BE49-F238E27FC236}">
                <a16:creationId xmlns:a16="http://schemas.microsoft.com/office/drawing/2014/main" id="{C449ECB7-AD08-44BE-AD5B-BB5A0D7AC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8141" y="0"/>
            <a:ext cx="702945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2C51D804-C301-4EE3-A891-7EB241066F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371931B-4393-46AF-8BF1-6BD27758DD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8" name="Rectangle 23">
            <a:extLst>
              <a:ext uri="{FF2B5EF4-FFF2-40B4-BE49-F238E27FC236}">
                <a16:creationId xmlns:a16="http://schemas.microsoft.com/office/drawing/2014/main" id="{1F3818A7-4B05-4FC4-979D-743242721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E50AB47-5FCF-22FC-E850-4976F539C714}"/>
              </a:ext>
            </a:extLst>
          </p:cNvPr>
          <p:cNvSpPr>
            <a:spLocks noGrp="1"/>
          </p:cNvSpPr>
          <p:nvPr>
            <p:ph type="title"/>
          </p:nvPr>
        </p:nvSpPr>
        <p:spPr>
          <a:xfrm>
            <a:off x="2089535" y="609600"/>
            <a:ext cx="4865966" cy="1320800"/>
          </a:xfrm>
        </p:spPr>
        <p:txBody>
          <a:bodyPr anchor="t">
            <a:normAutofit/>
          </a:bodyPr>
          <a:lstStyle/>
          <a:p>
            <a:r>
              <a:rPr lang="en-US"/>
              <a:t>Compute-Intensive Algorithms</a:t>
            </a:r>
          </a:p>
        </p:txBody>
      </p:sp>
      <p:sp>
        <p:nvSpPr>
          <p:cNvPr id="40" name="Rectangle 25">
            <a:extLst>
              <a:ext uri="{FF2B5EF4-FFF2-40B4-BE49-F238E27FC236}">
                <a16:creationId xmlns:a16="http://schemas.microsoft.com/office/drawing/2014/main" id="{10277C27-7A8A-4F89-B7C8-C99014836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Isosceles Triangle 41">
            <a:extLst>
              <a:ext uri="{FF2B5EF4-FFF2-40B4-BE49-F238E27FC236}">
                <a16:creationId xmlns:a16="http://schemas.microsoft.com/office/drawing/2014/main" id="{4D7DC2DC-2509-4873-A034-50568869B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CCF8BFD-A17C-57C9-B325-7981DAECBB6C}"/>
              </a:ext>
            </a:extLst>
          </p:cNvPr>
          <p:cNvSpPr>
            <a:spLocks noGrp="1"/>
          </p:cNvSpPr>
          <p:nvPr>
            <p:ph idx="1"/>
          </p:nvPr>
        </p:nvSpPr>
        <p:spPr>
          <a:xfrm>
            <a:off x="2089535" y="2159000"/>
            <a:ext cx="4865966" cy="3882362"/>
          </a:xfrm>
        </p:spPr>
        <p:txBody>
          <a:bodyPr>
            <a:normAutofit/>
          </a:bodyPr>
          <a:lstStyle/>
          <a:p>
            <a:pPr marL="0" indent="0">
              <a:buNone/>
            </a:pPr>
            <a:r>
              <a:rPr lang="en-US" dirty="0"/>
              <a:t>A compute-intensive algorithm is shaped mainly by how much processing it requires.</a:t>
            </a:r>
          </a:p>
          <a:p>
            <a:pPr marL="0" indent="0">
              <a:buNone/>
            </a:pPr>
            <a:r>
              <a:rPr lang="en-US" dirty="0"/>
              <a:t>Examples may include:</a:t>
            </a:r>
          </a:p>
          <a:p>
            <a:r>
              <a:rPr lang="en-US" dirty="0"/>
              <a:t>simulations</a:t>
            </a:r>
          </a:p>
          <a:p>
            <a:r>
              <a:rPr lang="en-US" dirty="0"/>
              <a:t>image processing</a:t>
            </a:r>
          </a:p>
          <a:p>
            <a:r>
              <a:rPr lang="en-US" dirty="0"/>
              <a:t>cryptography</a:t>
            </a:r>
          </a:p>
          <a:p>
            <a:r>
              <a:rPr lang="en-US" dirty="0"/>
              <a:t>model training</a:t>
            </a:r>
          </a:p>
          <a:p>
            <a:r>
              <a:rPr lang="en-US" dirty="0"/>
              <a:t>repeated calculations</a:t>
            </a:r>
          </a:p>
        </p:txBody>
      </p:sp>
      <p:sp>
        <p:nvSpPr>
          <p:cNvPr id="44" name="Rectangle 27">
            <a:extLst>
              <a:ext uri="{FF2B5EF4-FFF2-40B4-BE49-F238E27FC236}">
                <a16:creationId xmlns:a16="http://schemas.microsoft.com/office/drawing/2014/main" id="{022D0B7C-0B17-4C8E-BA79-D7E3AD58D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Rectangle 28">
            <a:extLst>
              <a:ext uri="{FF2B5EF4-FFF2-40B4-BE49-F238E27FC236}">
                <a16:creationId xmlns:a16="http://schemas.microsoft.com/office/drawing/2014/main" id="{CCE414C6-A8E2-4A8F-BE26-8EC431D1C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Rectangle 29">
            <a:extLst>
              <a:ext uri="{FF2B5EF4-FFF2-40B4-BE49-F238E27FC236}">
                <a16:creationId xmlns:a16="http://schemas.microsoft.com/office/drawing/2014/main" id="{49056809-9887-4E04-A8AD-104FF86CC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Isosceles Triangle 49">
            <a:extLst>
              <a:ext uri="{FF2B5EF4-FFF2-40B4-BE49-F238E27FC236}">
                <a16:creationId xmlns:a16="http://schemas.microsoft.com/office/drawing/2014/main" id="{0A8AE74C-BE44-4E00-B22E-D88E1E985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19403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4321E-3E3A-D5D8-6E1B-F5804D17C9C3}"/>
              </a:ext>
            </a:extLst>
          </p:cNvPr>
          <p:cNvSpPr>
            <a:spLocks noGrp="1"/>
          </p:cNvSpPr>
          <p:nvPr>
            <p:ph type="title"/>
          </p:nvPr>
        </p:nvSpPr>
        <p:spPr>
          <a:xfrm>
            <a:off x="4152550" y="609600"/>
            <a:ext cx="2802951" cy="1320800"/>
          </a:xfrm>
        </p:spPr>
        <p:txBody>
          <a:bodyPr>
            <a:normAutofit/>
          </a:bodyPr>
          <a:lstStyle/>
          <a:p>
            <a:r>
              <a:rPr lang="en-US" sz="3300"/>
              <a:t>Both Data And Compute</a:t>
            </a:r>
          </a:p>
        </p:txBody>
      </p:sp>
      <p:sp>
        <p:nvSpPr>
          <p:cNvPr id="3" name="Content Placeholder 2">
            <a:extLst>
              <a:ext uri="{FF2B5EF4-FFF2-40B4-BE49-F238E27FC236}">
                <a16:creationId xmlns:a16="http://schemas.microsoft.com/office/drawing/2014/main" id="{5C480138-1508-0B4A-3ACD-58B99A338038}"/>
              </a:ext>
            </a:extLst>
          </p:cNvPr>
          <p:cNvSpPr>
            <a:spLocks noGrp="1"/>
          </p:cNvSpPr>
          <p:nvPr>
            <p:ph idx="1"/>
          </p:nvPr>
        </p:nvSpPr>
        <p:spPr>
          <a:xfrm>
            <a:off x="3907172" y="2160589"/>
            <a:ext cx="3048329" cy="3880773"/>
          </a:xfrm>
        </p:spPr>
        <p:txBody>
          <a:bodyPr>
            <a:normAutofit/>
          </a:bodyPr>
          <a:lstStyle/>
          <a:p>
            <a:pPr marL="0" indent="0">
              <a:buNone/>
            </a:pPr>
            <a:r>
              <a:rPr lang="en-US" dirty="0"/>
              <a:t>Some algorithms are affected by both:</a:t>
            </a:r>
          </a:p>
          <a:p>
            <a:r>
              <a:rPr lang="en-US" dirty="0"/>
              <a:t>large data volume</a:t>
            </a:r>
          </a:p>
          <a:p>
            <a:r>
              <a:rPr lang="en-US" dirty="0"/>
              <a:t>frequent updates</a:t>
            </a:r>
          </a:p>
          <a:p>
            <a:r>
              <a:rPr lang="en-US" dirty="0"/>
              <a:t>varied data types</a:t>
            </a:r>
          </a:p>
          <a:p>
            <a:r>
              <a:rPr lang="en-US" dirty="0"/>
              <a:t>heavy processing</a:t>
            </a:r>
          </a:p>
          <a:p>
            <a:pPr marL="0" indent="0">
              <a:buNone/>
            </a:pPr>
            <a:r>
              <a:rPr lang="en-US" dirty="0"/>
              <a:t>Design must consider both dimensions.</a:t>
            </a:r>
          </a:p>
        </p:txBody>
      </p:sp>
      <p:pic>
        <p:nvPicPr>
          <p:cNvPr id="5" name="Picture 4">
            <a:extLst>
              <a:ext uri="{FF2B5EF4-FFF2-40B4-BE49-F238E27FC236}">
                <a16:creationId xmlns:a16="http://schemas.microsoft.com/office/drawing/2014/main" id="{2B322304-E057-F5BE-19C8-98A5592A3EDB}"/>
              </a:ext>
            </a:extLst>
          </p:cNvPr>
          <p:cNvPicPr>
            <a:picLocks noChangeAspect="1"/>
          </p:cNvPicPr>
          <p:nvPr/>
        </p:nvPicPr>
        <p:blipFill>
          <a:blip r:embed="rId3"/>
          <a:srcRect l="16634" r="5017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4" name="Isosceles Triangle 1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622324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648D-82EF-C390-235E-B78BE74F2760}"/>
              </a:ext>
            </a:extLst>
          </p:cNvPr>
          <p:cNvSpPr>
            <a:spLocks noGrp="1"/>
          </p:cNvSpPr>
          <p:nvPr>
            <p:ph type="title"/>
          </p:nvPr>
        </p:nvSpPr>
        <p:spPr>
          <a:xfrm>
            <a:off x="508000" y="609600"/>
            <a:ext cx="6447501" cy="1320800"/>
          </a:xfrm>
        </p:spPr>
        <p:txBody>
          <a:bodyPr anchor="t">
            <a:normAutofit/>
          </a:bodyPr>
          <a:lstStyle/>
          <a:p>
            <a:r>
              <a:rPr lang="en-US"/>
              <a:t>Week 1: Practical Takeaway</a:t>
            </a:r>
          </a:p>
        </p:txBody>
      </p:sp>
      <p:sp>
        <p:nvSpPr>
          <p:cNvPr id="3" name="Content Placeholder 2">
            <a:extLst>
              <a:ext uri="{FF2B5EF4-FFF2-40B4-BE49-F238E27FC236}">
                <a16:creationId xmlns:a16="http://schemas.microsoft.com/office/drawing/2014/main" id="{F56E25F1-F86C-BD7D-A41B-4BE84EB0401F}"/>
              </a:ext>
            </a:extLst>
          </p:cNvPr>
          <p:cNvSpPr>
            <a:spLocks noGrp="1"/>
          </p:cNvSpPr>
          <p:nvPr>
            <p:ph idx="1"/>
          </p:nvPr>
        </p:nvSpPr>
        <p:spPr>
          <a:xfrm>
            <a:off x="508000" y="2160590"/>
            <a:ext cx="3915323" cy="3701270"/>
          </a:xfrm>
        </p:spPr>
        <p:txBody>
          <a:bodyPr>
            <a:normAutofit/>
          </a:bodyPr>
          <a:lstStyle/>
          <a:p>
            <a:pPr marL="0" indent="0">
              <a:buNone/>
            </a:pPr>
            <a:r>
              <a:rPr lang="en-US"/>
              <a:t>Before coding, ask:</a:t>
            </a:r>
          </a:p>
          <a:p>
            <a:r>
              <a:rPr lang="en-US"/>
              <a:t>What data do I need?</a:t>
            </a:r>
          </a:p>
          <a:p>
            <a:r>
              <a:rPr lang="en-US"/>
              <a:t>How much data might there be?</a:t>
            </a:r>
          </a:p>
          <a:p>
            <a:r>
              <a:rPr lang="en-US"/>
              <a:t>What work must the algorithm do?</a:t>
            </a:r>
          </a:p>
          <a:p>
            <a:r>
              <a:rPr lang="en-US"/>
              <a:t>How will I test the result?</a:t>
            </a:r>
          </a:p>
        </p:txBody>
      </p:sp>
      <p:pic>
        <p:nvPicPr>
          <p:cNvPr id="7" name="Graphic 6" descr="Thought with solid fill">
            <a:extLst>
              <a:ext uri="{FF2B5EF4-FFF2-40B4-BE49-F238E27FC236}">
                <a16:creationId xmlns:a16="http://schemas.microsoft.com/office/drawing/2014/main" id="{97B4A0F0-48E1-8FE1-E8E5-C6A7190AA869}"/>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4565562" y="2159000"/>
            <a:ext cx="2359152" cy="2359152"/>
          </a:xfrm>
          <a:prstGeom prst="rect">
            <a:avLst/>
          </a:prstGeom>
        </p:spPr>
      </p:pic>
    </p:spTree>
    <p:extLst>
      <p:ext uri="{BB962C8B-B14F-4D97-AF65-F5344CB8AC3E}">
        <p14:creationId xmlns:p14="http://schemas.microsoft.com/office/powerpoint/2010/main" val="3693226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EC80A5F4-E426-25F9-7C42-E7199A8E9AE7}"/>
              </a:ext>
            </a:extLst>
          </p:cNvPr>
          <p:cNvSpPr>
            <a:spLocks noGrp="1"/>
          </p:cNvSpPr>
          <p:nvPr>
            <p:ph type="title"/>
          </p:nvPr>
        </p:nvSpPr>
        <p:spPr>
          <a:xfrm>
            <a:off x="505315" y="643467"/>
            <a:ext cx="3152284" cy="1375608"/>
          </a:xfrm>
        </p:spPr>
        <p:txBody>
          <a:bodyPr anchor="ctr">
            <a:normAutofit/>
          </a:bodyPr>
          <a:lstStyle/>
          <a:p>
            <a:r>
              <a:rPr lang="en-US">
                <a:solidFill>
                  <a:schemeClr val="bg1"/>
                </a:solidFill>
              </a:rPr>
              <a:t>Demo Scenario</a:t>
            </a:r>
          </a:p>
        </p:txBody>
      </p:sp>
      <p:sp>
        <p:nvSpPr>
          <p:cNvPr id="3" name="Content Placeholder 2">
            <a:extLst>
              <a:ext uri="{FF2B5EF4-FFF2-40B4-BE49-F238E27FC236}">
                <a16:creationId xmlns:a16="http://schemas.microsoft.com/office/drawing/2014/main" id="{1FE9331E-AFA6-79B2-C02D-811002FF77EE}"/>
              </a:ext>
            </a:extLst>
          </p:cNvPr>
          <p:cNvSpPr>
            <a:spLocks noGrp="1"/>
          </p:cNvSpPr>
          <p:nvPr>
            <p:ph idx="1"/>
          </p:nvPr>
        </p:nvSpPr>
        <p:spPr>
          <a:xfrm>
            <a:off x="505315" y="2160590"/>
            <a:ext cx="2980457" cy="3440110"/>
          </a:xfrm>
        </p:spPr>
        <p:txBody>
          <a:bodyPr>
            <a:normAutofit/>
          </a:bodyPr>
          <a:lstStyle/>
          <a:p>
            <a:pPr marL="0" indent="0">
              <a:lnSpc>
                <a:spcPct val="90000"/>
              </a:lnSpc>
              <a:buNone/>
            </a:pPr>
            <a:r>
              <a:rPr lang="en-US" sz="1500">
                <a:solidFill>
                  <a:schemeClr val="bg1"/>
                </a:solidFill>
              </a:rPr>
              <a:t>Demo problem: </a:t>
            </a:r>
          </a:p>
          <a:p>
            <a:pPr marL="400050" lvl="1" indent="0">
              <a:lnSpc>
                <a:spcPct val="90000"/>
              </a:lnSpc>
              <a:buNone/>
            </a:pPr>
            <a:r>
              <a:rPr lang="en-US" sz="1500">
                <a:solidFill>
                  <a:schemeClr val="bg1"/>
                </a:solidFill>
              </a:rPr>
              <a:t>“Should a student bring a laptop charger to campus?”</a:t>
            </a:r>
          </a:p>
          <a:p>
            <a:pPr marL="0" indent="0">
              <a:lnSpc>
                <a:spcPct val="90000"/>
              </a:lnSpc>
              <a:buNone/>
            </a:pPr>
            <a:r>
              <a:rPr lang="en-US" sz="1500">
                <a:solidFill>
                  <a:schemeClr val="bg1"/>
                </a:solidFill>
              </a:rPr>
              <a:t>Inputs:</a:t>
            </a:r>
          </a:p>
          <a:p>
            <a:pPr>
              <a:lnSpc>
                <a:spcPct val="90000"/>
              </a:lnSpc>
            </a:pPr>
            <a:r>
              <a:rPr lang="en-US" sz="1500">
                <a:solidFill>
                  <a:schemeClr val="bg1"/>
                </a:solidFill>
              </a:rPr>
              <a:t>battery percent</a:t>
            </a:r>
          </a:p>
          <a:p>
            <a:pPr>
              <a:lnSpc>
                <a:spcPct val="90000"/>
              </a:lnSpc>
            </a:pPr>
            <a:r>
              <a:rPr lang="en-US" sz="1500">
                <a:solidFill>
                  <a:schemeClr val="bg1"/>
                </a:solidFill>
              </a:rPr>
              <a:t>expected hours on campus</a:t>
            </a:r>
          </a:p>
          <a:p>
            <a:pPr>
              <a:lnSpc>
                <a:spcPct val="90000"/>
              </a:lnSpc>
            </a:pPr>
            <a:r>
              <a:rPr lang="en-US" sz="1500">
                <a:solidFill>
                  <a:schemeClr val="bg1"/>
                </a:solidFill>
              </a:rPr>
              <a:t>outlet access</a:t>
            </a:r>
          </a:p>
          <a:p>
            <a:pPr marL="0" indent="0">
              <a:lnSpc>
                <a:spcPct val="90000"/>
              </a:lnSpc>
              <a:buNone/>
            </a:pPr>
            <a:r>
              <a:rPr lang="en-US" sz="1500">
                <a:solidFill>
                  <a:schemeClr val="bg1"/>
                </a:solidFill>
              </a:rPr>
              <a:t>Output:</a:t>
            </a:r>
          </a:p>
          <a:p>
            <a:pPr>
              <a:lnSpc>
                <a:spcPct val="90000"/>
              </a:lnSpc>
            </a:pPr>
            <a:r>
              <a:rPr lang="en-US" sz="1500">
                <a:solidFill>
                  <a:schemeClr val="bg1"/>
                </a:solidFill>
              </a:rPr>
              <a:t>bring charger</a:t>
            </a:r>
          </a:p>
          <a:p>
            <a:pPr>
              <a:lnSpc>
                <a:spcPct val="90000"/>
              </a:lnSpc>
            </a:pPr>
            <a:r>
              <a:rPr lang="en-US" sz="1500">
                <a:solidFill>
                  <a:schemeClr val="bg1"/>
                </a:solidFill>
              </a:rPr>
              <a:t>charger optional</a:t>
            </a:r>
          </a:p>
        </p:txBody>
      </p:sp>
      <p:pic>
        <p:nvPicPr>
          <p:cNvPr id="7" name="Graphic 6" descr="Battery Charging">
            <a:extLst>
              <a:ext uri="{FF2B5EF4-FFF2-40B4-BE49-F238E27FC236}">
                <a16:creationId xmlns:a16="http://schemas.microsoft.com/office/drawing/2014/main" id="{B6E651B0-D903-3E60-1F9D-48A057F71D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0" y="1493930"/>
            <a:ext cx="3857625" cy="3857625"/>
          </a:xfrm>
          <a:prstGeom prst="rect">
            <a:avLst/>
          </a:prstGeom>
        </p:spPr>
      </p:pic>
      <p:sp>
        <p:nvSpPr>
          <p:cNvPr id="18" name="Isosceles Triangle 17">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8499334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6A0B7-B129-4FCF-1F62-DBD9257B9539}"/>
              </a:ext>
            </a:extLst>
          </p:cNvPr>
          <p:cNvSpPr>
            <a:spLocks noGrp="1"/>
          </p:cNvSpPr>
          <p:nvPr>
            <p:ph type="title"/>
          </p:nvPr>
        </p:nvSpPr>
        <p:spPr>
          <a:xfrm>
            <a:off x="508000" y="609600"/>
            <a:ext cx="6447501" cy="1320800"/>
          </a:xfrm>
        </p:spPr>
        <p:txBody>
          <a:bodyPr anchor="t">
            <a:normAutofit/>
          </a:bodyPr>
          <a:lstStyle/>
          <a:p>
            <a:r>
              <a:rPr lang="en-US" b="1" dirty="0"/>
              <a:t>Vague Rule Version</a:t>
            </a:r>
            <a:endParaRPr lang="en-US" dirty="0"/>
          </a:p>
        </p:txBody>
      </p:sp>
      <p:sp>
        <p:nvSpPr>
          <p:cNvPr id="3" name="Content Placeholder 2">
            <a:extLst>
              <a:ext uri="{FF2B5EF4-FFF2-40B4-BE49-F238E27FC236}">
                <a16:creationId xmlns:a16="http://schemas.microsoft.com/office/drawing/2014/main" id="{1E07607B-6391-A1F0-174C-28CD19B0FD21}"/>
              </a:ext>
            </a:extLst>
          </p:cNvPr>
          <p:cNvSpPr>
            <a:spLocks noGrp="1"/>
          </p:cNvSpPr>
          <p:nvPr>
            <p:ph idx="1"/>
          </p:nvPr>
        </p:nvSpPr>
        <p:spPr>
          <a:xfrm>
            <a:off x="508000" y="2160590"/>
            <a:ext cx="3915323" cy="3701270"/>
          </a:xfrm>
        </p:spPr>
        <p:txBody>
          <a:bodyPr>
            <a:normAutofit/>
          </a:bodyPr>
          <a:lstStyle/>
          <a:p>
            <a:pPr marL="0" indent="0">
              <a:buNone/>
            </a:pPr>
            <a:r>
              <a:rPr lang="en-US" dirty="0"/>
              <a:t>Initial rule:</a:t>
            </a:r>
          </a:p>
          <a:p>
            <a:r>
              <a:rPr lang="en-US" dirty="0"/>
              <a:t>If the battery is low, bring the charger.</a:t>
            </a:r>
          </a:p>
          <a:p>
            <a:r>
              <a:rPr lang="en-US" dirty="0"/>
              <a:t>If campus time is long and outlets are unreliable, bring the charger.</a:t>
            </a:r>
          </a:p>
          <a:p>
            <a:r>
              <a:rPr lang="en-US" dirty="0"/>
              <a:t>Otherwise, the charger is optional.</a:t>
            </a:r>
          </a:p>
        </p:txBody>
      </p:sp>
      <p:pic>
        <p:nvPicPr>
          <p:cNvPr id="7" name="Graphic 6" descr="Empty Battery">
            <a:extLst>
              <a:ext uri="{FF2B5EF4-FFF2-40B4-BE49-F238E27FC236}">
                <a16:creationId xmlns:a16="http://schemas.microsoft.com/office/drawing/2014/main" id="{74373C71-BC3B-C035-FF43-4644313678C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1701981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2D3D00-0EBD-4E73-9544-E997AEC51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F31A3-7996-2ABF-4709-DAEBEEE2323B}"/>
              </a:ext>
            </a:extLst>
          </p:cNvPr>
          <p:cNvSpPr>
            <a:spLocks noGrp="1"/>
          </p:cNvSpPr>
          <p:nvPr>
            <p:ph type="title"/>
          </p:nvPr>
        </p:nvSpPr>
        <p:spPr>
          <a:xfrm>
            <a:off x="508000" y="609600"/>
            <a:ext cx="6447501" cy="1320800"/>
          </a:xfrm>
        </p:spPr>
        <p:txBody>
          <a:bodyPr anchor="t">
            <a:normAutofit/>
          </a:bodyPr>
          <a:lstStyle/>
          <a:p>
            <a:r>
              <a:rPr lang="en-US" b="1" dirty="0"/>
              <a:t>Precise Rule Version</a:t>
            </a:r>
            <a:endParaRPr lang="en-US" dirty="0"/>
          </a:p>
        </p:txBody>
      </p:sp>
      <p:sp>
        <p:nvSpPr>
          <p:cNvPr id="3" name="Content Placeholder 2">
            <a:extLst>
              <a:ext uri="{FF2B5EF4-FFF2-40B4-BE49-F238E27FC236}">
                <a16:creationId xmlns:a16="http://schemas.microsoft.com/office/drawing/2014/main" id="{FB9CB158-0AD9-7F7F-DDFD-05650D6A059D}"/>
              </a:ext>
            </a:extLst>
          </p:cNvPr>
          <p:cNvSpPr>
            <a:spLocks noGrp="1"/>
          </p:cNvSpPr>
          <p:nvPr>
            <p:ph idx="1"/>
          </p:nvPr>
        </p:nvSpPr>
        <p:spPr>
          <a:xfrm>
            <a:off x="508000" y="2160590"/>
            <a:ext cx="3915323" cy="3701270"/>
          </a:xfrm>
        </p:spPr>
        <p:txBody>
          <a:bodyPr>
            <a:normAutofit/>
          </a:bodyPr>
          <a:lstStyle/>
          <a:p>
            <a:pPr marL="0" indent="0">
              <a:buNone/>
            </a:pPr>
            <a:r>
              <a:rPr lang="en-US" dirty="0"/>
              <a:t>Revised rule:</a:t>
            </a:r>
          </a:p>
          <a:p>
            <a:r>
              <a:rPr lang="en-US" dirty="0"/>
              <a:t>If battery percent is 40 or below, bring the charger.</a:t>
            </a:r>
          </a:p>
          <a:p>
            <a:r>
              <a:rPr lang="en-US" dirty="0"/>
              <a:t>Else if expected hours is 4 or more and outlet access is false, bring the charger.</a:t>
            </a:r>
          </a:p>
          <a:p>
            <a:r>
              <a:rPr lang="en-US" dirty="0"/>
              <a:t>Otherwise, the charger is optional.</a:t>
            </a:r>
          </a:p>
        </p:txBody>
      </p:sp>
      <p:pic>
        <p:nvPicPr>
          <p:cNvPr id="7" name="Graphic 6" descr="Full Battery">
            <a:extLst>
              <a:ext uri="{FF2B5EF4-FFF2-40B4-BE49-F238E27FC236}">
                <a16:creationId xmlns:a16="http://schemas.microsoft.com/office/drawing/2014/main" id="{A41EBF88-C0F2-B15E-0619-E56422341B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10741751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66447-1229-D921-1A9E-E2870E9CEE6E}"/>
              </a:ext>
            </a:extLst>
          </p:cNvPr>
          <p:cNvSpPr>
            <a:spLocks noGrp="1"/>
          </p:cNvSpPr>
          <p:nvPr>
            <p:ph type="title"/>
          </p:nvPr>
        </p:nvSpPr>
        <p:spPr>
          <a:xfrm>
            <a:off x="3747981" y="609600"/>
            <a:ext cx="3207519" cy="1320800"/>
          </a:xfrm>
        </p:spPr>
        <p:txBody>
          <a:bodyPr anchor="ctr">
            <a:normAutofit/>
          </a:bodyPr>
          <a:lstStyle/>
          <a:p>
            <a:r>
              <a:rPr lang="en-US" sz="3300" b="1"/>
              <a:t>Representation Bridge</a:t>
            </a:r>
            <a:endParaRPr lang="en-US" sz="3300"/>
          </a:p>
        </p:txBody>
      </p:sp>
      <p:pic>
        <p:nvPicPr>
          <p:cNvPr id="7" name="Graphic 6" descr="Flowchart">
            <a:extLst>
              <a:ext uri="{FF2B5EF4-FFF2-40B4-BE49-F238E27FC236}">
                <a16:creationId xmlns:a16="http://schemas.microsoft.com/office/drawing/2014/main" id="{D2E10AD8-6D42-F79B-BF03-3CF12312E0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B51BFC71-414D-2C36-9B61-1AC02FC72DDB}"/>
              </a:ext>
            </a:extLst>
          </p:cNvPr>
          <p:cNvSpPr>
            <a:spLocks noGrp="1"/>
          </p:cNvSpPr>
          <p:nvPr>
            <p:ph idx="1"/>
          </p:nvPr>
        </p:nvSpPr>
        <p:spPr>
          <a:xfrm>
            <a:off x="3739367" y="2160589"/>
            <a:ext cx="3213882" cy="3768573"/>
          </a:xfrm>
        </p:spPr>
        <p:txBody>
          <a:bodyPr>
            <a:normAutofit/>
          </a:bodyPr>
          <a:lstStyle/>
          <a:p>
            <a:pPr marL="0" indent="0">
              <a:buNone/>
            </a:pPr>
            <a:r>
              <a:rPr lang="en-US" dirty="0"/>
              <a:t>Same algorithm, different forms:</a:t>
            </a:r>
          </a:p>
          <a:p>
            <a:r>
              <a:rPr lang="en-US" dirty="0"/>
              <a:t>precise plain English</a:t>
            </a:r>
          </a:p>
          <a:p>
            <a:r>
              <a:rPr lang="en-US" dirty="0"/>
              <a:t>pseudocode</a:t>
            </a:r>
          </a:p>
          <a:p>
            <a:r>
              <a:rPr lang="en-US" dirty="0"/>
              <a:t>Python-style logic</a:t>
            </a:r>
          </a:p>
          <a:p>
            <a:r>
              <a:rPr lang="en-US" dirty="0"/>
              <a:t>test table</a:t>
            </a:r>
          </a:p>
        </p:txBody>
      </p:sp>
    </p:spTree>
    <p:extLst>
      <p:ext uri="{BB962C8B-B14F-4D97-AF65-F5344CB8AC3E}">
        <p14:creationId xmlns:p14="http://schemas.microsoft.com/office/powerpoint/2010/main" val="13167807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59D55-B60B-BFD7-C686-820F54CCB5EE}"/>
              </a:ext>
            </a:extLst>
          </p:cNvPr>
          <p:cNvSpPr>
            <a:spLocks noGrp="1"/>
          </p:cNvSpPr>
          <p:nvPr>
            <p:ph type="title"/>
          </p:nvPr>
        </p:nvSpPr>
        <p:spPr>
          <a:xfrm>
            <a:off x="3747981" y="609600"/>
            <a:ext cx="3207519" cy="1320800"/>
          </a:xfrm>
        </p:spPr>
        <p:txBody>
          <a:bodyPr anchor="ctr">
            <a:normAutofit/>
          </a:bodyPr>
          <a:lstStyle/>
          <a:p>
            <a:r>
              <a:rPr lang="en-US" b="1" dirty="0"/>
              <a:t>Demo Evidence</a:t>
            </a:r>
            <a:endParaRPr lang="en-US" dirty="0"/>
          </a:p>
        </p:txBody>
      </p:sp>
      <p:pic>
        <p:nvPicPr>
          <p:cNvPr id="7" name="Graphic 6" descr="Laptop Secure">
            <a:extLst>
              <a:ext uri="{FF2B5EF4-FFF2-40B4-BE49-F238E27FC236}">
                <a16:creationId xmlns:a16="http://schemas.microsoft.com/office/drawing/2014/main" id="{CFC81084-ACF3-0DE8-F27A-7DFE1D6B37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4792254F-E951-9FD1-57E5-3CDE22086F74}"/>
              </a:ext>
            </a:extLst>
          </p:cNvPr>
          <p:cNvSpPr>
            <a:spLocks noGrp="1"/>
          </p:cNvSpPr>
          <p:nvPr>
            <p:ph idx="1"/>
          </p:nvPr>
        </p:nvSpPr>
        <p:spPr>
          <a:xfrm>
            <a:off x="3739367" y="2160589"/>
            <a:ext cx="3213882" cy="3768573"/>
          </a:xfrm>
        </p:spPr>
        <p:txBody>
          <a:bodyPr>
            <a:normAutofit/>
          </a:bodyPr>
          <a:lstStyle/>
          <a:p>
            <a:pPr marL="0" indent="0">
              <a:buNone/>
            </a:pPr>
            <a:r>
              <a:rPr lang="en-US" dirty="0"/>
              <a:t>Watch for:</a:t>
            </a:r>
          </a:p>
          <a:p>
            <a:r>
              <a:rPr lang="en-US" dirty="0"/>
              <a:t>expected result</a:t>
            </a:r>
          </a:p>
          <a:p>
            <a:r>
              <a:rPr lang="en-US" dirty="0"/>
              <a:t>actual result</a:t>
            </a:r>
          </a:p>
          <a:p>
            <a:r>
              <a:rPr lang="en-US" dirty="0"/>
              <a:t>pass or fail</a:t>
            </a:r>
          </a:p>
          <a:p>
            <a:r>
              <a:rPr lang="en-US" dirty="0"/>
              <a:t>boundary case</a:t>
            </a:r>
          </a:p>
          <a:p>
            <a:r>
              <a:rPr lang="en-US" dirty="0"/>
              <a:t>revised rule</a:t>
            </a:r>
          </a:p>
        </p:txBody>
      </p:sp>
    </p:spTree>
    <p:extLst>
      <p:ext uri="{BB962C8B-B14F-4D97-AF65-F5344CB8AC3E}">
        <p14:creationId xmlns:p14="http://schemas.microsoft.com/office/powerpoint/2010/main" val="33906620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4591B-4B2D-1C75-29AF-8BFC1214AC9B}"/>
              </a:ext>
            </a:extLst>
          </p:cNvPr>
          <p:cNvSpPr>
            <a:spLocks noGrp="1"/>
          </p:cNvSpPr>
          <p:nvPr>
            <p:ph type="title"/>
          </p:nvPr>
        </p:nvSpPr>
        <p:spPr>
          <a:xfrm>
            <a:off x="4152550" y="609600"/>
            <a:ext cx="2802951" cy="1320800"/>
          </a:xfrm>
        </p:spPr>
        <p:txBody>
          <a:bodyPr>
            <a:normAutofit/>
          </a:bodyPr>
          <a:lstStyle/>
          <a:p>
            <a:pPr>
              <a:lnSpc>
                <a:spcPct val="90000"/>
              </a:lnSpc>
            </a:pPr>
            <a:r>
              <a:rPr lang="en-US" sz="3100" dirty="0"/>
              <a:t>Demo Add-On: Console Color</a:t>
            </a:r>
          </a:p>
        </p:txBody>
      </p:sp>
      <p:sp>
        <p:nvSpPr>
          <p:cNvPr id="3" name="Content Placeholder 2">
            <a:extLst>
              <a:ext uri="{FF2B5EF4-FFF2-40B4-BE49-F238E27FC236}">
                <a16:creationId xmlns:a16="http://schemas.microsoft.com/office/drawing/2014/main" id="{4C2AA165-0504-B02C-E43F-0EC149BE0EF7}"/>
              </a:ext>
            </a:extLst>
          </p:cNvPr>
          <p:cNvSpPr>
            <a:spLocks noGrp="1"/>
          </p:cNvSpPr>
          <p:nvPr>
            <p:ph idx="1"/>
          </p:nvPr>
        </p:nvSpPr>
        <p:spPr>
          <a:xfrm>
            <a:off x="3907172" y="2160589"/>
            <a:ext cx="3048329" cy="3880773"/>
          </a:xfrm>
        </p:spPr>
        <p:txBody>
          <a:bodyPr>
            <a:normAutofit/>
          </a:bodyPr>
          <a:lstStyle/>
          <a:p>
            <a:pPr marL="0" indent="0">
              <a:buNone/>
            </a:pPr>
            <a:r>
              <a:rPr lang="en-US" dirty="0"/>
              <a:t>After the plain demo works, add light console color.</a:t>
            </a:r>
          </a:p>
          <a:p>
            <a:pPr marL="0" indent="0">
              <a:buNone/>
            </a:pPr>
            <a:r>
              <a:rPr lang="en-US" dirty="0"/>
              <a:t>The color helps highlight:</a:t>
            </a:r>
          </a:p>
          <a:p>
            <a:r>
              <a:rPr lang="en-US" dirty="0"/>
              <a:t>section headings</a:t>
            </a:r>
          </a:p>
          <a:p>
            <a:r>
              <a:rPr lang="en-US" dirty="0"/>
              <a:t>passed tests</a:t>
            </a:r>
          </a:p>
          <a:p>
            <a:r>
              <a:rPr lang="en-US" dirty="0"/>
              <a:t>failed tests</a:t>
            </a:r>
          </a:p>
          <a:p>
            <a:r>
              <a:rPr lang="en-US" dirty="0"/>
              <a:t>important boundary cases</a:t>
            </a:r>
          </a:p>
        </p:txBody>
      </p:sp>
      <p:pic>
        <p:nvPicPr>
          <p:cNvPr id="5" name="Picture 4" descr="An abstract burst of blue and pink">
            <a:extLst>
              <a:ext uri="{FF2B5EF4-FFF2-40B4-BE49-F238E27FC236}">
                <a16:creationId xmlns:a16="http://schemas.microsoft.com/office/drawing/2014/main" id="{631304DC-0227-B850-27AB-8CF9F6427492}"/>
              </a:ext>
            </a:extLst>
          </p:cNvPr>
          <p:cNvPicPr>
            <a:picLocks noChangeAspect="1"/>
          </p:cNvPicPr>
          <p:nvPr/>
        </p:nvPicPr>
        <p:blipFill>
          <a:blip r:embed="rId3"/>
          <a:srcRect l="34146" r="32667"/>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684944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DD666-E941-E70E-9295-E2143AADF884}"/>
              </a:ext>
            </a:extLst>
          </p:cNvPr>
          <p:cNvSpPr>
            <a:spLocks noGrp="1"/>
          </p:cNvSpPr>
          <p:nvPr>
            <p:ph type="title"/>
          </p:nvPr>
        </p:nvSpPr>
        <p:spPr>
          <a:xfrm>
            <a:off x="4152550" y="609600"/>
            <a:ext cx="2802951" cy="1320800"/>
          </a:xfrm>
        </p:spPr>
        <p:txBody>
          <a:bodyPr>
            <a:normAutofit/>
          </a:bodyPr>
          <a:lstStyle/>
          <a:p>
            <a:pPr>
              <a:lnSpc>
                <a:spcPct val="90000"/>
              </a:lnSpc>
            </a:pPr>
            <a:r>
              <a:rPr lang="en-US" sz="2000" b="1"/>
              <a:t>Add-On Principle: Presentation Is Separate From Logic</a:t>
            </a:r>
            <a:br>
              <a:rPr lang="en-US" sz="2000"/>
            </a:br>
            <a:endParaRPr lang="en-US" sz="2000"/>
          </a:p>
        </p:txBody>
      </p:sp>
      <p:sp>
        <p:nvSpPr>
          <p:cNvPr id="3" name="Content Placeholder 2">
            <a:extLst>
              <a:ext uri="{FF2B5EF4-FFF2-40B4-BE49-F238E27FC236}">
                <a16:creationId xmlns:a16="http://schemas.microsoft.com/office/drawing/2014/main" id="{6009FE77-6502-04AF-091C-19D1F90E1107}"/>
              </a:ext>
            </a:extLst>
          </p:cNvPr>
          <p:cNvSpPr>
            <a:spLocks noGrp="1"/>
          </p:cNvSpPr>
          <p:nvPr>
            <p:ph idx="1"/>
          </p:nvPr>
        </p:nvSpPr>
        <p:spPr>
          <a:xfrm>
            <a:off x="3907172" y="2160589"/>
            <a:ext cx="3048329" cy="3880773"/>
          </a:xfrm>
        </p:spPr>
        <p:txBody>
          <a:bodyPr>
            <a:normAutofit/>
          </a:bodyPr>
          <a:lstStyle/>
          <a:p>
            <a:pPr marL="0" indent="0">
              <a:buNone/>
            </a:pPr>
            <a:r>
              <a:rPr lang="en-US" dirty="0"/>
              <a:t>Keep these separate:</a:t>
            </a:r>
          </a:p>
          <a:p>
            <a:r>
              <a:rPr lang="en-US" dirty="0"/>
              <a:t>algorithm </a:t>
            </a:r>
            <a:r>
              <a:rPr lang="en-US" b="1" i="1" dirty="0"/>
              <a:t>logic</a:t>
            </a:r>
            <a:r>
              <a:rPr lang="en-US" dirty="0"/>
              <a:t>: makes the decision</a:t>
            </a:r>
          </a:p>
          <a:p>
            <a:r>
              <a:rPr lang="en-US" dirty="0"/>
              <a:t>evidence </a:t>
            </a:r>
            <a:r>
              <a:rPr lang="en-US" b="1" i="1" dirty="0"/>
              <a:t>output</a:t>
            </a:r>
            <a:r>
              <a:rPr lang="en-US" dirty="0"/>
              <a:t>: shows what happened</a:t>
            </a:r>
          </a:p>
          <a:p>
            <a:r>
              <a:rPr lang="en-US" dirty="0"/>
              <a:t>presentation </a:t>
            </a:r>
            <a:r>
              <a:rPr lang="en-US" b="1" i="1" dirty="0"/>
              <a:t>layer</a:t>
            </a:r>
            <a:r>
              <a:rPr lang="en-US" dirty="0"/>
              <a:t>: makes output easier to scan</a:t>
            </a:r>
          </a:p>
        </p:txBody>
      </p:sp>
      <p:pic>
        <p:nvPicPr>
          <p:cNvPr id="5" name="Picture 4" descr="Person watching empty phone">
            <a:extLst>
              <a:ext uri="{FF2B5EF4-FFF2-40B4-BE49-F238E27FC236}">
                <a16:creationId xmlns:a16="http://schemas.microsoft.com/office/drawing/2014/main" id="{DBBEAFFD-A839-C886-C987-90EFD828344C}"/>
              </a:ext>
            </a:extLst>
          </p:cNvPr>
          <p:cNvPicPr>
            <a:picLocks noChangeAspect="1"/>
          </p:cNvPicPr>
          <p:nvPr/>
        </p:nvPicPr>
        <p:blipFill>
          <a:blip r:embed="rId3"/>
          <a:srcRect l="45888" r="14729"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937963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F827-0A5A-D6D9-6C73-5ACE22424AF2}"/>
              </a:ext>
            </a:extLst>
          </p:cNvPr>
          <p:cNvSpPr>
            <a:spLocks noGrp="1"/>
          </p:cNvSpPr>
          <p:nvPr>
            <p:ph type="title"/>
          </p:nvPr>
        </p:nvSpPr>
        <p:spPr>
          <a:xfrm>
            <a:off x="4152550" y="609600"/>
            <a:ext cx="2802951" cy="1320800"/>
          </a:xfrm>
        </p:spPr>
        <p:txBody>
          <a:bodyPr>
            <a:normAutofit/>
          </a:bodyPr>
          <a:lstStyle/>
          <a:p>
            <a:r>
              <a:rPr lang="en-US" dirty="0"/>
              <a:t>From Demo to Lab</a:t>
            </a:r>
          </a:p>
        </p:txBody>
      </p:sp>
      <p:sp>
        <p:nvSpPr>
          <p:cNvPr id="3" name="Content Placeholder 2">
            <a:extLst>
              <a:ext uri="{FF2B5EF4-FFF2-40B4-BE49-F238E27FC236}">
                <a16:creationId xmlns:a16="http://schemas.microsoft.com/office/drawing/2014/main" id="{B08E31B9-CEED-D579-BC3C-E6F2B784D1BE}"/>
              </a:ext>
            </a:extLst>
          </p:cNvPr>
          <p:cNvSpPr>
            <a:spLocks noGrp="1"/>
          </p:cNvSpPr>
          <p:nvPr>
            <p:ph idx="1"/>
          </p:nvPr>
        </p:nvSpPr>
        <p:spPr>
          <a:xfrm>
            <a:off x="3907172" y="2160589"/>
            <a:ext cx="3048329" cy="3880773"/>
          </a:xfrm>
        </p:spPr>
        <p:txBody>
          <a:bodyPr>
            <a:normAutofit/>
          </a:bodyPr>
          <a:lstStyle/>
          <a:p>
            <a:pPr marL="0" indent="0">
              <a:buNone/>
            </a:pPr>
            <a:r>
              <a:rPr lang="en-US" dirty="0"/>
              <a:t>In the lab, you will choose a different scenario and create:</a:t>
            </a:r>
          </a:p>
          <a:p>
            <a:r>
              <a:rPr lang="en-US" dirty="0"/>
              <a:t>problem statement</a:t>
            </a:r>
          </a:p>
          <a:p>
            <a:r>
              <a:rPr lang="en-US" dirty="0"/>
              <a:t>inputs and outputs</a:t>
            </a:r>
          </a:p>
          <a:p>
            <a:r>
              <a:rPr lang="en-US" dirty="0"/>
              <a:t>assumptions</a:t>
            </a:r>
          </a:p>
          <a:p>
            <a:r>
              <a:rPr lang="en-US" dirty="0"/>
              <a:t>pseudocode or Python</a:t>
            </a:r>
          </a:p>
          <a:p>
            <a:r>
              <a:rPr lang="en-US" dirty="0"/>
              <a:t>normal and edge-case tests</a:t>
            </a:r>
          </a:p>
          <a:p>
            <a:r>
              <a:rPr lang="en-US" dirty="0"/>
              <a:t>revision note</a:t>
            </a:r>
          </a:p>
        </p:txBody>
      </p:sp>
      <p:pic>
        <p:nvPicPr>
          <p:cNvPr id="5" name="Picture 4" descr="A row of samples for medical testing">
            <a:extLst>
              <a:ext uri="{FF2B5EF4-FFF2-40B4-BE49-F238E27FC236}">
                <a16:creationId xmlns:a16="http://schemas.microsoft.com/office/drawing/2014/main" id="{5406C1C5-46D3-5662-C887-3DA2319E776C}"/>
              </a:ext>
            </a:extLst>
          </p:cNvPr>
          <p:cNvPicPr>
            <a:picLocks noChangeAspect="1"/>
          </p:cNvPicPr>
          <p:nvPr/>
        </p:nvPicPr>
        <p:blipFill>
          <a:blip r:embed="rId3"/>
          <a:srcRect l="51375" r="4376"/>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347200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38778-464A-01E4-5FE9-A651D96F3C42}"/>
              </a:ext>
            </a:extLst>
          </p:cNvPr>
          <p:cNvSpPr>
            <a:spLocks noGrp="1"/>
          </p:cNvSpPr>
          <p:nvPr>
            <p:ph type="title"/>
          </p:nvPr>
        </p:nvSpPr>
        <p:spPr>
          <a:xfrm>
            <a:off x="4152550" y="609600"/>
            <a:ext cx="2802951" cy="1320800"/>
          </a:xfrm>
        </p:spPr>
        <p:txBody>
          <a:bodyPr>
            <a:normAutofit/>
          </a:bodyPr>
          <a:lstStyle/>
          <a:p>
            <a:r>
              <a:rPr lang="en-US" dirty="0"/>
              <a:t>Walkthrough Support</a:t>
            </a:r>
          </a:p>
        </p:txBody>
      </p:sp>
      <p:sp>
        <p:nvSpPr>
          <p:cNvPr id="3" name="Content Placeholder 2">
            <a:extLst>
              <a:ext uri="{FF2B5EF4-FFF2-40B4-BE49-F238E27FC236}">
                <a16:creationId xmlns:a16="http://schemas.microsoft.com/office/drawing/2014/main" id="{93596B46-5734-C699-CDD9-BD0D055D086D}"/>
              </a:ext>
            </a:extLst>
          </p:cNvPr>
          <p:cNvSpPr>
            <a:spLocks noGrp="1"/>
          </p:cNvSpPr>
          <p:nvPr>
            <p:ph idx="1"/>
          </p:nvPr>
        </p:nvSpPr>
        <p:spPr>
          <a:xfrm>
            <a:off x="3907172" y="2160589"/>
            <a:ext cx="3048329" cy="3880773"/>
          </a:xfrm>
        </p:spPr>
        <p:txBody>
          <a:bodyPr>
            <a:normAutofit/>
          </a:bodyPr>
          <a:lstStyle/>
          <a:p>
            <a:pPr marL="0" indent="0">
              <a:buNone/>
            </a:pPr>
            <a:r>
              <a:rPr lang="en-US" dirty="0"/>
              <a:t>The walkthrough artifact can help you see the pattern.</a:t>
            </a:r>
          </a:p>
          <a:p>
            <a:pPr marL="0" indent="0">
              <a:buNone/>
            </a:pPr>
            <a:r>
              <a:rPr lang="en-US" dirty="0"/>
              <a:t>If you use it, explain:</a:t>
            </a:r>
          </a:p>
          <a:p>
            <a:r>
              <a:rPr lang="en-US" dirty="0"/>
              <a:t>what pattern it showed</a:t>
            </a:r>
          </a:p>
          <a:p>
            <a:r>
              <a:rPr lang="en-US" dirty="0"/>
              <a:t>how you adapted it</a:t>
            </a:r>
          </a:p>
          <a:p>
            <a:r>
              <a:rPr lang="en-US" dirty="0"/>
              <a:t>what you still decided yourself</a:t>
            </a:r>
          </a:p>
        </p:txBody>
      </p:sp>
      <p:pic>
        <p:nvPicPr>
          <p:cNvPr id="5" name="Picture 4" descr="Chairs in a circle">
            <a:extLst>
              <a:ext uri="{FF2B5EF4-FFF2-40B4-BE49-F238E27FC236}">
                <a16:creationId xmlns:a16="http://schemas.microsoft.com/office/drawing/2014/main" id="{23C4C2E2-34BA-5263-91FA-971E8FF7A44D}"/>
              </a:ext>
            </a:extLst>
          </p:cNvPr>
          <p:cNvPicPr>
            <a:picLocks noChangeAspect="1"/>
          </p:cNvPicPr>
          <p:nvPr/>
        </p:nvPicPr>
        <p:blipFill>
          <a:blip r:embed="rId3"/>
          <a:srcRect l="29355" r="20053" b="-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545372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D9D7-DC22-67B7-C127-E213A7D7E5B5}"/>
              </a:ext>
            </a:extLst>
          </p:cNvPr>
          <p:cNvSpPr>
            <a:spLocks noGrp="1"/>
          </p:cNvSpPr>
          <p:nvPr>
            <p:ph type="title"/>
          </p:nvPr>
        </p:nvSpPr>
        <p:spPr>
          <a:xfrm>
            <a:off x="3747981" y="609600"/>
            <a:ext cx="3207519" cy="1320800"/>
          </a:xfrm>
        </p:spPr>
        <p:txBody>
          <a:bodyPr anchor="ctr">
            <a:normAutofit/>
          </a:bodyPr>
          <a:lstStyle/>
          <a:p>
            <a:r>
              <a:rPr lang="en-US" b="1" dirty="0"/>
              <a:t>README Evidence</a:t>
            </a:r>
            <a:endParaRPr lang="en-US" dirty="0"/>
          </a:p>
        </p:txBody>
      </p:sp>
      <p:pic>
        <p:nvPicPr>
          <p:cNvPr id="7" name="Graphic 6" descr="Check List">
            <a:extLst>
              <a:ext uri="{FF2B5EF4-FFF2-40B4-BE49-F238E27FC236}">
                <a16:creationId xmlns:a16="http://schemas.microsoft.com/office/drawing/2014/main" id="{ECC9DEAD-0143-BEB6-CDDF-ECA972867E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A170A1EC-C9C7-D8BC-8C60-91337D1A5DBC}"/>
              </a:ext>
            </a:extLst>
          </p:cNvPr>
          <p:cNvSpPr>
            <a:spLocks noGrp="1"/>
          </p:cNvSpPr>
          <p:nvPr>
            <p:ph idx="1"/>
          </p:nvPr>
        </p:nvSpPr>
        <p:spPr>
          <a:xfrm>
            <a:off x="3739367" y="2160589"/>
            <a:ext cx="3213882" cy="3768573"/>
          </a:xfrm>
        </p:spPr>
        <p:txBody>
          <a:bodyPr>
            <a:normAutofit/>
          </a:bodyPr>
          <a:lstStyle/>
          <a:p>
            <a:pPr marL="0" indent="0">
              <a:buNone/>
            </a:pPr>
            <a:r>
              <a:rPr lang="en-US" dirty="0"/>
              <a:t>Your README should show:</a:t>
            </a:r>
          </a:p>
          <a:p>
            <a:r>
              <a:rPr lang="en-US" dirty="0"/>
              <a:t>inputs and outputs</a:t>
            </a:r>
          </a:p>
          <a:p>
            <a:r>
              <a:rPr lang="en-US" dirty="0"/>
              <a:t>assumptions</a:t>
            </a:r>
          </a:p>
          <a:p>
            <a:r>
              <a:rPr lang="en-US" dirty="0"/>
              <a:t>test table</a:t>
            </a:r>
          </a:p>
          <a:p>
            <a:r>
              <a:rPr lang="en-US" dirty="0"/>
              <a:t>expected vs actual results</a:t>
            </a:r>
          </a:p>
          <a:p>
            <a:r>
              <a:rPr lang="en-US" dirty="0"/>
              <a:t>before/after revision</a:t>
            </a:r>
          </a:p>
          <a:p>
            <a:r>
              <a:rPr lang="en-US" dirty="0"/>
              <a:t>AI-use note, if applicable</a:t>
            </a:r>
          </a:p>
        </p:txBody>
      </p:sp>
    </p:spTree>
    <p:extLst>
      <p:ext uri="{BB962C8B-B14F-4D97-AF65-F5344CB8AC3E}">
        <p14:creationId xmlns:p14="http://schemas.microsoft.com/office/powerpoint/2010/main" val="19239636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7" name="Picture 6" descr="CNC lathe processing">
            <a:extLst>
              <a:ext uri="{FF2B5EF4-FFF2-40B4-BE49-F238E27FC236}">
                <a16:creationId xmlns:a16="http://schemas.microsoft.com/office/drawing/2014/main" id="{DF41EAF5-CD24-7E75-E560-B4A50419E596}"/>
              </a:ext>
            </a:extLst>
          </p:cNvPr>
          <p:cNvPicPr>
            <a:picLocks noChangeAspect="1"/>
          </p:cNvPicPr>
          <p:nvPr/>
        </p:nvPicPr>
        <p:blipFill>
          <a:blip r:embed="rId2"/>
          <a:srcRect l="51454" r="9163"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4" name="Title 3">
            <a:extLst>
              <a:ext uri="{FF2B5EF4-FFF2-40B4-BE49-F238E27FC236}">
                <a16:creationId xmlns:a16="http://schemas.microsoft.com/office/drawing/2014/main" id="{6A7FC0A4-CDA6-3614-B76E-9F2207EA44CE}"/>
              </a:ext>
            </a:extLst>
          </p:cNvPr>
          <p:cNvSpPr>
            <a:spLocks noGrp="1"/>
          </p:cNvSpPr>
          <p:nvPr>
            <p:ph type="title"/>
          </p:nvPr>
        </p:nvSpPr>
        <p:spPr>
          <a:xfrm>
            <a:off x="4035422" y="1678665"/>
            <a:ext cx="2915879" cy="2372168"/>
          </a:xfrm>
        </p:spPr>
        <p:txBody>
          <a:bodyPr vert="horz" lIns="91440" tIns="45720" rIns="91440" bIns="45720" rtlCol="0" anchor="b">
            <a:normAutofit/>
          </a:bodyPr>
          <a:lstStyle/>
          <a:p>
            <a:pPr algn="r">
              <a:lnSpc>
                <a:spcPct val="90000"/>
              </a:lnSpc>
            </a:pPr>
            <a:r>
              <a:rPr lang="en-US" sz="4200" dirty="0"/>
              <a:t>Optional Deepening Section</a:t>
            </a:r>
          </a:p>
        </p:txBody>
      </p:sp>
      <p:sp>
        <p:nvSpPr>
          <p:cNvPr id="5" name="Text Placeholder 4">
            <a:extLst>
              <a:ext uri="{FF2B5EF4-FFF2-40B4-BE49-F238E27FC236}">
                <a16:creationId xmlns:a16="http://schemas.microsoft.com/office/drawing/2014/main" id="{94194271-C12D-7344-5E68-CD7EABD6D536}"/>
              </a:ext>
            </a:extLst>
          </p:cNvPr>
          <p:cNvSpPr>
            <a:spLocks noGrp="1"/>
          </p:cNvSpPr>
          <p:nvPr>
            <p:ph type="body" idx="1"/>
          </p:nvPr>
        </p:nvSpPr>
        <p:spPr>
          <a:xfrm>
            <a:off x="4035422" y="4050833"/>
            <a:ext cx="2920080" cy="1096899"/>
          </a:xfrm>
        </p:spPr>
        <p:txBody>
          <a:bodyPr vert="horz" lIns="91440" tIns="45720" rIns="91440" bIns="45720" rtlCol="0" anchor="t">
            <a:normAutofit/>
          </a:bodyPr>
          <a:lstStyle/>
          <a:p>
            <a:pPr algn="r"/>
            <a:endParaRPr lang="en-US" sz="1800"/>
          </a:p>
        </p:txBody>
      </p:sp>
    </p:spTree>
    <p:extLst>
      <p:ext uri="{BB962C8B-B14F-4D97-AF65-F5344CB8AC3E}">
        <p14:creationId xmlns:p14="http://schemas.microsoft.com/office/powerpoint/2010/main" val="3767085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521E50-DFD2-A5C0-AD07-F3A90C6CFFF7}"/>
              </a:ext>
            </a:extLst>
          </p:cNvPr>
          <p:cNvSpPr>
            <a:spLocks noGrp="1"/>
          </p:cNvSpPr>
          <p:nvPr>
            <p:ph type="title"/>
          </p:nvPr>
        </p:nvSpPr>
        <p:spPr>
          <a:xfrm>
            <a:off x="508000" y="609600"/>
            <a:ext cx="6447501" cy="1320800"/>
          </a:xfrm>
        </p:spPr>
        <p:txBody>
          <a:bodyPr anchor="t">
            <a:normAutofit/>
          </a:bodyPr>
          <a:lstStyle/>
          <a:p>
            <a:r>
              <a:rPr lang="en-US" b="1"/>
              <a:t>Example: Expected Result Is Not Always Obvious</a:t>
            </a:r>
            <a:endParaRPr lang="en-US"/>
          </a:p>
        </p:txBody>
      </p:sp>
      <p:sp>
        <p:nvSpPr>
          <p:cNvPr id="5" name="Content Placeholder 4">
            <a:extLst>
              <a:ext uri="{FF2B5EF4-FFF2-40B4-BE49-F238E27FC236}">
                <a16:creationId xmlns:a16="http://schemas.microsoft.com/office/drawing/2014/main" id="{AEA7E5DC-517A-F903-AB66-FC8D5412F2FE}"/>
              </a:ext>
            </a:extLst>
          </p:cNvPr>
          <p:cNvSpPr>
            <a:spLocks noGrp="1"/>
          </p:cNvSpPr>
          <p:nvPr>
            <p:ph idx="1"/>
          </p:nvPr>
        </p:nvSpPr>
        <p:spPr>
          <a:xfrm>
            <a:off x="4752215" y="2160589"/>
            <a:ext cx="2201035" cy="3880773"/>
          </a:xfrm>
        </p:spPr>
        <p:txBody>
          <a:bodyPr>
            <a:normAutofit/>
          </a:bodyPr>
          <a:lstStyle/>
          <a:p>
            <a:pPr marL="0" indent="0">
              <a:lnSpc>
                <a:spcPct val="90000"/>
              </a:lnSpc>
              <a:buNone/>
            </a:pPr>
            <a:r>
              <a:rPr lang="en-US" dirty="0"/>
              <a:t>Two people may disagree about the expected result when:</a:t>
            </a:r>
          </a:p>
          <a:p>
            <a:pPr>
              <a:lnSpc>
                <a:spcPct val="90000"/>
              </a:lnSpc>
            </a:pPr>
            <a:r>
              <a:rPr lang="en-US" dirty="0"/>
              <a:t>the rule is vague</a:t>
            </a:r>
          </a:p>
          <a:p>
            <a:pPr>
              <a:lnSpc>
                <a:spcPct val="90000"/>
              </a:lnSpc>
            </a:pPr>
            <a:r>
              <a:rPr lang="en-US" dirty="0"/>
              <a:t>the threshold is missing</a:t>
            </a:r>
          </a:p>
          <a:p>
            <a:pPr>
              <a:lnSpc>
                <a:spcPct val="90000"/>
              </a:lnSpc>
            </a:pPr>
            <a:r>
              <a:rPr lang="en-US" dirty="0"/>
              <a:t>priorities conflict</a:t>
            </a:r>
          </a:p>
          <a:p>
            <a:pPr>
              <a:lnSpc>
                <a:spcPct val="90000"/>
              </a:lnSpc>
            </a:pPr>
            <a:r>
              <a:rPr lang="en-US" dirty="0"/>
              <a:t>information is incomplete</a:t>
            </a:r>
          </a:p>
        </p:txBody>
      </p:sp>
      <p:pic>
        <p:nvPicPr>
          <p:cNvPr id="7" name="Picture 6" descr="Wood human figure">
            <a:extLst>
              <a:ext uri="{FF2B5EF4-FFF2-40B4-BE49-F238E27FC236}">
                <a16:creationId xmlns:a16="http://schemas.microsoft.com/office/drawing/2014/main" id="{91AB22F3-2891-1F49-0857-C7F7DE5C2F74}"/>
              </a:ext>
            </a:extLst>
          </p:cNvPr>
          <p:cNvPicPr>
            <a:picLocks noChangeAspect="1"/>
          </p:cNvPicPr>
          <p:nvPr/>
        </p:nvPicPr>
        <p:blipFill>
          <a:blip r:embed="rId3"/>
          <a:srcRect r="30067" b="2"/>
          <a:stretch>
            <a:fillRect/>
          </a:stretch>
        </p:blipFill>
        <p:spPr>
          <a:xfrm>
            <a:off x="508000" y="2159331"/>
            <a:ext cx="4067572" cy="3882362"/>
          </a:xfrm>
          <a:prstGeom prst="rect">
            <a:avLst/>
          </a:prstGeom>
        </p:spPr>
      </p:pic>
    </p:spTree>
    <p:extLst>
      <p:ext uri="{BB962C8B-B14F-4D97-AF65-F5344CB8AC3E}">
        <p14:creationId xmlns:p14="http://schemas.microsoft.com/office/powerpoint/2010/main" val="22072403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55FAF-634B-FB60-10E2-C28AFD50941D}"/>
              </a:ext>
            </a:extLst>
          </p:cNvPr>
          <p:cNvSpPr>
            <a:spLocks noGrp="1"/>
          </p:cNvSpPr>
          <p:nvPr>
            <p:ph type="title"/>
          </p:nvPr>
        </p:nvSpPr>
        <p:spPr>
          <a:xfrm>
            <a:off x="508000" y="609600"/>
            <a:ext cx="6447501" cy="1320800"/>
          </a:xfrm>
        </p:spPr>
        <p:txBody>
          <a:bodyPr anchor="t">
            <a:normAutofit/>
          </a:bodyPr>
          <a:lstStyle/>
          <a:p>
            <a:r>
              <a:rPr lang="en-US" b="1"/>
              <a:t>Example: Rule Order Matters</a:t>
            </a:r>
            <a:endParaRPr lang="en-US"/>
          </a:p>
        </p:txBody>
      </p:sp>
      <p:sp>
        <p:nvSpPr>
          <p:cNvPr id="3" name="Content Placeholder 2">
            <a:extLst>
              <a:ext uri="{FF2B5EF4-FFF2-40B4-BE49-F238E27FC236}">
                <a16:creationId xmlns:a16="http://schemas.microsoft.com/office/drawing/2014/main" id="{A35AE6F2-E62A-EFD7-23D5-EC9AAE3F97D5}"/>
              </a:ext>
            </a:extLst>
          </p:cNvPr>
          <p:cNvSpPr>
            <a:spLocks noGrp="1"/>
          </p:cNvSpPr>
          <p:nvPr>
            <p:ph idx="1"/>
          </p:nvPr>
        </p:nvSpPr>
        <p:spPr>
          <a:xfrm>
            <a:off x="4752215" y="2160589"/>
            <a:ext cx="2201035" cy="3880773"/>
          </a:xfrm>
        </p:spPr>
        <p:txBody>
          <a:bodyPr>
            <a:normAutofit/>
          </a:bodyPr>
          <a:lstStyle/>
          <a:p>
            <a:pPr marL="0" indent="0">
              <a:lnSpc>
                <a:spcPct val="90000"/>
              </a:lnSpc>
              <a:buNone/>
            </a:pPr>
            <a:r>
              <a:rPr lang="en-US" dirty="0"/>
              <a:t>Changing rule order can change the result.</a:t>
            </a:r>
            <a:endParaRPr lang="en-US"/>
          </a:p>
          <a:p>
            <a:pPr marL="0" indent="0">
              <a:lnSpc>
                <a:spcPct val="90000"/>
              </a:lnSpc>
              <a:buNone/>
            </a:pPr>
            <a:r>
              <a:rPr lang="en-US" dirty="0"/>
              <a:t>Ask:</a:t>
            </a:r>
            <a:endParaRPr lang="en-US"/>
          </a:p>
          <a:p>
            <a:pPr>
              <a:lnSpc>
                <a:spcPct val="90000"/>
              </a:lnSpc>
            </a:pPr>
            <a:r>
              <a:rPr lang="en-US" dirty="0"/>
              <a:t>Which rule should be checked first?</a:t>
            </a:r>
            <a:endParaRPr lang="en-US"/>
          </a:p>
          <a:p>
            <a:pPr>
              <a:lnSpc>
                <a:spcPct val="90000"/>
              </a:lnSpc>
            </a:pPr>
            <a:r>
              <a:rPr lang="en-US" dirty="0"/>
              <a:t>Which rule wins if two rules conflict?</a:t>
            </a:r>
            <a:endParaRPr lang="en-US"/>
          </a:p>
          <a:p>
            <a:pPr>
              <a:lnSpc>
                <a:spcPct val="90000"/>
              </a:lnSpc>
            </a:pPr>
            <a:r>
              <a:rPr lang="en-US" dirty="0"/>
              <a:t>Should the algorithm stop early?</a:t>
            </a:r>
            <a:endParaRPr lang="en-US"/>
          </a:p>
          <a:p>
            <a:pPr marL="0" indent="0">
              <a:lnSpc>
                <a:spcPct val="90000"/>
              </a:lnSpc>
              <a:buNone/>
            </a:pPr>
            <a:endParaRPr lang="en-US"/>
          </a:p>
        </p:txBody>
      </p:sp>
      <p:pic>
        <p:nvPicPr>
          <p:cNvPr id="5" name="Picture 4" descr="Bubble sheet test paper and pencil">
            <a:extLst>
              <a:ext uri="{FF2B5EF4-FFF2-40B4-BE49-F238E27FC236}">
                <a16:creationId xmlns:a16="http://schemas.microsoft.com/office/drawing/2014/main" id="{B252099A-806E-16E0-410E-073EC95974E6}"/>
              </a:ext>
            </a:extLst>
          </p:cNvPr>
          <p:cNvPicPr>
            <a:picLocks noChangeAspect="1"/>
          </p:cNvPicPr>
          <p:nvPr/>
        </p:nvPicPr>
        <p:blipFill>
          <a:blip r:embed="rId3"/>
          <a:srcRect l="31899" r="-1" b="-1"/>
          <a:stretch>
            <a:fillRect/>
          </a:stretch>
        </p:blipFill>
        <p:spPr>
          <a:xfrm>
            <a:off x="508000" y="2159331"/>
            <a:ext cx="4067572" cy="3882362"/>
          </a:xfrm>
          <a:prstGeom prst="rect">
            <a:avLst/>
          </a:prstGeom>
        </p:spPr>
      </p:pic>
    </p:spTree>
    <p:extLst>
      <p:ext uri="{BB962C8B-B14F-4D97-AF65-F5344CB8AC3E}">
        <p14:creationId xmlns:p14="http://schemas.microsoft.com/office/powerpoint/2010/main" val="22900140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B9FF-0431-D0C0-7BFF-E03B8B8943FE}"/>
              </a:ext>
            </a:extLst>
          </p:cNvPr>
          <p:cNvSpPr>
            <a:spLocks noGrp="1"/>
          </p:cNvSpPr>
          <p:nvPr>
            <p:ph type="title"/>
          </p:nvPr>
        </p:nvSpPr>
        <p:spPr>
          <a:xfrm>
            <a:off x="508000" y="609600"/>
            <a:ext cx="6447501" cy="1320800"/>
          </a:xfrm>
        </p:spPr>
        <p:txBody>
          <a:bodyPr anchor="t">
            <a:normAutofit/>
          </a:bodyPr>
          <a:lstStyle/>
          <a:p>
            <a:r>
              <a:rPr lang="en-US" b="1"/>
              <a:t>Example: Small Data Can Hide Problems</a:t>
            </a:r>
            <a:endParaRPr lang="en-US"/>
          </a:p>
        </p:txBody>
      </p:sp>
      <p:sp>
        <p:nvSpPr>
          <p:cNvPr id="3" name="Content Placeholder 2">
            <a:extLst>
              <a:ext uri="{FF2B5EF4-FFF2-40B4-BE49-F238E27FC236}">
                <a16:creationId xmlns:a16="http://schemas.microsoft.com/office/drawing/2014/main" id="{6DE72415-39AD-6CC9-F72C-D87B727560D6}"/>
              </a:ext>
            </a:extLst>
          </p:cNvPr>
          <p:cNvSpPr>
            <a:spLocks noGrp="1"/>
          </p:cNvSpPr>
          <p:nvPr>
            <p:ph idx="1"/>
          </p:nvPr>
        </p:nvSpPr>
        <p:spPr>
          <a:xfrm>
            <a:off x="4752215" y="2160589"/>
            <a:ext cx="2201035" cy="3880773"/>
          </a:xfrm>
        </p:spPr>
        <p:txBody>
          <a:bodyPr>
            <a:normAutofit/>
          </a:bodyPr>
          <a:lstStyle/>
          <a:p>
            <a:pPr marL="0" indent="0">
              <a:buNone/>
            </a:pPr>
            <a:r>
              <a:rPr lang="en-US" dirty="0"/>
              <a:t>An approach may seem fine with 5 examples.</a:t>
            </a:r>
          </a:p>
          <a:p>
            <a:pPr marL="0" indent="0">
              <a:buNone/>
            </a:pPr>
            <a:r>
              <a:rPr lang="en-US" dirty="0"/>
              <a:t>It may struggle with:</a:t>
            </a:r>
          </a:p>
          <a:p>
            <a:r>
              <a:rPr lang="en-US" dirty="0"/>
              <a:t>500 records</a:t>
            </a:r>
          </a:p>
          <a:p>
            <a:r>
              <a:rPr lang="en-US" dirty="0"/>
              <a:t>5,000 records</a:t>
            </a:r>
          </a:p>
          <a:p>
            <a:r>
              <a:rPr lang="en-US" dirty="0"/>
              <a:t>repeated updates</a:t>
            </a:r>
          </a:p>
          <a:p>
            <a:r>
              <a:rPr lang="en-US" dirty="0"/>
              <a:t>mixed data formats</a:t>
            </a:r>
          </a:p>
        </p:txBody>
      </p:sp>
      <p:pic>
        <p:nvPicPr>
          <p:cNvPr id="5" name="Picture 4" descr="Programming data on computer monitor">
            <a:extLst>
              <a:ext uri="{FF2B5EF4-FFF2-40B4-BE49-F238E27FC236}">
                <a16:creationId xmlns:a16="http://schemas.microsoft.com/office/drawing/2014/main" id="{EA40A3FE-905C-45B3-08E4-0622DD7558FA}"/>
              </a:ext>
            </a:extLst>
          </p:cNvPr>
          <p:cNvPicPr>
            <a:picLocks noChangeAspect="1"/>
          </p:cNvPicPr>
          <p:nvPr/>
        </p:nvPicPr>
        <p:blipFill>
          <a:blip r:embed="rId3"/>
          <a:srcRect l="30065" r="2" b="2"/>
          <a:stretch>
            <a:fillRect/>
          </a:stretch>
        </p:blipFill>
        <p:spPr>
          <a:xfrm>
            <a:off x="508000" y="2159331"/>
            <a:ext cx="4067572" cy="3882362"/>
          </a:xfrm>
          <a:prstGeom prst="rect">
            <a:avLst/>
          </a:prstGeom>
        </p:spPr>
      </p:pic>
    </p:spTree>
    <p:extLst>
      <p:ext uri="{BB962C8B-B14F-4D97-AF65-F5344CB8AC3E}">
        <p14:creationId xmlns:p14="http://schemas.microsoft.com/office/powerpoint/2010/main" val="39893678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371FB-722B-639F-B069-3587CB246900}"/>
              </a:ext>
            </a:extLst>
          </p:cNvPr>
          <p:cNvSpPr>
            <a:spLocks noGrp="1"/>
          </p:cNvSpPr>
          <p:nvPr>
            <p:ph type="title"/>
          </p:nvPr>
        </p:nvSpPr>
        <p:spPr>
          <a:xfrm>
            <a:off x="508000" y="609600"/>
            <a:ext cx="6447501" cy="1320800"/>
          </a:xfrm>
        </p:spPr>
        <p:txBody>
          <a:bodyPr anchor="t">
            <a:normAutofit/>
          </a:bodyPr>
          <a:lstStyle/>
          <a:p>
            <a:r>
              <a:rPr lang="en-US" b="1"/>
              <a:t>Example: Data And Compute Together</a:t>
            </a:r>
            <a:endParaRPr lang="en-US"/>
          </a:p>
        </p:txBody>
      </p:sp>
      <p:sp>
        <p:nvSpPr>
          <p:cNvPr id="3" name="Content Placeholder 2">
            <a:extLst>
              <a:ext uri="{FF2B5EF4-FFF2-40B4-BE49-F238E27FC236}">
                <a16:creationId xmlns:a16="http://schemas.microsoft.com/office/drawing/2014/main" id="{F0FDEAB6-96D0-C040-35D2-8B9AF975BF6F}"/>
              </a:ext>
            </a:extLst>
          </p:cNvPr>
          <p:cNvSpPr>
            <a:spLocks noGrp="1"/>
          </p:cNvSpPr>
          <p:nvPr>
            <p:ph idx="1"/>
          </p:nvPr>
        </p:nvSpPr>
        <p:spPr>
          <a:xfrm>
            <a:off x="4752215" y="2160589"/>
            <a:ext cx="2201035" cy="3880773"/>
          </a:xfrm>
        </p:spPr>
        <p:txBody>
          <a:bodyPr>
            <a:normAutofit/>
          </a:bodyPr>
          <a:lstStyle/>
          <a:p>
            <a:pPr marL="0" indent="0">
              <a:lnSpc>
                <a:spcPct val="90000"/>
              </a:lnSpc>
              <a:buNone/>
            </a:pPr>
            <a:r>
              <a:rPr lang="en-US" dirty="0"/>
              <a:t>Recommendation systems can involve:</a:t>
            </a:r>
            <a:endParaRPr lang="en-US"/>
          </a:p>
          <a:p>
            <a:pPr>
              <a:lnSpc>
                <a:spcPct val="90000"/>
              </a:lnSpc>
            </a:pPr>
            <a:r>
              <a:rPr lang="en-US" dirty="0"/>
              <a:t>many users</a:t>
            </a:r>
            <a:endParaRPr lang="en-US"/>
          </a:p>
          <a:p>
            <a:pPr>
              <a:lnSpc>
                <a:spcPct val="90000"/>
              </a:lnSpc>
            </a:pPr>
            <a:r>
              <a:rPr lang="en-US" dirty="0"/>
              <a:t>many resources</a:t>
            </a:r>
            <a:endParaRPr lang="en-US"/>
          </a:p>
          <a:p>
            <a:pPr>
              <a:lnSpc>
                <a:spcPct val="90000"/>
              </a:lnSpc>
            </a:pPr>
            <a:r>
              <a:rPr lang="en-US" dirty="0"/>
              <a:t>many tags or features</a:t>
            </a:r>
            <a:endParaRPr lang="en-US"/>
          </a:p>
          <a:p>
            <a:pPr>
              <a:lnSpc>
                <a:spcPct val="90000"/>
              </a:lnSpc>
            </a:pPr>
            <a:r>
              <a:rPr lang="en-US" dirty="0"/>
              <a:t>frequent score updates</a:t>
            </a:r>
            <a:endParaRPr lang="en-US"/>
          </a:p>
          <a:p>
            <a:pPr>
              <a:lnSpc>
                <a:spcPct val="90000"/>
              </a:lnSpc>
            </a:pPr>
            <a:r>
              <a:rPr lang="en-US" dirty="0"/>
              <a:t>repeated ranking calculations</a:t>
            </a:r>
            <a:endParaRPr lang="en-US"/>
          </a:p>
        </p:txBody>
      </p:sp>
      <p:pic>
        <p:nvPicPr>
          <p:cNvPr id="5" name="Picture 4" descr="Computer script on a screen">
            <a:extLst>
              <a:ext uri="{FF2B5EF4-FFF2-40B4-BE49-F238E27FC236}">
                <a16:creationId xmlns:a16="http://schemas.microsoft.com/office/drawing/2014/main" id="{D07904D7-B97D-C8D8-4FED-2DC1A6EAAF31}"/>
              </a:ext>
            </a:extLst>
          </p:cNvPr>
          <p:cNvPicPr>
            <a:picLocks noChangeAspect="1"/>
          </p:cNvPicPr>
          <p:nvPr/>
        </p:nvPicPr>
        <p:blipFill>
          <a:blip r:embed="rId3"/>
          <a:srcRect r="30067" b="2"/>
          <a:stretch>
            <a:fillRect/>
          </a:stretch>
        </p:blipFill>
        <p:spPr>
          <a:xfrm>
            <a:off x="508000" y="2159331"/>
            <a:ext cx="4067572" cy="3882362"/>
          </a:xfrm>
          <a:prstGeom prst="rect">
            <a:avLst/>
          </a:prstGeom>
        </p:spPr>
      </p:pic>
    </p:spTree>
    <p:extLst>
      <p:ext uri="{BB962C8B-B14F-4D97-AF65-F5344CB8AC3E}">
        <p14:creationId xmlns:p14="http://schemas.microsoft.com/office/powerpoint/2010/main" val="32558743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5" name="Picture 4" descr="Colorful rolled magazines">
            <a:extLst>
              <a:ext uri="{FF2B5EF4-FFF2-40B4-BE49-F238E27FC236}">
                <a16:creationId xmlns:a16="http://schemas.microsoft.com/office/drawing/2014/main" id="{771DCBED-D310-6C5A-AFAE-9D7EAA4A6972}"/>
              </a:ext>
            </a:extLst>
          </p:cNvPr>
          <p:cNvPicPr>
            <a:picLocks noChangeAspect="1"/>
          </p:cNvPicPr>
          <p:nvPr/>
        </p:nvPicPr>
        <p:blipFill>
          <a:blip r:embed="rId3">
            <a:duotone>
              <a:prstClr val="black"/>
              <a:prstClr val="white"/>
            </a:duotone>
          </a:blip>
          <a:srcRect l="29767" r="18385" b="-2"/>
          <a:stretch>
            <a:fillRect/>
          </a:stretch>
        </p:blipFill>
        <p:spPr>
          <a:xfrm>
            <a:off x="3814762" y="-1"/>
            <a:ext cx="5326856" cy="6858001"/>
          </a:xfrm>
          <a:custGeom>
            <a:avLst/>
            <a:gdLst/>
            <a:ahLst/>
            <a:cxnLst/>
            <a:rect l="l" t="t" r="r" b="b"/>
            <a:pathLst>
              <a:path w="7102474" h="6858001">
                <a:moveTo>
                  <a:pt x="417180" y="0"/>
                </a:moveTo>
                <a:lnTo>
                  <a:pt x="7102474" y="0"/>
                </a:lnTo>
                <a:lnTo>
                  <a:pt x="7102474" y="6858001"/>
                </a:lnTo>
                <a:lnTo>
                  <a:pt x="65002" y="6858001"/>
                </a:lnTo>
                <a:lnTo>
                  <a:pt x="1840421" y="4521201"/>
                </a:lnTo>
                <a:close/>
                <a:moveTo>
                  <a:pt x="0" y="0"/>
                </a:moveTo>
                <a:lnTo>
                  <a:pt x="417180" y="0"/>
                </a:lnTo>
                <a:lnTo>
                  <a:pt x="0" y="447"/>
                </a:lnTo>
                <a:close/>
              </a:path>
            </a:pathLst>
          </a:custGeom>
        </p:spPr>
      </p:pic>
      <p:sp>
        <p:nvSpPr>
          <p:cNvPr id="2" name="Title 1">
            <a:extLst>
              <a:ext uri="{FF2B5EF4-FFF2-40B4-BE49-F238E27FC236}">
                <a16:creationId xmlns:a16="http://schemas.microsoft.com/office/drawing/2014/main" id="{42861510-CA61-0D1A-72BB-E420D0840410}"/>
              </a:ext>
            </a:extLst>
          </p:cNvPr>
          <p:cNvSpPr>
            <a:spLocks noGrp="1"/>
          </p:cNvSpPr>
          <p:nvPr>
            <p:ph type="title"/>
          </p:nvPr>
        </p:nvSpPr>
        <p:spPr>
          <a:xfrm>
            <a:off x="501649" y="1678666"/>
            <a:ext cx="3842636" cy="2369093"/>
          </a:xfrm>
        </p:spPr>
        <p:txBody>
          <a:bodyPr vert="horz" lIns="91440" tIns="45720" rIns="91440" bIns="45720" rtlCol="0" anchor="b">
            <a:normAutofit/>
          </a:bodyPr>
          <a:lstStyle/>
          <a:p>
            <a:pPr algn="r"/>
            <a:r>
              <a:rPr lang="en-US" sz="4200"/>
              <a:t>Wrap up</a:t>
            </a:r>
          </a:p>
        </p:txBody>
      </p:sp>
      <p:sp>
        <p:nvSpPr>
          <p:cNvPr id="3" name="Text Placeholder 2">
            <a:extLst>
              <a:ext uri="{FF2B5EF4-FFF2-40B4-BE49-F238E27FC236}">
                <a16:creationId xmlns:a16="http://schemas.microsoft.com/office/drawing/2014/main" id="{1EDDDF35-D014-F980-031E-B5A95948CD4C}"/>
              </a:ext>
            </a:extLst>
          </p:cNvPr>
          <p:cNvSpPr>
            <a:spLocks noGrp="1"/>
          </p:cNvSpPr>
          <p:nvPr>
            <p:ph type="body" idx="1"/>
          </p:nvPr>
        </p:nvSpPr>
        <p:spPr>
          <a:xfrm>
            <a:off x="508001" y="4050831"/>
            <a:ext cx="3834913" cy="1096901"/>
          </a:xfrm>
        </p:spPr>
        <p:txBody>
          <a:bodyPr vert="horz" lIns="91440" tIns="45720" rIns="91440" bIns="45720" rtlCol="0" anchor="t">
            <a:normAutofit/>
          </a:bodyPr>
          <a:lstStyle/>
          <a:p>
            <a:pPr algn="r"/>
            <a:endParaRPr lang="en-US" sz="1400"/>
          </a:p>
        </p:txBody>
      </p:sp>
      <p:cxnSp>
        <p:nvCxnSpPr>
          <p:cNvPr id="21" name="Straight Connector 20">
            <a:extLst>
              <a:ext uri="{FF2B5EF4-FFF2-40B4-BE49-F238E27FC236}">
                <a16:creationId xmlns:a16="http://schemas.microsoft.com/office/drawing/2014/main" id="{A3D2D849-17D8-45A4-9FB8-B955CD22BD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A0A4A95-757B-4092-A077-CA7C3ADE49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2D2FAE71-B8B1-4745-A59A-A88D3FE48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E4C67344-C816-4380-85F7-CCFD7F8BA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4">
            <a:extLst>
              <a:ext uri="{FF2B5EF4-FFF2-40B4-BE49-F238E27FC236}">
                <a16:creationId xmlns:a16="http://schemas.microsoft.com/office/drawing/2014/main" id="{5A0B04CD-E5BD-4922-BE66-2D5B3A0DEF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7">
            <a:extLst>
              <a:ext uri="{FF2B5EF4-FFF2-40B4-BE49-F238E27FC236}">
                <a16:creationId xmlns:a16="http://schemas.microsoft.com/office/drawing/2014/main" id="{CF4C9BE8-5C78-476D-9042-ECD8BE635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8">
            <a:extLst>
              <a:ext uri="{FF2B5EF4-FFF2-40B4-BE49-F238E27FC236}">
                <a16:creationId xmlns:a16="http://schemas.microsoft.com/office/drawing/2014/main" id="{7D6A31B3-BF49-4DB2-8306-DD2E4B889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9">
            <a:extLst>
              <a:ext uri="{FF2B5EF4-FFF2-40B4-BE49-F238E27FC236}">
                <a16:creationId xmlns:a16="http://schemas.microsoft.com/office/drawing/2014/main" id="{A903E87B-DD97-4095-B106-3218D6AF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29">
            <a:extLst>
              <a:ext uri="{FF2B5EF4-FFF2-40B4-BE49-F238E27FC236}">
                <a16:creationId xmlns:a16="http://schemas.microsoft.com/office/drawing/2014/main" id="{954CB26F-45F0-4288-A3B1-32535127B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0315479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4C146-617D-4E39-D705-22B72B38BE48}"/>
              </a:ext>
            </a:extLst>
          </p:cNvPr>
          <p:cNvSpPr>
            <a:spLocks noGrp="1"/>
          </p:cNvSpPr>
          <p:nvPr>
            <p:ph type="title"/>
          </p:nvPr>
        </p:nvSpPr>
        <p:spPr>
          <a:xfrm>
            <a:off x="3747981" y="609600"/>
            <a:ext cx="3207519" cy="1320800"/>
          </a:xfrm>
        </p:spPr>
        <p:txBody>
          <a:bodyPr anchor="ctr">
            <a:normAutofit/>
          </a:bodyPr>
          <a:lstStyle/>
          <a:p>
            <a:r>
              <a:rPr lang="en-US" b="1" dirty="0"/>
              <a:t>What To Carry Forward</a:t>
            </a:r>
            <a:endParaRPr lang="en-US" dirty="0"/>
          </a:p>
        </p:txBody>
      </p:sp>
      <p:pic>
        <p:nvPicPr>
          <p:cNvPr id="7" name="Graphic 6" descr="Finger Print">
            <a:extLst>
              <a:ext uri="{FF2B5EF4-FFF2-40B4-BE49-F238E27FC236}">
                <a16:creationId xmlns:a16="http://schemas.microsoft.com/office/drawing/2014/main" id="{9CDA5D42-CD20-71ED-88DF-C280BC6218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6A433235-9D16-6582-9577-58004FB83875}"/>
              </a:ext>
            </a:extLst>
          </p:cNvPr>
          <p:cNvSpPr>
            <a:spLocks noGrp="1"/>
          </p:cNvSpPr>
          <p:nvPr>
            <p:ph idx="1"/>
          </p:nvPr>
        </p:nvSpPr>
        <p:spPr>
          <a:xfrm>
            <a:off x="3739367" y="2160589"/>
            <a:ext cx="3213882" cy="3768573"/>
          </a:xfrm>
        </p:spPr>
        <p:txBody>
          <a:bodyPr>
            <a:normAutofit/>
          </a:bodyPr>
          <a:lstStyle/>
          <a:p>
            <a:pPr marL="0" indent="0">
              <a:buNone/>
            </a:pPr>
            <a:r>
              <a:rPr lang="en-US" dirty="0"/>
              <a:t>Algorithms are not just code.</a:t>
            </a:r>
          </a:p>
          <a:p>
            <a:pPr marL="0" indent="0">
              <a:buNone/>
            </a:pPr>
            <a:r>
              <a:rPr lang="en-US" dirty="0"/>
              <a:t>They are:</a:t>
            </a:r>
          </a:p>
          <a:p>
            <a:r>
              <a:rPr lang="en-US" dirty="0"/>
              <a:t>designed</a:t>
            </a:r>
          </a:p>
          <a:p>
            <a:r>
              <a:rPr lang="en-US" dirty="0"/>
              <a:t>represented</a:t>
            </a:r>
          </a:p>
          <a:p>
            <a:r>
              <a:rPr lang="en-US" dirty="0"/>
              <a:t>tested</a:t>
            </a:r>
          </a:p>
          <a:p>
            <a:r>
              <a:rPr lang="en-US" dirty="0"/>
              <a:t>revised</a:t>
            </a:r>
          </a:p>
          <a:p>
            <a:r>
              <a:rPr lang="en-US" dirty="0"/>
              <a:t>explained</a:t>
            </a:r>
          </a:p>
        </p:txBody>
      </p:sp>
    </p:spTree>
    <p:extLst>
      <p:ext uri="{BB962C8B-B14F-4D97-AF65-F5344CB8AC3E}">
        <p14:creationId xmlns:p14="http://schemas.microsoft.com/office/powerpoint/2010/main" val="12796929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85D3F-E078-FC55-695F-976B83CD5338}"/>
              </a:ext>
            </a:extLst>
          </p:cNvPr>
          <p:cNvSpPr>
            <a:spLocks noGrp="1"/>
          </p:cNvSpPr>
          <p:nvPr>
            <p:ph type="title"/>
          </p:nvPr>
        </p:nvSpPr>
        <p:spPr/>
        <p:txBody>
          <a:bodyPr/>
          <a:lstStyle/>
          <a:p>
            <a:r>
              <a:rPr lang="en-US" dirty="0"/>
              <a:t>Next Step</a:t>
            </a:r>
          </a:p>
        </p:txBody>
      </p:sp>
      <p:graphicFrame>
        <p:nvGraphicFramePr>
          <p:cNvPr id="7" name="Content Placeholder 2">
            <a:extLst>
              <a:ext uri="{FF2B5EF4-FFF2-40B4-BE49-F238E27FC236}">
                <a16:creationId xmlns:a16="http://schemas.microsoft.com/office/drawing/2014/main" id="{DE882C46-7257-FC97-CBC6-E983CBE66DE3}"/>
              </a:ext>
            </a:extLst>
          </p:cNvPr>
          <p:cNvGraphicFramePr>
            <a:graphicFrameLocks noGrp="1"/>
          </p:cNvGraphicFramePr>
          <p:nvPr>
            <p:ph idx="1"/>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79268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9F70-8F60-D3FC-3A79-9DFB4AC2D52D}"/>
              </a:ext>
            </a:extLst>
          </p:cNvPr>
          <p:cNvSpPr>
            <a:spLocks noGrp="1"/>
          </p:cNvSpPr>
          <p:nvPr>
            <p:ph type="title"/>
          </p:nvPr>
        </p:nvSpPr>
        <p:spPr>
          <a:xfrm>
            <a:off x="3747981" y="609600"/>
            <a:ext cx="3207519" cy="1320800"/>
          </a:xfrm>
        </p:spPr>
        <p:txBody>
          <a:bodyPr anchor="ctr">
            <a:normAutofit/>
          </a:bodyPr>
          <a:lstStyle/>
          <a:p>
            <a:pPr>
              <a:lnSpc>
                <a:spcPct val="90000"/>
              </a:lnSpc>
            </a:pPr>
            <a:r>
              <a:rPr lang="en-US" sz="2500" b="1"/>
              <a:t>How To Use The Textbook For Next Week's Reading</a:t>
            </a:r>
            <a:endParaRPr lang="en-US" sz="2500"/>
          </a:p>
        </p:txBody>
      </p:sp>
      <p:pic>
        <p:nvPicPr>
          <p:cNvPr id="7" name="Graphic 6" descr="Books">
            <a:extLst>
              <a:ext uri="{FF2B5EF4-FFF2-40B4-BE49-F238E27FC236}">
                <a16:creationId xmlns:a16="http://schemas.microsoft.com/office/drawing/2014/main" id="{CB844410-8630-6014-129E-F9F9F6F089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A57DEBDE-72CE-C2D6-1555-027E1505BD1F}"/>
              </a:ext>
            </a:extLst>
          </p:cNvPr>
          <p:cNvSpPr>
            <a:spLocks noGrp="1"/>
          </p:cNvSpPr>
          <p:nvPr>
            <p:ph idx="1"/>
          </p:nvPr>
        </p:nvSpPr>
        <p:spPr>
          <a:xfrm>
            <a:off x="3739367" y="2160589"/>
            <a:ext cx="3213882" cy="3768573"/>
          </a:xfrm>
        </p:spPr>
        <p:txBody>
          <a:bodyPr>
            <a:normAutofit/>
          </a:bodyPr>
          <a:lstStyle/>
          <a:p>
            <a:pPr marL="0" indent="0">
              <a:lnSpc>
                <a:spcPct val="90000"/>
              </a:lnSpc>
              <a:buNone/>
            </a:pPr>
            <a:r>
              <a:rPr lang="en-US" sz="1400"/>
              <a:t>For next week, read for growth behavior.</a:t>
            </a:r>
          </a:p>
          <a:p>
            <a:pPr marL="0" indent="0">
              <a:lnSpc>
                <a:spcPct val="90000"/>
              </a:lnSpc>
              <a:buNone/>
            </a:pPr>
            <a:r>
              <a:rPr lang="en-US" sz="1400"/>
              <a:t>Focus on:</a:t>
            </a:r>
          </a:p>
          <a:p>
            <a:pPr>
              <a:lnSpc>
                <a:spcPct val="90000"/>
              </a:lnSpc>
            </a:pPr>
            <a:r>
              <a:rPr lang="en-US" sz="1400"/>
              <a:t>what time complexity means</a:t>
            </a:r>
          </a:p>
          <a:p>
            <a:pPr>
              <a:lnSpc>
                <a:spcPct val="90000"/>
              </a:lnSpc>
            </a:pPr>
            <a:r>
              <a:rPr lang="en-US" sz="1400"/>
              <a:t>what space complexity means</a:t>
            </a:r>
          </a:p>
          <a:p>
            <a:pPr>
              <a:lnSpc>
                <a:spcPct val="90000"/>
              </a:lnSpc>
            </a:pPr>
            <a:r>
              <a:rPr lang="en-US" sz="1400"/>
              <a:t>why input size matters</a:t>
            </a:r>
          </a:p>
          <a:p>
            <a:pPr>
              <a:lnSpc>
                <a:spcPct val="90000"/>
              </a:lnSpc>
            </a:pPr>
            <a:r>
              <a:rPr lang="en-US" sz="1400"/>
              <a:t>what O(1), O(n), O(n2), and O(log n) are trying to describe</a:t>
            </a:r>
          </a:p>
          <a:p>
            <a:pPr>
              <a:lnSpc>
                <a:spcPct val="90000"/>
              </a:lnSpc>
            </a:pPr>
            <a:r>
              <a:rPr lang="en-US" sz="1400"/>
              <a:t>how best, worst, and average cases differ</a:t>
            </a:r>
          </a:p>
          <a:p>
            <a:pPr marL="0" indent="0">
              <a:lnSpc>
                <a:spcPct val="90000"/>
              </a:lnSpc>
              <a:buNone/>
            </a:pPr>
            <a:r>
              <a:rPr lang="en-US" sz="1400"/>
              <a:t>Do not panic over formulas. Mark them, skim for meaning, and connect them back to the code examples.</a:t>
            </a:r>
          </a:p>
        </p:txBody>
      </p:sp>
    </p:spTree>
    <p:extLst>
      <p:ext uri="{BB962C8B-B14F-4D97-AF65-F5344CB8AC3E}">
        <p14:creationId xmlns:p14="http://schemas.microsoft.com/office/powerpoint/2010/main" val="23699964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291DAF8-8CBA-95A1-BEA8-AAD0C09C5642}"/>
              </a:ext>
            </a:extLst>
          </p:cNvPr>
          <p:cNvSpPr>
            <a:spLocks noGrp="1"/>
          </p:cNvSpPr>
          <p:nvPr>
            <p:ph type="title"/>
          </p:nvPr>
        </p:nvSpPr>
        <p:spPr>
          <a:xfrm>
            <a:off x="3730752" y="1265314"/>
            <a:ext cx="3572668" cy="3249131"/>
          </a:xfrm>
        </p:spPr>
        <p:txBody>
          <a:bodyPr vert="horz" lIns="91440" tIns="45720" rIns="91440" bIns="45720" rtlCol="0" anchor="b">
            <a:normAutofit/>
          </a:bodyPr>
          <a:lstStyle/>
          <a:p>
            <a:pPr>
              <a:lnSpc>
                <a:spcPct val="90000"/>
              </a:lnSpc>
            </a:pPr>
            <a:r>
              <a:rPr lang="en-US" sz="4800" dirty="0"/>
              <a:t>Thank you!</a:t>
            </a:r>
            <a:br>
              <a:rPr lang="en-US" sz="4800" dirty="0"/>
            </a:br>
            <a:br>
              <a:rPr lang="en-US" sz="4800" dirty="0"/>
            </a:br>
            <a:r>
              <a:rPr lang="en-US" sz="4800" dirty="0"/>
              <a:t>Have Fun!</a:t>
            </a:r>
          </a:p>
        </p:txBody>
      </p:sp>
      <p:sp>
        <p:nvSpPr>
          <p:cNvPr id="5" name="Text Placeholder 4">
            <a:extLst>
              <a:ext uri="{FF2B5EF4-FFF2-40B4-BE49-F238E27FC236}">
                <a16:creationId xmlns:a16="http://schemas.microsoft.com/office/drawing/2014/main" id="{8FE61A93-6BD2-677B-DBB4-F66B15926039}"/>
              </a:ext>
            </a:extLst>
          </p:cNvPr>
          <p:cNvSpPr>
            <a:spLocks noGrp="1"/>
          </p:cNvSpPr>
          <p:nvPr>
            <p:ph type="body" idx="1"/>
          </p:nvPr>
        </p:nvSpPr>
        <p:spPr>
          <a:xfrm>
            <a:off x="3730752" y="4514446"/>
            <a:ext cx="3224749" cy="871042"/>
          </a:xfrm>
        </p:spPr>
        <p:txBody>
          <a:bodyPr vert="horz" lIns="91440" tIns="45720" rIns="91440" bIns="45720" rtlCol="0" anchor="t">
            <a:normAutofit/>
          </a:bodyPr>
          <a:lstStyle/>
          <a:p>
            <a:endParaRPr lang="en-US" sz="1800"/>
          </a:p>
        </p:txBody>
      </p:sp>
      <p:sp>
        <p:nvSpPr>
          <p:cNvPr id="24" name="Isosceles Triangle 2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Thumbs Up Sign">
            <a:extLst>
              <a:ext uri="{FF2B5EF4-FFF2-40B4-BE49-F238E27FC236}">
                <a16:creationId xmlns:a16="http://schemas.microsoft.com/office/drawing/2014/main" id="{CD1A5982-49F4-6629-1884-3B7061C5B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842682234"/>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7283</TotalTime>
  <Words>6269</Words>
  <Application>Microsoft Office PowerPoint</Application>
  <PresentationFormat>On-screen Show (4:3)</PresentationFormat>
  <Paragraphs>754</Paragraphs>
  <Slides>58</Slides>
  <Notes>57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Aptos</vt:lpstr>
      <vt:lpstr>Arial</vt:lpstr>
      <vt:lpstr>Trebuchet MS</vt:lpstr>
      <vt:lpstr>Wingdings 3</vt:lpstr>
      <vt:lpstr>Facet</vt:lpstr>
      <vt:lpstr>Introduction To Algorithms</vt:lpstr>
      <vt:lpstr>Why this is important?</vt:lpstr>
      <vt:lpstr>PowerPoint Presentation</vt:lpstr>
      <vt:lpstr>PowerPoint Presentation</vt:lpstr>
      <vt:lpstr>Why this course matters</vt:lpstr>
      <vt:lpstr>What We Will Use Today</vt:lpstr>
      <vt:lpstr>Algorithmic Problem Solving</vt:lpstr>
      <vt:lpstr>Terms to Remember</vt:lpstr>
      <vt:lpstr>How To Use the Textbook</vt:lpstr>
      <vt:lpstr>Course Pattern</vt:lpstr>
      <vt:lpstr>Today’s Question</vt:lpstr>
      <vt:lpstr>What Counts As Success Today</vt:lpstr>
      <vt:lpstr>What is an Algorithm?</vt:lpstr>
      <vt:lpstr>Design and Coding</vt:lpstr>
      <vt:lpstr>Requirements</vt:lpstr>
      <vt:lpstr>Three Design Questions</vt:lpstr>
      <vt:lpstr>Algorithmic Meaning</vt:lpstr>
      <vt:lpstr>An Algorithm is A Procedure</vt:lpstr>
      <vt:lpstr>PowerPoint Presentation</vt:lpstr>
      <vt:lpstr>“So, What Makes it Algorithmic?”</vt:lpstr>
      <vt:lpstr>Vague Instructions Hide Decisions</vt:lpstr>
      <vt:lpstr>Design Before Coding</vt:lpstr>
      <vt:lpstr>Design Phase</vt:lpstr>
      <vt:lpstr>Coding Phase</vt:lpstr>
      <vt:lpstr>Running Is Not The Same As Correct</vt:lpstr>
      <vt:lpstr>Expected Results</vt:lpstr>
      <vt:lpstr>Algorithm Design Concerns</vt:lpstr>
      <vt:lpstr>Concern 1: Expected Result</vt:lpstr>
      <vt:lpstr>Concern 2: Reasonable Approach</vt:lpstr>
      <vt:lpstr>Concern 3: Larger Data</vt:lpstr>
      <vt:lpstr>Normal Cases And Edge Cases</vt:lpstr>
      <vt:lpstr>Revision Is Part Of The Process</vt:lpstr>
      <vt:lpstr>Data and Compute Dimensions</vt:lpstr>
      <vt:lpstr>Data-Intensive Algorithms</vt:lpstr>
      <vt:lpstr>The Data Dimension</vt:lpstr>
      <vt:lpstr>Compute-Intensive Algorithms</vt:lpstr>
      <vt:lpstr>Both Data And Compute</vt:lpstr>
      <vt:lpstr>Week 1: Practical Takeaway</vt:lpstr>
      <vt:lpstr>Demo Scenario</vt:lpstr>
      <vt:lpstr>Vague Rule Version</vt:lpstr>
      <vt:lpstr>Precise Rule Version</vt:lpstr>
      <vt:lpstr>Representation Bridge</vt:lpstr>
      <vt:lpstr>Demo Evidence</vt:lpstr>
      <vt:lpstr>Demo Add-On: Console Color</vt:lpstr>
      <vt:lpstr>Add-On Principle: Presentation Is Separate From Logic </vt:lpstr>
      <vt:lpstr>From Demo to Lab</vt:lpstr>
      <vt:lpstr>Walkthrough Support</vt:lpstr>
      <vt:lpstr>README Evidence</vt:lpstr>
      <vt:lpstr>Optional Deepening Section</vt:lpstr>
      <vt:lpstr>Example: Expected Result Is Not Always Obvious</vt:lpstr>
      <vt:lpstr>Example: Rule Order Matters</vt:lpstr>
      <vt:lpstr>Example: Small Data Can Hide Problems</vt:lpstr>
      <vt:lpstr>Example: Data And Compute Together</vt:lpstr>
      <vt:lpstr>Wrap up</vt:lpstr>
      <vt:lpstr>What To Carry Forward</vt:lpstr>
      <vt:lpstr>Next Step</vt:lpstr>
      <vt:lpstr>How To Use The Textbook For Next Week's Reading</vt:lpstr>
      <vt:lpstr>Thank you!  Have Fun!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62</cp:revision>
  <dcterms:created xsi:type="dcterms:W3CDTF">2013-01-27T09:14:16Z</dcterms:created>
  <dcterms:modified xsi:type="dcterms:W3CDTF">2026-05-30T14:31:31Z</dcterms:modified>
  <cp:category/>
</cp:coreProperties>
</file>