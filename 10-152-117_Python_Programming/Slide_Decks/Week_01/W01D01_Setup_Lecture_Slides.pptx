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44"/>
  </p:notesMasterIdLst>
  <p:handoutMasterIdLst>
    <p:handoutMasterId r:id="rId45"/>
  </p:handoutMasterIdLst>
  <p:sldIdLst>
    <p:sldId id="256" r:id="rId2"/>
    <p:sldId id="467" r:id="rId3"/>
    <p:sldId id="465" r:id="rId4"/>
    <p:sldId id="323" r:id="rId5"/>
    <p:sldId id="260" r:id="rId6"/>
    <p:sldId id="364" r:id="rId7"/>
    <p:sldId id="377" r:id="rId8"/>
    <p:sldId id="489" r:id="rId9"/>
    <p:sldId id="490" r:id="rId10"/>
    <p:sldId id="468" r:id="rId11"/>
    <p:sldId id="469" r:id="rId12"/>
    <p:sldId id="470" r:id="rId13"/>
    <p:sldId id="473" r:id="rId14"/>
    <p:sldId id="471" r:id="rId15"/>
    <p:sldId id="472" r:id="rId16"/>
    <p:sldId id="474" r:id="rId17"/>
    <p:sldId id="475" r:id="rId18"/>
    <p:sldId id="476" r:id="rId19"/>
    <p:sldId id="491" r:id="rId20"/>
    <p:sldId id="493" r:id="rId21"/>
    <p:sldId id="492" r:id="rId22"/>
    <p:sldId id="477" r:id="rId23"/>
    <p:sldId id="494" r:id="rId24"/>
    <p:sldId id="478" r:id="rId25"/>
    <p:sldId id="479" r:id="rId26"/>
    <p:sldId id="480" r:id="rId27"/>
    <p:sldId id="495" r:id="rId28"/>
    <p:sldId id="481" r:id="rId29"/>
    <p:sldId id="482" r:id="rId30"/>
    <p:sldId id="496" r:id="rId31"/>
    <p:sldId id="497" r:id="rId32"/>
    <p:sldId id="483" r:id="rId33"/>
    <p:sldId id="484" r:id="rId34"/>
    <p:sldId id="485" r:id="rId35"/>
    <p:sldId id="486" r:id="rId36"/>
    <p:sldId id="487" r:id="rId37"/>
    <p:sldId id="488" r:id="rId38"/>
    <p:sldId id="463" r:id="rId39"/>
    <p:sldId id="378" r:id="rId40"/>
    <p:sldId id="307" r:id="rId41"/>
    <p:sldId id="418" r:id="rId42"/>
    <p:sldId id="320"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68900" autoAdjust="0"/>
  </p:normalViewPr>
  <p:slideViewPr>
    <p:cSldViewPr snapToGrid="0" snapToObjects="1">
      <p:cViewPr varScale="1">
        <p:scale>
          <a:sx n="73" d="100"/>
          <a:sy n="73" d="100"/>
        </p:scale>
        <p:origin x="2646"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972B69-4B4F-436A-B547-1FADC4FB29B4}"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A75A4D4B-BFE9-4B6F-9A81-9F9C96F5DA38}">
      <dgm:prSet/>
      <dgm:spPr/>
      <dgm:t>
        <a:bodyPr/>
        <a:lstStyle/>
        <a:p>
          <a:r>
            <a:rPr lang="en-US" dirty="0"/>
            <a:t>check your Python version</a:t>
          </a:r>
        </a:p>
      </dgm:t>
    </dgm:pt>
    <dgm:pt modelId="{4FAABBF4-AB55-44FE-B6F0-B4BF829D004F}" type="parTrans" cxnId="{7F9DA8A4-8191-4121-8DA1-F0552EB3E440}">
      <dgm:prSet/>
      <dgm:spPr/>
      <dgm:t>
        <a:bodyPr/>
        <a:lstStyle/>
        <a:p>
          <a:endParaRPr lang="en-US"/>
        </a:p>
      </dgm:t>
    </dgm:pt>
    <dgm:pt modelId="{7E1354BB-EC61-4A45-99C9-75C6202CC56A}" type="sibTrans" cxnId="{7F9DA8A4-8191-4121-8DA1-F0552EB3E440}">
      <dgm:prSet/>
      <dgm:spPr/>
      <dgm:t>
        <a:bodyPr/>
        <a:lstStyle/>
        <a:p>
          <a:endParaRPr lang="en-US"/>
        </a:p>
      </dgm:t>
    </dgm:pt>
    <dgm:pt modelId="{6B04A7CB-C700-464E-B6C5-E124426C1D04}">
      <dgm:prSet/>
      <dgm:spPr/>
      <dgm:t>
        <a:bodyPr/>
        <a:lstStyle/>
        <a:p>
          <a:r>
            <a:rPr lang="en-US" dirty="0"/>
            <a:t>open a project in VS Code</a:t>
          </a:r>
        </a:p>
      </dgm:t>
    </dgm:pt>
    <dgm:pt modelId="{EE4CE0B4-A959-4FEB-A47D-02B4B36B8543}" type="parTrans" cxnId="{A553FF19-4E0A-4369-AE76-FB5D41AF2E2B}">
      <dgm:prSet/>
      <dgm:spPr/>
      <dgm:t>
        <a:bodyPr/>
        <a:lstStyle/>
        <a:p>
          <a:endParaRPr lang="en-US"/>
        </a:p>
      </dgm:t>
    </dgm:pt>
    <dgm:pt modelId="{AD6FD74D-156F-443C-AF13-6E1065C63C4C}" type="sibTrans" cxnId="{A553FF19-4E0A-4369-AE76-FB5D41AF2E2B}">
      <dgm:prSet/>
      <dgm:spPr/>
      <dgm:t>
        <a:bodyPr/>
        <a:lstStyle/>
        <a:p>
          <a:endParaRPr lang="en-US"/>
        </a:p>
      </dgm:t>
    </dgm:pt>
    <dgm:pt modelId="{AF3CD49F-45BD-4C8C-9816-ED5C4621F185}">
      <dgm:prSet/>
      <dgm:spPr/>
      <dgm:t>
        <a:bodyPr/>
        <a:lstStyle/>
        <a:p>
          <a:r>
            <a:rPr lang="en-US" dirty="0"/>
            <a:t>select a `.venv` interpreter</a:t>
          </a:r>
        </a:p>
      </dgm:t>
    </dgm:pt>
    <dgm:pt modelId="{07D48F9E-E828-497B-9198-CE0A62FA3407}" type="parTrans" cxnId="{A21D296C-E3A0-415F-9695-5C82D6B79739}">
      <dgm:prSet/>
      <dgm:spPr/>
      <dgm:t>
        <a:bodyPr/>
        <a:lstStyle/>
        <a:p>
          <a:endParaRPr lang="en-US"/>
        </a:p>
      </dgm:t>
    </dgm:pt>
    <dgm:pt modelId="{FBA33EBD-03C8-4F64-AB44-D7FE52D4EBCC}" type="sibTrans" cxnId="{A21D296C-E3A0-415F-9695-5C82D6B79739}">
      <dgm:prSet/>
      <dgm:spPr/>
      <dgm:t>
        <a:bodyPr/>
        <a:lstStyle/>
        <a:p>
          <a:endParaRPr lang="en-US"/>
        </a:p>
      </dgm:t>
    </dgm:pt>
    <dgm:pt modelId="{2CD66D1D-2E27-4719-AB41-66A0C54CF10F}">
      <dgm:prSet/>
      <dgm:spPr/>
      <dgm:t>
        <a:bodyPr/>
        <a:lstStyle/>
        <a:p>
          <a:r>
            <a:rPr lang="en-US" dirty="0"/>
            <a:t>run a small `.py` file</a:t>
          </a:r>
        </a:p>
      </dgm:t>
    </dgm:pt>
    <dgm:pt modelId="{001A47BD-BE7E-4F09-B025-3B50528DBC00}" type="parTrans" cxnId="{2689F4C3-11F3-4FDC-9D74-FD19A4AD1487}">
      <dgm:prSet/>
      <dgm:spPr/>
      <dgm:t>
        <a:bodyPr/>
        <a:lstStyle/>
        <a:p>
          <a:endParaRPr lang="en-US"/>
        </a:p>
      </dgm:t>
    </dgm:pt>
    <dgm:pt modelId="{708394C9-C0B2-4046-A5F1-1F30492AB4F4}" type="sibTrans" cxnId="{2689F4C3-11F3-4FDC-9D74-FD19A4AD1487}">
      <dgm:prSet/>
      <dgm:spPr/>
      <dgm:t>
        <a:bodyPr/>
        <a:lstStyle/>
        <a:p>
          <a:endParaRPr lang="en-US"/>
        </a:p>
      </dgm:t>
    </dgm:pt>
    <dgm:pt modelId="{0FB0F516-42EF-4A91-8310-C1E43E87F992}">
      <dgm:prSet/>
      <dgm:spPr/>
      <dgm:t>
        <a:bodyPr/>
        <a:lstStyle/>
        <a:p>
          <a:r>
            <a:rPr lang="en-US" dirty="0"/>
            <a:t>see your code in GitHub or prepare it for submission</a:t>
          </a:r>
        </a:p>
      </dgm:t>
    </dgm:pt>
    <dgm:pt modelId="{E739AA11-51EB-49BB-90AA-B988B4A3432C}" type="parTrans" cxnId="{F14E51A4-2492-40B2-AAD0-9B2106337180}">
      <dgm:prSet/>
      <dgm:spPr/>
      <dgm:t>
        <a:bodyPr/>
        <a:lstStyle/>
        <a:p>
          <a:endParaRPr lang="en-US"/>
        </a:p>
      </dgm:t>
    </dgm:pt>
    <dgm:pt modelId="{D23D8479-DA8F-4AFC-9B53-F6CD55C61003}" type="sibTrans" cxnId="{F14E51A4-2492-40B2-AAD0-9B2106337180}">
      <dgm:prSet/>
      <dgm:spPr/>
      <dgm:t>
        <a:bodyPr/>
        <a:lstStyle/>
        <a:p>
          <a:endParaRPr lang="en-US"/>
        </a:p>
      </dgm:t>
    </dgm:pt>
    <dgm:pt modelId="{C74AEAA8-95AA-4DD2-B5BF-AF2613DDA678}" type="pres">
      <dgm:prSet presAssocID="{A8972B69-4B4F-436A-B547-1FADC4FB29B4}" presName="linear" presStyleCnt="0">
        <dgm:presLayoutVars>
          <dgm:animLvl val="lvl"/>
          <dgm:resizeHandles val="exact"/>
        </dgm:presLayoutVars>
      </dgm:prSet>
      <dgm:spPr/>
    </dgm:pt>
    <dgm:pt modelId="{C717DEE2-2529-4048-A027-0347422F7B4B}" type="pres">
      <dgm:prSet presAssocID="{A75A4D4B-BFE9-4B6F-9A81-9F9C96F5DA38}" presName="parentText" presStyleLbl="node1" presStyleIdx="0" presStyleCnt="5">
        <dgm:presLayoutVars>
          <dgm:chMax val="0"/>
          <dgm:bulletEnabled val="1"/>
        </dgm:presLayoutVars>
      </dgm:prSet>
      <dgm:spPr/>
    </dgm:pt>
    <dgm:pt modelId="{4287A08D-B1A3-4BC4-BB02-712CE914270A}" type="pres">
      <dgm:prSet presAssocID="{7E1354BB-EC61-4A45-99C9-75C6202CC56A}" presName="spacer" presStyleCnt="0"/>
      <dgm:spPr/>
    </dgm:pt>
    <dgm:pt modelId="{41229791-62FC-4F0A-AD8A-9B4EE560E502}" type="pres">
      <dgm:prSet presAssocID="{6B04A7CB-C700-464E-B6C5-E124426C1D04}" presName="parentText" presStyleLbl="node1" presStyleIdx="1" presStyleCnt="5">
        <dgm:presLayoutVars>
          <dgm:chMax val="0"/>
          <dgm:bulletEnabled val="1"/>
        </dgm:presLayoutVars>
      </dgm:prSet>
      <dgm:spPr/>
    </dgm:pt>
    <dgm:pt modelId="{0D5DCE93-996F-4A6C-9D69-1606AE4ACE5A}" type="pres">
      <dgm:prSet presAssocID="{AD6FD74D-156F-443C-AF13-6E1065C63C4C}" presName="spacer" presStyleCnt="0"/>
      <dgm:spPr/>
    </dgm:pt>
    <dgm:pt modelId="{03D9F129-E56A-42FF-827E-811C90871217}" type="pres">
      <dgm:prSet presAssocID="{AF3CD49F-45BD-4C8C-9816-ED5C4621F185}" presName="parentText" presStyleLbl="node1" presStyleIdx="2" presStyleCnt="5">
        <dgm:presLayoutVars>
          <dgm:chMax val="0"/>
          <dgm:bulletEnabled val="1"/>
        </dgm:presLayoutVars>
      </dgm:prSet>
      <dgm:spPr/>
    </dgm:pt>
    <dgm:pt modelId="{A47CD782-9FE5-49C5-854A-DC34BCD34807}" type="pres">
      <dgm:prSet presAssocID="{FBA33EBD-03C8-4F64-AB44-D7FE52D4EBCC}" presName="spacer" presStyleCnt="0"/>
      <dgm:spPr/>
    </dgm:pt>
    <dgm:pt modelId="{2B926070-F099-4203-BC93-00936D5449A4}" type="pres">
      <dgm:prSet presAssocID="{2CD66D1D-2E27-4719-AB41-66A0C54CF10F}" presName="parentText" presStyleLbl="node1" presStyleIdx="3" presStyleCnt="5">
        <dgm:presLayoutVars>
          <dgm:chMax val="0"/>
          <dgm:bulletEnabled val="1"/>
        </dgm:presLayoutVars>
      </dgm:prSet>
      <dgm:spPr/>
    </dgm:pt>
    <dgm:pt modelId="{1A227CA0-692E-4F1D-8C43-28BB8BD2EBC4}" type="pres">
      <dgm:prSet presAssocID="{708394C9-C0B2-4046-A5F1-1F30492AB4F4}" presName="spacer" presStyleCnt="0"/>
      <dgm:spPr/>
    </dgm:pt>
    <dgm:pt modelId="{79954CB2-0D37-49B5-93F7-81C4EBAF1BEB}" type="pres">
      <dgm:prSet presAssocID="{0FB0F516-42EF-4A91-8310-C1E43E87F992}" presName="parentText" presStyleLbl="node1" presStyleIdx="4" presStyleCnt="5">
        <dgm:presLayoutVars>
          <dgm:chMax val="0"/>
          <dgm:bulletEnabled val="1"/>
        </dgm:presLayoutVars>
      </dgm:prSet>
      <dgm:spPr/>
    </dgm:pt>
  </dgm:ptLst>
  <dgm:cxnLst>
    <dgm:cxn modelId="{A553FF19-4E0A-4369-AE76-FB5D41AF2E2B}" srcId="{A8972B69-4B4F-436A-B547-1FADC4FB29B4}" destId="{6B04A7CB-C700-464E-B6C5-E124426C1D04}" srcOrd="1" destOrd="0" parTransId="{EE4CE0B4-A959-4FEB-A47D-02B4B36B8543}" sibTransId="{AD6FD74D-156F-443C-AF13-6E1065C63C4C}"/>
    <dgm:cxn modelId="{7473072D-3103-402B-ABC6-B235903BD46D}" type="presOf" srcId="{AF3CD49F-45BD-4C8C-9816-ED5C4621F185}" destId="{03D9F129-E56A-42FF-827E-811C90871217}" srcOrd="0" destOrd="0" presId="urn:microsoft.com/office/officeart/2005/8/layout/vList2"/>
    <dgm:cxn modelId="{A21D296C-E3A0-415F-9695-5C82D6B79739}" srcId="{A8972B69-4B4F-436A-B547-1FADC4FB29B4}" destId="{AF3CD49F-45BD-4C8C-9816-ED5C4621F185}" srcOrd="2" destOrd="0" parTransId="{07D48F9E-E828-497B-9198-CE0A62FA3407}" sibTransId="{FBA33EBD-03C8-4F64-AB44-D7FE52D4EBCC}"/>
    <dgm:cxn modelId="{C150B981-EF0C-4A9E-9811-B902BC49B38F}" type="presOf" srcId="{0FB0F516-42EF-4A91-8310-C1E43E87F992}" destId="{79954CB2-0D37-49B5-93F7-81C4EBAF1BEB}" srcOrd="0" destOrd="0" presId="urn:microsoft.com/office/officeart/2005/8/layout/vList2"/>
    <dgm:cxn modelId="{8D35FA8C-29FD-4392-B593-A0900FCB8F47}" type="presOf" srcId="{6B04A7CB-C700-464E-B6C5-E124426C1D04}" destId="{41229791-62FC-4F0A-AD8A-9B4EE560E502}" srcOrd="0" destOrd="0" presId="urn:microsoft.com/office/officeart/2005/8/layout/vList2"/>
    <dgm:cxn modelId="{F14E51A4-2492-40B2-AAD0-9B2106337180}" srcId="{A8972B69-4B4F-436A-B547-1FADC4FB29B4}" destId="{0FB0F516-42EF-4A91-8310-C1E43E87F992}" srcOrd="4" destOrd="0" parTransId="{E739AA11-51EB-49BB-90AA-B988B4A3432C}" sibTransId="{D23D8479-DA8F-4AFC-9B53-F6CD55C61003}"/>
    <dgm:cxn modelId="{7F9DA8A4-8191-4121-8DA1-F0552EB3E440}" srcId="{A8972B69-4B4F-436A-B547-1FADC4FB29B4}" destId="{A75A4D4B-BFE9-4B6F-9A81-9F9C96F5DA38}" srcOrd="0" destOrd="0" parTransId="{4FAABBF4-AB55-44FE-B6F0-B4BF829D004F}" sibTransId="{7E1354BB-EC61-4A45-99C9-75C6202CC56A}"/>
    <dgm:cxn modelId="{F3DDD4B0-98F6-48B6-ACA5-ADB06939BE37}" type="presOf" srcId="{A8972B69-4B4F-436A-B547-1FADC4FB29B4}" destId="{C74AEAA8-95AA-4DD2-B5BF-AF2613DDA678}" srcOrd="0" destOrd="0" presId="urn:microsoft.com/office/officeart/2005/8/layout/vList2"/>
    <dgm:cxn modelId="{2689F4C3-11F3-4FDC-9D74-FD19A4AD1487}" srcId="{A8972B69-4B4F-436A-B547-1FADC4FB29B4}" destId="{2CD66D1D-2E27-4719-AB41-66A0C54CF10F}" srcOrd="3" destOrd="0" parTransId="{001A47BD-BE7E-4F09-B025-3B50528DBC00}" sibTransId="{708394C9-C0B2-4046-A5F1-1F30492AB4F4}"/>
    <dgm:cxn modelId="{414326CC-859F-45A0-BFF5-899BC45891B2}" type="presOf" srcId="{A75A4D4B-BFE9-4B6F-9A81-9F9C96F5DA38}" destId="{C717DEE2-2529-4048-A027-0347422F7B4B}" srcOrd="0" destOrd="0" presId="urn:microsoft.com/office/officeart/2005/8/layout/vList2"/>
    <dgm:cxn modelId="{ADE32EFB-F49E-40C1-B288-FB4646994EDF}" type="presOf" srcId="{2CD66D1D-2E27-4719-AB41-66A0C54CF10F}" destId="{2B926070-F099-4203-BC93-00936D5449A4}" srcOrd="0" destOrd="0" presId="urn:microsoft.com/office/officeart/2005/8/layout/vList2"/>
    <dgm:cxn modelId="{44C282F8-026D-4D0E-88F8-71C8338D4947}" type="presParOf" srcId="{C74AEAA8-95AA-4DD2-B5BF-AF2613DDA678}" destId="{C717DEE2-2529-4048-A027-0347422F7B4B}" srcOrd="0" destOrd="0" presId="urn:microsoft.com/office/officeart/2005/8/layout/vList2"/>
    <dgm:cxn modelId="{A2FC0041-DBBC-4347-B284-15C177BA5CBB}" type="presParOf" srcId="{C74AEAA8-95AA-4DD2-B5BF-AF2613DDA678}" destId="{4287A08D-B1A3-4BC4-BB02-712CE914270A}" srcOrd="1" destOrd="0" presId="urn:microsoft.com/office/officeart/2005/8/layout/vList2"/>
    <dgm:cxn modelId="{3A2C92A1-351D-47E3-91A8-0F238074F054}" type="presParOf" srcId="{C74AEAA8-95AA-4DD2-B5BF-AF2613DDA678}" destId="{41229791-62FC-4F0A-AD8A-9B4EE560E502}" srcOrd="2" destOrd="0" presId="urn:microsoft.com/office/officeart/2005/8/layout/vList2"/>
    <dgm:cxn modelId="{9D3CEF1D-D24E-4010-B7A6-5798BB2B5285}" type="presParOf" srcId="{C74AEAA8-95AA-4DD2-B5BF-AF2613DDA678}" destId="{0D5DCE93-996F-4A6C-9D69-1606AE4ACE5A}" srcOrd="3" destOrd="0" presId="urn:microsoft.com/office/officeart/2005/8/layout/vList2"/>
    <dgm:cxn modelId="{04DCBCF8-13E3-429E-9C8C-36A34B37B37C}" type="presParOf" srcId="{C74AEAA8-95AA-4DD2-B5BF-AF2613DDA678}" destId="{03D9F129-E56A-42FF-827E-811C90871217}" srcOrd="4" destOrd="0" presId="urn:microsoft.com/office/officeart/2005/8/layout/vList2"/>
    <dgm:cxn modelId="{3A625163-4378-4E34-BF07-253FF32495E3}" type="presParOf" srcId="{C74AEAA8-95AA-4DD2-B5BF-AF2613DDA678}" destId="{A47CD782-9FE5-49C5-854A-DC34BCD34807}" srcOrd="5" destOrd="0" presId="urn:microsoft.com/office/officeart/2005/8/layout/vList2"/>
    <dgm:cxn modelId="{B31F9469-85A7-4FDB-89B7-CA9D73425FC6}" type="presParOf" srcId="{C74AEAA8-95AA-4DD2-B5BF-AF2613DDA678}" destId="{2B926070-F099-4203-BC93-00936D5449A4}" srcOrd="6" destOrd="0" presId="urn:microsoft.com/office/officeart/2005/8/layout/vList2"/>
    <dgm:cxn modelId="{D636074B-765E-49EA-9DC5-61B5209E0DC7}" type="presParOf" srcId="{C74AEAA8-95AA-4DD2-B5BF-AF2613DDA678}" destId="{1A227CA0-692E-4F1D-8C43-28BB8BD2EBC4}" srcOrd="7" destOrd="0" presId="urn:microsoft.com/office/officeart/2005/8/layout/vList2"/>
    <dgm:cxn modelId="{B88D58E0-F058-4AAA-99DC-DAA8B4CB2C35}" type="presParOf" srcId="{C74AEAA8-95AA-4DD2-B5BF-AF2613DDA678}" destId="{79954CB2-0D37-49B5-93F7-81C4EBAF1BE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7BBE77-F3BD-4A23-AF03-664667486753}"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D865D252-C62C-4BA7-8C61-C9D4F2276343}">
      <dgm:prSet/>
      <dgm:spPr/>
      <dgm:t>
        <a:bodyPr/>
        <a:lstStyle/>
        <a:p>
          <a:r>
            <a:rPr lang="en-US" b="1" i="1" dirty="0"/>
            <a:t>Later</a:t>
          </a:r>
          <a:r>
            <a:rPr lang="en-US" dirty="0"/>
            <a:t>:</a:t>
          </a:r>
          <a:br>
            <a:rPr lang="en-US" dirty="0"/>
          </a:br>
          <a:r>
            <a:rPr lang="en-US" dirty="0"/>
            <a:t>when projects use packages, `.</a:t>
          </a:r>
          <a:r>
            <a:rPr lang="en-US" dirty="0" err="1"/>
            <a:t>venv</a:t>
          </a:r>
          <a:r>
            <a:rPr lang="en-US" dirty="0"/>
            <a:t>` helps keep installs project-specific.</a:t>
          </a:r>
        </a:p>
      </dgm:t>
    </dgm:pt>
    <dgm:pt modelId="{D780D2D9-D14F-42BF-A87B-E489FA98DFE4}" type="parTrans" cxnId="{C25600CD-3A8D-4AB8-80C8-79C717755975}">
      <dgm:prSet/>
      <dgm:spPr/>
      <dgm:t>
        <a:bodyPr/>
        <a:lstStyle/>
        <a:p>
          <a:endParaRPr lang="en-US"/>
        </a:p>
      </dgm:t>
    </dgm:pt>
    <dgm:pt modelId="{CA99CE4C-9F3E-4A5B-BF40-A70826E52E47}" type="sibTrans" cxnId="{C25600CD-3A8D-4AB8-80C8-79C717755975}">
      <dgm:prSet/>
      <dgm:spPr/>
      <dgm:t>
        <a:bodyPr/>
        <a:lstStyle/>
        <a:p>
          <a:endParaRPr lang="en-US"/>
        </a:p>
      </dgm:t>
    </dgm:pt>
    <dgm:pt modelId="{53B59A1C-86F1-4BAC-8579-328759E6A564}">
      <dgm:prSet/>
      <dgm:spPr/>
      <dgm:t>
        <a:bodyPr/>
        <a:lstStyle/>
        <a:p>
          <a:r>
            <a:rPr lang="en-US" b="1" i="1" dirty="0"/>
            <a:t>For Week 1</a:t>
          </a:r>
          <a:r>
            <a:rPr lang="en-US" dirty="0"/>
            <a:t>:</a:t>
          </a:r>
          <a:br>
            <a:rPr lang="en-US" dirty="0"/>
          </a:br>
          <a:r>
            <a:rPr lang="en-US" dirty="0"/>
            <a:t>the goal is simply to know what `.</a:t>
          </a:r>
          <a:r>
            <a:rPr lang="en-US" dirty="0" err="1"/>
            <a:t>venv</a:t>
          </a:r>
          <a:r>
            <a:rPr lang="en-US" dirty="0"/>
            <a:t>` is and how to create/select it.</a:t>
          </a:r>
        </a:p>
      </dgm:t>
    </dgm:pt>
    <dgm:pt modelId="{8B0E6910-59FC-4369-930F-12D79F47ED55}" type="parTrans" cxnId="{6B84E0C1-7BD7-4283-8F51-B96482E5DD10}">
      <dgm:prSet/>
      <dgm:spPr/>
      <dgm:t>
        <a:bodyPr/>
        <a:lstStyle/>
        <a:p>
          <a:endParaRPr lang="en-US"/>
        </a:p>
      </dgm:t>
    </dgm:pt>
    <dgm:pt modelId="{FD175C31-E9C8-4326-84A4-513E9FF38C8F}" type="sibTrans" cxnId="{6B84E0C1-7BD7-4283-8F51-B96482E5DD10}">
      <dgm:prSet/>
      <dgm:spPr/>
      <dgm:t>
        <a:bodyPr/>
        <a:lstStyle/>
        <a:p>
          <a:endParaRPr lang="en-US"/>
        </a:p>
      </dgm:t>
    </dgm:pt>
    <dgm:pt modelId="{D236354B-983F-4D74-9F17-7CAEB1A471F0}" type="pres">
      <dgm:prSet presAssocID="{CC7BBE77-F3BD-4A23-AF03-664667486753}" presName="linear" presStyleCnt="0">
        <dgm:presLayoutVars>
          <dgm:animLvl val="lvl"/>
          <dgm:resizeHandles val="exact"/>
        </dgm:presLayoutVars>
      </dgm:prSet>
      <dgm:spPr/>
    </dgm:pt>
    <dgm:pt modelId="{3060ACDA-481D-40F3-9B51-17449C71313D}" type="pres">
      <dgm:prSet presAssocID="{D865D252-C62C-4BA7-8C61-C9D4F2276343}" presName="parentText" presStyleLbl="node1" presStyleIdx="0" presStyleCnt="2">
        <dgm:presLayoutVars>
          <dgm:chMax val="0"/>
          <dgm:bulletEnabled val="1"/>
        </dgm:presLayoutVars>
      </dgm:prSet>
      <dgm:spPr/>
    </dgm:pt>
    <dgm:pt modelId="{EA1605FC-8F85-4C97-AADB-B942BC39BC07}" type="pres">
      <dgm:prSet presAssocID="{CA99CE4C-9F3E-4A5B-BF40-A70826E52E47}" presName="spacer" presStyleCnt="0"/>
      <dgm:spPr/>
    </dgm:pt>
    <dgm:pt modelId="{BCC4F11C-E6EB-4DD5-9275-2A7FA1384DBB}" type="pres">
      <dgm:prSet presAssocID="{53B59A1C-86F1-4BAC-8579-328759E6A564}" presName="parentText" presStyleLbl="node1" presStyleIdx="1" presStyleCnt="2">
        <dgm:presLayoutVars>
          <dgm:chMax val="0"/>
          <dgm:bulletEnabled val="1"/>
        </dgm:presLayoutVars>
      </dgm:prSet>
      <dgm:spPr/>
    </dgm:pt>
  </dgm:ptLst>
  <dgm:cxnLst>
    <dgm:cxn modelId="{57704603-AE6A-4D67-8A48-911E8014CE94}" type="presOf" srcId="{CC7BBE77-F3BD-4A23-AF03-664667486753}" destId="{D236354B-983F-4D74-9F17-7CAEB1A471F0}" srcOrd="0" destOrd="0" presId="urn:microsoft.com/office/officeart/2005/8/layout/vList2"/>
    <dgm:cxn modelId="{DC846148-880B-427C-8C8C-E3D2EB5A61F8}" type="presOf" srcId="{D865D252-C62C-4BA7-8C61-C9D4F2276343}" destId="{3060ACDA-481D-40F3-9B51-17449C71313D}" srcOrd="0" destOrd="0" presId="urn:microsoft.com/office/officeart/2005/8/layout/vList2"/>
    <dgm:cxn modelId="{6B84E0C1-7BD7-4283-8F51-B96482E5DD10}" srcId="{CC7BBE77-F3BD-4A23-AF03-664667486753}" destId="{53B59A1C-86F1-4BAC-8579-328759E6A564}" srcOrd="1" destOrd="0" parTransId="{8B0E6910-59FC-4369-930F-12D79F47ED55}" sibTransId="{FD175C31-E9C8-4326-84A4-513E9FF38C8F}"/>
    <dgm:cxn modelId="{C25600CD-3A8D-4AB8-80C8-79C717755975}" srcId="{CC7BBE77-F3BD-4A23-AF03-664667486753}" destId="{D865D252-C62C-4BA7-8C61-C9D4F2276343}" srcOrd="0" destOrd="0" parTransId="{D780D2D9-D14F-42BF-A87B-E489FA98DFE4}" sibTransId="{CA99CE4C-9F3E-4A5B-BF40-A70826E52E47}"/>
    <dgm:cxn modelId="{69C15EE1-79A8-42E7-835F-81C0DABFB47E}" type="presOf" srcId="{53B59A1C-86F1-4BAC-8579-328759E6A564}" destId="{BCC4F11C-E6EB-4DD5-9275-2A7FA1384DBB}" srcOrd="0" destOrd="0" presId="urn:microsoft.com/office/officeart/2005/8/layout/vList2"/>
    <dgm:cxn modelId="{FD384F6A-F36A-464E-8B47-80E30FB4AD5C}" type="presParOf" srcId="{D236354B-983F-4D74-9F17-7CAEB1A471F0}" destId="{3060ACDA-481D-40F3-9B51-17449C71313D}" srcOrd="0" destOrd="0" presId="urn:microsoft.com/office/officeart/2005/8/layout/vList2"/>
    <dgm:cxn modelId="{934053DF-286C-406B-9AE0-A03650D589E0}" type="presParOf" srcId="{D236354B-983F-4D74-9F17-7CAEB1A471F0}" destId="{EA1605FC-8F85-4C97-AADB-B942BC39BC07}" srcOrd="1" destOrd="0" presId="urn:microsoft.com/office/officeart/2005/8/layout/vList2"/>
    <dgm:cxn modelId="{C20A8FF1-28A8-47F3-8B47-EF40D81051D1}" type="presParOf" srcId="{D236354B-983F-4D74-9F17-7CAEB1A471F0}" destId="{BCC4F11C-E6EB-4DD5-9275-2A7FA1384DB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42078D-EAF6-41F0-AB5B-72AF4269BD1A}"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270307B2-53CA-4110-A926-330F24645F8E}">
      <dgm:prSet/>
      <dgm:spPr/>
      <dgm:t>
        <a:bodyPr/>
        <a:lstStyle/>
        <a:p>
          <a:r>
            <a:rPr lang="en-US"/>
            <a:t>Visual Studio is a true IDE - Integrated Developer Environment. </a:t>
          </a:r>
        </a:p>
      </dgm:t>
    </dgm:pt>
    <dgm:pt modelId="{65DE384A-0333-4DC1-95EC-77E1413C8953}" type="parTrans" cxnId="{6ED24E8A-6A64-4A42-B2E2-CBD997EAFC09}">
      <dgm:prSet/>
      <dgm:spPr/>
      <dgm:t>
        <a:bodyPr/>
        <a:lstStyle/>
        <a:p>
          <a:endParaRPr lang="en-US"/>
        </a:p>
      </dgm:t>
    </dgm:pt>
    <dgm:pt modelId="{BAB2DB3B-6A0E-437E-B8AA-4CF1BD126471}" type="sibTrans" cxnId="{6ED24E8A-6A64-4A42-B2E2-CBD997EAFC09}">
      <dgm:prSet/>
      <dgm:spPr/>
      <dgm:t>
        <a:bodyPr/>
        <a:lstStyle/>
        <a:p>
          <a:endParaRPr lang="en-US"/>
        </a:p>
      </dgm:t>
    </dgm:pt>
    <dgm:pt modelId="{0B889466-19E1-4ECD-A2AD-E76723C61044}">
      <dgm:prSet/>
      <dgm:spPr/>
      <dgm:t>
        <a:bodyPr/>
        <a:lstStyle/>
        <a:p>
          <a:r>
            <a:rPr lang="en-US"/>
            <a:t>Heavy footprint (takes a lot of memory)</a:t>
          </a:r>
        </a:p>
      </dgm:t>
    </dgm:pt>
    <dgm:pt modelId="{5D9A079C-5E99-4ABB-A1C7-114AF236658D}" type="parTrans" cxnId="{2BB47B84-D1AE-45A3-AD85-7BA2BD903332}">
      <dgm:prSet/>
      <dgm:spPr/>
      <dgm:t>
        <a:bodyPr/>
        <a:lstStyle/>
        <a:p>
          <a:endParaRPr lang="en-US"/>
        </a:p>
      </dgm:t>
    </dgm:pt>
    <dgm:pt modelId="{37B9E4D6-3484-4734-BB75-27629438C6E4}" type="sibTrans" cxnId="{2BB47B84-D1AE-45A3-AD85-7BA2BD903332}">
      <dgm:prSet/>
      <dgm:spPr/>
      <dgm:t>
        <a:bodyPr/>
        <a:lstStyle/>
        <a:p>
          <a:endParaRPr lang="en-US"/>
        </a:p>
      </dgm:t>
    </dgm:pt>
    <dgm:pt modelId="{D959E823-C27E-49AF-BEEF-8764A0613628}">
      <dgm:prSet/>
      <dgm:spPr/>
      <dgm:t>
        <a:bodyPr/>
        <a:lstStyle/>
        <a:p>
          <a:r>
            <a:rPr lang="en-US"/>
            <a:t>Great for C# and .NET framework development</a:t>
          </a:r>
        </a:p>
      </dgm:t>
    </dgm:pt>
    <dgm:pt modelId="{2D9A8323-817E-4124-9661-C374D064652D}" type="parTrans" cxnId="{11A378C5-F796-46D0-978D-800D3B304720}">
      <dgm:prSet/>
      <dgm:spPr/>
      <dgm:t>
        <a:bodyPr/>
        <a:lstStyle/>
        <a:p>
          <a:endParaRPr lang="en-US"/>
        </a:p>
      </dgm:t>
    </dgm:pt>
    <dgm:pt modelId="{6789489A-4186-41AF-8A18-DECE51004E83}" type="sibTrans" cxnId="{11A378C5-F796-46D0-978D-800D3B304720}">
      <dgm:prSet/>
      <dgm:spPr/>
      <dgm:t>
        <a:bodyPr/>
        <a:lstStyle/>
        <a:p>
          <a:endParaRPr lang="en-US"/>
        </a:p>
      </dgm:t>
    </dgm:pt>
    <dgm:pt modelId="{10802863-DEC2-4D9E-AE3B-FB1096BA667A}">
      <dgm:prSet/>
      <dgm:spPr/>
      <dgm:t>
        <a:bodyPr/>
        <a:lstStyle/>
        <a:p>
          <a:r>
            <a:rPr lang="en-US"/>
            <a:t>Doesn’t play well on an iOS machines</a:t>
          </a:r>
        </a:p>
      </dgm:t>
    </dgm:pt>
    <dgm:pt modelId="{A8D885F3-6EB1-4C66-AFED-71693CD94376}" type="parTrans" cxnId="{2E03DDF7-BFA7-4E5C-903F-564FD74DB470}">
      <dgm:prSet/>
      <dgm:spPr/>
      <dgm:t>
        <a:bodyPr/>
        <a:lstStyle/>
        <a:p>
          <a:endParaRPr lang="en-US"/>
        </a:p>
      </dgm:t>
    </dgm:pt>
    <dgm:pt modelId="{D5802352-B028-4AFD-B03D-371803D79FC1}" type="sibTrans" cxnId="{2E03DDF7-BFA7-4E5C-903F-564FD74DB470}">
      <dgm:prSet/>
      <dgm:spPr/>
      <dgm:t>
        <a:bodyPr/>
        <a:lstStyle/>
        <a:p>
          <a:endParaRPr lang="en-US"/>
        </a:p>
      </dgm:t>
    </dgm:pt>
    <dgm:pt modelId="{5B50AA74-2C44-4B83-8FD9-671CAF45A684}">
      <dgm:prSet/>
      <dgm:spPr/>
      <dgm:t>
        <a:bodyPr/>
        <a:lstStyle/>
        <a:p>
          <a:r>
            <a:rPr lang="en-US"/>
            <a:t>VS Code is a code editor, not a true IDE … but can function as a full-IDE by installing the extensions</a:t>
          </a:r>
        </a:p>
      </dgm:t>
    </dgm:pt>
    <dgm:pt modelId="{3D526BF8-333D-4BF3-BA0F-26DF33B2F626}" type="parTrans" cxnId="{A8F6C203-3013-4F58-B8CA-6ABACEE00AAD}">
      <dgm:prSet/>
      <dgm:spPr/>
      <dgm:t>
        <a:bodyPr/>
        <a:lstStyle/>
        <a:p>
          <a:endParaRPr lang="en-US"/>
        </a:p>
      </dgm:t>
    </dgm:pt>
    <dgm:pt modelId="{696FC54A-1B84-42DE-9962-3CADFA0A3DAC}" type="sibTrans" cxnId="{A8F6C203-3013-4F58-B8CA-6ABACEE00AAD}">
      <dgm:prSet/>
      <dgm:spPr/>
      <dgm:t>
        <a:bodyPr/>
        <a:lstStyle/>
        <a:p>
          <a:endParaRPr lang="en-US"/>
        </a:p>
      </dgm:t>
    </dgm:pt>
    <dgm:pt modelId="{F3B12BF4-05F5-41FC-9E99-86A97F777FB6}">
      <dgm:prSet/>
      <dgm:spPr/>
      <dgm:t>
        <a:bodyPr/>
        <a:lstStyle/>
        <a:p>
          <a:r>
            <a:rPr lang="en-US"/>
            <a:t>Widely used!!</a:t>
          </a:r>
        </a:p>
      </dgm:t>
    </dgm:pt>
    <dgm:pt modelId="{D4E01540-6949-4719-9DEB-0AE6A2B0F73C}" type="parTrans" cxnId="{9715EAFC-AD79-42F4-B576-11BE7F353F7E}">
      <dgm:prSet/>
      <dgm:spPr/>
      <dgm:t>
        <a:bodyPr/>
        <a:lstStyle/>
        <a:p>
          <a:endParaRPr lang="en-US"/>
        </a:p>
      </dgm:t>
    </dgm:pt>
    <dgm:pt modelId="{85ACB688-0667-428B-8DF6-A5EDDDB9063F}" type="sibTrans" cxnId="{9715EAFC-AD79-42F4-B576-11BE7F353F7E}">
      <dgm:prSet/>
      <dgm:spPr/>
      <dgm:t>
        <a:bodyPr/>
        <a:lstStyle/>
        <a:p>
          <a:endParaRPr lang="en-US"/>
        </a:p>
      </dgm:t>
    </dgm:pt>
    <dgm:pt modelId="{4F224C88-C156-484A-958B-8AFEE8C99C4B}">
      <dgm:prSet/>
      <dgm:spPr/>
      <dgm:t>
        <a:bodyPr/>
        <a:lstStyle/>
        <a:p>
          <a:r>
            <a:rPr lang="en-US"/>
            <a:t>Smaller footprint (faster load and execution)</a:t>
          </a:r>
        </a:p>
      </dgm:t>
    </dgm:pt>
    <dgm:pt modelId="{78A76873-5330-414A-9F06-2C0008C1A652}" type="parTrans" cxnId="{3B9C3761-D7BE-4D09-A8BF-D165DFA97009}">
      <dgm:prSet/>
      <dgm:spPr/>
      <dgm:t>
        <a:bodyPr/>
        <a:lstStyle/>
        <a:p>
          <a:endParaRPr lang="en-US"/>
        </a:p>
      </dgm:t>
    </dgm:pt>
    <dgm:pt modelId="{D4D3216C-4C95-4196-9FAD-64BCC23CA434}" type="sibTrans" cxnId="{3B9C3761-D7BE-4D09-A8BF-D165DFA97009}">
      <dgm:prSet/>
      <dgm:spPr/>
      <dgm:t>
        <a:bodyPr/>
        <a:lstStyle/>
        <a:p>
          <a:endParaRPr lang="en-US"/>
        </a:p>
      </dgm:t>
    </dgm:pt>
    <dgm:pt modelId="{698F5E9B-00C3-434E-A652-2AC33C300A8C}">
      <dgm:prSet/>
      <dgm:spPr/>
      <dgm:t>
        <a:bodyPr/>
        <a:lstStyle/>
        <a:p>
          <a:r>
            <a:rPr lang="en-US"/>
            <a:t>Updated very frequently</a:t>
          </a:r>
        </a:p>
      </dgm:t>
    </dgm:pt>
    <dgm:pt modelId="{38B4A2D5-E627-408D-81D2-F18133663B19}" type="parTrans" cxnId="{368DE43C-B26C-4DBD-9778-B8669B95A309}">
      <dgm:prSet/>
      <dgm:spPr/>
      <dgm:t>
        <a:bodyPr/>
        <a:lstStyle/>
        <a:p>
          <a:endParaRPr lang="en-US"/>
        </a:p>
      </dgm:t>
    </dgm:pt>
    <dgm:pt modelId="{3E07B8AD-2A62-4F84-B389-CA8F97BB325C}" type="sibTrans" cxnId="{368DE43C-B26C-4DBD-9778-B8669B95A309}">
      <dgm:prSet/>
      <dgm:spPr/>
      <dgm:t>
        <a:bodyPr/>
        <a:lstStyle/>
        <a:p>
          <a:endParaRPr lang="en-US"/>
        </a:p>
      </dgm:t>
    </dgm:pt>
    <dgm:pt modelId="{2EBF87FF-9607-4A80-B980-FBFB93C6903A}">
      <dgm:prSet/>
      <dgm:spPr/>
      <dgm:t>
        <a:bodyPr/>
        <a:lstStyle/>
        <a:p>
          <a:r>
            <a:rPr lang="en-US"/>
            <a:t>Supports multiple development languages and frameworks</a:t>
          </a:r>
        </a:p>
      </dgm:t>
    </dgm:pt>
    <dgm:pt modelId="{FC372D32-EC7C-46C6-8065-A90015FD08A7}" type="parTrans" cxnId="{9AB04CF0-21DD-4950-A782-9CA76C81FA4B}">
      <dgm:prSet/>
      <dgm:spPr/>
      <dgm:t>
        <a:bodyPr/>
        <a:lstStyle/>
        <a:p>
          <a:endParaRPr lang="en-US"/>
        </a:p>
      </dgm:t>
    </dgm:pt>
    <dgm:pt modelId="{B8F3BA25-186B-4EFB-BAB8-5BDF96C87EE4}" type="sibTrans" cxnId="{9AB04CF0-21DD-4950-A782-9CA76C81FA4B}">
      <dgm:prSet/>
      <dgm:spPr/>
      <dgm:t>
        <a:bodyPr/>
        <a:lstStyle/>
        <a:p>
          <a:endParaRPr lang="en-US"/>
        </a:p>
      </dgm:t>
    </dgm:pt>
    <dgm:pt modelId="{B499AD64-8EB7-4D9C-9698-55F760DA6DB4}" type="pres">
      <dgm:prSet presAssocID="{6942078D-EAF6-41F0-AB5B-72AF4269BD1A}" presName="Name0" presStyleCnt="0">
        <dgm:presLayoutVars>
          <dgm:dir/>
          <dgm:animLvl val="lvl"/>
          <dgm:resizeHandles val="exact"/>
        </dgm:presLayoutVars>
      </dgm:prSet>
      <dgm:spPr/>
    </dgm:pt>
    <dgm:pt modelId="{FE2AEED1-248D-4B53-B9A4-3B6DA37498F8}" type="pres">
      <dgm:prSet presAssocID="{5B50AA74-2C44-4B83-8FD9-671CAF45A684}" presName="boxAndChildren" presStyleCnt="0"/>
      <dgm:spPr/>
    </dgm:pt>
    <dgm:pt modelId="{D73C4286-ACF6-43B2-A276-6BBEB2C7CB4D}" type="pres">
      <dgm:prSet presAssocID="{5B50AA74-2C44-4B83-8FD9-671CAF45A684}" presName="parentTextBox" presStyleLbl="node1" presStyleIdx="0" presStyleCnt="2"/>
      <dgm:spPr/>
    </dgm:pt>
    <dgm:pt modelId="{C51504F5-6E6D-4F8F-96F0-A14FCBB5F306}" type="pres">
      <dgm:prSet presAssocID="{5B50AA74-2C44-4B83-8FD9-671CAF45A684}" presName="entireBox" presStyleLbl="node1" presStyleIdx="0" presStyleCnt="2"/>
      <dgm:spPr/>
    </dgm:pt>
    <dgm:pt modelId="{314799DF-4097-44AF-9ED4-5BDE0DE21BEA}" type="pres">
      <dgm:prSet presAssocID="{5B50AA74-2C44-4B83-8FD9-671CAF45A684}" presName="descendantBox" presStyleCnt="0"/>
      <dgm:spPr/>
    </dgm:pt>
    <dgm:pt modelId="{FE611DED-5F49-4EBD-A3FD-B79E4A051DF7}" type="pres">
      <dgm:prSet presAssocID="{F3B12BF4-05F5-41FC-9E99-86A97F777FB6}" presName="childTextBox" presStyleLbl="fgAccFollowNode1" presStyleIdx="0" presStyleCnt="7">
        <dgm:presLayoutVars>
          <dgm:bulletEnabled val="1"/>
        </dgm:presLayoutVars>
      </dgm:prSet>
      <dgm:spPr/>
    </dgm:pt>
    <dgm:pt modelId="{ACC586D9-552F-4F5F-A57D-FC87B2E5CB17}" type="pres">
      <dgm:prSet presAssocID="{4F224C88-C156-484A-958B-8AFEE8C99C4B}" presName="childTextBox" presStyleLbl="fgAccFollowNode1" presStyleIdx="1" presStyleCnt="7">
        <dgm:presLayoutVars>
          <dgm:bulletEnabled val="1"/>
        </dgm:presLayoutVars>
      </dgm:prSet>
      <dgm:spPr/>
    </dgm:pt>
    <dgm:pt modelId="{EEAA5855-B349-4FA3-8C90-EAE98B9E13BA}" type="pres">
      <dgm:prSet presAssocID="{698F5E9B-00C3-434E-A652-2AC33C300A8C}" presName="childTextBox" presStyleLbl="fgAccFollowNode1" presStyleIdx="2" presStyleCnt="7">
        <dgm:presLayoutVars>
          <dgm:bulletEnabled val="1"/>
        </dgm:presLayoutVars>
      </dgm:prSet>
      <dgm:spPr/>
    </dgm:pt>
    <dgm:pt modelId="{8BDAA2CB-BD4C-457F-87D3-C679928F359D}" type="pres">
      <dgm:prSet presAssocID="{2EBF87FF-9607-4A80-B980-FBFB93C6903A}" presName="childTextBox" presStyleLbl="fgAccFollowNode1" presStyleIdx="3" presStyleCnt="7">
        <dgm:presLayoutVars>
          <dgm:bulletEnabled val="1"/>
        </dgm:presLayoutVars>
      </dgm:prSet>
      <dgm:spPr/>
    </dgm:pt>
    <dgm:pt modelId="{2C0DDC00-8AA0-4EC3-B3ED-FF572CF42DF6}" type="pres">
      <dgm:prSet presAssocID="{BAB2DB3B-6A0E-437E-B8AA-4CF1BD126471}" presName="sp" presStyleCnt="0"/>
      <dgm:spPr/>
    </dgm:pt>
    <dgm:pt modelId="{9BB33F80-497F-4A71-9702-C497DE8F60DA}" type="pres">
      <dgm:prSet presAssocID="{270307B2-53CA-4110-A926-330F24645F8E}" presName="arrowAndChildren" presStyleCnt="0"/>
      <dgm:spPr/>
    </dgm:pt>
    <dgm:pt modelId="{0984A96A-9BAE-4A0D-AEF3-AC2B21936358}" type="pres">
      <dgm:prSet presAssocID="{270307B2-53CA-4110-A926-330F24645F8E}" presName="parentTextArrow" presStyleLbl="node1" presStyleIdx="0" presStyleCnt="2"/>
      <dgm:spPr/>
    </dgm:pt>
    <dgm:pt modelId="{9EC31391-551F-43E7-9D7D-3785E84DBBBA}" type="pres">
      <dgm:prSet presAssocID="{270307B2-53CA-4110-A926-330F24645F8E}" presName="arrow" presStyleLbl="node1" presStyleIdx="1" presStyleCnt="2"/>
      <dgm:spPr/>
    </dgm:pt>
    <dgm:pt modelId="{5805A1B7-C300-4639-AE25-7972EF7D8A38}" type="pres">
      <dgm:prSet presAssocID="{270307B2-53CA-4110-A926-330F24645F8E}" presName="descendantArrow" presStyleCnt="0"/>
      <dgm:spPr/>
    </dgm:pt>
    <dgm:pt modelId="{3E82809A-F6C3-4B6E-A8B6-A5FC6C11DFDB}" type="pres">
      <dgm:prSet presAssocID="{0B889466-19E1-4ECD-A2AD-E76723C61044}" presName="childTextArrow" presStyleLbl="fgAccFollowNode1" presStyleIdx="4" presStyleCnt="7">
        <dgm:presLayoutVars>
          <dgm:bulletEnabled val="1"/>
        </dgm:presLayoutVars>
      </dgm:prSet>
      <dgm:spPr/>
    </dgm:pt>
    <dgm:pt modelId="{A156D336-1465-43DB-B455-8246B9772E3A}" type="pres">
      <dgm:prSet presAssocID="{D959E823-C27E-49AF-BEEF-8764A0613628}" presName="childTextArrow" presStyleLbl="fgAccFollowNode1" presStyleIdx="5" presStyleCnt="7">
        <dgm:presLayoutVars>
          <dgm:bulletEnabled val="1"/>
        </dgm:presLayoutVars>
      </dgm:prSet>
      <dgm:spPr/>
    </dgm:pt>
    <dgm:pt modelId="{6B756698-9236-4FEB-B3A2-3CC7B9EC4153}" type="pres">
      <dgm:prSet presAssocID="{10802863-DEC2-4D9E-AE3B-FB1096BA667A}" presName="childTextArrow" presStyleLbl="fgAccFollowNode1" presStyleIdx="6" presStyleCnt="7">
        <dgm:presLayoutVars>
          <dgm:bulletEnabled val="1"/>
        </dgm:presLayoutVars>
      </dgm:prSet>
      <dgm:spPr/>
    </dgm:pt>
  </dgm:ptLst>
  <dgm:cxnLst>
    <dgm:cxn modelId="{A8F6C203-3013-4F58-B8CA-6ABACEE00AAD}" srcId="{6942078D-EAF6-41F0-AB5B-72AF4269BD1A}" destId="{5B50AA74-2C44-4B83-8FD9-671CAF45A684}" srcOrd="1" destOrd="0" parTransId="{3D526BF8-333D-4BF3-BA0F-26DF33B2F626}" sibTransId="{696FC54A-1B84-42DE-9962-3CADFA0A3DAC}"/>
    <dgm:cxn modelId="{40053D39-C091-4C6F-BFD3-F380F149EEF7}" type="presOf" srcId="{10802863-DEC2-4D9E-AE3B-FB1096BA667A}" destId="{6B756698-9236-4FEB-B3A2-3CC7B9EC4153}" srcOrd="0" destOrd="0" presId="urn:microsoft.com/office/officeart/2005/8/layout/process4"/>
    <dgm:cxn modelId="{368DE43C-B26C-4DBD-9778-B8669B95A309}" srcId="{5B50AA74-2C44-4B83-8FD9-671CAF45A684}" destId="{698F5E9B-00C3-434E-A652-2AC33C300A8C}" srcOrd="2" destOrd="0" parTransId="{38B4A2D5-E627-408D-81D2-F18133663B19}" sibTransId="{3E07B8AD-2A62-4F84-B389-CA8F97BB325C}"/>
    <dgm:cxn modelId="{5EDC6A60-4798-4184-8AB1-44B5F8D4304C}" type="presOf" srcId="{698F5E9B-00C3-434E-A652-2AC33C300A8C}" destId="{EEAA5855-B349-4FA3-8C90-EAE98B9E13BA}" srcOrd="0" destOrd="0" presId="urn:microsoft.com/office/officeart/2005/8/layout/process4"/>
    <dgm:cxn modelId="{3B9C3761-D7BE-4D09-A8BF-D165DFA97009}" srcId="{5B50AA74-2C44-4B83-8FD9-671CAF45A684}" destId="{4F224C88-C156-484A-958B-8AFEE8C99C4B}" srcOrd="1" destOrd="0" parTransId="{78A76873-5330-414A-9F06-2C0008C1A652}" sibTransId="{D4D3216C-4C95-4196-9FAD-64BCC23CA434}"/>
    <dgm:cxn modelId="{85D3C941-3847-4F11-9D5E-15AC7D43EF26}" type="presOf" srcId="{270307B2-53CA-4110-A926-330F24645F8E}" destId="{0984A96A-9BAE-4A0D-AEF3-AC2B21936358}" srcOrd="0" destOrd="0" presId="urn:microsoft.com/office/officeart/2005/8/layout/process4"/>
    <dgm:cxn modelId="{9CD39549-CA00-4028-8611-236DBB466EC9}" type="presOf" srcId="{5B50AA74-2C44-4B83-8FD9-671CAF45A684}" destId="{D73C4286-ACF6-43B2-A276-6BBEB2C7CB4D}" srcOrd="0" destOrd="0" presId="urn:microsoft.com/office/officeart/2005/8/layout/process4"/>
    <dgm:cxn modelId="{7D588E58-7EDF-4843-BB25-328713C06210}" type="presOf" srcId="{4F224C88-C156-484A-958B-8AFEE8C99C4B}" destId="{ACC586D9-552F-4F5F-A57D-FC87B2E5CB17}" srcOrd="0" destOrd="0" presId="urn:microsoft.com/office/officeart/2005/8/layout/process4"/>
    <dgm:cxn modelId="{8503EA78-2C9E-4F5A-B6B8-F7762A6EF868}" type="presOf" srcId="{0B889466-19E1-4ECD-A2AD-E76723C61044}" destId="{3E82809A-F6C3-4B6E-A8B6-A5FC6C11DFDB}" srcOrd="0" destOrd="0" presId="urn:microsoft.com/office/officeart/2005/8/layout/process4"/>
    <dgm:cxn modelId="{3C64117F-E388-43F3-A7B2-201C1EBD1492}" type="presOf" srcId="{D959E823-C27E-49AF-BEEF-8764A0613628}" destId="{A156D336-1465-43DB-B455-8246B9772E3A}" srcOrd="0" destOrd="0" presId="urn:microsoft.com/office/officeart/2005/8/layout/process4"/>
    <dgm:cxn modelId="{2BB47B84-D1AE-45A3-AD85-7BA2BD903332}" srcId="{270307B2-53CA-4110-A926-330F24645F8E}" destId="{0B889466-19E1-4ECD-A2AD-E76723C61044}" srcOrd="0" destOrd="0" parTransId="{5D9A079C-5E99-4ABB-A1C7-114AF236658D}" sibTransId="{37B9E4D6-3484-4734-BB75-27629438C6E4}"/>
    <dgm:cxn modelId="{6ED24E8A-6A64-4A42-B2E2-CBD997EAFC09}" srcId="{6942078D-EAF6-41F0-AB5B-72AF4269BD1A}" destId="{270307B2-53CA-4110-A926-330F24645F8E}" srcOrd="0" destOrd="0" parTransId="{65DE384A-0333-4DC1-95EC-77E1413C8953}" sibTransId="{BAB2DB3B-6A0E-437E-B8AA-4CF1BD126471}"/>
    <dgm:cxn modelId="{A9F8BA90-3CE2-4A67-9B3E-470844C8AE45}" type="presOf" srcId="{5B50AA74-2C44-4B83-8FD9-671CAF45A684}" destId="{C51504F5-6E6D-4F8F-96F0-A14FCBB5F306}" srcOrd="1" destOrd="0" presId="urn:microsoft.com/office/officeart/2005/8/layout/process4"/>
    <dgm:cxn modelId="{75A70296-8134-412B-96AB-63040A2895A2}" type="presOf" srcId="{F3B12BF4-05F5-41FC-9E99-86A97F777FB6}" destId="{FE611DED-5F49-4EBD-A3FD-B79E4A051DF7}" srcOrd="0" destOrd="0" presId="urn:microsoft.com/office/officeart/2005/8/layout/process4"/>
    <dgm:cxn modelId="{2AA1F2A6-44DF-4463-A927-C58C22B7536E}" type="presOf" srcId="{2EBF87FF-9607-4A80-B980-FBFB93C6903A}" destId="{8BDAA2CB-BD4C-457F-87D3-C679928F359D}" srcOrd="0" destOrd="0" presId="urn:microsoft.com/office/officeart/2005/8/layout/process4"/>
    <dgm:cxn modelId="{DDDCAFAE-6C33-4020-B00E-18A5349B7EB6}" type="presOf" srcId="{6942078D-EAF6-41F0-AB5B-72AF4269BD1A}" destId="{B499AD64-8EB7-4D9C-9698-55F760DA6DB4}" srcOrd="0" destOrd="0" presId="urn:microsoft.com/office/officeart/2005/8/layout/process4"/>
    <dgm:cxn modelId="{11A378C5-F796-46D0-978D-800D3B304720}" srcId="{270307B2-53CA-4110-A926-330F24645F8E}" destId="{D959E823-C27E-49AF-BEEF-8764A0613628}" srcOrd="1" destOrd="0" parTransId="{2D9A8323-817E-4124-9661-C374D064652D}" sibTransId="{6789489A-4186-41AF-8A18-DECE51004E83}"/>
    <dgm:cxn modelId="{FDBC75DF-D32F-41A4-AA37-75A16175C23E}" type="presOf" srcId="{270307B2-53CA-4110-A926-330F24645F8E}" destId="{9EC31391-551F-43E7-9D7D-3785E84DBBBA}" srcOrd="1" destOrd="0" presId="urn:microsoft.com/office/officeart/2005/8/layout/process4"/>
    <dgm:cxn modelId="{9AB04CF0-21DD-4950-A782-9CA76C81FA4B}" srcId="{5B50AA74-2C44-4B83-8FD9-671CAF45A684}" destId="{2EBF87FF-9607-4A80-B980-FBFB93C6903A}" srcOrd="3" destOrd="0" parTransId="{FC372D32-EC7C-46C6-8065-A90015FD08A7}" sibTransId="{B8F3BA25-186B-4EFB-BAB8-5BDF96C87EE4}"/>
    <dgm:cxn modelId="{2E03DDF7-BFA7-4E5C-903F-564FD74DB470}" srcId="{270307B2-53CA-4110-A926-330F24645F8E}" destId="{10802863-DEC2-4D9E-AE3B-FB1096BA667A}" srcOrd="2" destOrd="0" parTransId="{A8D885F3-6EB1-4C66-AFED-71693CD94376}" sibTransId="{D5802352-B028-4AFD-B03D-371803D79FC1}"/>
    <dgm:cxn modelId="{9715EAFC-AD79-42F4-B576-11BE7F353F7E}" srcId="{5B50AA74-2C44-4B83-8FD9-671CAF45A684}" destId="{F3B12BF4-05F5-41FC-9E99-86A97F777FB6}" srcOrd="0" destOrd="0" parTransId="{D4E01540-6949-4719-9DEB-0AE6A2B0F73C}" sibTransId="{85ACB688-0667-428B-8DF6-A5EDDDB9063F}"/>
    <dgm:cxn modelId="{84B1C311-E413-4A92-AC7C-06FDF8D60356}" type="presParOf" srcId="{B499AD64-8EB7-4D9C-9698-55F760DA6DB4}" destId="{FE2AEED1-248D-4B53-B9A4-3B6DA37498F8}" srcOrd="0" destOrd="0" presId="urn:microsoft.com/office/officeart/2005/8/layout/process4"/>
    <dgm:cxn modelId="{41F688E2-61A4-40D8-A354-8F27CB54FF78}" type="presParOf" srcId="{FE2AEED1-248D-4B53-B9A4-3B6DA37498F8}" destId="{D73C4286-ACF6-43B2-A276-6BBEB2C7CB4D}" srcOrd="0" destOrd="0" presId="urn:microsoft.com/office/officeart/2005/8/layout/process4"/>
    <dgm:cxn modelId="{17F79FD1-05B1-4B7E-BAE9-73577DDC7AAC}" type="presParOf" srcId="{FE2AEED1-248D-4B53-B9A4-3B6DA37498F8}" destId="{C51504F5-6E6D-4F8F-96F0-A14FCBB5F306}" srcOrd="1" destOrd="0" presId="urn:microsoft.com/office/officeart/2005/8/layout/process4"/>
    <dgm:cxn modelId="{B79C3A5D-1210-49EF-A9B2-176106B87D43}" type="presParOf" srcId="{FE2AEED1-248D-4B53-B9A4-3B6DA37498F8}" destId="{314799DF-4097-44AF-9ED4-5BDE0DE21BEA}" srcOrd="2" destOrd="0" presId="urn:microsoft.com/office/officeart/2005/8/layout/process4"/>
    <dgm:cxn modelId="{EDAE56C3-3448-413E-AEEA-4E86E39663AF}" type="presParOf" srcId="{314799DF-4097-44AF-9ED4-5BDE0DE21BEA}" destId="{FE611DED-5F49-4EBD-A3FD-B79E4A051DF7}" srcOrd="0" destOrd="0" presId="urn:microsoft.com/office/officeart/2005/8/layout/process4"/>
    <dgm:cxn modelId="{29265A49-6500-4589-AEA4-67CA1C31C161}" type="presParOf" srcId="{314799DF-4097-44AF-9ED4-5BDE0DE21BEA}" destId="{ACC586D9-552F-4F5F-A57D-FC87B2E5CB17}" srcOrd="1" destOrd="0" presId="urn:microsoft.com/office/officeart/2005/8/layout/process4"/>
    <dgm:cxn modelId="{B090AF68-BC3D-40B1-B221-1C5306C7EECC}" type="presParOf" srcId="{314799DF-4097-44AF-9ED4-5BDE0DE21BEA}" destId="{EEAA5855-B349-4FA3-8C90-EAE98B9E13BA}" srcOrd="2" destOrd="0" presId="urn:microsoft.com/office/officeart/2005/8/layout/process4"/>
    <dgm:cxn modelId="{815EF438-4406-4756-9F75-BBEE9E129F3F}" type="presParOf" srcId="{314799DF-4097-44AF-9ED4-5BDE0DE21BEA}" destId="{8BDAA2CB-BD4C-457F-87D3-C679928F359D}" srcOrd="3" destOrd="0" presId="urn:microsoft.com/office/officeart/2005/8/layout/process4"/>
    <dgm:cxn modelId="{5129BDE8-7992-4614-8982-19595C41665C}" type="presParOf" srcId="{B499AD64-8EB7-4D9C-9698-55F760DA6DB4}" destId="{2C0DDC00-8AA0-4EC3-B3ED-FF572CF42DF6}" srcOrd="1" destOrd="0" presId="urn:microsoft.com/office/officeart/2005/8/layout/process4"/>
    <dgm:cxn modelId="{08A56765-86DB-4147-939F-4772B633DFDA}" type="presParOf" srcId="{B499AD64-8EB7-4D9C-9698-55F760DA6DB4}" destId="{9BB33F80-497F-4A71-9702-C497DE8F60DA}" srcOrd="2" destOrd="0" presId="urn:microsoft.com/office/officeart/2005/8/layout/process4"/>
    <dgm:cxn modelId="{11A34C0E-75C9-42E5-B88F-505FE7400FE8}" type="presParOf" srcId="{9BB33F80-497F-4A71-9702-C497DE8F60DA}" destId="{0984A96A-9BAE-4A0D-AEF3-AC2B21936358}" srcOrd="0" destOrd="0" presId="urn:microsoft.com/office/officeart/2005/8/layout/process4"/>
    <dgm:cxn modelId="{C0DFFE96-71E3-4A2D-9FB3-0D90AA54D903}" type="presParOf" srcId="{9BB33F80-497F-4A71-9702-C497DE8F60DA}" destId="{9EC31391-551F-43E7-9D7D-3785E84DBBBA}" srcOrd="1" destOrd="0" presId="urn:microsoft.com/office/officeart/2005/8/layout/process4"/>
    <dgm:cxn modelId="{AD9E7FD9-60B0-4962-B925-10BDD99FB002}" type="presParOf" srcId="{9BB33F80-497F-4A71-9702-C497DE8F60DA}" destId="{5805A1B7-C300-4639-AE25-7972EF7D8A38}" srcOrd="2" destOrd="0" presId="urn:microsoft.com/office/officeart/2005/8/layout/process4"/>
    <dgm:cxn modelId="{84679B15-480B-4350-AE10-F1B5E31C9971}" type="presParOf" srcId="{5805A1B7-C300-4639-AE25-7972EF7D8A38}" destId="{3E82809A-F6C3-4B6E-A8B6-A5FC6C11DFDB}" srcOrd="0" destOrd="0" presId="urn:microsoft.com/office/officeart/2005/8/layout/process4"/>
    <dgm:cxn modelId="{7C1FC910-BFDF-4E4B-9C30-34211E4C9A00}" type="presParOf" srcId="{5805A1B7-C300-4639-AE25-7972EF7D8A38}" destId="{A156D336-1465-43DB-B455-8246B9772E3A}" srcOrd="1" destOrd="0" presId="urn:microsoft.com/office/officeart/2005/8/layout/process4"/>
    <dgm:cxn modelId="{96B257BA-2FE5-45D6-8379-F4F1BE7343FC}" type="presParOf" srcId="{5805A1B7-C300-4639-AE25-7972EF7D8A38}" destId="{6B756698-9236-4FEB-B3A2-3CC7B9EC4153}" srcOrd="2"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7DEE2-2529-4048-A027-0347422F7B4B}">
      <dsp:nvSpPr>
        <dsp:cNvPr id="0" name=""/>
        <dsp:cNvSpPr/>
      </dsp:nvSpPr>
      <dsp:spPr>
        <a:xfrm>
          <a:off x="0" y="92677"/>
          <a:ext cx="5019610" cy="874575"/>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check your Python version</a:t>
          </a:r>
        </a:p>
      </dsp:txBody>
      <dsp:txXfrm>
        <a:off x="42693" y="135370"/>
        <a:ext cx="4934224" cy="789189"/>
      </dsp:txXfrm>
    </dsp:sp>
    <dsp:sp modelId="{41229791-62FC-4F0A-AD8A-9B4EE560E502}">
      <dsp:nvSpPr>
        <dsp:cNvPr id="0" name=""/>
        <dsp:cNvSpPr/>
      </dsp:nvSpPr>
      <dsp:spPr>
        <a:xfrm>
          <a:off x="0" y="1033492"/>
          <a:ext cx="5019610" cy="874575"/>
        </a:xfrm>
        <a:prstGeom prst="roundRect">
          <a:avLst/>
        </a:prstGeom>
        <a:gradFill rotWithShape="0">
          <a:gsLst>
            <a:gs pos="0">
              <a:schemeClr val="accent2">
                <a:hueOff val="-2474057"/>
                <a:satOff val="8986"/>
                <a:lumOff val="834"/>
                <a:alphaOff val="0"/>
                <a:tint val="96000"/>
                <a:lumMod val="100000"/>
              </a:schemeClr>
            </a:gs>
            <a:gs pos="78000">
              <a:schemeClr val="accent2">
                <a:hueOff val="-2474057"/>
                <a:satOff val="8986"/>
                <a:lumOff val="8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open a project in VS Code</a:t>
          </a:r>
        </a:p>
      </dsp:txBody>
      <dsp:txXfrm>
        <a:off x="42693" y="1076185"/>
        <a:ext cx="4934224" cy="789189"/>
      </dsp:txXfrm>
    </dsp:sp>
    <dsp:sp modelId="{03D9F129-E56A-42FF-827E-811C90871217}">
      <dsp:nvSpPr>
        <dsp:cNvPr id="0" name=""/>
        <dsp:cNvSpPr/>
      </dsp:nvSpPr>
      <dsp:spPr>
        <a:xfrm>
          <a:off x="0" y="1974307"/>
          <a:ext cx="5019610" cy="874575"/>
        </a:xfrm>
        <a:prstGeom prst="roundRect">
          <a:avLst/>
        </a:prstGeom>
        <a:gradFill rotWithShape="0">
          <a:gsLst>
            <a:gs pos="0">
              <a:schemeClr val="accent2">
                <a:hueOff val="-4948115"/>
                <a:satOff val="17972"/>
                <a:lumOff val="1667"/>
                <a:alphaOff val="0"/>
                <a:tint val="96000"/>
                <a:lumMod val="100000"/>
              </a:schemeClr>
            </a:gs>
            <a:gs pos="78000">
              <a:schemeClr val="accent2">
                <a:hueOff val="-4948115"/>
                <a:satOff val="17972"/>
                <a:lumOff val="1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select a `.venv` interpreter</a:t>
          </a:r>
        </a:p>
      </dsp:txBody>
      <dsp:txXfrm>
        <a:off x="42693" y="2017000"/>
        <a:ext cx="4934224" cy="789189"/>
      </dsp:txXfrm>
    </dsp:sp>
    <dsp:sp modelId="{2B926070-F099-4203-BC93-00936D5449A4}">
      <dsp:nvSpPr>
        <dsp:cNvPr id="0" name=""/>
        <dsp:cNvSpPr/>
      </dsp:nvSpPr>
      <dsp:spPr>
        <a:xfrm>
          <a:off x="0" y="2915122"/>
          <a:ext cx="5019610" cy="874575"/>
        </a:xfrm>
        <a:prstGeom prst="roundRect">
          <a:avLst/>
        </a:prstGeom>
        <a:gradFill rotWithShape="0">
          <a:gsLst>
            <a:gs pos="0">
              <a:schemeClr val="accent2">
                <a:hueOff val="-7422172"/>
                <a:satOff val="26958"/>
                <a:lumOff val="2501"/>
                <a:alphaOff val="0"/>
                <a:tint val="96000"/>
                <a:lumMod val="100000"/>
              </a:schemeClr>
            </a:gs>
            <a:gs pos="78000">
              <a:schemeClr val="accent2">
                <a:hueOff val="-7422172"/>
                <a:satOff val="26958"/>
                <a:lumOff val="25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run a small `.py` file</a:t>
          </a:r>
        </a:p>
      </dsp:txBody>
      <dsp:txXfrm>
        <a:off x="42693" y="2957815"/>
        <a:ext cx="4934224" cy="789189"/>
      </dsp:txXfrm>
    </dsp:sp>
    <dsp:sp modelId="{79954CB2-0D37-49B5-93F7-81C4EBAF1BEB}">
      <dsp:nvSpPr>
        <dsp:cNvPr id="0" name=""/>
        <dsp:cNvSpPr/>
      </dsp:nvSpPr>
      <dsp:spPr>
        <a:xfrm>
          <a:off x="0" y="3855937"/>
          <a:ext cx="5019610" cy="874575"/>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see your code in GitHub or prepare it for submission</a:t>
          </a:r>
        </a:p>
      </dsp:txBody>
      <dsp:txXfrm>
        <a:off x="42693" y="3898630"/>
        <a:ext cx="4934224" cy="7891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0ACDA-481D-40F3-9B51-17449C71313D}">
      <dsp:nvSpPr>
        <dsp:cNvPr id="0" name=""/>
        <dsp:cNvSpPr/>
      </dsp:nvSpPr>
      <dsp:spPr>
        <a:xfrm>
          <a:off x="0" y="471194"/>
          <a:ext cx="5019610" cy="190008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1" kern="1200" dirty="0"/>
            <a:t>Later</a:t>
          </a:r>
          <a:r>
            <a:rPr lang="en-US" sz="2800" kern="1200" dirty="0"/>
            <a:t>:</a:t>
          </a:r>
          <a:br>
            <a:rPr lang="en-US" sz="2800" kern="1200" dirty="0"/>
          </a:br>
          <a:r>
            <a:rPr lang="en-US" sz="2800" kern="1200" dirty="0"/>
            <a:t>when projects use packages, `.</a:t>
          </a:r>
          <a:r>
            <a:rPr lang="en-US" sz="2800" kern="1200" dirty="0" err="1"/>
            <a:t>venv</a:t>
          </a:r>
          <a:r>
            <a:rPr lang="en-US" sz="2800" kern="1200" dirty="0"/>
            <a:t>` helps keep installs project-specific.</a:t>
          </a:r>
        </a:p>
      </dsp:txBody>
      <dsp:txXfrm>
        <a:off x="92754" y="563948"/>
        <a:ext cx="4834102" cy="1714572"/>
      </dsp:txXfrm>
    </dsp:sp>
    <dsp:sp modelId="{BCC4F11C-E6EB-4DD5-9275-2A7FA1384DBB}">
      <dsp:nvSpPr>
        <dsp:cNvPr id="0" name=""/>
        <dsp:cNvSpPr/>
      </dsp:nvSpPr>
      <dsp:spPr>
        <a:xfrm>
          <a:off x="0" y="2451914"/>
          <a:ext cx="5019610" cy="1900080"/>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1" kern="1200" dirty="0"/>
            <a:t>For Week 1</a:t>
          </a:r>
          <a:r>
            <a:rPr lang="en-US" sz="2800" kern="1200" dirty="0"/>
            <a:t>:</a:t>
          </a:r>
          <a:br>
            <a:rPr lang="en-US" sz="2800" kern="1200" dirty="0"/>
          </a:br>
          <a:r>
            <a:rPr lang="en-US" sz="2800" kern="1200" dirty="0"/>
            <a:t>the goal is simply to know what `.</a:t>
          </a:r>
          <a:r>
            <a:rPr lang="en-US" sz="2800" kern="1200" dirty="0" err="1"/>
            <a:t>venv</a:t>
          </a:r>
          <a:r>
            <a:rPr lang="en-US" sz="2800" kern="1200" dirty="0"/>
            <a:t>` is and how to create/select it.</a:t>
          </a:r>
        </a:p>
      </dsp:txBody>
      <dsp:txXfrm>
        <a:off x="92754" y="2544668"/>
        <a:ext cx="4834102" cy="17145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504F5-6E6D-4F8F-96F0-A14FCBB5F306}">
      <dsp:nvSpPr>
        <dsp:cNvPr id="0" name=""/>
        <dsp:cNvSpPr/>
      </dsp:nvSpPr>
      <dsp:spPr>
        <a:xfrm>
          <a:off x="0" y="2911050"/>
          <a:ext cx="5019610" cy="1909964"/>
        </a:xfrm>
        <a:prstGeom prst="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VS Code is a code editor, not a true IDE … but can function as a full-IDE by installing the extensions</a:t>
          </a:r>
        </a:p>
      </dsp:txBody>
      <dsp:txXfrm>
        <a:off x="0" y="2911050"/>
        <a:ext cx="5019610" cy="1031380"/>
      </dsp:txXfrm>
    </dsp:sp>
    <dsp:sp modelId="{FE611DED-5F49-4EBD-A3FD-B79E4A051DF7}">
      <dsp:nvSpPr>
        <dsp:cNvPr id="0" name=""/>
        <dsp:cNvSpPr/>
      </dsp:nvSpPr>
      <dsp:spPr>
        <a:xfrm>
          <a:off x="0" y="3904232"/>
          <a:ext cx="1254902" cy="878583"/>
        </a:xfrm>
        <a:prstGeom prst="rect">
          <a:avLst/>
        </a:prstGeom>
        <a:solidFill>
          <a:schemeClr val="accent2">
            <a:tint val="40000"/>
            <a:alpha val="90000"/>
            <a:hueOff val="0"/>
            <a:satOff val="0"/>
            <a:lumOff val="0"/>
            <a:alphaOff val="0"/>
          </a:schemeClr>
        </a:solidFill>
        <a:ln w="12700"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Widely used!!</a:t>
          </a:r>
        </a:p>
      </dsp:txBody>
      <dsp:txXfrm>
        <a:off x="0" y="3904232"/>
        <a:ext cx="1254902" cy="878583"/>
      </dsp:txXfrm>
    </dsp:sp>
    <dsp:sp modelId="{ACC586D9-552F-4F5F-A57D-FC87B2E5CB17}">
      <dsp:nvSpPr>
        <dsp:cNvPr id="0" name=""/>
        <dsp:cNvSpPr/>
      </dsp:nvSpPr>
      <dsp:spPr>
        <a:xfrm>
          <a:off x="1254902" y="3904232"/>
          <a:ext cx="1254902" cy="878583"/>
        </a:xfrm>
        <a:prstGeom prst="rect">
          <a:avLst/>
        </a:prstGeom>
        <a:solidFill>
          <a:schemeClr val="accent2">
            <a:tint val="40000"/>
            <a:alpha val="90000"/>
            <a:hueOff val="-1859212"/>
            <a:satOff val="8104"/>
            <a:lumOff val="598"/>
            <a:alphaOff val="0"/>
          </a:schemeClr>
        </a:solidFill>
        <a:ln w="12700" cap="rnd" cmpd="sng" algn="ctr">
          <a:solidFill>
            <a:schemeClr val="accent2">
              <a:tint val="40000"/>
              <a:alpha val="90000"/>
              <a:hueOff val="-1859212"/>
              <a:satOff val="8104"/>
              <a:lumOff val="59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Smaller footprint (faster load and execution)</a:t>
          </a:r>
        </a:p>
      </dsp:txBody>
      <dsp:txXfrm>
        <a:off x="1254902" y="3904232"/>
        <a:ext cx="1254902" cy="878583"/>
      </dsp:txXfrm>
    </dsp:sp>
    <dsp:sp modelId="{EEAA5855-B349-4FA3-8C90-EAE98B9E13BA}">
      <dsp:nvSpPr>
        <dsp:cNvPr id="0" name=""/>
        <dsp:cNvSpPr/>
      </dsp:nvSpPr>
      <dsp:spPr>
        <a:xfrm>
          <a:off x="2509805" y="3904232"/>
          <a:ext cx="1254902" cy="878583"/>
        </a:xfrm>
        <a:prstGeom prst="rect">
          <a:avLst/>
        </a:prstGeom>
        <a:solidFill>
          <a:schemeClr val="accent2">
            <a:tint val="40000"/>
            <a:alpha val="90000"/>
            <a:hueOff val="-3718424"/>
            <a:satOff val="16208"/>
            <a:lumOff val="1196"/>
            <a:alphaOff val="0"/>
          </a:schemeClr>
        </a:solidFill>
        <a:ln w="12700" cap="rnd" cmpd="sng" algn="ctr">
          <a:solidFill>
            <a:schemeClr val="accent2">
              <a:tint val="40000"/>
              <a:alpha val="90000"/>
              <a:hueOff val="-3718424"/>
              <a:satOff val="16208"/>
              <a:lumOff val="119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Updated very frequently</a:t>
          </a:r>
        </a:p>
      </dsp:txBody>
      <dsp:txXfrm>
        <a:off x="2509805" y="3904232"/>
        <a:ext cx="1254902" cy="878583"/>
      </dsp:txXfrm>
    </dsp:sp>
    <dsp:sp modelId="{8BDAA2CB-BD4C-457F-87D3-C679928F359D}">
      <dsp:nvSpPr>
        <dsp:cNvPr id="0" name=""/>
        <dsp:cNvSpPr/>
      </dsp:nvSpPr>
      <dsp:spPr>
        <a:xfrm>
          <a:off x="3764707" y="3904232"/>
          <a:ext cx="1254902" cy="878583"/>
        </a:xfrm>
        <a:prstGeom prst="rect">
          <a:avLst/>
        </a:prstGeom>
        <a:solidFill>
          <a:schemeClr val="accent2">
            <a:tint val="40000"/>
            <a:alpha val="90000"/>
            <a:hueOff val="-5577636"/>
            <a:satOff val="24312"/>
            <a:lumOff val="1794"/>
            <a:alphaOff val="0"/>
          </a:schemeClr>
        </a:solidFill>
        <a:ln w="12700" cap="rnd" cmpd="sng" algn="ctr">
          <a:solidFill>
            <a:schemeClr val="accent2">
              <a:tint val="40000"/>
              <a:alpha val="90000"/>
              <a:hueOff val="-5577636"/>
              <a:satOff val="24312"/>
              <a:lumOff val="179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Supports multiple development languages and frameworks</a:t>
          </a:r>
        </a:p>
      </dsp:txBody>
      <dsp:txXfrm>
        <a:off x="3764707" y="3904232"/>
        <a:ext cx="1254902" cy="878583"/>
      </dsp:txXfrm>
    </dsp:sp>
    <dsp:sp modelId="{9EC31391-551F-43E7-9D7D-3785E84DBBBA}">
      <dsp:nvSpPr>
        <dsp:cNvPr id="0" name=""/>
        <dsp:cNvSpPr/>
      </dsp:nvSpPr>
      <dsp:spPr>
        <a:xfrm rot="10800000">
          <a:off x="0" y="2174"/>
          <a:ext cx="5019610" cy="2937525"/>
        </a:xfrm>
        <a:prstGeom prst="upArrowCallou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Visual Studio is a true IDE - Integrated Developer Environment. </a:t>
          </a:r>
        </a:p>
      </dsp:txBody>
      <dsp:txXfrm rot="-10800000">
        <a:off x="0" y="2174"/>
        <a:ext cx="5019610" cy="1031071"/>
      </dsp:txXfrm>
    </dsp:sp>
    <dsp:sp modelId="{3E82809A-F6C3-4B6E-A8B6-A5FC6C11DFDB}">
      <dsp:nvSpPr>
        <dsp:cNvPr id="0" name=""/>
        <dsp:cNvSpPr/>
      </dsp:nvSpPr>
      <dsp:spPr>
        <a:xfrm>
          <a:off x="2450" y="1033246"/>
          <a:ext cx="1671569" cy="878320"/>
        </a:xfrm>
        <a:prstGeom prst="rect">
          <a:avLst/>
        </a:prstGeom>
        <a:solidFill>
          <a:schemeClr val="accent2">
            <a:tint val="40000"/>
            <a:alpha val="90000"/>
            <a:hueOff val="-7436848"/>
            <a:satOff val="32416"/>
            <a:lumOff val="2392"/>
            <a:alphaOff val="0"/>
          </a:schemeClr>
        </a:solidFill>
        <a:ln w="12700" cap="rnd" cmpd="sng" algn="ctr">
          <a:solidFill>
            <a:schemeClr val="accent2">
              <a:tint val="40000"/>
              <a:alpha val="90000"/>
              <a:hueOff val="-7436848"/>
              <a:satOff val="32416"/>
              <a:lumOff val="239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Heavy footprint (takes a lot of memory)</a:t>
          </a:r>
        </a:p>
      </dsp:txBody>
      <dsp:txXfrm>
        <a:off x="2450" y="1033246"/>
        <a:ext cx="1671569" cy="878320"/>
      </dsp:txXfrm>
    </dsp:sp>
    <dsp:sp modelId="{A156D336-1465-43DB-B455-8246B9772E3A}">
      <dsp:nvSpPr>
        <dsp:cNvPr id="0" name=""/>
        <dsp:cNvSpPr/>
      </dsp:nvSpPr>
      <dsp:spPr>
        <a:xfrm>
          <a:off x="1674020" y="1033246"/>
          <a:ext cx="1671569" cy="878320"/>
        </a:xfrm>
        <a:prstGeom prst="rect">
          <a:avLst/>
        </a:prstGeom>
        <a:solidFill>
          <a:schemeClr val="accent2">
            <a:tint val="40000"/>
            <a:alpha val="90000"/>
            <a:hueOff val="-9296060"/>
            <a:satOff val="40520"/>
            <a:lumOff val="2990"/>
            <a:alphaOff val="0"/>
          </a:schemeClr>
        </a:solidFill>
        <a:ln w="12700" cap="rnd" cmpd="sng" algn="ctr">
          <a:solidFill>
            <a:schemeClr val="accent2">
              <a:tint val="40000"/>
              <a:alpha val="90000"/>
              <a:hueOff val="-9296060"/>
              <a:satOff val="40520"/>
              <a:lumOff val="299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Great for C# and .NET framework development</a:t>
          </a:r>
        </a:p>
      </dsp:txBody>
      <dsp:txXfrm>
        <a:off x="1674020" y="1033246"/>
        <a:ext cx="1671569" cy="878320"/>
      </dsp:txXfrm>
    </dsp:sp>
    <dsp:sp modelId="{6B756698-9236-4FEB-B3A2-3CC7B9EC4153}">
      <dsp:nvSpPr>
        <dsp:cNvPr id="0" name=""/>
        <dsp:cNvSpPr/>
      </dsp:nvSpPr>
      <dsp:spPr>
        <a:xfrm>
          <a:off x="3345589" y="1033246"/>
          <a:ext cx="1671569" cy="878320"/>
        </a:xfrm>
        <a:prstGeom prst="rect">
          <a:avLst/>
        </a:prstGeom>
        <a:solidFill>
          <a:schemeClr val="accent2">
            <a:tint val="40000"/>
            <a:alpha val="90000"/>
            <a:hueOff val="-11155272"/>
            <a:satOff val="48624"/>
            <a:lumOff val="3588"/>
            <a:alphaOff val="0"/>
          </a:schemeClr>
        </a:solidFill>
        <a:ln w="12700" cap="rnd" cmpd="sng" algn="ctr">
          <a:solidFill>
            <a:schemeClr val="accent2">
              <a:tint val="40000"/>
              <a:alpha val="90000"/>
              <a:hueOff val="-11155272"/>
              <a:satOff val="48624"/>
              <a:lumOff val="358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Doesn’t play well on an iOS machines</a:t>
          </a:r>
        </a:p>
      </dsp:txBody>
      <dsp:txXfrm>
        <a:off x="3345589" y="1033246"/>
        <a:ext cx="1671569" cy="8783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943E5A-6629-4B53-8BAD-0FC37077EB14}" type="datetimeFigureOut">
              <a:rPr lang="en-US" smtClean="0"/>
              <a:t>6/16/2026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82475-516A-409A-944E-F435F3DFCCF2}" type="datetimeFigureOut">
              <a:rPr lang="en-US" smtClean="0"/>
              <a:t>6/16/2026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DA362-1E1E-64B9-648B-32DFEECF5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9C9AC-92DA-FD6E-1D03-AF2FDA8D0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64690-38A1-4B94-D560-99AF384A2118}"/>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Frame setup as infrastructure, not as the first "programming test." </a:t>
            </a:r>
          </a:p>
          <a:p>
            <a:r>
              <a:rPr lang="en-US" sz="1200" b="0" kern="1200" dirty="0">
                <a:solidFill>
                  <a:schemeClr val="tx1"/>
                </a:solidFill>
                <a:effectLst/>
                <a:latin typeface="+mn-lt"/>
                <a:ea typeface="+mn-ea"/>
                <a:cs typeface="+mn-cs"/>
              </a:rPr>
              <a:t>Students can become discouraged if installation issues feel like proof that they cannot code.</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setup has several pieces, but each has a clear job.</a:t>
            </a:r>
          </a:p>
          <a:p>
            <a:endParaRPr lang="en-US" dirty="0"/>
          </a:p>
        </p:txBody>
      </p:sp>
      <p:sp>
        <p:nvSpPr>
          <p:cNvPr id="4" name="Slide Number Placeholder 3">
            <a:extLst>
              <a:ext uri="{FF2B5EF4-FFF2-40B4-BE49-F238E27FC236}">
                <a16:creationId xmlns:a16="http://schemas.microsoft.com/office/drawing/2014/main" id="{D00CA75A-C221-A200-08C8-B9CFE8DB08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16ACA2-47E6-42D2-BEC8-EDC49A1A9F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5330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16ACA2-47E6-42D2-BEC8-EDC49A1A9F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2370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As of June 9, 2026, Python.org lists Python 3.14.5 as the latest release.</a:t>
            </a:r>
          </a:p>
          <a:p>
            <a:r>
              <a:rPr lang="en-US" sz="1200" b="0" kern="1200" dirty="0">
                <a:solidFill>
                  <a:schemeClr val="tx1"/>
                </a:solidFill>
                <a:effectLst/>
                <a:latin typeface="+mn-lt"/>
                <a:ea typeface="+mn-ea"/>
                <a:cs typeface="+mn-cs"/>
              </a:rPr>
              <a:t>Students should use the official Python website rather than random download mirrors.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Windows, Python.org may offer the Python install manager or a standalone installer. </a:t>
            </a:r>
          </a:p>
          <a:p>
            <a:r>
              <a:rPr lang="en-US" sz="1200" b="0" kern="1200" dirty="0">
                <a:solidFill>
                  <a:schemeClr val="tx1"/>
                </a:solidFill>
                <a:effectLst/>
                <a:latin typeface="+mn-lt"/>
                <a:ea typeface="+mn-ea"/>
                <a:cs typeface="+mn-cs"/>
              </a:rPr>
              <a:t>Either path is acceptable if the installation can be verified in the terminal.</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downloading, install in a way that lets the terminal find Python.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505544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Windows, Python.org may offer the Python install manager or a standalone installer. </a:t>
            </a:r>
          </a:p>
          <a:p>
            <a:r>
              <a:rPr lang="en-US" sz="1200" b="0" kern="1200" dirty="0">
                <a:solidFill>
                  <a:schemeClr val="tx1"/>
                </a:solidFill>
                <a:effectLst/>
                <a:latin typeface="+mn-lt"/>
                <a:ea typeface="+mn-ea"/>
                <a:cs typeface="+mn-cs"/>
              </a:rPr>
              <a:t>Either path is acceptable if the installation can be verified in the terminal.</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2821589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Avoid over-teaching every installer screen. </a:t>
            </a:r>
          </a:p>
          <a:p>
            <a:r>
              <a:rPr lang="en-US" sz="1200" b="0" kern="1200" dirty="0">
                <a:solidFill>
                  <a:schemeClr val="tx1"/>
                </a:solidFill>
                <a:effectLst/>
                <a:latin typeface="+mn-lt"/>
                <a:ea typeface="+mn-ea"/>
                <a:cs typeface="+mn-cs"/>
              </a:rPr>
              <a:t>The practical success check is whether students can open PowerShell and run a version command.</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If the installer offers PATH-related options, students should enable the option that lets Python run from the terminal.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install is not complete until we verify it.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3078615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On Windows, `</a:t>
            </a:r>
            <a:r>
              <a:rPr lang="en-US" sz="1200" b="0" kern="1200" dirty="0" err="1">
                <a:solidFill>
                  <a:schemeClr val="tx1"/>
                </a:solidFill>
                <a:effectLst/>
                <a:latin typeface="+mn-lt"/>
                <a:ea typeface="+mn-ea"/>
                <a:cs typeface="+mn-cs"/>
              </a:rPr>
              <a:t>py</a:t>
            </a:r>
            <a:r>
              <a:rPr lang="en-US" sz="1200" b="0" kern="1200" dirty="0">
                <a:solidFill>
                  <a:schemeClr val="tx1"/>
                </a:solidFill>
                <a:effectLst/>
                <a:latin typeface="+mn-lt"/>
                <a:ea typeface="+mn-ea"/>
                <a:cs typeface="+mn-cs"/>
              </a:rPr>
              <a:t> --version` may work even when `python --version` does not.</a:t>
            </a:r>
          </a:p>
          <a:p>
            <a:r>
              <a:rPr lang="en-US" sz="1200" b="0" kern="1200" dirty="0">
                <a:solidFill>
                  <a:schemeClr val="tx1"/>
                </a:solidFill>
                <a:effectLst/>
                <a:latin typeface="+mn-lt"/>
                <a:ea typeface="+mn-ea"/>
                <a:cs typeface="+mn-cs"/>
              </a:rPr>
              <a:t>That is acceptable for course use as long as students know which command they are using.</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`pip` check confirms that package management is available through the selected Python.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Next, create a project folder so course work is organized from the beginning.</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724611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may see beta, alpha, or release candidate builds. Those are not appropriate for this course.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a student already has Python installed, verify the version before deciding whether they need to change anything.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we need a place for the course files.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2369458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Recommend a simple path without spaces or unusual characters if possible.</a:t>
            </a:r>
          </a:p>
          <a:p>
            <a:r>
              <a:rPr lang="en-US" sz="1200" b="0" kern="1200" dirty="0">
                <a:solidFill>
                  <a:schemeClr val="tx1"/>
                </a:solidFill>
                <a:effectLst/>
                <a:latin typeface="+mn-lt"/>
                <a:ea typeface="+mn-ea"/>
                <a:cs typeface="+mn-cs"/>
              </a:rPr>
              <a:t>Students can use their normal Documents folder, but should know where the work is stored.</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Inside project folders, Python can use a local virtual environment.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2929075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conceptual. Students do not need dependency theory yet. </a:t>
            </a:r>
          </a:p>
          <a:p>
            <a:r>
              <a:rPr lang="en-US" sz="1200" b="0" kern="1200" dirty="0">
                <a:solidFill>
                  <a:schemeClr val="tx1"/>
                </a:solidFill>
                <a:effectLst/>
                <a:latin typeface="+mn-lt"/>
                <a:ea typeface="+mn-ea"/>
                <a:cs typeface="+mn-cs"/>
              </a:rPr>
              <a:t>They need the idea that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belongs to the project and helps prevent package confusion.</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standard beginner-friendly folder name is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1565344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Explain the command in plain language:</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py</a:t>
            </a:r>
            <a:r>
              <a:rPr lang="en-US" sz="1200" b="0" kern="1200" dirty="0">
                <a:solidFill>
                  <a:schemeClr val="tx1"/>
                </a:solidFill>
                <a:effectLst/>
                <a:latin typeface="+mn-lt"/>
                <a:ea typeface="+mn-ea"/>
                <a:cs typeface="+mn-cs"/>
              </a:rPr>
              <a:t>` or `python` starts Python</a:t>
            </a:r>
          </a:p>
          <a:p>
            <a:r>
              <a:rPr lang="en-US" sz="1200" b="0" kern="1200" dirty="0">
                <a:solidFill>
                  <a:schemeClr val="tx1"/>
                </a:solidFill>
                <a:effectLst/>
                <a:latin typeface="+mn-lt"/>
                <a:ea typeface="+mn-ea"/>
                <a:cs typeface="+mn-cs"/>
              </a:rPr>
              <a:t>- `-m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runs the virtual environment tool</a:t>
            </a:r>
          </a:p>
          <a:p>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is the folder being created</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creating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activate it or select it in VS Code.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3264218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execution policy blocks activation, do not derail the whole lesson. </a:t>
            </a:r>
          </a:p>
          <a:p>
            <a:r>
              <a:rPr lang="en-US" sz="1200" b="0" kern="1200" dirty="0">
                <a:solidFill>
                  <a:schemeClr val="tx1"/>
                </a:solidFill>
                <a:effectLst/>
                <a:latin typeface="+mn-lt"/>
                <a:ea typeface="+mn-ea"/>
                <a:cs typeface="+mn-cs"/>
              </a:rPr>
              <a:t>VS Code can still select the interpreter, and the issue can be handled individually.</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The visible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prefix is useful evidence, but the stronger check is which Python interpreter VS Code is using.</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You can also let VS Code use the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directly.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919728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prevents a common misconception: students may think </a:t>
            </a:r>
            <a:r>
              <a:rPr lang="en-US" sz="1200" b="0" kern="1200" dirty="0" err="1">
                <a:solidFill>
                  <a:schemeClr val="tx1"/>
                </a:solidFill>
                <a:effectLst/>
                <a:latin typeface="+mn-lt"/>
                <a:ea typeface="+mn-ea"/>
                <a:cs typeface="+mn-cs"/>
              </a:rPr>
              <a:t>venv</a:t>
            </a:r>
            <a:r>
              <a:rPr lang="en-US" sz="1200" b="0" kern="1200" dirty="0">
                <a:solidFill>
                  <a:schemeClr val="tx1"/>
                </a:solidFill>
                <a:effectLst/>
                <a:latin typeface="+mn-lt"/>
                <a:ea typeface="+mn-ea"/>
                <a:cs typeface="+mn-cs"/>
              </a:rPr>
              <a:t> is unnecessary because early scripts do not install packages. </a:t>
            </a:r>
          </a:p>
          <a:p>
            <a:r>
              <a:rPr lang="en-US" sz="1200" b="0" kern="1200" dirty="0">
                <a:solidFill>
                  <a:schemeClr val="tx1"/>
                </a:solidFill>
                <a:effectLst/>
                <a:latin typeface="+mn-lt"/>
                <a:ea typeface="+mn-ea"/>
                <a:cs typeface="+mn-cs"/>
              </a:rPr>
              <a:t>The value becomes more visible later.</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we need an editor that can use Python and the virtual environment.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29677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NOTE: This may already be installed on their school issued laptops. In which case, skip or skim this section </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Emphasize Visual Studio Code, not Visual Studio. These are different products.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1946838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1020683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3150513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Microsoft Python extension provides core Python support. </a:t>
            </a:r>
          </a:p>
          <a:p>
            <a:r>
              <a:rPr lang="en-US" sz="1200" b="0" kern="1200" dirty="0" err="1">
                <a:solidFill>
                  <a:schemeClr val="tx1"/>
                </a:solidFill>
                <a:effectLst/>
                <a:latin typeface="+mn-lt"/>
                <a:ea typeface="+mn-ea"/>
                <a:cs typeface="+mn-cs"/>
              </a:rPr>
              <a:t>Pylance</a:t>
            </a:r>
            <a:r>
              <a:rPr lang="en-US" sz="1200" b="0" kern="1200" dirty="0">
                <a:solidFill>
                  <a:schemeClr val="tx1"/>
                </a:solidFill>
                <a:effectLst/>
                <a:latin typeface="+mn-lt"/>
                <a:ea typeface="+mn-ea"/>
                <a:cs typeface="+mn-cs"/>
              </a:rPr>
              <a:t> provides language intelligence. </a:t>
            </a:r>
          </a:p>
          <a:p>
            <a:r>
              <a:rPr lang="en-US" sz="1200" b="0" kern="1200" dirty="0">
                <a:solidFill>
                  <a:schemeClr val="tx1"/>
                </a:solidFill>
                <a:effectLst/>
                <a:latin typeface="+mn-lt"/>
                <a:ea typeface="+mn-ea"/>
                <a:cs typeface="+mn-cs"/>
              </a:rPr>
              <a:t>Python Environments helps manage and select environments. </a:t>
            </a:r>
          </a:p>
          <a:p>
            <a:r>
              <a:rPr lang="en-US" sz="1200" b="0" kern="1200" dirty="0">
                <a:solidFill>
                  <a:schemeClr val="tx1"/>
                </a:solidFill>
                <a:effectLst/>
                <a:latin typeface="+mn-lt"/>
                <a:ea typeface="+mn-ea"/>
                <a:cs typeface="+mn-cs"/>
              </a:rPr>
              <a:t>The Extension packs auto install many supporting extensions and are optional</a:t>
            </a:r>
          </a:p>
          <a:p>
            <a:r>
              <a:rPr lang="en-US" sz="1200" b="0" kern="1200" dirty="0">
                <a:solidFill>
                  <a:schemeClr val="tx1"/>
                </a:solidFill>
                <a:effectLst/>
                <a:latin typeface="+mn-lt"/>
                <a:ea typeface="+mn-ea"/>
                <a:cs typeface="+mn-cs"/>
              </a:rPr>
              <a:t>Jupyter is optional and only needed if notebooks are used.</a:t>
            </a:r>
          </a:p>
          <a:p>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Mention extension trust: students should avoid random extensions that claim to help with Python unless the instructor approves them.</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extensions are installed, VS Code must know which Python to use.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2089150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p>
          <a:p>
            <a:r>
              <a:rPr lang="en-US" dirty="0"/>
              <a:t>Step by step instructions for those who may be a bit overwhelmed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dirty="0"/>
              <a:t>There are some additional extensions that can provide helpful tools.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After extensions are installed, VS Code must know which Python to use.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3866172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2756341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most important VS Code setup step. </a:t>
            </a:r>
          </a:p>
          <a:p>
            <a:r>
              <a:rPr lang="en-US" sz="1200" b="0" kern="1200" dirty="0">
                <a:solidFill>
                  <a:schemeClr val="tx1"/>
                </a:solidFill>
                <a:effectLst/>
                <a:latin typeface="+mn-lt"/>
                <a:ea typeface="+mn-ea"/>
                <a:cs typeface="+mn-cs"/>
              </a:rPr>
              <a:t>Students often install Python correctly but run code with the wrong interpreter.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selected interpreter may appear in the VS Code status bar or Python environment selector.</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terminal should also line up with the selected environment.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3156664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VS Code's Python tooling can switch between interpreters, including virtual environments. </a:t>
            </a:r>
          </a:p>
          <a:p>
            <a:r>
              <a:rPr lang="en-US" sz="1200" b="0" kern="1200" dirty="0">
                <a:solidFill>
                  <a:schemeClr val="tx1"/>
                </a:solidFill>
                <a:effectLst/>
                <a:latin typeface="+mn-lt"/>
                <a:ea typeface="+mn-ea"/>
                <a:cs typeface="+mn-cs"/>
              </a:rPr>
              <a:t>If the terminal does not activate automatically, students can still activate manually or reselect the interpreter.</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verify that VS Code can run a small Python file.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26</a:t>
            </a:fld>
            <a:endParaRPr lang="en-US"/>
          </a:p>
        </p:txBody>
      </p:sp>
    </p:spTree>
    <p:extLst>
      <p:ext uri="{BB962C8B-B14F-4D97-AF65-F5344CB8AC3E}">
        <p14:creationId xmlns:p14="http://schemas.microsoft.com/office/powerpoint/2010/main" val="154755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the practical setup success check. It is intentionally tiny.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code runs locally, students need a way to submit and preserve work.</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261084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Frame VS Code GitHub integration as an alternate workflow, not as a separate standard. </a:t>
            </a:r>
          </a:p>
          <a:p>
            <a:r>
              <a:rPr lang="en-US" sz="1200" b="0" kern="1200" dirty="0">
                <a:solidFill>
                  <a:schemeClr val="tx1"/>
                </a:solidFill>
                <a:effectLst/>
                <a:latin typeface="+mn-lt"/>
                <a:ea typeface="+mn-ea"/>
                <a:cs typeface="+mn-cs"/>
              </a:rPr>
              <a:t>The underlying concepts remain the same: files change, changes are committed, and work is pushed or submitted.</a:t>
            </a:r>
          </a:p>
          <a:p>
            <a:r>
              <a:rPr lang="en-US" sz="1200" b="0" kern="1200" dirty="0">
                <a:solidFill>
                  <a:schemeClr val="tx1"/>
                </a:solidFill>
                <a:effectLst/>
                <a:latin typeface="+mn-lt"/>
                <a:ea typeface="+mn-ea"/>
                <a:cs typeface="+mn-cs"/>
              </a:rPr>
              <a:t>There will be times when the only available option is to use the CLI commands!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VS Code includes source control tools directly in the editor.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2982381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Important boundary: VS Code still relies on Git being available on the computer for normal local Git workflows.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Git is missing, install Git for Windows or use the GitHub tools supported by the instructor's workflow.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GitHub extensions can make GitHub-specific actions easier.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29</a:t>
            </a:fld>
            <a:endParaRPr lang="en-US"/>
          </a:p>
        </p:txBody>
      </p:sp>
    </p:spTree>
    <p:extLst>
      <p:ext uri="{BB962C8B-B14F-4D97-AF65-F5344CB8AC3E}">
        <p14:creationId xmlns:p14="http://schemas.microsoft.com/office/powerpoint/2010/main" val="2276202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If Git is missing, install Git for Windows.</a:t>
            </a:r>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30</a:t>
            </a:fld>
            <a:endParaRPr lang="en-US"/>
          </a:p>
        </p:txBody>
      </p:sp>
    </p:spTree>
    <p:extLst>
      <p:ext uri="{BB962C8B-B14F-4D97-AF65-F5344CB8AC3E}">
        <p14:creationId xmlns:p14="http://schemas.microsoft.com/office/powerpoint/2010/main" val="2821837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this course, the most important student workflow is basic submission, not</a:t>
            </a:r>
          </a:p>
          <a:p>
            <a:r>
              <a:rPr lang="en-US" sz="1200" b="0" kern="1200" dirty="0">
                <a:solidFill>
                  <a:schemeClr val="tx1"/>
                </a:solidFill>
                <a:effectLst/>
                <a:latin typeface="+mn-lt"/>
                <a:ea typeface="+mn-ea"/>
                <a:cs typeface="+mn-cs"/>
              </a:rPr>
              <a:t>advanced pull request review.</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GitHub Repositories can browse and work with remote GitHub repositories from VS</a:t>
            </a:r>
          </a:p>
          <a:p>
            <a:r>
              <a:rPr lang="en-US" sz="1200" b="0" kern="1200" dirty="0">
                <a:solidFill>
                  <a:schemeClr val="tx1"/>
                </a:solidFill>
                <a:effectLst/>
                <a:latin typeface="+mn-lt"/>
                <a:ea typeface="+mn-ea"/>
                <a:cs typeface="+mn-cs"/>
              </a:rPr>
              <a:t>Code. GitHub Pull Requests supports PR and issue workflows.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Students should still understand the basic vocabulary.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32</a:t>
            </a:fld>
            <a:endParaRPr lang="en-US"/>
          </a:p>
        </p:txBody>
      </p:sp>
    </p:spTree>
    <p:extLst>
      <p:ext uri="{BB962C8B-B14F-4D97-AF65-F5344CB8AC3E}">
        <p14:creationId xmlns:p14="http://schemas.microsoft.com/office/powerpoint/2010/main" val="3659875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Keep this vocabulary practical. Do not teach complex branching here.</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compare CLI and VS Code workflows.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33</a:t>
            </a:fld>
            <a:endParaRPr lang="en-US"/>
          </a:p>
        </p:txBody>
      </p:sp>
    </p:spTree>
    <p:extLst>
      <p:ext uri="{BB962C8B-B14F-4D97-AF65-F5344CB8AC3E}">
        <p14:creationId xmlns:p14="http://schemas.microsoft.com/office/powerpoint/2010/main" val="3179280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prevents students from treating VS Code as a separate concept from Git.</a:t>
            </a:r>
          </a:p>
          <a:p>
            <a:r>
              <a:rPr lang="en-US" sz="1200" b="0" kern="1200" dirty="0">
                <a:solidFill>
                  <a:schemeClr val="tx1"/>
                </a:solidFill>
                <a:effectLst/>
                <a:latin typeface="+mn-lt"/>
                <a:ea typeface="+mn-ea"/>
                <a:cs typeface="+mn-cs"/>
              </a:rPr>
              <a:t>The interface changes; the core workflow remains.</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the first assignment, check the setup end to end.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34</a:t>
            </a:fld>
            <a:endParaRPr lang="en-US"/>
          </a:p>
        </p:txBody>
      </p:sp>
    </p:spTree>
    <p:extLst>
      <p:ext uri="{BB962C8B-B14F-4D97-AF65-F5344CB8AC3E}">
        <p14:creationId xmlns:p14="http://schemas.microsoft.com/office/powerpoint/2010/main" val="3986725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slide can become the student-facing checklist in Schoology.</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something fails, diagnose the exact layer.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35</a:t>
            </a:fld>
            <a:endParaRPr lang="en-US"/>
          </a:p>
        </p:txBody>
      </p:sp>
    </p:spTree>
    <p:extLst>
      <p:ext uri="{BB962C8B-B14F-4D97-AF65-F5344CB8AC3E}">
        <p14:creationId xmlns:p14="http://schemas.microsoft.com/office/powerpoint/2010/main" val="464528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prevents broad panic. </a:t>
            </a:r>
          </a:p>
          <a:p>
            <a:r>
              <a:rPr lang="en-US" sz="1200" b="0" kern="1200" dirty="0">
                <a:solidFill>
                  <a:schemeClr val="tx1"/>
                </a:solidFill>
                <a:effectLst/>
                <a:latin typeface="+mn-lt"/>
                <a:ea typeface="+mn-ea"/>
                <a:cs typeface="+mn-cs"/>
              </a:rPr>
              <a:t>Students often say "Python does not work" when the actual issue is PATH, interpreter selection, or terminal activation.</a:t>
            </a:r>
          </a:p>
          <a:p>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Once setup is verified, students are ready for the first real coding session.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36</a:t>
            </a:fld>
            <a:endParaRPr lang="en-US"/>
          </a:p>
        </p:txBody>
      </p:sp>
    </p:spTree>
    <p:extLst>
      <p:ext uri="{BB962C8B-B14F-4D97-AF65-F5344CB8AC3E}">
        <p14:creationId xmlns:p14="http://schemas.microsoft.com/office/powerpoint/2010/main" val="22230671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End with readiness, not tool worship. </a:t>
            </a:r>
          </a:p>
          <a:p>
            <a:r>
              <a:rPr lang="en-US" sz="1200" b="0" kern="1200" dirty="0">
                <a:solidFill>
                  <a:schemeClr val="tx1"/>
                </a:solidFill>
                <a:effectLst/>
                <a:latin typeface="+mn-lt"/>
                <a:ea typeface="+mn-ea"/>
                <a:cs typeface="+mn-cs"/>
              </a:rPr>
              <a:t>The setup exists to support learning Python, not to become the course itself.</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Next, we write the first tiny Python program.</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37</a:t>
            </a:fld>
            <a:endParaRPr lang="en-US"/>
          </a:p>
        </p:txBody>
      </p:sp>
    </p:spTree>
    <p:extLst>
      <p:ext uri="{BB962C8B-B14F-4D97-AF65-F5344CB8AC3E}">
        <p14:creationId xmlns:p14="http://schemas.microsoft.com/office/powerpoint/2010/main" val="3152252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38</a:t>
            </a:fld>
            <a:endParaRPr lang="en-US"/>
          </a:p>
        </p:txBody>
      </p:sp>
    </p:spTree>
    <p:extLst>
      <p:ext uri="{BB962C8B-B14F-4D97-AF65-F5344CB8AC3E}">
        <p14:creationId xmlns:p14="http://schemas.microsoft.com/office/powerpoint/2010/main" val="31256578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40</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**Instructor Notes:**</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Do not rush the trace. </a:t>
            </a:r>
          </a:p>
          <a:p>
            <a:r>
              <a:rPr lang="en-US" sz="1200" b="0" kern="1200" dirty="0">
                <a:solidFill>
                  <a:schemeClr val="tx1"/>
                </a:solidFill>
                <a:effectLst/>
                <a:latin typeface="+mn-lt"/>
                <a:ea typeface="+mn-ea"/>
                <a:cs typeface="+mn-cs"/>
              </a:rPr>
              <a:t>Ask students what low, high, and mid mean before running the binary search explanation.</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point is not that binary search "fails every time" on unsorted data. </a:t>
            </a:r>
          </a:p>
          <a:p>
            <a:r>
              <a:rPr lang="en-US" sz="1200" b="0" kern="1200" dirty="0">
                <a:solidFill>
                  <a:schemeClr val="tx1"/>
                </a:solidFill>
                <a:effectLst/>
                <a:latin typeface="+mn-lt"/>
                <a:ea typeface="+mn-ea"/>
                <a:cs typeface="+mn-cs"/>
              </a:rPr>
              <a:t>The point is that it is not trustworthy because its reasoning no longer holds.</a:t>
            </a:r>
          </a:p>
          <a:p>
            <a:br>
              <a:rPr lang="en-US" sz="1200" b="0" kern="1200" dirty="0">
                <a:solidFill>
                  <a:schemeClr val="tx1"/>
                </a:solidFill>
                <a:effectLst/>
                <a:latin typeface="+mn-lt"/>
                <a:ea typeface="+mn-ea"/>
                <a:cs typeface="+mn-cs"/>
              </a:rPr>
            </a:br>
            <a:r>
              <a:rPr lang="en-US" sz="1200" b="1" kern="1200" dirty="0">
                <a:solidFill>
                  <a:schemeClr val="tx1"/>
                </a:solidFill>
                <a:effectLst/>
                <a:latin typeface="+mn-lt"/>
                <a:ea typeface="+mn-ea"/>
                <a:cs typeface="+mn-cs"/>
              </a:rPr>
              <a:t>**Transition Cue:**</a:t>
            </a: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Watch the decisions, not just the final result.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41</a:t>
            </a:fld>
            <a:endParaRPr lang="en-US"/>
          </a:p>
        </p:txBody>
      </p:sp>
    </p:spTree>
    <p:extLst>
      <p:ext uri="{BB962C8B-B14F-4D97-AF65-F5344CB8AC3E}">
        <p14:creationId xmlns:p14="http://schemas.microsoft.com/office/powerpoint/2010/main" val="25351171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42</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pexels.com/photo/photo-of-computer-setup-4665064/"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martin-ueding.de/posts/visual-studio-code-and-pycharm-compare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130595" y="1358537"/>
            <a:ext cx="5826719" cy="2692299"/>
          </a:xfrm>
        </p:spPr>
        <p:txBody>
          <a:bodyPr/>
          <a:lstStyle/>
          <a:p>
            <a:r>
              <a:rPr lang="en-US" dirty="0"/>
              <a:t>Python Programming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Day 1 - Coding/Course Setup</a:t>
            </a:r>
          </a:p>
          <a:p>
            <a:r>
              <a:rPr lang="en-US" i="1" dirty="0"/>
              <a:t> “Creating the working environment”</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7CDA3D-60B0-BA1A-646C-F8FC6E20C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028A4-DE1B-7C9E-8A8C-0D3260DB9526}"/>
              </a:ext>
            </a:extLst>
          </p:cNvPr>
          <p:cNvSpPr>
            <a:spLocks noGrp="1"/>
          </p:cNvSpPr>
          <p:nvPr>
            <p:ph type="title"/>
          </p:nvPr>
        </p:nvSpPr>
        <p:spPr>
          <a:xfrm>
            <a:off x="4152550" y="609600"/>
            <a:ext cx="2802951" cy="1320800"/>
          </a:xfrm>
        </p:spPr>
        <p:txBody>
          <a:bodyPr>
            <a:normAutofit fontScale="90000"/>
          </a:bodyPr>
          <a:lstStyle/>
          <a:p>
            <a:r>
              <a:rPr lang="en-US" sz="3300" dirty="0"/>
              <a:t>Setup Is Part Of The Course</a:t>
            </a:r>
          </a:p>
        </p:txBody>
      </p:sp>
      <p:sp>
        <p:nvSpPr>
          <p:cNvPr id="3" name="Content Placeholder 2">
            <a:extLst>
              <a:ext uri="{FF2B5EF4-FFF2-40B4-BE49-F238E27FC236}">
                <a16:creationId xmlns:a16="http://schemas.microsoft.com/office/drawing/2014/main" id="{79D563FF-40E9-70ED-F61C-14EDABDEC90F}"/>
              </a:ext>
            </a:extLst>
          </p:cNvPr>
          <p:cNvSpPr>
            <a:spLocks noGrp="1"/>
          </p:cNvSpPr>
          <p:nvPr>
            <p:ph idx="1"/>
          </p:nvPr>
        </p:nvSpPr>
        <p:spPr>
          <a:xfrm>
            <a:off x="3907172" y="2160589"/>
            <a:ext cx="3048329" cy="3880773"/>
          </a:xfrm>
        </p:spPr>
        <p:txBody>
          <a:bodyPr>
            <a:normAutofit/>
          </a:bodyPr>
          <a:lstStyle/>
          <a:p>
            <a:pPr marL="0" indent="0">
              <a:buNone/>
            </a:pPr>
            <a:r>
              <a:rPr lang="en-US" dirty="0"/>
              <a:t>Before writing Python comfortably, your computer needs a stable setup.</a:t>
            </a:r>
          </a:p>
          <a:p>
            <a:pPr marL="0" indent="0">
              <a:buNone/>
            </a:pPr>
            <a:endParaRPr lang="en-US" dirty="0"/>
          </a:p>
          <a:p>
            <a:pPr marL="0" indent="0">
              <a:buNone/>
            </a:pPr>
            <a:r>
              <a:rPr lang="en-US" dirty="0"/>
              <a:t>The goal is not to memorize setup steps. The goal is to create a reliable place to run your code.</a:t>
            </a:r>
          </a:p>
          <a:p>
            <a:endParaRPr lang="en-US" dirty="0"/>
          </a:p>
        </p:txBody>
      </p:sp>
      <p:pic>
        <p:nvPicPr>
          <p:cNvPr id="28" name="Picture 27">
            <a:extLst>
              <a:ext uri="{FF2B5EF4-FFF2-40B4-BE49-F238E27FC236}">
                <a16:creationId xmlns:a16="http://schemas.microsoft.com/office/drawing/2014/main" id="{CED2CA7C-B2B5-3755-AD10-0B74AE79A100}"/>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l="29121" r="29121"/>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1950E585-AFC6-6CD9-6567-A13A7083A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18404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5B0E92-23A3-0CE7-799B-A607173A7E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F8F76F-3D84-B120-D1E3-68B29B5DFA4B}"/>
              </a:ext>
              <a:ext uri="{C183D7F6-B498-43B3-948B-1728B52AA6E4}">
                <adec:decorative xmlns:adec="http://schemas.microsoft.com/office/drawing/2017/decorative" val="1"/>
              </a:ext>
            </a:extLst>
          </p:cNvPr>
          <p:cNvPicPr>
            <a:picLocks noChangeAspect="1"/>
          </p:cNvPicPr>
          <p:nvPr/>
        </p:nvPicPr>
        <p:blipFill>
          <a:blip r:embed="rId2"/>
          <a:srcRect l="22755" r="19847" b="-1"/>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CA60EC12-174A-0548-35EA-BE22D1E24B8B}"/>
              </a:ext>
            </a:extLst>
          </p:cNvPr>
          <p:cNvSpPr>
            <a:spLocks noGrp="1"/>
          </p:cNvSpPr>
          <p:nvPr>
            <p:ph type="title"/>
          </p:nvPr>
        </p:nvSpPr>
        <p:spPr>
          <a:xfrm>
            <a:off x="507999" y="609600"/>
            <a:ext cx="2888343" cy="1320800"/>
          </a:xfrm>
        </p:spPr>
        <p:txBody>
          <a:bodyPr vert="horz" lIns="91440" tIns="45720" rIns="91440" bIns="45720" rtlCol="0">
            <a:normAutofit/>
          </a:bodyPr>
          <a:lstStyle/>
          <a:p>
            <a:r>
              <a:rPr lang="en-US"/>
              <a:t>Setup Path</a:t>
            </a:r>
          </a:p>
        </p:txBody>
      </p:sp>
      <p:sp>
        <p:nvSpPr>
          <p:cNvPr id="4" name="Content Placeholder 2">
            <a:extLst>
              <a:ext uri="{FF2B5EF4-FFF2-40B4-BE49-F238E27FC236}">
                <a16:creationId xmlns:a16="http://schemas.microsoft.com/office/drawing/2014/main" id="{8D65E96A-8236-E5A8-7EAE-53E25E1BC4AA}"/>
              </a:ext>
            </a:extLst>
          </p:cNvPr>
          <p:cNvSpPr>
            <a:spLocks noGrp="1"/>
          </p:cNvSpPr>
          <p:nvPr>
            <p:ph idx="1"/>
          </p:nvPr>
        </p:nvSpPr>
        <p:spPr>
          <a:xfrm>
            <a:off x="508000" y="2160589"/>
            <a:ext cx="3287386" cy="4302841"/>
          </a:xfrm>
        </p:spPr>
        <p:txBody>
          <a:bodyPr>
            <a:normAutofit/>
          </a:bodyPr>
          <a:lstStyle/>
          <a:p>
            <a:pPr marL="0" indent="0">
              <a:buNone/>
            </a:pPr>
            <a:r>
              <a:rPr lang="en-US" sz="2000" dirty="0"/>
              <a:t>Course setup path:</a:t>
            </a:r>
          </a:p>
          <a:p>
            <a:r>
              <a:rPr lang="en-US" sz="2000" dirty="0"/>
              <a:t>Python -&gt; </a:t>
            </a:r>
          </a:p>
          <a:p>
            <a:r>
              <a:rPr lang="en-US" sz="2000" dirty="0"/>
              <a:t>project folder -&gt; </a:t>
            </a:r>
          </a:p>
          <a:p>
            <a:r>
              <a:rPr lang="en-US" sz="2000" dirty="0"/>
              <a:t>`.</a:t>
            </a:r>
            <a:r>
              <a:rPr lang="en-US" sz="2000" dirty="0" err="1"/>
              <a:t>venv</a:t>
            </a:r>
            <a:r>
              <a:rPr lang="en-US" sz="2000" dirty="0"/>
              <a:t>` -&gt; </a:t>
            </a:r>
          </a:p>
          <a:p>
            <a:r>
              <a:rPr lang="en-US" sz="2000" dirty="0"/>
              <a:t>VS Code -&gt; </a:t>
            </a:r>
          </a:p>
          <a:p>
            <a:r>
              <a:rPr lang="en-US" sz="2000" dirty="0"/>
              <a:t>GitHub</a:t>
            </a:r>
          </a:p>
          <a:p>
            <a:pPr marL="0" indent="0">
              <a:buNone/>
            </a:pPr>
            <a:r>
              <a:rPr lang="en-US" sz="2000" dirty="0"/>
              <a:t>Each piece supports a different part of the workflow.</a:t>
            </a:r>
          </a:p>
        </p:txBody>
      </p:sp>
      <p:cxnSp>
        <p:nvCxnSpPr>
          <p:cNvPr id="42" name="Straight Connector 4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6057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sp>
        <p:nvSpPr>
          <p:cNvPr id="2" name="Title 1">
            <a:extLst>
              <a:ext uri="{FF2B5EF4-FFF2-40B4-BE49-F238E27FC236}">
                <a16:creationId xmlns:a16="http://schemas.microsoft.com/office/drawing/2014/main" id="{B5BB2258-2A42-7358-855B-3C842DFCA6C1}"/>
              </a:ext>
            </a:extLst>
          </p:cNvPr>
          <p:cNvSpPr>
            <a:spLocks noGrp="1"/>
          </p:cNvSpPr>
          <p:nvPr>
            <p:ph type="title"/>
          </p:nvPr>
        </p:nvSpPr>
        <p:spPr>
          <a:xfrm>
            <a:off x="489360" y="1382486"/>
            <a:ext cx="2660686" cy="4093028"/>
          </a:xfrm>
        </p:spPr>
        <p:txBody>
          <a:bodyPr anchor="ctr">
            <a:normAutofit/>
          </a:bodyPr>
          <a:lstStyle/>
          <a:p>
            <a:r>
              <a:rPr lang="en-US" sz="3800" dirty="0"/>
              <a:t>What Success Look Like</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aphicFrame>
        <p:nvGraphicFramePr>
          <p:cNvPr id="5" name="Content Placeholder 2">
            <a:extLst>
              <a:ext uri="{FF2B5EF4-FFF2-40B4-BE49-F238E27FC236}">
                <a16:creationId xmlns:a16="http://schemas.microsoft.com/office/drawing/2014/main" id="{4E8FB340-C6CC-FE68-2C30-7F4BB19196CF}"/>
              </a:ext>
            </a:extLst>
          </p:cNvPr>
          <p:cNvGraphicFramePr>
            <a:graphicFrameLocks noGrp="1"/>
          </p:cNvGraphicFramePr>
          <p:nvPr>
            <p:ph idx="1"/>
            <p:extLst>
              <p:ext uri="{D42A27DB-BD31-4B8C-83A1-F6EECF244321}">
                <p14:modId xmlns:p14="http://schemas.microsoft.com/office/powerpoint/2010/main" val="1176870640"/>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066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4046200" cy="3880773"/>
          </a:xfrm>
        </p:spPr>
        <p:txBody>
          <a:bodyPr>
            <a:normAutofit/>
          </a:bodyPr>
          <a:lstStyle/>
          <a:p>
            <a:r>
              <a:rPr lang="en-US" dirty="0"/>
              <a:t>Python from `python.org`</a:t>
            </a:r>
          </a:p>
          <a:p>
            <a:r>
              <a:rPr lang="en-US" dirty="0"/>
              <a:t>PowerShell or terminal verification commands</a:t>
            </a:r>
          </a:p>
          <a:p>
            <a:r>
              <a:rPr lang="en-US" dirty="0"/>
              <a:t>project folders</a:t>
            </a:r>
          </a:p>
          <a:p>
            <a:r>
              <a:rPr lang="en-US" dirty="0"/>
              <a:t>`.</a:t>
            </a:r>
            <a:r>
              <a:rPr lang="en-US" dirty="0" err="1"/>
              <a:t>venv</a:t>
            </a:r>
            <a:r>
              <a:rPr lang="en-US" dirty="0"/>
              <a:t>` virtual environments</a:t>
            </a:r>
          </a:p>
          <a:p>
            <a:r>
              <a:rPr lang="en-US" dirty="0"/>
              <a:t>Visual Studio Code</a:t>
            </a:r>
          </a:p>
          <a:p>
            <a:r>
              <a:rPr lang="en-US" dirty="0"/>
              <a:t>Microsoft Python extension</a:t>
            </a:r>
          </a:p>
          <a:p>
            <a:r>
              <a:rPr lang="en-US" dirty="0"/>
              <a:t>VS Code interpreter selection</a:t>
            </a:r>
          </a:p>
          <a:p>
            <a:r>
              <a:rPr lang="en-US" dirty="0"/>
              <a:t>VS Code source control / GitHub integration</a:t>
            </a:r>
          </a:p>
        </p:txBody>
      </p:sp>
      <p:pic>
        <p:nvPicPr>
          <p:cNvPr id="28" name="Picture 27">
            <a:extLst>
              <a:ext uri="{FF2B5EF4-FFF2-40B4-BE49-F238E27FC236}">
                <a16:creationId xmlns:a16="http://schemas.microsoft.com/office/drawing/2014/main" id="{38D50984-DDEB-A743-533E-89C11F357B8D}"/>
              </a:ext>
              <a:ext uri="{C183D7F6-B498-43B3-948B-1728B52AA6E4}">
                <adec:decorative xmlns:adec="http://schemas.microsoft.com/office/drawing/2017/decorative" val="1"/>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dirty="0"/>
              <a:t>What We Will “Skip” For Now</a:t>
            </a:r>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3915323" cy="3701270"/>
          </a:xfrm>
        </p:spPr>
        <p:txBody>
          <a:bodyPr>
            <a:normAutofit/>
          </a:bodyPr>
          <a:lstStyle/>
          <a:p>
            <a:r>
              <a:rPr lang="en-US" dirty="0"/>
              <a:t>advanced dependency management</a:t>
            </a:r>
          </a:p>
          <a:p>
            <a:r>
              <a:rPr lang="en-US" dirty="0"/>
              <a:t>publishing packages</a:t>
            </a:r>
          </a:p>
          <a:p>
            <a:r>
              <a:rPr lang="en-US" dirty="0"/>
              <a:t>complex Git branching</a:t>
            </a:r>
          </a:p>
          <a:p>
            <a:r>
              <a:rPr lang="en-US" dirty="0"/>
              <a:t>pull request reviews</a:t>
            </a:r>
          </a:p>
          <a:p>
            <a:r>
              <a:rPr lang="en-US" dirty="0"/>
              <a:t>deployment</a:t>
            </a:r>
          </a:p>
          <a:p>
            <a:r>
              <a:rPr lang="en-US" dirty="0"/>
              <a:t>Python pre-release versions</a:t>
            </a:r>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p:txBody>
          <a:bodyPr/>
          <a:lstStyle/>
          <a:p>
            <a:r>
              <a:rPr lang="en-US" dirty="0"/>
              <a:t>Download Python</a:t>
            </a:r>
          </a:p>
        </p:txBody>
      </p:sp>
      <p:pic>
        <p:nvPicPr>
          <p:cNvPr id="3" name="Content Placeholder 2" descr="Screenshot of Python official website section showing active Python releases timeline. Horizontal bar chart uses red for end-of-life versions, green for security updates, yellow for bug fixes, and light yellow for pre-releases and future versions, highlighting support status from Python 2.7 through Python 3.16 across years 2019 to 2032.">
            <a:extLst>
              <a:ext uri="{FF2B5EF4-FFF2-40B4-BE49-F238E27FC236}">
                <a16:creationId xmlns:a16="http://schemas.microsoft.com/office/drawing/2014/main" id="{898156F9-F88F-2F2E-8C18-4CC9EA43D884}"/>
              </a:ext>
            </a:extLst>
          </p:cNvPr>
          <p:cNvPicPr>
            <a:picLocks noGrp="1" noChangeAspect="1"/>
          </p:cNvPicPr>
          <p:nvPr>
            <p:ph idx="1"/>
          </p:nvPr>
        </p:nvPicPr>
        <p:blipFill>
          <a:blip r:embed="rId3"/>
          <a:stretch>
            <a:fillRect/>
          </a:stretch>
        </p:blipFill>
        <p:spPr>
          <a:xfrm>
            <a:off x="1126376" y="1410789"/>
            <a:ext cx="5680492" cy="4526734"/>
          </a:xfrm>
          <a:prstGeom prst="rect">
            <a:avLst/>
          </a:prstGeom>
        </p:spPr>
      </p:pic>
      <p:sp>
        <p:nvSpPr>
          <p:cNvPr id="6" name="TextBox 5">
            <a:extLst>
              <a:ext uri="{FF2B5EF4-FFF2-40B4-BE49-F238E27FC236}">
                <a16:creationId xmlns:a16="http://schemas.microsoft.com/office/drawing/2014/main" id="{E3EE2A8D-CA65-5116-8F35-0145AC6B1F5B}"/>
              </a:ext>
            </a:extLst>
          </p:cNvPr>
          <p:cNvSpPr txBox="1"/>
          <p:nvPr/>
        </p:nvSpPr>
        <p:spPr>
          <a:xfrm>
            <a:off x="1802674" y="6087291"/>
            <a:ext cx="3944983" cy="369332"/>
          </a:xfrm>
          <a:prstGeom prst="rect">
            <a:avLst/>
          </a:prstGeom>
          <a:noFill/>
        </p:spPr>
        <p:txBody>
          <a:bodyPr wrap="square" rtlCol="0">
            <a:spAutoFit/>
          </a:bodyPr>
          <a:lstStyle/>
          <a:p>
            <a:pPr algn="ctr"/>
            <a:r>
              <a:rPr lang="en-US" dirty="0"/>
              <a:t>url: python.org/downloads</a:t>
            </a:r>
          </a:p>
        </p:txBody>
      </p:sp>
    </p:spTree>
    <p:extLst>
      <p:ext uri="{BB962C8B-B14F-4D97-AF65-F5344CB8AC3E}">
        <p14:creationId xmlns:p14="http://schemas.microsoft.com/office/powerpoint/2010/main" val="2276312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F6F4-8C78-8F00-C0CC-DFDE4B91034C}"/>
              </a:ext>
            </a:extLst>
          </p:cNvPr>
          <p:cNvSpPr>
            <a:spLocks noGrp="1"/>
          </p:cNvSpPr>
          <p:nvPr>
            <p:ph type="title"/>
          </p:nvPr>
        </p:nvSpPr>
        <p:spPr/>
        <p:txBody>
          <a:bodyPr/>
          <a:lstStyle/>
          <a:p>
            <a:r>
              <a:rPr lang="en-US" dirty="0"/>
              <a:t>Windows – Two options</a:t>
            </a:r>
          </a:p>
        </p:txBody>
      </p:sp>
      <p:pic>
        <p:nvPicPr>
          <p:cNvPr id="5" name="Content Placeholder 4" descr="Screenshot of a software download page for Python, highlighting options to download the latest version for Windows. Key elements include a yellow button labeled &quot;Download Python install manager,&quot; a link for standalone installer Python 3.14.6, and additional links for other operating systems and development versions.">
            <a:extLst>
              <a:ext uri="{FF2B5EF4-FFF2-40B4-BE49-F238E27FC236}">
                <a16:creationId xmlns:a16="http://schemas.microsoft.com/office/drawing/2014/main" id="{72623957-BF85-7389-96FF-670FB68EEFA9}"/>
              </a:ext>
            </a:extLst>
          </p:cNvPr>
          <p:cNvPicPr>
            <a:picLocks noGrp="1" noChangeAspect="1"/>
          </p:cNvPicPr>
          <p:nvPr>
            <p:ph idx="1"/>
          </p:nvPr>
        </p:nvPicPr>
        <p:blipFill>
          <a:blip r:embed="rId3"/>
          <a:stretch>
            <a:fillRect/>
          </a:stretch>
        </p:blipFill>
        <p:spPr>
          <a:xfrm>
            <a:off x="1736187" y="2467095"/>
            <a:ext cx="4095238" cy="1923810"/>
          </a:xfrm>
          <a:prstGeom prst="rect">
            <a:avLst/>
          </a:prstGeom>
        </p:spPr>
      </p:pic>
      <p:sp>
        <p:nvSpPr>
          <p:cNvPr id="6" name="TextBox 5">
            <a:extLst>
              <a:ext uri="{FF2B5EF4-FFF2-40B4-BE49-F238E27FC236}">
                <a16:creationId xmlns:a16="http://schemas.microsoft.com/office/drawing/2014/main" id="{14EE1698-9041-F4A3-8B7C-209826A2BFBF}"/>
              </a:ext>
            </a:extLst>
          </p:cNvPr>
          <p:cNvSpPr txBox="1"/>
          <p:nvPr/>
        </p:nvSpPr>
        <p:spPr>
          <a:xfrm>
            <a:off x="1810963" y="4888411"/>
            <a:ext cx="3944983" cy="646331"/>
          </a:xfrm>
          <a:prstGeom prst="rect">
            <a:avLst/>
          </a:prstGeom>
          <a:noFill/>
        </p:spPr>
        <p:txBody>
          <a:bodyPr wrap="square" rtlCol="0">
            <a:spAutoFit/>
          </a:bodyPr>
          <a:lstStyle/>
          <a:p>
            <a:pPr algn="ctr"/>
            <a:r>
              <a:rPr lang="en-US" dirty="0"/>
              <a:t>Either option will work</a:t>
            </a:r>
          </a:p>
          <a:p>
            <a:pPr algn="ctr"/>
            <a:r>
              <a:rPr lang="en-US" dirty="0"/>
              <a:t>(The top one is the easiest)</a:t>
            </a:r>
          </a:p>
        </p:txBody>
      </p:sp>
    </p:spTree>
    <p:extLst>
      <p:ext uri="{BB962C8B-B14F-4D97-AF65-F5344CB8AC3E}">
        <p14:creationId xmlns:p14="http://schemas.microsoft.com/office/powerpoint/2010/main" val="3346938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B618-4313-EE0A-B157-D5B416525E81}"/>
              </a:ext>
            </a:extLst>
          </p:cNvPr>
          <p:cNvSpPr>
            <a:spLocks noGrp="1"/>
          </p:cNvSpPr>
          <p:nvPr>
            <p:ph type="title"/>
          </p:nvPr>
        </p:nvSpPr>
        <p:spPr/>
        <p:txBody>
          <a:bodyPr/>
          <a:lstStyle/>
          <a:p>
            <a:r>
              <a:rPr lang="en-US" dirty="0"/>
              <a:t>New: Python Install Manager</a:t>
            </a:r>
          </a:p>
        </p:txBody>
      </p:sp>
      <p:pic>
        <p:nvPicPr>
          <p:cNvPr id="5" name="Content Placeholder 4" descr="Screenshot of Python Install Manager prompt showing version 26.2.240.0 from Python Software Foundation with options to install or cancel. Includes capabilities note about system resource use and registry entries, a launch checkbox, Python logo, and a warning about potential harm from internet applications.">
            <a:extLst>
              <a:ext uri="{FF2B5EF4-FFF2-40B4-BE49-F238E27FC236}">
                <a16:creationId xmlns:a16="http://schemas.microsoft.com/office/drawing/2014/main" id="{99680505-55C9-071F-B87F-1E68CECEC84A}"/>
              </a:ext>
            </a:extLst>
          </p:cNvPr>
          <p:cNvPicPr>
            <a:picLocks noGrp="1" noChangeAspect="1"/>
          </p:cNvPicPr>
          <p:nvPr>
            <p:ph idx="1"/>
          </p:nvPr>
        </p:nvPicPr>
        <p:blipFill>
          <a:blip r:embed="rId2"/>
          <a:stretch>
            <a:fillRect/>
          </a:stretch>
        </p:blipFill>
        <p:spPr>
          <a:xfrm>
            <a:off x="1307105" y="2386557"/>
            <a:ext cx="5188533" cy="3881437"/>
          </a:xfrm>
          <a:prstGeom prst="rect">
            <a:avLst/>
          </a:prstGeom>
        </p:spPr>
      </p:pic>
      <p:sp>
        <p:nvSpPr>
          <p:cNvPr id="6" name="TextBox 5">
            <a:extLst>
              <a:ext uri="{FF2B5EF4-FFF2-40B4-BE49-F238E27FC236}">
                <a16:creationId xmlns:a16="http://schemas.microsoft.com/office/drawing/2014/main" id="{D5DD8486-C4EB-2580-1E27-87EA8ED859E3}"/>
              </a:ext>
            </a:extLst>
          </p:cNvPr>
          <p:cNvSpPr txBox="1"/>
          <p:nvPr/>
        </p:nvSpPr>
        <p:spPr>
          <a:xfrm>
            <a:off x="1189540" y="1611284"/>
            <a:ext cx="5188533" cy="369332"/>
          </a:xfrm>
          <a:prstGeom prst="rect">
            <a:avLst/>
          </a:prstGeom>
          <a:noFill/>
        </p:spPr>
        <p:txBody>
          <a:bodyPr wrap="square" rtlCol="0">
            <a:spAutoFit/>
          </a:bodyPr>
          <a:lstStyle/>
          <a:p>
            <a:pPr algn="ctr"/>
            <a:r>
              <a:rPr lang="en-US" dirty="0"/>
              <a:t>(Your textbook does not mention this)</a:t>
            </a:r>
          </a:p>
        </p:txBody>
      </p:sp>
    </p:spTree>
    <p:extLst>
      <p:ext uri="{BB962C8B-B14F-4D97-AF65-F5344CB8AC3E}">
        <p14:creationId xmlns:p14="http://schemas.microsoft.com/office/powerpoint/2010/main" val="3280409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309B8F-5224-91BF-8847-A8F1B22AB9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095746-1F5B-580C-E402-A48CF23E4584}"/>
              </a:ext>
            </a:extLst>
          </p:cNvPr>
          <p:cNvSpPr>
            <a:spLocks noGrp="1"/>
          </p:cNvSpPr>
          <p:nvPr>
            <p:ph type="title"/>
          </p:nvPr>
        </p:nvSpPr>
        <p:spPr>
          <a:xfrm>
            <a:off x="2137171" y="609600"/>
            <a:ext cx="4818330" cy="1320800"/>
          </a:xfrm>
        </p:spPr>
        <p:txBody>
          <a:bodyPr>
            <a:normAutofit/>
          </a:bodyPr>
          <a:lstStyle/>
          <a:p>
            <a:r>
              <a:rPr lang="en-US" dirty="0"/>
              <a:t>Install Python</a:t>
            </a:r>
          </a:p>
        </p:txBody>
      </p:sp>
      <p:sp>
        <p:nvSpPr>
          <p:cNvPr id="11" name="Isosceles Triangle 10">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9B28FEC8-DC39-CB49-B17C-4AD438C0C7DC}"/>
              </a:ext>
              <a:ext uri="{C183D7F6-B498-43B3-948B-1728B52AA6E4}">
                <adec:decorative xmlns:adec="http://schemas.microsoft.com/office/drawing/2017/decorative" val="1"/>
              </a:ext>
            </a:extLst>
          </p:cNvPr>
          <p:cNvPicPr>
            <a:picLocks noChangeAspect="1"/>
          </p:cNvPicPr>
          <p:nvPr/>
        </p:nvPicPr>
        <p:blipFill>
          <a:blip r:embed="rId3"/>
          <a:srcRect l="25650" r="54391" b="-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3" name="Isosceles Triangle 12">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AA3D9BC5-980B-B249-7DBC-28114E72A303}"/>
              </a:ext>
            </a:extLst>
          </p:cNvPr>
          <p:cNvSpPr>
            <a:spLocks noGrp="1"/>
          </p:cNvSpPr>
          <p:nvPr>
            <p:ph idx="1"/>
          </p:nvPr>
        </p:nvSpPr>
        <p:spPr>
          <a:xfrm>
            <a:off x="2137171" y="2160589"/>
            <a:ext cx="4818330" cy="3880773"/>
          </a:xfrm>
        </p:spPr>
        <p:txBody>
          <a:bodyPr>
            <a:normAutofit/>
          </a:bodyPr>
          <a:lstStyle/>
          <a:p>
            <a:r>
              <a:rPr lang="en-US" dirty="0"/>
              <a:t>The Install manager will make sure that a usable `</a:t>
            </a:r>
            <a:r>
              <a:rPr lang="en-US" dirty="0" err="1"/>
              <a:t>py</a:t>
            </a:r>
            <a:r>
              <a:rPr lang="en-US" dirty="0"/>
              <a:t>` or `python` command is created.</a:t>
            </a:r>
          </a:p>
          <a:p>
            <a:r>
              <a:rPr lang="en-US" dirty="0"/>
              <a:t>If the installer offers PATH-related options, you should enable the option that lets Python run from the terminal.</a:t>
            </a:r>
          </a:p>
          <a:p>
            <a:r>
              <a:rPr lang="en-US" dirty="0"/>
              <a:t>Once the process is finished: </a:t>
            </a:r>
          </a:p>
          <a:p>
            <a:pPr lvl="1"/>
            <a:r>
              <a:rPr lang="en-US" dirty="0"/>
              <a:t>Open a terminal (powershell) </a:t>
            </a:r>
          </a:p>
          <a:p>
            <a:pPr lvl="1"/>
            <a:r>
              <a:rPr lang="en-US" dirty="0"/>
              <a:t>On the command line type `</a:t>
            </a:r>
            <a:r>
              <a:rPr lang="en-US" dirty="0" err="1"/>
              <a:t>py</a:t>
            </a:r>
            <a:r>
              <a:rPr lang="en-US" dirty="0"/>
              <a:t>`</a:t>
            </a:r>
          </a:p>
          <a:p>
            <a:pPr lvl="1"/>
            <a:r>
              <a:rPr lang="en-US" dirty="0"/>
              <a:t>Optionally, next type the command `help’ </a:t>
            </a:r>
          </a:p>
        </p:txBody>
      </p:sp>
    </p:spTree>
    <p:extLst>
      <p:ext uri="{BB962C8B-B14F-4D97-AF65-F5344CB8AC3E}">
        <p14:creationId xmlns:p14="http://schemas.microsoft.com/office/powerpoint/2010/main" val="218392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AEFE6-9D81-B323-0B01-CB610E434175}"/>
              </a:ext>
            </a:extLst>
          </p:cNvPr>
          <p:cNvSpPr>
            <a:spLocks noGrp="1"/>
          </p:cNvSpPr>
          <p:nvPr>
            <p:ph type="title"/>
          </p:nvPr>
        </p:nvSpPr>
        <p:spPr>
          <a:xfrm>
            <a:off x="2137171" y="609600"/>
            <a:ext cx="4818330" cy="1320800"/>
          </a:xfrm>
        </p:spPr>
        <p:txBody>
          <a:bodyPr>
            <a:normAutofit/>
          </a:bodyPr>
          <a:lstStyle/>
          <a:p>
            <a:r>
              <a:rPr lang="en-US" dirty="0"/>
              <a:t>Verify Python</a:t>
            </a:r>
          </a:p>
        </p:txBody>
      </p:sp>
      <p:sp>
        <p:nvSpPr>
          <p:cNvPr id="12" name="Isosceles Triangle 11">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196FB09D-BCF4-A4EC-57BE-E621BD75C17A}"/>
              </a:ext>
              <a:ext uri="{C183D7F6-B498-43B3-948B-1728B52AA6E4}">
                <adec:decorative xmlns:adec="http://schemas.microsoft.com/office/drawing/2017/decorative" val="1"/>
              </a:ext>
            </a:extLst>
          </p:cNvPr>
          <p:cNvPicPr>
            <a:picLocks noChangeAspect="1"/>
          </p:cNvPicPr>
          <p:nvPr/>
        </p:nvPicPr>
        <p:blipFill>
          <a:blip r:embed="rId3"/>
          <a:srcRect l="37730" r="42162" b="-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A878D86-9485-1F8C-A9E7-2E91D38D0E99}"/>
              </a:ext>
            </a:extLst>
          </p:cNvPr>
          <p:cNvSpPr>
            <a:spLocks noGrp="1"/>
          </p:cNvSpPr>
          <p:nvPr>
            <p:ph idx="1"/>
          </p:nvPr>
        </p:nvSpPr>
        <p:spPr>
          <a:xfrm>
            <a:off x="2137171" y="2160589"/>
            <a:ext cx="4818330" cy="3880773"/>
          </a:xfrm>
        </p:spPr>
        <p:txBody>
          <a:bodyPr>
            <a:normAutofit/>
          </a:bodyPr>
          <a:lstStyle/>
          <a:p>
            <a:r>
              <a:rPr lang="en-US" dirty="0"/>
              <a:t>Once the process is finished: </a:t>
            </a:r>
          </a:p>
          <a:p>
            <a:pPr lvl="1"/>
            <a:r>
              <a:rPr lang="en-US" dirty="0"/>
              <a:t>Open a Terminal or Powershell and run one of the following commands:</a:t>
            </a:r>
          </a:p>
          <a:p>
            <a:pPr lvl="2"/>
            <a:r>
              <a:rPr lang="en-US" dirty="0"/>
              <a:t>`python --version`</a:t>
            </a:r>
          </a:p>
          <a:p>
            <a:pPr lvl="2"/>
            <a:r>
              <a:rPr lang="en-US" dirty="0"/>
              <a:t>`</a:t>
            </a:r>
            <a:r>
              <a:rPr lang="en-US" dirty="0" err="1"/>
              <a:t>py</a:t>
            </a:r>
            <a:r>
              <a:rPr lang="en-US" dirty="0"/>
              <a:t> --version`</a:t>
            </a:r>
          </a:p>
          <a:p>
            <a:pPr lvl="2"/>
            <a:r>
              <a:rPr lang="en-US" dirty="0"/>
              <a:t>`python –m pip --version`</a:t>
            </a:r>
          </a:p>
          <a:p>
            <a:pPr lvl="1"/>
            <a:r>
              <a:rPr lang="en-US" dirty="0"/>
              <a:t>Optionally, launch the interactive python shell and try the help command</a:t>
            </a:r>
          </a:p>
          <a:p>
            <a:pPr lvl="2"/>
            <a:r>
              <a:rPr lang="en-US" dirty="0"/>
              <a:t>`</a:t>
            </a:r>
            <a:r>
              <a:rPr lang="en-US" dirty="0" err="1"/>
              <a:t>py</a:t>
            </a:r>
            <a:r>
              <a:rPr lang="en-US" dirty="0"/>
              <a:t>`</a:t>
            </a:r>
          </a:p>
          <a:p>
            <a:pPr lvl="2"/>
            <a:r>
              <a:rPr lang="en-US" dirty="0"/>
              <a:t>Then type: `help`</a:t>
            </a:r>
          </a:p>
          <a:p>
            <a:pPr lvl="2"/>
            <a:r>
              <a:rPr lang="en-US" dirty="0"/>
              <a:t>Within help: `keywords`, `modules`, `symbols` or `topics`</a:t>
            </a:r>
          </a:p>
          <a:p>
            <a:endParaRPr lang="en-US" dirty="0"/>
          </a:p>
        </p:txBody>
      </p:sp>
    </p:spTree>
    <p:extLst>
      <p:ext uri="{BB962C8B-B14F-4D97-AF65-F5344CB8AC3E}">
        <p14:creationId xmlns:p14="http://schemas.microsoft.com/office/powerpoint/2010/main" val="3849517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D6D3-FCFA-8F40-2638-27103E349C9D}"/>
              </a:ext>
            </a:extLst>
          </p:cNvPr>
          <p:cNvSpPr>
            <a:spLocks noGrp="1"/>
          </p:cNvSpPr>
          <p:nvPr>
            <p:ph type="title"/>
          </p:nvPr>
        </p:nvSpPr>
        <p:spPr>
          <a:xfrm>
            <a:off x="508000" y="609600"/>
            <a:ext cx="6447501" cy="1320800"/>
          </a:xfrm>
        </p:spPr>
        <p:txBody>
          <a:bodyPr anchor="t">
            <a:normAutofit/>
          </a:bodyPr>
          <a:lstStyle/>
          <a:p>
            <a:r>
              <a:rPr lang="en-US" dirty="0"/>
              <a:t>Version Boundary</a:t>
            </a:r>
          </a:p>
        </p:txBody>
      </p:sp>
      <p:sp>
        <p:nvSpPr>
          <p:cNvPr id="3" name="Content Placeholder 2">
            <a:extLst>
              <a:ext uri="{FF2B5EF4-FFF2-40B4-BE49-F238E27FC236}">
                <a16:creationId xmlns:a16="http://schemas.microsoft.com/office/drawing/2014/main" id="{C141371C-E6EB-B26C-9018-D09947E3F00E}"/>
              </a:ext>
            </a:extLst>
          </p:cNvPr>
          <p:cNvSpPr>
            <a:spLocks noGrp="1"/>
          </p:cNvSpPr>
          <p:nvPr>
            <p:ph idx="1"/>
          </p:nvPr>
        </p:nvSpPr>
        <p:spPr>
          <a:xfrm>
            <a:off x="757646" y="5082819"/>
            <a:ext cx="6940187" cy="1388359"/>
          </a:xfrm>
        </p:spPr>
        <p:txBody>
          <a:bodyPr>
            <a:normAutofit lnSpcReduction="10000"/>
          </a:bodyPr>
          <a:lstStyle/>
          <a:p>
            <a:r>
              <a:rPr lang="en-US" dirty="0"/>
              <a:t>Use a </a:t>
            </a:r>
            <a:r>
              <a:rPr lang="en-US" b="1" i="1" dirty="0"/>
              <a:t>stable</a:t>
            </a:r>
            <a:r>
              <a:rPr lang="en-US" dirty="0"/>
              <a:t> Python release.</a:t>
            </a:r>
          </a:p>
          <a:p>
            <a:r>
              <a:rPr lang="en-US" dirty="0"/>
              <a:t>Do not use pre-release versions for this course unless the instructor tells you to.</a:t>
            </a:r>
          </a:p>
          <a:p>
            <a:r>
              <a:rPr lang="en-US" i="1" dirty="0"/>
              <a:t>“You don’t want to get ‘bit’!” </a:t>
            </a:r>
            <a:r>
              <a:rPr lang="en-US" dirty="0"/>
              <a:t>😆</a:t>
            </a:r>
          </a:p>
          <a:p>
            <a:pPr marL="0" indent="0">
              <a:buNone/>
            </a:pPr>
            <a:endParaRPr lang="en-US" dirty="0"/>
          </a:p>
        </p:txBody>
      </p:sp>
      <p:pic>
        <p:nvPicPr>
          <p:cNvPr id="6" name="Picture 5" descr="Bar chart displays active Python releases with timelines from 2019 to 2032, highlighting support phases like end-of-life, security, bugfix, prerelease, and feature updates using red, green, yellow, and orange bars. Key milestones include end-of-life for versions 2.7 to 3.9, ongoing security updates for 3.10 to 3.12, and future feature releases for 3.14 to 3.16.&#10;A green arrow marks version 3.14 as the desired option. While red arrows mark versions 3.15 and 3.16 .">
            <a:extLst>
              <a:ext uri="{FF2B5EF4-FFF2-40B4-BE49-F238E27FC236}">
                <a16:creationId xmlns:a16="http://schemas.microsoft.com/office/drawing/2014/main" id="{142EFD96-E39C-CD24-3AD0-A41A2C11FE60}"/>
              </a:ext>
            </a:extLst>
          </p:cNvPr>
          <p:cNvPicPr>
            <a:picLocks noChangeAspect="1"/>
          </p:cNvPicPr>
          <p:nvPr/>
        </p:nvPicPr>
        <p:blipFill>
          <a:blip r:embed="rId3"/>
          <a:srcRect l="-1950" t="-7346" r="-1950" b="-7348"/>
          <a:stretch>
            <a:fillRect/>
          </a:stretch>
        </p:blipFill>
        <p:spPr>
          <a:xfrm>
            <a:off x="508000" y="1149984"/>
            <a:ext cx="6650446" cy="3932835"/>
          </a:xfrm>
          <a:prstGeom prst="rect">
            <a:avLst/>
          </a:prstGeom>
        </p:spPr>
      </p:pic>
    </p:spTree>
    <p:extLst>
      <p:ext uri="{BB962C8B-B14F-4D97-AF65-F5344CB8AC3E}">
        <p14:creationId xmlns:p14="http://schemas.microsoft.com/office/powerpoint/2010/main" val="777964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87A0-628E-8ECA-90E9-D1AC91992A3D}"/>
              </a:ext>
            </a:extLst>
          </p:cNvPr>
          <p:cNvSpPr>
            <a:spLocks noGrp="1"/>
          </p:cNvSpPr>
          <p:nvPr>
            <p:ph type="title"/>
          </p:nvPr>
        </p:nvSpPr>
        <p:spPr/>
        <p:txBody>
          <a:bodyPr/>
          <a:lstStyle/>
          <a:p>
            <a:r>
              <a:rPr lang="en-US" dirty="0"/>
              <a:t>Create A Course Folder</a:t>
            </a:r>
          </a:p>
        </p:txBody>
      </p:sp>
      <p:pic>
        <p:nvPicPr>
          <p:cNvPr id="5" name="Content Placeholder 4" descr="Screenshot of a file explorer showing a folder named &quot;SWTC Course&quot; containing subfolders for programming courses. Visible subfolders include &quot;117_Python_Programming&quot; with further subfolders &quot;Week_1&quot; and &quot;Week_2,&quot; as well as folders for &quot;118_HTML_CSS_JS&quot; and &quot;119_Intro_Algorithms.&quot;">
            <a:extLst>
              <a:ext uri="{FF2B5EF4-FFF2-40B4-BE49-F238E27FC236}">
                <a16:creationId xmlns:a16="http://schemas.microsoft.com/office/drawing/2014/main" id="{DBDBC3C7-DFE2-85B1-D515-A62A2EBD2DE8}"/>
              </a:ext>
            </a:extLst>
          </p:cNvPr>
          <p:cNvPicPr>
            <a:picLocks noGrp="1" noChangeAspect="1"/>
          </p:cNvPicPr>
          <p:nvPr>
            <p:ph idx="1"/>
          </p:nvPr>
        </p:nvPicPr>
        <p:blipFill>
          <a:blip r:embed="rId3"/>
          <a:stretch>
            <a:fillRect/>
          </a:stretch>
        </p:blipFill>
        <p:spPr>
          <a:xfrm>
            <a:off x="1386336" y="1750775"/>
            <a:ext cx="4516401" cy="2324836"/>
          </a:xfrm>
          <a:prstGeom prst="rect">
            <a:avLst/>
          </a:prstGeom>
        </p:spPr>
      </p:pic>
      <p:sp>
        <p:nvSpPr>
          <p:cNvPr id="6" name="TextBox 5">
            <a:extLst>
              <a:ext uri="{FF2B5EF4-FFF2-40B4-BE49-F238E27FC236}">
                <a16:creationId xmlns:a16="http://schemas.microsoft.com/office/drawing/2014/main" id="{731D4AF5-3633-F6DE-98C8-2CC58153CA75}"/>
              </a:ext>
            </a:extLst>
          </p:cNvPr>
          <p:cNvSpPr txBox="1"/>
          <p:nvPr/>
        </p:nvSpPr>
        <p:spPr>
          <a:xfrm>
            <a:off x="1144757" y="4579144"/>
            <a:ext cx="5277395" cy="1477328"/>
          </a:xfrm>
          <a:prstGeom prst="rect">
            <a:avLst/>
          </a:prstGeom>
          <a:noFill/>
        </p:spPr>
        <p:txBody>
          <a:bodyPr wrap="square" rtlCol="0">
            <a:spAutoFit/>
          </a:bodyPr>
          <a:lstStyle/>
          <a:p>
            <a:r>
              <a:rPr lang="en-US" dirty="0"/>
              <a:t>Create a folder, or folder structure for your course work.</a:t>
            </a:r>
          </a:p>
          <a:p>
            <a:endParaRPr lang="en-US" dirty="0"/>
          </a:p>
          <a:p>
            <a:r>
              <a:rPr lang="en-US" dirty="0"/>
              <a:t>Keep your projects and assignments organized from the start.</a:t>
            </a:r>
          </a:p>
        </p:txBody>
      </p:sp>
    </p:spTree>
    <p:extLst>
      <p:ext uri="{BB962C8B-B14F-4D97-AF65-F5344CB8AC3E}">
        <p14:creationId xmlns:p14="http://schemas.microsoft.com/office/powerpoint/2010/main" val="171801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B22A7-AC5E-54F6-FF7C-582EDAAEF04A}"/>
              </a:ext>
            </a:extLst>
          </p:cNvPr>
          <p:cNvSpPr>
            <a:spLocks noGrp="1"/>
          </p:cNvSpPr>
          <p:nvPr>
            <p:ph type="title"/>
          </p:nvPr>
        </p:nvSpPr>
        <p:spPr/>
        <p:txBody>
          <a:bodyPr/>
          <a:lstStyle/>
          <a:p>
            <a:r>
              <a:rPr lang="en-US" dirty="0"/>
              <a:t>What A Virtual Environment Does</a:t>
            </a:r>
          </a:p>
        </p:txBody>
      </p:sp>
      <p:sp>
        <p:nvSpPr>
          <p:cNvPr id="3" name="Content Placeholder 2">
            <a:extLst>
              <a:ext uri="{FF2B5EF4-FFF2-40B4-BE49-F238E27FC236}">
                <a16:creationId xmlns:a16="http://schemas.microsoft.com/office/drawing/2014/main" id="{3B5844A9-4805-90E9-6666-EF537A2A1018}"/>
              </a:ext>
            </a:extLst>
          </p:cNvPr>
          <p:cNvSpPr>
            <a:spLocks noGrp="1"/>
          </p:cNvSpPr>
          <p:nvPr>
            <p:ph idx="1"/>
          </p:nvPr>
        </p:nvSpPr>
        <p:spPr/>
        <p:txBody>
          <a:bodyPr/>
          <a:lstStyle/>
          <a:p>
            <a:r>
              <a:rPr lang="en-US" dirty="0"/>
              <a:t>A virtual environment is a local Python workspace for one project.</a:t>
            </a:r>
            <a:br>
              <a:rPr lang="en-US" dirty="0"/>
            </a:br>
            <a:endParaRPr lang="en-US" dirty="0"/>
          </a:p>
          <a:p>
            <a:r>
              <a:rPr lang="en-US" dirty="0"/>
              <a:t>It helps keep project packages separate from the rest of your computer.</a:t>
            </a:r>
          </a:p>
          <a:p>
            <a:endParaRPr lang="en-US" dirty="0"/>
          </a:p>
          <a:p>
            <a:r>
              <a:rPr lang="en-US" dirty="0"/>
              <a:t>It also allows for different “versions” of python to “co-exist” on one machine. This will be important when working on legacy software applications.</a:t>
            </a:r>
          </a:p>
          <a:p>
            <a:pPr marL="0" indent="0">
              <a:buNone/>
            </a:pPr>
            <a:endParaRPr lang="en-US" dirty="0"/>
          </a:p>
        </p:txBody>
      </p:sp>
    </p:spTree>
    <p:extLst>
      <p:ext uri="{BB962C8B-B14F-4D97-AF65-F5344CB8AC3E}">
        <p14:creationId xmlns:p14="http://schemas.microsoft.com/office/powerpoint/2010/main" val="2711773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BF9CA-097B-5CF7-6EC3-34CDB9562438}"/>
              </a:ext>
            </a:extLst>
          </p:cNvPr>
          <p:cNvSpPr>
            <a:spLocks noGrp="1"/>
          </p:cNvSpPr>
          <p:nvPr>
            <p:ph type="title"/>
          </p:nvPr>
        </p:nvSpPr>
        <p:spPr>
          <a:xfrm>
            <a:off x="2137171" y="609600"/>
            <a:ext cx="4818330" cy="1320800"/>
          </a:xfrm>
        </p:spPr>
        <p:txBody>
          <a:bodyPr>
            <a:normAutofit/>
          </a:bodyPr>
          <a:lstStyle/>
          <a:p>
            <a:r>
              <a:rPr lang="en-US" dirty="0"/>
              <a:t>Create `.</a:t>
            </a:r>
            <a:r>
              <a:rPr lang="en-US" dirty="0" err="1"/>
              <a:t>venv</a:t>
            </a:r>
            <a:r>
              <a:rPr lang="en-US" dirty="0"/>
              <a:t>`</a:t>
            </a:r>
          </a:p>
        </p:txBody>
      </p:sp>
      <p:sp>
        <p:nvSpPr>
          <p:cNvPr id="9" name="Isosceles Triangle 8">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618F9DAA-4A5E-F2C9-2B5F-0B6A98B4663C}"/>
              </a:ext>
              <a:ext uri="{C183D7F6-B498-43B3-948B-1728B52AA6E4}">
                <adec:decorative xmlns:adec="http://schemas.microsoft.com/office/drawing/2017/decorative" val="1"/>
              </a:ext>
            </a:extLst>
          </p:cNvPr>
          <p:cNvPicPr>
            <a:picLocks noChangeAspect="1"/>
          </p:cNvPicPr>
          <p:nvPr/>
        </p:nvPicPr>
        <p:blipFill>
          <a:blip r:embed="rId3"/>
          <a:srcRect l="53048" r="2901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48B4DC1-71F9-C9D2-F9E2-C6963316CC04}"/>
              </a:ext>
            </a:extLst>
          </p:cNvPr>
          <p:cNvSpPr>
            <a:spLocks noGrp="1"/>
          </p:cNvSpPr>
          <p:nvPr>
            <p:ph idx="1"/>
          </p:nvPr>
        </p:nvSpPr>
        <p:spPr>
          <a:xfrm>
            <a:off x="2137171" y="2160589"/>
            <a:ext cx="4818330" cy="3880773"/>
          </a:xfrm>
        </p:spPr>
        <p:txBody>
          <a:bodyPr>
            <a:normAutofit/>
          </a:bodyPr>
          <a:lstStyle/>
          <a:p>
            <a:pPr marL="0" indent="0">
              <a:buNone/>
            </a:pPr>
            <a:r>
              <a:rPr lang="en-US" dirty="0"/>
              <a:t>From the project folder, using the terminal or powershell, create a virtual environment:</a:t>
            </a:r>
          </a:p>
          <a:p>
            <a:r>
              <a:rPr lang="en-US" dirty="0"/>
              <a:t>`</a:t>
            </a:r>
            <a:r>
              <a:rPr lang="en-US" dirty="0" err="1"/>
              <a:t>py</a:t>
            </a:r>
            <a:r>
              <a:rPr lang="en-US" dirty="0"/>
              <a:t> -m </a:t>
            </a:r>
            <a:r>
              <a:rPr lang="en-US" dirty="0" err="1"/>
              <a:t>venv</a:t>
            </a:r>
            <a:r>
              <a:rPr lang="en-US" dirty="0"/>
              <a:t> .</a:t>
            </a:r>
            <a:r>
              <a:rPr lang="en-US" dirty="0" err="1"/>
              <a:t>venv</a:t>
            </a:r>
            <a:r>
              <a:rPr lang="en-US" dirty="0"/>
              <a:t>`</a:t>
            </a:r>
          </a:p>
          <a:p>
            <a:endParaRPr lang="en-US" dirty="0"/>
          </a:p>
          <a:p>
            <a:pPr marL="0" indent="0">
              <a:buNone/>
            </a:pPr>
            <a:r>
              <a:rPr lang="en-US" dirty="0"/>
              <a:t>If `</a:t>
            </a:r>
            <a:r>
              <a:rPr lang="en-US" dirty="0" err="1"/>
              <a:t>py</a:t>
            </a:r>
            <a:r>
              <a:rPr lang="en-US" dirty="0"/>
              <a:t>` is not available, use:</a:t>
            </a:r>
          </a:p>
          <a:p>
            <a:r>
              <a:rPr lang="en-US" dirty="0"/>
              <a:t>`python -m </a:t>
            </a:r>
            <a:r>
              <a:rPr lang="en-US" dirty="0" err="1"/>
              <a:t>venv</a:t>
            </a:r>
            <a:r>
              <a:rPr lang="en-US" dirty="0"/>
              <a:t> .</a:t>
            </a:r>
            <a:r>
              <a:rPr lang="en-US" dirty="0" err="1"/>
              <a:t>venv</a:t>
            </a:r>
            <a:r>
              <a:rPr lang="en-US" dirty="0"/>
              <a:t>`</a:t>
            </a:r>
          </a:p>
          <a:p>
            <a:pPr marL="0" indent="0">
              <a:buNone/>
            </a:pPr>
            <a:endParaRPr lang="en-US" dirty="0"/>
          </a:p>
        </p:txBody>
      </p:sp>
    </p:spTree>
    <p:extLst>
      <p:ext uri="{BB962C8B-B14F-4D97-AF65-F5344CB8AC3E}">
        <p14:creationId xmlns:p14="http://schemas.microsoft.com/office/powerpoint/2010/main" val="245408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637E-2916-851D-22D3-1BB9D2B7C42D}"/>
              </a:ext>
            </a:extLst>
          </p:cNvPr>
          <p:cNvSpPr>
            <a:spLocks noGrp="1"/>
          </p:cNvSpPr>
          <p:nvPr>
            <p:ph type="title"/>
          </p:nvPr>
        </p:nvSpPr>
        <p:spPr/>
        <p:txBody>
          <a:bodyPr/>
          <a:lstStyle/>
          <a:p>
            <a:r>
              <a:rPr lang="en-US" dirty="0"/>
              <a:t>Activate `.</a:t>
            </a:r>
            <a:r>
              <a:rPr lang="en-US" dirty="0" err="1"/>
              <a:t>venv</a:t>
            </a:r>
            <a:r>
              <a:rPr lang="en-US" dirty="0"/>
              <a:t>` In PowerShell</a:t>
            </a:r>
          </a:p>
        </p:txBody>
      </p:sp>
      <p:sp>
        <p:nvSpPr>
          <p:cNvPr id="3" name="Content Placeholder 2">
            <a:extLst>
              <a:ext uri="{FF2B5EF4-FFF2-40B4-BE49-F238E27FC236}">
                <a16:creationId xmlns:a16="http://schemas.microsoft.com/office/drawing/2014/main" id="{3CADAA19-13E9-D52C-94B6-9ACD53C6F2ED}"/>
              </a:ext>
            </a:extLst>
          </p:cNvPr>
          <p:cNvSpPr>
            <a:spLocks noGrp="1"/>
          </p:cNvSpPr>
          <p:nvPr>
            <p:ph idx="1"/>
          </p:nvPr>
        </p:nvSpPr>
        <p:spPr>
          <a:xfrm>
            <a:off x="609599" y="1930400"/>
            <a:ext cx="6347714" cy="1978814"/>
          </a:xfrm>
        </p:spPr>
        <p:txBody>
          <a:bodyPr>
            <a:normAutofit/>
          </a:bodyPr>
          <a:lstStyle/>
          <a:p>
            <a:pPr marL="0" indent="0">
              <a:buNone/>
            </a:pPr>
            <a:r>
              <a:rPr lang="en-US" dirty="0"/>
              <a:t>Windows PowerShell activation:</a:t>
            </a:r>
          </a:p>
          <a:p>
            <a:pPr marL="0" indent="0">
              <a:buNone/>
            </a:pPr>
            <a:r>
              <a:rPr lang="en-US" dirty="0"/>
              <a:t>Command: </a:t>
            </a:r>
          </a:p>
          <a:p>
            <a:r>
              <a:rPr lang="en-US" dirty="0"/>
              <a:t>`.\.</a:t>
            </a:r>
            <a:r>
              <a:rPr lang="en-US" dirty="0" err="1"/>
              <a:t>venv</a:t>
            </a:r>
            <a:r>
              <a:rPr lang="en-US" dirty="0"/>
              <a:t>\Scripts\Activate.ps1`</a:t>
            </a:r>
          </a:p>
          <a:p>
            <a:pPr marL="0" indent="0">
              <a:buNone/>
            </a:pPr>
            <a:r>
              <a:rPr lang="en-US" dirty="0"/>
              <a:t>When active, the terminal prompt usually shows:</a:t>
            </a:r>
          </a:p>
          <a:p>
            <a:r>
              <a:rPr lang="en-US" dirty="0"/>
              <a:t>(.</a:t>
            </a:r>
            <a:r>
              <a:rPr lang="en-US" dirty="0" err="1"/>
              <a:t>venv</a:t>
            </a:r>
            <a:r>
              <a:rPr lang="en-US" dirty="0"/>
              <a:t>)</a:t>
            </a:r>
          </a:p>
          <a:p>
            <a:pPr marL="0" indent="0">
              <a:buNone/>
            </a:pPr>
            <a:endParaRPr lang="en-US" dirty="0"/>
          </a:p>
        </p:txBody>
      </p:sp>
      <p:pic>
        <p:nvPicPr>
          <p:cNvPr id="5" name="Picture 4" descr="Screenshot of a PowerShell terminal showing activation of a Python virtual environment using the command &quot;.venv/scripts/activate&quot; within a project directory &quot;StudyPilot.&quot; The prompt changes from the base directory to indicate the virtual environment is active, highlighted by the prefix &quot;(.venv)&quot; before the path.">
            <a:extLst>
              <a:ext uri="{FF2B5EF4-FFF2-40B4-BE49-F238E27FC236}">
                <a16:creationId xmlns:a16="http://schemas.microsoft.com/office/drawing/2014/main" id="{F643A6FC-D31C-B2DB-CAE4-9626DD0C2F10}"/>
              </a:ext>
            </a:extLst>
          </p:cNvPr>
          <p:cNvPicPr>
            <a:picLocks noChangeAspect="1"/>
          </p:cNvPicPr>
          <p:nvPr/>
        </p:nvPicPr>
        <p:blipFill>
          <a:blip r:embed="rId3"/>
          <a:stretch>
            <a:fillRect/>
          </a:stretch>
        </p:blipFill>
        <p:spPr>
          <a:xfrm>
            <a:off x="609599" y="4557995"/>
            <a:ext cx="6017151" cy="1344037"/>
          </a:xfrm>
          <a:prstGeom prst="rect">
            <a:avLst/>
          </a:prstGeom>
        </p:spPr>
      </p:pic>
    </p:spTree>
    <p:extLst>
      <p:ext uri="{BB962C8B-B14F-4D97-AF65-F5344CB8AC3E}">
        <p14:creationId xmlns:p14="http://schemas.microsoft.com/office/powerpoint/2010/main" val="361960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2" name="Straight Connector 1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C37DE54-DB82-0021-AF00-C3E96DF89AE2}"/>
              </a:ext>
            </a:extLst>
          </p:cNvPr>
          <p:cNvSpPr>
            <a:spLocks noGrp="1"/>
          </p:cNvSpPr>
          <p:nvPr>
            <p:ph type="title"/>
          </p:nvPr>
        </p:nvSpPr>
        <p:spPr>
          <a:xfrm>
            <a:off x="489360" y="1382486"/>
            <a:ext cx="2660686" cy="4093028"/>
          </a:xfrm>
        </p:spPr>
        <p:txBody>
          <a:bodyPr anchor="ctr">
            <a:normAutofit/>
          </a:bodyPr>
          <a:lstStyle/>
          <a:p>
            <a:r>
              <a:rPr lang="en-US" sz="3800"/>
              <a:t>Why `.venv` Matters Later</a:t>
            </a:r>
          </a:p>
        </p:txBody>
      </p:sp>
      <p:sp>
        <p:nvSpPr>
          <p:cNvPr id="22" name="Rectangle 2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5E1D566-3D9B-985D-91A0-A8DA21FF1680}"/>
              </a:ext>
            </a:extLst>
          </p:cNvPr>
          <p:cNvGraphicFramePr>
            <a:graphicFrameLocks noGrp="1"/>
          </p:cNvGraphicFramePr>
          <p:nvPr>
            <p:ph idx="1"/>
            <p:extLst>
              <p:ext uri="{D42A27DB-BD31-4B8C-83A1-F6EECF244321}">
                <p14:modId xmlns:p14="http://schemas.microsoft.com/office/powerpoint/2010/main" val="2212754273"/>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6088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a:extLst>
              <a:ext uri="{FF2B5EF4-FFF2-40B4-BE49-F238E27FC236}">
                <a16:creationId xmlns:a16="http://schemas.microsoft.com/office/drawing/2014/main" id="{A1B64117-5F87-1516-4662-DA98D285A0DA}"/>
              </a:ext>
              <a:ext uri="{C183D7F6-B498-43B3-948B-1728B52AA6E4}">
                <adec:decorative xmlns:adec="http://schemas.microsoft.com/office/drawing/2017/decorative" val="1"/>
              </a:ext>
            </a:extLst>
          </p:cNvPr>
          <p:cNvPicPr>
            <a:picLocks noChangeAspect="1"/>
          </p:cNvPicPr>
          <p:nvPr/>
        </p:nvPicPr>
        <p:blipFill>
          <a:blip r:embed="rId3">
            <a:duotone>
              <a:prstClr val="black"/>
              <a:prstClr val="white"/>
            </a:duotone>
          </a:blip>
          <a:srcRect l="6746" r="41406" b="-2"/>
          <a:stretch>
            <a:fillRect/>
          </a:stretch>
        </p:blipFill>
        <p:spPr>
          <a:xfrm>
            <a:off x="3814762" y="-1"/>
            <a:ext cx="5326856" cy="6858001"/>
          </a:xfrm>
          <a:custGeom>
            <a:avLst/>
            <a:gdLst/>
            <a:ahLst/>
            <a:cxnLst/>
            <a:rect l="l" t="t" r="r" b="b"/>
            <a:pathLst>
              <a:path w="7102474" h="6858001">
                <a:moveTo>
                  <a:pt x="417180" y="0"/>
                </a:moveTo>
                <a:lnTo>
                  <a:pt x="7102474" y="0"/>
                </a:lnTo>
                <a:lnTo>
                  <a:pt x="7102474" y="6858001"/>
                </a:lnTo>
                <a:lnTo>
                  <a:pt x="65002" y="6858001"/>
                </a:lnTo>
                <a:lnTo>
                  <a:pt x="1840421" y="4521201"/>
                </a:lnTo>
                <a:close/>
                <a:moveTo>
                  <a:pt x="0" y="0"/>
                </a:moveTo>
                <a:lnTo>
                  <a:pt x="417180" y="0"/>
                </a:lnTo>
                <a:lnTo>
                  <a:pt x="0" y="447"/>
                </a:lnTo>
                <a:close/>
              </a:path>
            </a:pathLst>
          </a:custGeom>
        </p:spPr>
      </p:pic>
      <p:sp>
        <p:nvSpPr>
          <p:cNvPr id="2" name="Title 1">
            <a:extLst>
              <a:ext uri="{FF2B5EF4-FFF2-40B4-BE49-F238E27FC236}">
                <a16:creationId xmlns:a16="http://schemas.microsoft.com/office/drawing/2014/main" id="{6DBFBFEC-118F-E0B6-8978-DBFDA4C8CA69}"/>
              </a:ext>
            </a:extLst>
          </p:cNvPr>
          <p:cNvSpPr>
            <a:spLocks noGrp="1"/>
          </p:cNvSpPr>
          <p:nvPr>
            <p:ph type="title"/>
          </p:nvPr>
        </p:nvSpPr>
        <p:spPr>
          <a:xfrm>
            <a:off x="501649" y="1678666"/>
            <a:ext cx="3842636" cy="2369093"/>
          </a:xfrm>
        </p:spPr>
        <p:txBody>
          <a:bodyPr vert="horz" lIns="91440" tIns="45720" rIns="91440" bIns="45720" rtlCol="0" anchor="b">
            <a:normAutofit/>
          </a:bodyPr>
          <a:lstStyle/>
          <a:p>
            <a:pPr algn="r"/>
            <a:r>
              <a:rPr lang="en-US" sz="4200"/>
              <a:t>Install Visual Studio Code</a:t>
            </a:r>
          </a:p>
        </p:txBody>
      </p:sp>
      <p:cxnSp>
        <p:nvCxnSpPr>
          <p:cNvPr id="22" name="Straight Connector 21">
            <a:extLst>
              <a:ext uri="{FF2B5EF4-FFF2-40B4-BE49-F238E27FC236}">
                <a16:creationId xmlns:a16="http://schemas.microsoft.com/office/drawing/2014/main" id="{A3D2D849-17D8-45A4-9FB8-B955CD22BD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A0A4A95-757B-4092-A077-CA7C3ADE49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2D2FAE71-B8B1-4745-A59A-A88D3FE48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E4C67344-C816-4380-85F7-CCFD7F8BA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4">
            <a:extLst>
              <a:ext uri="{FF2B5EF4-FFF2-40B4-BE49-F238E27FC236}">
                <a16:creationId xmlns:a16="http://schemas.microsoft.com/office/drawing/2014/main" id="{5A0B04CD-E5BD-4922-BE66-2D5B3A0DE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CF4C9BE8-5C78-476D-9042-ECD8BE635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8">
            <a:extLst>
              <a:ext uri="{FF2B5EF4-FFF2-40B4-BE49-F238E27FC236}">
                <a16:creationId xmlns:a16="http://schemas.microsoft.com/office/drawing/2014/main" id="{7D6A31B3-BF49-4DB2-8306-DD2E4B88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9">
            <a:extLst>
              <a:ext uri="{FF2B5EF4-FFF2-40B4-BE49-F238E27FC236}">
                <a16:creationId xmlns:a16="http://schemas.microsoft.com/office/drawing/2014/main" id="{A903E87B-DD97-4095-B106-3218D6AF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29">
            <a:extLst>
              <a:ext uri="{FF2B5EF4-FFF2-40B4-BE49-F238E27FC236}">
                <a16:creationId xmlns:a16="http://schemas.microsoft.com/office/drawing/2014/main" id="{954CB26F-45F0-4288-A3B1-32535127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22264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4" name="Straight Connector 13">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CF178CD3-D21A-BB8C-93CB-F472024E7A83}"/>
              </a:ext>
            </a:extLst>
          </p:cNvPr>
          <p:cNvSpPr>
            <a:spLocks noGrp="1"/>
          </p:cNvSpPr>
          <p:nvPr>
            <p:ph type="title"/>
          </p:nvPr>
        </p:nvSpPr>
        <p:spPr>
          <a:xfrm>
            <a:off x="489360" y="1382486"/>
            <a:ext cx="2660686" cy="4093028"/>
          </a:xfrm>
        </p:spPr>
        <p:txBody>
          <a:bodyPr anchor="ctr">
            <a:normAutofit/>
          </a:bodyPr>
          <a:lstStyle/>
          <a:p>
            <a:r>
              <a:rPr lang="en-US" sz="3800"/>
              <a:t>Difference between VS Code and Visual Studio</a:t>
            </a:r>
          </a:p>
        </p:txBody>
      </p:sp>
      <p:sp>
        <p:nvSpPr>
          <p:cNvPr id="24" name="Rectangle 23">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4">
            <a:extLst>
              <a:ext uri="{FF2B5EF4-FFF2-40B4-BE49-F238E27FC236}">
                <a16:creationId xmlns:a16="http://schemas.microsoft.com/office/drawing/2014/main" id="{C09CA60F-B002-A549-64C4-87D2BA56518F}"/>
              </a:ext>
            </a:extLst>
          </p:cNvPr>
          <p:cNvGraphicFramePr>
            <a:graphicFrameLocks noGrp="1"/>
          </p:cNvGraphicFramePr>
          <p:nvPr>
            <p:ph idx="1"/>
            <p:extLst>
              <p:ext uri="{D42A27DB-BD31-4B8C-83A1-F6EECF244321}">
                <p14:modId xmlns:p14="http://schemas.microsoft.com/office/powerpoint/2010/main" val="226014312"/>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3542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9FBA-2753-0D19-5962-1D34946D2B81}"/>
              </a:ext>
            </a:extLst>
          </p:cNvPr>
          <p:cNvSpPr>
            <a:spLocks noGrp="1"/>
          </p:cNvSpPr>
          <p:nvPr>
            <p:ph type="title"/>
          </p:nvPr>
        </p:nvSpPr>
        <p:spPr/>
        <p:txBody>
          <a:bodyPr/>
          <a:lstStyle/>
          <a:p>
            <a:r>
              <a:rPr lang="en-US" dirty="0"/>
              <a:t>Download VS Code</a:t>
            </a:r>
          </a:p>
        </p:txBody>
      </p:sp>
      <p:pic>
        <p:nvPicPr>
          <p:cNvPr id="5" name="Content Placeholder 4" descr="Screenshot of Visual Studio Code download page showing options for Windows, Linux, and Mac operating systems. Each section includes OS logos, supported versions, and available installer formats with architecture labels in blue tags.">
            <a:extLst>
              <a:ext uri="{FF2B5EF4-FFF2-40B4-BE49-F238E27FC236}">
                <a16:creationId xmlns:a16="http://schemas.microsoft.com/office/drawing/2014/main" id="{04CF0753-5D30-ED2C-B2AE-FF42E0F9E5FE}"/>
              </a:ext>
            </a:extLst>
          </p:cNvPr>
          <p:cNvPicPr>
            <a:picLocks noGrp="1" noChangeAspect="1"/>
          </p:cNvPicPr>
          <p:nvPr>
            <p:ph idx="1"/>
          </p:nvPr>
        </p:nvPicPr>
        <p:blipFill>
          <a:blip r:embed="rId2"/>
          <a:stretch>
            <a:fillRect/>
          </a:stretch>
        </p:blipFill>
        <p:spPr>
          <a:xfrm>
            <a:off x="1138052" y="1755639"/>
            <a:ext cx="5291509" cy="3881437"/>
          </a:xfrm>
          <a:prstGeom prst="rect">
            <a:avLst/>
          </a:prstGeom>
        </p:spPr>
      </p:pic>
      <p:sp>
        <p:nvSpPr>
          <p:cNvPr id="6" name="TextBox 5">
            <a:extLst>
              <a:ext uri="{FF2B5EF4-FFF2-40B4-BE49-F238E27FC236}">
                <a16:creationId xmlns:a16="http://schemas.microsoft.com/office/drawing/2014/main" id="{1ECBB093-077C-7637-C3D5-40A4A54141A9}"/>
              </a:ext>
            </a:extLst>
          </p:cNvPr>
          <p:cNvSpPr txBox="1"/>
          <p:nvPr/>
        </p:nvSpPr>
        <p:spPr>
          <a:xfrm>
            <a:off x="1138052" y="6087291"/>
            <a:ext cx="5291509" cy="369332"/>
          </a:xfrm>
          <a:prstGeom prst="rect">
            <a:avLst/>
          </a:prstGeom>
          <a:noFill/>
        </p:spPr>
        <p:txBody>
          <a:bodyPr wrap="square" rtlCol="0">
            <a:spAutoFit/>
          </a:bodyPr>
          <a:lstStyle/>
          <a:p>
            <a:pPr algn="ctr"/>
            <a:r>
              <a:rPr lang="en-US" dirty="0"/>
              <a:t>url: code.visualstudio.com/download</a:t>
            </a:r>
          </a:p>
        </p:txBody>
      </p:sp>
    </p:spTree>
    <p:extLst>
      <p:ext uri="{BB962C8B-B14F-4D97-AF65-F5344CB8AC3E}">
        <p14:creationId xmlns:p14="http://schemas.microsoft.com/office/powerpoint/2010/main" val="4003123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4" name="Straight Connector 13">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9" name="Picture 8">
            <a:extLst>
              <a:ext uri="{FF2B5EF4-FFF2-40B4-BE49-F238E27FC236}">
                <a16:creationId xmlns:a16="http://schemas.microsoft.com/office/drawing/2014/main" id="{2D29C4FD-8652-7885-D2EA-D5C3A4391CAB}"/>
              </a:ext>
              <a:ext uri="{C183D7F6-B498-43B3-948B-1728B52AA6E4}">
                <adec:decorative xmlns:adec="http://schemas.microsoft.com/office/drawing/2017/decorative" val="1"/>
              </a:ext>
            </a:extLst>
          </p:cNvPr>
          <p:cNvPicPr>
            <a:picLocks noChangeAspect="1"/>
          </p:cNvPicPr>
          <p:nvPr/>
        </p:nvPicPr>
        <p:blipFill>
          <a:blip r:embed="rId3"/>
          <a:srcRect l="27083" r="16820" b="1"/>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6" name="Title 5">
            <a:extLst>
              <a:ext uri="{FF2B5EF4-FFF2-40B4-BE49-F238E27FC236}">
                <a16:creationId xmlns:a16="http://schemas.microsoft.com/office/drawing/2014/main" id="{A71992DE-7F85-2C44-276D-A79F005750D3}"/>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4200"/>
              <a:t>VS Code Extensions</a:t>
            </a:r>
          </a:p>
        </p:txBody>
      </p:sp>
      <p:sp>
        <p:nvSpPr>
          <p:cNvPr id="7" name="Text Placeholder 6">
            <a:extLst>
              <a:ext uri="{FF2B5EF4-FFF2-40B4-BE49-F238E27FC236}">
                <a16:creationId xmlns:a16="http://schemas.microsoft.com/office/drawing/2014/main" id="{BA97ECF1-DC24-6687-E9FE-57FB2A1818C2}"/>
              </a:ext>
            </a:extLst>
          </p:cNvPr>
          <p:cNvSpPr>
            <a:spLocks noGrp="1"/>
          </p:cNvSpPr>
          <p:nvPr>
            <p:ph type="body" idx="1"/>
          </p:nvPr>
        </p:nvSpPr>
        <p:spPr>
          <a:xfrm>
            <a:off x="508001" y="4050831"/>
            <a:ext cx="3059791" cy="1096901"/>
          </a:xfrm>
        </p:spPr>
        <p:txBody>
          <a:bodyPr vert="horz" lIns="91440" tIns="45720" rIns="91440" bIns="45720" rtlCol="0" anchor="t">
            <a:normAutofit/>
          </a:bodyPr>
          <a:lstStyle/>
          <a:p>
            <a:pPr algn="r"/>
            <a:endParaRPr lang="en-US" sz="1400" dirty="0"/>
          </a:p>
        </p:txBody>
      </p:sp>
      <p:cxnSp>
        <p:nvCxnSpPr>
          <p:cNvPr id="25" name="Straight Connector 24">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71958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1BF0F1-5CD9-A7C6-62EF-34D40F539DDF}"/>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l="10667" r="2" b="2"/>
          <a:stretch>
            <a:fillRect/>
          </a:stretch>
        </p:blipFill>
        <p:spPr>
          <a:xfrm>
            <a:off x="20" y="10"/>
            <a:ext cx="9143980" cy="6857990"/>
          </a:xfrm>
          <a:prstGeom prst="rect">
            <a:avLst/>
          </a:prstGeom>
        </p:spPr>
      </p:pic>
      <p:sp>
        <p:nvSpPr>
          <p:cNvPr id="14" name="Isosceles Triangle 13">
            <a:extLst>
              <a:ext uri="{FF2B5EF4-FFF2-40B4-BE49-F238E27FC236}">
                <a16:creationId xmlns:a16="http://schemas.microsoft.com/office/drawing/2014/main" id="{EFFADC9E-E53C-4A0B-A5F7-914F962971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Parallelogram 15">
            <a:extLst>
              <a:ext uri="{FF2B5EF4-FFF2-40B4-BE49-F238E27FC236}">
                <a16:creationId xmlns:a16="http://schemas.microsoft.com/office/drawing/2014/main" id="{C449ECB7-AD08-44BE-AD5B-BB5A0D7AC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8141" y="0"/>
            <a:ext cx="702945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C51D804-C301-4EE3-A891-7EB241066F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371931B-4393-46AF-8BF1-6BD27758D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1F3818A7-4B05-4FC4-979D-743242721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E1E17DD-588A-00B3-178A-04FE3E87D031}"/>
              </a:ext>
            </a:extLst>
          </p:cNvPr>
          <p:cNvSpPr>
            <a:spLocks noGrp="1"/>
          </p:cNvSpPr>
          <p:nvPr>
            <p:ph type="title"/>
          </p:nvPr>
        </p:nvSpPr>
        <p:spPr>
          <a:xfrm>
            <a:off x="2089535" y="609600"/>
            <a:ext cx="4865966" cy="1320800"/>
          </a:xfrm>
        </p:spPr>
        <p:txBody>
          <a:bodyPr anchor="t">
            <a:normAutofit/>
          </a:bodyPr>
          <a:lstStyle/>
          <a:p>
            <a:r>
              <a:rPr lang="en-US"/>
              <a:t>Install Python Extensions</a:t>
            </a:r>
          </a:p>
        </p:txBody>
      </p:sp>
      <p:sp>
        <p:nvSpPr>
          <p:cNvPr id="24" name="Rectangle 25">
            <a:extLst>
              <a:ext uri="{FF2B5EF4-FFF2-40B4-BE49-F238E27FC236}">
                <a16:creationId xmlns:a16="http://schemas.microsoft.com/office/drawing/2014/main" id="{10277C27-7A8A-4F89-B7C8-C9901483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4D7DC2DC-2509-4873-A034-50568869B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CE26CDF-2C80-0E88-F037-7168AF4D55CE}"/>
              </a:ext>
            </a:extLst>
          </p:cNvPr>
          <p:cNvSpPr>
            <a:spLocks noGrp="1"/>
          </p:cNvSpPr>
          <p:nvPr>
            <p:ph idx="1"/>
          </p:nvPr>
        </p:nvSpPr>
        <p:spPr>
          <a:xfrm>
            <a:off x="2089535" y="2159000"/>
            <a:ext cx="4865966" cy="3882362"/>
          </a:xfrm>
        </p:spPr>
        <p:txBody>
          <a:bodyPr>
            <a:normAutofit/>
          </a:bodyPr>
          <a:lstStyle/>
          <a:p>
            <a:pPr marL="0" indent="0">
              <a:lnSpc>
                <a:spcPct val="90000"/>
              </a:lnSpc>
              <a:buNone/>
            </a:pPr>
            <a:r>
              <a:rPr lang="en-US"/>
              <a:t>Recommended VS Code extensions:</a:t>
            </a:r>
          </a:p>
          <a:p>
            <a:pPr>
              <a:lnSpc>
                <a:spcPct val="90000"/>
              </a:lnSpc>
            </a:pPr>
            <a:r>
              <a:rPr lang="en-US"/>
              <a:t>Python</a:t>
            </a:r>
          </a:p>
          <a:p>
            <a:pPr>
              <a:lnSpc>
                <a:spcPct val="90000"/>
              </a:lnSpc>
            </a:pPr>
            <a:r>
              <a:rPr lang="en-US" err="1"/>
              <a:t>Pylance</a:t>
            </a:r>
            <a:endParaRPr lang="en-US"/>
          </a:p>
          <a:p>
            <a:pPr>
              <a:lnSpc>
                <a:spcPct val="90000"/>
              </a:lnSpc>
            </a:pPr>
            <a:r>
              <a:rPr lang="en-US"/>
              <a:t>Python Environments</a:t>
            </a:r>
          </a:p>
          <a:p>
            <a:pPr>
              <a:lnSpc>
                <a:spcPct val="90000"/>
              </a:lnSpc>
            </a:pPr>
            <a:r>
              <a:rPr lang="en-US"/>
              <a:t>Python Extension Pack, optional (Don </a:t>
            </a:r>
            <a:r>
              <a:rPr lang="en-US" err="1"/>
              <a:t>Jayamanne</a:t>
            </a:r>
            <a:r>
              <a:rPr lang="en-US"/>
              <a:t>)</a:t>
            </a:r>
          </a:p>
          <a:p>
            <a:pPr>
              <a:lnSpc>
                <a:spcPct val="90000"/>
              </a:lnSpc>
            </a:pPr>
            <a:r>
              <a:rPr lang="en-US"/>
              <a:t>Python Development Extensions Pack, optional</a:t>
            </a:r>
          </a:p>
          <a:p>
            <a:pPr>
              <a:lnSpc>
                <a:spcPct val="90000"/>
              </a:lnSpc>
            </a:pPr>
            <a:r>
              <a:rPr lang="en-US"/>
              <a:t>Jupyter, optional</a:t>
            </a:r>
          </a:p>
          <a:p>
            <a:pPr marL="0" indent="0">
              <a:lnSpc>
                <a:spcPct val="90000"/>
              </a:lnSpc>
              <a:buNone/>
            </a:pPr>
            <a:endParaRPr lang="en-US"/>
          </a:p>
          <a:p>
            <a:pPr marL="0" indent="0">
              <a:lnSpc>
                <a:spcPct val="90000"/>
              </a:lnSpc>
              <a:buNone/>
            </a:pPr>
            <a:r>
              <a:rPr lang="en-US"/>
              <a:t>Use trusted publishers such as Microsoft.</a:t>
            </a:r>
          </a:p>
        </p:txBody>
      </p:sp>
      <p:sp>
        <p:nvSpPr>
          <p:cNvPr id="28" name="Rectangle 27">
            <a:extLst>
              <a:ext uri="{FF2B5EF4-FFF2-40B4-BE49-F238E27FC236}">
                <a16:creationId xmlns:a16="http://schemas.microsoft.com/office/drawing/2014/main" id="{022D0B7C-0B17-4C8E-BA79-D7E3AD58D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CCE414C6-A8E2-4A8F-BE26-8EC431D1C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49056809-9887-4E04-A8AD-104FF86CC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A8AE74C-BE44-4E00-B22E-D88E1E985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0BA4E4ED-4B11-D829-57EB-F416162505B0}"/>
              </a:ext>
            </a:extLst>
          </p:cNvPr>
          <p:cNvSpPr txBox="1"/>
          <p:nvPr/>
        </p:nvSpPr>
        <p:spPr>
          <a:xfrm>
            <a:off x="6617346" y="6657945"/>
            <a:ext cx="252665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4" tooltip="https://martin-ueding.de/posts/visual-studio-code-and-pycharm-compared/">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947531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4A97-FAC9-B724-2D67-F093D7EA3AEA}"/>
              </a:ext>
            </a:extLst>
          </p:cNvPr>
          <p:cNvSpPr>
            <a:spLocks noGrp="1"/>
          </p:cNvSpPr>
          <p:nvPr>
            <p:ph type="title"/>
          </p:nvPr>
        </p:nvSpPr>
        <p:spPr>
          <a:xfrm>
            <a:off x="524614" y="796565"/>
            <a:ext cx="3693658" cy="1320800"/>
          </a:xfrm>
        </p:spPr>
        <p:txBody>
          <a:bodyPr anchor="ctr">
            <a:normAutofit/>
          </a:bodyPr>
          <a:lstStyle/>
          <a:p>
            <a:r>
              <a:rPr lang="en-US" dirty="0"/>
              <a:t>Install Python Extensions</a:t>
            </a:r>
          </a:p>
        </p:txBody>
      </p:sp>
      <p:pic>
        <p:nvPicPr>
          <p:cNvPr id="5" name="Content Placeholder 4" descr="Screenshot of Visual Studio Code Extensions Marketplace showing Python-related extensions. Extensions listed include ARKTP for python, Pylint with a green checkmark, Python extension pack by Don Jayamanne, MagicPython with a green checkmark, Python Debugger, and Python by Microsoft, highlighting popular tools for Python development with green checkmarks on some indicating recommended or installed status.">
            <a:extLst>
              <a:ext uri="{FF2B5EF4-FFF2-40B4-BE49-F238E27FC236}">
                <a16:creationId xmlns:a16="http://schemas.microsoft.com/office/drawing/2014/main" id="{3A966968-D00B-36CF-B6B4-539418FAABB0}"/>
              </a:ext>
            </a:extLst>
          </p:cNvPr>
          <p:cNvPicPr>
            <a:picLocks noChangeAspect="1"/>
          </p:cNvPicPr>
          <p:nvPr/>
        </p:nvPicPr>
        <p:blipFill>
          <a:blip r:embed="rId3"/>
          <a:stretch>
            <a:fillRect/>
          </a:stretch>
        </p:blipFill>
        <p:spPr>
          <a:xfrm>
            <a:off x="4925730" y="977969"/>
            <a:ext cx="2438776" cy="4902061"/>
          </a:xfrm>
          <a:prstGeom prst="rect">
            <a:avLst/>
          </a:prstGeom>
        </p:spPr>
      </p:pic>
      <p:pic>
        <p:nvPicPr>
          <p:cNvPr id="7" name="Content Placeholder 6" descr="Screenshot of a software development environment showing a list of Python-related extensions with download counts and ratings. Green arrows highlight the &quot;Python (PyDev)&quot; extension with 356K downloads and a 3.5-star rating, and the &quot;Python Snippets 3&quot; extension with 361K downloads and a 5-star rating, both featuring blue &quot;Install&quot; buttons.">
            <a:extLst>
              <a:ext uri="{FF2B5EF4-FFF2-40B4-BE49-F238E27FC236}">
                <a16:creationId xmlns:a16="http://schemas.microsoft.com/office/drawing/2014/main" id="{EB3CD704-A1D8-3337-4004-D47DE7F28D87}"/>
              </a:ext>
            </a:extLst>
          </p:cNvPr>
          <p:cNvPicPr>
            <a:picLocks noGrp="1" noChangeAspect="1"/>
          </p:cNvPicPr>
          <p:nvPr>
            <p:ph idx="1"/>
          </p:nvPr>
        </p:nvPicPr>
        <p:blipFill>
          <a:blip r:embed="rId4"/>
          <a:stretch>
            <a:fillRect/>
          </a:stretch>
        </p:blipFill>
        <p:spPr>
          <a:xfrm>
            <a:off x="521893" y="4645351"/>
            <a:ext cx="3690937" cy="1062873"/>
          </a:xfrm>
          <a:prstGeom prst="rect">
            <a:avLst/>
          </a:prstGeom>
        </p:spPr>
      </p:pic>
      <p:sp>
        <p:nvSpPr>
          <p:cNvPr id="8" name="TextBox 7">
            <a:extLst>
              <a:ext uri="{FF2B5EF4-FFF2-40B4-BE49-F238E27FC236}">
                <a16:creationId xmlns:a16="http://schemas.microsoft.com/office/drawing/2014/main" id="{3CCA8BD9-1C8B-724C-5FF7-B8732CEF97C3}"/>
              </a:ext>
            </a:extLst>
          </p:cNvPr>
          <p:cNvSpPr txBox="1"/>
          <p:nvPr/>
        </p:nvSpPr>
        <p:spPr>
          <a:xfrm>
            <a:off x="521893" y="2182816"/>
            <a:ext cx="3356123" cy="2031325"/>
          </a:xfrm>
          <a:prstGeom prst="rect">
            <a:avLst/>
          </a:prstGeom>
          <a:noFill/>
        </p:spPr>
        <p:txBody>
          <a:bodyPr wrap="square" rtlCol="0">
            <a:spAutoFit/>
          </a:bodyPr>
          <a:lstStyle/>
          <a:p>
            <a:r>
              <a:rPr lang="en-US" dirty="0"/>
              <a:t>Select the Extensions button on the left side bar. </a:t>
            </a:r>
            <a:br>
              <a:rPr lang="en-US" dirty="0"/>
            </a:br>
            <a:endParaRPr lang="en-US" dirty="0"/>
          </a:p>
          <a:p>
            <a:r>
              <a:rPr lang="en-US" dirty="0"/>
              <a:t>Search for the desired extensions</a:t>
            </a:r>
          </a:p>
          <a:p>
            <a:br>
              <a:rPr lang="en-US" dirty="0"/>
            </a:br>
            <a:r>
              <a:rPr lang="en-US" dirty="0"/>
              <a:t>Click on the “Install”</a:t>
            </a:r>
          </a:p>
        </p:txBody>
      </p:sp>
    </p:spTree>
    <p:extLst>
      <p:ext uri="{BB962C8B-B14F-4D97-AF65-F5344CB8AC3E}">
        <p14:creationId xmlns:p14="http://schemas.microsoft.com/office/powerpoint/2010/main" val="2940963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48303-99AB-17F6-5D95-D12C87B5537A}"/>
              </a:ext>
            </a:extLst>
          </p:cNvPr>
          <p:cNvSpPr>
            <a:spLocks noGrp="1"/>
          </p:cNvSpPr>
          <p:nvPr>
            <p:ph type="title"/>
          </p:nvPr>
        </p:nvSpPr>
        <p:spPr/>
        <p:txBody>
          <a:bodyPr/>
          <a:lstStyle/>
          <a:p>
            <a:r>
              <a:rPr lang="en-US" dirty="0"/>
              <a:t>Install Optional Additional Extensions</a:t>
            </a:r>
          </a:p>
        </p:txBody>
      </p:sp>
      <p:sp>
        <p:nvSpPr>
          <p:cNvPr id="3" name="Content Placeholder 2">
            <a:extLst>
              <a:ext uri="{FF2B5EF4-FFF2-40B4-BE49-F238E27FC236}">
                <a16:creationId xmlns:a16="http://schemas.microsoft.com/office/drawing/2014/main" id="{AF3A9983-ED00-EC27-DD74-231CBC6A5485}"/>
              </a:ext>
            </a:extLst>
          </p:cNvPr>
          <p:cNvSpPr>
            <a:spLocks noGrp="1"/>
          </p:cNvSpPr>
          <p:nvPr>
            <p:ph idx="1"/>
          </p:nvPr>
        </p:nvSpPr>
        <p:spPr>
          <a:xfrm>
            <a:off x="609599" y="1930400"/>
            <a:ext cx="6347714" cy="4548777"/>
          </a:xfrm>
        </p:spPr>
        <p:txBody>
          <a:bodyPr>
            <a:normAutofit lnSpcReduction="10000"/>
          </a:bodyPr>
          <a:lstStyle/>
          <a:p>
            <a:pPr marL="0" indent="0">
              <a:buNone/>
            </a:pPr>
            <a:r>
              <a:rPr lang="en-US" dirty="0"/>
              <a:t>Some cool extensions</a:t>
            </a:r>
          </a:p>
          <a:p>
            <a:r>
              <a:rPr lang="en-US" dirty="0"/>
              <a:t>Better Comments</a:t>
            </a:r>
          </a:p>
          <a:p>
            <a:r>
              <a:rPr lang="en-US" dirty="0"/>
              <a:t>Better Todo Tree</a:t>
            </a:r>
          </a:p>
          <a:p>
            <a:r>
              <a:rPr lang="en-US" dirty="0"/>
              <a:t>Bracket Pair Color DLW</a:t>
            </a:r>
          </a:p>
          <a:p>
            <a:r>
              <a:rPr lang="en-US" dirty="0"/>
              <a:t>Colorful Dark+</a:t>
            </a:r>
          </a:p>
          <a:p>
            <a:r>
              <a:rPr lang="en-US" dirty="0"/>
              <a:t>Colorful Comments</a:t>
            </a:r>
          </a:p>
          <a:p>
            <a:r>
              <a:rPr lang="en-US" dirty="0"/>
              <a:t>#region folding for VS Code</a:t>
            </a:r>
          </a:p>
          <a:p>
            <a:r>
              <a:rPr lang="en-US" dirty="0"/>
              <a:t>Powershell Extension Pack</a:t>
            </a:r>
          </a:p>
          <a:p>
            <a:r>
              <a:rPr lang="en-US" dirty="0"/>
              <a:t>Print</a:t>
            </a:r>
          </a:p>
          <a:p>
            <a:pPr marL="0" indent="0">
              <a:buNone/>
            </a:pPr>
            <a:endParaRPr lang="en-US" dirty="0"/>
          </a:p>
          <a:p>
            <a:r>
              <a:rPr lang="en-US" dirty="0"/>
              <a:t>Git Extensions Pack</a:t>
            </a:r>
          </a:p>
          <a:p>
            <a:r>
              <a:rPr lang="en-US" dirty="0"/>
              <a:t>Git Graph</a:t>
            </a:r>
          </a:p>
        </p:txBody>
      </p:sp>
    </p:spTree>
    <p:extLst>
      <p:ext uri="{BB962C8B-B14F-4D97-AF65-F5344CB8AC3E}">
        <p14:creationId xmlns:p14="http://schemas.microsoft.com/office/powerpoint/2010/main" val="2609053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20E9CFA-2400-B2F3-3D17-2B534DC597C4}"/>
              </a:ext>
            </a:extLst>
          </p:cNvPr>
          <p:cNvSpPr>
            <a:spLocks noGrp="1"/>
          </p:cNvSpPr>
          <p:nvPr>
            <p:ph type="title"/>
          </p:nvPr>
        </p:nvSpPr>
        <p:spPr>
          <a:xfrm>
            <a:off x="505315" y="643467"/>
            <a:ext cx="3152284" cy="1375608"/>
          </a:xfrm>
        </p:spPr>
        <p:txBody>
          <a:bodyPr anchor="ctr">
            <a:normAutofit/>
          </a:bodyPr>
          <a:lstStyle/>
          <a:p>
            <a:pPr>
              <a:lnSpc>
                <a:spcPct val="90000"/>
              </a:lnSpc>
            </a:pPr>
            <a:r>
              <a:rPr lang="en-US" sz="3100">
                <a:solidFill>
                  <a:schemeClr val="bg1"/>
                </a:solidFill>
              </a:rPr>
              <a:t>Select The Python Interpreter</a:t>
            </a:r>
          </a:p>
        </p:txBody>
      </p:sp>
      <p:sp>
        <p:nvSpPr>
          <p:cNvPr id="3" name="Content Placeholder 2">
            <a:extLst>
              <a:ext uri="{FF2B5EF4-FFF2-40B4-BE49-F238E27FC236}">
                <a16:creationId xmlns:a16="http://schemas.microsoft.com/office/drawing/2014/main" id="{65778562-6C4D-ECFD-5009-268406D369A7}"/>
              </a:ext>
            </a:extLst>
          </p:cNvPr>
          <p:cNvSpPr>
            <a:spLocks noGrp="1"/>
          </p:cNvSpPr>
          <p:nvPr>
            <p:ph idx="1"/>
          </p:nvPr>
        </p:nvSpPr>
        <p:spPr>
          <a:xfrm>
            <a:off x="505315" y="2160590"/>
            <a:ext cx="2980457" cy="3440110"/>
          </a:xfrm>
        </p:spPr>
        <p:txBody>
          <a:bodyPr>
            <a:normAutofit/>
          </a:bodyPr>
          <a:lstStyle/>
          <a:p>
            <a:pPr marL="0" indent="0">
              <a:buNone/>
            </a:pPr>
            <a:r>
              <a:rPr lang="en-US">
                <a:solidFill>
                  <a:schemeClr val="bg1"/>
                </a:solidFill>
              </a:rPr>
              <a:t>In VS Code:</a:t>
            </a:r>
          </a:p>
          <a:p>
            <a:pPr>
              <a:buFont typeface="+mj-lt"/>
              <a:buAutoNum type="arabicPeriod"/>
            </a:pPr>
            <a:r>
              <a:rPr lang="en-US">
                <a:solidFill>
                  <a:schemeClr val="bg1"/>
                </a:solidFill>
              </a:rPr>
              <a:t>Open the project folder.</a:t>
            </a:r>
          </a:p>
          <a:p>
            <a:pPr>
              <a:buFont typeface="+mj-lt"/>
              <a:buAutoNum type="arabicPeriod"/>
            </a:pPr>
            <a:r>
              <a:rPr lang="en-US">
                <a:solidFill>
                  <a:schemeClr val="bg1"/>
                </a:solidFill>
              </a:rPr>
              <a:t>Open the Command Palette (Ctrl+Shift+P).</a:t>
            </a:r>
          </a:p>
          <a:p>
            <a:pPr>
              <a:buFont typeface="+mj-lt"/>
              <a:buAutoNum type="arabicPeriod"/>
            </a:pPr>
            <a:r>
              <a:rPr lang="en-US">
                <a:solidFill>
                  <a:schemeClr val="bg1"/>
                </a:solidFill>
              </a:rPr>
              <a:t>Choose `Python: Select Interpreter`.</a:t>
            </a:r>
          </a:p>
          <a:p>
            <a:pPr>
              <a:buFont typeface="+mj-lt"/>
              <a:buAutoNum type="arabicPeriod"/>
            </a:pPr>
            <a:r>
              <a:rPr lang="en-US">
                <a:solidFill>
                  <a:schemeClr val="bg1"/>
                </a:solidFill>
              </a:rPr>
              <a:t>Select the interpreter inside `.venv`.</a:t>
            </a:r>
          </a:p>
          <a:p>
            <a:endParaRPr lang="en-US">
              <a:solidFill>
                <a:schemeClr val="bg1"/>
              </a:solidFill>
            </a:endParaRPr>
          </a:p>
        </p:txBody>
      </p:sp>
      <p:pic>
        <p:nvPicPr>
          <p:cNvPr id="5" name="Picture 4" descr="Screenshot of a dropdown menu in a code editor showing Python interpreter options for virtual environments and installed versions. The list includes multiple Python 3.10 and 3.11 versions, with a green arrow highlighting Python 3.14.6 located in a specific directory path.">
            <a:extLst>
              <a:ext uri="{FF2B5EF4-FFF2-40B4-BE49-F238E27FC236}">
                <a16:creationId xmlns:a16="http://schemas.microsoft.com/office/drawing/2014/main" id="{E0645DBF-0BC6-62A2-A198-4AA7E16D8094}"/>
              </a:ext>
            </a:extLst>
          </p:cNvPr>
          <p:cNvPicPr>
            <a:picLocks noChangeAspect="1"/>
          </p:cNvPicPr>
          <p:nvPr/>
        </p:nvPicPr>
        <p:blipFill>
          <a:blip r:embed="rId3"/>
          <a:stretch>
            <a:fillRect/>
          </a:stretch>
        </p:blipFill>
        <p:spPr>
          <a:xfrm>
            <a:off x="4572000" y="2469817"/>
            <a:ext cx="3857625" cy="1905850"/>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498373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7BAF-5164-B449-A365-B490D77A9D09}"/>
              </a:ext>
            </a:extLst>
          </p:cNvPr>
          <p:cNvSpPr>
            <a:spLocks noGrp="1"/>
          </p:cNvSpPr>
          <p:nvPr>
            <p:ph type="title"/>
          </p:nvPr>
        </p:nvSpPr>
        <p:spPr/>
        <p:txBody>
          <a:bodyPr/>
          <a:lstStyle/>
          <a:p>
            <a:r>
              <a:rPr lang="en-US" dirty="0"/>
              <a:t>VS Code And `.</a:t>
            </a:r>
            <a:r>
              <a:rPr lang="en-US" dirty="0" err="1"/>
              <a:t>venv</a:t>
            </a:r>
            <a:r>
              <a:rPr lang="en-US" dirty="0"/>
              <a:t>`</a:t>
            </a:r>
          </a:p>
        </p:txBody>
      </p:sp>
      <p:sp>
        <p:nvSpPr>
          <p:cNvPr id="3" name="Content Placeholder 2">
            <a:extLst>
              <a:ext uri="{FF2B5EF4-FFF2-40B4-BE49-F238E27FC236}">
                <a16:creationId xmlns:a16="http://schemas.microsoft.com/office/drawing/2014/main" id="{31476D2B-9D5B-5F3D-1F30-032EB53DBBA5}"/>
              </a:ext>
            </a:extLst>
          </p:cNvPr>
          <p:cNvSpPr>
            <a:spLocks noGrp="1"/>
          </p:cNvSpPr>
          <p:nvPr>
            <p:ph idx="1"/>
          </p:nvPr>
        </p:nvSpPr>
        <p:spPr>
          <a:xfrm>
            <a:off x="609599" y="1611951"/>
            <a:ext cx="6347714" cy="2502850"/>
          </a:xfrm>
        </p:spPr>
        <p:txBody>
          <a:bodyPr>
            <a:normAutofit lnSpcReduction="10000"/>
          </a:bodyPr>
          <a:lstStyle/>
          <a:p>
            <a:pPr marL="0" indent="0">
              <a:buNone/>
            </a:pPr>
            <a:r>
              <a:rPr lang="en-US" dirty="0"/>
              <a:t>VS Code can detect and use virtual environments.</a:t>
            </a:r>
          </a:p>
          <a:p>
            <a:pPr marL="0" indent="0">
              <a:buNone/>
            </a:pPr>
            <a:endParaRPr lang="en-US" dirty="0"/>
          </a:p>
          <a:p>
            <a:pPr marL="0" indent="0">
              <a:buNone/>
            </a:pPr>
            <a:r>
              <a:rPr lang="en-US" dirty="0"/>
              <a:t>When the `.</a:t>
            </a:r>
            <a:r>
              <a:rPr lang="en-US" dirty="0" err="1"/>
              <a:t>venv</a:t>
            </a:r>
            <a:r>
              <a:rPr lang="en-US" dirty="0"/>
              <a:t>` interpreter is selected, new VS Code terminals can activate that environment automatically.</a:t>
            </a:r>
          </a:p>
          <a:p>
            <a:pPr marL="0" indent="0">
              <a:buNone/>
            </a:pPr>
            <a:endParaRPr lang="en-US" dirty="0"/>
          </a:p>
          <a:p>
            <a:pPr marL="0" indent="0">
              <a:buNone/>
            </a:pPr>
            <a:r>
              <a:rPr lang="en-US" dirty="0"/>
              <a:t>If it is not selected, you will need to manually activate the virtual environment using the activate command</a:t>
            </a:r>
          </a:p>
        </p:txBody>
      </p:sp>
      <p:pic>
        <p:nvPicPr>
          <p:cNvPr id="5" name="Picture 4" descr="Screenshot of a terminal window showing command line interface with two commands executed. Commands include navigating to a directory and activating a virtual environment, highlighted by green arrows pointing to the respective lines.">
            <a:extLst>
              <a:ext uri="{FF2B5EF4-FFF2-40B4-BE49-F238E27FC236}">
                <a16:creationId xmlns:a16="http://schemas.microsoft.com/office/drawing/2014/main" id="{8370F945-8582-F395-8DB4-B3CCC6138772}"/>
              </a:ext>
            </a:extLst>
          </p:cNvPr>
          <p:cNvPicPr>
            <a:picLocks noChangeAspect="1"/>
          </p:cNvPicPr>
          <p:nvPr/>
        </p:nvPicPr>
        <p:blipFill>
          <a:blip r:embed="rId3"/>
          <a:stretch>
            <a:fillRect/>
          </a:stretch>
        </p:blipFill>
        <p:spPr>
          <a:xfrm>
            <a:off x="701039" y="4478284"/>
            <a:ext cx="6957312" cy="898634"/>
          </a:xfrm>
          <a:prstGeom prst="rect">
            <a:avLst/>
          </a:prstGeom>
        </p:spPr>
      </p:pic>
    </p:spTree>
    <p:extLst>
      <p:ext uri="{BB962C8B-B14F-4D97-AF65-F5344CB8AC3E}">
        <p14:creationId xmlns:p14="http://schemas.microsoft.com/office/powerpoint/2010/main" val="3543770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F3C8-519D-BB46-2068-67D48BC98CBD}"/>
              </a:ext>
            </a:extLst>
          </p:cNvPr>
          <p:cNvSpPr>
            <a:spLocks noGrp="1"/>
          </p:cNvSpPr>
          <p:nvPr>
            <p:ph type="title"/>
          </p:nvPr>
        </p:nvSpPr>
        <p:spPr/>
        <p:txBody>
          <a:bodyPr/>
          <a:lstStyle/>
          <a:p>
            <a:r>
              <a:rPr lang="en-US" dirty="0"/>
              <a:t>Run A Test File</a:t>
            </a:r>
          </a:p>
        </p:txBody>
      </p:sp>
      <p:sp>
        <p:nvSpPr>
          <p:cNvPr id="3" name="Content Placeholder 2">
            <a:extLst>
              <a:ext uri="{FF2B5EF4-FFF2-40B4-BE49-F238E27FC236}">
                <a16:creationId xmlns:a16="http://schemas.microsoft.com/office/drawing/2014/main" id="{3423223A-13DD-8988-9421-AFDC1E41D6DB}"/>
              </a:ext>
            </a:extLst>
          </p:cNvPr>
          <p:cNvSpPr>
            <a:spLocks noGrp="1"/>
          </p:cNvSpPr>
          <p:nvPr>
            <p:ph idx="1"/>
          </p:nvPr>
        </p:nvSpPr>
        <p:spPr>
          <a:xfrm>
            <a:off x="609599" y="2160590"/>
            <a:ext cx="6849292" cy="1320801"/>
          </a:xfrm>
        </p:spPr>
        <p:txBody>
          <a:bodyPr/>
          <a:lstStyle/>
          <a:p>
            <a:pPr marL="0" indent="0">
              <a:buNone/>
            </a:pPr>
            <a:r>
              <a:rPr lang="en-US" dirty="0"/>
              <a:t>Create a file: `setup_test.py`</a:t>
            </a:r>
          </a:p>
          <a:p>
            <a:pPr marL="0" indent="0">
              <a:buNone/>
            </a:pPr>
            <a:r>
              <a:rPr lang="en-US" dirty="0"/>
              <a:t>Add the line: `print(“Python setup works!”)</a:t>
            </a:r>
          </a:p>
          <a:p>
            <a:pPr marL="0" indent="0">
              <a:buNone/>
            </a:pPr>
            <a:r>
              <a:rPr lang="en-US" dirty="0"/>
              <a:t>Execute the file from integrated terminal: `</a:t>
            </a:r>
            <a:r>
              <a:rPr lang="en-US" dirty="0" err="1"/>
              <a:t>py</a:t>
            </a:r>
            <a:r>
              <a:rPr lang="en-US" dirty="0"/>
              <a:t> setup_test.py`</a:t>
            </a:r>
          </a:p>
        </p:txBody>
      </p:sp>
      <p:pic>
        <p:nvPicPr>
          <p:cNvPr id="5" name="Picture 4" descr="Screenshot of a code editor and terminal showing a Python script named &quot;setup_test.py&quot; with a single print statement outputting &quot;Python setup works!&quot;. The screenshot highlights the file in the project explorer with green arrows, the print statement in the editor with a yellow arrow, and the terminal running the script with an orange arrow, confirming successful script execution.">
            <a:extLst>
              <a:ext uri="{FF2B5EF4-FFF2-40B4-BE49-F238E27FC236}">
                <a16:creationId xmlns:a16="http://schemas.microsoft.com/office/drawing/2014/main" id="{22A4C102-FF9B-09D3-251A-102C05A54BBB}"/>
              </a:ext>
            </a:extLst>
          </p:cNvPr>
          <p:cNvPicPr>
            <a:picLocks noChangeAspect="1"/>
          </p:cNvPicPr>
          <p:nvPr/>
        </p:nvPicPr>
        <p:blipFill>
          <a:blip r:embed="rId3"/>
          <a:stretch>
            <a:fillRect/>
          </a:stretch>
        </p:blipFill>
        <p:spPr>
          <a:xfrm>
            <a:off x="609599" y="3711581"/>
            <a:ext cx="6966858" cy="2395260"/>
          </a:xfrm>
          <a:prstGeom prst="rect">
            <a:avLst/>
          </a:prstGeom>
        </p:spPr>
      </p:pic>
    </p:spTree>
    <p:extLst>
      <p:ext uri="{BB962C8B-B14F-4D97-AF65-F5344CB8AC3E}">
        <p14:creationId xmlns:p14="http://schemas.microsoft.com/office/powerpoint/2010/main" val="2715267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4CC0-F10A-9676-FE63-A14ECCE6E809}"/>
              </a:ext>
            </a:extLst>
          </p:cNvPr>
          <p:cNvSpPr>
            <a:spLocks noGrp="1"/>
          </p:cNvSpPr>
          <p:nvPr>
            <p:ph type="title"/>
          </p:nvPr>
        </p:nvSpPr>
        <p:spPr>
          <a:xfrm>
            <a:off x="4152550" y="609600"/>
            <a:ext cx="2802951" cy="1320800"/>
          </a:xfrm>
        </p:spPr>
        <p:txBody>
          <a:bodyPr>
            <a:normAutofit/>
          </a:bodyPr>
          <a:lstStyle/>
          <a:p>
            <a:pPr>
              <a:lnSpc>
                <a:spcPct val="90000"/>
              </a:lnSpc>
            </a:pPr>
            <a:r>
              <a:rPr lang="en-US" sz="2800"/>
              <a:t>GitHub Submission Paths</a:t>
            </a:r>
          </a:p>
        </p:txBody>
      </p:sp>
      <p:sp>
        <p:nvSpPr>
          <p:cNvPr id="3" name="Content Placeholder 2">
            <a:extLst>
              <a:ext uri="{FF2B5EF4-FFF2-40B4-BE49-F238E27FC236}">
                <a16:creationId xmlns:a16="http://schemas.microsoft.com/office/drawing/2014/main" id="{EF6DE0C1-4749-E2F3-96E8-6A2F2A5B98DF}"/>
              </a:ext>
            </a:extLst>
          </p:cNvPr>
          <p:cNvSpPr>
            <a:spLocks noGrp="1"/>
          </p:cNvSpPr>
          <p:nvPr>
            <p:ph idx="1"/>
          </p:nvPr>
        </p:nvSpPr>
        <p:spPr>
          <a:xfrm>
            <a:off x="3907172" y="2160589"/>
            <a:ext cx="3048329" cy="3880773"/>
          </a:xfrm>
        </p:spPr>
        <p:txBody>
          <a:bodyPr>
            <a:normAutofit/>
          </a:bodyPr>
          <a:lstStyle/>
          <a:p>
            <a:pPr marL="0" indent="0">
              <a:buNone/>
            </a:pPr>
            <a:r>
              <a:rPr lang="en-US"/>
              <a:t>There are two common GitHub paths:</a:t>
            </a:r>
          </a:p>
          <a:p>
            <a:r>
              <a:rPr lang="en-US"/>
              <a:t>Git CLI commands </a:t>
            </a:r>
            <a:r>
              <a:rPr lang="en-US" i="1"/>
              <a:t>(you should learn these regardless)</a:t>
            </a:r>
          </a:p>
          <a:p>
            <a:r>
              <a:rPr lang="en-US"/>
              <a:t>VS Code Source Control and GitHub extensions</a:t>
            </a:r>
          </a:p>
          <a:p>
            <a:pPr marL="0" indent="0">
              <a:buNone/>
            </a:pPr>
            <a:endParaRPr lang="en-US"/>
          </a:p>
          <a:p>
            <a:pPr marL="0" indent="0">
              <a:buNone/>
            </a:pPr>
            <a:r>
              <a:rPr lang="en-US"/>
              <a:t>Both paths should preserve code changes clearly.</a:t>
            </a:r>
          </a:p>
        </p:txBody>
      </p:sp>
      <p:pic>
        <p:nvPicPr>
          <p:cNvPr id="7" name="Picture 6">
            <a:extLst>
              <a:ext uri="{FF2B5EF4-FFF2-40B4-BE49-F238E27FC236}">
                <a16:creationId xmlns:a16="http://schemas.microsoft.com/office/drawing/2014/main" id="{A00020ED-7088-D0A5-36AC-C0705EC62C3E}"/>
              </a:ext>
              <a:ext uri="{C183D7F6-B498-43B3-948B-1728B52AA6E4}">
                <adec:decorative xmlns:adec="http://schemas.microsoft.com/office/drawing/2017/decorative" val="1"/>
              </a:ext>
            </a:extLst>
          </p:cNvPr>
          <p:cNvPicPr>
            <a:picLocks noChangeAspect="1"/>
          </p:cNvPicPr>
          <p:nvPr/>
        </p:nvPicPr>
        <p:blipFill>
          <a:blip r:embed="rId3"/>
          <a:srcRect l="32836" r="22914"/>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4265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613D-D58F-C938-DB77-B49AE8FF06FD}"/>
              </a:ext>
            </a:extLst>
          </p:cNvPr>
          <p:cNvSpPr>
            <a:spLocks noGrp="1"/>
          </p:cNvSpPr>
          <p:nvPr>
            <p:ph type="title"/>
          </p:nvPr>
        </p:nvSpPr>
        <p:spPr>
          <a:xfrm>
            <a:off x="507559" y="609600"/>
            <a:ext cx="2796807" cy="1320800"/>
          </a:xfrm>
        </p:spPr>
        <p:txBody>
          <a:bodyPr anchor="ctr">
            <a:normAutofit/>
          </a:bodyPr>
          <a:lstStyle/>
          <a:p>
            <a:pPr>
              <a:lnSpc>
                <a:spcPct val="90000"/>
              </a:lnSpc>
            </a:pPr>
            <a:r>
              <a:rPr lang="en-US" sz="3100"/>
              <a:t>Source Control In VS Code</a:t>
            </a:r>
          </a:p>
        </p:txBody>
      </p:sp>
      <p:sp>
        <p:nvSpPr>
          <p:cNvPr id="3" name="Content Placeholder 2">
            <a:extLst>
              <a:ext uri="{FF2B5EF4-FFF2-40B4-BE49-F238E27FC236}">
                <a16:creationId xmlns:a16="http://schemas.microsoft.com/office/drawing/2014/main" id="{981E41DF-080A-CC9D-F0C0-939C7DB7953C}"/>
              </a:ext>
            </a:extLst>
          </p:cNvPr>
          <p:cNvSpPr>
            <a:spLocks noGrp="1"/>
          </p:cNvSpPr>
          <p:nvPr>
            <p:ph idx="1"/>
          </p:nvPr>
        </p:nvSpPr>
        <p:spPr>
          <a:xfrm>
            <a:off x="513875" y="2160589"/>
            <a:ext cx="2790687" cy="3560733"/>
          </a:xfrm>
        </p:spPr>
        <p:txBody>
          <a:bodyPr>
            <a:normAutofit/>
          </a:bodyPr>
          <a:lstStyle/>
          <a:p>
            <a:pPr marL="0" indent="0">
              <a:buNone/>
            </a:pPr>
            <a:r>
              <a:rPr lang="en-US" dirty="0"/>
              <a:t>VS Code has a Source Control view for Git work.</a:t>
            </a:r>
          </a:p>
          <a:p>
            <a:pPr marL="0" indent="0">
              <a:buNone/>
            </a:pPr>
            <a:r>
              <a:rPr lang="en-US" dirty="0"/>
              <a:t>You can see changed files, write a commit message, commit, and sync without typing every Git command manually.</a:t>
            </a:r>
          </a:p>
          <a:p>
            <a:pPr marL="0" indent="0">
              <a:buNone/>
            </a:pPr>
            <a:endParaRPr lang="en-US" dirty="0"/>
          </a:p>
        </p:txBody>
      </p:sp>
      <p:pic>
        <p:nvPicPr>
          <p:cNvPr id="4" name="Picture 3" descr="Screenshot of a source control panel in a code editor showing one uncommitted change in the &quot;StudyPilot&quot; repository on the &quot;main&quot; branch. The panel highlights a modified Python file named &quot;setup_test.py&quot; with options to enter a commit message and commit changes.">
            <a:extLst>
              <a:ext uri="{FF2B5EF4-FFF2-40B4-BE49-F238E27FC236}">
                <a16:creationId xmlns:a16="http://schemas.microsoft.com/office/drawing/2014/main" id="{43C0BFFC-9058-6B3F-7175-7E3E0BCB9D78}"/>
              </a:ext>
            </a:extLst>
          </p:cNvPr>
          <p:cNvPicPr>
            <a:picLocks noChangeAspect="1"/>
          </p:cNvPicPr>
          <p:nvPr/>
        </p:nvPicPr>
        <p:blipFill>
          <a:blip r:embed="rId3"/>
          <a:stretch>
            <a:fillRect/>
          </a:stretch>
        </p:blipFill>
        <p:spPr>
          <a:xfrm>
            <a:off x="3490526" y="1521985"/>
            <a:ext cx="3452060" cy="3309497"/>
          </a:xfrm>
          <a:prstGeom prst="rect">
            <a:avLst/>
          </a:prstGeom>
        </p:spPr>
      </p:pic>
    </p:spTree>
    <p:extLst>
      <p:ext uri="{BB962C8B-B14F-4D97-AF65-F5344CB8AC3E}">
        <p14:creationId xmlns:p14="http://schemas.microsoft.com/office/powerpoint/2010/main" val="2254688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9AED-A4AA-8C2E-3631-5857D75B668E}"/>
              </a:ext>
            </a:extLst>
          </p:cNvPr>
          <p:cNvSpPr>
            <a:spLocks noGrp="1"/>
          </p:cNvSpPr>
          <p:nvPr>
            <p:ph type="title"/>
          </p:nvPr>
        </p:nvSpPr>
        <p:spPr/>
        <p:txBody>
          <a:bodyPr/>
          <a:lstStyle/>
          <a:p>
            <a:r>
              <a:rPr lang="en-US" dirty="0"/>
              <a:t>Git Install for Windows</a:t>
            </a:r>
          </a:p>
        </p:txBody>
      </p:sp>
      <p:pic>
        <p:nvPicPr>
          <p:cNvPr id="5" name="Content Placeholder 4" descr="Screenshot of Git website's Windows install page showing download options for Git version 2.54.0, including standalone installers for x64 and ARM64 setups, portable versions, and winget tool installation instructions. Page features tabs for Windows, macOS, Linux, and source builds, with highlighted links in orange and a sidebar menu on the left.">
            <a:extLst>
              <a:ext uri="{FF2B5EF4-FFF2-40B4-BE49-F238E27FC236}">
                <a16:creationId xmlns:a16="http://schemas.microsoft.com/office/drawing/2014/main" id="{171CD23D-94AC-8C47-A203-70EFEE64E1D9}"/>
              </a:ext>
            </a:extLst>
          </p:cNvPr>
          <p:cNvPicPr>
            <a:picLocks noGrp="1" noChangeAspect="1"/>
          </p:cNvPicPr>
          <p:nvPr>
            <p:ph idx="1"/>
          </p:nvPr>
        </p:nvPicPr>
        <p:blipFill>
          <a:blip r:embed="rId3"/>
          <a:stretch>
            <a:fillRect/>
          </a:stretch>
        </p:blipFill>
        <p:spPr>
          <a:xfrm>
            <a:off x="1049825" y="1814852"/>
            <a:ext cx="5855236" cy="3881437"/>
          </a:xfrm>
          <a:prstGeom prst="rect">
            <a:avLst/>
          </a:prstGeom>
        </p:spPr>
      </p:pic>
      <p:sp>
        <p:nvSpPr>
          <p:cNvPr id="6" name="TextBox 5">
            <a:extLst>
              <a:ext uri="{FF2B5EF4-FFF2-40B4-BE49-F238E27FC236}">
                <a16:creationId xmlns:a16="http://schemas.microsoft.com/office/drawing/2014/main" id="{1F1721CB-F39D-8E5F-49F5-60ED4E34AEB8}"/>
              </a:ext>
            </a:extLst>
          </p:cNvPr>
          <p:cNvSpPr txBox="1"/>
          <p:nvPr/>
        </p:nvSpPr>
        <p:spPr>
          <a:xfrm>
            <a:off x="1138052" y="6087291"/>
            <a:ext cx="5291509" cy="369332"/>
          </a:xfrm>
          <a:prstGeom prst="rect">
            <a:avLst/>
          </a:prstGeom>
          <a:noFill/>
        </p:spPr>
        <p:txBody>
          <a:bodyPr wrap="square" rtlCol="0">
            <a:spAutoFit/>
          </a:bodyPr>
          <a:lstStyle/>
          <a:p>
            <a:pPr algn="ctr"/>
            <a:r>
              <a:rPr lang="en-US" dirty="0"/>
              <a:t>url: git-scm.com/install/windows</a:t>
            </a:r>
          </a:p>
        </p:txBody>
      </p:sp>
    </p:spTree>
    <p:extLst>
      <p:ext uri="{BB962C8B-B14F-4D97-AF65-F5344CB8AC3E}">
        <p14:creationId xmlns:p14="http://schemas.microsoft.com/office/powerpoint/2010/main" val="3257553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97DD6A9-04B6-EE34-EFF6-F55C031726E2}"/>
              </a:ext>
            </a:extLst>
          </p:cNvPr>
          <p:cNvSpPr>
            <a:spLocks noGrp="1"/>
          </p:cNvSpPr>
          <p:nvPr>
            <p:ph type="title"/>
          </p:nvPr>
        </p:nvSpPr>
        <p:spPr>
          <a:xfrm>
            <a:off x="482600" y="816638"/>
            <a:ext cx="2525519" cy="5224724"/>
          </a:xfrm>
        </p:spPr>
        <p:txBody>
          <a:bodyPr anchor="ctr">
            <a:normAutofit/>
          </a:bodyPr>
          <a:lstStyle/>
          <a:p>
            <a:r>
              <a:rPr lang="en-US" dirty="0"/>
              <a:t>Initialize git for your project(s)</a:t>
            </a:r>
          </a:p>
        </p:txBody>
      </p:sp>
      <p:sp>
        <p:nvSpPr>
          <p:cNvPr id="3" name="Content Placeholder 2">
            <a:extLst>
              <a:ext uri="{FF2B5EF4-FFF2-40B4-BE49-F238E27FC236}">
                <a16:creationId xmlns:a16="http://schemas.microsoft.com/office/drawing/2014/main" id="{4CF2FE36-1967-A4A2-721E-43D2ACEB5059}"/>
              </a:ext>
            </a:extLst>
          </p:cNvPr>
          <p:cNvSpPr>
            <a:spLocks noGrp="1"/>
          </p:cNvSpPr>
          <p:nvPr>
            <p:ph idx="1"/>
          </p:nvPr>
        </p:nvSpPr>
        <p:spPr>
          <a:xfrm>
            <a:off x="3490721" y="816638"/>
            <a:ext cx="3464779" cy="5224724"/>
          </a:xfrm>
        </p:spPr>
        <p:txBody>
          <a:bodyPr anchor="ctr">
            <a:normAutofit/>
          </a:bodyPr>
          <a:lstStyle/>
          <a:p>
            <a:pPr marL="0" indent="0">
              <a:buNone/>
            </a:pPr>
            <a:r>
              <a:rPr lang="en-US" dirty="0"/>
              <a:t>Using either VS Code or the CLI – initialize git (locally) for your project.</a:t>
            </a:r>
          </a:p>
          <a:p>
            <a:r>
              <a:rPr lang="en-US" dirty="0"/>
              <a:t>`git </a:t>
            </a:r>
            <a:r>
              <a:rPr lang="en-US" dirty="0" err="1"/>
              <a:t>init</a:t>
            </a:r>
            <a:r>
              <a:rPr lang="en-US" dirty="0"/>
              <a:t>`</a:t>
            </a:r>
          </a:p>
          <a:p>
            <a:pPr marL="0" indent="0">
              <a:buNone/>
            </a:pPr>
            <a:endParaRPr lang="en-US" dirty="0"/>
          </a:p>
          <a:p>
            <a:pPr marL="0" indent="0">
              <a:buNone/>
            </a:pPr>
            <a:r>
              <a:rPr lang="en-US" dirty="0"/>
              <a:t>Note: </a:t>
            </a:r>
          </a:p>
          <a:p>
            <a:r>
              <a:rPr lang="en-US" dirty="0"/>
              <a:t>This does not setup a GitHub repository in the cloud. It only sets it up local. </a:t>
            </a:r>
          </a:p>
          <a:p>
            <a:r>
              <a:rPr lang="en-US" dirty="0"/>
              <a:t>Later we will connect the local with the GitHub repo</a:t>
            </a:r>
          </a:p>
        </p:txBody>
      </p:sp>
    </p:spTree>
    <p:extLst>
      <p:ext uri="{BB962C8B-B14F-4D97-AF65-F5344CB8AC3E}">
        <p14:creationId xmlns:p14="http://schemas.microsoft.com/office/powerpoint/2010/main" val="3449631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33484"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468234"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1926"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400"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068"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6694"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568"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Freeform: Shape 26">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223" y="-8467"/>
            <a:ext cx="4495777"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D4C0F1-F299-7630-8CAE-6AA20F8E8EFA}"/>
              </a:ext>
            </a:extLst>
          </p:cNvPr>
          <p:cNvSpPr>
            <a:spLocks noGrp="1"/>
          </p:cNvSpPr>
          <p:nvPr>
            <p:ph type="title"/>
          </p:nvPr>
        </p:nvSpPr>
        <p:spPr>
          <a:xfrm>
            <a:off x="5386292" y="609600"/>
            <a:ext cx="3384742" cy="2227730"/>
          </a:xfrm>
        </p:spPr>
        <p:txBody>
          <a:bodyPr anchor="ctr">
            <a:normAutofit/>
          </a:bodyPr>
          <a:lstStyle/>
          <a:p>
            <a:r>
              <a:rPr lang="en-US">
                <a:solidFill>
                  <a:srgbClr val="FFFFFF"/>
                </a:solidFill>
              </a:rPr>
              <a:t>GitHub Extensions</a:t>
            </a:r>
          </a:p>
        </p:txBody>
      </p:sp>
      <p:pic>
        <p:nvPicPr>
          <p:cNvPr id="4" name="Picture 3" descr="GitHub Logo, symbol, meaning, history, PNG, brand">
            <a:extLst>
              <a:ext uri="{FF2B5EF4-FFF2-40B4-BE49-F238E27FC236}">
                <a16:creationId xmlns:a16="http://schemas.microsoft.com/office/drawing/2014/main" id="{D0934236-77CA-C41F-ACF0-873F252B725D}"/>
              </a:ext>
            </a:extLst>
          </p:cNvPr>
          <p:cNvPicPr>
            <a:picLocks noChangeAspect="1"/>
          </p:cNvPicPr>
          <p:nvPr/>
        </p:nvPicPr>
        <p:blipFill>
          <a:blip r:embed="rId3"/>
          <a:stretch>
            <a:fillRect/>
          </a:stretch>
        </p:blipFill>
        <p:spPr>
          <a:xfrm>
            <a:off x="567938" y="2659911"/>
            <a:ext cx="2892580" cy="1627076"/>
          </a:xfrm>
          <a:prstGeom prst="rect">
            <a:avLst/>
          </a:prstGeom>
        </p:spPr>
      </p:pic>
      <p:sp>
        <p:nvSpPr>
          <p:cNvPr id="3" name="Content Placeholder 2">
            <a:extLst>
              <a:ext uri="{FF2B5EF4-FFF2-40B4-BE49-F238E27FC236}">
                <a16:creationId xmlns:a16="http://schemas.microsoft.com/office/drawing/2014/main" id="{1161F723-6A89-8AEF-FA98-594D3D737277}"/>
              </a:ext>
            </a:extLst>
          </p:cNvPr>
          <p:cNvSpPr>
            <a:spLocks noGrp="1"/>
          </p:cNvSpPr>
          <p:nvPr>
            <p:ph idx="1"/>
          </p:nvPr>
        </p:nvSpPr>
        <p:spPr>
          <a:xfrm>
            <a:off x="5386293" y="2837329"/>
            <a:ext cx="3384741" cy="3317938"/>
          </a:xfrm>
        </p:spPr>
        <p:txBody>
          <a:bodyPr anchor="t">
            <a:normAutofit/>
          </a:bodyPr>
          <a:lstStyle/>
          <a:p>
            <a:pPr marL="0" indent="0">
              <a:buNone/>
            </a:pPr>
            <a:r>
              <a:rPr lang="en-US">
                <a:solidFill>
                  <a:srgbClr val="FFFFFF"/>
                </a:solidFill>
              </a:rPr>
              <a:t>Useful GitHub-related VS Code extensions:</a:t>
            </a:r>
          </a:p>
          <a:p>
            <a:r>
              <a:rPr lang="en-US">
                <a:solidFill>
                  <a:srgbClr val="FFFFFF"/>
                </a:solidFill>
              </a:rPr>
              <a:t>GitHub Pull Requests</a:t>
            </a:r>
          </a:p>
          <a:p>
            <a:r>
              <a:rPr lang="en-US">
                <a:solidFill>
                  <a:srgbClr val="FFFFFF"/>
                </a:solidFill>
              </a:rPr>
              <a:t>GitHub Repositories</a:t>
            </a:r>
          </a:p>
          <a:p>
            <a:pPr marL="0" indent="0">
              <a:buNone/>
            </a:pPr>
            <a:endParaRPr lang="en-US">
              <a:solidFill>
                <a:srgbClr val="FFFFFF"/>
              </a:solidFill>
            </a:endParaRPr>
          </a:p>
          <a:p>
            <a:pPr marL="0" indent="0">
              <a:buNone/>
            </a:pPr>
            <a:r>
              <a:rPr lang="en-US">
                <a:solidFill>
                  <a:srgbClr val="FFFFFF"/>
                </a:solidFill>
              </a:rPr>
              <a:t>These can help with GitHub sign-in, repositories, commits, and pull-request workflows.</a:t>
            </a:r>
          </a:p>
        </p:txBody>
      </p:sp>
    </p:spTree>
    <p:extLst>
      <p:ext uri="{BB962C8B-B14F-4D97-AF65-F5344CB8AC3E}">
        <p14:creationId xmlns:p14="http://schemas.microsoft.com/office/powerpoint/2010/main" val="2803391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62BB2-EFDA-9FD7-A494-AF5CCA3DCB92}"/>
              </a:ext>
            </a:extLst>
          </p:cNvPr>
          <p:cNvSpPr>
            <a:spLocks noGrp="1"/>
          </p:cNvSpPr>
          <p:nvPr>
            <p:ph type="title"/>
          </p:nvPr>
        </p:nvSpPr>
        <p:spPr/>
        <p:txBody>
          <a:bodyPr/>
          <a:lstStyle/>
          <a:p>
            <a:r>
              <a:rPr lang="en-US" dirty="0"/>
              <a:t>GitHub Vocabulary</a:t>
            </a:r>
          </a:p>
        </p:txBody>
      </p:sp>
      <p:graphicFrame>
        <p:nvGraphicFramePr>
          <p:cNvPr id="4" name="Content Placeholder 3">
            <a:extLst>
              <a:ext uri="{FF2B5EF4-FFF2-40B4-BE49-F238E27FC236}">
                <a16:creationId xmlns:a16="http://schemas.microsoft.com/office/drawing/2014/main" id="{AE2F9EB3-BFE4-0FF3-087F-1E5F847BA215}"/>
              </a:ext>
            </a:extLst>
          </p:cNvPr>
          <p:cNvGraphicFramePr>
            <a:graphicFrameLocks noGrp="1"/>
          </p:cNvGraphicFramePr>
          <p:nvPr>
            <p:ph idx="1"/>
            <p:extLst>
              <p:ext uri="{D42A27DB-BD31-4B8C-83A1-F6EECF244321}">
                <p14:modId xmlns:p14="http://schemas.microsoft.com/office/powerpoint/2010/main" val="4288945464"/>
              </p:ext>
            </p:extLst>
          </p:nvPr>
        </p:nvGraphicFramePr>
        <p:xfrm>
          <a:off x="609600" y="2944852"/>
          <a:ext cx="6348412" cy="2225040"/>
        </p:xfrm>
        <a:graphic>
          <a:graphicData uri="http://schemas.openxmlformats.org/drawingml/2006/table">
            <a:tbl>
              <a:tblPr firstRow="1" bandRow="1">
                <a:tableStyleId>{5C22544A-7EE6-4342-B048-85BDC9FD1C3A}</a:tableStyleId>
              </a:tblPr>
              <a:tblGrid>
                <a:gridCol w="1715589">
                  <a:extLst>
                    <a:ext uri="{9D8B030D-6E8A-4147-A177-3AD203B41FA5}">
                      <a16:colId xmlns:a16="http://schemas.microsoft.com/office/drawing/2014/main" val="2557787138"/>
                    </a:ext>
                  </a:extLst>
                </a:gridCol>
                <a:gridCol w="4632823">
                  <a:extLst>
                    <a:ext uri="{9D8B030D-6E8A-4147-A177-3AD203B41FA5}">
                      <a16:colId xmlns:a16="http://schemas.microsoft.com/office/drawing/2014/main" val="2463938968"/>
                    </a:ext>
                  </a:extLst>
                </a:gridCol>
              </a:tblGrid>
              <a:tr h="370840">
                <a:tc>
                  <a:txBody>
                    <a:bodyPr/>
                    <a:lstStyle/>
                    <a:p>
                      <a:r>
                        <a:rPr lang="en-US" dirty="0"/>
                        <a:t>Keyword</a:t>
                      </a:r>
                    </a:p>
                  </a:txBody>
                  <a:tcPr/>
                </a:tc>
                <a:tc>
                  <a:txBody>
                    <a:bodyPr/>
                    <a:lstStyle/>
                    <a:p>
                      <a:r>
                        <a:rPr lang="en-US" dirty="0"/>
                        <a:t>Definition/Use</a:t>
                      </a:r>
                    </a:p>
                  </a:txBody>
                  <a:tcPr/>
                </a:tc>
                <a:extLst>
                  <a:ext uri="{0D108BD9-81ED-4DB2-BD59-A6C34878D82A}">
                    <a16:rowId xmlns:a16="http://schemas.microsoft.com/office/drawing/2014/main" val="233381311"/>
                  </a:ext>
                </a:extLst>
              </a:tr>
              <a:tr h="370840">
                <a:tc>
                  <a:txBody>
                    <a:bodyPr/>
                    <a:lstStyle/>
                    <a:p>
                      <a:r>
                        <a:rPr lang="en-US" dirty="0"/>
                        <a:t>Repository</a:t>
                      </a:r>
                    </a:p>
                  </a:txBody>
                  <a:tcPr/>
                </a:tc>
                <a:tc>
                  <a:txBody>
                    <a:bodyPr/>
                    <a:lstStyle/>
                    <a:p>
                      <a:r>
                        <a:rPr lang="en-US" dirty="0"/>
                        <a:t>Project storage</a:t>
                      </a:r>
                    </a:p>
                  </a:txBody>
                  <a:tcPr/>
                </a:tc>
                <a:extLst>
                  <a:ext uri="{0D108BD9-81ED-4DB2-BD59-A6C34878D82A}">
                    <a16:rowId xmlns:a16="http://schemas.microsoft.com/office/drawing/2014/main" val="1957608471"/>
                  </a:ext>
                </a:extLst>
              </a:tr>
              <a:tr h="370840">
                <a:tc>
                  <a:txBody>
                    <a:bodyPr/>
                    <a:lstStyle/>
                    <a:p>
                      <a:r>
                        <a:rPr lang="en-US" dirty="0"/>
                        <a:t>Clone</a:t>
                      </a:r>
                    </a:p>
                  </a:txBody>
                  <a:tcPr/>
                </a:tc>
                <a:tc>
                  <a:txBody>
                    <a:bodyPr/>
                    <a:lstStyle/>
                    <a:p>
                      <a:r>
                        <a:rPr lang="en-US" dirty="0"/>
                        <a:t>Copy repository to your computer</a:t>
                      </a:r>
                    </a:p>
                  </a:txBody>
                  <a:tcPr/>
                </a:tc>
                <a:extLst>
                  <a:ext uri="{0D108BD9-81ED-4DB2-BD59-A6C34878D82A}">
                    <a16:rowId xmlns:a16="http://schemas.microsoft.com/office/drawing/2014/main" val="346121070"/>
                  </a:ext>
                </a:extLst>
              </a:tr>
              <a:tr h="370840">
                <a:tc>
                  <a:txBody>
                    <a:bodyPr/>
                    <a:lstStyle/>
                    <a:p>
                      <a:r>
                        <a:rPr lang="en-US" dirty="0"/>
                        <a:t>Commit</a:t>
                      </a:r>
                    </a:p>
                  </a:txBody>
                  <a:tcPr/>
                </a:tc>
                <a:tc>
                  <a:txBody>
                    <a:bodyPr/>
                    <a:lstStyle/>
                    <a:p>
                      <a:r>
                        <a:rPr lang="en-US" dirty="0"/>
                        <a:t>Save a meaningful change</a:t>
                      </a:r>
                    </a:p>
                  </a:txBody>
                  <a:tcPr/>
                </a:tc>
                <a:extLst>
                  <a:ext uri="{0D108BD9-81ED-4DB2-BD59-A6C34878D82A}">
                    <a16:rowId xmlns:a16="http://schemas.microsoft.com/office/drawing/2014/main" val="2733561276"/>
                  </a:ext>
                </a:extLst>
              </a:tr>
              <a:tr h="370840">
                <a:tc>
                  <a:txBody>
                    <a:bodyPr/>
                    <a:lstStyle/>
                    <a:p>
                      <a:r>
                        <a:rPr lang="en-US" dirty="0"/>
                        <a:t>Push</a:t>
                      </a:r>
                    </a:p>
                  </a:txBody>
                  <a:tcPr/>
                </a:tc>
                <a:tc>
                  <a:txBody>
                    <a:bodyPr/>
                    <a:lstStyle/>
                    <a:p>
                      <a:r>
                        <a:rPr lang="en-US" dirty="0"/>
                        <a:t>Send commits to GitHub</a:t>
                      </a:r>
                    </a:p>
                  </a:txBody>
                  <a:tcPr/>
                </a:tc>
                <a:extLst>
                  <a:ext uri="{0D108BD9-81ED-4DB2-BD59-A6C34878D82A}">
                    <a16:rowId xmlns:a16="http://schemas.microsoft.com/office/drawing/2014/main" val="1860611573"/>
                  </a:ext>
                </a:extLst>
              </a:tr>
              <a:tr h="370840">
                <a:tc>
                  <a:txBody>
                    <a:bodyPr/>
                    <a:lstStyle/>
                    <a:p>
                      <a:r>
                        <a:rPr lang="en-US" dirty="0"/>
                        <a:t>Sync</a:t>
                      </a:r>
                    </a:p>
                  </a:txBody>
                  <a:tcPr/>
                </a:tc>
                <a:tc>
                  <a:txBody>
                    <a:bodyPr/>
                    <a:lstStyle/>
                    <a:p>
                      <a:r>
                        <a:rPr lang="en-US" dirty="0"/>
                        <a:t>Pull and push changes through VS Code</a:t>
                      </a:r>
                    </a:p>
                  </a:txBody>
                  <a:tcPr/>
                </a:tc>
                <a:extLst>
                  <a:ext uri="{0D108BD9-81ED-4DB2-BD59-A6C34878D82A}">
                    <a16:rowId xmlns:a16="http://schemas.microsoft.com/office/drawing/2014/main" val="376787083"/>
                  </a:ext>
                </a:extLst>
              </a:tr>
            </a:tbl>
          </a:graphicData>
        </a:graphic>
      </p:graphicFrame>
      <p:sp>
        <p:nvSpPr>
          <p:cNvPr id="5" name="TextBox 4">
            <a:extLst>
              <a:ext uri="{FF2B5EF4-FFF2-40B4-BE49-F238E27FC236}">
                <a16:creationId xmlns:a16="http://schemas.microsoft.com/office/drawing/2014/main" id="{B9944E4D-D4A7-FD2C-9199-7EECAC0111EA}"/>
              </a:ext>
            </a:extLst>
          </p:cNvPr>
          <p:cNvSpPr txBox="1"/>
          <p:nvPr/>
        </p:nvSpPr>
        <p:spPr>
          <a:xfrm>
            <a:off x="610300" y="2341497"/>
            <a:ext cx="6347712" cy="369332"/>
          </a:xfrm>
          <a:prstGeom prst="rect">
            <a:avLst/>
          </a:prstGeom>
          <a:noFill/>
        </p:spPr>
        <p:txBody>
          <a:bodyPr wrap="square" rtlCol="0">
            <a:spAutoFit/>
          </a:bodyPr>
          <a:lstStyle/>
          <a:p>
            <a:pPr algn="ctr"/>
            <a:r>
              <a:rPr lang="en-US" dirty="0"/>
              <a:t>Core GitHub Words</a:t>
            </a:r>
          </a:p>
        </p:txBody>
      </p:sp>
    </p:spTree>
    <p:extLst>
      <p:ext uri="{BB962C8B-B14F-4D97-AF65-F5344CB8AC3E}">
        <p14:creationId xmlns:p14="http://schemas.microsoft.com/office/powerpoint/2010/main" val="3330365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3495094"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95095" y="-3"/>
            <a:ext cx="792559"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1BE437E-DBA8-FF70-E32C-2C7C63D719E5}"/>
              </a:ext>
            </a:extLst>
          </p:cNvPr>
          <p:cNvSpPr>
            <a:spLocks noGrp="1"/>
          </p:cNvSpPr>
          <p:nvPr>
            <p:ph type="title"/>
          </p:nvPr>
        </p:nvSpPr>
        <p:spPr>
          <a:xfrm>
            <a:off x="505315" y="643467"/>
            <a:ext cx="3152284" cy="1375608"/>
          </a:xfrm>
        </p:spPr>
        <p:txBody>
          <a:bodyPr anchor="ctr">
            <a:normAutofit/>
          </a:bodyPr>
          <a:lstStyle/>
          <a:p>
            <a:r>
              <a:rPr lang="en-US" dirty="0">
                <a:solidFill>
                  <a:schemeClr val="bg1"/>
                </a:solidFill>
              </a:rPr>
              <a:t>CLI Or </a:t>
            </a:r>
            <a:br>
              <a:rPr lang="en-US" dirty="0">
                <a:solidFill>
                  <a:schemeClr val="bg1"/>
                </a:solidFill>
              </a:rPr>
            </a:br>
            <a:r>
              <a:rPr lang="en-US" dirty="0">
                <a:solidFill>
                  <a:schemeClr val="bg1"/>
                </a:solidFill>
              </a:rPr>
              <a:t>VS Code</a:t>
            </a:r>
          </a:p>
        </p:txBody>
      </p:sp>
      <p:sp>
        <p:nvSpPr>
          <p:cNvPr id="3" name="Content Placeholder 2">
            <a:extLst>
              <a:ext uri="{FF2B5EF4-FFF2-40B4-BE49-F238E27FC236}">
                <a16:creationId xmlns:a16="http://schemas.microsoft.com/office/drawing/2014/main" id="{B3587A87-E00F-CCFF-8AE5-798038EF0FB3}"/>
              </a:ext>
            </a:extLst>
          </p:cNvPr>
          <p:cNvSpPr>
            <a:spLocks noGrp="1"/>
          </p:cNvSpPr>
          <p:nvPr>
            <p:ph idx="1"/>
          </p:nvPr>
        </p:nvSpPr>
        <p:spPr>
          <a:xfrm>
            <a:off x="505315" y="2160590"/>
            <a:ext cx="2980457" cy="3440110"/>
          </a:xfrm>
        </p:spPr>
        <p:txBody>
          <a:bodyPr>
            <a:normAutofit lnSpcReduction="10000"/>
          </a:bodyPr>
          <a:lstStyle/>
          <a:p>
            <a:pPr marL="0" indent="0">
              <a:buNone/>
            </a:pPr>
            <a:r>
              <a:rPr lang="en-US" sz="1700" dirty="0">
                <a:solidFill>
                  <a:schemeClr val="bg1"/>
                </a:solidFill>
              </a:rPr>
              <a:t>Git CLI and VS Code can both support the same workflow:</a:t>
            </a:r>
          </a:p>
          <a:p>
            <a:pPr marL="0" indent="0">
              <a:buNone/>
            </a:pPr>
            <a:endParaRPr lang="en-US" sz="1700" dirty="0">
              <a:solidFill>
                <a:schemeClr val="bg1"/>
              </a:solidFill>
            </a:endParaRPr>
          </a:p>
          <a:p>
            <a:pPr marL="400050" lvl="1" indent="0">
              <a:buNone/>
            </a:pPr>
            <a:r>
              <a:rPr lang="en-US" sz="1700" i="1" dirty="0">
                <a:solidFill>
                  <a:schemeClr val="bg1"/>
                </a:solidFill>
              </a:rPr>
              <a:t>change files -&gt; </a:t>
            </a:r>
            <a:br>
              <a:rPr lang="en-US" sz="1700" i="1" dirty="0">
                <a:solidFill>
                  <a:schemeClr val="bg1"/>
                </a:solidFill>
              </a:rPr>
            </a:br>
            <a:r>
              <a:rPr lang="en-US" sz="1700" i="1" dirty="0">
                <a:solidFill>
                  <a:schemeClr val="bg1"/>
                </a:solidFill>
              </a:rPr>
              <a:t>review changes -&gt; commit -&gt; </a:t>
            </a:r>
            <a:br>
              <a:rPr lang="en-US" sz="1700" i="1" dirty="0">
                <a:solidFill>
                  <a:schemeClr val="bg1"/>
                </a:solidFill>
              </a:rPr>
            </a:br>
            <a:r>
              <a:rPr lang="en-US" sz="1700" i="1" dirty="0">
                <a:solidFill>
                  <a:schemeClr val="bg1"/>
                </a:solidFill>
              </a:rPr>
              <a:t>push or sync</a:t>
            </a:r>
          </a:p>
          <a:p>
            <a:pPr marL="0" indent="0">
              <a:buNone/>
            </a:pPr>
            <a:endParaRPr lang="en-US" sz="1700" dirty="0">
              <a:solidFill>
                <a:schemeClr val="bg1"/>
              </a:solidFill>
            </a:endParaRPr>
          </a:p>
          <a:p>
            <a:pPr marL="0" indent="0">
              <a:buNone/>
            </a:pPr>
            <a:r>
              <a:rPr lang="en-US" sz="1700" dirty="0">
                <a:solidFill>
                  <a:schemeClr val="bg1"/>
                </a:solidFill>
              </a:rPr>
              <a:t>Use either path (or the one your instructor approves) for the assignment.</a:t>
            </a:r>
          </a:p>
        </p:txBody>
      </p:sp>
      <p:pic>
        <p:nvPicPr>
          <p:cNvPr id="7" name="Graphic 6" descr="Flowchart">
            <a:extLst>
              <a:ext uri="{FF2B5EF4-FFF2-40B4-BE49-F238E27FC236}">
                <a16:creationId xmlns:a16="http://schemas.microsoft.com/office/drawing/2014/main" id="{5FAF9055-8DAA-F834-3AF7-68E5FD6FEE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493930"/>
            <a:ext cx="3857625" cy="3857625"/>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16772" y="401320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018456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F8727-8562-D8F0-BEA6-171FB53A3DAA}"/>
              </a:ext>
            </a:extLst>
          </p:cNvPr>
          <p:cNvSpPr>
            <a:spLocks noGrp="1"/>
          </p:cNvSpPr>
          <p:nvPr>
            <p:ph type="title"/>
          </p:nvPr>
        </p:nvSpPr>
        <p:spPr>
          <a:xfrm>
            <a:off x="2137171" y="609600"/>
            <a:ext cx="4818330" cy="1320800"/>
          </a:xfrm>
        </p:spPr>
        <p:txBody>
          <a:bodyPr>
            <a:normAutofit/>
          </a:bodyPr>
          <a:lstStyle/>
          <a:p>
            <a:r>
              <a:rPr lang="en-US" dirty="0"/>
              <a:t>Setup Verification Checklist</a:t>
            </a:r>
          </a:p>
        </p:txBody>
      </p:sp>
      <p:sp>
        <p:nvSpPr>
          <p:cNvPr id="9" name="Isosceles Triangle 8">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187" y="3822970"/>
            <a:ext cx="372084"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7C086560-3D75-61DD-7AFF-409058155265}"/>
              </a:ext>
              <a:ext uri="{C183D7F6-B498-43B3-948B-1728B52AA6E4}">
                <adec:decorative xmlns:adec="http://schemas.microsoft.com/office/drawing/2017/decorative" val="1"/>
              </a:ext>
            </a:extLst>
          </p:cNvPr>
          <p:cNvPicPr>
            <a:picLocks noChangeAspect="1"/>
          </p:cNvPicPr>
          <p:nvPr/>
        </p:nvPicPr>
        <p:blipFill>
          <a:blip r:embed="rId3"/>
          <a:srcRect l="67600" r="12442" b="-2"/>
          <a:stretch>
            <a:fillRect/>
          </a:stretch>
        </p:blipFill>
        <p:spPr>
          <a:xfrm>
            <a:off x="20" y="1"/>
            <a:ext cx="2050522"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1" name="Isosceles Triangle 10">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201BFA7-6B01-88B8-2E10-1E59EFC14D74}"/>
              </a:ext>
            </a:extLst>
          </p:cNvPr>
          <p:cNvSpPr>
            <a:spLocks noGrp="1"/>
          </p:cNvSpPr>
          <p:nvPr>
            <p:ph idx="1"/>
          </p:nvPr>
        </p:nvSpPr>
        <p:spPr>
          <a:xfrm>
            <a:off x="2137171" y="2160589"/>
            <a:ext cx="4818330" cy="3880773"/>
          </a:xfrm>
        </p:spPr>
        <p:txBody>
          <a:bodyPr>
            <a:normAutofit/>
          </a:bodyPr>
          <a:lstStyle/>
          <a:p>
            <a:pPr marL="0" indent="0">
              <a:buNone/>
            </a:pPr>
            <a:r>
              <a:rPr lang="en-US" dirty="0"/>
              <a:t>Setup checklist:</a:t>
            </a:r>
          </a:p>
          <a:p>
            <a:pPr>
              <a:buFont typeface="Wingdings" panose="05000000000000000000" pitchFamily="2" charset="2"/>
              <a:buChar char="q"/>
            </a:pPr>
            <a:r>
              <a:rPr lang="en-US" dirty="0"/>
              <a:t>Python version command works</a:t>
            </a:r>
          </a:p>
          <a:p>
            <a:pPr>
              <a:buFont typeface="Wingdings" panose="05000000000000000000" pitchFamily="2" charset="2"/>
              <a:buChar char="q"/>
            </a:pPr>
            <a:r>
              <a:rPr lang="en-US" dirty="0"/>
              <a:t>project folder exists</a:t>
            </a:r>
          </a:p>
          <a:p>
            <a:pPr>
              <a:buFont typeface="Wingdings" panose="05000000000000000000" pitchFamily="2" charset="2"/>
              <a:buChar char="q"/>
            </a:pPr>
            <a:r>
              <a:rPr lang="en-US" dirty="0"/>
              <a:t>`.</a:t>
            </a:r>
            <a:r>
              <a:rPr lang="en-US" dirty="0" err="1"/>
              <a:t>venv</a:t>
            </a:r>
            <a:r>
              <a:rPr lang="en-US" dirty="0"/>
              <a:t>` exists</a:t>
            </a:r>
          </a:p>
          <a:p>
            <a:pPr>
              <a:buFont typeface="Wingdings" panose="05000000000000000000" pitchFamily="2" charset="2"/>
              <a:buChar char="q"/>
            </a:pPr>
            <a:r>
              <a:rPr lang="en-US" dirty="0"/>
              <a:t>VS Code opens the folder</a:t>
            </a:r>
          </a:p>
          <a:p>
            <a:pPr>
              <a:buFont typeface="Wingdings" panose="05000000000000000000" pitchFamily="2" charset="2"/>
              <a:buChar char="q"/>
            </a:pPr>
            <a:r>
              <a:rPr lang="en-US" dirty="0"/>
              <a:t>VS Code selects the `.</a:t>
            </a:r>
            <a:r>
              <a:rPr lang="en-US" dirty="0" err="1"/>
              <a:t>venv</a:t>
            </a:r>
            <a:r>
              <a:rPr lang="en-US" dirty="0"/>
              <a:t>` interpreter</a:t>
            </a:r>
          </a:p>
          <a:p>
            <a:pPr>
              <a:buFont typeface="Wingdings" panose="05000000000000000000" pitchFamily="2" charset="2"/>
              <a:buChar char="q"/>
            </a:pPr>
            <a:r>
              <a:rPr lang="en-US" dirty="0"/>
              <a:t>`setup_test.py` runs</a:t>
            </a:r>
          </a:p>
          <a:p>
            <a:pPr>
              <a:buFont typeface="Wingdings" panose="05000000000000000000" pitchFamily="2" charset="2"/>
              <a:buChar char="q"/>
            </a:pPr>
            <a:r>
              <a:rPr lang="en-US" dirty="0"/>
              <a:t>GitHub workflow is understood or ready to practice</a:t>
            </a:r>
          </a:p>
        </p:txBody>
      </p:sp>
    </p:spTree>
    <p:extLst>
      <p:ext uri="{BB962C8B-B14F-4D97-AF65-F5344CB8AC3E}">
        <p14:creationId xmlns:p14="http://schemas.microsoft.com/office/powerpoint/2010/main" val="325545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A481A-7F41-7773-1B23-01FBB7FE91CC}"/>
              </a:ext>
            </a:extLst>
          </p:cNvPr>
          <p:cNvSpPr>
            <a:spLocks noGrp="1"/>
          </p:cNvSpPr>
          <p:nvPr>
            <p:ph type="title"/>
          </p:nvPr>
        </p:nvSpPr>
        <p:spPr>
          <a:xfrm>
            <a:off x="4152550" y="609600"/>
            <a:ext cx="2802951" cy="1320800"/>
          </a:xfrm>
        </p:spPr>
        <p:txBody>
          <a:bodyPr>
            <a:normAutofit/>
          </a:bodyPr>
          <a:lstStyle/>
          <a:p>
            <a:r>
              <a:rPr lang="en-US" sz="2800"/>
              <a:t>Troubleshooting Layers</a:t>
            </a:r>
          </a:p>
        </p:txBody>
      </p:sp>
      <p:sp>
        <p:nvSpPr>
          <p:cNvPr id="3" name="Content Placeholder 2">
            <a:extLst>
              <a:ext uri="{FF2B5EF4-FFF2-40B4-BE49-F238E27FC236}">
                <a16:creationId xmlns:a16="http://schemas.microsoft.com/office/drawing/2014/main" id="{B72F0C49-0EDF-1C4F-1361-4F152BCA902C}"/>
              </a:ext>
            </a:extLst>
          </p:cNvPr>
          <p:cNvSpPr>
            <a:spLocks noGrp="1"/>
          </p:cNvSpPr>
          <p:nvPr>
            <p:ph idx="1"/>
          </p:nvPr>
        </p:nvSpPr>
        <p:spPr>
          <a:xfrm>
            <a:off x="3907172" y="2160589"/>
            <a:ext cx="3048329" cy="3880773"/>
          </a:xfrm>
        </p:spPr>
        <p:txBody>
          <a:bodyPr>
            <a:normAutofit/>
          </a:bodyPr>
          <a:lstStyle/>
          <a:p>
            <a:pPr marL="0" indent="0">
              <a:buNone/>
            </a:pPr>
            <a:r>
              <a:rPr lang="en-US" dirty="0"/>
              <a:t>When setup fails, locate the layer:</a:t>
            </a:r>
          </a:p>
          <a:p>
            <a:r>
              <a:rPr lang="en-US" dirty="0"/>
              <a:t>Python install</a:t>
            </a:r>
          </a:p>
          <a:p>
            <a:r>
              <a:rPr lang="en-US" dirty="0"/>
              <a:t>terminal command</a:t>
            </a:r>
          </a:p>
          <a:p>
            <a:r>
              <a:rPr lang="en-US" dirty="0"/>
              <a:t>project folder</a:t>
            </a:r>
          </a:p>
          <a:p>
            <a:r>
              <a:rPr lang="en-US" dirty="0"/>
              <a:t>`.</a:t>
            </a:r>
            <a:r>
              <a:rPr lang="en-US" dirty="0" err="1"/>
              <a:t>venv</a:t>
            </a:r>
            <a:r>
              <a:rPr lang="en-US" dirty="0"/>
              <a:t>`</a:t>
            </a:r>
          </a:p>
          <a:p>
            <a:r>
              <a:rPr lang="en-US" dirty="0"/>
              <a:t>VS Code interpreter</a:t>
            </a:r>
          </a:p>
          <a:p>
            <a:r>
              <a:rPr lang="en-US" dirty="0"/>
              <a:t>Git or GitHub sign-in</a:t>
            </a:r>
          </a:p>
          <a:p>
            <a:pPr marL="0" indent="0">
              <a:buNone/>
            </a:pPr>
            <a:endParaRPr lang="en-US" dirty="0"/>
          </a:p>
          <a:p>
            <a:pPr marL="0" indent="0">
              <a:buNone/>
            </a:pPr>
            <a:r>
              <a:rPr lang="en-US" dirty="0"/>
              <a:t>Fix one layer at a time.</a:t>
            </a:r>
          </a:p>
        </p:txBody>
      </p:sp>
      <p:pic>
        <p:nvPicPr>
          <p:cNvPr id="13" name="Picture 12">
            <a:extLst>
              <a:ext uri="{FF2B5EF4-FFF2-40B4-BE49-F238E27FC236}">
                <a16:creationId xmlns:a16="http://schemas.microsoft.com/office/drawing/2014/main" id="{9B598EFA-C73A-9F9E-2890-F9BD9A256811}"/>
              </a:ext>
              <a:ext uri="{C183D7F6-B498-43B3-948B-1728B52AA6E4}">
                <adec:decorative xmlns:adec="http://schemas.microsoft.com/office/drawing/2017/decorative" val="1"/>
              </a:ext>
            </a:extLst>
          </p:cNvPr>
          <p:cNvPicPr>
            <a:picLocks noChangeAspect="1"/>
          </p:cNvPicPr>
          <p:nvPr/>
        </p:nvPicPr>
        <p:blipFill>
          <a:blip r:embed="rId3"/>
          <a:srcRect l="35223" r="25394"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8" name="Isosceles Triangle 17">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74875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C9AB-C928-87CD-E630-129F57591BE9}"/>
              </a:ext>
            </a:extLst>
          </p:cNvPr>
          <p:cNvSpPr>
            <a:spLocks noGrp="1"/>
          </p:cNvSpPr>
          <p:nvPr>
            <p:ph type="title"/>
          </p:nvPr>
        </p:nvSpPr>
        <p:spPr>
          <a:xfrm>
            <a:off x="4152550" y="609600"/>
            <a:ext cx="2802951" cy="1320800"/>
          </a:xfrm>
        </p:spPr>
        <p:txBody>
          <a:bodyPr>
            <a:normAutofit/>
          </a:bodyPr>
          <a:lstStyle/>
          <a:p>
            <a:pPr>
              <a:lnSpc>
                <a:spcPct val="90000"/>
              </a:lnSpc>
            </a:pPr>
            <a:r>
              <a:rPr lang="en-US" sz="3100"/>
              <a:t>Ready For First Programs</a:t>
            </a:r>
          </a:p>
        </p:txBody>
      </p:sp>
      <p:sp>
        <p:nvSpPr>
          <p:cNvPr id="3" name="Content Placeholder 2">
            <a:extLst>
              <a:ext uri="{FF2B5EF4-FFF2-40B4-BE49-F238E27FC236}">
                <a16:creationId xmlns:a16="http://schemas.microsoft.com/office/drawing/2014/main" id="{3476FB87-EDB7-3C63-E246-1451E3CF217A}"/>
              </a:ext>
            </a:extLst>
          </p:cNvPr>
          <p:cNvSpPr>
            <a:spLocks noGrp="1"/>
          </p:cNvSpPr>
          <p:nvPr>
            <p:ph idx="1"/>
          </p:nvPr>
        </p:nvSpPr>
        <p:spPr>
          <a:xfrm>
            <a:off x="3907172" y="2160589"/>
            <a:ext cx="3048329" cy="3880773"/>
          </a:xfrm>
        </p:spPr>
        <p:txBody>
          <a:bodyPr>
            <a:normAutofit/>
          </a:bodyPr>
          <a:lstStyle/>
          <a:p>
            <a:pPr marL="0" indent="0">
              <a:buNone/>
            </a:pPr>
            <a:r>
              <a:rPr lang="en-US" dirty="0"/>
              <a:t>You are ready for Week 1 coding when:</a:t>
            </a:r>
          </a:p>
          <a:p>
            <a:r>
              <a:rPr lang="en-US" dirty="0"/>
              <a:t>Python runs</a:t>
            </a:r>
          </a:p>
          <a:p>
            <a:r>
              <a:rPr lang="en-US" dirty="0"/>
              <a:t>VS Code opens your project</a:t>
            </a:r>
          </a:p>
          <a:p>
            <a:r>
              <a:rPr lang="en-US" dirty="0"/>
              <a:t>`.</a:t>
            </a:r>
            <a:r>
              <a:rPr lang="en-US" dirty="0" err="1"/>
              <a:t>venv</a:t>
            </a:r>
            <a:r>
              <a:rPr lang="en-US" dirty="0"/>
              <a:t>` is available</a:t>
            </a:r>
          </a:p>
          <a:p>
            <a:r>
              <a:rPr lang="en-US" dirty="0"/>
              <a:t>a tiny `.</a:t>
            </a:r>
            <a:r>
              <a:rPr lang="en-US" dirty="0" err="1"/>
              <a:t>py</a:t>
            </a:r>
            <a:r>
              <a:rPr lang="en-US" dirty="0"/>
              <a:t>` file prints output</a:t>
            </a:r>
          </a:p>
          <a:p>
            <a:r>
              <a:rPr lang="en-US" dirty="0"/>
              <a:t>your submission path is clear</a:t>
            </a:r>
          </a:p>
        </p:txBody>
      </p:sp>
      <p:pic>
        <p:nvPicPr>
          <p:cNvPr id="5" name="Picture 4">
            <a:extLst>
              <a:ext uri="{FF2B5EF4-FFF2-40B4-BE49-F238E27FC236}">
                <a16:creationId xmlns:a16="http://schemas.microsoft.com/office/drawing/2014/main" id="{5B84F74F-7F9C-2DD5-8406-F16B080293B7}"/>
              </a:ext>
              <a:ext uri="{C183D7F6-B498-43B3-948B-1728B52AA6E4}">
                <adec:decorative xmlns:adec="http://schemas.microsoft.com/office/drawing/2017/decorative" val="1"/>
              </a:ext>
            </a:extLst>
          </p:cNvPr>
          <p:cNvPicPr>
            <a:picLocks noChangeAspect="1"/>
          </p:cNvPicPr>
          <p:nvPr/>
        </p:nvPicPr>
        <p:blipFill>
          <a:blip r:embed="rId3"/>
          <a:srcRect l="55256" r="5361"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726251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7" name="Picture 6">
            <a:extLst>
              <a:ext uri="{FF2B5EF4-FFF2-40B4-BE49-F238E27FC236}">
                <a16:creationId xmlns:a16="http://schemas.microsoft.com/office/drawing/2014/main" id="{3F92D707-4F6F-1707-563F-DAA7E83D0FDA}"/>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34257526-B660-46EC-83FB-51CCCEF4D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Parallelogram 25">
            <a:extLst>
              <a:ext uri="{FF2B5EF4-FFF2-40B4-BE49-F238E27FC236}">
                <a16:creationId xmlns:a16="http://schemas.microsoft.com/office/drawing/2014/main" id="{5E54613B-CC3A-459D-97E1-23B891DE9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0B21385D-063D-42D0-BD60-907E9F826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21B275-E6A3-4146-9F5F-5CD28092A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28E190A5-6423-4EE2-AF46-8B82F34BC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5">
            <a:extLst>
              <a:ext uri="{FF2B5EF4-FFF2-40B4-BE49-F238E27FC236}">
                <a16:creationId xmlns:a16="http://schemas.microsoft.com/office/drawing/2014/main" id="{4A97AE97-5706-400B-8F09-602A25EA1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Isosceles Triangle 35">
            <a:extLst>
              <a:ext uri="{FF2B5EF4-FFF2-40B4-BE49-F238E27FC236}">
                <a16:creationId xmlns:a16="http://schemas.microsoft.com/office/drawing/2014/main" id="{0860785A-BE10-40E0-8A0F-805CD3F59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3528150" y="1678665"/>
            <a:ext cx="3672052" cy="2369131"/>
          </a:xfrm>
        </p:spPr>
        <p:txBody>
          <a:bodyPr vert="horz" lIns="91440" tIns="45720" rIns="91440" bIns="45720" rtlCol="0" anchor="b">
            <a:normAutofit fontScale="90000"/>
          </a:bodyPr>
          <a:lstStyle/>
          <a:p>
            <a:pPr algn="r"/>
            <a:r>
              <a:rPr lang="en-US" sz="5400" dirty="0"/>
              <a:t>Demo/</a:t>
            </a:r>
            <a:br>
              <a:rPr lang="en-US" sz="5400" dirty="0"/>
            </a:br>
            <a:r>
              <a:rPr lang="en-US" sz="5400" dirty="0"/>
              <a:t>Walkthrough</a:t>
            </a:r>
          </a:p>
        </p:txBody>
      </p:sp>
      <p:sp>
        <p:nvSpPr>
          <p:cNvPr id="38" name="Rectangle 27">
            <a:extLst>
              <a:ext uri="{FF2B5EF4-FFF2-40B4-BE49-F238E27FC236}">
                <a16:creationId xmlns:a16="http://schemas.microsoft.com/office/drawing/2014/main" id="{2CD66695-C096-4E32-9AC2-19B4EFD6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8">
            <a:extLst>
              <a:ext uri="{FF2B5EF4-FFF2-40B4-BE49-F238E27FC236}">
                <a16:creationId xmlns:a16="http://schemas.microsoft.com/office/drawing/2014/main" id="{A97E83CA-07FA-4B94-A213-9E6DA6FA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29">
            <a:extLst>
              <a:ext uri="{FF2B5EF4-FFF2-40B4-BE49-F238E27FC236}">
                <a16:creationId xmlns:a16="http://schemas.microsoft.com/office/drawing/2014/main" id="{A531E02F-6391-4B0C-B1E1-D67E8EFC4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Isosceles Triangle 43">
            <a:extLst>
              <a:ext uri="{FF2B5EF4-FFF2-40B4-BE49-F238E27FC236}">
                <a16:creationId xmlns:a16="http://schemas.microsoft.com/office/drawing/2014/main" id="{568558EC-35CA-4EC8-BB31-75AB78ACA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57892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p:txBody>
          <a:bodyPr/>
          <a:lstStyle/>
          <a:p>
            <a:r>
              <a:rPr lang="en-US" dirty="0"/>
              <a:t>Demo / Walkthrough Notes</a:t>
            </a:r>
            <a:br>
              <a:rPr lang="en-US" dirty="0"/>
            </a:br>
            <a:r>
              <a:rPr lang="en-US" sz="2800" dirty="0"/>
              <a:t>(Review)</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609598" y="2160590"/>
            <a:ext cx="7162801" cy="3880773"/>
          </a:xfrm>
        </p:spPr>
        <p:txBody>
          <a:bodyPr>
            <a:normAutofit fontScale="92500" lnSpcReduction="20000"/>
          </a:bodyPr>
          <a:lstStyle/>
          <a:p>
            <a:pPr marL="0" indent="0">
              <a:buNone/>
            </a:pPr>
            <a:r>
              <a:rPr lang="en-US" dirty="0"/>
              <a:t>1. Open `python.org/downloads/`.</a:t>
            </a:r>
          </a:p>
          <a:p>
            <a:pPr marL="0" indent="0">
              <a:buNone/>
            </a:pPr>
            <a:r>
              <a:rPr lang="en-US" dirty="0"/>
              <a:t>2. Show the latest stable Python release.</a:t>
            </a:r>
          </a:p>
          <a:p>
            <a:pPr marL="0" indent="0">
              <a:buNone/>
            </a:pPr>
            <a:r>
              <a:rPr lang="en-US" dirty="0"/>
              <a:t>3. Install or verify Python.</a:t>
            </a:r>
          </a:p>
          <a:p>
            <a:pPr marL="0" indent="0">
              <a:buNone/>
            </a:pPr>
            <a:r>
              <a:rPr lang="en-US" dirty="0"/>
              <a:t>4. Run version checks in PowerShell.</a:t>
            </a:r>
          </a:p>
          <a:p>
            <a:pPr marL="0" indent="0">
              <a:buNone/>
            </a:pPr>
            <a:r>
              <a:rPr lang="en-US" dirty="0"/>
              <a:t>5. Create a project folder.</a:t>
            </a:r>
          </a:p>
          <a:p>
            <a:pPr marL="0" indent="0">
              <a:buNone/>
            </a:pPr>
            <a:r>
              <a:rPr lang="en-US" dirty="0"/>
              <a:t>6. Create `.</a:t>
            </a:r>
            <a:r>
              <a:rPr lang="en-US" dirty="0" err="1"/>
              <a:t>venv</a:t>
            </a:r>
            <a:r>
              <a:rPr lang="en-US" dirty="0"/>
              <a:t>`.</a:t>
            </a:r>
          </a:p>
          <a:p>
            <a:pPr marL="0" indent="0">
              <a:buNone/>
            </a:pPr>
            <a:r>
              <a:rPr lang="en-US" dirty="0"/>
              <a:t>7. Open VS Code.</a:t>
            </a:r>
          </a:p>
          <a:p>
            <a:pPr marL="0" indent="0">
              <a:buNone/>
            </a:pPr>
            <a:r>
              <a:rPr lang="en-US" dirty="0"/>
              <a:t>8. Install Python-related extensions.</a:t>
            </a:r>
          </a:p>
          <a:p>
            <a:pPr marL="0" indent="0">
              <a:buNone/>
            </a:pPr>
            <a:r>
              <a:rPr lang="en-US" dirty="0"/>
              <a:t>9. Select the `.</a:t>
            </a:r>
            <a:r>
              <a:rPr lang="en-US" dirty="0" err="1"/>
              <a:t>venv</a:t>
            </a:r>
            <a:r>
              <a:rPr lang="en-US" dirty="0"/>
              <a:t>` interpreter.</a:t>
            </a:r>
          </a:p>
          <a:p>
            <a:pPr marL="0" indent="0">
              <a:buNone/>
            </a:pPr>
            <a:r>
              <a:rPr lang="en-US" dirty="0"/>
              <a:t>10. Run `setup_test.py`.</a:t>
            </a:r>
          </a:p>
          <a:p>
            <a:pPr marL="0" indent="0">
              <a:buNone/>
            </a:pPr>
            <a:r>
              <a:rPr lang="en-US" dirty="0"/>
              <a:t>11. Source Control and GitHub extension locations in VS Code.</a:t>
            </a:r>
          </a:p>
        </p:txBody>
      </p:sp>
    </p:spTree>
    <p:extLst>
      <p:ext uri="{BB962C8B-B14F-4D97-AF65-F5344CB8AC3E}">
        <p14:creationId xmlns:p14="http://schemas.microsoft.com/office/powerpoint/2010/main" val="1802641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Your Turn</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sz="1500"/>
              <a:t>Install Python</a:t>
            </a:r>
          </a:p>
          <a:p>
            <a:pPr marL="0" indent="0">
              <a:lnSpc>
                <a:spcPct val="90000"/>
              </a:lnSpc>
              <a:buNone/>
            </a:pPr>
            <a:r>
              <a:rPr lang="en-US" sz="1500"/>
              <a:t>Run version checks</a:t>
            </a:r>
          </a:p>
          <a:p>
            <a:pPr marL="0" indent="0">
              <a:lnSpc>
                <a:spcPct val="90000"/>
              </a:lnSpc>
              <a:buNone/>
            </a:pPr>
            <a:r>
              <a:rPr lang="en-US" sz="1500"/>
              <a:t>Install VS Code if needed</a:t>
            </a:r>
          </a:p>
          <a:p>
            <a:pPr marL="0" indent="0">
              <a:lnSpc>
                <a:spcPct val="90000"/>
              </a:lnSpc>
              <a:buNone/>
            </a:pPr>
            <a:r>
              <a:rPr lang="en-US" sz="1500"/>
              <a:t>Setup Project Folders</a:t>
            </a:r>
          </a:p>
          <a:p>
            <a:pPr marL="0" indent="0">
              <a:lnSpc>
                <a:spcPct val="90000"/>
              </a:lnSpc>
              <a:buNone/>
            </a:pPr>
            <a:r>
              <a:rPr lang="en-US" sz="1500"/>
              <a:t>Create .</a:t>
            </a:r>
            <a:r>
              <a:rPr lang="en-US" sz="1500" err="1"/>
              <a:t>venv</a:t>
            </a:r>
            <a:endParaRPr lang="en-US" sz="1500"/>
          </a:p>
          <a:p>
            <a:pPr marL="0" indent="0">
              <a:lnSpc>
                <a:spcPct val="90000"/>
              </a:lnSpc>
              <a:buNone/>
            </a:pPr>
            <a:r>
              <a:rPr lang="en-US" sz="1500"/>
              <a:t>Open VS Code</a:t>
            </a:r>
          </a:p>
          <a:p>
            <a:pPr marL="0" indent="0">
              <a:lnSpc>
                <a:spcPct val="90000"/>
              </a:lnSpc>
              <a:buNone/>
            </a:pPr>
            <a:r>
              <a:rPr lang="en-US" sz="1500"/>
              <a:t>Install Extensions</a:t>
            </a:r>
          </a:p>
          <a:p>
            <a:pPr marL="0" indent="0">
              <a:lnSpc>
                <a:spcPct val="90000"/>
              </a:lnSpc>
              <a:buNone/>
            </a:pPr>
            <a:r>
              <a:rPr lang="en-US" sz="1500"/>
              <a:t>Select the interpreter</a:t>
            </a:r>
          </a:p>
          <a:p>
            <a:pPr marL="0" indent="0">
              <a:lnSpc>
                <a:spcPct val="90000"/>
              </a:lnSpc>
              <a:buNone/>
            </a:pPr>
            <a:r>
              <a:rPr lang="en-US" sz="1500"/>
              <a:t>Run `setup_test.py`</a:t>
            </a:r>
          </a:p>
          <a:p>
            <a:pPr marL="0" indent="0">
              <a:lnSpc>
                <a:spcPct val="90000"/>
              </a:lnSpc>
              <a:buNone/>
            </a:pPr>
            <a:r>
              <a:rPr lang="en-US" sz="1500"/>
              <a:t>Initialize git locally</a:t>
            </a:r>
          </a:p>
          <a:p>
            <a:pPr marL="0" indent="0">
              <a:lnSpc>
                <a:spcPct val="90000"/>
              </a:lnSpc>
              <a:buNone/>
            </a:pPr>
            <a:r>
              <a:rPr lang="en-US" sz="1500"/>
              <a:t>Commit your change(s)</a:t>
            </a:r>
          </a:p>
        </p:txBody>
      </p:sp>
      <p:pic>
        <p:nvPicPr>
          <p:cNvPr id="5" name="Picture 4" descr="A row of samples for medical testing">
            <a:extLst>
              <a:ext uri="{FF2B5EF4-FFF2-40B4-BE49-F238E27FC236}">
                <a16:creationId xmlns:a16="http://schemas.microsoft.com/office/drawing/2014/main" id="{5406C1C5-46D3-5662-C887-3DA2319E776C}"/>
              </a:ext>
            </a:extLst>
          </p:cNvPr>
          <p:cNvPicPr>
            <a:picLocks noChangeAspect="1"/>
          </p:cNvPicPr>
          <p:nvPr/>
        </p:nvPicPr>
        <p:blipFill>
          <a:blip r:embed="rId3"/>
          <a:srcRect l="51361" r="43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34720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152550" y="609600"/>
            <a:ext cx="2802951" cy="1320800"/>
          </a:xfrm>
        </p:spPr>
        <p:txBody>
          <a:bodyPr>
            <a:normAutofit/>
          </a:bodyPr>
          <a:lstStyle/>
          <a:p>
            <a:r>
              <a:rPr lang="en-US" dirty="0"/>
              <a:t>Setup Evidence</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3907172" y="2160589"/>
            <a:ext cx="4046200" cy="3880773"/>
          </a:xfrm>
        </p:spPr>
        <p:txBody>
          <a:bodyPr>
            <a:normAutofit fontScale="77500" lnSpcReduction="20000"/>
          </a:bodyPr>
          <a:lstStyle/>
          <a:p>
            <a:pPr marL="0" indent="0">
              <a:buNone/>
            </a:pPr>
            <a:r>
              <a:rPr lang="en-US" dirty="0"/>
              <a:t>Recommended evidence:</a:t>
            </a:r>
          </a:p>
          <a:p>
            <a:r>
              <a:rPr lang="en-US" dirty="0"/>
              <a:t>screenshot or copied terminal text showing Python version</a:t>
            </a:r>
          </a:p>
          <a:p>
            <a:r>
              <a:rPr lang="en-US" dirty="0"/>
              <a:t>screenshot or note showing `.</a:t>
            </a:r>
            <a:r>
              <a:rPr lang="en-US" dirty="0" err="1"/>
              <a:t>venv</a:t>
            </a:r>
            <a:r>
              <a:rPr lang="en-US" dirty="0"/>
              <a:t>` exists</a:t>
            </a:r>
          </a:p>
          <a:p>
            <a:r>
              <a:rPr lang="en-US" dirty="0"/>
              <a:t>screenshot or copied output from `setup_test.py`</a:t>
            </a:r>
          </a:p>
          <a:p>
            <a:r>
              <a:rPr lang="en-US" dirty="0"/>
              <a:t>confirmation that VS Code selected the `.</a:t>
            </a:r>
            <a:r>
              <a:rPr lang="en-US" dirty="0" err="1"/>
              <a:t>venv</a:t>
            </a:r>
            <a:r>
              <a:rPr lang="en-US" dirty="0"/>
              <a:t>` interpreter</a:t>
            </a:r>
          </a:p>
          <a:p>
            <a:r>
              <a:rPr lang="en-US" dirty="0"/>
              <a:t>confirmation of local git, GitHub sign-in, or instructor-approved submission path</a:t>
            </a:r>
          </a:p>
          <a:p>
            <a:pPr marL="0" indent="0">
              <a:buNone/>
            </a:pPr>
            <a:endParaRPr lang="en-US" dirty="0"/>
          </a:p>
          <a:p>
            <a:pPr marL="0" indent="0">
              <a:buNone/>
            </a:pPr>
            <a:r>
              <a:rPr lang="en-US" i="1" dirty="0"/>
              <a:t>Keep this as setup evidence only or for troubleshooting. </a:t>
            </a:r>
            <a:br>
              <a:rPr lang="en-US" dirty="0"/>
            </a:br>
            <a:br>
              <a:rPr lang="en-US" dirty="0"/>
            </a:br>
            <a:r>
              <a:rPr lang="en-US" dirty="0"/>
              <a:t>This is NOT graded.</a:t>
            </a:r>
          </a:p>
        </p:txBody>
      </p:sp>
      <p:pic>
        <p:nvPicPr>
          <p:cNvPr id="5" name="Picture 4">
            <a:extLst>
              <a:ext uri="{FF2B5EF4-FFF2-40B4-BE49-F238E27FC236}">
                <a16:creationId xmlns:a16="http://schemas.microsoft.com/office/drawing/2014/main" id="{0A8CDE13-EC6E-831B-0134-AE933CD2D134}"/>
              </a:ext>
              <a:ext uri="{C183D7F6-B498-43B3-948B-1728B52AA6E4}">
                <adec:decorative xmlns:adec="http://schemas.microsoft.com/office/drawing/2017/decorative" val="1"/>
              </a:ext>
            </a:extLst>
          </p:cNvPr>
          <p:cNvPicPr>
            <a:picLocks noChangeAspect="1"/>
          </p:cNvPicPr>
          <p:nvPr/>
        </p:nvPicPr>
        <p:blipFill>
          <a:blip r:embed="rId3"/>
          <a:srcRect l="21430" r="39188"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332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4271190"/>
          </a:xfrm>
        </p:spPr>
        <p:txBody>
          <a:bodyPr vert="horz" lIns="91440" tIns="45720" rIns="91440" bIns="45720" rtlCol="0" anchor="b">
            <a:normAutofit/>
          </a:bodyPr>
          <a:lstStyle/>
          <a:p>
            <a:pPr>
              <a:lnSpc>
                <a:spcPct val="90000"/>
              </a:lnSpc>
            </a:pPr>
            <a:r>
              <a:rPr lang="en-US" sz="4800" dirty="0"/>
              <a:t>Great!</a:t>
            </a:r>
            <a:br>
              <a:rPr lang="en-US" sz="4800" dirty="0"/>
            </a:br>
            <a:br>
              <a:rPr lang="en-US" sz="4800" dirty="0"/>
            </a:br>
            <a:r>
              <a:rPr lang="en-US" sz="4800" dirty="0"/>
              <a:t>Now let’s start the class!</a:t>
            </a:r>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9393</TotalTime>
  <Words>3036</Words>
  <Application>Microsoft Office PowerPoint</Application>
  <PresentationFormat>On-screen Show (4:3)</PresentationFormat>
  <Paragraphs>454</Paragraphs>
  <Slides>42</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Trebuchet MS</vt:lpstr>
      <vt:lpstr>Wingdings</vt:lpstr>
      <vt:lpstr>Wingdings 3</vt:lpstr>
      <vt:lpstr>Facet</vt:lpstr>
      <vt:lpstr>Python Programming Foundations</vt:lpstr>
      <vt:lpstr>Setup Is Part Of The Course</vt:lpstr>
      <vt:lpstr>Setup Path</vt:lpstr>
      <vt:lpstr>What Success Look Like</vt:lpstr>
      <vt:lpstr>What We Will Use Today</vt:lpstr>
      <vt:lpstr>What We Will “Skip” For Now</vt:lpstr>
      <vt:lpstr>Download Python</vt:lpstr>
      <vt:lpstr>Windows – Two options</vt:lpstr>
      <vt:lpstr>New: Python Install Manager</vt:lpstr>
      <vt:lpstr>Install Python</vt:lpstr>
      <vt:lpstr>Verify Python</vt:lpstr>
      <vt:lpstr>Version Boundary</vt:lpstr>
      <vt:lpstr>Create A Course Folder</vt:lpstr>
      <vt:lpstr>What A Virtual Environment Does</vt:lpstr>
      <vt:lpstr>Create `.venv`</vt:lpstr>
      <vt:lpstr>Activate `.venv` In PowerShell</vt:lpstr>
      <vt:lpstr>Why `.venv` Matters Later</vt:lpstr>
      <vt:lpstr>Install Visual Studio Code</vt:lpstr>
      <vt:lpstr>Difference between VS Code and Visual Studio</vt:lpstr>
      <vt:lpstr>Download VS Code</vt:lpstr>
      <vt:lpstr>VS Code Extensions</vt:lpstr>
      <vt:lpstr>Install Python Extensions</vt:lpstr>
      <vt:lpstr>Install Python Extensions</vt:lpstr>
      <vt:lpstr>Install Optional Additional Extensions</vt:lpstr>
      <vt:lpstr>Select The Python Interpreter</vt:lpstr>
      <vt:lpstr>VS Code And `.venv`</vt:lpstr>
      <vt:lpstr>Run A Test File</vt:lpstr>
      <vt:lpstr>GitHub Submission Paths</vt:lpstr>
      <vt:lpstr>Source Control In VS Code</vt:lpstr>
      <vt:lpstr>Git Install for Windows</vt:lpstr>
      <vt:lpstr>Initialize git for your project(s)</vt:lpstr>
      <vt:lpstr>GitHub Extensions</vt:lpstr>
      <vt:lpstr>GitHub Vocabulary</vt:lpstr>
      <vt:lpstr>CLI Or  VS Code</vt:lpstr>
      <vt:lpstr>Setup Verification Checklist</vt:lpstr>
      <vt:lpstr>Troubleshooting Layers</vt:lpstr>
      <vt:lpstr>Ready For First Programs</vt:lpstr>
      <vt:lpstr>Demo/ Walkthrough</vt:lpstr>
      <vt:lpstr>Demo / Walkthrough Notes (Review)</vt:lpstr>
      <vt:lpstr>Your Turn</vt:lpstr>
      <vt:lpstr>Setup Evidence</vt:lpstr>
      <vt:lpstr>Great!  Now let’s start the class!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132</cp:revision>
  <dcterms:created xsi:type="dcterms:W3CDTF">2013-01-27T09:14:16Z</dcterms:created>
  <dcterms:modified xsi:type="dcterms:W3CDTF">2026-06-16T14:51:52Z</dcterms:modified>
  <cp:category/>
</cp:coreProperties>
</file>