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notesMasterIdLst>
    <p:notesMasterId r:id="rId43"/>
  </p:notesMasterIdLst>
  <p:handoutMasterIdLst>
    <p:handoutMasterId r:id="rId44"/>
  </p:handoutMasterIdLst>
  <p:sldIdLst>
    <p:sldId id="256" r:id="rId2"/>
    <p:sldId id="467" r:id="rId3"/>
    <p:sldId id="465" r:id="rId4"/>
    <p:sldId id="323" r:id="rId5"/>
    <p:sldId id="260" r:id="rId6"/>
    <p:sldId id="364" r:id="rId7"/>
    <p:sldId id="377" r:id="rId8"/>
    <p:sldId id="489" r:id="rId9"/>
    <p:sldId id="490" r:id="rId10"/>
    <p:sldId id="468" r:id="rId11"/>
    <p:sldId id="469" r:id="rId12"/>
    <p:sldId id="470" r:id="rId13"/>
    <p:sldId id="473" r:id="rId14"/>
    <p:sldId id="471" r:id="rId15"/>
    <p:sldId id="472" r:id="rId16"/>
    <p:sldId id="474" r:id="rId17"/>
    <p:sldId id="475" r:id="rId18"/>
    <p:sldId id="476" r:id="rId19"/>
    <p:sldId id="491" r:id="rId20"/>
    <p:sldId id="493" r:id="rId21"/>
    <p:sldId id="492" r:id="rId22"/>
    <p:sldId id="477" r:id="rId23"/>
    <p:sldId id="494" r:id="rId24"/>
    <p:sldId id="478" r:id="rId25"/>
    <p:sldId id="479" r:id="rId26"/>
    <p:sldId id="480" r:id="rId27"/>
    <p:sldId id="481" r:id="rId28"/>
    <p:sldId id="482" r:id="rId29"/>
    <p:sldId id="483" r:id="rId30"/>
    <p:sldId id="484" r:id="rId31"/>
    <p:sldId id="485" r:id="rId32"/>
    <p:sldId id="486" r:id="rId33"/>
    <p:sldId id="487" r:id="rId34"/>
    <p:sldId id="488" r:id="rId35"/>
    <p:sldId id="463" r:id="rId36"/>
    <p:sldId id="378" r:id="rId37"/>
    <p:sldId id="418" r:id="rId38"/>
    <p:sldId id="307" r:id="rId39"/>
    <p:sldId id="375" r:id="rId40"/>
    <p:sldId id="320" r:id="rId41"/>
    <p:sldId id="417" r:id="rId4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10" autoAdjust="0"/>
    <p:restoredTop sz="68900" autoAdjust="0"/>
  </p:normalViewPr>
  <p:slideViewPr>
    <p:cSldViewPr snapToGrid="0" snapToObjects="1">
      <p:cViewPr varScale="1">
        <p:scale>
          <a:sx n="73" d="100"/>
          <a:sy n="73" d="100"/>
        </p:scale>
        <p:origin x="2646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15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80" d="100"/>
          <a:sy n="80" d="100"/>
        </p:scale>
        <p:origin x="4002" y="11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8972B69-4B4F-436A-B547-1FADC4FB29B4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A75A4D4B-BFE9-4B6F-9A81-9F9C96F5DA38}">
      <dgm:prSet/>
      <dgm:spPr/>
      <dgm:t>
        <a:bodyPr/>
        <a:lstStyle/>
        <a:p>
          <a:r>
            <a:rPr lang="en-US" dirty="0"/>
            <a:t>check your Python version</a:t>
          </a:r>
        </a:p>
      </dgm:t>
    </dgm:pt>
    <dgm:pt modelId="{4FAABBF4-AB55-44FE-B6F0-B4BF829D004F}" type="parTrans" cxnId="{7F9DA8A4-8191-4121-8DA1-F0552EB3E440}">
      <dgm:prSet/>
      <dgm:spPr/>
      <dgm:t>
        <a:bodyPr/>
        <a:lstStyle/>
        <a:p>
          <a:endParaRPr lang="en-US"/>
        </a:p>
      </dgm:t>
    </dgm:pt>
    <dgm:pt modelId="{7E1354BB-EC61-4A45-99C9-75C6202CC56A}" type="sibTrans" cxnId="{7F9DA8A4-8191-4121-8DA1-F0552EB3E440}">
      <dgm:prSet/>
      <dgm:spPr/>
      <dgm:t>
        <a:bodyPr/>
        <a:lstStyle/>
        <a:p>
          <a:endParaRPr lang="en-US"/>
        </a:p>
      </dgm:t>
    </dgm:pt>
    <dgm:pt modelId="{6B04A7CB-C700-464E-B6C5-E124426C1D04}">
      <dgm:prSet/>
      <dgm:spPr/>
      <dgm:t>
        <a:bodyPr/>
        <a:lstStyle/>
        <a:p>
          <a:r>
            <a:rPr lang="en-US" dirty="0"/>
            <a:t>open a project in VS Code</a:t>
          </a:r>
        </a:p>
      </dgm:t>
    </dgm:pt>
    <dgm:pt modelId="{EE4CE0B4-A959-4FEB-A47D-02B4B36B8543}" type="parTrans" cxnId="{A553FF19-4E0A-4369-AE76-FB5D41AF2E2B}">
      <dgm:prSet/>
      <dgm:spPr/>
      <dgm:t>
        <a:bodyPr/>
        <a:lstStyle/>
        <a:p>
          <a:endParaRPr lang="en-US"/>
        </a:p>
      </dgm:t>
    </dgm:pt>
    <dgm:pt modelId="{AD6FD74D-156F-443C-AF13-6E1065C63C4C}" type="sibTrans" cxnId="{A553FF19-4E0A-4369-AE76-FB5D41AF2E2B}">
      <dgm:prSet/>
      <dgm:spPr/>
      <dgm:t>
        <a:bodyPr/>
        <a:lstStyle/>
        <a:p>
          <a:endParaRPr lang="en-US"/>
        </a:p>
      </dgm:t>
    </dgm:pt>
    <dgm:pt modelId="{AF3CD49F-45BD-4C8C-9816-ED5C4621F185}">
      <dgm:prSet/>
      <dgm:spPr/>
      <dgm:t>
        <a:bodyPr/>
        <a:lstStyle/>
        <a:p>
          <a:r>
            <a:rPr lang="en-US" dirty="0"/>
            <a:t>select a `.venv` interpreter</a:t>
          </a:r>
        </a:p>
      </dgm:t>
    </dgm:pt>
    <dgm:pt modelId="{07D48F9E-E828-497B-9198-CE0A62FA3407}" type="parTrans" cxnId="{A21D296C-E3A0-415F-9695-5C82D6B79739}">
      <dgm:prSet/>
      <dgm:spPr/>
      <dgm:t>
        <a:bodyPr/>
        <a:lstStyle/>
        <a:p>
          <a:endParaRPr lang="en-US"/>
        </a:p>
      </dgm:t>
    </dgm:pt>
    <dgm:pt modelId="{FBA33EBD-03C8-4F64-AB44-D7FE52D4EBCC}" type="sibTrans" cxnId="{A21D296C-E3A0-415F-9695-5C82D6B79739}">
      <dgm:prSet/>
      <dgm:spPr/>
      <dgm:t>
        <a:bodyPr/>
        <a:lstStyle/>
        <a:p>
          <a:endParaRPr lang="en-US"/>
        </a:p>
      </dgm:t>
    </dgm:pt>
    <dgm:pt modelId="{2CD66D1D-2E27-4719-AB41-66A0C54CF10F}">
      <dgm:prSet/>
      <dgm:spPr/>
      <dgm:t>
        <a:bodyPr/>
        <a:lstStyle/>
        <a:p>
          <a:r>
            <a:rPr lang="en-US" dirty="0"/>
            <a:t>run a small `.py` file</a:t>
          </a:r>
        </a:p>
      </dgm:t>
    </dgm:pt>
    <dgm:pt modelId="{001A47BD-BE7E-4F09-B025-3B50528DBC00}" type="parTrans" cxnId="{2689F4C3-11F3-4FDC-9D74-FD19A4AD1487}">
      <dgm:prSet/>
      <dgm:spPr/>
      <dgm:t>
        <a:bodyPr/>
        <a:lstStyle/>
        <a:p>
          <a:endParaRPr lang="en-US"/>
        </a:p>
      </dgm:t>
    </dgm:pt>
    <dgm:pt modelId="{708394C9-C0B2-4046-A5F1-1F30492AB4F4}" type="sibTrans" cxnId="{2689F4C3-11F3-4FDC-9D74-FD19A4AD1487}">
      <dgm:prSet/>
      <dgm:spPr/>
      <dgm:t>
        <a:bodyPr/>
        <a:lstStyle/>
        <a:p>
          <a:endParaRPr lang="en-US"/>
        </a:p>
      </dgm:t>
    </dgm:pt>
    <dgm:pt modelId="{0FB0F516-42EF-4A91-8310-C1E43E87F992}">
      <dgm:prSet/>
      <dgm:spPr/>
      <dgm:t>
        <a:bodyPr/>
        <a:lstStyle/>
        <a:p>
          <a:r>
            <a:rPr lang="en-US" dirty="0"/>
            <a:t>see your code in GitHub or prepare it for submission</a:t>
          </a:r>
        </a:p>
      </dgm:t>
    </dgm:pt>
    <dgm:pt modelId="{E739AA11-51EB-49BB-90AA-B988B4A3432C}" type="parTrans" cxnId="{F14E51A4-2492-40B2-AAD0-9B2106337180}">
      <dgm:prSet/>
      <dgm:spPr/>
      <dgm:t>
        <a:bodyPr/>
        <a:lstStyle/>
        <a:p>
          <a:endParaRPr lang="en-US"/>
        </a:p>
      </dgm:t>
    </dgm:pt>
    <dgm:pt modelId="{D23D8479-DA8F-4AFC-9B53-F6CD55C61003}" type="sibTrans" cxnId="{F14E51A4-2492-40B2-AAD0-9B2106337180}">
      <dgm:prSet/>
      <dgm:spPr/>
      <dgm:t>
        <a:bodyPr/>
        <a:lstStyle/>
        <a:p>
          <a:endParaRPr lang="en-US"/>
        </a:p>
      </dgm:t>
    </dgm:pt>
    <dgm:pt modelId="{C74AEAA8-95AA-4DD2-B5BF-AF2613DDA678}" type="pres">
      <dgm:prSet presAssocID="{A8972B69-4B4F-436A-B547-1FADC4FB29B4}" presName="linear" presStyleCnt="0">
        <dgm:presLayoutVars>
          <dgm:animLvl val="lvl"/>
          <dgm:resizeHandles val="exact"/>
        </dgm:presLayoutVars>
      </dgm:prSet>
      <dgm:spPr/>
    </dgm:pt>
    <dgm:pt modelId="{C717DEE2-2529-4048-A027-0347422F7B4B}" type="pres">
      <dgm:prSet presAssocID="{A75A4D4B-BFE9-4B6F-9A81-9F9C96F5DA38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4287A08D-B1A3-4BC4-BB02-712CE914270A}" type="pres">
      <dgm:prSet presAssocID="{7E1354BB-EC61-4A45-99C9-75C6202CC56A}" presName="spacer" presStyleCnt="0"/>
      <dgm:spPr/>
    </dgm:pt>
    <dgm:pt modelId="{41229791-62FC-4F0A-AD8A-9B4EE560E502}" type="pres">
      <dgm:prSet presAssocID="{6B04A7CB-C700-464E-B6C5-E124426C1D04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0D5DCE93-996F-4A6C-9D69-1606AE4ACE5A}" type="pres">
      <dgm:prSet presAssocID="{AD6FD74D-156F-443C-AF13-6E1065C63C4C}" presName="spacer" presStyleCnt="0"/>
      <dgm:spPr/>
    </dgm:pt>
    <dgm:pt modelId="{03D9F129-E56A-42FF-827E-811C90871217}" type="pres">
      <dgm:prSet presAssocID="{AF3CD49F-45BD-4C8C-9816-ED5C4621F185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A47CD782-9FE5-49C5-854A-DC34BCD34807}" type="pres">
      <dgm:prSet presAssocID="{FBA33EBD-03C8-4F64-AB44-D7FE52D4EBCC}" presName="spacer" presStyleCnt="0"/>
      <dgm:spPr/>
    </dgm:pt>
    <dgm:pt modelId="{2B926070-F099-4203-BC93-00936D5449A4}" type="pres">
      <dgm:prSet presAssocID="{2CD66D1D-2E27-4719-AB41-66A0C54CF10F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1A227CA0-692E-4F1D-8C43-28BB8BD2EBC4}" type="pres">
      <dgm:prSet presAssocID="{708394C9-C0B2-4046-A5F1-1F30492AB4F4}" presName="spacer" presStyleCnt="0"/>
      <dgm:spPr/>
    </dgm:pt>
    <dgm:pt modelId="{79954CB2-0D37-49B5-93F7-81C4EBAF1BEB}" type="pres">
      <dgm:prSet presAssocID="{0FB0F516-42EF-4A91-8310-C1E43E87F992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A553FF19-4E0A-4369-AE76-FB5D41AF2E2B}" srcId="{A8972B69-4B4F-436A-B547-1FADC4FB29B4}" destId="{6B04A7CB-C700-464E-B6C5-E124426C1D04}" srcOrd="1" destOrd="0" parTransId="{EE4CE0B4-A959-4FEB-A47D-02B4B36B8543}" sibTransId="{AD6FD74D-156F-443C-AF13-6E1065C63C4C}"/>
    <dgm:cxn modelId="{7473072D-3103-402B-ABC6-B235903BD46D}" type="presOf" srcId="{AF3CD49F-45BD-4C8C-9816-ED5C4621F185}" destId="{03D9F129-E56A-42FF-827E-811C90871217}" srcOrd="0" destOrd="0" presId="urn:microsoft.com/office/officeart/2005/8/layout/vList2"/>
    <dgm:cxn modelId="{A21D296C-E3A0-415F-9695-5C82D6B79739}" srcId="{A8972B69-4B4F-436A-B547-1FADC4FB29B4}" destId="{AF3CD49F-45BD-4C8C-9816-ED5C4621F185}" srcOrd="2" destOrd="0" parTransId="{07D48F9E-E828-497B-9198-CE0A62FA3407}" sibTransId="{FBA33EBD-03C8-4F64-AB44-D7FE52D4EBCC}"/>
    <dgm:cxn modelId="{C150B981-EF0C-4A9E-9811-B902BC49B38F}" type="presOf" srcId="{0FB0F516-42EF-4A91-8310-C1E43E87F992}" destId="{79954CB2-0D37-49B5-93F7-81C4EBAF1BEB}" srcOrd="0" destOrd="0" presId="urn:microsoft.com/office/officeart/2005/8/layout/vList2"/>
    <dgm:cxn modelId="{8D35FA8C-29FD-4392-B593-A0900FCB8F47}" type="presOf" srcId="{6B04A7CB-C700-464E-B6C5-E124426C1D04}" destId="{41229791-62FC-4F0A-AD8A-9B4EE560E502}" srcOrd="0" destOrd="0" presId="urn:microsoft.com/office/officeart/2005/8/layout/vList2"/>
    <dgm:cxn modelId="{F14E51A4-2492-40B2-AAD0-9B2106337180}" srcId="{A8972B69-4B4F-436A-B547-1FADC4FB29B4}" destId="{0FB0F516-42EF-4A91-8310-C1E43E87F992}" srcOrd="4" destOrd="0" parTransId="{E739AA11-51EB-49BB-90AA-B988B4A3432C}" sibTransId="{D23D8479-DA8F-4AFC-9B53-F6CD55C61003}"/>
    <dgm:cxn modelId="{7F9DA8A4-8191-4121-8DA1-F0552EB3E440}" srcId="{A8972B69-4B4F-436A-B547-1FADC4FB29B4}" destId="{A75A4D4B-BFE9-4B6F-9A81-9F9C96F5DA38}" srcOrd="0" destOrd="0" parTransId="{4FAABBF4-AB55-44FE-B6F0-B4BF829D004F}" sibTransId="{7E1354BB-EC61-4A45-99C9-75C6202CC56A}"/>
    <dgm:cxn modelId="{F3DDD4B0-98F6-48B6-ACA5-ADB06939BE37}" type="presOf" srcId="{A8972B69-4B4F-436A-B547-1FADC4FB29B4}" destId="{C74AEAA8-95AA-4DD2-B5BF-AF2613DDA678}" srcOrd="0" destOrd="0" presId="urn:microsoft.com/office/officeart/2005/8/layout/vList2"/>
    <dgm:cxn modelId="{2689F4C3-11F3-4FDC-9D74-FD19A4AD1487}" srcId="{A8972B69-4B4F-436A-B547-1FADC4FB29B4}" destId="{2CD66D1D-2E27-4719-AB41-66A0C54CF10F}" srcOrd="3" destOrd="0" parTransId="{001A47BD-BE7E-4F09-B025-3B50528DBC00}" sibTransId="{708394C9-C0B2-4046-A5F1-1F30492AB4F4}"/>
    <dgm:cxn modelId="{414326CC-859F-45A0-BFF5-899BC45891B2}" type="presOf" srcId="{A75A4D4B-BFE9-4B6F-9A81-9F9C96F5DA38}" destId="{C717DEE2-2529-4048-A027-0347422F7B4B}" srcOrd="0" destOrd="0" presId="urn:microsoft.com/office/officeart/2005/8/layout/vList2"/>
    <dgm:cxn modelId="{ADE32EFB-F49E-40C1-B288-FB4646994EDF}" type="presOf" srcId="{2CD66D1D-2E27-4719-AB41-66A0C54CF10F}" destId="{2B926070-F099-4203-BC93-00936D5449A4}" srcOrd="0" destOrd="0" presId="urn:microsoft.com/office/officeart/2005/8/layout/vList2"/>
    <dgm:cxn modelId="{44C282F8-026D-4D0E-88F8-71C8338D4947}" type="presParOf" srcId="{C74AEAA8-95AA-4DD2-B5BF-AF2613DDA678}" destId="{C717DEE2-2529-4048-A027-0347422F7B4B}" srcOrd="0" destOrd="0" presId="urn:microsoft.com/office/officeart/2005/8/layout/vList2"/>
    <dgm:cxn modelId="{A2FC0041-DBBC-4347-B284-15C177BA5CBB}" type="presParOf" srcId="{C74AEAA8-95AA-4DD2-B5BF-AF2613DDA678}" destId="{4287A08D-B1A3-4BC4-BB02-712CE914270A}" srcOrd="1" destOrd="0" presId="urn:microsoft.com/office/officeart/2005/8/layout/vList2"/>
    <dgm:cxn modelId="{3A2C92A1-351D-47E3-91A8-0F238074F054}" type="presParOf" srcId="{C74AEAA8-95AA-4DD2-B5BF-AF2613DDA678}" destId="{41229791-62FC-4F0A-AD8A-9B4EE560E502}" srcOrd="2" destOrd="0" presId="urn:microsoft.com/office/officeart/2005/8/layout/vList2"/>
    <dgm:cxn modelId="{9D3CEF1D-D24E-4010-B7A6-5798BB2B5285}" type="presParOf" srcId="{C74AEAA8-95AA-4DD2-B5BF-AF2613DDA678}" destId="{0D5DCE93-996F-4A6C-9D69-1606AE4ACE5A}" srcOrd="3" destOrd="0" presId="urn:microsoft.com/office/officeart/2005/8/layout/vList2"/>
    <dgm:cxn modelId="{04DCBCF8-13E3-429E-9C8C-36A34B37B37C}" type="presParOf" srcId="{C74AEAA8-95AA-4DD2-B5BF-AF2613DDA678}" destId="{03D9F129-E56A-42FF-827E-811C90871217}" srcOrd="4" destOrd="0" presId="urn:microsoft.com/office/officeart/2005/8/layout/vList2"/>
    <dgm:cxn modelId="{3A625163-4378-4E34-BF07-253FF32495E3}" type="presParOf" srcId="{C74AEAA8-95AA-4DD2-B5BF-AF2613DDA678}" destId="{A47CD782-9FE5-49C5-854A-DC34BCD34807}" srcOrd="5" destOrd="0" presId="urn:microsoft.com/office/officeart/2005/8/layout/vList2"/>
    <dgm:cxn modelId="{B31F9469-85A7-4FDB-89B7-CA9D73425FC6}" type="presParOf" srcId="{C74AEAA8-95AA-4DD2-B5BF-AF2613DDA678}" destId="{2B926070-F099-4203-BC93-00936D5449A4}" srcOrd="6" destOrd="0" presId="urn:microsoft.com/office/officeart/2005/8/layout/vList2"/>
    <dgm:cxn modelId="{D636074B-765E-49EA-9DC5-61B5209E0DC7}" type="presParOf" srcId="{C74AEAA8-95AA-4DD2-B5BF-AF2613DDA678}" destId="{1A227CA0-692E-4F1D-8C43-28BB8BD2EBC4}" srcOrd="7" destOrd="0" presId="urn:microsoft.com/office/officeart/2005/8/layout/vList2"/>
    <dgm:cxn modelId="{B88D58E0-F058-4AAA-99DC-DAA8B4CB2C35}" type="presParOf" srcId="{C74AEAA8-95AA-4DD2-B5BF-AF2613DDA678}" destId="{79954CB2-0D37-49B5-93F7-81C4EBAF1BEB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C7BBE77-F3BD-4A23-AF03-664667486753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D865D252-C62C-4BA7-8C61-C9D4F2276343}">
      <dgm:prSet/>
      <dgm:spPr/>
      <dgm:t>
        <a:bodyPr/>
        <a:lstStyle/>
        <a:p>
          <a:r>
            <a:rPr lang="en-US" b="1" i="1" dirty="0"/>
            <a:t>Later</a:t>
          </a:r>
          <a:r>
            <a:rPr lang="en-US" dirty="0"/>
            <a:t>:</a:t>
          </a:r>
          <a:br>
            <a:rPr lang="en-US" dirty="0"/>
          </a:br>
          <a:r>
            <a:rPr lang="en-US" dirty="0"/>
            <a:t>when projects use packages, `.</a:t>
          </a:r>
          <a:r>
            <a:rPr lang="en-US" dirty="0" err="1"/>
            <a:t>venv</a:t>
          </a:r>
          <a:r>
            <a:rPr lang="en-US" dirty="0"/>
            <a:t>` helps keep installs project-specific.</a:t>
          </a:r>
        </a:p>
      </dgm:t>
    </dgm:pt>
    <dgm:pt modelId="{D780D2D9-D14F-42BF-A87B-E489FA98DFE4}" type="parTrans" cxnId="{C25600CD-3A8D-4AB8-80C8-79C717755975}">
      <dgm:prSet/>
      <dgm:spPr/>
      <dgm:t>
        <a:bodyPr/>
        <a:lstStyle/>
        <a:p>
          <a:endParaRPr lang="en-US"/>
        </a:p>
      </dgm:t>
    </dgm:pt>
    <dgm:pt modelId="{CA99CE4C-9F3E-4A5B-BF40-A70826E52E47}" type="sibTrans" cxnId="{C25600CD-3A8D-4AB8-80C8-79C717755975}">
      <dgm:prSet/>
      <dgm:spPr/>
      <dgm:t>
        <a:bodyPr/>
        <a:lstStyle/>
        <a:p>
          <a:endParaRPr lang="en-US"/>
        </a:p>
      </dgm:t>
    </dgm:pt>
    <dgm:pt modelId="{53B59A1C-86F1-4BAC-8579-328759E6A564}">
      <dgm:prSet/>
      <dgm:spPr/>
      <dgm:t>
        <a:bodyPr/>
        <a:lstStyle/>
        <a:p>
          <a:r>
            <a:rPr lang="en-US" b="1" i="1" dirty="0"/>
            <a:t>For Week 1</a:t>
          </a:r>
          <a:r>
            <a:rPr lang="en-US" dirty="0"/>
            <a:t>:</a:t>
          </a:r>
          <a:br>
            <a:rPr lang="en-US" dirty="0"/>
          </a:br>
          <a:r>
            <a:rPr lang="en-US" dirty="0"/>
            <a:t>the goal is simply to know what `.</a:t>
          </a:r>
          <a:r>
            <a:rPr lang="en-US" dirty="0" err="1"/>
            <a:t>venv</a:t>
          </a:r>
          <a:r>
            <a:rPr lang="en-US" dirty="0"/>
            <a:t>` is and how to create/select it.</a:t>
          </a:r>
        </a:p>
      </dgm:t>
    </dgm:pt>
    <dgm:pt modelId="{8B0E6910-59FC-4369-930F-12D79F47ED55}" type="parTrans" cxnId="{6B84E0C1-7BD7-4283-8F51-B96482E5DD10}">
      <dgm:prSet/>
      <dgm:spPr/>
      <dgm:t>
        <a:bodyPr/>
        <a:lstStyle/>
        <a:p>
          <a:endParaRPr lang="en-US"/>
        </a:p>
      </dgm:t>
    </dgm:pt>
    <dgm:pt modelId="{FD175C31-E9C8-4326-84A4-513E9FF38C8F}" type="sibTrans" cxnId="{6B84E0C1-7BD7-4283-8F51-B96482E5DD10}">
      <dgm:prSet/>
      <dgm:spPr/>
      <dgm:t>
        <a:bodyPr/>
        <a:lstStyle/>
        <a:p>
          <a:endParaRPr lang="en-US"/>
        </a:p>
      </dgm:t>
    </dgm:pt>
    <dgm:pt modelId="{D236354B-983F-4D74-9F17-7CAEB1A471F0}" type="pres">
      <dgm:prSet presAssocID="{CC7BBE77-F3BD-4A23-AF03-664667486753}" presName="linear" presStyleCnt="0">
        <dgm:presLayoutVars>
          <dgm:animLvl val="lvl"/>
          <dgm:resizeHandles val="exact"/>
        </dgm:presLayoutVars>
      </dgm:prSet>
      <dgm:spPr/>
    </dgm:pt>
    <dgm:pt modelId="{3060ACDA-481D-40F3-9B51-17449C71313D}" type="pres">
      <dgm:prSet presAssocID="{D865D252-C62C-4BA7-8C61-C9D4F227634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EA1605FC-8F85-4C97-AADB-B942BC39BC07}" type="pres">
      <dgm:prSet presAssocID="{CA99CE4C-9F3E-4A5B-BF40-A70826E52E47}" presName="spacer" presStyleCnt="0"/>
      <dgm:spPr/>
    </dgm:pt>
    <dgm:pt modelId="{BCC4F11C-E6EB-4DD5-9275-2A7FA1384DBB}" type="pres">
      <dgm:prSet presAssocID="{53B59A1C-86F1-4BAC-8579-328759E6A564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57704603-AE6A-4D67-8A48-911E8014CE94}" type="presOf" srcId="{CC7BBE77-F3BD-4A23-AF03-664667486753}" destId="{D236354B-983F-4D74-9F17-7CAEB1A471F0}" srcOrd="0" destOrd="0" presId="urn:microsoft.com/office/officeart/2005/8/layout/vList2"/>
    <dgm:cxn modelId="{DC846148-880B-427C-8C8C-E3D2EB5A61F8}" type="presOf" srcId="{D865D252-C62C-4BA7-8C61-C9D4F2276343}" destId="{3060ACDA-481D-40F3-9B51-17449C71313D}" srcOrd="0" destOrd="0" presId="urn:microsoft.com/office/officeart/2005/8/layout/vList2"/>
    <dgm:cxn modelId="{6B84E0C1-7BD7-4283-8F51-B96482E5DD10}" srcId="{CC7BBE77-F3BD-4A23-AF03-664667486753}" destId="{53B59A1C-86F1-4BAC-8579-328759E6A564}" srcOrd="1" destOrd="0" parTransId="{8B0E6910-59FC-4369-930F-12D79F47ED55}" sibTransId="{FD175C31-E9C8-4326-84A4-513E9FF38C8F}"/>
    <dgm:cxn modelId="{C25600CD-3A8D-4AB8-80C8-79C717755975}" srcId="{CC7BBE77-F3BD-4A23-AF03-664667486753}" destId="{D865D252-C62C-4BA7-8C61-C9D4F2276343}" srcOrd="0" destOrd="0" parTransId="{D780D2D9-D14F-42BF-A87B-E489FA98DFE4}" sibTransId="{CA99CE4C-9F3E-4A5B-BF40-A70826E52E47}"/>
    <dgm:cxn modelId="{69C15EE1-79A8-42E7-835F-81C0DABFB47E}" type="presOf" srcId="{53B59A1C-86F1-4BAC-8579-328759E6A564}" destId="{BCC4F11C-E6EB-4DD5-9275-2A7FA1384DBB}" srcOrd="0" destOrd="0" presId="urn:microsoft.com/office/officeart/2005/8/layout/vList2"/>
    <dgm:cxn modelId="{FD384F6A-F36A-464E-8B47-80E30FB4AD5C}" type="presParOf" srcId="{D236354B-983F-4D74-9F17-7CAEB1A471F0}" destId="{3060ACDA-481D-40F3-9B51-17449C71313D}" srcOrd="0" destOrd="0" presId="urn:microsoft.com/office/officeart/2005/8/layout/vList2"/>
    <dgm:cxn modelId="{934053DF-286C-406B-9AE0-A03650D589E0}" type="presParOf" srcId="{D236354B-983F-4D74-9F17-7CAEB1A471F0}" destId="{EA1605FC-8F85-4C97-AADB-B942BC39BC07}" srcOrd="1" destOrd="0" presId="urn:microsoft.com/office/officeart/2005/8/layout/vList2"/>
    <dgm:cxn modelId="{C20A8FF1-28A8-47F3-8B47-EF40D81051D1}" type="presParOf" srcId="{D236354B-983F-4D74-9F17-7CAEB1A471F0}" destId="{BCC4F11C-E6EB-4DD5-9275-2A7FA1384DBB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942078D-EAF6-41F0-AB5B-72AF4269BD1A}" type="doc">
      <dgm:prSet loTypeId="urn:microsoft.com/office/officeart/2005/8/layout/process4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70307B2-53CA-4110-A926-330F24645F8E}">
      <dgm:prSet/>
      <dgm:spPr/>
      <dgm:t>
        <a:bodyPr/>
        <a:lstStyle/>
        <a:p>
          <a:r>
            <a:rPr lang="en-US"/>
            <a:t>Visual Studio is a true IDE - Integrated Developer Environment. </a:t>
          </a:r>
        </a:p>
      </dgm:t>
    </dgm:pt>
    <dgm:pt modelId="{65DE384A-0333-4DC1-95EC-77E1413C8953}" type="parTrans" cxnId="{6ED24E8A-6A64-4A42-B2E2-CBD997EAFC09}">
      <dgm:prSet/>
      <dgm:spPr/>
      <dgm:t>
        <a:bodyPr/>
        <a:lstStyle/>
        <a:p>
          <a:endParaRPr lang="en-US"/>
        </a:p>
      </dgm:t>
    </dgm:pt>
    <dgm:pt modelId="{BAB2DB3B-6A0E-437E-B8AA-4CF1BD126471}" type="sibTrans" cxnId="{6ED24E8A-6A64-4A42-B2E2-CBD997EAFC09}">
      <dgm:prSet/>
      <dgm:spPr/>
      <dgm:t>
        <a:bodyPr/>
        <a:lstStyle/>
        <a:p>
          <a:endParaRPr lang="en-US"/>
        </a:p>
      </dgm:t>
    </dgm:pt>
    <dgm:pt modelId="{0B889466-19E1-4ECD-A2AD-E76723C61044}">
      <dgm:prSet/>
      <dgm:spPr/>
      <dgm:t>
        <a:bodyPr/>
        <a:lstStyle/>
        <a:p>
          <a:r>
            <a:rPr lang="en-US"/>
            <a:t>Heavy footprint (takes a lot of memory)</a:t>
          </a:r>
        </a:p>
      </dgm:t>
    </dgm:pt>
    <dgm:pt modelId="{5D9A079C-5E99-4ABB-A1C7-114AF236658D}" type="parTrans" cxnId="{2BB47B84-D1AE-45A3-AD85-7BA2BD903332}">
      <dgm:prSet/>
      <dgm:spPr/>
      <dgm:t>
        <a:bodyPr/>
        <a:lstStyle/>
        <a:p>
          <a:endParaRPr lang="en-US"/>
        </a:p>
      </dgm:t>
    </dgm:pt>
    <dgm:pt modelId="{37B9E4D6-3484-4734-BB75-27629438C6E4}" type="sibTrans" cxnId="{2BB47B84-D1AE-45A3-AD85-7BA2BD903332}">
      <dgm:prSet/>
      <dgm:spPr/>
      <dgm:t>
        <a:bodyPr/>
        <a:lstStyle/>
        <a:p>
          <a:endParaRPr lang="en-US"/>
        </a:p>
      </dgm:t>
    </dgm:pt>
    <dgm:pt modelId="{D959E823-C27E-49AF-BEEF-8764A0613628}">
      <dgm:prSet/>
      <dgm:spPr/>
      <dgm:t>
        <a:bodyPr/>
        <a:lstStyle/>
        <a:p>
          <a:r>
            <a:rPr lang="en-US"/>
            <a:t>Great for C# and .NET framework development</a:t>
          </a:r>
        </a:p>
      </dgm:t>
    </dgm:pt>
    <dgm:pt modelId="{2D9A8323-817E-4124-9661-C374D064652D}" type="parTrans" cxnId="{11A378C5-F796-46D0-978D-800D3B304720}">
      <dgm:prSet/>
      <dgm:spPr/>
      <dgm:t>
        <a:bodyPr/>
        <a:lstStyle/>
        <a:p>
          <a:endParaRPr lang="en-US"/>
        </a:p>
      </dgm:t>
    </dgm:pt>
    <dgm:pt modelId="{6789489A-4186-41AF-8A18-DECE51004E83}" type="sibTrans" cxnId="{11A378C5-F796-46D0-978D-800D3B304720}">
      <dgm:prSet/>
      <dgm:spPr/>
      <dgm:t>
        <a:bodyPr/>
        <a:lstStyle/>
        <a:p>
          <a:endParaRPr lang="en-US"/>
        </a:p>
      </dgm:t>
    </dgm:pt>
    <dgm:pt modelId="{10802863-DEC2-4D9E-AE3B-FB1096BA667A}">
      <dgm:prSet/>
      <dgm:spPr/>
      <dgm:t>
        <a:bodyPr/>
        <a:lstStyle/>
        <a:p>
          <a:r>
            <a:rPr lang="en-US"/>
            <a:t>Doesn’t play well on an iOS machines</a:t>
          </a:r>
        </a:p>
      </dgm:t>
    </dgm:pt>
    <dgm:pt modelId="{A8D885F3-6EB1-4C66-AFED-71693CD94376}" type="parTrans" cxnId="{2E03DDF7-BFA7-4E5C-903F-564FD74DB470}">
      <dgm:prSet/>
      <dgm:spPr/>
      <dgm:t>
        <a:bodyPr/>
        <a:lstStyle/>
        <a:p>
          <a:endParaRPr lang="en-US"/>
        </a:p>
      </dgm:t>
    </dgm:pt>
    <dgm:pt modelId="{D5802352-B028-4AFD-B03D-371803D79FC1}" type="sibTrans" cxnId="{2E03DDF7-BFA7-4E5C-903F-564FD74DB470}">
      <dgm:prSet/>
      <dgm:spPr/>
      <dgm:t>
        <a:bodyPr/>
        <a:lstStyle/>
        <a:p>
          <a:endParaRPr lang="en-US"/>
        </a:p>
      </dgm:t>
    </dgm:pt>
    <dgm:pt modelId="{5B50AA74-2C44-4B83-8FD9-671CAF45A684}">
      <dgm:prSet/>
      <dgm:spPr/>
      <dgm:t>
        <a:bodyPr/>
        <a:lstStyle/>
        <a:p>
          <a:r>
            <a:rPr lang="en-US"/>
            <a:t>VS Code is a code editor, not a true IDE … but can function as a full-IDE by installing the extensions</a:t>
          </a:r>
        </a:p>
      </dgm:t>
    </dgm:pt>
    <dgm:pt modelId="{3D526BF8-333D-4BF3-BA0F-26DF33B2F626}" type="parTrans" cxnId="{A8F6C203-3013-4F58-B8CA-6ABACEE00AAD}">
      <dgm:prSet/>
      <dgm:spPr/>
      <dgm:t>
        <a:bodyPr/>
        <a:lstStyle/>
        <a:p>
          <a:endParaRPr lang="en-US"/>
        </a:p>
      </dgm:t>
    </dgm:pt>
    <dgm:pt modelId="{696FC54A-1B84-42DE-9962-3CADFA0A3DAC}" type="sibTrans" cxnId="{A8F6C203-3013-4F58-B8CA-6ABACEE00AAD}">
      <dgm:prSet/>
      <dgm:spPr/>
      <dgm:t>
        <a:bodyPr/>
        <a:lstStyle/>
        <a:p>
          <a:endParaRPr lang="en-US"/>
        </a:p>
      </dgm:t>
    </dgm:pt>
    <dgm:pt modelId="{F3B12BF4-05F5-41FC-9E99-86A97F777FB6}">
      <dgm:prSet/>
      <dgm:spPr/>
      <dgm:t>
        <a:bodyPr/>
        <a:lstStyle/>
        <a:p>
          <a:r>
            <a:rPr lang="en-US"/>
            <a:t>Widely used!!</a:t>
          </a:r>
        </a:p>
      </dgm:t>
    </dgm:pt>
    <dgm:pt modelId="{D4E01540-6949-4719-9DEB-0AE6A2B0F73C}" type="parTrans" cxnId="{9715EAFC-AD79-42F4-B576-11BE7F353F7E}">
      <dgm:prSet/>
      <dgm:spPr/>
      <dgm:t>
        <a:bodyPr/>
        <a:lstStyle/>
        <a:p>
          <a:endParaRPr lang="en-US"/>
        </a:p>
      </dgm:t>
    </dgm:pt>
    <dgm:pt modelId="{85ACB688-0667-428B-8DF6-A5EDDDB9063F}" type="sibTrans" cxnId="{9715EAFC-AD79-42F4-B576-11BE7F353F7E}">
      <dgm:prSet/>
      <dgm:spPr/>
      <dgm:t>
        <a:bodyPr/>
        <a:lstStyle/>
        <a:p>
          <a:endParaRPr lang="en-US"/>
        </a:p>
      </dgm:t>
    </dgm:pt>
    <dgm:pt modelId="{4F224C88-C156-484A-958B-8AFEE8C99C4B}">
      <dgm:prSet/>
      <dgm:spPr/>
      <dgm:t>
        <a:bodyPr/>
        <a:lstStyle/>
        <a:p>
          <a:r>
            <a:rPr lang="en-US"/>
            <a:t>Smaller footprint (faster load and execution)</a:t>
          </a:r>
        </a:p>
      </dgm:t>
    </dgm:pt>
    <dgm:pt modelId="{78A76873-5330-414A-9F06-2C0008C1A652}" type="parTrans" cxnId="{3B9C3761-D7BE-4D09-A8BF-D165DFA97009}">
      <dgm:prSet/>
      <dgm:spPr/>
      <dgm:t>
        <a:bodyPr/>
        <a:lstStyle/>
        <a:p>
          <a:endParaRPr lang="en-US"/>
        </a:p>
      </dgm:t>
    </dgm:pt>
    <dgm:pt modelId="{D4D3216C-4C95-4196-9FAD-64BCC23CA434}" type="sibTrans" cxnId="{3B9C3761-D7BE-4D09-A8BF-D165DFA97009}">
      <dgm:prSet/>
      <dgm:spPr/>
      <dgm:t>
        <a:bodyPr/>
        <a:lstStyle/>
        <a:p>
          <a:endParaRPr lang="en-US"/>
        </a:p>
      </dgm:t>
    </dgm:pt>
    <dgm:pt modelId="{698F5E9B-00C3-434E-A652-2AC33C300A8C}">
      <dgm:prSet/>
      <dgm:spPr/>
      <dgm:t>
        <a:bodyPr/>
        <a:lstStyle/>
        <a:p>
          <a:r>
            <a:rPr lang="en-US"/>
            <a:t>Updated very frequently</a:t>
          </a:r>
        </a:p>
      </dgm:t>
    </dgm:pt>
    <dgm:pt modelId="{38B4A2D5-E627-408D-81D2-F18133663B19}" type="parTrans" cxnId="{368DE43C-B26C-4DBD-9778-B8669B95A309}">
      <dgm:prSet/>
      <dgm:spPr/>
      <dgm:t>
        <a:bodyPr/>
        <a:lstStyle/>
        <a:p>
          <a:endParaRPr lang="en-US"/>
        </a:p>
      </dgm:t>
    </dgm:pt>
    <dgm:pt modelId="{3E07B8AD-2A62-4F84-B389-CA8F97BB325C}" type="sibTrans" cxnId="{368DE43C-B26C-4DBD-9778-B8669B95A309}">
      <dgm:prSet/>
      <dgm:spPr/>
      <dgm:t>
        <a:bodyPr/>
        <a:lstStyle/>
        <a:p>
          <a:endParaRPr lang="en-US"/>
        </a:p>
      </dgm:t>
    </dgm:pt>
    <dgm:pt modelId="{2EBF87FF-9607-4A80-B980-FBFB93C6903A}">
      <dgm:prSet/>
      <dgm:spPr/>
      <dgm:t>
        <a:bodyPr/>
        <a:lstStyle/>
        <a:p>
          <a:r>
            <a:rPr lang="en-US"/>
            <a:t>Supports multiple development languages and frameworks</a:t>
          </a:r>
        </a:p>
      </dgm:t>
    </dgm:pt>
    <dgm:pt modelId="{FC372D32-EC7C-46C6-8065-A90015FD08A7}" type="parTrans" cxnId="{9AB04CF0-21DD-4950-A782-9CA76C81FA4B}">
      <dgm:prSet/>
      <dgm:spPr/>
      <dgm:t>
        <a:bodyPr/>
        <a:lstStyle/>
        <a:p>
          <a:endParaRPr lang="en-US"/>
        </a:p>
      </dgm:t>
    </dgm:pt>
    <dgm:pt modelId="{B8F3BA25-186B-4EFB-BAB8-5BDF96C87EE4}" type="sibTrans" cxnId="{9AB04CF0-21DD-4950-A782-9CA76C81FA4B}">
      <dgm:prSet/>
      <dgm:spPr/>
      <dgm:t>
        <a:bodyPr/>
        <a:lstStyle/>
        <a:p>
          <a:endParaRPr lang="en-US"/>
        </a:p>
      </dgm:t>
    </dgm:pt>
    <dgm:pt modelId="{B499AD64-8EB7-4D9C-9698-55F760DA6DB4}" type="pres">
      <dgm:prSet presAssocID="{6942078D-EAF6-41F0-AB5B-72AF4269BD1A}" presName="Name0" presStyleCnt="0">
        <dgm:presLayoutVars>
          <dgm:dir/>
          <dgm:animLvl val="lvl"/>
          <dgm:resizeHandles val="exact"/>
        </dgm:presLayoutVars>
      </dgm:prSet>
      <dgm:spPr/>
    </dgm:pt>
    <dgm:pt modelId="{FE2AEED1-248D-4B53-B9A4-3B6DA37498F8}" type="pres">
      <dgm:prSet presAssocID="{5B50AA74-2C44-4B83-8FD9-671CAF45A684}" presName="boxAndChildren" presStyleCnt="0"/>
      <dgm:spPr/>
    </dgm:pt>
    <dgm:pt modelId="{D73C4286-ACF6-43B2-A276-6BBEB2C7CB4D}" type="pres">
      <dgm:prSet presAssocID="{5B50AA74-2C44-4B83-8FD9-671CAF45A684}" presName="parentTextBox" presStyleLbl="node1" presStyleIdx="0" presStyleCnt="2"/>
      <dgm:spPr/>
    </dgm:pt>
    <dgm:pt modelId="{C51504F5-6E6D-4F8F-96F0-A14FCBB5F306}" type="pres">
      <dgm:prSet presAssocID="{5B50AA74-2C44-4B83-8FD9-671CAF45A684}" presName="entireBox" presStyleLbl="node1" presStyleIdx="0" presStyleCnt="2"/>
      <dgm:spPr/>
    </dgm:pt>
    <dgm:pt modelId="{314799DF-4097-44AF-9ED4-5BDE0DE21BEA}" type="pres">
      <dgm:prSet presAssocID="{5B50AA74-2C44-4B83-8FD9-671CAF45A684}" presName="descendantBox" presStyleCnt="0"/>
      <dgm:spPr/>
    </dgm:pt>
    <dgm:pt modelId="{FE611DED-5F49-4EBD-A3FD-B79E4A051DF7}" type="pres">
      <dgm:prSet presAssocID="{F3B12BF4-05F5-41FC-9E99-86A97F777FB6}" presName="childTextBox" presStyleLbl="fgAccFollowNode1" presStyleIdx="0" presStyleCnt="7">
        <dgm:presLayoutVars>
          <dgm:bulletEnabled val="1"/>
        </dgm:presLayoutVars>
      </dgm:prSet>
      <dgm:spPr/>
    </dgm:pt>
    <dgm:pt modelId="{ACC586D9-552F-4F5F-A57D-FC87B2E5CB17}" type="pres">
      <dgm:prSet presAssocID="{4F224C88-C156-484A-958B-8AFEE8C99C4B}" presName="childTextBox" presStyleLbl="fgAccFollowNode1" presStyleIdx="1" presStyleCnt="7">
        <dgm:presLayoutVars>
          <dgm:bulletEnabled val="1"/>
        </dgm:presLayoutVars>
      </dgm:prSet>
      <dgm:spPr/>
    </dgm:pt>
    <dgm:pt modelId="{EEAA5855-B349-4FA3-8C90-EAE98B9E13BA}" type="pres">
      <dgm:prSet presAssocID="{698F5E9B-00C3-434E-A652-2AC33C300A8C}" presName="childTextBox" presStyleLbl="fgAccFollowNode1" presStyleIdx="2" presStyleCnt="7">
        <dgm:presLayoutVars>
          <dgm:bulletEnabled val="1"/>
        </dgm:presLayoutVars>
      </dgm:prSet>
      <dgm:spPr/>
    </dgm:pt>
    <dgm:pt modelId="{8BDAA2CB-BD4C-457F-87D3-C679928F359D}" type="pres">
      <dgm:prSet presAssocID="{2EBF87FF-9607-4A80-B980-FBFB93C6903A}" presName="childTextBox" presStyleLbl="fgAccFollowNode1" presStyleIdx="3" presStyleCnt="7">
        <dgm:presLayoutVars>
          <dgm:bulletEnabled val="1"/>
        </dgm:presLayoutVars>
      </dgm:prSet>
      <dgm:spPr/>
    </dgm:pt>
    <dgm:pt modelId="{2C0DDC00-8AA0-4EC3-B3ED-FF572CF42DF6}" type="pres">
      <dgm:prSet presAssocID="{BAB2DB3B-6A0E-437E-B8AA-4CF1BD126471}" presName="sp" presStyleCnt="0"/>
      <dgm:spPr/>
    </dgm:pt>
    <dgm:pt modelId="{9BB33F80-497F-4A71-9702-C497DE8F60DA}" type="pres">
      <dgm:prSet presAssocID="{270307B2-53CA-4110-A926-330F24645F8E}" presName="arrowAndChildren" presStyleCnt="0"/>
      <dgm:spPr/>
    </dgm:pt>
    <dgm:pt modelId="{0984A96A-9BAE-4A0D-AEF3-AC2B21936358}" type="pres">
      <dgm:prSet presAssocID="{270307B2-53CA-4110-A926-330F24645F8E}" presName="parentTextArrow" presStyleLbl="node1" presStyleIdx="0" presStyleCnt="2"/>
      <dgm:spPr/>
    </dgm:pt>
    <dgm:pt modelId="{9EC31391-551F-43E7-9D7D-3785E84DBBBA}" type="pres">
      <dgm:prSet presAssocID="{270307B2-53CA-4110-A926-330F24645F8E}" presName="arrow" presStyleLbl="node1" presStyleIdx="1" presStyleCnt="2"/>
      <dgm:spPr/>
    </dgm:pt>
    <dgm:pt modelId="{5805A1B7-C300-4639-AE25-7972EF7D8A38}" type="pres">
      <dgm:prSet presAssocID="{270307B2-53CA-4110-A926-330F24645F8E}" presName="descendantArrow" presStyleCnt="0"/>
      <dgm:spPr/>
    </dgm:pt>
    <dgm:pt modelId="{3E82809A-F6C3-4B6E-A8B6-A5FC6C11DFDB}" type="pres">
      <dgm:prSet presAssocID="{0B889466-19E1-4ECD-A2AD-E76723C61044}" presName="childTextArrow" presStyleLbl="fgAccFollowNode1" presStyleIdx="4" presStyleCnt="7">
        <dgm:presLayoutVars>
          <dgm:bulletEnabled val="1"/>
        </dgm:presLayoutVars>
      </dgm:prSet>
      <dgm:spPr/>
    </dgm:pt>
    <dgm:pt modelId="{A156D336-1465-43DB-B455-8246B9772E3A}" type="pres">
      <dgm:prSet presAssocID="{D959E823-C27E-49AF-BEEF-8764A0613628}" presName="childTextArrow" presStyleLbl="fgAccFollowNode1" presStyleIdx="5" presStyleCnt="7">
        <dgm:presLayoutVars>
          <dgm:bulletEnabled val="1"/>
        </dgm:presLayoutVars>
      </dgm:prSet>
      <dgm:spPr/>
    </dgm:pt>
    <dgm:pt modelId="{6B756698-9236-4FEB-B3A2-3CC7B9EC4153}" type="pres">
      <dgm:prSet presAssocID="{10802863-DEC2-4D9E-AE3B-FB1096BA667A}" presName="childTextArrow" presStyleLbl="fgAccFollowNode1" presStyleIdx="6" presStyleCnt="7">
        <dgm:presLayoutVars>
          <dgm:bulletEnabled val="1"/>
        </dgm:presLayoutVars>
      </dgm:prSet>
      <dgm:spPr/>
    </dgm:pt>
  </dgm:ptLst>
  <dgm:cxnLst>
    <dgm:cxn modelId="{A8F6C203-3013-4F58-B8CA-6ABACEE00AAD}" srcId="{6942078D-EAF6-41F0-AB5B-72AF4269BD1A}" destId="{5B50AA74-2C44-4B83-8FD9-671CAF45A684}" srcOrd="1" destOrd="0" parTransId="{3D526BF8-333D-4BF3-BA0F-26DF33B2F626}" sibTransId="{696FC54A-1B84-42DE-9962-3CADFA0A3DAC}"/>
    <dgm:cxn modelId="{40053D39-C091-4C6F-BFD3-F380F149EEF7}" type="presOf" srcId="{10802863-DEC2-4D9E-AE3B-FB1096BA667A}" destId="{6B756698-9236-4FEB-B3A2-3CC7B9EC4153}" srcOrd="0" destOrd="0" presId="urn:microsoft.com/office/officeart/2005/8/layout/process4"/>
    <dgm:cxn modelId="{368DE43C-B26C-4DBD-9778-B8669B95A309}" srcId="{5B50AA74-2C44-4B83-8FD9-671CAF45A684}" destId="{698F5E9B-00C3-434E-A652-2AC33C300A8C}" srcOrd="2" destOrd="0" parTransId="{38B4A2D5-E627-408D-81D2-F18133663B19}" sibTransId="{3E07B8AD-2A62-4F84-B389-CA8F97BB325C}"/>
    <dgm:cxn modelId="{5EDC6A60-4798-4184-8AB1-44B5F8D4304C}" type="presOf" srcId="{698F5E9B-00C3-434E-A652-2AC33C300A8C}" destId="{EEAA5855-B349-4FA3-8C90-EAE98B9E13BA}" srcOrd="0" destOrd="0" presId="urn:microsoft.com/office/officeart/2005/8/layout/process4"/>
    <dgm:cxn modelId="{3B9C3761-D7BE-4D09-A8BF-D165DFA97009}" srcId="{5B50AA74-2C44-4B83-8FD9-671CAF45A684}" destId="{4F224C88-C156-484A-958B-8AFEE8C99C4B}" srcOrd="1" destOrd="0" parTransId="{78A76873-5330-414A-9F06-2C0008C1A652}" sibTransId="{D4D3216C-4C95-4196-9FAD-64BCC23CA434}"/>
    <dgm:cxn modelId="{85D3C941-3847-4F11-9D5E-15AC7D43EF26}" type="presOf" srcId="{270307B2-53CA-4110-A926-330F24645F8E}" destId="{0984A96A-9BAE-4A0D-AEF3-AC2B21936358}" srcOrd="0" destOrd="0" presId="urn:microsoft.com/office/officeart/2005/8/layout/process4"/>
    <dgm:cxn modelId="{9CD39549-CA00-4028-8611-236DBB466EC9}" type="presOf" srcId="{5B50AA74-2C44-4B83-8FD9-671CAF45A684}" destId="{D73C4286-ACF6-43B2-A276-6BBEB2C7CB4D}" srcOrd="0" destOrd="0" presId="urn:microsoft.com/office/officeart/2005/8/layout/process4"/>
    <dgm:cxn modelId="{7D588E58-7EDF-4843-BB25-328713C06210}" type="presOf" srcId="{4F224C88-C156-484A-958B-8AFEE8C99C4B}" destId="{ACC586D9-552F-4F5F-A57D-FC87B2E5CB17}" srcOrd="0" destOrd="0" presId="urn:microsoft.com/office/officeart/2005/8/layout/process4"/>
    <dgm:cxn modelId="{8503EA78-2C9E-4F5A-B6B8-F7762A6EF868}" type="presOf" srcId="{0B889466-19E1-4ECD-A2AD-E76723C61044}" destId="{3E82809A-F6C3-4B6E-A8B6-A5FC6C11DFDB}" srcOrd="0" destOrd="0" presId="urn:microsoft.com/office/officeart/2005/8/layout/process4"/>
    <dgm:cxn modelId="{3C64117F-E388-43F3-A7B2-201C1EBD1492}" type="presOf" srcId="{D959E823-C27E-49AF-BEEF-8764A0613628}" destId="{A156D336-1465-43DB-B455-8246B9772E3A}" srcOrd="0" destOrd="0" presId="urn:microsoft.com/office/officeart/2005/8/layout/process4"/>
    <dgm:cxn modelId="{2BB47B84-D1AE-45A3-AD85-7BA2BD903332}" srcId="{270307B2-53CA-4110-A926-330F24645F8E}" destId="{0B889466-19E1-4ECD-A2AD-E76723C61044}" srcOrd="0" destOrd="0" parTransId="{5D9A079C-5E99-4ABB-A1C7-114AF236658D}" sibTransId="{37B9E4D6-3484-4734-BB75-27629438C6E4}"/>
    <dgm:cxn modelId="{6ED24E8A-6A64-4A42-B2E2-CBD997EAFC09}" srcId="{6942078D-EAF6-41F0-AB5B-72AF4269BD1A}" destId="{270307B2-53CA-4110-A926-330F24645F8E}" srcOrd="0" destOrd="0" parTransId="{65DE384A-0333-4DC1-95EC-77E1413C8953}" sibTransId="{BAB2DB3B-6A0E-437E-B8AA-4CF1BD126471}"/>
    <dgm:cxn modelId="{A9F8BA90-3CE2-4A67-9B3E-470844C8AE45}" type="presOf" srcId="{5B50AA74-2C44-4B83-8FD9-671CAF45A684}" destId="{C51504F5-6E6D-4F8F-96F0-A14FCBB5F306}" srcOrd="1" destOrd="0" presId="urn:microsoft.com/office/officeart/2005/8/layout/process4"/>
    <dgm:cxn modelId="{75A70296-8134-412B-96AB-63040A2895A2}" type="presOf" srcId="{F3B12BF4-05F5-41FC-9E99-86A97F777FB6}" destId="{FE611DED-5F49-4EBD-A3FD-B79E4A051DF7}" srcOrd="0" destOrd="0" presId="urn:microsoft.com/office/officeart/2005/8/layout/process4"/>
    <dgm:cxn modelId="{2AA1F2A6-44DF-4463-A927-C58C22B7536E}" type="presOf" srcId="{2EBF87FF-9607-4A80-B980-FBFB93C6903A}" destId="{8BDAA2CB-BD4C-457F-87D3-C679928F359D}" srcOrd="0" destOrd="0" presId="urn:microsoft.com/office/officeart/2005/8/layout/process4"/>
    <dgm:cxn modelId="{DDDCAFAE-6C33-4020-B00E-18A5349B7EB6}" type="presOf" srcId="{6942078D-EAF6-41F0-AB5B-72AF4269BD1A}" destId="{B499AD64-8EB7-4D9C-9698-55F760DA6DB4}" srcOrd="0" destOrd="0" presId="urn:microsoft.com/office/officeart/2005/8/layout/process4"/>
    <dgm:cxn modelId="{11A378C5-F796-46D0-978D-800D3B304720}" srcId="{270307B2-53CA-4110-A926-330F24645F8E}" destId="{D959E823-C27E-49AF-BEEF-8764A0613628}" srcOrd="1" destOrd="0" parTransId="{2D9A8323-817E-4124-9661-C374D064652D}" sibTransId="{6789489A-4186-41AF-8A18-DECE51004E83}"/>
    <dgm:cxn modelId="{FDBC75DF-D32F-41A4-AA37-75A16175C23E}" type="presOf" srcId="{270307B2-53CA-4110-A926-330F24645F8E}" destId="{9EC31391-551F-43E7-9D7D-3785E84DBBBA}" srcOrd="1" destOrd="0" presId="urn:microsoft.com/office/officeart/2005/8/layout/process4"/>
    <dgm:cxn modelId="{9AB04CF0-21DD-4950-A782-9CA76C81FA4B}" srcId="{5B50AA74-2C44-4B83-8FD9-671CAF45A684}" destId="{2EBF87FF-9607-4A80-B980-FBFB93C6903A}" srcOrd="3" destOrd="0" parTransId="{FC372D32-EC7C-46C6-8065-A90015FD08A7}" sibTransId="{B8F3BA25-186B-4EFB-BAB8-5BDF96C87EE4}"/>
    <dgm:cxn modelId="{2E03DDF7-BFA7-4E5C-903F-564FD74DB470}" srcId="{270307B2-53CA-4110-A926-330F24645F8E}" destId="{10802863-DEC2-4D9E-AE3B-FB1096BA667A}" srcOrd="2" destOrd="0" parTransId="{A8D885F3-6EB1-4C66-AFED-71693CD94376}" sibTransId="{D5802352-B028-4AFD-B03D-371803D79FC1}"/>
    <dgm:cxn modelId="{9715EAFC-AD79-42F4-B576-11BE7F353F7E}" srcId="{5B50AA74-2C44-4B83-8FD9-671CAF45A684}" destId="{F3B12BF4-05F5-41FC-9E99-86A97F777FB6}" srcOrd="0" destOrd="0" parTransId="{D4E01540-6949-4719-9DEB-0AE6A2B0F73C}" sibTransId="{85ACB688-0667-428B-8DF6-A5EDDDB9063F}"/>
    <dgm:cxn modelId="{84B1C311-E413-4A92-AC7C-06FDF8D60356}" type="presParOf" srcId="{B499AD64-8EB7-4D9C-9698-55F760DA6DB4}" destId="{FE2AEED1-248D-4B53-B9A4-3B6DA37498F8}" srcOrd="0" destOrd="0" presId="urn:microsoft.com/office/officeart/2005/8/layout/process4"/>
    <dgm:cxn modelId="{41F688E2-61A4-40D8-A354-8F27CB54FF78}" type="presParOf" srcId="{FE2AEED1-248D-4B53-B9A4-3B6DA37498F8}" destId="{D73C4286-ACF6-43B2-A276-6BBEB2C7CB4D}" srcOrd="0" destOrd="0" presId="urn:microsoft.com/office/officeart/2005/8/layout/process4"/>
    <dgm:cxn modelId="{17F79FD1-05B1-4B7E-BAE9-73577DDC7AAC}" type="presParOf" srcId="{FE2AEED1-248D-4B53-B9A4-3B6DA37498F8}" destId="{C51504F5-6E6D-4F8F-96F0-A14FCBB5F306}" srcOrd="1" destOrd="0" presId="urn:microsoft.com/office/officeart/2005/8/layout/process4"/>
    <dgm:cxn modelId="{B79C3A5D-1210-49EF-A9B2-176106B87D43}" type="presParOf" srcId="{FE2AEED1-248D-4B53-B9A4-3B6DA37498F8}" destId="{314799DF-4097-44AF-9ED4-5BDE0DE21BEA}" srcOrd="2" destOrd="0" presId="urn:microsoft.com/office/officeart/2005/8/layout/process4"/>
    <dgm:cxn modelId="{EDAE56C3-3448-413E-AEEA-4E86E39663AF}" type="presParOf" srcId="{314799DF-4097-44AF-9ED4-5BDE0DE21BEA}" destId="{FE611DED-5F49-4EBD-A3FD-B79E4A051DF7}" srcOrd="0" destOrd="0" presId="urn:microsoft.com/office/officeart/2005/8/layout/process4"/>
    <dgm:cxn modelId="{29265A49-6500-4589-AEA4-67CA1C31C161}" type="presParOf" srcId="{314799DF-4097-44AF-9ED4-5BDE0DE21BEA}" destId="{ACC586D9-552F-4F5F-A57D-FC87B2E5CB17}" srcOrd="1" destOrd="0" presId="urn:microsoft.com/office/officeart/2005/8/layout/process4"/>
    <dgm:cxn modelId="{B090AF68-BC3D-40B1-B221-1C5306C7EECC}" type="presParOf" srcId="{314799DF-4097-44AF-9ED4-5BDE0DE21BEA}" destId="{EEAA5855-B349-4FA3-8C90-EAE98B9E13BA}" srcOrd="2" destOrd="0" presId="urn:microsoft.com/office/officeart/2005/8/layout/process4"/>
    <dgm:cxn modelId="{815EF438-4406-4756-9F75-BBEE9E129F3F}" type="presParOf" srcId="{314799DF-4097-44AF-9ED4-5BDE0DE21BEA}" destId="{8BDAA2CB-BD4C-457F-87D3-C679928F359D}" srcOrd="3" destOrd="0" presId="urn:microsoft.com/office/officeart/2005/8/layout/process4"/>
    <dgm:cxn modelId="{5129BDE8-7992-4614-8982-19595C41665C}" type="presParOf" srcId="{B499AD64-8EB7-4D9C-9698-55F760DA6DB4}" destId="{2C0DDC00-8AA0-4EC3-B3ED-FF572CF42DF6}" srcOrd="1" destOrd="0" presId="urn:microsoft.com/office/officeart/2005/8/layout/process4"/>
    <dgm:cxn modelId="{08A56765-86DB-4147-939F-4772B633DFDA}" type="presParOf" srcId="{B499AD64-8EB7-4D9C-9698-55F760DA6DB4}" destId="{9BB33F80-497F-4A71-9702-C497DE8F60DA}" srcOrd="2" destOrd="0" presId="urn:microsoft.com/office/officeart/2005/8/layout/process4"/>
    <dgm:cxn modelId="{11A34C0E-75C9-42E5-B88F-505FE7400FE8}" type="presParOf" srcId="{9BB33F80-497F-4A71-9702-C497DE8F60DA}" destId="{0984A96A-9BAE-4A0D-AEF3-AC2B21936358}" srcOrd="0" destOrd="0" presId="urn:microsoft.com/office/officeart/2005/8/layout/process4"/>
    <dgm:cxn modelId="{C0DFFE96-71E3-4A2D-9FB3-0D90AA54D903}" type="presParOf" srcId="{9BB33F80-497F-4A71-9702-C497DE8F60DA}" destId="{9EC31391-551F-43E7-9D7D-3785E84DBBBA}" srcOrd="1" destOrd="0" presId="urn:microsoft.com/office/officeart/2005/8/layout/process4"/>
    <dgm:cxn modelId="{AD9E7FD9-60B0-4962-B925-10BDD99FB002}" type="presParOf" srcId="{9BB33F80-497F-4A71-9702-C497DE8F60DA}" destId="{5805A1B7-C300-4639-AE25-7972EF7D8A38}" srcOrd="2" destOrd="0" presId="urn:microsoft.com/office/officeart/2005/8/layout/process4"/>
    <dgm:cxn modelId="{84679B15-480B-4350-AE10-F1B5E31C9971}" type="presParOf" srcId="{5805A1B7-C300-4639-AE25-7972EF7D8A38}" destId="{3E82809A-F6C3-4B6E-A8B6-A5FC6C11DFDB}" srcOrd="0" destOrd="0" presId="urn:microsoft.com/office/officeart/2005/8/layout/process4"/>
    <dgm:cxn modelId="{7C1FC910-BFDF-4E4B-9C30-34211E4C9A00}" type="presParOf" srcId="{5805A1B7-C300-4639-AE25-7972EF7D8A38}" destId="{A156D336-1465-43DB-B455-8246B9772E3A}" srcOrd="1" destOrd="0" presId="urn:microsoft.com/office/officeart/2005/8/layout/process4"/>
    <dgm:cxn modelId="{96B257BA-2FE5-45D6-8379-F4F1BE7343FC}" type="presParOf" srcId="{5805A1B7-C300-4639-AE25-7972EF7D8A38}" destId="{6B756698-9236-4FEB-B3A2-3CC7B9EC4153}" srcOrd="2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17DEE2-2529-4048-A027-0347422F7B4B}">
      <dsp:nvSpPr>
        <dsp:cNvPr id="0" name=""/>
        <dsp:cNvSpPr/>
      </dsp:nvSpPr>
      <dsp:spPr>
        <a:xfrm>
          <a:off x="0" y="92677"/>
          <a:ext cx="5019610" cy="87457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check your Python version</a:t>
          </a:r>
        </a:p>
      </dsp:txBody>
      <dsp:txXfrm>
        <a:off x="42693" y="135370"/>
        <a:ext cx="4934224" cy="789189"/>
      </dsp:txXfrm>
    </dsp:sp>
    <dsp:sp modelId="{41229791-62FC-4F0A-AD8A-9B4EE560E502}">
      <dsp:nvSpPr>
        <dsp:cNvPr id="0" name=""/>
        <dsp:cNvSpPr/>
      </dsp:nvSpPr>
      <dsp:spPr>
        <a:xfrm>
          <a:off x="0" y="1033492"/>
          <a:ext cx="5019610" cy="874575"/>
        </a:xfrm>
        <a:prstGeom prst="roundRect">
          <a:avLst/>
        </a:prstGeom>
        <a:gradFill rotWithShape="0">
          <a:gsLst>
            <a:gs pos="0">
              <a:schemeClr val="accent2">
                <a:hueOff val="-2474057"/>
                <a:satOff val="8986"/>
                <a:lumOff val="834"/>
                <a:alphaOff val="0"/>
                <a:tint val="96000"/>
                <a:lumMod val="100000"/>
              </a:schemeClr>
            </a:gs>
            <a:gs pos="78000">
              <a:schemeClr val="accent2">
                <a:hueOff val="-2474057"/>
                <a:satOff val="8986"/>
                <a:lumOff val="834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open a project in VS Code</a:t>
          </a:r>
        </a:p>
      </dsp:txBody>
      <dsp:txXfrm>
        <a:off x="42693" y="1076185"/>
        <a:ext cx="4934224" cy="789189"/>
      </dsp:txXfrm>
    </dsp:sp>
    <dsp:sp modelId="{03D9F129-E56A-42FF-827E-811C90871217}">
      <dsp:nvSpPr>
        <dsp:cNvPr id="0" name=""/>
        <dsp:cNvSpPr/>
      </dsp:nvSpPr>
      <dsp:spPr>
        <a:xfrm>
          <a:off x="0" y="1974307"/>
          <a:ext cx="5019610" cy="874575"/>
        </a:xfrm>
        <a:prstGeom prst="roundRect">
          <a:avLst/>
        </a:prstGeom>
        <a:gradFill rotWithShape="0">
          <a:gsLst>
            <a:gs pos="0">
              <a:schemeClr val="accent2">
                <a:hueOff val="-4948115"/>
                <a:satOff val="17972"/>
                <a:lumOff val="1667"/>
                <a:alphaOff val="0"/>
                <a:tint val="96000"/>
                <a:lumMod val="100000"/>
              </a:schemeClr>
            </a:gs>
            <a:gs pos="78000">
              <a:schemeClr val="accent2">
                <a:hueOff val="-4948115"/>
                <a:satOff val="17972"/>
                <a:lumOff val="1667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select a `.venv` interpreter</a:t>
          </a:r>
        </a:p>
      </dsp:txBody>
      <dsp:txXfrm>
        <a:off x="42693" y="2017000"/>
        <a:ext cx="4934224" cy="789189"/>
      </dsp:txXfrm>
    </dsp:sp>
    <dsp:sp modelId="{2B926070-F099-4203-BC93-00936D5449A4}">
      <dsp:nvSpPr>
        <dsp:cNvPr id="0" name=""/>
        <dsp:cNvSpPr/>
      </dsp:nvSpPr>
      <dsp:spPr>
        <a:xfrm>
          <a:off x="0" y="2915122"/>
          <a:ext cx="5019610" cy="874575"/>
        </a:xfrm>
        <a:prstGeom prst="roundRect">
          <a:avLst/>
        </a:prstGeom>
        <a:gradFill rotWithShape="0">
          <a:gsLst>
            <a:gs pos="0">
              <a:schemeClr val="accent2">
                <a:hueOff val="-7422172"/>
                <a:satOff val="26958"/>
                <a:lumOff val="2501"/>
                <a:alphaOff val="0"/>
                <a:tint val="96000"/>
                <a:lumMod val="100000"/>
              </a:schemeClr>
            </a:gs>
            <a:gs pos="78000">
              <a:schemeClr val="accent2">
                <a:hueOff val="-7422172"/>
                <a:satOff val="26958"/>
                <a:lumOff val="2501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run a small `.py` file</a:t>
          </a:r>
        </a:p>
      </dsp:txBody>
      <dsp:txXfrm>
        <a:off x="42693" y="2957815"/>
        <a:ext cx="4934224" cy="789189"/>
      </dsp:txXfrm>
    </dsp:sp>
    <dsp:sp modelId="{79954CB2-0D37-49B5-93F7-81C4EBAF1BEB}">
      <dsp:nvSpPr>
        <dsp:cNvPr id="0" name=""/>
        <dsp:cNvSpPr/>
      </dsp:nvSpPr>
      <dsp:spPr>
        <a:xfrm>
          <a:off x="0" y="3855937"/>
          <a:ext cx="5019610" cy="874575"/>
        </a:xfrm>
        <a:prstGeom prst="roundRect">
          <a:avLst/>
        </a:prstGeom>
        <a:gradFill rotWithShape="0">
          <a:gsLst>
            <a:gs pos="0">
              <a:schemeClr val="accent2">
                <a:hueOff val="-9896230"/>
                <a:satOff val="35944"/>
                <a:lumOff val="3335"/>
                <a:alphaOff val="0"/>
                <a:tint val="96000"/>
                <a:lumMod val="100000"/>
              </a:schemeClr>
            </a:gs>
            <a:gs pos="78000">
              <a:schemeClr val="accent2">
                <a:hueOff val="-9896230"/>
                <a:satOff val="35944"/>
                <a:lumOff val="3335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see your code in GitHub or prepare it for submission</a:t>
          </a:r>
        </a:p>
      </dsp:txBody>
      <dsp:txXfrm>
        <a:off x="42693" y="3898630"/>
        <a:ext cx="4934224" cy="78918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60ACDA-481D-40F3-9B51-17449C71313D}">
      <dsp:nvSpPr>
        <dsp:cNvPr id="0" name=""/>
        <dsp:cNvSpPr/>
      </dsp:nvSpPr>
      <dsp:spPr>
        <a:xfrm>
          <a:off x="0" y="471194"/>
          <a:ext cx="5019610" cy="190008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i="1" kern="1200" dirty="0"/>
            <a:t>Later</a:t>
          </a:r>
          <a:r>
            <a:rPr lang="en-US" sz="2800" kern="1200" dirty="0"/>
            <a:t>:</a:t>
          </a:r>
          <a:br>
            <a:rPr lang="en-US" sz="2800" kern="1200" dirty="0"/>
          </a:br>
          <a:r>
            <a:rPr lang="en-US" sz="2800" kern="1200" dirty="0"/>
            <a:t>when projects use packages, `.</a:t>
          </a:r>
          <a:r>
            <a:rPr lang="en-US" sz="2800" kern="1200" dirty="0" err="1"/>
            <a:t>venv</a:t>
          </a:r>
          <a:r>
            <a:rPr lang="en-US" sz="2800" kern="1200" dirty="0"/>
            <a:t>` helps keep installs project-specific.</a:t>
          </a:r>
        </a:p>
      </dsp:txBody>
      <dsp:txXfrm>
        <a:off x="92754" y="563948"/>
        <a:ext cx="4834102" cy="1714572"/>
      </dsp:txXfrm>
    </dsp:sp>
    <dsp:sp modelId="{BCC4F11C-E6EB-4DD5-9275-2A7FA1384DBB}">
      <dsp:nvSpPr>
        <dsp:cNvPr id="0" name=""/>
        <dsp:cNvSpPr/>
      </dsp:nvSpPr>
      <dsp:spPr>
        <a:xfrm>
          <a:off x="0" y="2451914"/>
          <a:ext cx="5019610" cy="1900080"/>
        </a:xfrm>
        <a:prstGeom prst="roundRect">
          <a:avLst/>
        </a:prstGeom>
        <a:gradFill rotWithShape="0">
          <a:gsLst>
            <a:gs pos="0">
              <a:schemeClr val="accent2">
                <a:hueOff val="-9896230"/>
                <a:satOff val="35944"/>
                <a:lumOff val="3335"/>
                <a:alphaOff val="0"/>
                <a:tint val="96000"/>
                <a:lumMod val="100000"/>
              </a:schemeClr>
            </a:gs>
            <a:gs pos="78000">
              <a:schemeClr val="accent2">
                <a:hueOff val="-9896230"/>
                <a:satOff val="35944"/>
                <a:lumOff val="3335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i="1" kern="1200" dirty="0"/>
            <a:t>For Week 1</a:t>
          </a:r>
          <a:r>
            <a:rPr lang="en-US" sz="2800" kern="1200" dirty="0"/>
            <a:t>:</a:t>
          </a:r>
          <a:br>
            <a:rPr lang="en-US" sz="2800" kern="1200" dirty="0"/>
          </a:br>
          <a:r>
            <a:rPr lang="en-US" sz="2800" kern="1200" dirty="0"/>
            <a:t>the goal is simply to know what `.</a:t>
          </a:r>
          <a:r>
            <a:rPr lang="en-US" sz="2800" kern="1200" dirty="0" err="1"/>
            <a:t>venv</a:t>
          </a:r>
          <a:r>
            <a:rPr lang="en-US" sz="2800" kern="1200" dirty="0"/>
            <a:t>` is and how to create/select it.</a:t>
          </a:r>
        </a:p>
      </dsp:txBody>
      <dsp:txXfrm>
        <a:off x="92754" y="2544668"/>
        <a:ext cx="4834102" cy="171457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51504F5-6E6D-4F8F-96F0-A14FCBB5F306}">
      <dsp:nvSpPr>
        <dsp:cNvPr id="0" name=""/>
        <dsp:cNvSpPr/>
      </dsp:nvSpPr>
      <dsp:spPr>
        <a:xfrm>
          <a:off x="0" y="2911050"/>
          <a:ext cx="5019610" cy="190996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135128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VS Code is a code editor, not a true IDE … but can function as a full-IDE by installing the extensions</a:t>
          </a:r>
        </a:p>
      </dsp:txBody>
      <dsp:txXfrm>
        <a:off x="0" y="2911050"/>
        <a:ext cx="5019610" cy="1031380"/>
      </dsp:txXfrm>
    </dsp:sp>
    <dsp:sp modelId="{FE611DED-5F49-4EBD-A3FD-B79E4A051DF7}">
      <dsp:nvSpPr>
        <dsp:cNvPr id="0" name=""/>
        <dsp:cNvSpPr/>
      </dsp:nvSpPr>
      <dsp:spPr>
        <a:xfrm>
          <a:off x="0" y="3904232"/>
          <a:ext cx="1254902" cy="87858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Widely used!!</a:t>
          </a:r>
        </a:p>
      </dsp:txBody>
      <dsp:txXfrm>
        <a:off x="0" y="3904232"/>
        <a:ext cx="1254902" cy="878583"/>
      </dsp:txXfrm>
    </dsp:sp>
    <dsp:sp modelId="{ACC586D9-552F-4F5F-A57D-FC87B2E5CB17}">
      <dsp:nvSpPr>
        <dsp:cNvPr id="0" name=""/>
        <dsp:cNvSpPr/>
      </dsp:nvSpPr>
      <dsp:spPr>
        <a:xfrm>
          <a:off x="1254902" y="3904232"/>
          <a:ext cx="1254902" cy="878583"/>
        </a:xfrm>
        <a:prstGeom prst="rect">
          <a:avLst/>
        </a:prstGeom>
        <a:solidFill>
          <a:schemeClr val="accent2">
            <a:tint val="40000"/>
            <a:alpha val="90000"/>
            <a:hueOff val="-1859212"/>
            <a:satOff val="8104"/>
            <a:lumOff val="598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-1859212"/>
              <a:satOff val="8104"/>
              <a:lumOff val="59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Smaller footprint (faster load and execution)</a:t>
          </a:r>
        </a:p>
      </dsp:txBody>
      <dsp:txXfrm>
        <a:off x="1254902" y="3904232"/>
        <a:ext cx="1254902" cy="878583"/>
      </dsp:txXfrm>
    </dsp:sp>
    <dsp:sp modelId="{EEAA5855-B349-4FA3-8C90-EAE98B9E13BA}">
      <dsp:nvSpPr>
        <dsp:cNvPr id="0" name=""/>
        <dsp:cNvSpPr/>
      </dsp:nvSpPr>
      <dsp:spPr>
        <a:xfrm>
          <a:off x="2509805" y="3904232"/>
          <a:ext cx="1254902" cy="878583"/>
        </a:xfrm>
        <a:prstGeom prst="rect">
          <a:avLst/>
        </a:prstGeom>
        <a:solidFill>
          <a:schemeClr val="accent2">
            <a:tint val="40000"/>
            <a:alpha val="90000"/>
            <a:hueOff val="-3718424"/>
            <a:satOff val="16208"/>
            <a:lumOff val="1196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-3718424"/>
              <a:satOff val="16208"/>
              <a:lumOff val="119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Updated very frequently</a:t>
          </a:r>
        </a:p>
      </dsp:txBody>
      <dsp:txXfrm>
        <a:off x="2509805" y="3904232"/>
        <a:ext cx="1254902" cy="878583"/>
      </dsp:txXfrm>
    </dsp:sp>
    <dsp:sp modelId="{8BDAA2CB-BD4C-457F-87D3-C679928F359D}">
      <dsp:nvSpPr>
        <dsp:cNvPr id="0" name=""/>
        <dsp:cNvSpPr/>
      </dsp:nvSpPr>
      <dsp:spPr>
        <a:xfrm>
          <a:off x="3764707" y="3904232"/>
          <a:ext cx="1254902" cy="878583"/>
        </a:xfrm>
        <a:prstGeom prst="rect">
          <a:avLst/>
        </a:prstGeom>
        <a:solidFill>
          <a:schemeClr val="accent2">
            <a:tint val="40000"/>
            <a:alpha val="90000"/>
            <a:hueOff val="-5577636"/>
            <a:satOff val="24312"/>
            <a:lumOff val="1794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-5577636"/>
              <a:satOff val="24312"/>
              <a:lumOff val="1794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Supports multiple development languages and frameworks</a:t>
          </a:r>
        </a:p>
      </dsp:txBody>
      <dsp:txXfrm>
        <a:off x="3764707" y="3904232"/>
        <a:ext cx="1254902" cy="878583"/>
      </dsp:txXfrm>
    </dsp:sp>
    <dsp:sp modelId="{9EC31391-551F-43E7-9D7D-3785E84DBBBA}">
      <dsp:nvSpPr>
        <dsp:cNvPr id="0" name=""/>
        <dsp:cNvSpPr/>
      </dsp:nvSpPr>
      <dsp:spPr>
        <a:xfrm rot="10800000">
          <a:off x="0" y="2174"/>
          <a:ext cx="5019610" cy="2937525"/>
        </a:xfrm>
        <a:prstGeom prst="upArrowCallout">
          <a:avLst/>
        </a:prstGeom>
        <a:gradFill rotWithShape="0">
          <a:gsLst>
            <a:gs pos="0">
              <a:schemeClr val="accent2">
                <a:hueOff val="-9896230"/>
                <a:satOff val="35944"/>
                <a:lumOff val="3335"/>
                <a:alphaOff val="0"/>
                <a:tint val="96000"/>
                <a:lumMod val="100000"/>
              </a:schemeClr>
            </a:gs>
            <a:gs pos="78000">
              <a:schemeClr val="accent2">
                <a:hueOff val="-9896230"/>
                <a:satOff val="35944"/>
                <a:lumOff val="3335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135128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Visual Studio is a true IDE - Integrated Developer Environment. </a:t>
          </a:r>
        </a:p>
      </dsp:txBody>
      <dsp:txXfrm rot="-10800000">
        <a:off x="0" y="2174"/>
        <a:ext cx="5019610" cy="1031071"/>
      </dsp:txXfrm>
    </dsp:sp>
    <dsp:sp modelId="{3E82809A-F6C3-4B6E-A8B6-A5FC6C11DFDB}">
      <dsp:nvSpPr>
        <dsp:cNvPr id="0" name=""/>
        <dsp:cNvSpPr/>
      </dsp:nvSpPr>
      <dsp:spPr>
        <a:xfrm>
          <a:off x="2450" y="1033246"/>
          <a:ext cx="1671569" cy="878320"/>
        </a:xfrm>
        <a:prstGeom prst="rect">
          <a:avLst/>
        </a:prstGeom>
        <a:solidFill>
          <a:schemeClr val="accent2">
            <a:tint val="40000"/>
            <a:alpha val="90000"/>
            <a:hueOff val="-7436848"/>
            <a:satOff val="32416"/>
            <a:lumOff val="2392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-7436848"/>
              <a:satOff val="32416"/>
              <a:lumOff val="239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Heavy footprint (takes a lot of memory)</a:t>
          </a:r>
        </a:p>
      </dsp:txBody>
      <dsp:txXfrm>
        <a:off x="2450" y="1033246"/>
        <a:ext cx="1671569" cy="878320"/>
      </dsp:txXfrm>
    </dsp:sp>
    <dsp:sp modelId="{A156D336-1465-43DB-B455-8246B9772E3A}">
      <dsp:nvSpPr>
        <dsp:cNvPr id="0" name=""/>
        <dsp:cNvSpPr/>
      </dsp:nvSpPr>
      <dsp:spPr>
        <a:xfrm>
          <a:off x="1674020" y="1033246"/>
          <a:ext cx="1671569" cy="878320"/>
        </a:xfrm>
        <a:prstGeom prst="rect">
          <a:avLst/>
        </a:prstGeom>
        <a:solidFill>
          <a:schemeClr val="accent2">
            <a:tint val="40000"/>
            <a:alpha val="90000"/>
            <a:hueOff val="-9296060"/>
            <a:satOff val="40520"/>
            <a:lumOff val="2990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-9296060"/>
              <a:satOff val="40520"/>
              <a:lumOff val="29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Great for C# and .NET framework development</a:t>
          </a:r>
        </a:p>
      </dsp:txBody>
      <dsp:txXfrm>
        <a:off x="1674020" y="1033246"/>
        <a:ext cx="1671569" cy="878320"/>
      </dsp:txXfrm>
    </dsp:sp>
    <dsp:sp modelId="{6B756698-9236-4FEB-B3A2-3CC7B9EC4153}">
      <dsp:nvSpPr>
        <dsp:cNvPr id="0" name=""/>
        <dsp:cNvSpPr/>
      </dsp:nvSpPr>
      <dsp:spPr>
        <a:xfrm>
          <a:off x="3345589" y="1033246"/>
          <a:ext cx="1671569" cy="878320"/>
        </a:xfrm>
        <a:prstGeom prst="rect">
          <a:avLst/>
        </a:prstGeom>
        <a:solidFill>
          <a:schemeClr val="accent2">
            <a:tint val="40000"/>
            <a:alpha val="90000"/>
            <a:hueOff val="-11155272"/>
            <a:satOff val="48624"/>
            <a:lumOff val="3588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-11155272"/>
              <a:satOff val="48624"/>
              <a:lumOff val="358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Doesn’t play well on an iOS machines</a:t>
          </a:r>
        </a:p>
      </dsp:txBody>
      <dsp:txXfrm>
        <a:off x="3345589" y="1033246"/>
        <a:ext cx="1671569" cy="8783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759AF9F-1092-690D-006F-EBCE2C96B7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FC0900-FCC2-2A2A-613C-A277F4B7120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943E5A-6629-4B53-8BAD-0FC37077EB1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2D7F8D-A102-3CF3-78CD-2CA4C36115D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D03618-FB8B-BA92-AF2F-43138FFAD96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05D54-93E9-4845-A874-0CB2F7E463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3681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382475-516A-409A-944E-F435F3DFCCF2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16ACA2-47E6-42D2-BEC8-EDC49A1A9F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2245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2349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DA362-1E1E-64B9-648B-32DFEECF5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89C9AC-92DA-FD6E-1D03-AF2FDA8D01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364690-38A1-4B94-D560-99AF384A2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Frame setup as infrastructure, not as the first "programming test."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Students can become discouraged if installation issues feel like proof that they cannot code.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setup has several pieces, but each has a clear job.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0CA75A-C221-A200-08C8-B9CFE8DB08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916ACA2-47E6-42D2-BEC8-EDC49A1A9FA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53303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916ACA2-47E6-42D2-BEC8-EDC49A1A9FA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23700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135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4355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of June 9, 2026, Python.org lists Python 3.14.5 as the latest release.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Students should use the official Python website rather than random download mirrors.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Windows, Python.org may offer the Python install manager or a standalone installer.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Either path is acceptable if the installation can be verified in the terminal.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downloading, install in a way that lets the terminal find Python.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5442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Windows, Python.org may offer the Python install manager or a standalone installer.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Either path is acceptable if the installation can be verified in the terminal.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5893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Avoid over-teaching every installer screen.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practical success check is whether students can open PowerShell and run a version command.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the installer offers PATH-related options, students should enable the option that lets Python run from the terminal.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install is not complete until we verify it.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6154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Windows, `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--version` may work even when `python --version` does not.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 is acceptable for course use as long as students know which command they are using.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`pip` check confirms that package management is available through the selected Python.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Next, create a project folder so course work is organized from the beginning.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6117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Students may see beta, alpha, or release candidate builds. Those are not appropriate for this course.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a student already has Python installed, verify the version before deciding whether they need to change anything.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Now we need a place for the course files.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4589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Recommend a simple path without spaces or unusual characters if possible.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Students can use their normal Documents folder, but should know where the work is stored.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Inside project folders, Python can use a local virtual environment.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0752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 this conceptual. Students do not need dependency theory yet.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 need the idea that `.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venv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belongs to the project and helps prevent package confusion.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standard beginner-friendly folder name is `.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venv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3444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Explain the command in plain language: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`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or `python` starts Python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`-m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venv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runs the virtual environment tool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`.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venv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is the folder being created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creating `.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venv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activate it or select it in VS Code.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2185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execution policy blocks activation, do not derail the whole lesson.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VS Code can still select the interpreter, and the issue can be handled individually.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visible `(.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venv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)` prefix is useful evidence, but the stronger check is which Python interpreter VS Code is using.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 can also let VS Code use the `.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venv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directly.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7284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prevents a common misconception: students may think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venv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unnecessary because early scripts do not install packages.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value becomes more visible later.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Now we need an editor that can use Python and the virtual environment.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75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NOTE: This may already be installed on their school issued laptops. In which case, skip or skim this section </a:t>
            </a:r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Emphasize Visual Studio Code, not Visual Studio. These are different products.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8385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68326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51348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Microsoft Python extension provides core Python support. </a:t>
            </a:r>
          </a:p>
          <a:p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Pylance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provides language intelligence.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Python Environments helps manage and select environments.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Extension packs auto install many supporting extensions and are optional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Jupyter is optional and only needed if notebooks are used.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Mention extension trust: students should avoid random extensions that claim to help with Python unless the instructor approves them.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extensions are installed, VS Code must know which Python to use.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1501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**Instructor Notes**</a:t>
            </a:r>
          </a:p>
          <a:p>
            <a:r>
              <a:rPr lang="en-US" dirty="0"/>
              <a:t>Step by step instructions for those who may be a bit overwhelmed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dirty="0"/>
              <a:t>There are some additional extensions that can provide helpful tools.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extensions are installed, VS Code must know which Python to use.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1723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34103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the most important VS Code setup step.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Students often install Python correctly but run code with the wrong interpreter.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selected interpreter may appear in the VS Code status bar or Python environment selector.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terminal should also line up with the selected environment.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6643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VS Code's Python tooling can switch between interpreters, including virtual environments.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the terminal does not activate automatically, students can still activate manually or reselect the interpreter.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Now 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verify that VS Code can run a small Python file.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550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65780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 not rush the trace.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 students what low, high, and mid mean before running the binary search explanation.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point is not that binary search "fails every time" on unsorted data.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point is that it is not trustworthy because its reasoning no longer holds.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Watch the decisions, not just the final result.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11718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06866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3335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19656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624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71316" cy="6874935"/>
            <a:chOff x="-8466" y="-8468"/>
            <a:chExt cx="9171316" cy="6874935"/>
          </a:xfrm>
        </p:grpSpPr>
        <p:cxnSp>
          <p:nvCxnSpPr>
            <p:cNvPr id="28" name="Straight Connector 2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Freeform 2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Freeform 3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Freeform 3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Freeform 3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8094165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Freeform 35"/>
            <p:cNvSpPr/>
            <p:nvPr/>
          </p:nvSpPr>
          <p:spPr>
            <a:xfrm>
              <a:off x="8068764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lumMod val="50000"/>
                <a:alpha val="7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lumMod val="75000"/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16E1E9-1B50-BC39-BE3A-AFDDF27CC4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0594" y="300327"/>
            <a:ext cx="1196045" cy="526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939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DEB143-89C9-076B-466C-73BE156FD5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84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015F4D-DE23-F2FC-1853-93512C13AB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0594" y="300327"/>
            <a:ext cx="1196045" cy="526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3673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16E11E5-B722-B4E0-8233-E8E58F314B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2119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ADA43D-D69A-D7AE-81F9-ED5E4E7A1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912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41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A1305F-50C0-9117-EE66-5430C74994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414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914F403-DB38-13CA-CC40-CAE2A088327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6443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2446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1B8750C-22DC-D652-EE9D-9D81650FC9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38240" y="185696"/>
            <a:ext cx="726014" cy="31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369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19628F-1787-26D4-A797-33B2104580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3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05115D-2B3B-A0F2-8B96-FF372AE762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7795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9252F8-DFBE-EC79-0D43-E7702CC2845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0797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252413-6471-13E8-59E6-F7EEDC0F0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6443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894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0449300-3D10-A0CB-2DB5-98F274AC66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1223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AFCF80-E27A-06C5-A850-78E5A5D2C2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9507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9730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71317" cy="6874935"/>
            <a:chOff x="-8467" y="-8468"/>
            <a:chExt cx="9171317" cy="6874935"/>
          </a:xfrm>
        </p:grpSpPr>
        <p:cxnSp>
          <p:nvCxnSpPr>
            <p:cNvPr id="7" name="Straight Connector 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8094165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Freeform 14"/>
            <p:cNvSpPr/>
            <p:nvPr/>
          </p:nvSpPr>
          <p:spPr>
            <a:xfrm>
              <a:off x="8068764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lumMod val="50000"/>
                <a:alpha val="7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5945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pexels.com/photo/photo-of-computer-setup-4665064/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sa/3.0/" TargetMode="External"/><Relationship Id="rId4" Type="http://schemas.openxmlformats.org/officeDocument/2006/relationships/hyperlink" Target="https://martin-ueding.de/posts/visual-studio-code-and-pycharm-compared/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97F88-6791-2CCC-FDDE-DEB157237E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0595" y="1358537"/>
            <a:ext cx="5826719" cy="2692299"/>
          </a:xfrm>
        </p:spPr>
        <p:txBody>
          <a:bodyPr/>
          <a:lstStyle/>
          <a:p>
            <a:r>
              <a:rPr lang="en-US" dirty="0"/>
              <a:t>Python Programming Foundations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F15B13-1D93-97F4-3DBC-B06CC6F1209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Day 1 - Coding/Course Setup</a:t>
            </a:r>
          </a:p>
          <a:p>
            <a:r>
              <a:rPr lang="en-US" i="1" dirty="0"/>
              <a:t> “Creating the working environment”</a:t>
            </a:r>
          </a:p>
        </p:txBody>
      </p:sp>
    </p:spTree>
    <p:extLst>
      <p:ext uri="{BB962C8B-B14F-4D97-AF65-F5344CB8AC3E}">
        <p14:creationId xmlns:p14="http://schemas.microsoft.com/office/powerpoint/2010/main" val="3795026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7CDA3D-60B0-BA1A-646C-F8FC6E20C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028A4-DE1B-7C9E-8A8C-0D3260DB9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 fontScale="90000"/>
          </a:bodyPr>
          <a:lstStyle/>
          <a:p>
            <a:r>
              <a:rPr lang="en-US" sz="3300" dirty="0"/>
              <a:t>Setup Is Part Of The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563FF-40E9-70ED-F61C-14EDABDEC9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writing Python comfortably, your computer needs a stable setup.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goal is not to memorize setup steps. The goal is to create a reliable place to run your code.</a:t>
            </a:r>
          </a:p>
          <a:p>
            <a:endParaRPr lang="en-US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ED2CA7C-B2B5-3755-AD10-0B74AE79A1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29121" r="29121"/>
          <a:stretch/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1950E585-AFC6-6CD9-6567-A13A7083AB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84040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5B0E92-23A3-0CE7-799B-A607173A7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White arrows painted on the asphalt">
            <a:extLst>
              <a:ext uri="{FF2B5EF4-FFF2-40B4-BE49-F238E27FC236}">
                <a16:creationId xmlns:a16="http://schemas.microsoft.com/office/drawing/2014/main" id="{49F8F76F-3D84-B120-D1E3-68B29B5DFA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755" r="19847" b="-1"/>
          <a:stretch>
            <a:fillRect/>
          </a:stretch>
        </p:blipFill>
        <p:spPr>
          <a:xfrm>
            <a:off x="3202390" y="-1"/>
            <a:ext cx="5941610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60EC12-174A-0548-35EA-BE22D1E24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999" y="609600"/>
            <a:ext cx="2888343" cy="132080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Setup Path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D65E96A-8236-E5A8-7EAE-53E25E1BC4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2160589"/>
            <a:ext cx="3287386" cy="43028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Course setup path:</a:t>
            </a:r>
          </a:p>
          <a:p>
            <a:r>
              <a:rPr lang="en-US" sz="2000" dirty="0"/>
              <a:t>Python -&gt; </a:t>
            </a:r>
          </a:p>
          <a:p>
            <a:r>
              <a:rPr lang="en-US" sz="2000" dirty="0"/>
              <a:t>project folder -&gt; </a:t>
            </a:r>
          </a:p>
          <a:p>
            <a:r>
              <a:rPr lang="en-US" sz="2000" dirty="0"/>
              <a:t>`.</a:t>
            </a:r>
            <a:r>
              <a:rPr lang="en-US" sz="2000" dirty="0" err="1"/>
              <a:t>venv</a:t>
            </a:r>
            <a:r>
              <a:rPr lang="en-US" sz="2000" dirty="0"/>
              <a:t>` -&gt; </a:t>
            </a:r>
          </a:p>
          <a:p>
            <a:r>
              <a:rPr lang="en-US" sz="2000" dirty="0"/>
              <a:t>VS Code -&gt; </a:t>
            </a:r>
          </a:p>
          <a:p>
            <a:r>
              <a:rPr lang="en-US" sz="2000" dirty="0"/>
              <a:t>GitHub</a:t>
            </a:r>
          </a:p>
          <a:p>
            <a:pPr marL="0" indent="0">
              <a:buNone/>
            </a:pPr>
            <a:r>
              <a:rPr lang="en-US" sz="2000" dirty="0"/>
              <a:t>Each piece supports a different part of the workflow.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8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0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2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4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6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8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57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0265050-FD84-47EF-A163-6A481836C1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11B064D-F4EB-4312-AEEA-6AFDB257E7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34303" y="-8467"/>
            <a:ext cx="3575050" cy="6866467"/>
            <a:chOff x="7425267" y="-8467"/>
            <a:chExt cx="4766733" cy="6866467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7041201-C3DD-4181-B0E0-5C960FFE53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BFBFBF">
                  <a:alpha val="75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9A678F-8D0F-4F98-85A6-797199C550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rgbClr val="BFBFBF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23">
              <a:extLst>
                <a:ext uri="{FF2B5EF4-FFF2-40B4-BE49-F238E27FC236}">
                  <a16:creationId xmlns:a16="http://schemas.microsoft.com/office/drawing/2014/main" id="{82463FFC-4B08-4AF2-AC5A-F681CE9772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5" name="Rectangle 25">
              <a:extLst>
                <a:ext uri="{FF2B5EF4-FFF2-40B4-BE49-F238E27FC236}">
                  <a16:creationId xmlns:a16="http://schemas.microsoft.com/office/drawing/2014/main" id="{87C110A9-8F54-42F4-9B19-8D33F94DE5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9F5AD5FC-19DB-4C66-BDDA-043A6AAC94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7" name="Rectangle 27">
              <a:extLst>
                <a:ext uri="{FF2B5EF4-FFF2-40B4-BE49-F238E27FC236}">
                  <a16:creationId xmlns:a16="http://schemas.microsoft.com/office/drawing/2014/main" id="{352A3EAD-426D-4399-B7E0-81D26F7003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8" name="Rectangle 28">
              <a:extLst>
                <a:ext uri="{FF2B5EF4-FFF2-40B4-BE49-F238E27FC236}">
                  <a16:creationId xmlns:a16="http://schemas.microsoft.com/office/drawing/2014/main" id="{F842EF93-A507-4796-A726-0D0A9B751C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9" name="Rectangle 29">
              <a:extLst>
                <a:ext uri="{FF2B5EF4-FFF2-40B4-BE49-F238E27FC236}">
                  <a16:creationId xmlns:a16="http://schemas.microsoft.com/office/drawing/2014/main" id="{24F1410B-DBCE-471A-97C3-B96C0A7BBC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0BBC8502-8D68-4CE4-B690-2EBB6BCCDD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5BB2258-2A42-7358-855B-3C842DFCA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360" y="1382486"/>
            <a:ext cx="2660686" cy="4093028"/>
          </a:xfrm>
        </p:spPr>
        <p:txBody>
          <a:bodyPr anchor="ctr">
            <a:normAutofit/>
          </a:bodyPr>
          <a:lstStyle/>
          <a:p>
            <a:r>
              <a:rPr lang="en-US" sz="3800" dirty="0"/>
              <a:t>What Success Look Like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77CD7A-FE9E-475D-BF9C-78183B0B1B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06968" y="0"/>
            <a:ext cx="483703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E8FB340-C6CC-FE68-2C30-7F4BB19196C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6870640"/>
              </p:ext>
            </p:extLst>
          </p:nvPr>
        </p:nvGraphicFramePr>
        <p:xfrm>
          <a:off x="3639407" y="944564"/>
          <a:ext cx="5019610" cy="48231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0820667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C1AD2-E72F-7796-291A-36CD12160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sz="3300" dirty="0"/>
              <a:t>What We Will Use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EEC5C-1292-A4A2-1E2D-A19D199A8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4046200" cy="3880773"/>
          </a:xfrm>
        </p:spPr>
        <p:txBody>
          <a:bodyPr>
            <a:normAutofit/>
          </a:bodyPr>
          <a:lstStyle/>
          <a:p>
            <a:r>
              <a:rPr lang="en-US" dirty="0"/>
              <a:t>Python from `python.org`</a:t>
            </a:r>
          </a:p>
          <a:p>
            <a:r>
              <a:rPr lang="en-US" dirty="0"/>
              <a:t>PowerShell or terminal verification commands</a:t>
            </a:r>
          </a:p>
          <a:p>
            <a:r>
              <a:rPr lang="en-US" dirty="0"/>
              <a:t>project folders</a:t>
            </a:r>
          </a:p>
          <a:p>
            <a:r>
              <a:rPr lang="en-US" dirty="0"/>
              <a:t>`.</a:t>
            </a:r>
            <a:r>
              <a:rPr lang="en-US" dirty="0" err="1"/>
              <a:t>venv</a:t>
            </a:r>
            <a:r>
              <a:rPr lang="en-US" dirty="0"/>
              <a:t>` virtual environments</a:t>
            </a:r>
          </a:p>
          <a:p>
            <a:r>
              <a:rPr lang="en-US" dirty="0"/>
              <a:t>Visual Studio Code</a:t>
            </a:r>
          </a:p>
          <a:p>
            <a:r>
              <a:rPr lang="en-US" dirty="0"/>
              <a:t>Microsoft Python extension</a:t>
            </a:r>
          </a:p>
          <a:p>
            <a:r>
              <a:rPr lang="en-US" dirty="0"/>
              <a:t>VS Code interpreter selection</a:t>
            </a:r>
          </a:p>
          <a:p>
            <a:r>
              <a:rPr lang="en-US" dirty="0"/>
              <a:t>VS Code source control / GitHub integration</a:t>
            </a:r>
          </a:p>
        </p:txBody>
      </p:sp>
      <p:pic>
        <p:nvPicPr>
          <p:cNvPr id="28" name="Picture 27" descr="Computer script on a screen">
            <a:extLst>
              <a:ext uri="{FF2B5EF4-FFF2-40B4-BE49-F238E27FC236}">
                <a16:creationId xmlns:a16="http://schemas.microsoft.com/office/drawing/2014/main" id="{38D50984-DDEB-A743-533E-89C11F357B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423" r="50195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642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E6D73-36C1-785B-BF1E-F70A56E45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 anchor="t">
            <a:normAutofit/>
          </a:bodyPr>
          <a:lstStyle/>
          <a:p>
            <a:r>
              <a:rPr lang="en-US" dirty="0"/>
              <a:t>What We Will “Skip” For Now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8A78D41-48A5-98C1-1F53-FB08BC3F6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2160590"/>
            <a:ext cx="3915323" cy="3701270"/>
          </a:xfrm>
        </p:spPr>
        <p:txBody>
          <a:bodyPr>
            <a:normAutofit/>
          </a:bodyPr>
          <a:lstStyle/>
          <a:p>
            <a:r>
              <a:rPr lang="en-US" dirty="0"/>
              <a:t>advanced dependency management</a:t>
            </a:r>
          </a:p>
          <a:p>
            <a:r>
              <a:rPr lang="en-US" dirty="0"/>
              <a:t>publishing packages</a:t>
            </a:r>
          </a:p>
          <a:p>
            <a:r>
              <a:rPr lang="en-US" dirty="0"/>
              <a:t>complex Git branching</a:t>
            </a:r>
          </a:p>
          <a:p>
            <a:r>
              <a:rPr lang="en-US" dirty="0"/>
              <a:t>pull request reviews</a:t>
            </a:r>
          </a:p>
          <a:p>
            <a:r>
              <a:rPr lang="en-US" dirty="0"/>
              <a:t>deployment</a:t>
            </a:r>
          </a:p>
          <a:p>
            <a:r>
              <a:rPr lang="en-US" dirty="0"/>
              <a:t>Python pre-release versions</a:t>
            </a:r>
          </a:p>
        </p:txBody>
      </p:sp>
      <p:pic>
        <p:nvPicPr>
          <p:cNvPr id="7" name="Graphic 6" descr="Disconnected">
            <a:extLst>
              <a:ext uri="{FF2B5EF4-FFF2-40B4-BE49-F238E27FC236}">
                <a16:creationId xmlns:a16="http://schemas.microsoft.com/office/drawing/2014/main" id="{634669AE-52A5-F086-9BDE-17982042AD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5562" y="2159000"/>
            <a:ext cx="2359152" cy="2359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27138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CFD963D-986F-1524-594C-94C6FC56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 Python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898156F9-F88F-2F2E-8C18-4CC9EA43D8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6376" y="1410789"/>
            <a:ext cx="5680492" cy="45267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EE2A8D-CA65-5116-8F35-0145AC6B1F5B}"/>
              </a:ext>
            </a:extLst>
          </p:cNvPr>
          <p:cNvSpPr txBox="1"/>
          <p:nvPr/>
        </p:nvSpPr>
        <p:spPr>
          <a:xfrm>
            <a:off x="1802674" y="6087291"/>
            <a:ext cx="3944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url: python.org/downloads</a:t>
            </a:r>
          </a:p>
        </p:txBody>
      </p:sp>
    </p:spTree>
    <p:extLst>
      <p:ext uri="{BB962C8B-B14F-4D97-AF65-F5344CB8AC3E}">
        <p14:creationId xmlns:p14="http://schemas.microsoft.com/office/powerpoint/2010/main" val="2276312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FF6F4-8C78-8F00-C0CC-DFDE4B910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Windows – Two options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2623957-BF85-7389-96FF-670FB68EEF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36187" y="2467095"/>
            <a:ext cx="4095238" cy="19238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4EE1698-9041-F4A3-8B7C-209826A2BFBF}"/>
              </a:ext>
            </a:extLst>
          </p:cNvPr>
          <p:cNvSpPr txBox="1"/>
          <p:nvPr/>
        </p:nvSpPr>
        <p:spPr>
          <a:xfrm>
            <a:off x="1810963" y="4888411"/>
            <a:ext cx="3944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Either option will work</a:t>
            </a:r>
          </a:p>
          <a:p>
            <a:pPr algn="ctr"/>
            <a:r>
              <a:rPr lang="en-US" dirty="0"/>
              <a:t>(The top one is the easiest)</a:t>
            </a:r>
          </a:p>
        </p:txBody>
      </p:sp>
    </p:spTree>
    <p:extLst>
      <p:ext uri="{BB962C8B-B14F-4D97-AF65-F5344CB8AC3E}">
        <p14:creationId xmlns:p14="http://schemas.microsoft.com/office/powerpoint/2010/main" val="3346938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4B618-4313-EE0A-B157-D5B416525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New: Python Install Manager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9680505-55C9-071F-B87F-1E68CECEC8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07105" y="2386557"/>
            <a:ext cx="5188533" cy="38814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DD8486-C4EB-2580-1E27-87EA8ED859E3}"/>
              </a:ext>
            </a:extLst>
          </p:cNvPr>
          <p:cNvSpPr txBox="1"/>
          <p:nvPr/>
        </p:nvSpPr>
        <p:spPr>
          <a:xfrm>
            <a:off x="1189540" y="1611284"/>
            <a:ext cx="5188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(Your textbook does not mention this)</a:t>
            </a:r>
          </a:p>
        </p:txBody>
      </p:sp>
    </p:spTree>
    <p:extLst>
      <p:ext uri="{BB962C8B-B14F-4D97-AF65-F5344CB8AC3E}">
        <p14:creationId xmlns:p14="http://schemas.microsoft.com/office/powerpoint/2010/main" val="3280409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309B8F-5224-91BF-8847-A8F1B22AB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095746-1F5B-580C-E402-A48CF23E4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7171" y="609600"/>
            <a:ext cx="4818330" cy="1320800"/>
          </a:xfrm>
        </p:spPr>
        <p:txBody>
          <a:bodyPr>
            <a:normAutofit/>
          </a:bodyPr>
          <a:lstStyle/>
          <a:p>
            <a:r>
              <a:rPr lang="en-US" dirty="0"/>
              <a:t>Install Python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9F8803AC-EE0E-40C2-AD46-FD84FAD82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187" y="3822970"/>
            <a:ext cx="372084" cy="2918298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 descr="Electronics protoboard">
            <a:extLst>
              <a:ext uri="{FF2B5EF4-FFF2-40B4-BE49-F238E27FC236}">
                <a16:creationId xmlns:a16="http://schemas.microsoft.com/office/drawing/2014/main" id="{9B28FEC8-DC39-CB49-B17C-4AD438C0C7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650" r="54391" b="-2"/>
          <a:stretch>
            <a:fillRect/>
          </a:stretch>
        </p:blipFill>
        <p:spPr>
          <a:xfrm>
            <a:off x="20" y="1"/>
            <a:ext cx="2050522" cy="6858000"/>
          </a:xfrm>
          <a:custGeom>
            <a:avLst/>
            <a:gdLst/>
            <a:ahLst/>
            <a:cxnLst/>
            <a:rect l="l" t="t" r="r" b="b"/>
            <a:pathLst>
              <a:path w="2734056" h="6858000">
                <a:moveTo>
                  <a:pt x="0" y="0"/>
                </a:moveTo>
                <a:lnTo>
                  <a:pt x="1674254" y="0"/>
                </a:lnTo>
                <a:lnTo>
                  <a:pt x="2734056" y="6850199"/>
                </a:lnTo>
                <a:lnTo>
                  <a:pt x="2734056" y="6858000"/>
                </a:lnTo>
                <a:lnTo>
                  <a:pt x="461457" y="6858000"/>
                </a:lnTo>
                <a:lnTo>
                  <a:pt x="0" y="4134118"/>
                </a:lnTo>
                <a:close/>
              </a:path>
            </a:pathLst>
          </a:custGeom>
        </p:spPr>
      </p:pic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051A3413-562D-435C-AAE4-56808F0CB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357491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3D9BC5-980B-B249-7DBC-28114E72A3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37171" y="2160589"/>
            <a:ext cx="4818330" cy="3880773"/>
          </a:xfrm>
        </p:spPr>
        <p:txBody>
          <a:bodyPr>
            <a:normAutofit/>
          </a:bodyPr>
          <a:lstStyle/>
          <a:p>
            <a:r>
              <a:rPr lang="en-US" dirty="0"/>
              <a:t>The Install manager will make sure that a usable `</a:t>
            </a:r>
            <a:r>
              <a:rPr lang="en-US" dirty="0" err="1"/>
              <a:t>py</a:t>
            </a:r>
            <a:r>
              <a:rPr lang="en-US" dirty="0"/>
              <a:t>` or `python` command is created.</a:t>
            </a:r>
          </a:p>
          <a:p>
            <a:r>
              <a:rPr lang="en-US" dirty="0"/>
              <a:t>If the installer offers PATH-related options, you should enable the option that lets Python run from the terminal.</a:t>
            </a:r>
          </a:p>
          <a:p>
            <a:r>
              <a:rPr lang="en-US" dirty="0"/>
              <a:t>Once the process is finished: </a:t>
            </a:r>
          </a:p>
          <a:p>
            <a:pPr lvl="1"/>
            <a:r>
              <a:rPr lang="en-US" dirty="0"/>
              <a:t>Open a terminal (powershell) </a:t>
            </a:r>
          </a:p>
          <a:p>
            <a:pPr lvl="1"/>
            <a:r>
              <a:rPr lang="en-US" dirty="0"/>
              <a:t>On the command line type `</a:t>
            </a:r>
            <a:r>
              <a:rPr lang="en-US" dirty="0" err="1"/>
              <a:t>py</a:t>
            </a:r>
            <a:r>
              <a:rPr lang="en-US" dirty="0"/>
              <a:t>`</a:t>
            </a:r>
          </a:p>
          <a:p>
            <a:pPr lvl="1"/>
            <a:r>
              <a:rPr lang="en-US" dirty="0"/>
              <a:t>Optionally, next type the command `help’ </a:t>
            </a:r>
          </a:p>
        </p:txBody>
      </p:sp>
    </p:spTree>
    <p:extLst>
      <p:ext uri="{BB962C8B-B14F-4D97-AF65-F5344CB8AC3E}">
        <p14:creationId xmlns:p14="http://schemas.microsoft.com/office/powerpoint/2010/main" val="2183924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AEFE6-9D81-B323-0B01-CB610E434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7171" y="609600"/>
            <a:ext cx="4818330" cy="1320800"/>
          </a:xfrm>
        </p:spPr>
        <p:txBody>
          <a:bodyPr>
            <a:normAutofit/>
          </a:bodyPr>
          <a:lstStyle/>
          <a:p>
            <a:r>
              <a:rPr lang="en-US" dirty="0"/>
              <a:t>Verify Python</a:t>
            </a:r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F8803AC-EE0E-40C2-AD46-FD84FAD82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187" y="3822970"/>
            <a:ext cx="372084" cy="2918298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3" name="Picture 12" descr="Yellow python">
            <a:extLst>
              <a:ext uri="{FF2B5EF4-FFF2-40B4-BE49-F238E27FC236}">
                <a16:creationId xmlns:a16="http://schemas.microsoft.com/office/drawing/2014/main" id="{196FB09D-BCF4-A4EC-57BE-E621BD75C1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730" r="42162" b="-2"/>
          <a:stretch>
            <a:fillRect/>
          </a:stretch>
        </p:blipFill>
        <p:spPr>
          <a:xfrm>
            <a:off x="20" y="1"/>
            <a:ext cx="2050522" cy="6858000"/>
          </a:xfrm>
          <a:custGeom>
            <a:avLst/>
            <a:gdLst/>
            <a:ahLst/>
            <a:cxnLst/>
            <a:rect l="l" t="t" r="r" b="b"/>
            <a:pathLst>
              <a:path w="2734056" h="6858000">
                <a:moveTo>
                  <a:pt x="0" y="0"/>
                </a:moveTo>
                <a:lnTo>
                  <a:pt x="1674254" y="0"/>
                </a:lnTo>
                <a:lnTo>
                  <a:pt x="2734056" y="6850199"/>
                </a:lnTo>
                <a:lnTo>
                  <a:pt x="2734056" y="6858000"/>
                </a:lnTo>
                <a:lnTo>
                  <a:pt x="461457" y="6858000"/>
                </a:lnTo>
                <a:lnTo>
                  <a:pt x="0" y="4134118"/>
                </a:lnTo>
                <a:close/>
              </a:path>
            </a:pathLst>
          </a:custGeom>
        </p:spPr>
      </p:pic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051A3413-562D-435C-AAE4-56808F0CB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357491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78D86-9485-1F8C-A9E7-2E91D38D0E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37171" y="2160589"/>
            <a:ext cx="4818330" cy="3880773"/>
          </a:xfrm>
        </p:spPr>
        <p:txBody>
          <a:bodyPr>
            <a:normAutofit/>
          </a:bodyPr>
          <a:lstStyle/>
          <a:p>
            <a:r>
              <a:rPr lang="en-US" dirty="0"/>
              <a:t>Once the process is finished: </a:t>
            </a:r>
          </a:p>
          <a:p>
            <a:pPr lvl="1"/>
            <a:r>
              <a:rPr lang="en-US" dirty="0"/>
              <a:t>Open a Terminal or Powershell and run one of the following commands:</a:t>
            </a:r>
          </a:p>
          <a:p>
            <a:pPr lvl="2"/>
            <a:r>
              <a:rPr lang="en-US" dirty="0"/>
              <a:t>`python --version`</a:t>
            </a:r>
          </a:p>
          <a:p>
            <a:pPr lvl="2"/>
            <a:r>
              <a:rPr lang="en-US" dirty="0"/>
              <a:t>`</a:t>
            </a:r>
            <a:r>
              <a:rPr lang="en-US" dirty="0" err="1"/>
              <a:t>py</a:t>
            </a:r>
            <a:r>
              <a:rPr lang="en-US" dirty="0"/>
              <a:t> --version`</a:t>
            </a:r>
          </a:p>
          <a:p>
            <a:pPr lvl="2"/>
            <a:r>
              <a:rPr lang="en-US" dirty="0"/>
              <a:t>`python –m pip --version`</a:t>
            </a:r>
          </a:p>
          <a:p>
            <a:pPr lvl="1"/>
            <a:r>
              <a:rPr lang="en-US" dirty="0"/>
              <a:t>Optionally, launch the interactive python shell and try the help command</a:t>
            </a:r>
          </a:p>
          <a:p>
            <a:pPr lvl="2"/>
            <a:r>
              <a:rPr lang="en-US" dirty="0"/>
              <a:t>`</a:t>
            </a:r>
            <a:r>
              <a:rPr lang="en-US" dirty="0" err="1"/>
              <a:t>py</a:t>
            </a:r>
            <a:r>
              <a:rPr lang="en-US" dirty="0"/>
              <a:t>`</a:t>
            </a:r>
          </a:p>
          <a:p>
            <a:pPr lvl="2"/>
            <a:r>
              <a:rPr lang="en-US" dirty="0"/>
              <a:t>Then type: `help`</a:t>
            </a:r>
          </a:p>
          <a:p>
            <a:pPr lvl="2"/>
            <a:r>
              <a:rPr lang="en-US" dirty="0"/>
              <a:t>Within help: `keywords`, `modules`, `symbols` or `topics`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5171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7D6D3-FCFA-8F40-2638-27103E349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 anchor="t">
            <a:normAutofit/>
          </a:bodyPr>
          <a:lstStyle/>
          <a:p>
            <a:r>
              <a:rPr lang="en-US" dirty="0"/>
              <a:t>Version Boundary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1371C-E6EB-B26C-9018-D09947E3F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7646" y="5082819"/>
            <a:ext cx="6940187" cy="138835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Use a </a:t>
            </a:r>
            <a:r>
              <a:rPr lang="en-US" b="1" i="1" dirty="0"/>
              <a:t>stable</a:t>
            </a:r>
            <a:r>
              <a:rPr lang="en-US" dirty="0"/>
              <a:t> Python release.</a:t>
            </a:r>
          </a:p>
          <a:p>
            <a:r>
              <a:rPr lang="en-US" dirty="0"/>
              <a:t>Do not use pre-release versions for this course unless the instructor tells you to.</a:t>
            </a:r>
          </a:p>
          <a:p>
            <a:r>
              <a:rPr lang="en-US" i="1" dirty="0"/>
              <a:t>“You don’t want to get ‘bit’!” </a:t>
            </a:r>
            <a:r>
              <a:rPr lang="en-US" dirty="0"/>
              <a:t>😆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2EFD96-E39C-CD24-3AD0-A41A2C11FE6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950" t="-7346" r="-1950" b="-7348"/>
          <a:stretch>
            <a:fillRect/>
          </a:stretch>
        </p:blipFill>
        <p:spPr>
          <a:xfrm>
            <a:off x="508000" y="1149984"/>
            <a:ext cx="6650446" cy="3932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9640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C87A0-628E-8ECA-90E9-D1AC91992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Course Folder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BDBC3C7-DFE2-85B1-D515-A62A2EBD2D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86336" y="1750775"/>
            <a:ext cx="4516401" cy="23248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1D4AF5-3633-F6DE-98C8-2CC58153CA75}"/>
              </a:ext>
            </a:extLst>
          </p:cNvPr>
          <p:cNvSpPr txBox="1"/>
          <p:nvPr/>
        </p:nvSpPr>
        <p:spPr>
          <a:xfrm>
            <a:off x="1144757" y="4579144"/>
            <a:ext cx="527739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Create a folder, or folder structure for your course work.</a:t>
            </a:r>
          </a:p>
          <a:p>
            <a:endParaRPr lang="en-US" dirty="0"/>
          </a:p>
          <a:p>
            <a:r>
              <a:rPr lang="en-US" dirty="0"/>
              <a:t>Keep your projects and assignments organized from the start.</a:t>
            </a:r>
          </a:p>
        </p:txBody>
      </p:sp>
    </p:spTree>
    <p:extLst>
      <p:ext uri="{BB962C8B-B14F-4D97-AF65-F5344CB8AC3E}">
        <p14:creationId xmlns:p14="http://schemas.microsoft.com/office/powerpoint/2010/main" val="17180156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B22A7-AC5E-54F6-FF7C-582EDAAEF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 Virtual Environment Does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844A9-4805-90E9-6666-EF537A2A1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virtual environment is a local Python workspace for one project.</a:t>
            </a:r>
            <a:br>
              <a:rPr lang="en-US" dirty="0"/>
            </a:br>
            <a:endParaRPr lang="en-US" dirty="0"/>
          </a:p>
          <a:p>
            <a:r>
              <a:rPr lang="en-US" dirty="0"/>
              <a:t>It helps keep project packages separate from the rest of your computer.</a:t>
            </a:r>
          </a:p>
          <a:p>
            <a:endParaRPr lang="en-US" dirty="0"/>
          </a:p>
          <a:p>
            <a:r>
              <a:rPr lang="en-US" dirty="0"/>
              <a:t>It also allows for different “versions” of python to “co-exist” on one machine. This will be important when working on legacy software applications.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17733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BF9CA-097B-5CF7-6EC3-34CDB9562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7171" y="609600"/>
            <a:ext cx="4818330" cy="1320800"/>
          </a:xfrm>
        </p:spPr>
        <p:txBody>
          <a:bodyPr>
            <a:normAutofit/>
          </a:bodyPr>
          <a:lstStyle/>
          <a:p>
            <a:r>
              <a:rPr lang="en-US" dirty="0"/>
              <a:t>Create `.</a:t>
            </a:r>
            <a:r>
              <a:rPr lang="en-US" dirty="0" err="1"/>
              <a:t>venv</a:t>
            </a:r>
            <a:r>
              <a:rPr lang="en-US" dirty="0"/>
              <a:t>`</a:t>
            </a:r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9F8803AC-EE0E-40C2-AD46-FD84FAD82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187" y="3822970"/>
            <a:ext cx="372084" cy="2918298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Picture 4" descr="Hexagon network on a yellow background">
            <a:extLst>
              <a:ext uri="{FF2B5EF4-FFF2-40B4-BE49-F238E27FC236}">
                <a16:creationId xmlns:a16="http://schemas.microsoft.com/office/drawing/2014/main" id="{618F9DAA-4A5E-F2C9-2B5F-0B6A98B4663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048" r="29012"/>
          <a:stretch>
            <a:fillRect/>
          </a:stretch>
        </p:blipFill>
        <p:spPr>
          <a:xfrm>
            <a:off x="20" y="1"/>
            <a:ext cx="2050522" cy="6858000"/>
          </a:xfrm>
          <a:custGeom>
            <a:avLst/>
            <a:gdLst/>
            <a:ahLst/>
            <a:cxnLst/>
            <a:rect l="l" t="t" r="r" b="b"/>
            <a:pathLst>
              <a:path w="2734056" h="6858000">
                <a:moveTo>
                  <a:pt x="0" y="0"/>
                </a:moveTo>
                <a:lnTo>
                  <a:pt x="1674254" y="0"/>
                </a:lnTo>
                <a:lnTo>
                  <a:pt x="2734056" y="6850199"/>
                </a:lnTo>
                <a:lnTo>
                  <a:pt x="2734056" y="6858000"/>
                </a:lnTo>
                <a:lnTo>
                  <a:pt x="461457" y="6858000"/>
                </a:lnTo>
                <a:lnTo>
                  <a:pt x="0" y="4134118"/>
                </a:lnTo>
                <a:close/>
              </a:path>
            </a:pathLst>
          </a:custGeom>
        </p:spPr>
      </p:pic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051A3413-562D-435C-AAE4-56808F0CB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357491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8B4DC1-71F9-C9D2-F9E2-C6963316C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37171" y="2160589"/>
            <a:ext cx="4818330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From the project folder, using the terminal or powershell, create a virtual environment:</a:t>
            </a:r>
          </a:p>
          <a:p>
            <a:r>
              <a:rPr lang="en-US" dirty="0"/>
              <a:t>`</a:t>
            </a:r>
            <a:r>
              <a:rPr lang="en-US" dirty="0" err="1"/>
              <a:t>py</a:t>
            </a:r>
            <a:r>
              <a:rPr lang="en-US" dirty="0"/>
              <a:t> -m </a:t>
            </a:r>
            <a:r>
              <a:rPr lang="en-US" dirty="0" err="1"/>
              <a:t>venv</a:t>
            </a:r>
            <a:r>
              <a:rPr lang="en-US" dirty="0"/>
              <a:t> .</a:t>
            </a:r>
            <a:r>
              <a:rPr lang="en-US" dirty="0" err="1"/>
              <a:t>venv</a:t>
            </a:r>
            <a:r>
              <a:rPr lang="en-US" dirty="0"/>
              <a:t>`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If `</a:t>
            </a:r>
            <a:r>
              <a:rPr lang="en-US" dirty="0" err="1"/>
              <a:t>py</a:t>
            </a:r>
            <a:r>
              <a:rPr lang="en-US" dirty="0"/>
              <a:t>` is not available, use:</a:t>
            </a:r>
          </a:p>
          <a:p>
            <a:r>
              <a:rPr lang="en-US" dirty="0"/>
              <a:t>`python -m </a:t>
            </a:r>
            <a:r>
              <a:rPr lang="en-US" dirty="0" err="1"/>
              <a:t>venv</a:t>
            </a:r>
            <a:r>
              <a:rPr lang="en-US" dirty="0"/>
              <a:t> .</a:t>
            </a:r>
            <a:r>
              <a:rPr lang="en-US" dirty="0" err="1"/>
              <a:t>venv</a:t>
            </a:r>
            <a:r>
              <a:rPr lang="en-US" dirty="0"/>
              <a:t>`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4082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E637E-2916-851D-22D3-1BB9D2B7C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Activate `.</a:t>
            </a:r>
            <a:r>
              <a:rPr lang="en-US" dirty="0" err="1"/>
              <a:t>venv</a:t>
            </a:r>
            <a:r>
              <a:rPr lang="en-US" dirty="0"/>
              <a:t>` In PowerShell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ADAA19-13E9-D52C-94B6-9ACD53C6F2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930400"/>
            <a:ext cx="6347714" cy="19788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Windows PowerShell activation:</a:t>
            </a:r>
          </a:p>
          <a:p>
            <a:pPr marL="0" indent="0">
              <a:buNone/>
            </a:pPr>
            <a:r>
              <a:rPr lang="en-US" dirty="0"/>
              <a:t>Command: </a:t>
            </a:r>
          </a:p>
          <a:p>
            <a:r>
              <a:rPr lang="en-US" dirty="0"/>
              <a:t>`.\.</a:t>
            </a:r>
            <a:r>
              <a:rPr lang="en-US" dirty="0" err="1"/>
              <a:t>venv</a:t>
            </a:r>
            <a:r>
              <a:rPr lang="en-US" dirty="0"/>
              <a:t>\Scripts\Activate.ps1`</a:t>
            </a:r>
          </a:p>
          <a:p>
            <a:pPr marL="0" indent="0">
              <a:buNone/>
            </a:pPr>
            <a:r>
              <a:rPr lang="en-US" dirty="0"/>
              <a:t>When active, the terminal prompt usually shows:</a:t>
            </a:r>
          </a:p>
          <a:p>
            <a:r>
              <a:rPr lang="en-US" dirty="0"/>
              <a:t>(.</a:t>
            </a:r>
            <a:r>
              <a:rPr lang="en-US" dirty="0" err="1"/>
              <a:t>venv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43A6FC-D31C-B2DB-CAE4-9626DD0C2F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" y="4557995"/>
            <a:ext cx="6017151" cy="1344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6049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0265050-FD84-47EF-A163-6A481836C1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11B064D-F4EB-4312-AEEA-6AFDB257E7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34303" y="-8467"/>
            <a:ext cx="3575050" cy="6866467"/>
            <a:chOff x="7425267" y="-8467"/>
            <a:chExt cx="4766733" cy="6866467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7041201-C3DD-4181-B0E0-5C960FFE53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BFBFBF">
                  <a:alpha val="75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9A678F-8D0F-4F98-85A6-797199C550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rgbClr val="BFBFBF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23">
              <a:extLst>
                <a:ext uri="{FF2B5EF4-FFF2-40B4-BE49-F238E27FC236}">
                  <a16:creationId xmlns:a16="http://schemas.microsoft.com/office/drawing/2014/main" id="{82463FFC-4B08-4AF2-AC5A-F681CE9772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Rectangle 25">
              <a:extLst>
                <a:ext uri="{FF2B5EF4-FFF2-40B4-BE49-F238E27FC236}">
                  <a16:creationId xmlns:a16="http://schemas.microsoft.com/office/drawing/2014/main" id="{87C110A9-8F54-42F4-9B19-8D33F94DE5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9F5AD5FC-19DB-4C66-BDDA-043A6AAC94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27">
              <a:extLst>
                <a:ext uri="{FF2B5EF4-FFF2-40B4-BE49-F238E27FC236}">
                  <a16:creationId xmlns:a16="http://schemas.microsoft.com/office/drawing/2014/main" id="{352A3EAD-426D-4399-B7E0-81D26F7003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28">
              <a:extLst>
                <a:ext uri="{FF2B5EF4-FFF2-40B4-BE49-F238E27FC236}">
                  <a16:creationId xmlns:a16="http://schemas.microsoft.com/office/drawing/2014/main" id="{F842EF93-A507-4796-A726-0D0A9B751C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29">
              <a:extLst>
                <a:ext uri="{FF2B5EF4-FFF2-40B4-BE49-F238E27FC236}">
                  <a16:creationId xmlns:a16="http://schemas.microsoft.com/office/drawing/2014/main" id="{24F1410B-DBCE-471A-97C3-B96C0A7BBC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0BBC8502-8D68-4CE4-B690-2EBB6BCCDD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37DE54-DB82-0021-AF00-C3E96DF89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360" y="1382486"/>
            <a:ext cx="2660686" cy="4093028"/>
          </a:xfrm>
        </p:spPr>
        <p:txBody>
          <a:bodyPr anchor="ctr">
            <a:normAutofit/>
          </a:bodyPr>
          <a:lstStyle/>
          <a:p>
            <a:r>
              <a:rPr lang="en-US" sz="3800"/>
              <a:t>Why `.venv` Matters Later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77CD7A-FE9E-475D-BF9C-78183B0B1B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06968" y="0"/>
            <a:ext cx="483703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5E1D566-3D9B-985D-91A0-A8DA21FF168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12754273"/>
              </p:ext>
            </p:extLst>
          </p:nvPr>
        </p:nvGraphicFramePr>
        <p:xfrm>
          <a:off x="3639407" y="944564"/>
          <a:ext cx="5019610" cy="48231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5760883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9AE27B9D-0F04-458B-A718-F84902C79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7AB6435-428E-44C8-A107-8435183F6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659658D-9AE1-44D3-B002-2BA204AB9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23">
              <a:extLst>
                <a:ext uri="{FF2B5EF4-FFF2-40B4-BE49-F238E27FC236}">
                  <a16:creationId xmlns:a16="http://schemas.microsoft.com/office/drawing/2014/main" id="{2083C874-CFCD-47ED-9F98-DDB125C9C0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Rectangle 25">
              <a:extLst>
                <a:ext uri="{FF2B5EF4-FFF2-40B4-BE49-F238E27FC236}">
                  <a16:creationId xmlns:a16="http://schemas.microsoft.com/office/drawing/2014/main" id="{605E9946-A240-42E3-B6CD-E6691BF4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315B1B45-25C3-4C58-8EB8-41BCFA02A6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7">
              <a:extLst>
                <a:ext uri="{FF2B5EF4-FFF2-40B4-BE49-F238E27FC236}">
                  <a16:creationId xmlns:a16="http://schemas.microsoft.com/office/drawing/2014/main" id="{87983A9A-7A69-406F-AFEA-AD2AE87E1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28">
              <a:extLst>
                <a:ext uri="{FF2B5EF4-FFF2-40B4-BE49-F238E27FC236}">
                  <a16:creationId xmlns:a16="http://schemas.microsoft.com/office/drawing/2014/main" id="{FFCBC4EF-C03E-4EED-9E9A-3097DECC0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29">
              <a:extLst>
                <a:ext uri="{FF2B5EF4-FFF2-40B4-BE49-F238E27FC236}">
                  <a16:creationId xmlns:a16="http://schemas.microsoft.com/office/drawing/2014/main" id="{F56545EE-F94F-4B4C-AA43-9D674566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2FE2A6B2-D45B-484C-BAFD-3F45082664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EC2132BF-207E-4FB2-B0FE-E6FD0A1D18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6" name="Picture 5" descr="Computer script on a screen">
            <a:extLst>
              <a:ext uri="{FF2B5EF4-FFF2-40B4-BE49-F238E27FC236}">
                <a16:creationId xmlns:a16="http://schemas.microsoft.com/office/drawing/2014/main" id="{A1B64117-5F87-1516-4662-DA98D285A0DA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prstClr val="white"/>
            </a:duotone>
          </a:blip>
          <a:srcRect l="6746" r="41406" b="-2"/>
          <a:stretch>
            <a:fillRect/>
          </a:stretch>
        </p:blipFill>
        <p:spPr>
          <a:xfrm>
            <a:off x="3814762" y="-1"/>
            <a:ext cx="5326856" cy="6858001"/>
          </a:xfrm>
          <a:custGeom>
            <a:avLst/>
            <a:gdLst/>
            <a:ahLst/>
            <a:cxnLst/>
            <a:rect l="l" t="t" r="r" b="b"/>
            <a:pathLst>
              <a:path w="7102474" h="6858001">
                <a:moveTo>
                  <a:pt x="417180" y="0"/>
                </a:moveTo>
                <a:lnTo>
                  <a:pt x="7102474" y="0"/>
                </a:lnTo>
                <a:lnTo>
                  <a:pt x="7102474" y="6858001"/>
                </a:lnTo>
                <a:lnTo>
                  <a:pt x="65002" y="6858001"/>
                </a:lnTo>
                <a:lnTo>
                  <a:pt x="1840421" y="4521201"/>
                </a:lnTo>
                <a:close/>
                <a:moveTo>
                  <a:pt x="0" y="0"/>
                </a:moveTo>
                <a:lnTo>
                  <a:pt x="417180" y="0"/>
                </a:lnTo>
                <a:lnTo>
                  <a:pt x="0" y="447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BFBFEC-118F-E0B6-8978-DBFDA4C8C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649" y="1678666"/>
            <a:ext cx="3842636" cy="236909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200"/>
              <a:t>Install Visual Studio Code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3D2D849-17D8-45A4-9FB8-B955CD22BD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A0A4A95-757B-4092-A077-CA7C3ADE49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3">
            <a:extLst>
              <a:ext uri="{FF2B5EF4-FFF2-40B4-BE49-F238E27FC236}">
                <a16:creationId xmlns:a16="http://schemas.microsoft.com/office/drawing/2014/main" id="{2D2FAE71-B8B1-4745-A59A-A88D3FE483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8" name="Rectangle 25">
            <a:extLst>
              <a:ext uri="{FF2B5EF4-FFF2-40B4-BE49-F238E27FC236}">
                <a16:creationId xmlns:a16="http://schemas.microsoft.com/office/drawing/2014/main" id="{E4C67344-C816-4380-85F7-CCFD7F8BA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Isosceles Triangle 24">
            <a:extLst>
              <a:ext uri="{FF2B5EF4-FFF2-40B4-BE49-F238E27FC236}">
                <a16:creationId xmlns:a16="http://schemas.microsoft.com/office/drawing/2014/main" id="{5A0B04CD-E5BD-4922-BE66-2D5B3A0DE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2" name="Rectangle 27">
            <a:extLst>
              <a:ext uri="{FF2B5EF4-FFF2-40B4-BE49-F238E27FC236}">
                <a16:creationId xmlns:a16="http://schemas.microsoft.com/office/drawing/2014/main" id="{CF4C9BE8-5C78-476D-9042-ECD8BE635E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7D6A31B3-BF49-4DB2-8306-DD2E4B8897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6" name="Rectangle 29">
            <a:extLst>
              <a:ext uri="{FF2B5EF4-FFF2-40B4-BE49-F238E27FC236}">
                <a16:creationId xmlns:a16="http://schemas.microsoft.com/office/drawing/2014/main" id="{A903E87B-DD97-4095-B106-3218D6AF7F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Isosceles Triangle 29">
            <a:extLst>
              <a:ext uri="{FF2B5EF4-FFF2-40B4-BE49-F238E27FC236}">
                <a16:creationId xmlns:a16="http://schemas.microsoft.com/office/drawing/2014/main" id="{954CB26F-45F0-4288-A3B1-32535127B9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2642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0265050-FD84-47EF-A163-6A481836C1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11B064D-F4EB-4312-AEEA-6AFDB257E7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34303" y="-8467"/>
            <a:ext cx="3575050" cy="6866467"/>
            <a:chOff x="7425267" y="-8467"/>
            <a:chExt cx="4766733" cy="6866467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7041201-C3DD-4181-B0E0-5C960FFE53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BFBFBF">
                  <a:alpha val="75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9A678F-8D0F-4F98-85A6-797199C550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rgbClr val="BFBFBF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23">
              <a:extLst>
                <a:ext uri="{FF2B5EF4-FFF2-40B4-BE49-F238E27FC236}">
                  <a16:creationId xmlns:a16="http://schemas.microsoft.com/office/drawing/2014/main" id="{82463FFC-4B08-4AF2-AC5A-F681CE9772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25">
              <a:extLst>
                <a:ext uri="{FF2B5EF4-FFF2-40B4-BE49-F238E27FC236}">
                  <a16:creationId xmlns:a16="http://schemas.microsoft.com/office/drawing/2014/main" id="{87C110A9-8F54-42F4-9B19-8D33F94DE5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9F5AD5FC-19DB-4C66-BDDA-043A6AAC94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27">
              <a:extLst>
                <a:ext uri="{FF2B5EF4-FFF2-40B4-BE49-F238E27FC236}">
                  <a16:creationId xmlns:a16="http://schemas.microsoft.com/office/drawing/2014/main" id="{352A3EAD-426D-4399-B7E0-81D26F7003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Rectangle 28">
              <a:extLst>
                <a:ext uri="{FF2B5EF4-FFF2-40B4-BE49-F238E27FC236}">
                  <a16:creationId xmlns:a16="http://schemas.microsoft.com/office/drawing/2014/main" id="{F842EF93-A507-4796-A726-0D0A9B751C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Rectangle 29">
              <a:extLst>
                <a:ext uri="{FF2B5EF4-FFF2-40B4-BE49-F238E27FC236}">
                  <a16:creationId xmlns:a16="http://schemas.microsoft.com/office/drawing/2014/main" id="{24F1410B-DBCE-471A-97C3-B96C0A7BBC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0BBC8502-8D68-4CE4-B690-2EBB6BCCDD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CF178CD3-D21A-BB8C-93CB-F472024E7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360" y="1382486"/>
            <a:ext cx="2660686" cy="4093028"/>
          </a:xfrm>
        </p:spPr>
        <p:txBody>
          <a:bodyPr anchor="ctr">
            <a:normAutofit/>
          </a:bodyPr>
          <a:lstStyle/>
          <a:p>
            <a:r>
              <a:rPr lang="en-US" sz="3800"/>
              <a:t>Difference between VS Code and Visual Studio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E77CD7A-FE9E-475D-BF9C-78183B0B1B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06968" y="0"/>
            <a:ext cx="483703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C09CA60F-B002-A549-64C4-87D2BA5651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014312"/>
              </p:ext>
            </p:extLst>
          </p:nvPr>
        </p:nvGraphicFramePr>
        <p:xfrm>
          <a:off x="3639407" y="944564"/>
          <a:ext cx="5019610" cy="48231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9135429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C9FBA-2753-0D19-5962-1D34946D2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 VS Code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4CF0753-5D30-ED2C-B2AE-FF42E0F9E5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38052" y="1755639"/>
            <a:ext cx="5291509" cy="38814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ECBB093-077C-7637-C3D5-40A4A54141A9}"/>
              </a:ext>
            </a:extLst>
          </p:cNvPr>
          <p:cNvSpPr txBox="1"/>
          <p:nvPr/>
        </p:nvSpPr>
        <p:spPr>
          <a:xfrm>
            <a:off x="1138052" y="6087291"/>
            <a:ext cx="5291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url: code.visualstudio.com/download</a:t>
            </a:r>
          </a:p>
        </p:txBody>
      </p:sp>
    </p:spTree>
    <p:extLst>
      <p:ext uri="{BB962C8B-B14F-4D97-AF65-F5344CB8AC3E}">
        <p14:creationId xmlns:p14="http://schemas.microsoft.com/office/powerpoint/2010/main" val="40031232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AE27B9D-0F04-458B-A718-F84902C79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7AB6435-428E-44C8-A107-8435183F6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659658D-9AE1-44D3-B002-2BA204AB9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23">
              <a:extLst>
                <a:ext uri="{FF2B5EF4-FFF2-40B4-BE49-F238E27FC236}">
                  <a16:creationId xmlns:a16="http://schemas.microsoft.com/office/drawing/2014/main" id="{2083C874-CFCD-47ED-9F98-DDB125C9C0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25">
              <a:extLst>
                <a:ext uri="{FF2B5EF4-FFF2-40B4-BE49-F238E27FC236}">
                  <a16:creationId xmlns:a16="http://schemas.microsoft.com/office/drawing/2014/main" id="{605E9946-A240-42E3-B6CD-E6691BF4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315B1B45-25C3-4C58-8EB8-41BCFA02A6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27">
              <a:extLst>
                <a:ext uri="{FF2B5EF4-FFF2-40B4-BE49-F238E27FC236}">
                  <a16:creationId xmlns:a16="http://schemas.microsoft.com/office/drawing/2014/main" id="{87983A9A-7A69-406F-AFEA-AD2AE87E1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Rectangle 28">
              <a:extLst>
                <a:ext uri="{FF2B5EF4-FFF2-40B4-BE49-F238E27FC236}">
                  <a16:creationId xmlns:a16="http://schemas.microsoft.com/office/drawing/2014/main" id="{FFCBC4EF-C03E-4EED-9E9A-3097DECC0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Rectangle 29">
              <a:extLst>
                <a:ext uri="{FF2B5EF4-FFF2-40B4-BE49-F238E27FC236}">
                  <a16:creationId xmlns:a16="http://schemas.microsoft.com/office/drawing/2014/main" id="{F56545EE-F94F-4B4C-AA43-9D674566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2FE2A6B2-D45B-484C-BAFD-3F45082664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EC2132BF-207E-4FB2-B0FE-E6FD0A1D18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9" name="Picture 8" descr="101010 data lines to infinity">
            <a:extLst>
              <a:ext uri="{FF2B5EF4-FFF2-40B4-BE49-F238E27FC236}">
                <a16:creationId xmlns:a16="http://schemas.microsoft.com/office/drawing/2014/main" id="{2D29C4FD-8652-7885-D2EA-D5C3A4391C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083" r="16820" b="1"/>
          <a:stretch>
            <a:fillRect/>
          </a:stretch>
        </p:blipFill>
        <p:spPr>
          <a:xfrm>
            <a:off x="3202390" y="-1"/>
            <a:ext cx="5941610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A71992DE-7F85-2C44-276D-A79F00575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650" y="1678666"/>
            <a:ext cx="3066142" cy="236909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200"/>
              <a:t>VS Code Extensions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A97ECF1-DC24-6687-E9FE-57FB2A1818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8001" y="4050831"/>
            <a:ext cx="3059791" cy="1096901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endParaRPr lang="en-US" sz="1400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57C1A16-B8AB-4D99-A195-A38F556A6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8A9B20B-D1DD-4573-B5EC-5580295192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3">
            <a:extLst>
              <a:ext uri="{FF2B5EF4-FFF2-40B4-BE49-F238E27FC236}">
                <a16:creationId xmlns:a16="http://schemas.microsoft.com/office/drawing/2014/main" id="{66D61E08-70C3-48D8-BEA0-787111DC3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1" name="Rectangle 25">
            <a:extLst>
              <a:ext uri="{FF2B5EF4-FFF2-40B4-BE49-F238E27FC236}">
                <a16:creationId xmlns:a16="http://schemas.microsoft.com/office/drawing/2014/main" id="{FC55298F-0AE5-478E-AD2B-03C2614C58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3" name="Isosceles Triangle 24">
            <a:extLst>
              <a:ext uri="{FF2B5EF4-FFF2-40B4-BE49-F238E27FC236}">
                <a16:creationId xmlns:a16="http://schemas.microsoft.com/office/drawing/2014/main" id="{C180E4EA-0B63-4779-A895-7E90E7108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5" name="Rectangle 27">
            <a:extLst>
              <a:ext uri="{FF2B5EF4-FFF2-40B4-BE49-F238E27FC236}">
                <a16:creationId xmlns:a16="http://schemas.microsoft.com/office/drawing/2014/main" id="{CEE01D9D-3DE8-4EED-B0D3-8F3C79CC7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7" name="Rectangle 28">
            <a:extLst>
              <a:ext uri="{FF2B5EF4-FFF2-40B4-BE49-F238E27FC236}">
                <a16:creationId xmlns:a16="http://schemas.microsoft.com/office/drawing/2014/main" id="{89AF5CE9-607F-43F4-8983-DCD6DA4051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9" name="Rectangle 29">
            <a:extLst>
              <a:ext uri="{FF2B5EF4-FFF2-40B4-BE49-F238E27FC236}">
                <a16:creationId xmlns:a16="http://schemas.microsoft.com/office/drawing/2014/main" id="{6EEA2DBD-9E1E-4521-8C01-F32AD18A89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1" name="Isosceles Triangle 29">
            <a:extLst>
              <a:ext uri="{FF2B5EF4-FFF2-40B4-BE49-F238E27FC236}">
                <a16:creationId xmlns:a16="http://schemas.microsoft.com/office/drawing/2014/main" id="{15BBD2C1-BA9B-46A9-A27A-33498B169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9584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B1BF0F1-5CD9-A7C6-62EF-34D40F539D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10667" r="2" b="2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EFFADC9E-E53C-4A0B-A5F7-914F962971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C449ECB7-AD08-44BE-AD5B-BB5A0D7AC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18141" y="0"/>
            <a:ext cx="7029450" cy="6858000"/>
          </a:xfrm>
          <a:prstGeom prst="parallelogram">
            <a:avLst>
              <a:gd name="adj" fmla="val 14937"/>
            </a:avLst>
          </a:prstGeom>
          <a:solidFill>
            <a:schemeClr val="bg1">
              <a:alpha val="9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51D804-C301-4EE3-A891-7EB241066F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371931B-4393-46AF-8BF1-6BD27758DD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3">
            <a:extLst>
              <a:ext uri="{FF2B5EF4-FFF2-40B4-BE49-F238E27FC236}">
                <a16:creationId xmlns:a16="http://schemas.microsoft.com/office/drawing/2014/main" id="{1F3818A7-4B05-4FC4-979D-743242721D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1E17DD-588A-00B3-178A-04FE3E87D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9535" y="609600"/>
            <a:ext cx="4865966" cy="1320800"/>
          </a:xfrm>
        </p:spPr>
        <p:txBody>
          <a:bodyPr anchor="t">
            <a:normAutofit/>
          </a:bodyPr>
          <a:lstStyle/>
          <a:p>
            <a:r>
              <a:rPr lang="en-US"/>
              <a:t>Install Python Extensions</a:t>
            </a:r>
          </a:p>
        </p:txBody>
      </p:sp>
      <p:sp>
        <p:nvSpPr>
          <p:cNvPr id="24" name="Rectangle 25">
            <a:extLst>
              <a:ext uri="{FF2B5EF4-FFF2-40B4-BE49-F238E27FC236}">
                <a16:creationId xmlns:a16="http://schemas.microsoft.com/office/drawing/2014/main" id="{10277C27-7A8A-4F89-B7C8-C99014836A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4D7DC2DC-2509-4873-A034-50568869B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E26CDF-2C80-0E88-F037-7168AF4D55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89535" y="2159000"/>
            <a:ext cx="4865966" cy="3882362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/>
              <a:t>Recommended VS Code extensions:</a:t>
            </a:r>
          </a:p>
          <a:p>
            <a:pPr>
              <a:lnSpc>
                <a:spcPct val="90000"/>
              </a:lnSpc>
            </a:pPr>
            <a:r>
              <a:rPr lang="en-US"/>
              <a:t>Python</a:t>
            </a:r>
          </a:p>
          <a:p>
            <a:pPr>
              <a:lnSpc>
                <a:spcPct val="90000"/>
              </a:lnSpc>
            </a:pPr>
            <a:r>
              <a:rPr lang="en-US" err="1"/>
              <a:t>Pylance</a:t>
            </a:r>
            <a:endParaRPr lang="en-US"/>
          </a:p>
          <a:p>
            <a:pPr>
              <a:lnSpc>
                <a:spcPct val="90000"/>
              </a:lnSpc>
            </a:pPr>
            <a:r>
              <a:rPr lang="en-US"/>
              <a:t>Python Environments</a:t>
            </a:r>
          </a:p>
          <a:p>
            <a:pPr>
              <a:lnSpc>
                <a:spcPct val="90000"/>
              </a:lnSpc>
            </a:pPr>
            <a:r>
              <a:rPr lang="en-US"/>
              <a:t>Python Extension Pack, optional (Don </a:t>
            </a:r>
            <a:r>
              <a:rPr lang="en-US" err="1"/>
              <a:t>Jayamanne</a:t>
            </a:r>
            <a:r>
              <a:rPr lang="en-US"/>
              <a:t>)</a:t>
            </a:r>
          </a:p>
          <a:p>
            <a:pPr>
              <a:lnSpc>
                <a:spcPct val="90000"/>
              </a:lnSpc>
            </a:pPr>
            <a:r>
              <a:rPr lang="en-US"/>
              <a:t>Python Development Extensions Pack, optional</a:t>
            </a:r>
          </a:p>
          <a:p>
            <a:pPr>
              <a:lnSpc>
                <a:spcPct val="90000"/>
              </a:lnSpc>
            </a:pPr>
            <a:r>
              <a:rPr lang="en-US"/>
              <a:t>Jupyter, optional</a:t>
            </a:r>
          </a:p>
          <a:p>
            <a:pPr marL="0" indent="0">
              <a:lnSpc>
                <a:spcPct val="90000"/>
              </a:lnSpc>
              <a:buNone/>
            </a:pPr>
            <a:endParaRPr lang="en-US"/>
          </a:p>
          <a:p>
            <a:pPr marL="0" indent="0">
              <a:lnSpc>
                <a:spcPct val="90000"/>
              </a:lnSpc>
              <a:buNone/>
            </a:pPr>
            <a:r>
              <a:rPr lang="en-US"/>
              <a:t>Use trusted publishers such as Microsoft.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22D0B7C-0B17-4C8E-BA79-D7E3AD58DA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Rectangle 28">
            <a:extLst>
              <a:ext uri="{FF2B5EF4-FFF2-40B4-BE49-F238E27FC236}">
                <a16:creationId xmlns:a16="http://schemas.microsoft.com/office/drawing/2014/main" id="{CCE414C6-A8E2-4A8F-BE26-8EC431D1CE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2" name="Rectangle 29">
            <a:extLst>
              <a:ext uri="{FF2B5EF4-FFF2-40B4-BE49-F238E27FC236}">
                <a16:creationId xmlns:a16="http://schemas.microsoft.com/office/drawing/2014/main" id="{49056809-9887-4E04-A8AD-104FF86CC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0A8AE74C-BE44-4E00-B22E-D88E1E985D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A4E4ED-4B11-D829-57EB-F416162505B0}"/>
              </a:ext>
            </a:extLst>
          </p:cNvPr>
          <p:cNvSpPr txBox="1"/>
          <p:nvPr/>
        </p:nvSpPr>
        <p:spPr>
          <a:xfrm>
            <a:off x="6617346" y="6657945"/>
            <a:ext cx="2526654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US" sz="700">
                <a:solidFill>
                  <a:srgbClr val="FFFFFF"/>
                </a:solidFill>
                <a:hlinkClick r:id="rId4" tooltip="https://martin-ueding.de/posts/visual-studio-code-and-pycharm-compared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US" sz="700">
                <a:solidFill>
                  <a:srgbClr val="FFFFFF"/>
                </a:solidFill>
              </a:rPr>
              <a:t> by Unknown Author is licensed under </a:t>
            </a:r>
            <a:r>
              <a:rPr lang="en-US" sz="700">
                <a:solidFill>
                  <a:srgbClr val="FFFFFF"/>
                </a:solidFill>
                <a:hlinkClick r:id="rId5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en-US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75317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24A97-FAC9-B724-2D67-F093D7EA3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614" y="796565"/>
            <a:ext cx="3693658" cy="1320800"/>
          </a:xfrm>
        </p:spPr>
        <p:txBody>
          <a:bodyPr anchor="ctr">
            <a:normAutofit/>
          </a:bodyPr>
          <a:lstStyle/>
          <a:p>
            <a:r>
              <a:rPr lang="en-US" dirty="0"/>
              <a:t>Install Python Extensions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A966968-D00B-36CF-B6B4-539418FAA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5730" y="977969"/>
            <a:ext cx="2438776" cy="4902061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B3CD704-A1D8-3337-4004-D47DE7F28D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521893" y="4645351"/>
            <a:ext cx="3690937" cy="106287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CCA8BD9-1C8B-724C-5FF7-B8732CEF97C3}"/>
              </a:ext>
            </a:extLst>
          </p:cNvPr>
          <p:cNvSpPr txBox="1"/>
          <p:nvPr/>
        </p:nvSpPr>
        <p:spPr>
          <a:xfrm>
            <a:off x="521893" y="2182816"/>
            <a:ext cx="335612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Select the Extensions button on the left side bar. </a:t>
            </a:r>
            <a:br>
              <a:rPr lang="en-US" dirty="0"/>
            </a:br>
            <a:endParaRPr lang="en-US" dirty="0"/>
          </a:p>
          <a:p>
            <a:r>
              <a:rPr lang="en-US" dirty="0"/>
              <a:t>Search for the desired extensions</a:t>
            </a:r>
          </a:p>
          <a:p>
            <a:br>
              <a:rPr lang="en-US" dirty="0"/>
            </a:br>
            <a:r>
              <a:rPr lang="en-US" dirty="0"/>
              <a:t>Click on the “Install”</a:t>
            </a:r>
          </a:p>
        </p:txBody>
      </p:sp>
    </p:spTree>
    <p:extLst>
      <p:ext uri="{BB962C8B-B14F-4D97-AF65-F5344CB8AC3E}">
        <p14:creationId xmlns:p14="http://schemas.microsoft.com/office/powerpoint/2010/main" val="29409632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48303-99AB-17F6-5D95-D12C87B55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Optional Additional Extensions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A9983-ED00-EC27-DD74-231CBC6A5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930400"/>
            <a:ext cx="6347714" cy="45487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Some cool extensions</a:t>
            </a:r>
          </a:p>
          <a:p>
            <a:r>
              <a:rPr lang="en-US" dirty="0"/>
              <a:t>Better Comments</a:t>
            </a:r>
          </a:p>
          <a:p>
            <a:r>
              <a:rPr lang="en-US" dirty="0"/>
              <a:t>Better Todo Tree</a:t>
            </a:r>
          </a:p>
          <a:p>
            <a:r>
              <a:rPr lang="en-US" dirty="0"/>
              <a:t>Bracket Pair Color DLW</a:t>
            </a:r>
          </a:p>
          <a:p>
            <a:r>
              <a:rPr lang="en-US" dirty="0"/>
              <a:t>Colorful Dark+</a:t>
            </a:r>
          </a:p>
          <a:p>
            <a:r>
              <a:rPr lang="en-US" dirty="0"/>
              <a:t>Colorful Comments</a:t>
            </a:r>
          </a:p>
          <a:p>
            <a:r>
              <a:rPr lang="en-US" dirty="0"/>
              <a:t>#region folding for VS Code</a:t>
            </a:r>
          </a:p>
          <a:p>
            <a:r>
              <a:rPr lang="en-US" dirty="0"/>
              <a:t>Powershell Extension Pack</a:t>
            </a:r>
          </a:p>
          <a:p>
            <a:r>
              <a:rPr lang="en-US" dirty="0"/>
              <a:t>Print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Git Extensions Pack</a:t>
            </a:r>
          </a:p>
          <a:p>
            <a:r>
              <a:rPr lang="en-US" dirty="0"/>
              <a:t>Git Graph</a:t>
            </a:r>
          </a:p>
        </p:txBody>
      </p:sp>
    </p:spTree>
    <p:extLst>
      <p:ext uri="{BB962C8B-B14F-4D97-AF65-F5344CB8AC3E}">
        <p14:creationId xmlns:p14="http://schemas.microsoft.com/office/powerpoint/2010/main" val="26090530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3495094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495095" y="-3"/>
            <a:ext cx="792559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0E9CFA-2400-B2F3-3D17-2B534DC59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5315" y="643467"/>
            <a:ext cx="3152284" cy="1375608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100">
                <a:solidFill>
                  <a:schemeClr val="bg1"/>
                </a:solidFill>
              </a:rPr>
              <a:t>Select The Python Interpreter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778562-6C4D-ECFD-5009-268406D369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315" y="2160590"/>
            <a:ext cx="2980457" cy="34401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>
                <a:solidFill>
                  <a:schemeClr val="bg1"/>
                </a:solidFill>
              </a:rPr>
              <a:t>In VS Code:</a:t>
            </a:r>
          </a:p>
          <a:p>
            <a:pPr>
              <a:buFont typeface="+mj-lt"/>
              <a:buAutoNum type="arabicPeriod"/>
            </a:pPr>
            <a:r>
              <a:rPr lang="en-US">
                <a:solidFill>
                  <a:schemeClr val="bg1"/>
                </a:solidFill>
              </a:rPr>
              <a:t>Open the project folder.</a:t>
            </a:r>
          </a:p>
          <a:p>
            <a:pPr>
              <a:buFont typeface="+mj-lt"/>
              <a:buAutoNum type="arabicPeriod"/>
            </a:pPr>
            <a:r>
              <a:rPr lang="en-US">
                <a:solidFill>
                  <a:schemeClr val="bg1"/>
                </a:solidFill>
              </a:rPr>
              <a:t>Open the Command Palette (Ctrl+Shift+P).</a:t>
            </a:r>
          </a:p>
          <a:p>
            <a:pPr>
              <a:buFont typeface="+mj-lt"/>
              <a:buAutoNum type="arabicPeriod"/>
            </a:pPr>
            <a:r>
              <a:rPr lang="en-US">
                <a:solidFill>
                  <a:schemeClr val="bg1"/>
                </a:solidFill>
              </a:rPr>
              <a:t>Choose `Python: Select Interpreter`.</a:t>
            </a:r>
          </a:p>
          <a:p>
            <a:pPr>
              <a:buFont typeface="+mj-lt"/>
              <a:buAutoNum type="arabicPeriod"/>
            </a:pPr>
            <a:r>
              <a:rPr lang="en-US">
                <a:solidFill>
                  <a:schemeClr val="bg1"/>
                </a:solidFill>
              </a:rPr>
              <a:t>Select the interpreter inside `.venv`.</a:t>
            </a:r>
          </a:p>
          <a:p>
            <a:endParaRPr lang="en-US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645DBF-0BC6-62A2-A198-4AA7E16D80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469817"/>
            <a:ext cx="3857625" cy="1905850"/>
          </a:xfrm>
          <a:prstGeom prst="rect">
            <a:avLst/>
          </a:prstGeom>
        </p:spPr>
      </p:pic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816772" y="4013200"/>
            <a:ext cx="336549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83732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97BAF-5164-B449-A365-B490D77A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VS Code And `.</a:t>
            </a:r>
            <a:r>
              <a:rPr lang="en-US" dirty="0" err="1"/>
              <a:t>venv</a:t>
            </a:r>
            <a:r>
              <a:rPr lang="en-US" dirty="0"/>
              <a:t>`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76D2B-9D5B-5F3D-1F30-032EB53DBB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611951"/>
            <a:ext cx="6347714" cy="250285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VS Code can detect and use virtual environments.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When the `.</a:t>
            </a:r>
            <a:r>
              <a:rPr lang="en-US" dirty="0" err="1"/>
              <a:t>venv</a:t>
            </a:r>
            <a:r>
              <a:rPr lang="en-US" dirty="0"/>
              <a:t>` interpreter is selected, new VS Code terminals can activate that environment automatically.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If it is not selected, you will need to manually activate the </a:t>
            </a:r>
            <a:r>
              <a:rPr lang="en-US" dirty="0" err="1"/>
              <a:t>venv</a:t>
            </a:r>
            <a:r>
              <a:rPr lang="en-US" dirty="0"/>
              <a:t> using the activate command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70F945-8582-F395-8DB4-B3CCC6138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039" y="4478284"/>
            <a:ext cx="6957312" cy="898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7704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34CC0-F10A-9676-FE63-A14ECCE6E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GitHub Submission Paths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6DE0C1-4749-E2F3-96E8-6A2F2A5B98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2651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C613D-D58F-C938-DB77-B49AE8FF0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 Control In VS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E41DF-080A-CC9D-F0C0-939C7DB79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6889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4C0F1-F299-7630-8CAE-6AA20F8E8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GitHub Extensions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61F723-6A89-8AEF-FA98-594D3D7372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3916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62BB2-EFDA-9FD7-A494-AF5CCA3DC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GitHub Vocabulary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D1A684-0E6C-BD48-59C2-899B671C41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650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E437E-DBA8-FF70-E32C-2C7C63D71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 Or VS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87A87-E00F-CCFF-8AE5-798038EF0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4561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F8727-8562-D8F0-BEA6-171FB53A3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Verification Checklist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01BFA7-6B01-88B8-2E10-1E59EFC14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452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A481A-7F41-7773-1B23-01FBB7FE9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Troubleshooting Layers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2F0C49-0EDF-1C4F-1361-4F152BCA90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8750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5C9AB-C928-87CD-E630-129F57591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Ready For First Programs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76FB87-EDB7-3C63-E246-1451E3CF2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2513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AE27B9D-0F04-458B-A718-F84902C79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7AB6435-428E-44C8-A107-8435183F6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659658D-9AE1-44D3-B002-2BA204AB9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23">
              <a:extLst>
                <a:ext uri="{FF2B5EF4-FFF2-40B4-BE49-F238E27FC236}">
                  <a16:creationId xmlns:a16="http://schemas.microsoft.com/office/drawing/2014/main" id="{2083C874-CFCD-47ED-9F98-DDB125C9C0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5">
              <a:extLst>
                <a:ext uri="{FF2B5EF4-FFF2-40B4-BE49-F238E27FC236}">
                  <a16:creationId xmlns:a16="http://schemas.microsoft.com/office/drawing/2014/main" id="{605E9946-A240-42E3-B6CD-E6691BF4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315B1B45-25C3-4C58-8EB8-41BCFA02A6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87983A9A-7A69-406F-AFEA-AD2AE87E1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FFCBC4EF-C03E-4EED-9E9A-3097DECC0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Rectangle 29">
              <a:extLst>
                <a:ext uri="{FF2B5EF4-FFF2-40B4-BE49-F238E27FC236}">
                  <a16:creationId xmlns:a16="http://schemas.microsoft.com/office/drawing/2014/main" id="{F56545EE-F94F-4B4C-AA43-9D674566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2FE2A6B2-D45B-484C-BAFD-3F45082664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EC2132BF-207E-4FB2-B0FE-E6FD0A1D18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7" name="Picture 6" descr="Camera lens close up">
            <a:extLst>
              <a:ext uri="{FF2B5EF4-FFF2-40B4-BE49-F238E27FC236}">
                <a16:creationId xmlns:a16="http://schemas.microsoft.com/office/drawing/2014/main" id="{3F92D707-4F6F-1707-563F-DAA7E83D0F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91" t="909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34257526-B660-46EC-83FB-51CCCEF4D5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5E54613B-CC3A-459D-97E1-23B891DE93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63405" y="0"/>
            <a:ext cx="5486400" cy="6858000"/>
          </a:xfrm>
          <a:prstGeom prst="parallelogram">
            <a:avLst>
              <a:gd name="adj" fmla="val 14937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B21385D-063D-42D0-BD60-907E9F826D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921B275-E6A3-4146-9F5F-5CD28092A3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23">
            <a:extLst>
              <a:ext uri="{FF2B5EF4-FFF2-40B4-BE49-F238E27FC236}">
                <a16:creationId xmlns:a16="http://schemas.microsoft.com/office/drawing/2014/main" id="{28E190A5-6423-4EE2-AF46-8B82F34BCD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4" name="Rectangle 25">
            <a:extLst>
              <a:ext uri="{FF2B5EF4-FFF2-40B4-BE49-F238E27FC236}">
                <a16:creationId xmlns:a16="http://schemas.microsoft.com/office/drawing/2014/main" id="{4A97AE97-5706-400B-8F09-602A25EA14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0860785A-BE10-40E0-8A0F-805CD3F592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C93F9C-2692-8651-EDC7-6D41F5D66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8150" y="1678665"/>
            <a:ext cx="3427352" cy="236913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/>
              <a:t>Demo</a:t>
            </a:r>
          </a:p>
        </p:txBody>
      </p:sp>
      <p:sp>
        <p:nvSpPr>
          <p:cNvPr id="38" name="Rectangle 27">
            <a:extLst>
              <a:ext uri="{FF2B5EF4-FFF2-40B4-BE49-F238E27FC236}">
                <a16:creationId xmlns:a16="http://schemas.microsoft.com/office/drawing/2014/main" id="{2CD66695-C096-4E32-9AC2-19B4EFD66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0" name="Rectangle 28">
            <a:extLst>
              <a:ext uri="{FF2B5EF4-FFF2-40B4-BE49-F238E27FC236}">
                <a16:creationId xmlns:a16="http://schemas.microsoft.com/office/drawing/2014/main" id="{A97E83CA-07FA-4B94-A213-9E6DA6FAC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2" name="Rectangle 29">
            <a:extLst>
              <a:ext uri="{FF2B5EF4-FFF2-40B4-BE49-F238E27FC236}">
                <a16:creationId xmlns:a16="http://schemas.microsoft.com/office/drawing/2014/main" id="{A531E02F-6391-4B0C-B1E1-D67E8EFC4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568558EC-35CA-4EC8-BB31-75AB78ACA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8920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D85B7-E617-7232-3D45-118C5B1AF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A Test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23AC4-941F-5169-DAA0-DF23E55C80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6417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D85B7-E617-7232-3D45-118C5B1AF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dirty="0"/>
              <a:t>Demo Evidence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23AC4-941F-5169-DAA0-DF23E55C80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</a:t>
            </a:r>
          </a:p>
        </p:txBody>
      </p:sp>
      <p:pic>
        <p:nvPicPr>
          <p:cNvPr id="5" name="Picture 4" descr="Magnifying glass showing decling performance">
            <a:extLst>
              <a:ext uri="{FF2B5EF4-FFF2-40B4-BE49-F238E27FC236}">
                <a16:creationId xmlns:a16="http://schemas.microsoft.com/office/drawing/2014/main" id="{0A8CDE13-EC6E-831B-0134-AE933CD2D1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430" r="39188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23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F827-0A5A-D6D9-6C73-5ACE22424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dirty="0"/>
              <a:t>Your Turn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8E31B9-CEED-D579-BC3C-E6F2B784D1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Install Python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row of samples for medical testing">
            <a:extLst>
              <a:ext uri="{FF2B5EF4-FFF2-40B4-BE49-F238E27FC236}">
                <a16:creationId xmlns:a16="http://schemas.microsoft.com/office/drawing/2014/main" id="{5406C1C5-46D3-5662-C887-3DA2319E77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75" r="4376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347200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E9555-1E16-8E8B-E548-105BA59C0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100" dirty="0"/>
              <a:t>Lab 0n Success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FF21A-F8C1-15AA-C705-4530AE58A0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r>
              <a:rPr lang="en-US" dirty="0"/>
              <a:t>a</a:t>
            </a:r>
          </a:p>
        </p:txBody>
      </p:sp>
      <p:pic>
        <p:nvPicPr>
          <p:cNvPr id="5" name="Picture 4" descr="Beakers with solution on shelf in lab">
            <a:extLst>
              <a:ext uri="{FF2B5EF4-FFF2-40B4-BE49-F238E27FC236}">
                <a16:creationId xmlns:a16="http://schemas.microsoft.com/office/drawing/2014/main" id="{255A690D-4CB8-0C66-184B-33949F8D65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287" r="24330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5131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E09B7E24-271E-4A3A-9D65-EE95ED972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5C59434-03B2-4F06-8362-A01DD785E2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FDF3815-C9F7-4B9E-A371-DE71C4E9D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23">
              <a:extLst>
                <a:ext uri="{FF2B5EF4-FFF2-40B4-BE49-F238E27FC236}">
                  <a16:creationId xmlns:a16="http://schemas.microsoft.com/office/drawing/2014/main" id="{34C30A41-6D9F-42F2-BE4A-B6D2E4400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5">
              <a:extLst>
                <a:ext uri="{FF2B5EF4-FFF2-40B4-BE49-F238E27FC236}">
                  <a16:creationId xmlns:a16="http://schemas.microsoft.com/office/drawing/2014/main" id="{8577AE11-EC00-4E67-9DDD-624E9DA123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406A24DE-7A6F-4459-9A79-712243D200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BFEBE697-7D77-4AC8-8E68-0483B47DFB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49FC7B15-C721-4A23-8F6A-2CFA77C614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Rectangle 29">
              <a:extLst>
                <a:ext uri="{FF2B5EF4-FFF2-40B4-BE49-F238E27FC236}">
                  <a16:creationId xmlns:a16="http://schemas.microsoft.com/office/drawing/2014/main" id="{164E8ACB-FC50-451D-AF0A-879ABC6EA6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D5F354A0-F0C9-4254-A913-DD68E78161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9B01B525-8D81-44A3-BC1F-C711B89D23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B291DAF8-8CBA-95A1-BEA8-AAD0C09C5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0752" y="1265314"/>
            <a:ext cx="3572668" cy="427119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800" dirty="0"/>
              <a:t>Great!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/>
              <a:t>Now let’s start the class!</a:t>
            </a:r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ADC5C86B-28CE-4597-97B7-4C09E20141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2380" y="1270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Graphic 8" descr="Thumbs Up Sign">
            <a:extLst>
              <a:ext uri="{FF2B5EF4-FFF2-40B4-BE49-F238E27FC236}">
                <a16:creationId xmlns:a16="http://schemas.microsoft.com/office/drawing/2014/main" id="{CD1A5982-49F4-6629-1884-3B7061C5B5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6453" y="2020850"/>
            <a:ext cx="2824269" cy="282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6822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D410D77-E7C1-DDF5-0FD1-14A5194BF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476" y="4473227"/>
            <a:ext cx="6216024" cy="10966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200" dirty="0"/>
              <a:t>Image Slide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85C1AE-67D2-9312-4902-A1548DA137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599" y="609600"/>
            <a:ext cx="6400800" cy="41148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001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Facet">
  <a:themeElements>
    <a:clrScheme name="Southwest Tech">
      <a:dk1>
        <a:srgbClr val="0B4F8A"/>
      </a:dk1>
      <a:lt1>
        <a:sysClr val="window" lastClr="FFFFFF"/>
      </a:lt1>
      <a:dk2>
        <a:srgbClr val="6F6F6F"/>
      </a:dk2>
      <a:lt2>
        <a:srgbClr val="F4F6F8"/>
      </a:lt2>
      <a:accent1>
        <a:srgbClr val="0B4F8A"/>
      </a:accent1>
      <a:accent2>
        <a:srgbClr val="2E73B8"/>
      </a:accent2>
      <a:accent3>
        <a:srgbClr val="F2B705"/>
      </a:accent3>
      <a:accent4>
        <a:srgbClr val="6F6F6F"/>
      </a:accent4>
      <a:accent5>
        <a:srgbClr val="2E73B8"/>
      </a:accent5>
      <a:accent6>
        <a:srgbClr val="F2B705"/>
      </a:accent6>
      <a:hlink>
        <a:srgbClr val="2E73B8"/>
      </a:hlink>
      <a:folHlink>
        <a:srgbClr val="0B4F8A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23659B44-6E34-4CE8-8F0D-387DA79968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TM02900688[[fn=Facet]]</Template>
  <TotalTime>9347</TotalTime>
  <Words>2007</Words>
  <Application>Microsoft Office PowerPoint</Application>
  <PresentationFormat>On-screen Show (4:3)</PresentationFormat>
  <Paragraphs>299</Paragraphs>
  <Slides>41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Aptos</vt:lpstr>
      <vt:lpstr>Arial</vt:lpstr>
      <vt:lpstr>Trebuchet MS</vt:lpstr>
      <vt:lpstr>Wingdings 3</vt:lpstr>
      <vt:lpstr>Facet</vt:lpstr>
      <vt:lpstr>Python Programming Foundations</vt:lpstr>
      <vt:lpstr>Setup Is Part Of The Course</vt:lpstr>
      <vt:lpstr>Setup Path</vt:lpstr>
      <vt:lpstr>What Success Look Like</vt:lpstr>
      <vt:lpstr>What We Will Use Today</vt:lpstr>
      <vt:lpstr>What We Will “Skip” For Now</vt:lpstr>
      <vt:lpstr>Download Python</vt:lpstr>
      <vt:lpstr>Windows – Two options</vt:lpstr>
      <vt:lpstr>New: Python Install Manager</vt:lpstr>
      <vt:lpstr>Install Python</vt:lpstr>
      <vt:lpstr>Verify Python</vt:lpstr>
      <vt:lpstr>Version Boundary</vt:lpstr>
      <vt:lpstr>Create A Course Folder</vt:lpstr>
      <vt:lpstr>What A Virtual Environment Does</vt:lpstr>
      <vt:lpstr>Create `.venv`</vt:lpstr>
      <vt:lpstr>Activate `.venv` In PowerShell</vt:lpstr>
      <vt:lpstr>Why `.venv` Matters Later</vt:lpstr>
      <vt:lpstr>Install Visual Studio Code</vt:lpstr>
      <vt:lpstr>Difference between VS Code and Visual Studio</vt:lpstr>
      <vt:lpstr>Download VS Code</vt:lpstr>
      <vt:lpstr>VS Code Extensions</vt:lpstr>
      <vt:lpstr>Install Python Extensions</vt:lpstr>
      <vt:lpstr>Install Python Extensions</vt:lpstr>
      <vt:lpstr>Install Optional Additional Extensions</vt:lpstr>
      <vt:lpstr>Select The Python Interpreter</vt:lpstr>
      <vt:lpstr>VS Code And `.venv`</vt:lpstr>
      <vt:lpstr>GitHub Submission Paths</vt:lpstr>
      <vt:lpstr>Source Control In VS Code</vt:lpstr>
      <vt:lpstr>GitHub Extensions</vt:lpstr>
      <vt:lpstr>GitHub Vocabulary</vt:lpstr>
      <vt:lpstr>CLI Or VS Code</vt:lpstr>
      <vt:lpstr>Setup Verification Checklist</vt:lpstr>
      <vt:lpstr>Troubleshooting Layers</vt:lpstr>
      <vt:lpstr>Ready For First Programs</vt:lpstr>
      <vt:lpstr>Demo</vt:lpstr>
      <vt:lpstr>Run A Test File</vt:lpstr>
      <vt:lpstr>Demo Evidence</vt:lpstr>
      <vt:lpstr>Your Turn</vt:lpstr>
      <vt:lpstr>Lab 0n Success Check</vt:lpstr>
      <vt:lpstr>Great!  Now let’s start the class!</vt:lpstr>
      <vt:lpstr>Image Slide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Cash Myers</dc:creator>
  <cp:keywords/>
  <dc:description>generated using python-pptx</dc:description>
  <cp:lastModifiedBy>Cash Myers</cp:lastModifiedBy>
  <cp:revision>128</cp:revision>
  <dcterms:created xsi:type="dcterms:W3CDTF">2013-01-27T09:14:16Z</dcterms:created>
  <dcterms:modified xsi:type="dcterms:W3CDTF">2026-06-12T16:31:36Z</dcterms:modified>
  <cp:category/>
</cp:coreProperties>
</file>