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32"/>
  </p:notesMasterIdLst>
  <p:handoutMasterIdLst>
    <p:handoutMasterId r:id="rId33"/>
  </p:handoutMasterIdLst>
  <p:sldIdLst>
    <p:sldId id="256" r:id="rId2"/>
    <p:sldId id="465" r:id="rId3"/>
    <p:sldId id="496" r:id="rId4"/>
    <p:sldId id="464" r:id="rId5"/>
    <p:sldId id="260" r:id="rId6"/>
    <p:sldId id="364" r:id="rId7"/>
    <p:sldId id="497" r:id="rId8"/>
    <p:sldId id="377" r:id="rId9"/>
    <p:sldId id="498" r:id="rId10"/>
    <p:sldId id="499" r:id="rId11"/>
    <p:sldId id="500" r:id="rId12"/>
    <p:sldId id="505" r:id="rId13"/>
    <p:sldId id="503" r:id="rId14"/>
    <p:sldId id="504" r:id="rId15"/>
    <p:sldId id="487" r:id="rId16"/>
    <p:sldId id="484" r:id="rId17"/>
    <p:sldId id="493" r:id="rId18"/>
    <p:sldId id="485" r:id="rId19"/>
    <p:sldId id="378" r:id="rId20"/>
    <p:sldId id="486" r:id="rId21"/>
    <p:sldId id="488" r:id="rId22"/>
    <p:sldId id="494" r:id="rId23"/>
    <p:sldId id="489" r:id="rId24"/>
    <p:sldId id="490" r:id="rId25"/>
    <p:sldId id="307" r:id="rId26"/>
    <p:sldId id="492" r:id="rId27"/>
    <p:sldId id="418" r:id="rId28"/>
    <p:sldId id="491" r:id="rId29"/>
    <p:sldId id="375" r:id="rId30"/>
    <p:sldId id="320" r:id="rId31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68900" autoAdjust="0"/>
  </p:normalViewPr>
  <p:slideViewPr>
    <p:cSldViewPr snapToGrid="0" snapToObjects="1">
      <p:cViewPr varScale="1">
        <p:scale>
          <a:sx n="77" d="100"/>
          <a:sy n="77" d="100"/>
        </p:scale>
        <p:origin x="26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400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59AF9F-1092-690D-006F-EBCE2C96B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C0900-FCC2-2A2A-613C-A277F4B712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4943E5A-6629-4B53-8BAD-0FC37077EB1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D7F8D-A102-3CF3-78CD-2CA4C36115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3618-FB8B-BA92-AF2F-43138FFAD9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E905D54-93E9-4845-A874-0CB2F7E46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6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3382475-516A-409A-944E-F435F3DFCCF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916ACA2-47E6-42D2-BEC8-EDC49A1A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2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34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9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F3CB-2B31-521A-0726-C1008F4D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D7CD0-4EF8-DB73-5E6A-07F2B5333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F2FFF-B679-7661-A5EB-1768F2936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E7612-9669-DD17-A23D-EFBF26C59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12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Ask students to identify the name and value in:</a:t>
            </a:r>
          </a:p>
          <a:p>
            <a:r>
              <a:rPr lang="en-US" sz="1300" dirty="0"/>
              <a:t>```python</a:t>
            </a:r>
          </a:p>
          <a:p>
            <a:r>
              <a:rPr lang="en-US" sz="1300" dirty="0" err="1"/>
              <a:t>course_name</a:t>
            </a:r>
            <a:r>
              <a:rPr lang="en-US" sz="1300" dirty="0"/>
              <a:t> = "Python Programming"</a:t>
            </a:r>
          </a:p>
          <a:p>
            <a:r>
              <a:rPr lang="en-US" sz="1300" dirty="0"/>
              <a:t>```</a:t>
            </a:r>
          </a:p>
          <a:p>
            <a:r>
              <a:rPr lang="en-US" sz="1300" dirty="0"/>
              <a:t>Then ask what `print(</a:t>
            </a:r>
            <a:r>
              <a:rPr lang="en-US" sz="1300" dirty="0" err="1"/>
              <a:t>course_name</a:t>
            </a:r>
            <a:r>
              <a:rPr lang="en-US" sz="1300" dirty="0"/>
              <a:t>)` displays.</a:t>
            </a:r>
          </a:p>
          <a:p>
            <a:r>
              <a:rPr lang="en-US" sz="1300" dirty="0"/>
              <a:t>Keep this quick. The purpose is activation, not reteaching.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If a string can be stored in a variable, a number can be stored too.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90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This slide protects cognitive load. Name what students should focus on and what they can safely ignore.</a:t>
            </a:r>
          </a:p>
          <a:p>
            <a:br>
              <a:rPr lang="en-US" sz="1300" dirty="0"/>
            </a:br>
            <a:r>
              <a:rPr lang="en-US" sz="1300" dirty="0"/>
              <a:t>Explicitly say that assigned numeric variables are still a valid path for A1 if `input()` is not introduced or if it becomes distracting.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The first new idea is simple: numbers are values too.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13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35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C3CF2-DCF5-92A2-8AE7-8F2F76513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B75C7-42E7-189F-7CB7-76C7E6E0D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A27209-F219-9F40-512A-980DCEA54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30384-C473-7100-1F8F-68AB2EE39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33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Use a direct comparison:</a:t>
            </a:r>
          </a:p>
          <a:p>
            <a:endParaRPr lang="en-US" sz="1300" dirty="0"/>
          </a:p>
          <a:p>
            <a:r>
              <a:rPr lang="en-US" sz="1300" dirty="0"/>
              <a:t>```python</a:t>
            </a:r>
          </a:p>
          <a:p>
            <a:r>
              <a:rPr lang="en-US" sz="1300" dirty="0" err="1"/>
              <a:t>student_name</a:t>
            </a:r>
            <a:r>
              <a:rPr lang="en-US" sz="1300" dirty="0"/>
              <a:t> = "Jordan"</a:t>
            </a:r>
          </a:p>
          <a:p>
            <a:r>
              <a:rPr lang="en-US" sz="1300" dirty="0" err="1"/>
              <a:t>items_purchased</a:t>
            </a:r>
            <a:r>
              <a:rPr lang="en-US" sz="1300" dirty="0"/>
              <a:t> = 3</a:t>
            </a:r>
          </a:p>
          <a:p>
            <a:r>
              <a:rPr lang="en-US" sz="1300" dirty="0"/>
              <a:t>```</a:t>
            </a:r>
          </a:p>
          <a:p>
            <a:r>
              <a:rPr lang="en-US" sz="1300" dirty="0"/>
              <a:t>Both are variables storing values. </a:t>
            </a:r>
          </a:p>
          <a:p>
            <a:r>
              <a:rPr lang="en-US" sz="1300" dirty="0"/>
              <a:t>The difference is what Python can do with those values.</a:t>
            </a:r>
          </a:p>
          <a:p>
            <a:br>
              <a:rPr lang="en-US" sz="1300" dirty="0"/>
            </a:br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Once numbers are stored, expressions can use them.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58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842C8-789D-223E-4539-6D31BE65E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84AE5-F0C3-2044-2D5F-49E648096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67BD4-E0F6-FB93-F683-D950A42D4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Keep operators practical:</a:t>
            </a:r>
          </a:p>
          <a:p>
            <a:r>
              <a:rPr lang="en-US" sz="1300" dirty="0"/>
              <a:t>- `+` adds</a:t>
            </a:r>
          </a:p>
          <a:p>
            <a:r>
              <a:rPr lang="en-US" sz="1300" dirty="0"/>
              <a:t>- `-` subtracts</a:t>
            </a:r>
          </a:p>
          <a:p>
            <a:r>
              <a:rPr lang="en-US" sz="1300" dirty="0"/>
              <a:t>- `*` multiplies</a:t>
            </a:r>
          </a:p>
          <a:p>
            <a:r>
              <a:rPr lang="en-US" sz="1300" dirty="0"/>
              <a:t>- `/` divides</a:t>
            </a:r>
          </a:p>
          <a:p>
            <a:r>
              <a:rPr lang="en-US" sz="1300" dirty="0"/>
              <a:t>Avoid turning this into a full math review. </a:t>
            </a:r>
          </a:p>
          <a:p>
            <a:r>
              <a:rPr lang="en-US" sz="1300" dirty="0"/>
              <a:t>The teaching point is that an expression produces a result the program can store or print.</a:t>
            </a:r>
            <a:br>
              <a:rPr lang="en-US" sz="1300" dirty="0"/>
            </a:br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The result of an expression usually deserves a clear name.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006C4-76E4-BB17-17A6-6CC3AD88A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03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E74F-B1CB-6D6E-A508-AABAA2D2A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C062C-9067-D662-B8DA-3D4DE4AF9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67568-5A9B-C07C-2506-128B1F794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Use:</a:t>
            </a:r>
          </a:p>
          <a:p>
            <a:r>
              <a:rPr lang="en-US" sz="1300" dirty="0"/>
              <a:t>```python</a:t>
            </a:r>
          </a:p>
          <a:p>
            <a:r>
              <a:rPr lang="en-US" sz="1300" dirty="0"/>
              <a:t>subtotal = </a:t>
            </a:r>
            <a:r>
              <a:rPr lang="en-US" sz="1300" dirty="0" err="1"/>
              <a:t>items_purchased</a:t>
            </a:r>
            <a:r>
              <a:rPr lang="en-US" sz="1300" dirty="0"/>
              <a:t> * </a:t>
            </a:r>
            <a:r>
              <a:rPr lang="en-US" sz="1300" dirty="0" err="1"/>
              <a:t>price_each</a:t>
            </a:r>
            <a:endParaRPr lang="en-US" sz="1300" dirty="0"/>
          </a:p>
          <a:p>
            <a:r>
              <a:rPr lang="en-US" sz="1300" dirty="0"/>
              <a:t>```</a:t>
            </a:r>
          </a:p>
          <a:p>
            <a:r>
              <a:rPr lang="en-US" sz="1300" dirty="0"/>
              <a:t>Ask what `subtotal` stores and why that name is easier to explain than `x`.</a:t>
            </a:r>
          </a:p>
          <a:p>
            <a:endParaRPr lang="en-US" sz="1300" dirty="0"/>
          </a:p>
          <a:p>
            <a:r>
              <a:rPr lang="en-US" sz="1300" dirty="0"/>
              <a:t>This reinforces professional habits gently without overloading naming theory.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Now the program has a value worth showing.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26FB0-8DCD-C977-CA5C-890BF088D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342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1D25D-DE15-EE46-F364-15BD1034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6907A-6B75-ACB8-06D5-0F9EFFFD4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01297-589A-E6E1-AC1C-16E65AFD3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This slide prepares students for readable output in Assignment 1. </a:t>
            </a:r>
          </a:p>
          <a:p>
            <a:r>
              <a:rPr lang="en-US" sz="1300" dirty="0"/>
              <a:t>It also reinforces that output is communication, not just a proof that code ran.</a:t>
            </a:r>
          </a:p>
          <a:p>
            <a:endParaRPr lang="en-US" sz="1300" dirty="0"/>
          </a:p>
          <a:p>
            <a:r>
              <a:rPr lang="en-US" sz="1300" dirty="0"/>
              <a:t>Avoid formatting depth. Keep the pattern simple: label plus value.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The reasoning habit is to trace how the value reached the output.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61C80-6A6C-952C-B430-CCE1CBCBF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82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0D3EE-AC69-2A1F-747D-97126B4E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B3458-C98B-A9D0-8683-1B25811A8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E1BDC-784C-A623-B210-1F6785DA6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This is the thinking-tool slide for the day.</a:t>
            </a:r>
          </a:p>
          <a:p>
            <a:endParaRPr lang="en-US" sz="1300" dirty="0"/>
          </a:p>
          <a:p>
            <a:r>
              <a:rPr lang="en-US" sz="1300" dirty="0"/>
              <a:t>Use the questions repeatedly:</a:t>
            </a:r>
          </a:p>
          <a:p>
            <a:r>
              <a:rPr lang="en-US" sz="1300" dirty="0"/>
              <a:t>- Where did this value start?</a:t>
            </a:r>
          </a:p>
          <a:p>
            <a:r>
              <a:rPr lang="en-US" sz="1300" dirty="0"/>
              <a:t>- Which expression changed it?</a:t>
            </a:r>
          </a:p>
          <a:p>
            <a:r>
              <a:rPr lang="en-US" sz="1300" dirty="0"/>
              <a:t>- Where was the result stored?</a:t>
            </a:r>
          </a:p>
          <a:p>
            <a:r>
              <a:rPr lang="en-US" sz="1300" dirty="0"/>
              <a:t>- What line printed it?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Let's turn that into a concrete path.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72253-22E8-7641-6BFF-A2BAA76AA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752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5FFA-A448-8D0F-733A-8AFB175D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CE6F3-12E9-3542-38DA-315248C1A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38C91-B169-C9A4-DDCE-7A519B267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E6C47-5309-0506-FF18-432390CAA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4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DE8CD-DEDB-CEE9-01B0-3C08FE50A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C20DD-BB1A-B5F6-EC71-9CDE92EBB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DBDF5-0510-60D0-8D88-34168A867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Use the exact path:</a:t>
            </a:r>
          </a:p>
          <a:p>
            <a:r>
              <a:rPr lang="en-US" sz="1300" dirty="0"/>
              <a:t>```text</a:t>
            </a:r>
          </a:p>
          <a:p>
            <a:r>
              <a:rPr lang="en-US" sz="1300" dirty="0" err="1"/>
              <a:t>items_purchased</a:t>
            </a:r>
            <a:r>
              <a:rPr lang="en-US" sz="1300" dirty="0"/>
              <a:t> -&gt; subtotal -&gt; </a:t>
            </a:r>
            <a:r>
              <a:rPr lang="en-US" sz="1300" dirty="0" err="1"/>
              <a:t>tax_amount</a:t>
            </a:r>
            <a:r>
              <a:rPr lang="en-US" sz="1300" dirty="0"/>
              <a:t> -&gt; total -&gt; printed output</a:t>
            </a:r>
          </a:p>
          <a:p>
            <a:r>
              <a:rPr lang="en-US" sz="1300" dirty="0"/>
              <a:t>```</a:t>
            </a:r>
          </a:p>
          <a:p>
            <a:r>
              <a:rPr lang="en-US" sz="1300" dirty="0"/>
              <a:t>Students do not need tax mastery. They need the habit of following the value.</a:t>
            </a:r>
          </a:p>
          <a:p>
            <a:br>
              <a:rPr lang="en-US" sz="1300" dirty="0"/>
            </a:br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Now we will watch that path in the numeric demo.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5384F-CB2E-3D0C-02C8-EEF11D47E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73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83306"/>
            <a:fld id="{1916ACA2-47E6-42D2-BEC8-EDC49A1A9FA1}" type="slidenum">
              <a:rPr lang="en-US" sz="1400">
                <a:solidFill>
                  <a:prstClr val="black"/>
                </a:solidFill>
                <a:latin typeface="Aptos" panose="02110004020202020204"/>
              </a:rPr>
              <a:pPr defTabSz="483306"/>
              <a:t>15</a:t>
            </a:fld>
            <a:endParaRPr lang="en-US" sz="14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256578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dirty="0"/>
              <a:t>**Instructor Notes**</a:t>
            </a:r>
          </a:p>
          <a:p>
            <a:r>
              <a:rPr lang="en-US" sz="1400" i="1" dirty="0"/>
              <a:t>`Demos/Week_01_First_Programs_and_Basic_Values/01_print_strings_variables.py`</a:t>
            </a:r>
          </a:p>
          <a:p>
            <a:br>
              <a:rPr lang="en-US" sz="1400" dirty="0"/>
            </a:br>
            <a:r>
              <a:rPr lang="en-US" sz="1400" dirty="0"/>
              <a:t>Recommended live move:</a:t>
            </a:r>
          </a:p>
          <a:p>
            <a:r>
              <a:rPr lang="en-US" sz="1400" dirty="0"/>
              <a:t>1. Start with only `print("Welcome to class!")`.</a:t>
            </a:r>
          </a:p>
          <a:p>
            <a:r>
              <a:rPr lang="en-US" sz="1400" dirty="0"/>
              <a:t>2. Run it.</a:t>
            </a:r>
          </a:p>
          <a:p>
            <a:r>
              <a:rPr lang="en-US" sz="1400" dirty="0"/>
              <a:t>3. Add `</a:t>
            </a:r>
            <a:r>
              <a:rPr lang="en-US" sz="1400" dirty="0" err="1"/>
              <a:t>course_name</a:t>
            </a:r>
            <a:r>
              <a:rPr lang="en-US" sz="1400" dirty="0"/>
              <a:t> = "Python Programming"`.</a:t>
            </a:r>
          </a:p>
          <a:p>
            <a:r>
              <a:rPr lang="en-US" sz="1400" dirty="0"/>
              <a:t>4. Print `</a:t>
            </a:r>
            <a:r>
              <a:rPr lang="en-US" sz="1400" dirty="0" err="1"/>
              <a:t>course_name</a:t>
            </a:r>
            <a:r>
              <a:rPr lang="en-US" sz="1400" dirty="0"/>
              <a:t>`.</a:t>
            </a:r>
          </a:p>
          <a:p>
            <a:r>
              <a:rPr lang="en-US" sz="1400" dirty="0"/>
              <a:t>5. Add `</a:t>
            </a:r>
            <a:r>
              <a:rPr lang="en-US" sz="1400" dirty="0" err="1"/>
              <a:t>student_name</a:t>
            </a:r>
            <a:r>
              <a:rPr lang="en-US" sz="1400" dirty="0"/>
              <a:t> = "Jordan"`.</a:t>
            </a:r>
          </a:p>
          <a:p>
            <a:r>
              <a:rPr lang="en-US" sz="1400" dirty="0"/>
              <a:t>6. Print `</a:t>
            </a:r>
            <a:r>
              <a:rPr lang="en-US" sz="1400" dirty="0" err="1"/>
              <a:t>student_name</a:t>
            </a:r>
            <a:r>
              <a:rPr lang="en-US" sz="1400" dirty="0"/>
              <a:t>`.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After each run, ask:</a:t>
            </a:r>
          </a:p>
          <a:p>
            <a:pPr marL="191589" indent="-191589">
              <a:buFontTx/>
              <a:buChar char="-"/>
            </a:pPr>
            <a:r>
              <a:rPr lang="en-US" sz="1400" dirty="0"/>
              <a:t>What appeared?</a:t>
            </a:r>
          </a:p>
          <a:p>
            <a:pPr marL="191589" indent="-191589">
              <a:buFontTx/>
              <a:buChar char="-"/>
            </a:pPr>
            <a:r>
              <a:rPr lang="en-US" sz="1400" dirty="0"/>
              <a:t>Which line caused it?</a:t>
            </a:r>
          </a:p>
          <a:p>
            <a:pPr marL="191589" indent="-191589">
              <a:buFontTx/>
              <a:buChar char="-"/>
            </a:pPr>
            <a:r>
              <a:rPr lang="en-US" sz="1400" dirty="0"/>
              <a:t>Which value is being stored?</a:t>
            </a:r>
          </a:p>
          <a:p>
            <a:pPr marL="191589" indent="-191589">
              <a:buFontTx/>
              <a:buChar char="-"/>
            </a:pPr>
            <a:endParaRPr lang="en-US" sz="1400" dirty="0"/>
          </a:p>
          <a:p>
            <a:r>
              <a:rPr lang="en-US" sz="1400" b="1" dirty="0"/>
              <a:t>**Transition Cue:**</a:t>
            </a:r>
            <a:endParaRPr lang="en-US" sz="1400" dirty="0"/>
          </a:p>
          <a:p>
            <a:r>
              <a:rPr lang="en-US" sz="1400" dirty="0"/>
              <a:t>The next useful idea is that a variable can point to a different current value after we update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83306"/>
            <a:fld id="{1916ACA2-47E6-42D2-BEC8-EDC49A1A9FA1}" type="slidenum">
              <a:rPr lang="en-US" sz="1400">
                <a:solidFill>
                  <a:prstClr val="black"/>
                </a:solidFill>
                <a:latin typeface="Aptos" panose="02110004020202020204"/>
              </a:rPr>
              <a:pPr defTabSz="483306"/>
              <a:t>16</a:t>
            </a:fld>
            <a:endParaRPr lang="en-US" sz="14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97766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EE35F-89FC-3B98-A411-4A93B736B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AC3F3-C38F-EFD7-6D09-32ED3B2B1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75BAD-4B41-EBE3-7389-13F8C081E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5B17B-7673-1A76-399F-31687E454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473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083DA-528A-7826-74CC-BD975BD86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29714-BFC7-83E3-0DA6-B9F05C1F0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DF7A2-DC5B-775A-B2BA-BB09696FC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dirty="0"/>
              <a:t>**Instructor Notes:**</a:t>
            </a:r>
            <a:endParaRPr lang="en-US" sz="1400" dirty="0"/>
          </a:p>
          <a:p>
            <a:br>
              <a:rPr lang="en-US" sz="1400" dirty="0"/>
            </a:br>
            <a:r>
              <a:rPr lang="en-US" sz="1400" dirty="0"/>
              <a:t>Use only if students are stable with the first two demos and there is time.</a:t>
            </a:r>
          </a:p>
          <a:p>
            <a:endParaRPr lang="en-US" sz="1400" dirty="0"/>
          </a:p>
          <a:p>
            <a:r>
              <a:rPr lang="en-US" sz="1400" dirty="0"/>
              <a:t>Reference:</a:t>
            </a:r>
          </a:p>
          <a:p>
            <a:r>
              <a:rPr lang="en-US" sz="1400" dirty="0"/>
              <a:t>`Demos/Week_01_First_Programs_and_Basic_Values/03_numbers_expressions.py`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Frame this as a preview for Day 2, not as a Day 1 expectation. Students should</a:t>
            </a:r>
          </a:p>
          <a:p>
            <a:r>
              <a:rPr lang="en-US" sz="1400" dirty="0"/>
              <a:t>not leave thinking A1 must already include calculations if numbers have not</a:t>
            </a:r>
          </a:p>
          <a:p>
            <a:r>
              <a:rPr lang="en-US" sz="1400" dirty="0"/>
              <a:t>been taught carefully yet.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**Transition Cue:**</a:t>
            </a:r>
            <a:endParaRPr lang="en-US" sz="1400" dirty="0"/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Before students begin, name the mistakes that are most likely to happen.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CFC54-92D6-0940-9A9B-CE2620681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510903"/>
            <a:fld id="{1916ACA2-47E6-42D2-BEC8-EDC49A1A9FA1}" type="slidenum">
              <a:rPr lang="en-US" sz="1400">
                <a:solidFill>
                  <a:prstClr val="black"/>
                </a:solidFill>
                <a:latin typeface="Aptos" panose="02110004020202020204"/>
              </a:rPr>
              <a:pPr defTabSz="510903"/>
              <a:t>18</a:t>
            </a:fld>
            <a:endParaRPr lang="en-US" sz="14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493185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Use only if the class is ready:</a:t>
            </a:r>
          </a:p>
          <a:p>
            <a:r>
              <a:rPr lang="en-US" sz="1300" i="1" dirty="0"/>
              <a:t>`Demos/Week_01_First_Programs_and_Basic_Values/04_input_optional.py`</a:t>
            </a:r>
          </a:p>
          <a:p>
            <a:br>
              <a:rPr lang="en-US" sz="1300" dirty="0"/>
            </a:br>
            <a:r>
              <a:rPr lang="en-US" sz="1300" dirty="0"/>
              <a:t>Keep it shallow:</a:t>
            </a:r>
          </a:p>
          <a:p>
            <a:r>
              <a:rPr lang="en-US" sz="1300" dirty="0"/>
              <a:t>- ask for a name</a:t>
            </a:r>
          </a:p>
          <a:p>
            <a:r>
              <a:rPr lang="en-US" sz="1300" dirty="0"/>
              <a:t>- store the response</a:t>
            </a:r>
          </a:p>
          <a:p>
            <a:r>
              <a:rPr lang="en-US" sz="1300" dirty="0"/>
              <a:t>- print a message using the stored value</a:t>
            </a:r>
          </a:p>
          <a:p>
            <a:br>
              <a:rPr lang="en-US" sz="1300" dirty="0"/>
            </a:br>
            <a:r>
              <a:rPr lang="en-US" sz="1300" dirty="0"/>
              <a:t>Say explicitly that </a:t>
            </a:r>
            <a:r>
              <a:rPr lang="en-US" sz="1300" b="1" i="1" dirty="0"/>
              <a:t>Assignment 1 may still use assigned variables if input has not been fully introduced</a:t>
            </a:r>
            <a:r>
              <a:rPr lang="en-US" sz="1300" dirty="0"/>
              <a:t>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If input is used for numbers, there is one extra issue to respect.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04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84BE1-E81E-95B6-72AE-73B7C7539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5A8489-EDDF-343F-7C9F-806BA8333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D97FF-64A7-7FD1-035A-68E475EF3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dirty="0"/>
              <a:t>**Instructor Notes:**</a:t>
            </a:r>
            <a:endParaRPr lang="en-US" sz="1400" dirty="0"/>
          </a:p>
          <a:p>
            <a:br>
              <a:rPr lang="en-US" sz="1400" dirty="0"/>
            </a:br>
            <a:r>
              <a:rPr lang="en-US" sz="1400" dirty="0"/>
              <a:t>Use only if students are stable with the first two demos and there is time.</a:t>
            </a:r>
          </a:p>
          <a:p>
            <a:endParaRPr lang="en-US" sz="1400" dirty="0"/>
          </a:p>
          <a:p>
            <a:r>
              <a:rPr lang="en-US" sz="1400" dirty="0"/>
              <a:t>Reference:</a:t>
            </a:r>
          </a:p>
          <a:p>
            <a:r>
              <a:rPr lang="en-US" sz="1400" dirty="0"/>
              <a:t>`Demos/Week_01_First_Programs_and_Basic_Values/03_numbers_expressions.py`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Frame this as a preview for Day 2, not as a Day 1 expectation. Students should</a:t>
            </a:r>
          </a:p>
          <a:p>
            <a:r>
              <a:rPr lang="en-US" sz="1400" dirty="0"/>
              <a:t>not leave thinking A1 must already include calculations if numbers have not</a:t>
            </a:r>
          </a:p>
          <a:p>
            <a:r>
              <a:rPr lang="en-US" sz="1400" dirty="0"/>
              <a:t>been taught carefully yet.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**Transition Cue:**</a:t>
            </a:r>
            <a:endParaRPr lang="en-US" sz="1400" dirty="0"/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Before students begin, name the mistakes that are most likely to happen.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2BB76-D403-2725-FDEE-E4524FCB5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510903"/>
            <a:fld id="{1916ACA2-47E6-42D2-BEC8-EDC49A1A9FA1}" type="slidenum">
              <a:rPr lang="en-US" sz="1400">
                <a:solidFill>
                  <a:prstClr val="black"/>
                </a:solidFill>
                <a:latin typeface="Aptos" panose="02110004020202020204"/>
              </a:rPr>
              <a:pPr defTabSz="510903"/>
              <a:t>20</a:t>
            </a:fld>
            <a:endParaRPr lang="en-US" sz="14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915908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4B280-9AE2-A059-D64A-0A6DB4FC9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28BFF-B3E6-DF3B-2002-F68CB066A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D9599-5AD8-CC74-9461-5A117CD9C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Use only if appropriate:</a:t>
            </a:r>
          </a:p>
          <a:p>
            <a:r>
              <a:rPr lang="en-US" sz="1300" i="1" dirty="0"/>
              <a:t>`Demos/Week_01_First_Programs_and_Basic_Values/05_input_number_conversion.py`</a:t>
            </a:r>
          </a:p>
          <a:p>
            <a:endParaRPr lang="en-US" sz="1300" dirty="0"/>
          </a:p>
          <a:p>
            <a:r>
              <a:rPr lang="en-US" sz="1300" dirty="0"/>
              <a:t>This is a common stumbling block. </a:t>
            </a:r>
          </a:p>
          <a:p>
            <a:r>
              <a:rPr lang="en-US" sz="1300" dirty="0"/>
              <a:t>If the group is shaky, do not demonstrate the error yet. </a:t>
            </a:r>
          </a:p>
          <a:p>
            <a:r>
              <a:rPr lang="en-US" sz="1300" dirty="0"/>
              <a:t>Show the correct pattern briefly or save it for a later session.</a:t>
            </a:r>
          </a:p>
          <a:p>
            <a:br>
              <a:rPr lang="en-US" sz="1300" dirty="0"/>
            </a:br>
            <a:r>
              <a:rPr lang="en-US" sz="1300" dirty="0"/>
              <a:t>Keep the focus on concept:</a:t>
            </a:r>
          </a:p>
          <a:p>
            <a:r>
              <a:rPr lang="en-US" sz="1300" dirty="0"/>
              <a:t>------------------------------------------------------------------</a:t>
            </a:r>
          </a:p>
          <a:p>
            <a:r>
              <a:rPr lang="en-US" sz="1300" dirty="0"/>
              <a:t>typed response -&gt; text -&gt; converted number -&gt; expression</a:t>
            </a:r>
          </a:p>
          <a:p>
            <a:r>
              <a:rPr lang="en-US" sz="1300" dirty="0"/>
              <a:t>------------------------------------------------------------------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Whether values are assigned or entered, the risk is losing track of where they came from.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277FC-510A-8247-F952-29AFF1F06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455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7193C-6515-C466-AAC0-3367DBD7F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AFB70-7452-C94F-4343-4CECEF313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8BEF8-DA33-6D05-764E-5AD02E0C0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558DD-AADE-EEB6-F7BD-A5DFC804D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261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Students may see several variables and stop tracing. </a:t>
            </a:r>
          </a:p>
          <a:p>
            <a:r>
              <a:rPr lang="en-US" sz="1300" dirty="0"/>
              <a:t>Reinforce that tracing is not extra work. </a:t>
            </a:r>
          </a:p>
          <a:p>
            <a:r>
              <a:rPr lang="en-US" sz="1300" dirty="0"/>
              <a:t>It is how they understand the program.</a:t>
            </a:r>
          </a:p>
          <a:p>
            <a:br>
              <a:rPr lang="en-US" sz="1300" dirty="0"/>
            </a:br>
            <a:r>
              <a:rPr lang="en-US" sz="1300" dirty="0"/>
              <a:t>Use the demo as the example:</a:t>
            </a:r>
          </a:p>
          <a:p>
            <a:r>
              <a:rPr lang="en-US" sz="1300" dirty="0"/>
              <a:t>- `</a:t>
            </a:r>
            <a:r>
              <a:rPr lang="en-US" sz="1300" dirty="0" err="1"/>
              <a:t>items_purchased</a:t>
            </a:r>
            <a:r>
              <a:rPr lang="en-US" sz="1300" dirty="0"/>
              <a:t>`</a:t>
            </a:r>
          </a:p>
          <a:p>
            <a:r>
              <a:rPr lang="en-US" sz="1300" dirty="0"/>
              <a:t>- `</a:t>
            </a:r>
            <a:r>
              <a:rPr lang="en-US" sz="1300" dirty="0" err="1"/>
              <a:t>price_each</a:t>
            </a:r>
            <a:r>
              <a:rPr lang="en-US" sz="1300" dirty="0"/>
              <a:t>`</a:t>
            </a:r>
          </a:p>
          <a:p>
            <a:r>
              <a:rPr lang="en-US" sz="1300" dirty="0"/>
              <a:t>- `subtotal`</a:t>
            </a:r>
          </a:p>
          <a:p>
            <a:r>
              <a:rPr lang="en-US" sz="1300" dirty="0"/>
              <a:t>- `</a:t>
            </a:r>
            <a:r>
              <a:rPr lang="en-US" sz="1300" dirty="0" err="1"/>
              <a:t>tax_amount</a:t>
            </a:r>
            <a:r>
              <a:rPr lang="en-US" sz="1300" dirty="0"/>
              <a:t>`</a:t>
            </a:r>
          </a:p>
          <a:p>
            <a:r>
              <a:rPr lang="en-US" sz="1300" dirty="0"/>
              <a:t>- `total`</a:t>
            </a:r>
          </a:p>
          <a:p>
            <a:br>
              <a:rPr lang="en-US" sz="1300" dirty="0"/>
            </a:br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The second risk is letting `input()` steal attention from the value path.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48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This slide keeps the course aligned with Assignment 1. </a:t>
            </a:r>
          </a:p>
          <a:p>
            <a:r>
              <a:rPr lang="en-US" sz="1300" dirty="0"/>
              <a:t>If students are excited by input, that is fine, but comprehension matters more.</a:t>
            </a:r>
          </a:p>
          <a:p>
            <a:endParaRPr lang="en-US" sz="1300" dirty="0"/>
          </a:p>
          <a:p>
            <a:r>
              <a:rPr lang="en-US" sz="1300" dirty="0"/>
              <a:t>Say:</a:t>
            </a:r>
          </a:p>
          <a:p>
            <a:r>
              <a:rPr lang="en-US" sz="1300" dirty="0"/>
              <a:t>------------------------------------------------------------------------------</a:t>
            </a:r>
          </a:p>
          <a:p>
            <a:r>
              <a:rPr lang="en-US" sz="1300" dirty="0"/>
              <a:t>If input helps your program, use it. </a:t>
            </a:r>
          </a:p>
          <a:p>
            <a:r>
              <a:rPr lang="en-US" sz="1300" dirty="0"/>
              <a:t>If input makes the program confusing, use assigned variables for now.</a:t>
            </a:r>
          </a:p>
          <a:p>
            <a:r>
              <a:rPr lang="en-US" sz="1300" dirty="0"/>
              <a:t>------------------------------------------------------------------------------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Now students can choose a small practical script and keep it traceable.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002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Give students three controlled options:</a:t>
            </a:r>
          </a:p>
          <a:p>
            <a:r>
              <a:rPr lang="en-US" sz="1300" dirty="0"/>
              <a:t>- simple calculator</a:t>
            </a:r>
          </a:p>
          <a:p>
            <a:r>
              <a:rPr lang="en-US" sz="1300" dirty="0"/>
              <a:t>- unit converter</a:t>
            </a:r>
          </a:p>
          <a:p>
            <a:r>
              <a:rPr lang="en-US" sz="1300" dirty="0"/>
              <a:t>- total-cost estimator</a:t>
            </a:r>
          </a:p>
          <a:p>
            <a:br>
              <a:rPr lang="en-US" sz="1300" dirty="0"/>
            </a:br>
            <a:r>
              <a:rPr lang="en-US" sz="1300" dirty="0"/>
              <a:t>Minimum version:</a:t>
            </a:r>
          </a:p>
          <a:p>
            <a:r>
              <a:rPr lang="en-US" sz="1300" dirty="0"/>
              <a:t>- assigned numeric variables</a:t>
            </a:r>
          </a:p>
          <a:p>
            <a:r>
              <a:rPr lang="en-US" sz="1300" dirty="0"/>
              <a:t>- one expression</a:t>
            </a:r>
          </a:p>
          <a:p>
            <a:r>
              <a:rPr lang="en-US" sz="1300" dirty="0"/>
              <a:t>- one result variable</a:t>
            </a:r>
          </a:p>
          <a:p>
            <a:r>
              <a:rPr lang="en-US" sz="1300" dirty="0"/>
              <a:t>- readable printed output</a:t>
            </a:r>
          </a:p>
          <a:p>
            <a:endParaRPr lang="en-US" sz="1300" dirty="0"/>
          </a:p>
          <a:p>
            <a:r>
              <a:rPr lang="en-US" sz="1300" dirty="0"/>
              <a:t>Optional extension:</a:t>
            </a:r>
          </a:p>
          <a:p>
            <a:r>
              <a:rPr lang="en-US" sz="1300" dirty="0"/>
              <a:t>- simple `input()` if introduced and stable</a:t>
            </a:r>
          </a:p>
          <a:p>
            <a:br>
              <a:rPr lang="en-US" sz="1300" dirty="0"/>
            </a:br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Before moving on, make sure the work has visible evidence.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686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5FAB7-DD96-A5A8-EBD1-35EFBD8FC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B1A31-88A5-447E-4CDC-8CF7953E1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46BA8-38DE-559D-D25F-17976DE23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E0181-93F4-FCD8-486F-9DFBBB2D0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551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Keep evidence light but real.</a:t>
            </a:r>
          </a:p>
          <a:p>
            <a:r>
              <a:rPr lang="en-US" sz="1300" dirty="0"/>
              <a:t>Students should be able to explain:</a:t>
            </a:r>
          </a:p>
          <a:p>
            <a:r>
              <a:rPr lang="en-US" sz="1300" dirty="0"/>
              <a:t>- starting value</a:t>
            </a:r>
          </a:p>
          <a:p>
            <a:r>
              <a:rPr lang="en-US" sz="1300" dirty="0"/>
              <a:t>- expression</a:t>
            </a:r>
          </a:p>
          <a:p>
            <a:r>
              <a:rPr lang="en-US" sz="1300" dirty="0"/>
              <a:t>- result variable</a:t>
            </a:r>
          </a:p>
          <a:p>
            <a:r>
              <a:rPr lang="en-US" sz="1300" dirty="0"/>
              <a:t>- printed output</a:t>
            </a:r>
          </a:p>
          <a:p>
            <a:br>
              <a:rPr lang="en-US" sz="1300" dirty="0"/>
            </a:br>
            <a:r>
              <a:rPr lang="en-US" sz="1300" dirty="0"/>
              <a:t>If GitHub is already being introduced, this can become the first very small example of preserving code and output together. </a:t>
            </a:r>
          </a:p>
          <a:p>
            <a:r>
              <a:rPr lang="en-US" sz="1300" dirty="0"/>
              <a:t>Do not let that become the main lesson.</a:t>
            </a:r>
          </a:p>
          <a:p>
            <a:br>
              <a:rPr lang="en-US" sz="1300" dirty="0"/>
            </a:br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The final check is whether students can trace the result.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171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496C4-7F7F-4C8F-F754-861E3EB3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493E1-1F59-E8EA-A30D-44B9A8A7B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D0147-40E3-AC57-48B2-289FF51FC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7C292-07CF-2E3A-8165-5CB60518C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169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Ask:</a:t>
            </a:r>
          </a:p>
          <a:p>
            <a:r>
              <a:rPr lang="en-US" sz="1300" dirty="0"/>
              <a:t>- What value started in this variable?</a:t>
            </a:r>
          </a:p>
          <a:p>
            <a:r>
              <a:rPr lang="en-US" sz="1300" dirty="0"/>
              <a:t>- What expression changed it?</a:t>
            </a:r>
          </a:p>
          <a:p>
            <a:r>
              <a:rPr lang="en-US" sz="1300" dirty="0"/>
              <a:t>- What was stored as the result?</a:t>
            </a:r>
          </a:p>
          <a:p>
            <a:r>
              <a:rPr lang="en-US" sz="1300" dirty="0"/>
              <a:t>- What printed at the end?</a:t>
            </a:r>
          </a:p>
          <a:p>
            <a:r>
              <a:rPr lang="en-US" sz="1300" dirty="0"/>
              <a:t>- If input was used, what did the user response become inside the program?</a:t>
            </a:r>
          </a:p>
          <a:p>
            <a:endParaRPr lang="en-US" sz="1300" dirty="0"/>
          </a:p>
          <a:p>
            <a:r>
              <a:rPr lang="en-US" sz="1300" dirty="0"/>
              <a:t>Name the next step: Day 3 will combine strings, numbers, and type awareness into clearer first programs.</a:t>
            </a:r>
          </a:p>
          <a:p>
            <a:br>
              <a:rPr lang="en-US" sz="1300" dirty="0"/>
            </a:br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Next class, we combine these values more carefully and prepare to close Assignment 1.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33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96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16E1E9-1B50-BC39-BE3A-AFDDF27CC4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EB143-89C9-076B-466C-73BE156FD5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15F4D-DE23-F2FC-1853-93512C13A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6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E11E5-B722-B4E0-8233-E8E58F314B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1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ADA43D-D69A-D7AE-81F9-ED5E4E7A1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1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1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1305F-50C0-9117-EE66-5430C74994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1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4F403-DB38-13CA-CC40-CAE2A08832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4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B8750C-22DC-D652-EE9D-9D81650FC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240" y="185696"/>
            <a:ext cx="726014" cy="3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6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9628F-1787-26D4-A797-33B2104580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05115D-2B3B-A0F2-8B96-FF372AE76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79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252F8-DFBE-EC79-0D43-E7702CC284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7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52413-6471-13E8-59E6-F7EEDC0F0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94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49300-3D10-A0CB-2DB5-98F274AC6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22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FCF80-E27A-06C5-A850-78E5A5D2C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50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9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1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awpixel.com/image/65575/survey-feedback-accountant-aerial-view-business-calculator-check-checklist-choice-coffee-computati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ickpik.com/search?q=desktop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issbsresources.com/teaching-and-learning/stretching-the-challenge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7F88-6791-2CCC-FDDE-DEB157237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595" y="1358537"/>
            <a:ext cx="5826719" cy="2692299"/>
          </a:xfrm>
        </p:spPr>
        <p:txBody>
          <a:bodyPr/>
          <a:lstStyle/>
          <a:p>
            <a:r>
              <a:rPr lang="en-US" dirty="0"/>
              <a:t>Python Programming Foundations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15B13-1D93-97F4-3DBC-B06CC6F12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1 - First Programs and Basic Values</a:t>
            </a:r>
          </a:p>
          <a:p>
            <a:r>
              <a:rPr lang="en-US" i="1" dirty="0"/>
              <a:t>Day 2: “Move from Input to Output”</a:t>
            </a:r>
          </a:p>
        </p:txBody>
      </p:sp>
    </p:spTree>
    <p:extLst>
      <p:ext uri="{BB962C8B-B14F-4D97-AF65-F5344CB8AC3E}">
        <p14:creationId xmlns:p14="http://schemas.microsoft.com/office/powerpoint/2010/main" val="379502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ne glowing light up arrow among other down arrows on green pastel color background">
            <a:extLst>
              <a:ext uri="{FF2B5EF4-FFF2-40B4-BE49-F238E27FC236}">
                <a16:creationId xmlns:a16="http://schemas.microsoft.com/office/drawing/2014/main" id="{44462047-CF36-E5FB-1EBE-168B76BD28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30" r="2099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30B64A-DA8A-779C-B358-373198DF8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300"/>
              <a:t>From Output To Value Flow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45CF4B-7F3F-E7AF-5586-259DC8759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Yesterday: </a:t>
            </a:r>
          </a:p>
          <a:p>
            <a:r>
              <a:rPr lang="en-US" dirty="0"/>
              <a:t>we made output visible.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Today</a:t>
            </a:r>
          </a:p>
          <a:p>
            <a:r>
              <a:rPr lang="en-US" dirty="0"/>
              <a:t>We make values move through a program and produce a result.</a:t>
            </a:r>
          </a:p>
          <a:p>
            <a:endParaRPr lang="en-US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0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77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DC576-6AF9-10D6-72C0-F46C932C3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6566F2-7C1A-F69C-E9B7-7365C009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Output to Value Flow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69060AA-FA14-ACD2-C0A5-6FC5E38E572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786" b="1786"/>
          <a:stretch>
            <a:fillRect/>
          </a:stretch>
        </p:blipFill>
        <p:spPr>
          <a:xfrm>
            <a:off x="609600" y="60960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8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C0D926-DDB4-ABA2-F676-65368B802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611" r="23342" b="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4AE7D7-0CEB-F126-08CD-348C3A2A8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rPr lang="en-US" dirty="0"/>
              <a:t>Quick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93D39-026B-C61D-D6A3-140878484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variable name refers to a stored value.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/>
              <a:t>`print()` </a:t>
            </a:r>
            <a:r>
              <a:rPr lang="en-US" dirty="0"/>
              <a:t>lets us see that value on the screen.</a:t>
            </a:r>
          </a:p>
          <a:p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6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1AD2-E72F-7796-291A-36CD1216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sz="3300" dirty="0"/>
              <a:t>What We Will Use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EEC5C-1292-A4A2-1E2D-A19D199A8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Numbers</a:t>
            </a:r>
          </a:p>
          <a:p>
            <a:r>
              <a:rPr lang="en-US" dirty="0"/>
              <a:t>simple expressions</a:t>
            </a:r>
          </a:p>
          <a:p>
            <a:r>
              <a:rPr lang="en-US" dirty="0"/>
              <a:t>result variables</a:t>
            </a:r>
          </a:p>
          <a:p>
            <a:r>
              <a:rPr lang="en-US" dirty="0"/>
              <a:t>`</a:t>
            </a:r>
            <a:r>
              <a:rPr lang="en-US" dirty="0">
                <a:solidFill>
                  <a:srgbClr val="00B050"/>
                </a:solidFill>
              </a:rPr>
              <a:t>print()`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`</a:t>
            </a:r>
            <a:r>
              <a:rPr lang="en-US" dirty="0">
                <a:solidFill>
                  <a:srgbClr val="00B050"/>
                </a:solidFill>
              </a:rPr>
              <a:t>input()` </a:t>
            </a:r>
            <a:r>
              <a:rPr lang="en-US" dirty="0"/>
              <a:t>is optional and only useful if it does not distract you from value flow.</a:t>
            </a:r>
          </a:p>
        </p:txBody>
      </p:sp>
      <p:pic>
        <p:nvPicPr>
          <p:cNvPr id="28" name="Picture 27" descr="Computer script on a screen">
            <a:extLst>
              <a:ext uri="{FF2B5EF4-FFF2-40B4-BE49-F238E27FC236}">
                <a16:creationId xmlns:a16="http://schemas.microsoft.com/office/drawing/2014/main" id="{38D50984-DDEB-A743-533E-89C11F357B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3" r="50195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4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E6D73-36C1-785B-BF1E-F70A56E45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What We Will “Skip” For Now 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8A78D41-48A5-98C1-1F53-FB08BC3F6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90"/>
            <a:ext cx="3915323" cy="3701270"/>
          </a:xfrm>
        </p:spPr>
        <p:txBody>
          <a:bodyPr>
            <a:normAutofit/>
          </a:bodyPr>
          <a:lstStyle/>
          <a:p>
            <a:r>
              <a:rPr lang="en-US" dirty="0"/>
              <a:t>loops</a:t>
            </a:r>
          </a:p>
          <a:p>
            <a:r>
              <a:rPr lang="en-US" dirty="0"/>
              <a:t>functions</a:t>
            </a:r>
          </a:p>
          <a:p>
            <a:r>
              <a:rPr lang="en-US" dirty="0"/>
              <a:t>lists or dictionaries</a:t>
            </a:r>
          </a:p>
          <a:p>
            <a:r>
              <a:rPr lang="en-US" dirty="0"/>
              <a:t>file saving</a:t>
            </a:r>
          </a:p>
          <a:p>
            <a:r>
              <a:rPr lang="en-US" dirty="0"/>
              <a:t>AI-generated code</a:t>
            </a:r>
          </a:p>
          <a:p>
            <a:r>
              <a:rPr lang="en-US" dirty="0"/>
              <a:t>advanced numeric types</a:t>
            </a: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634669AE-52A5-F086-9BDE-17982042AD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5562" y="2159000"/>
            <a:ext cx="2359152" cy="235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13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77B93-EA28-B02F-D8A2-995749C95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375104-D482-178D-BA44-79D40076B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Working Set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75DAF42-AA32-1D4A-A561-0BC579720A7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786" b="1786"/>
          <a:stretch>
            <a:fillRect/>
          </a:stretch>
        </p:blipFill>
        <p:spPr>
          <a:xfrm>
            <a:off x="609600" y="60960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4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FD963D-986F-1524-594C-94C6FC56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9" y="609600"/>
            <a:ext cx="2796807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Numbers Are Values Too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1FA2D-2385-DABD-516E-8A2F33DC1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75" y="2160589"/>
            <a:ext cx="2790687" cy="35607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Python can store numbers just like it stores text.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Numbers can also be used in calculations.</a:t>
            </a:r>
          </a:p>
        </p:txBody>
      </p:sp>
      <p:pic>
        <p:nvPicPr>
          <p:cNvPr id="2" name="Picture Placeholder 4">
            <a:extLst>
              <a:ext uri="{FF2B5EF4-FFF2-40B4-BE49-F238E27FC236}">
                <a16:creationId xmlns:a16="http://schemas.microsoft.com/office/drawing/2014/main" id="{54C8F87F-3A00-279F-9D0D-FD62807EFF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6" b="1786"/>
          <a:stretch>
            <a:fillRect/>
          </a:stretch>
        </p:blipFill>
        <p:spPr>
          <a:xfrm>
            <a:off x="3043109" y="1930400"/>
            <a:ext cx="4604064" cy="296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12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30512A-E54B-4698-85E5-E9865A72F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F13227-3BB0-B412-93BF-836C9C732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en-US"/>
              <a:t>Expressions Create New Values</a:t>
            </a:r>
            <a:endParaRPr lang="en-US" dirty="0"/>
          </a:p>
        </p:txBody>
      </p:sp>
      <p:pic>
        <p:nvPicPr>
          <p:cNvPr id="2" name="Picture Placeholder 4">
            <a:extLst>
              <a:ext uri="{FF2B5EF4-FFF2-40B4-BE49-F238E27FC236}">
                <a16:creationId xmlns:a16="http://schemas.microsoft.com/office/drawing/2014/main" id="{CF9FEA59-8A25-5273-9964-6D45D748A4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6" b="1786"/>
          <a:stretch>
            <a:fillRect/>
          </a:stretch>
        </p:blipFill>
        <p:spPr>
          <a:xfrm>
            <a:off x="613105" y="2159331"/>
            <a:ext cx="3962467" cy="255046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88195E-7B9D-E4A7-A805-5372B84D8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2029" y="2160589"/>
            <a:ext cx="294730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300" dirty="0"/>
              <a:t>An expression combines values </a:t>
            </a:r>
            <a:br>
              <a:rPr lang="en-US" sz="1300" dirty="0"/>
            </a:br>
            <a:r>
              <a:rPr lang="en-US" sz="1300" dirty="0"/>
              <a:t>and produces a new value.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/>
              <a:t>Example: </a:t>
            </a:r>
          </a:p>
          <a:p>
            <a:r>
              <a:rPr lang="en-US" sz="1300" dirty="0"/>
              <a:t>`</a:t>
            </a:r>
            <a:r>
              <a:rPr lang="en-US" sz="1300" i="1" dirty="0" err="1"/>
              <a:t>items_purchased</a:t>
            </a:r>
            <a:r>
              <a:rPr lang="en-US" sz="1300" i="1" dirty="0"/>
              <a:t> * </a:t>
            </a:r>
            <a:r>
              <a:rPr lang="en-US" sz="1300" i="1" dirty="0" err="1"/>
              <a:t>price_each</a:t>
            </a:r>
            <a:r>
              <a:rPr lang="en-US" sz="1300" dirty="0"/>
              <a:t>` creates a subtotal.</a:t>
            </a:r>
          </a:p>
        </p:txBody>
      </p:sp>
    </p:spTree>
    <p:extLst>
      <p:ext uri="{BB962C8B-B14F-4D97-AF65-F5344CB8AC3E}">
        <p14:creationId xmlns:p14="http://schemas.microsoft.com/office/powerpoint/2010/main" val="2099240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23AEBF-E061-2016-1224-30F064D06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33484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68234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1926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400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068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694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568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223" y="-8467"/>
            <a:ext cx="4495777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8BA7FC-65F2-EB15-8DC2-C224F098F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92" y="609600"/>
            <a:ext cx="3384742" cy="22277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Result Variables</a:t>
            </a:r>
          </a:p>
        </p:txBody>
      </p:sp>
      <p:pic>
        <p:nvPicPr>
          <p:cNvPr id="9" name="Graphic 8" descr="Variable">
            <a:extLst>
              <a:ext uri="{FF2B5EF4-FFF2-40B4-BE49-F238E27FC236}">
                <a16:creationId xmlns:a16="http://schemas.microsoft.com/office/drawing/2014/main" id="{0A0A11DA-D96B-7BED-87F7-ACF5F8C18E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38" y="2027159"/>
            <a:ext cx="2892580" cy="28925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A9BBFB-B3D4-F4C7-CF47-E2C1B2F0E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6293" y="2837329"/>
            <a:ext cx="3384741" cy="3317938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result variable stores the answer from an expression.</a:t>
            </a:r>
          </a:p>
          <a:p>
            <a:pPr marL="0" indent="0">
              <a:buNone/>
            </a:pPr>
            <a:br>
              <a:rPr lang="en-US" dirty="0">
                <a:solidFill>
                  <a:srgbClr val="FFFFFF"/>
                </a:solidFill>
              </a:rPr>
            </a:br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Clear names help you explain what the answer means.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022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06B04-033C-56DE-03BE-10E21C512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A807A8-D9DD-3A07-19FE-C6FA2C32E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Output Should Mean Something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D090D7-D21A-4B04-F0C6-798F865BA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Printing a number is better when the output tells us what the number means.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`print("Subtotal:", subtotal)` is clearer than printing `subtotal` alone.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AB3D7D-D8C2-B702-CB6B-E488F6155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7163" r="39915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85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C224CA-FBD3-3867-AFB8-164764F5B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979A74-5D92-FA84-2CDD-08508140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981" y="609600"/>
            <a:ext cx="3207519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Trace The Value</a:t>
            </a:r>
          </a:p>
        </p:txBody>
      </p:sp>
      <p:pic>
        <p:nvPicPr>
          <p:cNvPr id="9" name="Graphic 8" descr="Workflow">
            <a:extLst>
              <a:ext uri="{FF2B5EF4-FFF2-40B4-BE49-F238E27FC236}">
                <a16:creationId xmlns:a16="http://schemas.microsoft.com/office/drawing/2014/main" id="{31F8C8AB-9FA2-79A8-8E83-0B8D7E46DC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08" y="1899262"/>
            <a:ext cx="2896429" cy="289642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9FFAF8-AD6E-62D3-A725-BF0FE2C11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367" y="2160589"/>
            <a:ext cx="3213882" cy="37685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understand a program, follow one value from start to finish.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Where did it start, what changed it, and where did it print?</a:t>
            </a:r>
          </a:p>
        </p:txBody>
      </p:sp>
    </p:spTree>
    <p:extLst>
      <p:ext uri="{BB962C8B-B14F-4D97-AF65-F5344CB8AC3E}">
        <p14:creationId xmlns:p14="http://schemas.microsoft.com/office/powerpoint/2010/main" val="1140738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46A2F-8B3D-596E-2881-5B282404B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25EDC5-2FFF-48F7-0877-DDF5E43E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71706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“Tracing a value path”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090E35E-E851-9AD8-32C5-254BDD0DEF0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786" b="1786"/>
          <a:stretch>
            <a:fillRect/>
          </a:stretch>
        </p:blipFill>
        <p:spPr>
          <a:xfrm>
            <a:off x="609600" y="60960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57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5C3E41-F1D8-7813-1F0C-591626CA7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FDCDD0-0708-B80C-D965-DE55562F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The Day 2 Value Path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32824E-EBF6-ACD8-1DC2-1615D5E89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Starting values become expression results.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Expression results become printed output.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i="1" dirty="0"/>
              <a:t>This is also a foundation of knowing how to “debug” a programming issue.</a:t>
            </a:r>
          </a:p>
        </p:txBody>
      </p:sp>
      <p:pic>
        <p:nvPicPr>
          <p:cNvPr id="7" name="Picture 6" descr="Pen placed on top of a signature line">
            <a:extLst>
              <a:ext uri="{FF2B5EF4-FFF2-40B4-BE49-F238E27FC236}">
                <a16:creationId xmlns:a16="http://schemas.microsoft.com/office/drawing/2014/main" id="{8C5AB0C4-410B-B443-8E72-90B876C2F1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256" r="5361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06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7" name="Picture 6" descr="Camera lens close up">
            <a:extLst>
              <a:ext uri="{FF2B5EF4-FFF2-40B4-BE49-F238E27FC236}">
                <a16:creationId xmlns:a16="http://schemas.microsoft.com/office/drawing/2014/main" id="{3F92D707-4F6F-1707-563F-DAA7E83D0F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91" t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4257526-B660-46EC-83FB-51CCCEF4D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5E54613B-CC3A-459D-97E1-23B891DE9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21385D-063D-42D0-BD60-907E9F826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921B275-E6A3-4146-9F5F-5CD28092A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23">
            <a:extLst>
              <a:ext uri="{FF2B5EF4-FFF2-40B4-BE49-F238E27FC236}">
                <a16:creationId xmlns:a16="http://schemas.microsoft.com/office/drawing/2014/main" id="{28E190A5-6423-4EE2-AF46-8B82F34BC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4A97AE97-5706-400B-8F09-602A25EA1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0860785A-BE10-40E0-8A0F-805CD3F59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C93F9C-2692-8651-EDC7-6D41F5D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150" y="1678665"/>
            <a:ext cx="3427352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Demo #1</a:t>
            </a: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2CD66695-C096-4E32-9AC2-19B4EFD6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A97E83CA-07FA-4B94-A213-9E6DA6FAC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A531E02F-6391-4B0C-B1E1-D67E8EFC4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568558EC-35CA-4EC8-BB31-75AB78ACA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8DFD8B-5C86-3290-9577-EDD61563B509}"/>
              </a:ext>
            </a:extLst>
          </p:cNvPr>
          <p:cNvSpPr txBox="1"/>
          <p:nvPr/>
        </p:nvSpPr>
        <p:spPr>
          <a:xfrm>
            <a:off x="3879669" y="4558937"/>
            <a:ext cx="332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B4F8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“Numeric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B4F8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Caclulation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B4F8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8767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312A9D-A900-39EC-1EFA-AD548E92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What to watch for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981869-44BD-6366-C29A-B2CB8A8C4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the demo runs, watch for two things:</a:t>
            </a:r>
          </a:p>
          <a:p>
            <a:r>
              <a:rPr lang="en-US" dirty="0"/>
              <a:t>which values are stored</a:t>
            </a:r>
          </a:p>
          <a:p>
            <a:r>
              <a:rPr lang="en-US" dirty="0"/>
              <a:t>which lines make output appear</a:t>
            </a:r>
          </a:p>
        </p:txBody>
      </p:sp>
      <p:pic>
        <p:nvPicPr>
          <p:cNvPr id="7" name="Picture 6" descr="Analogue wall clock">
            <a:extLst>
              <a:ext uri="{FF2B5EF4-FFF2-40B4-BE49-F238E27FC236}">
                <a16:creationId xmlns:a16="http://schemas.microsoft.com/office/drawing/2014/main" id="{76347893-85AD-4451-AC62-62B0694C35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76" r="37289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595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FCF7-9A79-4362-6B59-89AC72F4C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5B8975-7C33-445F-185A-98C82503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Numeric Demo Example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30A5962-3FF9-49FD-87A3-04045B605AD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786" b="1786"/>
          <a:stretch>
            <a:fillRect/>
          </a:stretch>
        </p:blipFill>
        <p:spPr>
          <a:xfrm>
            <a:off x="609600" y="60960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74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64D10A-DEEF-2913-C772-6C15BE7CB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6F32445-792B-E5A0-45AC-F3E824DBE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AF83F06-F711-984F-CD54-64AE6B471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5AAE88-C577-1D74-4ECA-FD1D38459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1FF699E2-0309-F2CC-8A88-97258775B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47BE6979-9149-1A3F-65A2-63F82A5FE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AB23EFB1-C466-698D-429C-C211C94DA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04ECD833-F273-AACC-88E5-DE401084E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2D0A695B-308A-ED1B-AB77-ECD2CD05D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AF1746FD-0FE5-C780-E9BC-510F8C4B7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460D4E3C-0110-CE5B-31EC-386FD21AF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393CAFC7-E0C7-2E11-3263-101D5B84A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7" name="Picture 6" descr="Camera lens close up">
            <a:extLst>
              <a:ext uri="{FF2B5EF4-FFF2-40B4-BE49-F238E27FC236}">
                <a16:creationId xmlns:a16="http://schemas.microsoft.com/office/drawing/2014/main" id="{33D0ACA6-ABB8-47B7-F151-BDB2CF0798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91" t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5D3D1C5F-415A-75D0-7E0A-D85D18D7C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F4FC77B8-2D06-83E2-2A4F-350E4711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CEA58FC-5640-941B-9447-2F4D042A6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4017D34-D03E-AA2C-A77D-225CF191E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23">
            <a:extLst>
              <a:ext uri="{FF2B5EF4-FFF2-40B4-BE49-F238E27FC236}">
                <a16:creationId xmlns:a16="http://schemas.microsoft.com/office/drawing/2014/main" id="{F8F1928A-337A-E630-F171-6EE2FF09B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AC4BF734-400E-C3AE-D49A-E612F9C30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15022CFD-4E62-9AAF-6449-D803B372F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840F9-DB6E-7C1D-67D4-F1D69B808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150" y="1678665"/>
            <a:ext cx="3427352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Optional</a:t>
            </a:r>
            <a:br>
              <a:rPr lang="en-US" sz="5400" dirty="0"/>
            </a:br>
            <a:r>
              <a:rPr lang="en-US" sz="5400" dirty="0"/>
              <a:t>Demo #2</a:t>
            </a: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E499EA09-9A59-A820-76B1-07A484BBD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4A1A5531-EB67-71C6-5C91-D9B315D81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7EFA0142-A60F-28C5-E240-26887262A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630A30C5-BFFE-E25C-B149-5C42831E4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543FD9-746D-0687-50F8-896260E44896}"/>
              </a:ext>
            </a:extLst>
          </p:cNvPr>
          <p:cNvSpPr txBox="1"/>
          <p:nvPr/>
        </p:nvSpPr>
        <p:spPr>
          <a:xfrm>
            <a:off x="3879669" y="4558937"/>
            <a:ext cx="332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B4F8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“Simple Input”</a:t>
            </a:r>
          </a:p>
        </p:txBody>
      </p:sp>
    </p:spTree>
    <p:extLst>
      <p:ext uri="{BB962C8B-B14F-4D97-AF65-F5344CB8AC3E}">
        <p14:creationId xmlns:p14="http://schemas.microsoft.com/office/powerpoint/2010/main" val="607424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Optional Demo: </a:t>
            </a:r>
            <a:br>
              <a:rPr lang="en-US" sz="2800"/>
            </a:br>
            <a:r>
              <a:rPr lang="en-US" sz="2800"/>
              <a:t>Simple `</a:t>
            </a:r>
            <a:r>
              <a:rPr lang="en-US" sz="2800" b="1"/>
              <a:t>input()`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3AC4-941F-5169-DAA0-DF23E55C8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`input()` can collect a user response.</a:t>
            </a:r>
          </a:p>
          <a:p>
            <a:endParaRPr lang="en-US" dirty="0"/>
          </a:p>
          <a:p>
            <a:r>
              <a:rPr lang="en-US" dirty="0"/>
              <a:t>That response still becomes a value the program must trace.</a:t>
            </a:r>
          </a:p>
        </p:txBody>
      </p:sp>
      <p:pic>
        <p:nvPicPr>
          <p:cNvPr id="5" name="Picture 4" descr="Blue and orange gradient with arrows">
            <a:extLst>
              <a:ext uri="{FF2B5EF4-FFF2-40B4-BE49-F238E27FC236}">
                <a16:creationId xmlns:a16="http://schemas.microsoft.com/office/drawing/2014/main" id="{12D2ACC5-5A3D-BA22-57E5-C46C8A5944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083" r="18517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41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23E51-A3BF-48EF-C462-9D8399AF8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839FF34-6986-EF70-99B6-96A8BD10A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DADA749-CFCC-0552-8551-19DD850EF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7CAD93B-3230-D5C9-4620-6DC330DCA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A2C82FCC-42B0-8ED8-9755-4DE28F5A16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D3898AC4-DBB7-3565-2198-8030DEDFF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7515E65-6E25-9E9B-856C-0F4901A544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00A55460-865B-5AC4-B69B-F30FD52831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4DD4A9E8-CB19-8486-397D-652562566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F77C889C-C168-5D73-FAFF-39EFC48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CACE102B-A80F-592C-E998-4249887E8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3C6AC11E-D67B-C773-8E0A-5824B0A19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7" name="Picture 6" descr="Camera lens close up">
            <a:extLst>
              <a:ext uri="{FF2B5EF4-FFF2-40B4-BE49-F238E27FC236}">
                <a16:creationId xmlns:a16="http://schemas.microsoft.com/office/drawing/2014/main" id="{E4ABBC20-573C-D711-64E0-1A4CD17A35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91" t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3DF05B4-35DE-28D5-89A3-5834718B7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164E8CC4-B4AE-1951-87F7-E6AA520C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EF182C9-43A6-FD38-2EFD-0B73D2252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68F71A4-AC48-4C4E-ED31-120C6233F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23">
            <a:extLst>
              <a:ext uri="{FF2B5EF4-FFF2-40B4-BE49-F238E27FC236}">
                <a16:creationId xmlns:a16="http://schemas.microsoft.com/office/drawing/2014/main" id="{30251958-CABB-4C4C-453D-F04307197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2483C737-B71E-05E3-5B26-368293F79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190C99E9-3A67-C104-5947-00AC096C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6489A3-CBB8-6CB4-8DC3-415666D93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150" y="1678665"/>
            <a:ext cx="3427352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Optional</a:t>
            </a:r>
            <a:br>
              <a:rPr lang="en-US" sz="5400" dirty="0"/>
            </a:br>
            <a:r>
              <a:rPr lang="en-US" sz="5400" dirty="0"/>
              <a:t>Demo #3</a:t>
            </a: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AD88523F-76D4-87D2-A65E-2570CA1D0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15DDD592-DBBF-871C-5CF9-40D885631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DA9673E2-34DA-B67E-96BD-5F0FCFC94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A187B39-E0DE-4C34-6387-075DAAC3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409192-165C-A717-66A3-E0D4DCDC4480}"/>
              </a:ext>
            </a:extLst>
          </p:cNvPr>
          <p:cNvSpPr txBox="1"/>
          <p:nvPr/>
        </p:nvSpPr>
        <p:spPr>
          <a:xfrm>
            <a:off x="3879669" y="4558937"/>
            <a:ext cx="332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B4F8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“Numeric Conversion”</a:t>
            </a:r>
          </a:p>
        </p:txBody>
      </p:sp>
    </p:spTree>
    <p:extLst>
      <p:ext uri="{BB962C8B-B14F-4D97-AF65-F5344CB8AC3E}">
        <p14:creationId xmlns:p14="http://schemas.microsoft.com/office/powerpoint/2010/main" val="157877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4CE05-9ED2-E632-65E1-DB3FA489A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8FD1D-7771-32D2-0D3A-718A3510C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Optional Demo: Numeric Input Needs Conversion</a:t>
            </a:r>
            <a:endParaRPr lang="en-US" sz="25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A0C09-45D7-68AC-3236-6D90B724A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`input()` gives Python text.</a:t>
            </a:r>
            <a:br>
              <a:rPr lang="en-US" dirty="0"/>
            </a:br>
            <a:endParaRPr lang="en-US" dirty="0"/>
          </a:p>
          <a:p>
            <a:r>
              <a:rPr lang="en-US" b="1" i="1" dirty="0"/>
              <a:t>For math, numeric input must be converted first.</a:t>
            </a:r>
          </a:p>
        </p:txBody>
      </p:sp>
      <p:pic>
        <p:nvPicPr>
          <p:cNvPr id="5" name="Picture 4" descr="3D numbers in white and orange">
            <a:extLst>
              <a:ext uri="{FF2B5EF4-FFF2-40B4-BE49-F238E27FC236}">
                <a16:creationId xmlns:a16="http://schemas.microsoft.com/office/drawing/2014/main" id="{A4553E6B-621B-8FAB-B689-4BA92EE649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62" r="3355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7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BF1DD-44A0-68C5-5258-3F07B2C8B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11EDE5-E514-0DDE-66A2-38C7D1E3D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724400"/>
            <a:ext cx="6216024" cy="138792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Numeric Conversion Example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A4851F9-D334-1055-BC81-4BED395056D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786" b="1786"/>
          <a:stretch>
            <a:fillRect/>
          </a:stretch>
        </p:blipFill>
        <p:spPr>
          <a:xfrm>
            <a:off x="609600" y="60960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1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33484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68234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1926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400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068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694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568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223" y="-8467"/>
            <a:ext cx="4495777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4BF47-A375-5532-3FE0-8C4428FA5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92" y="609600"/>
            <a:ext cx="3384742" cy="222773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Common Failure: 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Losing The Value</a:t>
            </a:r>
          </a:p>
        </p:txBody>
      </p:sp>
      <p:pic>
        <p:nvPicPr>
          <p:cNvPr id="7" name="Graphic 6" descr="Slippery">
            <a:extLst>
              <a:ext uri="{FF2B5EF4-FFF2-40B4-BE49-F238E27FC236}">
                <a16:creationId xmlns:a16="http://schemas.microsoft.com/office/drawing/2014/main" id="{670490B7-5AF3-817C-2118-CC57DE5F81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38" y="2027159"/>
            <a:ext cx="2892580" cy="289258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E2CBC-FB5C-5248-A061-0AFBC7E56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6293" y="2837329"/>
            <a:ext cx="3384741" cy="3317938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When several variables appear …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it is easy to lose the path.</a:t>
            </a:r>
          </a:p>
          <a:p>
            <a:pPr marL="0" indent="0">
              <a:buNone/>
            </a:pP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Slow down and ask: </a:t>
            </a:r>
          </a:p>
          <a:p>
            <a:r>
              <a:rPr lang="en-US" dirty="0">
                <a:solidFill>
                  <a:srgbClr val="FFFFFF"/>
                </a:solidFill>
              </a:rPr>
              <a:t>“Where did this value come from?”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80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116CF-3A92-7FFC-42F5-69B8A1382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en-US"/>
              <a:t>Common Failure: </a:t>
            </a:r>
            <a:br>
              <a:rPr lang="en-US"/>
            </a:br>
            <a:r>
              <a:rPr lang="en-US"/>
              <a:t>`input()` Can Distract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E289A-74BE-39C7-E07A-100F35A0B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2215" y="2160589"/>
            <a:ext cx="2201035" cy="3880773"/>
          </a:xfrm>
        </p:spPr>
        <p:txBody>
          <a:bodyPr>
            <a:normAutofit/>
          </a:bodyPr>
          <a:lstStyle/>
          <a:p>
            <a:r>
              <a:rPr lang="en-US" dirty="0"/>
              <a:t>`input()` is useful, but it is not the main goal today.</a:t>
            </a:r>
          </a:p>
          <a:p>
            <a:endParaRPr lang="en-US" dirty="0"/>
          </a:p>
          <a:p>
            <a:r>
              <a:rPr lang="en-US" dirty="0"/>
              <a:t>The main goal is understanding how a value becomes output.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55FDD-A0C0-BD84-93C7-E5923BEBD2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-1" b="4552"/>
          <a:stretch>
            <a:fillRect/>
          </a:stretch>
        </p:blipFill>
        <p:spPr>
          <a:xfrm>
            <a:off x="508000" y="2159331"/>
            <a:ext cx="4067572" cy="38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48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F827-0A5A-D6D9-6C73-5ACE22424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From Demo to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31B9-CEED-D579-BC3C-E6F2B784D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/>
              <a:t>In Lab/Assignment:</a:t>
            </a:r>
          </a:p>
          <a:p>
            <a:pPr>
              <a:lnSpc>
                <a:spcPct val="90000"/>
              </a:lnSpc>
            </a:pPr>
            <a:r>
              <a:rPr lang="en-US" sz="1700"/>
              <a:t>Build one small script that starts with numbers and prints a result.</a:t>
            </a:r>
            <a:br>
              <a:rPr lang="en-US" sz="1700"/>
            </a:br>
            <a:endParaRPr lang="en-US" sz="1700"/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Good choices: </a:t>
            </a:r>
          </a:p>
          <a:p>
            <a:pPr>
              <a:lnSpc>
                <a:spcPct val="90000"/>
              </a:lnSpc>
            </a:pPr>
            <a:r>
              <a:rPr lang="en-US" sz="1700"/>
              <a:t>Calculator</a:t>
            </a:r>
          </a:p>
          <a:p>
            <a:pPr>
              <a:lnSpc>
                <a:spcPct val="90000"/>
              </a:lnSpc>
            </a:pPr>
            <a:r>
              <a:rPr lang="en-US" sz="1700"/>
              <a:t>Converter</a:t>
            </a:r>
          </a:p>
          <a:p>
            <a:pPr>
              <a:lnSpc>
                <a:spcPct val="90000"/>
              </a:lnSpc>
            </a:pPr>
            <a:r>
              <a:rPr lang="en-US" sz="1700"/>
              <a:t>Total-cost estimator</a:t>
            </a:r>
          </a:p>
          <a:p>
            <a:pPr>
              <a:lnSpc>
                <a:spcPct val="90000"/>
              </a:lnSpc>
            </a:pPr>
            <a:endParaRPr lang="en-US" sz="1700"/>
          </a:p>
          <a:p>
            <a:pPr marL="0" indent="0">
              <a:lnSpc>
                <a:spcPct val="90000"/>
              </a:lnSpc>
              <a:buNone/>
            </a:pPr>
            <a:r>
              <a:rPr lang="en-US" sz="1700" i="1"/>
              <a:t>This is a continuation of the first assignment.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/>
          </a:p>
          <a:p>
            <a:pPr marL="0" indent="0">
              <a:lnSpc>
                <a:spcPct val="90000"/>
              </a:lnSpc>
              <a:buNone/>
            </a:pPr>
            <a:endParaRPr lang="en-US" sz="1700"/>
          </a:p>
        </p:txBody>
      </p:sp>
      <p:pic>
        <p:nvPicPr>
          <p:cNvPr id="5" name="Picture 4" descr="A row of samples for medical testing">
            <a:extLst>
              <a:ext uri="{FF2B5EF4-FFF2-40B4-BE49-F238E27FC236}">
                <a16:creationId xmlns:a16="http://schemas.microsoft.com/office/drawing/2014/main" id="{5406C1C5-46D3-5662-C887-3DA2319E77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61" r="4389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20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154E-4DC7-4FA7-2C51-DE728B7F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5FD115-FBA9-BAA3-18F4-B95BECDA9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Hands-On Choices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D744C27-1531-C1F6-DA9A-C79433E5AA3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786" b="1786"/>
          <a:stretch>
            <a:fillRect/>
          </a:stretch>
        </p:blipFill>
        <p:spPr>
          <a:xfrm>
            <a:off x="609600" y="60960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4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/>
              <a:t>Assignment </a:t>
            </a:r>
            <a:r>
              <a:rPr lang="en-US" dirty="0"/>
              <a:t>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3AC4-941F-5169-DAA0-DF23E55C8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Preserve the `.</a:t>
            </a:r>
            <a:r>
              <a:rPr lang="en-US" dirty="0" err="1"/>
              <a:t>py</a:t>
            </a:r>
            <a:r>
              <a:rPr lang="en-US" dirty="0"/>
              <a:t>` file and one example of output.</a:t>
            </a:r>
          </a:p>
          <a:p>
            <a:endParaRPr lang="en-US" dirty="0"/>
          </a:p>
          <a:p>
            <a:r>
              <a:rPr lang="en-US" dirty="0"/>
              <a:t>Be ready to explain the value path from starting number to printed result.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0A8CDE13-EC6E-831B-0134-AE933CD2D1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30" r="39188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3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79D59-D9E0-330A-0374-88157D02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CD3094-64FC-991A-61DD-D6D328DD5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Assignment Evidence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2AABF98-B8CE-85F4-9186-3FEE1439C9B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786" b="1786"/>
          <a:stretch>
            <a:fillRect/>
          </a:stretch>
        </p:blipFill>
        <p:spPr>
          <a:xfrm>
            <a:off x="609600" y="60960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93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9555-1E16-8E8B-E548-105BA59C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Closing Success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FF21A-F8C1-15AA-C705-4530AE58A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today you should be able to: </a:t>
            </a:r>
          </a:p>
          <a:p>
            <a:r>
              <a:rPr lang="en-US" dirty="0"/>
              <a:t>store numbers, </a:t>
            </a:r>
          </a:p>
          <a:p>
            <a:r>
              <a:rPr lang="en-US" dirty="0"/>
              <a:t>calculate a result </a:t>
            </a:r>
          </a:p>
          <a:p>
            <a:r>
              <a:rPr lang="en-US" dirty="0"/>
              <a:t>print it clearly.</a:t>
            </a:r>
          </a:p>
          <a:p>
            <a:r>
              <a:rPr lang="en-US" dirty="0"/>
              <a:t>You should also be able to trace where the printed result came from.</a:t>
            </a:r>
          </a:p>
          <a:p>
            <a:endParaRPr lang="en-US" dirty="0"/>
          </a:p>
        </p:txBody>
      </p:sp>
      <p:pic>
        <p:nvPicPr>
          <p:cNvPr id="5" name="Picture 4" descr="Beakers with solution on shelf in lab">
            <a:extLst>
              <a:ext uri="{FF2B5EF4-FFF2-40B4-BE49-F238E27FC236}">
                <a16:creationId xmlns:a16="http://schemas.microsoft.com/office/drawing/2014/main" id="{255A690D-4CB8-0C66-184B-33949F8D65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87" r="24330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13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291DAF8-8CBA-95A1-BEA8-AAD0C09C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265314"/>
            <a:ext cx="3572668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Thank you!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Have Fun!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61A93-6BD2-677B-DBB4-F66B15926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0752" y="4514446"/>
            <a:ext cx="3224749" cy="87104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C5C86B-28CE-4597-97B7-4C09E201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Graphic 8" descr="Thumbs Up Sign">
            <a:extLst>
              <a:ext uri="{FF2B5EF4-FFF2-40B4-BE49-F238E27FC236}">
                <a16:creationId xmlns:a16="http://schemas.microsoft.com/office/drawing/2014/main" id="{CD1A5982-49F4-6629-1884-3B7061C5B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822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Southwest Tech">
      <a:dk1>
        <a:srgbClr val="0B4F8A"/>
      </a:dk1>
      <a:lt1>
        <a:sysClr val="window" lastClr="FFFFFF"/>
      </a:lt1>
      <a:dk2>
        <a:srgbClr val="6F6F6F"/>
      </a:dk2>
      <a:lt2>
        <a:srgbClr val="F4F6F8"/>
      </a:lt2>
      <a:accent1>
        <a:srgbClr val="0B4F8A"/>
      </a:accent1>
      <a:accent2>
        <a:srgbClr val="2E73B8"/>
      </a:accent2>
      <a:accent3>
        <a:srgbClr val="F2B705"/>
      </a:accent3>
      <a:accent4>
        <a:srgbClr val="6F6F6F"/>
      </a:accent4>
      <a:accent5>
        <a:srgbClr val="2E73B8"/>
      </a:accent5>
      <a:accent6>
        <a:srgbClr val="F2B705"/>
      </a:accent6>
      <a:hlink>
        <a:srgbClr val="2E73B8"/>
      </a:hlink>
      <a:folHlink>
        <a:srgbClr val="0B4F8A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9345</TotalTime>
  <Words>2062</Words>
  <Application>Microsoft Office PowerPoint</Application>
  <PresentationFormat>On-screen Show (4:3)</PresentationFormat>
  <Paragraphs>340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Arial</vt:lpstr>
      <vt:lpstr>Trebuchet MS</vt:lpstr>
      <vt:lpstr>Wingdings 3</vt:lpstr>
      <vt:lpstr>Facet</vt:lpstr>
      <vt:lpstr>Python Programming Foundations</vt:lpstr>
      <vt:lpstr>From Output To Value Flow</vt:lpstr>
      <vt:lpstr>Output to Value Flow</vt:lpstr>
      <vt:lpstr>Quick Review</vt:lpstr>
      <vt:lpstr>What We Will Use Today</vt:lpstr>
      <vt:lpstr>What We Will “Skip” For Now </vt:lpstr>
      <vt:lpstr>Working Set</vt:lpstr>
      <vt:lpstr>Numbers Are Values Too</vt:lpstr>
      <vt:lpstr>Expressions Create New Values</vt:lpstr>
      <vt:lpstr>Result Variables</vt:lpstr>
      <vt:lpstr>Output Should Mean Something</vt:lpstr>
      <vt:lpstr>Trace The Value</vt:lpstr>
      <vt:lpstr>“Tracing a value path”</vt:lpstr>
      <vt:lpstr>The Day 2 Value Path</vt:lpstr>
      <vt:lpstr>Demo #1</vt:lpstr>
      <vt:lpstr>What to watch for</vt:lpstr>
      <vt:lpstr>Numeric Demo Example</vt:lpstr>
      <vt:lpstr>Optional Demo #2</vt:lpstr>
      <vt:lpstr>Optional Demo:  Simple `input()`</vt:lpstr>
      <vt:lpstr>Optional Demo #3</vt:lpstr>
      <vt:lpstr>Optional Demo: Numeric Input Needs Conversion</vt:lpstr>
      <vt:lpstr>Numeric Conversion Example</vt:lpstr>
      <vt:lpstr>Common Failure:  Losing The Value</vt:lpstr>
      <vt:lpstr>Common Failure:  `input()` Can Distract</vt:lpstr>
      <vt:lpstr>From Demo to Lab</vt:lpstr>
      <vt:lpstr>Hands-On Choices</vt:lpstr>
      <vt:lpstr>Assignment Evidence</vt:lpstr>
      <vt:lpstr>Assignment Evidence</vt:lpstr>
      <vt:lpstr>Closing Success Check</vt:lpstr>
      <vt:lpstr>Thank you!  Have Fun!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Cash Myers</dc:creator>
  <cp:keywords/>
  <dc:description>generated using python-pptx</dc:description>
  <cp:lastModifiedBy>Cash Myers</cp:lastModifiedBy>
  <cp:revision>129</cp:revision>
  <cp:lastPrinted>2026-06-10T14:51:57Z</cp:lastPrinted>
  <dcterms:created xsi:type="dcterms:W3CDTF">2013-01-27T09:14:16Z</dcterms:created>
  <dcterms:modified xsi:type="dcterms:W3CDTF">2026-06-10T14:52:07Z</dcterms:modified>
  <cp:category/>
</cp:coreProperties>
</file>