
<file path=[Content_Types].xml><?xml version="1.0" encoding="utf-8"?>
<Types xmlns="http://schemas.openxmlformats.org/package/2006/content-types">
  <Default Extension="1" ContentType="image/jpeg"/>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1"/>
  </p:sldMasterIdLst>
  <p:notesMasterIdLst>
    <p:notesMasterId r:id="rId32"/>
  </p:notesMasterIdLst>
  <p:handoutMasterIdLst>
    <p:handoutMasterId r:id="rId33"/>
  </p:handoutMasterIdLst>
  <p:sldIdLst>
    <p:sldId id="256" r:id="rId2"/>
    <p:sldId id="464" r:id="rId3"/>
    <p:sldId id="466" r:id="rId4"/>
    <p:sldId id="323" r:id="rId5"/>
    <p:sldId id="260" r:id="rId6"/>
    <p:sldId id="467" r:id="rId7"/>
    <p:sldId id="468" r:id="rId8"/>
    <p:sldId id="475" r:id="rId9"/>
    <p:sldId id="476" r:id="rId10"/>
    <p:sldId id="477" r:id="rId11"/>
    <p:sldId id="470" r:id="rId12"/>
    <p:sldId id="478" r:id="rId13"/>
    <p:sldId id="487" r:id="rId14"/>
    <p:sldId id="484" r:id="rId15"/>
    <p:sldId id="471" r:id="rId16"/>
    <p:sldId id="485" r:id="rId17"/>
    <p:sldId id="378" r:id="rId18"/>
    <p:sldId id="491" r:id="rId19"/>
    <p:sldId id="489" r:id="rId20"/>
    <p:sldId id="490" r:id="rId21"/>
    <p:sldId id="493" r:id="rId22"/>
    <p:sldId id="494" r:id="rId23"/>
    <p:sldId id="472" r:id="rId24"/>
    <p:sldId id="495" r:id="rId25"/>
    <p:sldId id="497" r:id="rId26"/>
    <p:sldId id="307" r:id="rId27"/>
    <p:sldId id="473" r:id="rId28"/>
    <p:sldId id="474" r:id="rId29"/>
    <p:sldId id="375" r:id="rId30"/>
    <p:sldId id="320" r:id="rId31"/>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68900" autoAdjust="0"/>
  </p:normalViewPr>
  <p:slideViewPr>
    <p:cSldViewPr snapToGrid="0" snapToObjects="1">
      <p:cViewPr varScale="1">
        <p:scale>
          <a:sx n="73" d="100"/>
          <a:sy n="73" d="100"/>
        </p:scale>
        <p:origin x="2040" y="54"/>
      </p:cViewPr>
      <p:guideLst>
        <p:guide orient="horz" pos="2160"/>
        <p:guide pos="2880"/>
      </p:guideLst>
    </p:cSldViewPr>
  </p:slideViewPr>
  <p:outlineViewPr>
    <p:cViewPr>
      <p:scale>
        <a:sx n="33" d="100"/>
        <a:sy n="33" d="100"/>
      </p:scale>
      <p:origin x="0" y="-1152"/>
    </p:cViewPr>
  </p:outlineViewPr>
  <p:notesTextViewPr>
    <p:cViewPr>
      <p:scale>
        <a:sx n="100" d="100"/>
        <a:sy n="100" d="100"/>
      </p:scale>
      <p:origin x="0" y="0"/>
    </p:cViewPr>
  </p:notesTextViewPr>
  <p:sorterViewPr>
    <p:cViewPr>
      <p:scale>
        <a:sx n="100" d="100"/>
        <a:sy n="100" d="100"/>
      </p:scale>
      <p:origin x="0" y="0"/>
    </p:cViewPr>
  </p:sorterViewPr>
  <p:notesViewPr>
    <p:cSldViewPr snapToGrid="0" snapToObjects="1">
      <p:cViewPr varScale="1">
        <p:scale>
          <a:sx n="80" d="100"/>
          <a:sy n="80" d="100"/>
        </p:scale>
        <p:origin x="4002" y="11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image" Target="../media/image21.svg"/></Relationships>
</file>

<file path=ppt/diagrams/_rels/drawing2.xml.rels><?xml version="1.0" encoding="UTF-8" standalone="yes"?>
<Relationships xmlns="http://schemas.openxmlformats.org/package/2006/relationships"><Relationship Id="rId2" Type="http://schemas.openxmlformats.org/officeDocument/2006/relationships/image" Target="../media/image22.svg"/><Relationship Id="rId1"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8972B69-4B4F-436A-B547-1FADC4FB29B4}" type="doc">
      <dgm:prSet loTypeId="urn:microsoft.com/office/officeart/2005/8/layout/list1" loCatId="list" qsTypeId="urn:microsoft.com/office/officeart/2005/8/quickstyle/simple4" qsCatId="simple" csTypeId="urn:microsoft.com/office/officeart/2005/8/colors/colorful2" csCatId="colorful" phldr="1"/>
      <dgm:spPr/>
      <dgm:t>
        <a:bodyPr/>
        <a:lstStyle/>
        <a:p>
          <a:endParaRPr lang="en-US"/>
        </a:p>
      </dgm:t>
    </dgm:pt>
    <dgm:pt modelId="{A75A4D4B-BFE9-4B6F-9A81-9F9C96F5DA38}">
      <dgm:prSet/>
      <dgm:spPr/>
      <dgm:t>
        <a:bodyPr/>
        <a:lstStyle/>
        <a:p>
          <a:r>
            <a:rPr lang="en-US" dirty="0"/>
            <a:t>NOT a large program</a:t>
          </a:r>
        </a:p>
      </dgm:t>
    </dgm:pt>
    <dgm:pt modelId="{4FAABBF4-AB55-44FE-B6F0-B4BF829D004F}" type="parTrans" cxnId="{7F9DA8A4-8191-4121-8DA1-F0552EB3E440}">
      <dgm:prSet/>
      <dgm:spPr/>
      <dgm:t>
        <a:bodyPr/>
        <a:lstStyle/>
        <a:p>
          <a:endParaRPr lang="en-US"/>
        </a:p>
      </dgm:t>
    </dgm:pt>
    <dgm:pt modelId="{7E1354BB-EC61-4A45-99C9-75C6202CC56A}" type="sibTrans" cxnId="{7F9DA8A4-8191-4121-8DA1-F0552EB3E440}">
      <dgm:prSet/>
      <dgm:spPr/>
      <dgm:t>
        <a:bodyPr/>
        <a:lstStyle/>
        <a:p>
          <a:endParaRPr lang="en-US"/>
        </a:p>
      </dgm:t>
    </dgm:pt>
    <dgm:pt modelId="{85557830-9F6F-45ED-883E-1C95B54D317F}">
      <dgm:prSet/>
      <dgm:spPr/>
      <dgm:t>
        <a:bodyPr/>
        <a:lstStyle/>
        <a:p>
          <a:r>
            <a:rPr lang="en-US" dirty="0"/>
            <a:t>Small Program that:</a:t>
          </a:r>
        </a:p>
      </dgm:t>
    </dgm:pt>
    <dgm:pt modelId="{03207C8A-3730-4475-98B2-BA9719145574}" type="parTrans" cxnId="{08DB17E5-0AC9-4547-BFAD-F8B08937CCC9}">
      <dgm:prSet/>
      <dgm:spPr/>
      <dgm:t>
        <a:bodyPr/>
        <a:lstStyle/>
        <a:p>
          <a:endParaRPr lang="en-US"/>
        </a:p>
      </dgm:t>
    </dgm:pt>
    <dgm:pt modelId="{852E86E0-7E46-4564-8BAF-004FCBD01D6C}" type="sibTrans" cxnId="{08DB17E5-0AC9-4547-BFAD-F8B08937CCC9}">
      <dgm:prSet/>
      <dgm:spPr/>
      <dgm:t>
        <a:bodyPr/>
        <a:lstStyle/>
        <a:p>
          <a:endParaRPr lang="en-US"/>
        </a:p>
      </dgm:t>
    </dgm:pt>
    <dgm:pt modelId="{28CC8EF6-09B2-497D-A474-91973F3DDF46}">
      <dgm:prSet/>
      <dgm:spPr/>
      <dgm:t>
        <a:bodyPr/>
        <a:lstStyle/>
        <a:p>
          <a:r>
            <a:rPr lang="en-US"/>
            <a:t>Runs</a:t>
          </a:r>
          <a:endParaRPr lang="en-US" dirty="0"/>
        </a:p>
      </dgm:t>
    </dgm:pt>
    <dgm:pt modelId="{D11572E8-1FF8-473A-BF42-572611F1EFB3}" type="parTrans" cxnId="{5D025ABF-3EDC-42CC-A280-7394287E55AA}">
      <dgm:prSet/>
      <dgm:spPr/>
      <dgm:t>
        <a:bodyPr/>
        <a:lstStyle/>
        <a:p>
          <a:endParaRPr lang="en-US"/>
        </a:p>
      </dgm:t>
    </dgm:pt>
    <dgm:pt modelId="{FD5619E6-EE22-4FEB-8AC8-BA0D0DB7836B}" type="sibTrans" cxnId="{5D025ABF-3EDC-42CC-A280-7394287E55AA}">
      <dgm:prSet/>
      <dgm:spPr/>
      <dgm:t>
        <a:bodyPr/>
        <a:lstStyle/>
        <a:p>
          <a:endParaRPr lang="en-US"/>
        </a:p>
      </dgm:t>
    </dgm:pt>
    <dgm:pt modelId="{B2A8F814-AD0C-4DF0-B682-3BC6CC654C24}">
      <dgm:prSet/>
      <dgm:spPr/>
      <dgm:t>
        <a:bodyPr/>
        <a:lstStyle/>
        <a:p>
          <a:r>
            <a:rPr lang="en-US"/>
            <a:t>Produces output</a:t>
          </a:r>
          <a:endParaRPr lang="en-US" dirty="0"/>
        </a:p>
      </dgm:t>
    </dgm:pt>
    <dgm:pt modelId="{17848FDB-D365-4E51-B3F1-B1B426BF87F1}" type="parTrans" cxnId="{3180DA75-EB76-447E-9DCB-610E6AEC154A}">
      <dgm:prSet/>
      <dgm:spPr/>
      <dgm:t>
        <a:bodyPr/>
        <a:lstStyle/>
        <a:p>
          <a:endParaRPr lang="en-US"/>
        </a:p>
      </dgm:t>
    </dgm:pt>
    <dgm:pt modelId="{E861FF10-0667-4299-A99E-8B686974A719}" type="sibTrans" cxnId="{3180DA75-EB76-447E-9DCB-610E6AEC154A}">
      <dgm:prSet/>
      <dgm:spPr/>
      <dgm:t>
        <a:bodyPr/>
        <a:lstStyle/>
        <a:p>
          <a:endParaRPr lang="en-US"/>
        </a:p>
      </dgm:t>
    </dgm:pt>
    <dgm:pt modelId="{18190B89-416A-4523-AD4B-6445E9A98567}">
      <dgm:prSet/>
      <dgm:spPr/>
      <dgm:t>
        <a:bodyPr/>
        <a:lstStyle/>
        <a:p>
          <a:r>
            <a:rPr lang="en-US"/>
            <a:t>Can be Explained</a:t>
          </a:r>
          <a:endParaRPr lang="en-US" dirty="0"/>
        </a:p>
      </dgm:t>
    </dgm:pt>
    <dgm:pt modelId="{FF1B7E07-9723-4F84-8F20-7C771A89C927}" type="parTrans" cxnId="{776A1E9D-9C0D-47CF-9A03-0A952073AC46}">
      <dgm:prSet/>
      <dgm:spPr/>
      <dgm:t>
        <a:bodyPr/>
        <a:lstStyle/>
        <a:p>
          <a:endParaRPr lang="en-US"/>
        </a:p>
      </dgm:t>
    </dgm:pt>
    <dgm:pt modelId="{374FB655-8DB6-4770-B82B-9F7BC8B0CD6A}" type="sibTrans" cxnId="{776A1E9D-9C0D-47CF-9A03-0A952073AC46}">
      <dgm:prSet/>
      <dgm:spPr/>
      <dgm:t>
        <a:bodyPr/>
        <a:lstStyle/>
        <a:p>
          <a:endParaRPr lang="en-US"/>
        </a:p>
      </dgm:t>
    </dgm:pt>
    <dgm:pt modelId="{7336779F-ADC4-45E4-9F68-8DE8A2DF24F9}" type="pres">
      <dgm:prSet presAssocID="{A8972B69-4B4F-436A-B547-1FADC4FB29B4}" presName="linear" presStyleCnt="0">
        <dgm:presLayoutVars>
          <dgm:dir/>
          <dgm:animLvl val="lvl"/>
          <dgm:resizeHandles val="exact"/>
        </dgm:presLayoutVars>
      </dgm:prSet>
      <dgm:spPr/>
    </dgm:pt>
    <dgm:pt modelId="{9D35D8A8-7423-44F2-90BA-FDDB4EEF4402}" type="pres">
      <dgm:prSet presAssocID="{A75A4D4B-BFE9-4B6F-9A81-9F9C96F5DA38}" presName="parentLin" presStyleCnt="0"/>
      <dgm:spPr/>
    </dgm:pt>
    <dgm:pt modelId="{8B330473-D8DB-44FE-943D-AF8935E93284}" type="pres">
      <dgm:prSet presAssocID="{A75A4D4B-BFE9-4B6F-9A81-9F9C96F5DA38}" presName="parentLeftMargin" presStyleLbl="node1" presStyleIdx="0" presStyleCnt="2"/>
      <dgm:spPr/>
    </dgm:pt>
    <dgm:pt modelId="{C02A24F1-543D-4BD2-AAF4-154449A41DAD}" type="pres">
      <dgm:prSet presAssocID="{A75A4D4B-BFE9-4B6F-9A81-9F9C96F5DA38}" presName="parentText" presStyleLbl="node1" presStyleIdx="0" presStyleCnt="2">
        <dgm:presLayoutVars>
          <dgm:chMax val="0"/>
          <dgm:bulletEnabled val="1"/>
        </dgm:presLayoutVars>
      </dgm:prSet>
      <dgm:spPr/>
    </dgm:pt>
    <dgm:pt modelId="{B9CEC0E9-2578-4012-B140-DF1D1158A7BA}" type="pres">
      <dgm:prSet presAssocID="{A75A4D4B-BFE9-4B6F-9A81-9F9C96F5DA38}" presName="negativeSpace" presStyleCnt="0"/>
      <dgm:spPr/>
    </dgm:pt>
    <dgm:pt modelId="{B866DC59-1938-4778-967D-67E2B8BEE2C2}" type="pres">
      <dgm:prSet presAssocID="{A75A4D4B-BFE9-4B6F-9A81-9F9C96F5DA38}" presName="childText" presStyleLbl="conFgAcc1" presStyleIdx="0" presStyleCnt="2">
        <dgm:presLayoutVars>
          <dgm:bulletEnabled val="1"/>
        </dgm:presLayoutVars>
      </dgm:prSet>
      <dgm:spPr/>
    </dgm:pt>
    <dgm:pt modelId="{7F3F106E-D5D6-4EC8-8105-A45B53A1B210}" type="pres">
      <dgm:prSet presAssocID="{7E1354BB-EC61-4A45-99C9-75C6202CC56A}" presName="spaceBetweenRectangles" presStyleCnt="0"/>
      <dgm:spPr/>
    </dgm:pt>
    <dgm:pt modelId="{A36078CD-6247-435F-9482-F82415031E9F}" type="pres">
      <dgm:prSet presAssocID="{85557830-9F6F-45ED-883E-1C95B54D317F}" presName="parentLin" presStyleCnt="0"/>
      <dgm:spPr/>
    </dgm:pt>
    <dgm:pt modelId="{894EE8AC-F77D-461A-BC01-B9D8BF678E65}" type="pres">
      <dgm:prSet presAssocID="{85557830-9F6F-45ED-883E-1C95B54D317F}" presName="parentLeftMargin" presStyleLbl="node1" presStyleIdx="0" presStyleCnt="2"/>
      <dgm:spPr/>
    </dgm:pt>
    <dgm:pt modelId="{573F7CC0-32A3-4091-8D3B-0163CF8E340D}" type="pres">
      <dgm:prSet presAssocID="{85557830-9F6F-45ED-883E-1C95B54D317F}" presName="parentText" presStyleLbl="node1" presStyleIdx="1" presStyleCnt="2">
        <dgm:presLayoutVars>
          <dgm:chMax val="0"/>
          <dgm:bulletEnabled val="1"/>
        </dgm:presLayoutVars>
      </dgm:prSet>
      <dgm:spPr/>
    </dgm:pt>
    <dgm:pt modelId="{7C212DAA-91D4-43F4-B6CC-317765687858}" type="pres">
      <dgm:prSet presAssocID="{85557830-9F6F-45ED-883E-1C95B54D317F}" presName="negativeSpace" presStyleCnt="0"/>
      <dgm:spPr/>
    </dgm:pt>
    <dgm:pt modelId="{F6608AD0-85CB-4277-913F-F7A2C1A11F09}" type="pres">
      <dgm:prSet presAssocID="{85557830-9F6F-45ED-883E-1C95B54D317F}" presName="childText" presStyleLbl="conFgAcc1" presStyleIdx="1" presStyleCnt="2">
        <dgm:presLayoutVars>
          <dgm:bulletEnabled val="1"/>
        </dgm:presLayoutVars>
      </dgm:prSet>
      <dgm:spPr/>
    </dgm:pt>
  </dgm:ptLst>
  <dgm:cxnLst>
    <dgm:cxn modelId="{2384A503-F271-4BCF-95CE-2D648CADEE9E}" type="presOf" srcId="{A75A4D4B-BFE9-4B6F-9A81-9F9C96F5DA38}" destId="{C02A24F1-543D-4BD2-AAF4-154449A41DAD}" srcOrd="1" destOrd="0" presId="urn:microsoft.com/office/officeart/2005/8/layout/list1"/>
    <dgm:cxn modelId="{7B473105-9283-475B-8608-660AD7A00C56}" type="presOf" srcId="{A8972B69-4B4F-436A-B547-1FADC4FB29B4}" destId="{7336779F-ADC4-45E4-9F68-8DE8A2DF24F9}" srcOrd="0" destOrd="0" presId="urn:microsoft.com/office/officeart/2005/8/layout/list1"/>
    <dgm:cxn modelId="{16B9F319-AB90-42D8-8B26-251A3FB285DD}" type="presOf" srcId="{28CC8EF6-09B2-497D-A474-91973F3DDF46}" destId="{F6608AD0-85CB-4277-913F-F7A2C1A11F09}" srcOrd="0" destOrd="0" presId="urn:microsoft.com/office/officeart/2005/8/layout/list1"/>
    <dgm:cxn modelId="{08240E28-4CA0-44B9-90B0-AA19170A54A4}" type="presOf" srcId="{A75A4D4B-BFE9-4B6F-9A81-9F9C96F5DA38}" destId="{8B330473-D8DB-44FE-943D-AF8935E93284}" srcOrd="0" destOrd="0" presId="urn:microsoft.com/office/officeart/2005/8/layout/list1"/>
    <dgm:cxn modelId="{3180DA75-EB76-447E-9DCB-610E6AEC154A}" srcId="{85557830-9F6F-45ED-883E-1C95B54D317F}" destId="{B2A8F814-AD0C-4DF0-B682-3BC6CC654C24}" srcOrd="1" destOrd="0" parTransId="{17848FDB-D365-4E51-B3F1-B1B426BF87F1}" sibTransId="{E861FF10-0667-4299-A99E-8B686974A719}"/>
    <dgm:cxn modelId="{0F6B7F83-A81F-4CE3-8D7C-D94A47AC3E11}" type="presOf" srcId="{85557830-9F6F-45ED-883E-1C95B54D317F}" destId="{573F7CC0-32A3-4091-8D3B-0163CF8E340D}" srcOrd="1" destOrd="0" presId="urn:microsoft.com/office/officeart/2005/8/layout/list1"/>
    <dgm:cxn modelId="{8A98868A-A2A6-4773-9441-F749C56FE8BB}" type="presOf" srcId="{B2A8F814-AD0C-4DF0-B682-3BC6CC654C24}" destId="{F6608AD0-85CB-4277-913F-F7A2C1A11F09}" srcOrd="0" destOrd="1" presId="urn:microsoft.com/office/officeart/2005/8/layout/list1"/>
    <dgm:cxn modelId="{776A1E9D-9C0D-47CF-9A03-0A952073AC46}" srcId="{85557830-9F6F-45ED-883E-1C95B54D317F}" destId="{18190B89-416A-4523-AD4B-6445E9A98567}" srcOrd="2" destOrd="0" parTransId="{FF1B7E07-9723-4F84-8F20-7C771A89C927}" sibTransId="{374FB655-8DB6-4770-B82B-9F7BC8B0CD6A}"/>
    <dgm:cxn modelId="{308698A2-6EF8-4D33-BD25-C40893D2AB03}" type="presOf" srcId="{18190B89-416A-4523-AD4B-6445E9A98567}" destId="{F6608AD0-85CB-4277-913F-F7A2C1A11F09}" srcOrd="0" destOrd="2" presId="urn:microsoft.com/office/officeart/2005/8/layout/list1"/>
    <dgm:cxn modelId="{7F9DA8A4-8191-4121-8DA1-F0552EB3E440}" srcId="{A8972B69-4B4F-436A-B547-1FADC4FB29B4}" destId="{A75A4D4B-BFE9-4B6F-9A81-9F9C96F5DA38}" srcOrd="0" destOrd="0" parTransId="{4FAABBF4-AB55-44FE-B6F0-B4BF829D004F}" sibTransId="{7E1354BB-EC61-4A45-99C9-75C6202CC56A}"/>
    <dgm:cxn modelId="{5D025ABF-3EDC-42CC-A280-7394287E55AA}" srcId="{85557830-9F6F-45ED-883E-1C95B54D317F}" destId="{28CC8EF6-09B2-497D-A474-91973F3DDF46}" srcOrd="0" destOrd="0" parTransId="{D11572E8-1FF8-473A-BF42-572611F1EFB3}" sibTransId="{FD5619E6-EE22-4FEB-8AC8-BA0D0DB7836B}"/>
    <dgm:cxn modelId="{08DB17E5-0AC9-4547-BFAD-F8B08937CCC9}" srcId="{A8972B69-4B4F-436A-B547-1FADC4FB29B4}" destId="{85557830-9F6F-45ED-883E-1C95B54D317F}" srcOrd="1" destOrd="0" parTransId="{03207C8A-3730-4475-98B2-BA9719145574}" sibTransId="{852E86E0-7E46-4564-8BAF-004FCBD01D6C}"/>
    <dgm:cxn modelId="{D6E599F4-F71D-4BA9-A22D-E2A61C38DE48}" type="presOf" srcId="{85557830-9F6F-45ED-883E-1C95B54D317F}" destId="{894EE8AC-F77D-461A-BC01-B9D8BF678E65}" srcOrd="0" destOrd="0" presId="urn:microsoft.com/office/officeart/2005/8/layout/list1"/>
    <dgm:cxn modelId="{A33A706F-B867-4FD8-8CED-4F05213CCCAF}" type="presParOf" srcId="{7336779F-ADC4-45E4-9F68-8DE8A2DF24F9}" destId="{9D35D8A8-7423-44F2-90BA-FDDB4EEF4402}" srcOrd="0" destOrd="0" presId="urn:microsoft.com/office/officeart/2005/8/layout/list1"/>
    <dgm:cxn modelId="{F887BAF9-CED5-45BF-A11B-16905D3DE65D}" type="presParOf" srcId="{9D35D8A8-7423-44F2-90BA-FDDB4EEF4402}" destId="{8B330473-D8DB-44FE-943D-AF8935E93284}" srcOrd="0" destOrd="0" presId="urn:microsoft.com/office/officeart/2005/8/layout/list1"/>
    <dgm:cxn modelId="{F8E8CDBC-C651-417F-85C8-3722FFECBC75}" type="presParOf" srcId="{9D35D8A8-7423-44F2-90BA-FDDB4EEF4402}" destId="{C02A24F1-543D-4BD2-AAF4-154449A41DAD}" srcOrd="1" destOrd="0" presId="urn:microsoft.com/office/officeart/2005/8/layout/list1"/>
    <dgm:cxn modelId="{319756B0-037F-494F-A57D-C75D8AE29FDA}" type="presParOf" srcId="{7336779F-ADC4-45E4-9F68-8DE8A2DF24F9}" destId="{B9CEC0E9-2578-4012-B140-DF1D1158A7BA}" srcOrd="1" destOrd="0" presId="urn:microsoft.com/office/officeart/2005/8/layout/list1"/>
    <dgm:cxn modelId="{AA61D148-4DDC-4D5E-98D6-AD872BB988B1}" type="presParOf" srcId="{7336779F-ADC4-45E4-9F68-8DE8A2DF24F9}" destId="{B866DC59-1938-4778-967D-67E2B8BEE2C2}" srcOrd="2" destOrd="0" presId="urn:microsoft.com/office/officeart/2005/8/layout/list1"/>
    <dgm:cxn modelId="{938A5B06-1923-4665-8245-7570031E3D44}" type="presParOf" srcId="{7336779F-ADC4-45E4-9F68-8DE8A2DF24F9}" destId="{7F3F106E-D5D6-4EC8-8105-A45B53A1B210}" srcOrd="3" destOrd="0" presId="urn:microsoft.com/office/officeart/2005/8/layout/list1"/>
    <dgm:cxn modelId="{7624581F-C004-41E4-A8FE-2E40CDBF1AE5}" type="presParOf" srcId="{7336779F-ADC4-45E4-9F68-8DE8A2DF24F9}" destId="{A36078CD-6247-435F-9482-F82415031E9F}" srcOrd="4" destOrd="0" presId="urn:microsoft.com/office/officeart/2005/8/layout/list1"/>
    <dgm:cxn modelId="{38587FA5-4DF9-46CC-A493-3065F71F77FE}" type="presParOf" srcId="{A36078CD-6247-435F-9482-F82415031E9F}" destId="{894EE8AC-F77D-461A-BC01-B9D8BF678E65}" srcOrd="0" destOrd="0" presId="urn:microsoft.com/office/officeart/2005/8/layout/list1"/>
    <dgm:cxn modelId="{1954C942-A115-4849-935E-F587E3EE59C7}" type="presParOf" srcId="{A36078CD-6247-435F-9482-F82415031E9F}" destId="{573F7CC0-32A3-4091-8D3B-0163CF8E340D}" srcOrd="1" destOrd="0" presId="urn:microsoft.com/office/officeart/2005/8/layout/list1"/>
    <dgm:cxn modelId="{A71FA6E2-8C52-448B-A902-DCEB925F7074}" type="presParOf" srcId="{7336779F-ADC4-45E4-9F68-8DE8A2DF24F9}" destId="{7C212DAA-91D4-43F4-B6CC-317765687858}" srcOrd="5" destOrd="0" presId="urn:microsoft.com/office/officeart/2005/8/layout/list1"/>
    <dgm:cxn modelId="{0FBFB061-7144-40BB-84BA-8AA484913AA6}" type="presParOf" srcId="{7336779F-ADC4-45E4-9F68-8DE8A2DF24F9}" destId="{F6608AD0-85CB-4277-913F-F7A2C1A11F09}" srcOrd="6"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3CB6246-561C-474E-99DE-76064ACA0037}"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884DF948-4CF1-49F7-BF4D-735D9A8B3C32}">
      <dgm:prSet/>
      <dgm:spPr/>
      <dgm:t>
        <a:bodyPr/>
        <a:lstStyle/>
        <a:p>
          <a:r>
            <a:rPr lang="en-US"/>
            <a:t>Trying to impress can make the first assignment harder than it needs to be.</a:t>
          </a:r>
        </a:p>
      </dgm:t>
    </dgm:pt>
    <dgm:pt modelId="{65340EB2-AB1C-4071-B5CE-8C6A4F0CEBA6}" type="parTrans" cxnId="{9249F1BB-C67B-4EE2-ACF8-BED1EE1E87BF}">
      <dgm:prSet/>
      <dgm:spPr/>
      <dgm:t>
        <a:bodyPr/>
        <a:lstStyle/>
        <a:p>
          <a:endParaRPr lang="en-US"/>
        </a:p>
      </dgm:t>
    </dgm:pt>
    <dgm:pt modelId="{370E24BC-94E9-4AE3-8E11-3C7EF37B706B}" type="sibTrans" cxnId="{9249F1BB-C67B-4EE2-ACF8-BED1EE1E87BF}">
      <dgm:prSet/>
      <dgm:spPr/>
      <dgm:t>
        <a:bodyPr/>
        <a:lstStyle/>
        <a:p>
          <a:endParaRPr lang="en-US"/>
        </a:p>
      </dgm:t>
    </dgm:pt>
    <dgm:pt modelId="{C40F9E67-DAA0-4055-9018-05CC1DC50A54}">
      <dgm:prSet/>
      <dgm:spPr/>
      <dgm:t>
        <a:bodyPr/>
        <a:lstStyle/>
        <a:p>
          <a:r>
            <a:rPr lang="en-US"/>
            <a:t>Small, clean, and explainable is better than large and confusing.</a:t>
          </a:r>
        </a:p>
      </dgm:t>
    </dgm:pt>
    <dgm:pt modelId="{644A129A-4F80-4FA8-ADDE-8E4D4C795CF0}" type="parTrans" cxnId="{09C45EA6-FE1D-40EE-B487-2D775C57BB4F}">
      <dgm:prSet/>
      <dgm:spPr/>
      <dgm:t>
        <a:bodyPr/>
        <a:lstStyle/>
        <a:p>
          <a:endParaRPr lang="en-US"/>
        </a:p>
      </dgm:t>
    </dgm:pt>
    <dgm:pt modelId="{393E63F0-8E22-4DA8-A327-FD89922D3565}" type="sibTrans" cxnId="{09C45EA6-FE1D-40EE-B487-2D775C57BB4F}">
      <dgm:prSet/>
      <dgm:spPr/>
      <dgm:t>
        <a:bodyPr/>
        <a:lstStyle/>
        <a:p>
          <a:endParaRPr lang="en-US"/>
        </a:p>
      </dgm:t>
    </dgm:pt>
    <dgm:pt modelId="{BDC851E9-86FF-4B49-A978-7E472B281133}" type="pres">
      <dgm:prSet presAssocID="{33CB6246-561C-474E-99DE-76064ACA0037}" presName="root" presStyleCnt="0">
        <dgm:presLayoutVars>
          <dgm:dir/>
          <dgm:resizeHandles val="exact"/>
        </dgm:presLayoutVars>
      </dgm:prSet>
      <dgm:spPr/>
    </dgm:pt>
    <dgm:pt modelId="{B98FDE64-48E9-42F0-A637-1DA1D99A8C9B}" type="pres">
      <dgm:prSet presAssocID="{884DF948-4CF1-49F7-BF4D-735D9A8B3C32}" presName="compNode" presStyleCnt="0"/>
      <dgm:spPr/>
    </dgm:pt>
    <dgm:pt modelId="{F06CE6E1-1A6F-4F6A-AB74-2F2B8732E201}" type="pres">
      <dgm:prSet presAssocID="{884DF948-4CF1-49F7-BF4D-735D9A8B3C32}" presName="bgRect" presStyleLbl="bgShp" presStyleIdx="0" presStyleCnt="2"/>
      <dgm:spPr/>
    </dgm:pt>
    <dgm:pt modelId="{5E2316A9-F76E-4308-BF1D-D3B4788EFEAA}" type="pres">
      <dgm:prSet presAssocID="{884DF948-4CF1-49F7-BF4D-735D9A8B3C32}" presName="iconRect" presStyleLbl="node1" presStyleIdx="0"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lassroom"/>
        </a:ext>
      </dgm:extLst>
    </dgm:pt>
    <dgm:pt modelId="{A7513A2A-72DB-4173-B403-A982559C0267}" type="pres">
      <dgm:prSet presAssocID="{884DF948-4CF1-49F7-BF4D-735D9A8B3C32}" presName="spaceRect" presStyleCnt="0"/>
      <dgm:spPr/>
    </dgm:pt>
    <dgm:pt modelId="{99769BE4-CD72-42A7-A2B3-F5F9AE5A460A}" type="pres">
      <dgm:prSet presAssocID="{884DF948-4CF1-49F7-BF4D-735D9A8B3C32}" presName="parTx" presStyleLbl="revTx" presStyleIdx="0" presStyleCnt="2">
        <dgm:presLayoutVars>
          <dgm:chMax val="0"/>
          <dgm:chPref val="0"/>
        </dgm:presLayoutVars>
      </dgm:prSet>
      <dgm:spPr/>
    </dgm:pt>
    <dgm:pt modelId="{DEED10DD-02D9-453C-9897-C72A10CF5903}" type="pres">
      <dgm:prSet presAssocID="{370E24BC-94E9-4AE3-8E11-3C7EF37B706B}" presName="sibTrans" presStyleCnt="0"/>
      <dgm:spPr/>
    </dgm:pt>
    <dgm:pt modelId="{AE90A578-2215-460B-93B1-C58ED70FE41D}" type="pres">
      <dgm:prSet presAssocID="{C40F9E67-DAA0-4055-9018-05CC1DC50A54}" presName="compNode" presStyleCnt="0"/>
      <dgm:spPr/>
    </dgm:pt>
    <dgm:pt modelId="{F283E99C-BDFF-47D8-AF65-1C1E54A9C4CA}" type="pres">
      <dgm:prSet presAssocID="{C40F9E67-DAA0-4055-9018-05CC1DC50A54}" presName="bgRect" presStyleLbl="bgShp" presStyleIdx="1" presStyleCnt="2"/>
      <dgm:spPr/>
    </dgm:pt>
    <dgm:pt modelId="{BD761238-2400-472C-9971-6D0DC2E4B0EF}" type="pres">
      <dgm:prSet presAssocID="{C40F9E67-DAA0-4055-9018-05CC1DC50A54}" presName="iconRect" presStyleLbl="node1" presStyleIdx="1" presStyleCnt="2"/>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ourglass"/>
        </a:ext>
      </dgm:extLst>
    </dgm:pt>
    <dgm:pt modelId="{4F1DFF24-38AA-40D8-8D7D-29FA44F5794B}" type="pres">
      <dgm:prSet presAssocID="{C40F9E67-DAA0-4055-9018-05CC1DC50A54}" presName="spaceRect" presStyleCnt="0"/>
      <dgm:spPr/>
    </dgm:pt>
    <dgm:pt modelId="{D732B281-DE85-4B4A-87BA-15CE909D27C3}" type="pres">
      <dgm:prSet presAssocID="{C40F9E67-DAA0-4055-9018-05CC1DC50A54}" presName="parTx" presStyleLbl="revTx" presStyleIdx="1" presStyleCnt="2">
        <dgm:presLayoutVars>
          <dgm:chMax val="0"/>
          <dgm:chPref val="0"/>
        </dgm:presLayoutVars>
      </dgm:prSet>
      <dgm:spPr/>
    </dgm:pt>
  </dgm:ptLst>
  <dgm:cxnLst>
    <dgm:cxn modelId="{92D9AE05-3A6F-488E-ABEE-9594AAFD1D25}" type="presOf" srcId="{33CB6246-561C-474E-99DE-76064ACA0037}" destId="{BDC851E9-86FF-4B49-A978-7E472B281133}" srcOrd="0" destOrd="0" presId="urn:microsoft.com/office/officeart/2018/2/layout/IconVerticalSolidList"/>
    <dgm:cxn modelId="{863F0575-D8E0-4673-B324-E863265D7A51}" type="presOf" srcId="{884DF948-4CF1-49F7-BF4D-735D9A8B3C32}" destId="{99769BE4-CD72-42A7-A2B3-F5F9AE5A460A}" srcOrd="0" destOrd="0" presId="urn:microsoft.com/office/officeart/2018/2/layout/IconVerticalSolidList"/>
    <dgm:cxn modelId="{09C45EA6-FE1D-40EE-B487-2D775C57BB4F}" srcId="{33CB6246-561C-474E-99DE-76064ACA0037}" destId="{C40F9E67-DAA0-4055-9018-05CC1DC50A54}" srcOrd="1" destOrd="0" parTransId="{644A129A-4F80-4FA8-ADDE-8E4D4C795CF0}" sibTransId="{393E63F0-8E22-4DA8-A327-FD89922D3565}"/>
    <dgm:cxn modelId="{0393A5A8-2CD8-44C4-9799-4FCA0D482DEA}" type="presOf" srcId="{C40F9E67-DAA0-4055-9018-05CC1DC50A54}" destId="{D732B281-DE85-4B4A-87BA-15CE909D27C3}" srcOrd="0" destOrd="0" presId="urn:microsoft.com/office/officeart/2018/2/layout/IconVerticalSolidList"/>
    <dgm:cxn modelId="{9249F1BB-C67B-4EE2-ACF8-BED1EE1E87BF}" srcId="{33CB6246-561C-474E-99DE-76064ACA0037}" destId="{884DF948-4CF1-49F7-BF4D-735D9A8B3C32}" srcOrd="0" destOrd="0" parTransId="{65340EB2-AB1C-4071-B5CE-8C6A4F0CEBA6}" sibTransId="{370E24BC-94E9-4AE3-8E11-3C7EF37B706B}"/>
    <dgm:cxn modelId="{AB4CAC19-FB28-4C3B-A349-26342B22A35B}" type="presParOf" srcId="{BDC851E9-86FF-4B49-A978-7E472B281133}" destId="{B98FDE64-48E9-42F0-A637-1DA1D99A8C9B}" srcOrd="0" destOrd="0" presId="urn:microsoft.com/office/officeart/2018/2/layout/IconVerticalSolidList"/>
    <dgm:cxn modelId="{E0EF26C7-AC16-442C-B3D2-0ECC6536CDCA}" type="presParOf" srcId="{B98FDE64-48E9-42F0-A637-1DA1D99A8C9B}" destId="{F06CE6E1-1A6F-4F6A-AB74-2F2B8732E201}" srcOrd="0" destOrd="0" presId="urn:microsoft.com/office/officeart/2018/2/layout/IconVerticalSolidList"/>
    <dgm:cxn modelId="{54E56D2B-D678-4F4B-B66B-7CFB03C934EA}" type="presParOf" srcId="{B98FDE64-48E9-42F0-A637-1DA1D99A8C9B}" destId="{5E2316A9-F76E-4308-BF1D-D3B4788EFEAA}" srcOrd="1" destOrd="0" presId="urn:microsoft.com/office/officeart/2018/2/layout/IconVerticalSolidList"/>
    <dgm:cxn modelId="{A7612264-31BA-4C8C-979D-C730C0BA33FB}" type="presParOf" srcId="{B98FDE64-48E9-42F0-A637-1DA1D99A8C9B}" destId="{A7513A2A-72DB-4173-B403-A982559C0267}" srcOrd="2" destOrd="0" presId="urn:microsoft.com/office/officeart/2018/2/layout/IconVerticalSolidList"/>
    <dgm:cxn modelId="{6F5356F3-280D-472D-AA59-15EC83986574}" type="presParOf" srcId="{B98FDE64-48E9-42F0-A637-1DA1D99A8C9B}" destId="{99769BE4-CD72-42A7-A2B3-F5F9AE5A460A}" srcOrd="3" destOrd="0" presId="urn:microsoft.com/office/officeart/2018/2/layout/IconVerticalSolidList"/>
    <dgm:cxn modelId="{3FF99951-2943-466F-A37E-5728DE1FC83B}" type="presParOf" srcId="{BDC851E9-86FF-4B49-A978-7E472B281133}" destId="{DEED10DD-02D9-453C-9897-C72A10CF5903}" srcOrd="1" destOrd="0" presId="urn:microsoft.com/office/officeart/2018/2/layout/IconVerticalSolidList"/>
    <dgm:cxn modelId="{603789CD-1347-41F8-994A-8720EA07B561}" type="presParOf" srcId="{BDC851E9-86FF-4B49-A978-7E472B281133}" destId="{AE90A578-2215-460B-93B1-C58ED70FE41D}" srcOrd="2" destOrd="0" presId="urn:microsoft.com/office/officeart/2018/2/layout/IconVerticalSolidList"/>
    <dgm:cxn modelId="{C90F3188-CB8D-446F-B1DA-E9239DCCF159}" type="presParOf" srcId="{AE90A578-2215-460B-93B1-C58ED70FE41D}" destId="{F283E99C-BDFF-47D8-AF65-1C1E54A9C4CA}" srcOrd="0" destOrd="0" presId="urn:microsoft.com/office/officeart/2018/2/layout/IconVerticalSolidList"/>
    <dgm:cxn modelId="{A8D08019-083D-4706-9BA2-39DF16260BD5}" type="presParOf" srcId="{AE90A578-2215-460B-93B1-C58ED70FE41D}" destId="{BD761238-2400-472C-9971-6D0DC2E4B0EF}" srcOrd="1" destOrd="0" presId="urn:microsoft.com/office/officeart/2018/2/layout/IconVerticalSolidList"/>
    <dgm:cxn modelId="{41756FE6-FC1F-450E-8374-E946B6208DF7}" type="presParOf" srcId="{AE90A578-2215-460B-93B1-C58ED70FE41D}" destId="{4F1DFF24-38AA-40D8-8D7D-29FA44F5794B}" srcOrd="2" destOrd="0" presId="urn:microsoft.com/office/officeart/2018/2/layout/IconVerticalSolidList"/>
    <dgm:cxn modelId="{109A1201-7C43-4A1C-BE0A-AF4DA8E61D5E}" type="presParOf" srcId="{AE90A578-2215-460B-93B1-C58ED70FE41D}" destId="{D732B281-DE85-4B4A-87BA-15CE909D27C3}"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866DC59-1938-4778-967D-67E2B8BEE2C2}">
      <dsp:nvSpPr>
        <dsp:cNvPr id="0" name=""/>
        <dsp:cNvSpPr/>
      </dsp:nvSpPr>
      <dsp:spPr>
        <a:xfrm>
          <a:off x="0" y="556694"/>
          <a:ext cx="5019610" cy="907200"/>
        </a:xfrm>
        <a:prstGeom prst="rect">
          <a:avLst/>
        </a:prstGeom>
        <a:solidFill>
          <a:schemeClr val="lt1">
            <a:alpha val="90000"/>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C02A24F1-543D-4BD2-AAF4-154449A41DAD}">
      <dsp:nvSpPr>
        <dsp:cNvPr id="0" name=""/>
        <dsp:cNvSpPr/>
      </dsp:nvSpPr>
      <dsp:spPr>
        <a:xfrm>
          <a:off x="250980" y="25334"/>
          <a:ext cx="3513727" cy="1062720"/>
        </a:xfrm>
        <a:prstGeom prst="roundRect">
          <a:avLst/>
        </a:prstGeom>
        <a:gradFill rotWithShape="0">
          <a:gsLst>
            <a:gs pos="0">
              <a:schemeClr val="accent2">
                <a:hueOff val="0"/>
                <a:satOff val="0"/>
                <a:lumOff val="0"/>
                <a:alphaOff val="0"/>
                <a:tint val="96000"/>
                <a:lumMod val="100000"/>
              </a:schemeClr>
            </a:gs>
            <a:gs pos="78000">
              <a:schemeClr val="accent2">
                <a:hueOff val="0"/>
                <a:satOff val="0"/>
                <a:lumOff val="0"/>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32811" tIns="0" rIns="132811" bIns="0" numCol="1" spcCol="1270" anchor="ctr" anchorCtr="0">
          <a:noAutofit/>
        </a:bodyPr>
        <a:lstStyle/>
        <a:p>
          <a:pPr marL="0" lvl="0" indent="0" algn="l" defTabSz="1600200">
            <a:lnSpc>
              <a:spcPct val="90000"/>
            </a:lnSpc>
            <a:spcBef>
              <a:spcPct val="0"/>
            </a:spcBef>
            <a:spcAft>
              <a:spcPct val="35000"/>
            </a:spcAft>
            <a:buNone/>
          </a:pPr>
          <a:r>
            <a:rPr lang="en-US" sz="3600" kern="1200" dirty="0"/>
            <a:t>NOT a large program</a:t>
          </a:r>
        </a:p>
      </dsp:txBody>
      <dsp:txXfrm>
        <a:off x="302858" y="77212"/>
        <a:ext cx="3409971" cy="958964"/>
      </dsp:txXfrm>
    </dsp:sp>
    <dsp:sp modelId="{F6608AD0-85CB-4277-913F-F7A2C1A11F09}">
      <dsp:nvSpPr>
        <dsp:cNvPr id="0" name=""/>
        <dsp:cNvSpPr/>
      </dsp:nvSpPr>
      <dsp:spPr>
        <a:xfrm>
          <a:off x="0" y="2189654"/>
          <a:ext cx="5019610" cy="2608200"/>
        </a:xfrm>
        <a:prstGeom prst="rect">
          <a:avLst/>
        </a:prstGeom>
        <a:solidFill>
          <a:schemeClr val="lt1">
            <a:alpha val="90000"/>
            <a:hueOff val="0"/>
            <a:satOff val="0"/>
            <a:lumOff val="0"/>
            <a:alphaOff val="0"/>
          </a:schemeClr>
        </a:solidFill>
        <a:ln w="12700" cap="rnd" cmpd="sng" algn="ctr">
          <a:solidFill>
            <a:schemeClr val="accent2">
              <a:hueOff val="-9896230"/>
              <a:satOff val="35944"/>
              <a:lumOff val="3335"/>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9578" tIns="749808" rIns="389578" bIns="256032" numCol="1" spcCol="1270" anchor="t" anchorCtr="0">
          <a:noAutofit/>
        </a:bodyPr>
        <a:lstStyle/>
        <a:p>
          <a:pPr marL="285750" lvl="1" indent="-285750" algn="l" defTabSz="1600200">
            <a:lnSpc>
              <a:spcPct val="90000"/>
            </a:lnSpc>
            <a:spcBef>
              <a:spcPct val="0"/>
            </a:spcBef>
            <a:spcAft>
              <a:spcPct val="15000"/>
            </a:spcAft>
            <a:buChar char="•"/>
          </a:pPr>
          <a:r>
            <a:rPr lang="en-US" sz="3600" kern="1200"/>
            <a:t>Runs</a:t>
          </a:r>
          <a:endParaRPr lang="en-US" sz="3600" kern="1200" dirty="0"/>
        </a:p>
        <a:p>
          <a:pPr marL="285750" lvl="1" indent="-285750" algn="l" defTabSz="1600200">
            <a:lnSpc>
              <a:spcPct val="90000"/>
            </a:lnSpc>
            <a:spcBef>
              <a:spcPct val="0"/>
            </a:spcBef>
            <a:spcAft>
              <a:spcPct val="15000"/>
            </a:spcAft>
            <a:buChar char="•"/>
          </a:pPr>
          <a:r>
            <a:rPr lang="en-US" sz="3600" kern="1200"/>
            <a:t>Produces output</a:t>
          </a:r>
          <a:endParaRPr lang="en-US" sz="3600" kern="1200" dirty="0"/>
        </a:p>
        <a:p>
          <a:pPr marL="285750" lvl="1" indent="-285750" algn="l" defTabSz="1600200">
            <a:lnSpc>
              <a:spcPct val="90000"/>
            </a:lnSpc>
            <a:spcBef>
              <a:spcPct val="0"/>
            </a:spcBef>
            <a:spcAft>
              <a:spcPct val="15000"/>
            </a:spcAft>
            <a:buChar char="•"/>
          </a:pPr>
          <a:r>
            <a:rPr lang="en-US" sz="3600" kern="1200"/>
            <a:t>Can be Explained</a:t>
          </a:r>
          <a:endParaRPr lang="en-US" sz="3600" kern="1200" dirty="0"/>
        </a:p>
      </dsp:txBody>
      <dsp:txXfrm>
        <a:off x="0" y="2189654"/>
        <a:ext cx="5019610" cy="2608200"/>
      </dsp:txXfrm>
    </dsp:sp>
    <dsp:sp modelId="{573F7CC0-32A3-4091-8D3B-0163CF8E340D}">
      <dsp:nvSpPr>
        <dsp:cNvPr id="0" name=""/>
        <dsp:cNvSpPr/>
      </dsp:nvSpPr>
      <dsp:spPr>
        <a:xfrm>
          <a:off x="250980" y="1658294"/>
          <a:ext cx="3513727" cy="1062720"/>
        </a:xfrm>
        <a:prstGeom prst="roundRect">
          <a:avLst/>
        </a:prstGeom>
        <a:gradFill rotWithShape="0">
          <a:gsLst>
            <a:gs pos="0">
              <a:schemeClr val="accent2">
                <a:hueOff val="-9896230"/>
                <a:satOff val="35944"/>
                <a:lumOff val="3335"/>
                <a:alphaOff val="0"/>
                <a:tint val="96000"/>
                <a:lumMod val="100000"/>
              </a:schemeClr>
            </a:gs>
            <a:gs pos="78000">
              <a:schemeClr val="accent2">
                <a:hueOff val="-9896230"/>
                <a:satOff val="35944"/>
                <a:lumOff val="3335"/>
                <a:alphaOff val="0"/>
                <a:shade val="94000"/>
                <a:lumMod val="94000"/>
              </a:schemeClr>
            </a:gs>
          </a:gsLst>
          <a:lin ang="5400000" scaled="0"/>
        </a:gradFill>
        <a:ln>
          <a:noFill/>
        </a:ln>
        <a:effectLst>
          <a:outerShdw blurRad="38100" dist="254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32811" tIns="0" rIns="132811" bIns="0" numCol="1" spcCol="1270" anchor="ctr" anchorCtr="0">
          <a:noAutofit/>
        </a:bodyPr>
        <a:lstStyle/>
        <a:p>
          <a:pPr marL="0" lvl="0" indent="0" algn="l" defTabSz="1600200">
            <a:lnSpc>
              <a:spcPct val="90000"/>
            </a:lnSpc>
            <a:spcBef>
              <a:spcPct val="0"/>
            </a:spcBef>
            <a:spcAft>
              <a:spcPct val="35000"/>
            </a:spcAft>
            <a:buNone/>
          </a:pPr>
          <a:r>
            <a:rPr lang="en-US" sz="3600" kern="1200" dirty="0"/>
            <a:t>Small Program that:</a:t>
          </a:r>
        </a:p>
      </dsp:txBody>
      <dsp:txXfrm>
        <a:off x="302858" y="1710172"/>
        <a:ext cx="3409971" cy="95896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6CE6E1-1A6F-4F6A-AB74-2F2B8732E201}">
      <dsp:nvSpPr>
        <dsp:cNvPr id="0" name=""/>
        <dsp:cNvSpPr/>
      </dsp:nvSpPr>
      <dsp:spPr>
        <a:xfrm>
          <a:off x="0" y="665190"/>
          <a:ext cx="7213600" cy="122804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E2316A9-F76E-4308-BF1D-D3B4788EFEAA}">
      <dsp:nvSpPr>
        <dsp:cNvPr id="0" name=""/>
        <dsp:cNvSpPr/>
      </dsp:nvSpPr>
      <dsp:spPr>
        <a:xfrm>
          <a:off x="371483" y="941500"/>
          <a:ext cx="675424" cy="67542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9769BE4-CD72-42A7-A2B3-F5F9AE5A460A}">
      <dsp:nvSpPr>
        <dsp:cNvPr id="0" name=""/>
        <dsp:cNvSpPr/>
      </dsp:nvSpPr>
      <dsp:spPr>
        <a:xfrm>
          <a:off x="1418391" y="665190"/>
          <a:ext cx="5795208" cy="1228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968" tIns="129968" rIns="129968" bIns="129968" numCol="1" spcCol="1270" anchor="ctr" anchorCtr="0">
          <a:noAutofit/>
        </a:bodyPr>
        <a:lstStyle/>
        <a:p>
          <a:pPr marL="0" lvl="0" indent="0" algn="l" defTabSz="1066800">
            <a:lnSpc>
              <a:spcPct val="90000"/>
            </a:lnSpc>
            <a:spcBef>
              <a:spcPct val="0"/>
            </a:spcBef>
            <a:spcAft>
              <a:spcPct val="35000"/>
            </a:spcAft>
            <a:buNone/>
          </a:pPr>
          <a:r>
            <a:rPr lang="en-US" sz="2400" kern="1200"/>
            <a:t>Trying to impress can make the first assignment harder than it needs to be.</a:t>
          </a:r>
        </a:p>
      </dsp:txBody>
      <dsp:txXfrm>
        <a:off x="1418391" y="665190"/>
        <a:ext cx="5795208" cy="1228044"/>
      </dsp:txXfrm>
    </dsp:sp>
    <dsp:sp modelId="{F283E99C-BDFF-47D8-AF65-1C1E54A9C4CA}">
      <dsp:nvSpPr>
        <dsp:cNvPr id="0" name=""/>
        <dsp:cNvSpPr/>
      </dsp:nvSpPr>
      <dsp:spPr>
        <a:xfrm>
          <a:off x="0" y="2200246"/>
          <a:ext cx="7213600" cy="1228044"/>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D761238-2400-472C-9971-6D0DC2E4B0EF}">
      <dsp:nvSpPr>
        <dsp:cNvPr id="0" name=""/>
        <dsp:cNvSpPr/>
      </dsp:nvSpPr>
      <dsp:spPr>
        <a:xfrm>
          <a:off x="371483" y="2476556"/>
          <a:ext cx="675424" cy="675424"/>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D732B281-DE85-4B4A-87BA-15CE909D27C3}">
      <dsp:nvSpPr>
        <dsp:cNvPr id="0" name=""/>
        <dsp:cNvSpPr/>
      </dsp:nvSpPr>
      <dsp:spPr>
        <a:xfrm>
          <a:off x="1418391" y="2200246"/>
          <a:ext cx="5795208" cy="1228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9968" tIns="129968" rIns="129968" bIns="129968" numCol="1" spcCol="1270" anchor="ctr" anchorCtr="0">
          <a:noAutofit/>
        </a:bodyPr>
        <a:lstStyle/>
        <a:p>
          <a:pPr marL="0" lvl="0" indent="0" algn="l" defTabSz="1066800">
            <a:lnSpc>
              <a:spcPct val="90000"/>
            </a:lnSpc>
            <a:spcBef>
              <a:spcPct val="0"/>
            </a:spcBef>
            <a:spcAft>
              <a:spcPct val="35000"/>
            </a:spcAft>
            <a:buNone/>
          </a:pPr>
          <a:r>
            <a:rPr lang="en-US" sz="2400" kern="1200"/>
            <a:t>Small, clean, and explainable is better than large and confusing.</a:t>
          </a:r>
        </a:p>
      </dsp:txBody>
      <dsp:txXfrm>
        <a:off x="1418391" y="2200246"/>
        <a:ext cx="5795208" cy="1228044"/>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759AF9F-1092-690D-006F-EBCE2C96B716}"/>
              </a:ext>
            </a:extLst>
          </p:cNvPr>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a:extLst>
              <a:ext uri="{FF2B5EF4-FFF2-40B4-BE49-F238E27FC236}">
                <a16:creationId xmlns:a16="http://schemas.microsoft.com/office/drawing/2014/main" id="{21FC0900-FCC2-2A2A-613C-A277F4B7120F}"/>
              </a:ext>
            </a:extLst>
          </p:cNvPr>
          <p:cNvSpPr>
            <a:spLocks noGrp="1"/>
          </p:cNvSpPr>
          <p:nvPr>
            <p:ph type="dt" sz="quarter" idx="1"/>
          </p:nvPr>
        </p:nvSpPr>
        <p:spPr>
          <a:xfrm>
            <a:off x="4143587" y="0"/>
            <a:ext cx="3169920" cy="481727"/>
          </a:xfrm>
          <a:prstGeom prst="rect">
            <a:avLst/>
          </a:prstGeom>
        </p:spPr>
        <p:txBody>
          <a:bodyPr vert="horz" lIns="96661" tIns="48331" rIns="96661" bIns="48331" rtlCol="0"/>
          <a:lstStyle>
            <a:lvl1pPr algn="r">
              <a:defRPr sz="1300"/>
            </a:lvl1pPr>
          </a:lstStyle>
          <a:p>
            <a:fld id="{64943E5A-6629-4B53-8BAD-0FC37077EB14}" type="datetimeFigureOut">
              <a:rPr lang="en-US" smtClean="0"/>
              <a:t>6/16/2026</a:t>
            </a:fld>
            <a:endParaRPr lang="en-US"/>
          </a:p>
        </p:txBody>
      </p:sp>
      <p:sp>
        <p:nvSpPr>
          <p:cNvPr id="4" name="Footer Placeholder 3">
            <a:extLst>
              <a:ext uri="{FF2B5EF4-FFF2-40B4-BE49-F238E27FC236}">
                <a16:creationId xmlns:a16="http://schemas.microsoft.com/office/drawing/2014/main" id="{6A2D7F8D-A102-3CF3-78CD-2CA4C36115D1}"/>
              </a:ext>
            </a:extLst>
          </p:cNvPr>
          <p:cNvSpPr>
            <a:spLocks noGrp="1"/>
          </p:cNvSpPr>
          <p:nvPr>
            <p:ph type="ftr" sz="quarter" idx="2"/>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5" name="Slide Number Placeholder 4">
            <a:extLst>
              <a:ext uri="{FF2B5EF4-FFF2-40B4-BE49-F238E27FC236}">
                <a16:creationId xmlns:a16="http://schemas.microsoft.com/office/drawing/2014/main" id="{4AD03618-FB8B-BA92-AF2F-43138FFAD960}"/>
              </a:ext>
            </a:extLst>
          </p:cNvPr>
          <p:cNvSpPr>
            <a:spLocks noGrp="1"/>
          </p:cNvSpPr>
          <p:nvPr>
            <p:ph type="sldNum" sz="quarter" idx="3"/>
          </p:nvPr>
        </p:nvSpPr>
        <p:spPr>
          <a:xfrm>
            <a:off x="4143587" y="9119474"/>
            <a:ext cx="3169920" cy="481726"/>
          </a:xfrm>
          <a:prstGeom prst="rect">
            <a:avLst/>
          </a:prstGeom>
        </p:spPr>
        <p:txBody>
          <a:bodyPr vert="horz" lIns="96661" tIns="48331" rIns="96661" bIns="48331" rtlCol="0" anchor="b"/>
          <a:lstStyle>
            <a:lvl1pPr algn="r">
              <a:defRPr sz="1300"/>
            </a:lvl1pPr>
          </a:lstStyle>
          <a:p>
            <a:fld id="{9E905D54-93E9-4845-A874-0CB2F7E46362}" type="slidenum">
              <a:rPr lang="en-US" smtClean="0"/>
              <a:t>‹#›</a:t>
            </a:fld>
            <a:endParaRPr lang="en-US"/>
          </a:p>
        </p:txBody>
      </p:sp>
    </p:spTree>
    <p:extLst>
      <p:ext uri="{BB962C8B-B14F-4D97-AF65-F5344CB8AC3E}">
        <p14:creationId xmlns:p14="http://schemas.microsoft.com/office/powerpoint/2010/main" val="925368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E3382475-516A-409A-944E-F435F3DFCCF2}" type="datetimeFigureOut">
              <a:rPr lang="en-US" smtClean="0"/>
              <a:t>6/16/2026</a:t>
            </a:fld>
            <a:endParaRPr lang="en-US"/>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1916ACA2-47E6-42D2-BEC8-EDC49A1A9FA1}" type="slidenum">
              <a:rPr lang="en-US" smtClean="0"/>
              <a:t>‹#›</a:t>
            </a:fld>
            <a:endParaRPr lang="en-US"/>
          </a:p>
        </p:txBody>
      </p:sp>
    </p:spTree>
    <p:extLst>
      <p:ext uri="{BB962C8B-B14F-4D97-AF65-F5344CB8AC3E}">
        <p14:creationId xmlns:p14="http://schemas.microsoft.com/office/powerpoint/2010/main" val="34062245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1</a:t>
            </a:fld>
            <a:endParaRPr lang="en-US"/>
          </a:p>
        </p:txBody>
      </p:sp>
    </p:spTree>
    <p:extLst>
      <p:ext uri="{BB962C8B-B14F-4D97-AF65-F5344CB8AC3E}">
        <p14:creationId xmlns:p14="http://schemas.microsoft.com/office/powerpoint/2010/main" val="30052349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Frame the day as integration, not expansion. </a:t>
            </a:r>
          </a:p>
          <a:p>
            <a:r>
              <a:rPr lang="en-US" sz="1300" dirty="0"/>
              <a:t>Students may expect "more Python“ before they can build anything. </a:t>
            </a:r>
          </a:p>
          <a:p>
            <a:r>
              <a:rPr lang="en-US" sz="1300" dirty="0"/>
              <a:t>Push back gently: they already have enough to make several useful beginner scripts.</a:t>
            </a:r>
          </a:p>
          <a:p>
            <a:endParaRPr lang="en-US" sz="1300" dirty="0"/>
          </a:p>
          <a:p>
            <a:r>
              <a:rPr lang="en-US" sz="1300" b="1" dirty="0"/>
              <a:t>**Transition Cue:**</a:t>
            </a:r>
            <a:endParaRPr lang="en-US" sz="1300" dirty="0"/>
          </a:p>
          <a:p>
            <a:r>
              <a:rPr lang="en-US" sz="1300" dirty="0"/>
              <a:t>Start by naming what they already know.</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a:t>
            </a:fld>
            <a:endParaRPr lang="en-US"/>
          </a:p>
        </p:txBody>
      </p:sp>
    </p:spTree>
    <p:extLst>
      <p:ext uri="{BB962C8B-B14F-4D97-AF65-F5344CB8AC3E}">
        <p14:creationId xmlns:p14="http://schemas.microsoft.com/office/powerpoint/2010/main" val="20393179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Ask students to recall one idea from each day:</a:t>
            </a:r>
          </a:p>
          <a:p>
            <a:r>
              <a:rPr lang="en-US" sz="1300" dirty="0"/>
              <a:t>- Monday: What does `print()` do?</a:t>
            </a:r>
          </a:p>
          <a:p>
            <a:r>
              <a:rPr lang="en-US" sz="1300" dirty="0"/>
              <a:t>- Tuesday: What does an expression create?</a:t>
            </a:r>
          </a:p>
          <a:p>
            <a:endParaRPr lang="en-US" sz="1300" dirty="0"/>
          </a:p>
          <a:p>
            <a:r>
              <a:rPr lang="en-US" sz="1300" dirty="0"/>
              <a:t>Keep this short. The point is to bridge into integration.</a:t>
            </a:r>
          </a:p>
          <a:p>
            <a:br>
              <a:rPr lang="en-US" sz="1300" dirty="0"/>
            </a:br>
            <a:endParaRPr lang="en-US" sz="1300" dirty="0"/>
          </a:p>
          <a:p>
            <a:r>
              <a:rPr lang="en-US" sz="1300" b="1" dirty="0"/>
              <a:t>**Transition Cue:**</a:t>
            </a:r>
            <a:endParaRPr lang="en-US" sz="1300" dirty="0"/>
          </a:p>
          <a:p>
            <a:r>
              <a:rPr lang="en-US" sz="1300" dirty="0"/>
              <a:t>Now we focus on completing small programs, not collecting more topics.</a:t>
            </a:r>
          </a:p>
          <a:p>
            <a:endParaRPr lang="en-US" dirty="0"/>
          </a:p>
        </p:txBody>
      </p:sp>
      <p:sp>
        <p:nvSpPr>
          <p:cNvPr id="4" name="Slide Number Placeholder 3"/>
          <p:cNvSpPr>
            <a:spLocks noGrp="1"/>
          </p:cNvSpPr>
          <p:nvPr>
            <p:ph type="sldNum" sz="quarter" idx="5"/>
          </p:nvPr>
        </p:nvSpPr>
        <p:spPr/>
        <p:txBody>
          <a:bodyPr/>
          <a:lstStyle/>
          <a:p>
            <a:pPr defTabSz="483306"/>
            <a:fld id="{1916ACA2-47E6-42D2-BEC8-EDC49A1A9FA1}" type="slidenum">
              <a:rPr lang="en-US" sz="1400">
                <a:solidFill>
                  <a:prstClr val="black"/>
                </a:solidFill>
                <a:latin typeface="Aptos" panose="02110004020202020204"/>
              </a:rPr>
              <a:pPr defTabSz="483306"/>
              <a:t>3</a:t>
            </a:fld>
            <a:endParaRPr lang="en-US" sz="1400">
              <a:solidFill>
                <a:prstClr val="black"/>
              </a:solidFill>
              <a:latin typeface="Aptos" panose="02110004020202020204"/>
            </a:endParaRPr>
          </a:p>
        </p:txBody>
      </p:sp>
    </p:spTree>
    <p:extLst>
      <p:ext uri="{BB962C8B-B14F-4D97-AF65-F5344CB8AC3E}">
        <p14:creationId xmlns:p14="http://schemas.microsoft.com/office/powerpoint/2010/main" val="15982901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This slide protects confidence. </a:t>
            </a:r>
          </a:p>
          <a:p>
            <a:r>
              <a:rPr lang="en-US" sz="1300" dirty="0"/>
              <a:t>Students may compare their first script to apps they use in daily life and feel the gap. </a:t>
            </a:r>
          </a:p>
          <a:p>
            <a:r>
              <a:rPr lang="en-US" sz="1300" dirty="0"/>
              <a:t>Reframe success around the course’s actual beginner target.</a:t>
            </a:r>
          </a:p>
          <a:p>
            <a:br>
              <a:rPr lang="en-US" sz="1300" dirty="0"/>
            </a:br>
            <a:endParaRPr lang="en-US" sz="1300" dirty="0"/>
          </a:p>
          <a:p>
            <a:r>
              <a:rPr lang="en-US" sz="1300" b="1" dirty="0"/>
              <a:t>**Transition Cue:**</a:t>
            </a:r>
            <a:endParaRPr lang="en-US" sz="1300" dirty="0"/>
          </a:p>
          <a:p>
            <a:r>
              <a:rPr lang="en-US" sz="1300" dirty="0"/>
              <a:t>To stay focused, we need to name today's working set.</a:t>
            </a:r>
          </a:p>
          <a:p>
            <a:endParaRPr lang="en-US" dirty="0"/>
          </a:p>
        </p:txBody>
      </p:sp>
      <p:sp>
        <p:nvSpPr>
          <p:cNvPr id="4" name="Slide Number Placeholder 3"/>
          <p:cNvSpPr>
            <a:spLocks noGrp="1"/>
          </p:cNvSpPr>
          <p:nvPr>
            <p:ph type="sldNum" sz="quarter" idx="5"/>
          </p:nvPr>
        </p:nvSpPr>
        <p:spPr/>
        <p:txBody>
          <a:bodyPr/>
          <a:lstStyle/>
          <a:p>
            <a:pPr defTabSz="483306"/>
            <a:fld id="{1916ACA2-47E6-42D2-BEC8-EDC49A1A9FA1}" type="slidenum">
              <a:rPr lang="en-US">
                <a:solidFill>
                  <a:prstClr val="black"/>
                </a:solidFill>
                <a:latin typeface="Aptos" panose="02110004020202020204"/>
              </a:rPr>
              <a:pPr defTabSz="483306"/>
              <a:t>4</a:t>
            </a:fld>
            <a:endParaRPr lang="en-US">
              <a:solidFill>
                <a:prstClr val="black"/>
              </a:solidFill>
              <a:latin typeface="Aptos" panose="02110004020202020204"/>
            </a:endParaRPr>
          </a:p>
        </p:txBody>
      </p:sp>
    </p:spTree>
    <p:extLst>
      <p:ext uri="{BB962C8B-B14F-4D97-AF65-F5344CB8AC3E}">
        <p14:creationId xmlns:p14="http://schemas.microsoft.com/office/powerpoint/2010/main" val="22923700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This should feel like a toolbox students already recognize. </a:t>
            </a:r>
          </a:p>
          <a:p>
            <a:r>
              <a:rPr lang="en-US" sz="1300" dirty="0"/>
              <a:t>The point is integration, not a new list to memorize.</a:t>
            </a:r>
          </a:p>
          <a:p>
            <a:endParaRPr lang="en-US" sz="1300" dirty="0"/>
          </a:p>
          <a:p>
            <a:pPr defTabSz="966612"/>
            <a:r>
              <a:rPr lang="en-US" sz="1300" dirty="0"/>
              <a:t>If `input()` is unstable or not introduced, state that assigned values remain a valid path for Assignment 1.</a:t>
            </a:r>
          </a:p>
          <a:p>
            <a:br>
              <a:rPr lang="en-US" sz="1300" dirty="0"/>
            </a:br>
            <a:r>
              <a:rPr lang="en-US" sz="1300" b="1" dirty="0"/>
              <a:t>**Transition Cue:**</a:t>
            </a:r>
            <a:endParaRPr lang="en-US" sz="1300" dirty="0"/>
          </a:p>
          <a:p>
            <a:r>
              <a:rPr lang="en-US" sz="1300" dirty="0"/>
              <a:t>Just as important: there are topics we are not responsible for yet.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5</a:t>
            </a:fld>
            <a:endParaRPr lang="en-US"/>
          </a:p>
        </p:txBody>
      </p:sp>
    </p:spTree>
    <p:extLst>
      <p:ext uri="{BB962C8B-B14F-4D97-AF65-F5344CB8AC3E}">
        <p14:creationId xmlns:p14="http://schemas.microsoft.com/office/powerpoint/2010/main" val="122961353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7616EE-D3D9-39E6-57FF-5D19FF682C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153483-B1DA-0856-1670-0F6D4FA474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A76DB8-4C71-F45D-E310-63B032194B1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FAEDEB2-758A-289F-9C24-DB17B17B4FD6}"/>
              </a:ext>
            </a:extLst>
          </p:cNvPr>
          <p:cNvSpPr>
            <a:spLocks noGrp="1"/>
          </p:cNvSpPr>
          <p:nvPr>
            <p:ph type="sldNum" sz="quarter" idx="5"/>
          </p:nvPr>
        </p:nvSpPr>
        <p:spPr/>
        <p:txBody>
          <a:bodyPr/>
          <a:lstStyle/>
          <a:p>
            <a:fld id="{1916ACA2-47E6-42D2-BEC8-EDC49A1A9FA1}" type="slidenum">
              <a:rPr lang="en-US" smtClean="0"/>
              <a:t>6</a:t>
            </a:fld>
            <a:endParaRPr lang="en-US"/>
          </a:p>
        </p:txBody>
      </p:sp>
    </p:spTree>
    <p:extLst>
      <p:ext uri="{BB962C8B-B14F-4D97-AF65-F5344CB8AC3E}">
        <p14:creationId xmlns:p14="http://schemas.microsoft.com/office/powerpoint/2010/main" val="14974374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6D2AA8-1855-F25E-5F3D-09A691142E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51C4C8-2837-6B8F-8BDC-FCC8E18CD3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1B1025-8213-30AB-44A2-2115EA751E48}"/>
              </a:ext>
            </a:extLst>
          </p:cNvPr>
          <p:cNvSpPr>
            <a:spLocks noGrp="1"/>
          </p:cNvSpPr>
          <p:nvPr>
            <p:ph type="body" idx="1"/>
          </p:nvPr>
        </p:nvSpPr>
        <p:spPr/>
        <p:txBody>
          <a:bodyPr/>
          <a:lstStyle/>
          <a:p>
            <a:r>
              <a:rPr lang="en-US" sz="1300" b="1" dirty="0"/>
              <a:t>**Instructor Notes:**</a:t>
            </a:r>
            <a:endParaRPr lang="en-US" sz="1300" dirty="0"/>
          </a:p>
          <a:p>
            <a:r>
              <a:rPr lang="en-US" sz="1300" dirty="0"/>
              <a:t>Keep this reassuring. </a:t>
            </a:r>
          </a:p>
          <a:p>
            <a:r>
              <a:rPr lang="en-US" sz="1300" dirty="0"/>
              <a:t>These topics are not forbidden or unimportant. </a:t>
            </a:r>
          </a:p>
          <a:p>
            <a:r>
              <a:rPr lang="en-US" sz="1300" dirty="0"/>
              <a:t>They are future learning targets. </a:t>
            </a:r>
          </a:p>
          <a:p>
            <a:r>
              <a:rPr lang="en-US" sz="1300" dirty="0"/>
              <a:t>Separating them from today's working set prevents the textbook's breadth from turning into day-three anxiety.</a:t>
            </a:r>
          </a:p>
          <a:p>
            <a:endParaRPr lang="en-US" sz="1300" dirty="0"/>
          </a:p>
          <a:p>
            <a:r>
              <a:rPr lang="en-US" sz="1300" b="1" dirty="0"/>
              <a:t>**Transition Cue:**</a:t>
            </a:r>
            <a:endParaRPr lang="en-US" sz="1300" dirty="0"/>
          </a:p>
          <a:p>
            <a:r>
              <a:rPr lang="en-US" sz="1300" dirty="0"/>
              <a:t>With the working set clear, we can build small useful scripts.</a:t>
            </a:r>
          </a:p>
          <a:p>
            <a:endParaRPr lang="en-US" dirty="0"/>
          </a:p>
        </p:txBody>
      </p:sp>
      <p:sp>
        <p:nvSpPr>
          <p:cNvPr id="4" name="Slide Number Placeholder 3">
            <a:extLst>
              <a:ext uri="{FF2B5EF4-FFF2-40B4-BE49-F238E27FC236}">
                <a16:creationId xmlns:a16="http://schemas.microsoft.com/office/drawing/2014/main" id="{72916738-9AB4-AC38-59B7-9EBD25BD46AF}"/>
              </a:ext>
            </a:extLst>
          </p:cNvPr>
          <p:cNvSpPr>
            <a:spLocks noGrp="1"/>
          </p:cNvSpPr>
          <p:nvPr>
            <p:ph type="sldNum" sz="quarter" idx="5"/>
          </p:nvPr>
        </p:nvSpPr>
        <p:spPr/>
        <p:txBody>
          <a:bodyPr/>
          <a:lstStyle/>
          <a:p>
            <a:fld id="{1916ACA2-47E6-42D2-BEC8-EDC49A1A9FA1}" type="slidenum">
              <a:rPr lang="en-US" smtClean="0"/>
              <a:t>7</a:t>
            </a:fld>
            <a:endParaRPr lang="en-US"/>
          </a:p>
        </p:txBody>
      </p:sp>
    </p:spTree>
    <p:extLst>
      <p:ext uri="{BB962C8B-B14F-4D97-AF65-F5344CB8AC3E}">
        <p14:creationId xmlns:p14="http://schemas.microsoft.com/office/powerpoint/2010/main" val="7607453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Reframe usefulness away from size. A unit converter, total-cost estimator, or personalized message builder is enough for Week 1.</a:t>
            </a:r>
          </a:p>
          <a:p>
            <a:endParaRPr lang="en-US" sz="1300" dirty="0"/>
          </a:p>
          <a:p>
            <a:r>
              <a:rPr lang="en-US" sz="1300" b="1" dirty="0"/>
              <a:t>**Transition Cue:**</a:t>
            </a:r>
            <a:endParaRPr lang="en-US" sz="1300" dirty="0"/>
          </a:p>
          <a:p>
            <a:r>
              <a:rPr lang="en-US" sz="1300" dirty="0"/>
              <a:t>The simplest useful programs combine values carefully.</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8</a:t>
            </a:fld>
            <a:endParaRPr lang="en-US"/>
          </a:p>
        </p:txBody>
      </p:sp>
    </p:spTree>
    <p:extLst>
      <p:ext uri="{BB962C8B-B14F-4D97-AF65-F5344CB8AC3E}">
        <p14:creationId xmlns:p14="http://schemas.microsoft.com/office/powerpoint/2010/main" val="14293556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Introduce type awareness through use. </a:t>
            </a:r>
          </a:p>
          <a:p>
            <a:r>
              <a:rPr lang="en-US" sz="1300" dirty="0"/>
              <a:t>Do not launch into all built-in types.</a:t>
            </a:r>
          </a:p>
          <a:p>
            <a:r>
              <a:rPr lang="en-US" sz="1300" dirty="0"/>
              <a:t>Students need to know that text, whole numbers, decimal numbers, and boolean values behave differently enough that they should pay attention.</a:t>
            </a:r>
          </a:p>
          <a:p>
            <a:endParaRPr lang="en-US" sz="1300" dirty="0"/>
          </a:p>
          <a:p>
            <a:r>
              <a:rPr lang="en-US" sz="1300" b="1" dirty="0"/>
              <a:t>**Transition Cue:**</a:t>
            </a:r>
            <a:endParaRPr lang="en-US" sz="1300" dirty="0"/>
          </a:p>
          <a:p>
            <a:r>
              <a:rPr lang="en-US" sz="1300" dirty="0"/>
              <a:t>This is where basic type awareness helps.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9</a:t>
            </a:fld>
            <a:endParaRPr lang="en-US"/>
          </a:p>
        </p:txBody>
      </p:sp>
    </p:spTree>
    <p:extLst>
      <p:ext uri="{BB962C8B-B14F-4D97-AF65-F5344CB8AC3E}">
        <p14:creationId xmlns:p14="http://schemas.microsoft.com/office/powerpoint/2010/main" val="25216414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Use practical names:</a:t>
            </a:r>
          </a:p>
          <a:p>
            <a:r>
              <a:rPr lang="en-US" sz="1300" dirty="0"/>
              <a:t>- string: text</a:t>
            </a:r>
          </a:p>
          <a:p>
            <a:r>
              <a:rPr lang="en-US" sz="1300" dirty="0"/>
              <a:t>- integer: whole number</a:t>
            </a:r>
          </a:p>
          <a:p>
            <a:r>
              <a:rPr lang="en-US" sz="1300" dirty="0"/>
              <a:t>- float: decimal number</a:t>
            </a:r>
          </a:p>
          <a:p>
            <a:r>
              <a:rPr lang="en-US" sz="1300" dirty="0"/>
              <a:t>- boolean: true/false</a:t>
            </a:r>
          </a:p>
          <a:p>
            <a:br>
              <a:rPr lang="en-US" sz="1300" dirty="0"/>
            </a:br>
            <a:r>
              <a:rPr lang="en-US" sz="1300" dirty="0"/>
              <a:t>Avoid exhaustive coverage. The textbook covers more, but Assignment 1 needs practical recognition.</a:t>
            </a:r>
          </a:p>
          <a:p>
            <a:endParaRPr lang="en-US" sz="1300" dirty="0"/>
          </a:p>
          <a:p>
            <a:r>
              <a:rPr lang="en-US" sz="1300" b="1" dirty="0"/>
              <a:t>**Transition Cue:**</a:t>
            </a:r>
            <a:endParaRPr lang="en-US" sz="1300" dirty="0"/>
          </a:p>
          <a:p>
            <a:r>
              <a:rPr lang="en-US" sz="1300" dirty="0"/>
              <a:t>Type awareness matters because output and explanation should remain clear.</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10</a:t>
            </a:fld>
            <a:endParaRPr lang="en-US"/>
          </a:p>
        </p:txBody>
      </p:sp>
    </p:spTree>
    <p:extLst>
      <p:ext uri="{BB962C8B-B14F-4D97-AF65-F5344CB8AC3E}">
        <p14:creationId xmlns:p14="http://schemas.microsoft.com/office/powerpoint/2010/main" val="20782365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082743-D71D-5999-7EC5-27B80F2FE5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0E93D9-215B-6A52-ADDE-5902C489B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2F1C62-CFB6-6D9A-3C31-39494B904E7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BED247-B3B9-84E5-D520-7E5C7D98EBD9}"/>
              </a:ext>
            </a:extLst>
          </p:cNvPr>
          <p:cNvSpPr>
            <a:spLocks noGrp="1"/>
          </p:cNvSpPr>
          <p:nvPr>
            <p:ph type="sldNum" sz="quarter" idx="5"/>
          </p:nvPr>
        </p:nvSpPr>
        <p:spPr/>
        <p:txBody>
          <a:bodyPr/>
          <a:lstStyle/>
          <a:p>
            <a:fld id="{1916ACA2-47E6-42D2-BEC8-EDC49A1A9FA1}" type="slidenum">
              <a:rPr lang="en-US" smtClean="0"/>
              <a:t>11</a:t>
            </a:fld>
            <a:endParaRPr lang="en-US"/>
          </a:p>
        </p:txBody>
      </p:sp>
    </p:spTree>
    <p:extLst>
      <p:ext uri="{BB962C8B-B14F-4D97-AF65-F5344CB8AC3E}">
        <p14:creationId xmlns:p14="http://schemas.microsoft.com/office/powerpoint/2010/main" val="3384770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This is the Day 3 thinking tool.</a:t>
            </a:r>
          </a:p>
          <a:p>
            <a:r>
              <a:rPr lang="en-US" sz="1300" dirty="0"/>
              <a:t>It connects manual-first learning, debugging, and later AI accountability without introducing AI as a coding shortcut.</a:t>
            </a:r>
          </a:p>
          <a:p>
            <a:endParaRPr lang="en-US" sz="1300" dirty="0"/>
          </a:p>
          <a:p>
            <a:r>
              <a:rPr lang="en-US" sz="1300" b="1" dirty="0"/>
              <a:t>**Transition Cue:**</a:t>
            </a:r>
            <a:endParaRPr lang="en-US" sz="1300" dirty="0"/>
          </a:p>
          <a:p>
            <a:r>
              <a:rPr lang="en-US" sz="1300" dirty="0"/>
              <a:t>Let's watch a small example that uses several value types without becoming large.</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12</a:t>
            </a:fld>
            <a:endParaRPr lang="en-US"/>
          </a:p>
        </p:txBody>
      </p:sp>
    </p:spTree>
    <p:extLst>
      <p:ext uri="{BB962C8B-B14F-4D97-AF65-F5344CB8AC3E}">
        <p14:creationId xmlns:p14="http://schemas.microsoft.com/office/powerpoint/2010/main" val="23809358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defTabSz="510903"/>
            <a:fld id="{1916ACA2-47E6-42D2-BEC8-EDC49A1A9FA1}" type="slidenum">
              <a:rPr lang="en-US" sz="1500">
                <a:solidFill>
                  <a:prstClr val="black"/>
                </a:solidFill>
                <a:latin typeface="Aptos" panose="02110004020202020204"/>
              </a:rPr>
              <a:pPr defTabSz="510903"/>
              <a:t>13</a:t>
            </a:fld>
            <a:endParaRPr lang="en-US" sz="1500">
              <a:solidFill>
                <a:prstClr val="black"/>
              </a:solidFill>
              <a:latin typeface="Aptos" panose="02110004020202020204"/>
            </a:endParaRPr>
          </a:p>
        </p:txBody>
      </p:sp>
    </p:spTree>
    <p:extLst>
      <p:ext uri="{BB962C8B-B14F-4D97-AF65-F5344CB8AC3E}">
        <p14:creationId xmlns:p14="http://schemas.microsoft.com/office/powerpoint/2010/main" val="31256578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Use:</a:t>
            </a:r>
          </a:p>
          <a:p>
            <a:r>
              <a:rPr lang="en-US" sz="1300" i="1" dirty="0"/>
              <a:t>`Demos/Week_01_First_Programs_and_Basic_Values/06_type_awareness.py`</a:t>
            </a:r>
          </a:p>
          <a:p>
            <a:endParaRPr lang="en-US" sz="1300" dirty="0"/>
          </a:p>
          <a:p>
            <a:r>
              <a:rPr lang="en-US" sz="1300" dirty="0"/>
              <a:t>Focus on:</a:t>
            </a:r>
          </a:p>
          <a:p>
            <a:r>
              <a:rPr lang="en-US" sz="1300" dirty="0"/>
              <a:t>- `</a:t>
            </a:r>
            <a:r>
              <a:rPr lang="en-US" sz="1300" dirty="0" err="1"/>
              <a:t>student_name</a:t>
            </a:r>
            <a:r>
              <a:rPr lang="en-US" sz="1300" dirty="0"/>
              <a:t>` as text</a:t>
            </a:r>
          </a:p>
          <a:p>
            <a:r>
              <a:rPr lang="en-US" sz="1300" dirty="0"/>
              <a:t>- `</a:t>
            </a:r>
            <a:r>
              <a:rPr lang="en-US" sz="1300" dirty="0" err="1"/>
              <a:t>assignments_completed</a:t>
            </a:r>
            <a:r>
              <a:rPr lang="en-US" sz="1300" dirty="0"/>
              <a:t>` as a whole number</a:t>
            </a:r>
          </a:p>
          <a:p>
            <a:r>
              <a:rPr lang="en-US" sz="1300" dirty="0"/>
              <a:t>- `</a:t>
            </a:r>
            <a:r>
              <a:rPr lang="en-US" sz="1300" dirty="0" err="1"/>
              <a:t>average_score</a:t>
            </a:r>
            <a:r>
              <a:rPr lang="en-US" sz="1300" dirty="0"/>
              <a:t>` as a decimal number</a:t>
            </a:r>
          </a:p>
          <a:p>
            <a:r>
              <a:rPr lang="en-US" sz="1300" dirty="0"/>
              <a:t>- `</a:t>
            </a:r>
            <a:r>
              <a:rPr lang="en-US" sz="1300" dirty="0" err="1"/>
              <a:t>is_passing</a:t>
            </a:r>
            <a:r>
              <a:rPr lang="en-US" sz="1300" dirty="0"/>
              <a:t>` as true/false</a:t>
            </a:r>
          </a:p>
          <a:p>
            <a:br>
              <a:rPr lang="en-US" sz="1300" dirty="0"/>
            </a:br>
            <a:r>
              <a:rPr lang="en-US" sz="1300" dirty="0"/>
              <a:t>If using `type()`, explain it as an inspection tool. </a:t>
            </a:r>
          </a:p>
          <a:p>
            <a:r>
              <a:rPr lang="en-US" sz="1300" dirty="0"/>
              <a:t>Do not turn the demo into a type-system lecture.</a:t>
            </a:r>
          </a:p>
          <a:p>
            <a:endParaRPr lang="en-US" sz="1300" dirty="0"/>
          </a:p>
          <a:p>
            <a:r>
              <a:rPr lang="en-US" sz="1300" b="1" dirty="0"/>
              <a:t>**Transition Cue:**</a:t>
            </a:r>
            <a:endParaRPr lang="en-US" sz="1300" dirty="0"/>
          </a:p>
          <a:p>
            <a:r>
              <a:rPr lang="en-US" sz="1300" dirty="0"/>
              <a:t>If input is included, we need one more caution about numbers.</a:t>
            </a:r>
          </a:p>
          <a:p>
            <a:endParaRPr lang="en-US" dirty="0"/>
          </a:p>
        </p:txBody>
      </p:sp>
      <p:sp>
        <p:nvSpPr>
          <p:cNvPr id="4" name="Slide Number Placeholder 3"/>
          <p:cNvSpPr>
            <a:spLocks noGrp="1"/>
          </p:cNvSpPr>
          <p:nvPr>
            <p:ph type="sldNum" sz="quarter" idx="5"/>
          </p:nvPr>
        </p:nvSpPr>
        <p:spPr/>
        <p:txBody>
          <a:bodyPr/>
          <a:lstStyle/>
          <a:p>
            <a:pPr defTabSz="510903"/>
            <a:fld id="{1916ACA2-47E6-42D2-BEC8-EDC49A1A9FA1}" type="slidenum">
              <a:rPr lang="en-US" sz="1500">
                <a:solidFill>
                  <a:prstClr val="black"/>
                </a:solidFill>
                <a:latin typeface="Aptos" panose="02110004020202020204"/>
              </a:rPr>
              <a:pPr defTabSz="510903"/>
              <a:t>14</a:t>
            </a:fld>
            <a:endParaRPr lang="en-US" sz="1500">
              <a:solidFill>
                <a:prstClr val="black"/>
              </a:solidFill>
              <a:latin typeface="Aptos" panose="02110004020202020204"/>
            </a:endParaRPr>
          </a:p>
        </p:txBody>
      </p:sp>
    </p:spTree>
    <p:extLst>
      <p:ext uri="{BB962C8B-B14F-4D97-AF65-F5344CB8AC3E}">
        <p14:creationId xmlns:p14="http://schemas.microsoft.com/office/powerpoint/2010/main" val="319776633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C0C8F-EFDE-0E45-3398-87176EF16F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297C5F-E445-3446-132F-6397E5688C9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A52408-775D-4CBB-29CD-46BEC15FCB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74C4327-F6FC-F0CB-7981-7D58FE3ACA23}"/>
              </a:ext>
            </a:extLst>
          </p:cNvPr>
          <p:cNvSpPr>
            <a:spLocks noGrp="1"/>
          </p:cNvSpPr>
          <p:nvPr>
            <p:ph type="sldNum" sz="quarter" idx="5"/>
          </p:nvPr>
        </p:nvSpPr>
        <p:spPr/>
        <p:txBody>
          <a:bodyPr/>
          <a:lstStyle/>
          <a:p>
            <a:fld id="{1916ACA2-47E6-42D2-BEC8-EDC49A1A9FA1}" type="slidenum">
              <a:rPr lang="en-US" smtClean="0"/>
              <a:t>15</a:t>
            </a:fld>
            <a:endParaRPr lang="en-US"/>
          </a:p>
        </p:txBody>
      </p:sp>
    </p:spTree>
    <p:extLst>
      <p:ext uri="{BB962C8B-B14F-4D97-AF65-F5344CB8AC3E}">
        <p14:creationId xmlns:p14="http://schemas.microsoft.com/office/powerpoint/2010/main" val="359624745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83DA-528A-7826-74CC-BD975BD862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E29714-BFC7-83E3-0DA6-B9F05C1F06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3DF7A2-DC5B-775A-B2BA-BB09696FC6B8}"/>
              </a:ext>
            </a:extLst>
          </p:cNvPr>
          <p:cNvSpPr>
            <a:spLocks noGrp="1"/>
          </p:cNvSpPr>
          <p:nvPr>
            <p:ph type="body" idx="1"/>
          </p:nvPr>
        </p:nvSpPr>
        <p:spPr/>
        <p:txBody>
          <a:bodyPr/>
          <a:lstStyle/>
          <a:p>
            <a:r>
              <a:rPr lang="en-US" sz="1500" b="1" dirty="0"/>
              <a:t>**Instructor Notes:**</a:t>
            </a:r>
            <a:endParaRPr lang="en-US" sz="1500" dirty="0"/>
          </a:p>
          <a:p>
            <a:br>
              <a:rPr lang="en-US" sz="1500" dirty="0"/>
            </a:br>
            <a:r>
              <a:rPr lang="en-US" sz="1500" dirty="0"/>
              <a:t>Use only if students are stable with the first two demos and there is time.</a:t>
            </a:r>
          </a:p>
          <a:p>
            <a:endParaRPr lang="en-US" sz="1500" dirty="0"/>
          </a:p>
          <a:p>
            <a:r>
              <a:rPr lang="en-US" sz="1500" dirty="0"/>
              <a:t>Reference:</a:t>
            </a:r>
          </a:p>
          <a:p>
            <a:r>
              <a:rPr lang="en-US" sz="1500" dirty="0"/>
              <a:t>`Demos/Week_01_First_Programs_and_Basic_Values/03_numbers_expressions.py`</a:t>
            </a:r>
          </a:p>
          <a:p>
            <a:br>
              <a:rPr lang="en-US" sz="1500" dirty="0"/>
            </a:br>
            <a:endParaRPr lang="en-US" sz="1500" dirty="0"/>
          </a:p>
          <a:p>
            <a:r>
              <a:rPr lang="en-US" sz="1500" dirty="0"/>
              <a:t>Frame this as a preview for Day 2, not as a Day 1 expectation. Students should</a:t>
            </a:r>
          </a:p>
          <a:p>
            <a:r>
              <a:rPr lang="en-US" sz="1500" dirty="0"/>
              <a:t>not leave thinking A1 must already include calculations if numbers have not</a:t>
            </a:r>
          </a:p>
          <a:p>
            <a:r>
              <a:rPr lang="en-US" sz="1500" dirty="0"/>
              <a:t>been taught carefully yet.</a:t>
            </a:r>
          </a:p>
          <a:p>
            <a:br>
              <a:rPr lang="en-US" sz="1500" dirty="0"/>
            </a:br>
            <a:endParaRPr lang="en-US" sz="1500" dirty="0"/>
          </a:p>
          <a:p>
            <a:r>
              <a:rPr lang="en-US" sz="1500" b="1" dirty="0"/>
              <a:t>**Transition Cue:**</a:t>
            </a:r>
            <a:endParaRPr lang="en-US" sz="1500" dirty="0"/>
          </a:p>
          <a:p>
            <a:br>
              <a:rPr lang="en-US" sz="1500" dirty="0"/>
            </a:br>
            <a:endParaRPr lang="en-US" sz="1500" dirty="0"/>
          </a:p>
          <a:p>
            <a:r>
              <a:rPr lang="en-US" sz="1500" dirty="0"/>
              <a:t>Before students begin, name the mistakes that are most likely to happen.</a:t>
            </a:r>
          </a:p>
          <a:p>
            <a:endParaRPr lang="en-US" dirty="0"/>
          </a:p>
        </p:txBody>
      </p:sp>
      <p:sp>
        <p:nvSpPr>
          <p:cNvPr id="4" name="Slide Number Placeholder 3">
            <a:extLst>
              <a:ext uri="{FF2B5EF4-FFF2-40B4-BE49-F238E27FC236}">
                <a16:creationId xmlns:a16="http://schemas.microsoft.com/office/drawing/2014/main" id="{B1ACFC54-92D6-0940-9A9B-CE2620681F81}"/>
              </a:ext>
            </a:extLst>
          </p:cNvPr>
          <p:cNvSpPr>
            <a:spLocks noGrp="1"/>
          </p:cNvSpPr>
          <p:nvPr>
            <p:ph type="sldNum" sz="quarter" idx="5"/>
          </p:nvPr>
        </p:nvSpPr>
        <p:spPr/>
        <p:txBody>
          <a:bodyPr/>
          <a:lstStyle/>
          <a:p>
            <a:pPr defTabSz="540076"/>
            <a:fld id="{1916ACA2-47E6-42D2-BEC8-EDC49A1A9FA1}" type="slidenum">
              <a:rPr lang="en-US" sz="1500">
                <a:solidFill>
                  <a:prstClr val="black"/>
                </a:solidFill>
                <a:latin typeface="Aptos" panose="02110004020202020204"/>
              </a:rPr>
              <a:pPr defTabSz="540076"/>
              <a:t>16</a:t>
            </a:fld>
            <a:endParaRPr lang="en-US" sz="1500">
              <a:solidFill>
                <a:prstClr val="black"/>
              </a:solidFill>
              <a:latin typeface="Aptos" panose="02110004020202020204"/>
            </a:endParaRPr>
          </a:p>
        </p:txBody>
      </p:sp>
    </p:spTree>
    <p:extLst>
      <p:ext uri="{BB962C8B-B14F-4D97-AF65-F5344CB8AC3E}">
        <p14:creationId xmlns:p14="http://schemas.microsoft.com/office/powerpoint/2010/main" val="19493185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Use only if helpful:</a:t>
            </a:r>
          </a:p>
          <a:p>
            <a:r>
              <a:rPr lang="en-US" sz="1300" i="1" dirty="0"/>
              <a:t>`Demos/Week_01_First_Programs_and_Basic_Values/05_input_number_conversion.py`</a:t>
            </a:r>
          </a:p>
          <a:p>
            <a:br>
              <a:rPr lang="en-US" sz="1300" dirty="0"/>
            </a:br>
            <a:r>
              <a:rPr lang="en-US" sz="1300" dirty="0"/>
              <a:t>This demo can support students who want an input-based calculator. </a:t>
            </a:r>
          </a:p>
          <a:p>
            <a:r>
              <a:rPr lang="en-US" sz="1300" dirty="0"/>
              <a:t>If the class is not ready, skip it and keep Assignment 1 on assigned values.</a:t>
            </a:r>
          </a:p>
          <a:p>
            <a:endParaRPr lang="en-US" sz="1300" dirty="0"/>
          </a:p>
          <a:p>
            <a:r>
              <a:rPr lang="en-US" sz="1300" b="1" dirty="0"/>
              <a:t>**Transition Cue:**</a:t>
            </a:r>
            <a:endParaRPr lang="en-US" sz="1300" dirty="0"/>
          </a:p>
          <a:p>
            <a:r>
              <a:rPr lang="en-US" sz="1300" dirty="0"/>
              <a:t>The next issue is not technical. It is how students should work with examples.</a:t>
            </a:r>
          </a:p>
          <a:p>
            <a:endParaRPr lang="en-US" dirty="0"/>
          </a:p>
        </p:txBody>
      </p:sp>
      <p:sp>
        <p:nvSpPr>
          <p:cNvPr id="4" name="Slide Number Placeholder 3"/>
          <p:cNvSpPr>
            <a:spLocks noGrp="1"/>
          </p:cNvSpPr>
          <p:nvPr>
            <p:ph type="sldNum" sz="quarter" idx="5"/>
          </p:nvPr>
        </p:nvSpPr>
        <p:spPr/>
        <p:txBody>
          <a:bodyPr/>
          <a:lstStyle/>
          <a:p>
            <a:pPr defTabSz="483306"/>
            <a:fld id="{1916ACA2-47E6-42D2-BEC8-EDC49A1A9FA1}" type="slidenum">
              <a:rPr lang="en-US" sz="1400">
                <a:solidFill>
                  <a:prstClr val="black"/>
                </a:solidFill>
                <a:latin typeface="Aptos" panose="02110004020202020204"/>
              </a:rPr>
              <a:pPr defTabSz="483306"/>
              <a:t>17</a:t>
            </a:fld>
            <a:endParaRPr lang="en-US" sz="1400">
              <a:solidFill>
                <a:prstClr val="black"/>
              </a:solidFill>
              <a:latin typeface="Aptos" panose="02110004020202020204"/>
            </a:endParaRPr>
          </a:p>
        </p:txBody>
      </p:sp>
    </p:spTree>
    <p:extLst>
      <p:ext uri="{BB962C8B-B14F-4D97-AF65-F5344CB8AC3E}">
        <p14:creationId xmlns:p14="http://schemas.microsoft.com/office/powerpoint/2010/main" val="189430466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18</a:t>
            </a:fld>
            <a:endParaRPr lang="en-US"/>
          </a:p>
        </p:txBody>
      </p:sp>
    </p:spTree>
    <p:extLst>
      <p:ext uri="{BB962C8B-B14F-4D97-AF65-F5344CB8AC3E}">
        <p14:creationId xmlns:p14="http://schemas.microsoft.com/office/powerpoint/2010/main" val="39477287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Use:</a:t>
            </a:r>
          </a:p>
          <a:p>
            <a:r>
              <a:rPr lang="en-US" sz="1300" dirty="0"/>
              <a:t>`Demos/Instructor_Notes-Typing_vs_CopyPaste.md`</a:t>
            </a:r>
          </a:p>
          <a:p>
            <a:endParaRPr lang="en-US" sz="1300" dirty="0"/>
          </a:p>
          <a:p>
            <a:r>
              <a:rPr lang="en-US" sz="1300" dirty="0"/>
              <a:t>Keep this brief but explicit. In Week 1, typing examples helps students process order, syntax, value names, and line relationships.</a:t>
            </a:r>
          </a:p>
          <a:p>
            <a:endParaRPr lang="en-US" sz="1300" dirty="0"/>
          </a:p>
          <a:p>
            <a:r>
              <a:rPr lang="en-US" sz="1300" dirty="0"/>
              <a:t>Connect this to Assignment 1: students should understand what they submit.</a:t>
            </a:r>
          </a:p>
          <a:p>
            <a:endParaRPr lang="en-US" sz="1300" dirty="0"/>
          </a:p>
          <a:p>
            <a:r>
              <a:rPr lang="en-US" sz="1300" b="1" dirty="0"/>
              <a:t>**Transition Cue:**</a:t>
            </a:r>
            <a:endParaRPr lang="en-US" sz="1300" dirty="0"/>
          </a:p>
          <a:p>
            <a:r>
              <a:rPr lang="en-US" sz="1300" dirty="0"/>
              <a:t>That leads to two common Week 1 traps.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19</a:t>
            </a:fld>
            <a:endParaRPr lang="en-US"/>
          </a:p>
        </p:txBody>
      </p:sp>
    </p:spTree>
    <p:extLst>
      <p:ext uri="{BB962C8B-B14F-4D97-AF65-F5344CB8AC3E}">
        <p14:creationId xmlns:p14="http://schemas.microsoft.com/office/powerpoint/2010/main" val="39121866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 Instructor Narrative</a:t>
            </a:r>
            <a:endParaRPr lang="en-US" sz="1300" dirty="0"/>
          </a:p>
          <a:p>
            <a:r>
              <a:rPr lang="en-US" sz="1300" dirty="0"/>
              <a:t>You might say something like:</a:t>
            </a:r>
          </a:p>
          <a:p>
            <a:r>
              <a:rPr lang="en-US" sz="1300" i="1" dirty="0"/>
              <a:t>"Even after decades of programming, software development, and working with AI systems, I still type code examples out by hand in many situations. </a:t>
            </a:r>
          </a:p>
          <a:p>
            <a:r>
              <a:rPr lang="en-US" sz="1300" i="1" dirty="0"/>
              <a:t>I do this because typing slows me down enough to think. As I type, my mind processes the logic, the structure, and the implications of what is happening."</a:t>
            </a:r>
          </a:p>
          <a:p>
            <a:br>
              <a:rPr lang="en-US" sz="1300" dirty="0"/>
            </a:br>
            <a:endParaRPr lang="en-US" sz="1300" dirty="0"/>
          </a:p>
          <a:p>
            <a:r>
              <a:rPr lang="en-US" sz="1300" dirty="0"/>
              <a:t>Then connect it directly to students:</a:t>
            </a:r>
          </a:p>
          <a:p>
            <a:r>
              <a:rPr lang="en-US" sz="1300" i="1" dirty="0"/>
              <a:t>"When you are new to Python, typing the example is not busywork. It is part of how your brain learns the pattern."</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20</a:t>
            </a:fld>
            <a:endParaRPr lang="en-US"/>
          </a:p>
        </p:txBody>
      </p:sp>
    </p:spTree>
    <p:extLst>
      <p:ext uri="{BB962C8B-B14F-4D97-AF65-F5344CB8AC3E}">
        <p14:creationId xmlns:p14="http://schemas.microsoft.com/office/powerpoint/2010/main" val="57471156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80CF9-94BA-BC45-CF3E-8335B037A1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5732B2-86C2-D0FC-961D-9B1D39B4EF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9F9860-1367-B6E8-CC5A-0EFB55903CD8}"/>
              </a:ext>
            </a:extLst>
          </p:cNvPr>
          <p:cNvSpPr>
            <a:spLocks noGrp="1"/>
          </p:cNvSpPr>
          <p:nvPr>
            <p:ph type="body" idx="1"/>
          </p:nvPr>
        </p:nvSpPr>
        <p:spPr/>
        <p:txBody>
          <a:bodyPr/>
          <a:lstStyle/>
          <a:p>
            <a:r>
              <a:rPr lang="en-US" sz="1300" b="1" dirty="0"/>
              <a:t># Instructor Narrative</a:t>
            </a:r>
            <a:endParaRPr lang="en-US" sz="1300" dirty="0"/>
          </a:p>
          <a:p>
            <a:r>
              <a:rPr lang="en-US" sz="1300" dirty="0"/>
              <a:t>You might say something like:</a:t>
            </a:r>
          </a:p>
          <a:p>
            <a:r>
              <a:rPr lang="en-US" sz="1300" i="1" dirty="0"/>
              <a:t>"Sometimes I copy something because I think I understand it well enough. </a:t>
            </a:r>
          </a:p>
          <a:p>
            <a:r>
              <a:rPr lang="en-US" sz="1300" i="1" dirty="0"/>
              <a:t>If that turns out to be wrong, I go back and type it out. </a:t>
            </a:r>
          </a:p>
          <a:p>
            <a:r>
              <a:rPr lang="en-US" sz="1300" i="1" dirty="0"/>
              <a:t>That is not failure. That is calibration."</a:t>
            </a:r>
          </a:p>
          <a:p>
            <a:endParaRPr lang="en-US" dirty="0"/>
          </a:p>
        </p:txBody>
      </p:sp>
      <p:sp>
        <p:nvSpPr>
          <p:cNvPr id="4" name="Slide Number Placeholder 3">
            <a:extLst>
              <a:ext uri="{FF2B5EF4-FFF2-40B4-BE49-F238E27FC236}">
                <a16:creationId xmlns:a16="http://schemas.microsoft.com/office/drawing/2014/main" id="{9B9049E3-281F-4BFF-3781-EEB46EDD8BED}"/>
              </a:ext>
            </a:extLst>
          </p:cNvPr>
          <p:cNvSpPr>
            <a:spLocks noGrp="1"/>
          </p:cNvSpPr>
          <p:nvPr>
            <p:ph type="sldNum" sz="quarter" idx="5"/>
          </p:nvPr>
        </p:nvSpPr>
        <p:spPr/>
        <p:txBody>
          <a:bodyPr/>
          <a:lstStyle/>
          <a:p>
            <a:pPr defTabSz="483306"/>
            <a:fld id="{1916ACA2-47E6-42D2-BEC8-EDC49A1A9FA1}" type="slidenum">
              <a:rPr lang="en-US">
                <a:solidFill>
                  <a:prstClr val="black"/>
                </a:solidFill>
                <a:latin typeface="Aptos" panose="02110004020202020204"/>
              </a:rPr>
              <a:pPr defTabSz="483306"/>
              <a:t>21</a:t>
            </a:fld>
            <a:endParaRPr lang="en-US">
              <a:solidFill>
                <a:prstClr val="black"/>
              </a:solidFill>
              <a:latin typeface="Aptos" panose="02110004020202020204"/>
            </a:endParaRPr>
          </a:p>
        </p:txBody>
      </p:sp>
    </p:spTree>
    <p:extLst>
      <p:ext uri="{BB962C8B-B14F-4D97-AF65-F5344CB8AC3E}">
        <p14:creationId xmlns:p14="http://schemas.microsoft.com/office/powerpoint/2010/main" val="35752275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 Instructor Narrative for AI</a:t>
            </a:r>
            <a:endParaRPr lang="en-US" sz="1300" dirty="0"/>
          </a:p>
          <a:p>
            <a:r>
              <a:rPr lang="en-US" sz="1300" dirty="0"/>
              <a:t>You might say:</a:t>
            </a:r>
          </a:p>
          <a:p>
            <a:r>
              <a:rPr lang="en-US" sz="1300" i="1" dirty="0"/>
              <a:t>"When I write prompts for AI, I often learn while I am writing the prompt. </a:t>
            </a:r>
          </a:p>
          <a:p>
            <a:r>
              <a:rPr lang="en-US" sz="1300" i="1" dirty="0"/>
              <a:t>I revise my wording, change the structure, and clarify what I really mean as I type. </a:t>
            </a:r>
          </a:p>
          <a:p>
            <a:r>
              <a:rPr lang="en-US" sz="1300" i="1" dirty="0"/>
              <a:t>The typing itself becomes part of the thinking process."</a:t>
            </a:r>
          </a:p>
          <a:p>
            <a:br>
              <a:rPr lang="en-US" sz="1300" dirty="0"/>
            </a:br>
            <a:endParaRPr lang="en-US" sz="1300" dirty="0"/>
          </a:p>
          <a:p>
            <a:r>
              <a:rPr lang="en-US" sz="1300" dirty="0"/>
              <a:t>Then connect it to Refraction-Based Architecture (RBA):</a:t>
            </a:r>
          </a:p>
          <a:p>
            <a:r>
              <a:rPr lang="en-US" sz="1300" i="1" dirty="0"/>
              <a:t>"In AI-assisted development, the quality of the output depends heavily on the clarity of the human intent. </a:t>
            </a:r>
          </a:p>
          <a:p>
            <a:r>
              <a:rPr lang="en-US" sz="1300" i="1" dirty="0"/>
              <a:t>Typing out the prompt can help you clarify that intent before AI ever responds."</a:t>
            </a:r>
          </a:p>
          <a:p>
            <a:br>
              <a:rPr lang="en-US" sz="1300" dirty="0"/>
            </a:br>
            <a:endParaRPr lang="en-US" sz="1300" dirty="0"/>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22</a:t>
            </a:fld>
            <a:endParaRPr lang="en-US"/>
          </a:p>
        </p:txBody>
      </p:sp>
    </p:spTree>
    <p:extLst>
      <p:ext uri="{BB962C8B-B14F-4D97-AF65-F5344CB8AC3E}">
        <p14:creationId xmlns:p14="http://schemas.microsoft.com/office/powerpoint/2010/main" val="351361514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D56E7-F4BF-8FC6-5804-5BC08BB2B9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25A9B-E8D9-FFEF-1AD9-5EBD0FEC49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DF63FD3-6444-ECA1-7C5E-D089E515F04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9AF07B-1037-EF48-85B4-0A717B79E9CE}"/>
              </a:ext>
            </a:extLst>
          </p:cNvPr>
          <p:cNvSpPr>
            <a:spLocks noGrp="1"/>
          </p:cNvSpPr>
          <p:nvPr>
            <p:ph type="sldNum" sz="quarter" idx="5"/>
          </p:nvPr>
        </p:nvSpPr>
        <p:spPr/>
        <p:txBody>
          <a:bodyPr/>
          <a:lstStyle/>
          <a:p>
            <a:fld id="{1916ACA2-47E6-42D2-BEC8-EDC49A1A9FA1}" type="slidenum">
              <a:rPr lang="en-US" smtClean="0"/>
              <a:t>23</a:t>
            </a:fld>
            <a:endParaRPr lang="en-US"/>
          </a:p>
        </p:txBody>
      </p:sp>
    </p:spTree>
    <p:extLst>
      <p:ext uri="{BB962C8B-B14F-4D97-AF65-F5344CB8AC3E}">
        <p14:creationId xmlns:p14="http://schemas.microsoft.com/office/powerpoint/2010/main" val="23504624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Name the trap kindly. </a:t>
            </a:r>
          </a:p>
          <a:p>
            <a:r>
              <a:rPr lang="en-US" sz="1300" dirty="0"/>
              <a:t>Some students will overbuild because they think larger means better. </a:t>
            </a:r>
          </a:p>
          <a:p>
            <a:r>
              <a:rPr lang="en-US" sz="1300" dirty="0"/>
              <a:t>In Week 1, larger often means less explainable.</a:t>
            </a:r>
          </a:p>
          <a:p>
            <a:endParaRPr lang="en-US" sz="1300" dirty="0"/>
          </a:p>
          <a:p>
            <a:r>
              <a:rPr lang="en-US" sz="1300" dirty="0"/>
              <a:t>For those students who absolutely, positively, must “scratch this itch” … Have them create 2 versions: Basic and enhanced</a:t>
            </a:r>
          </a:p>
          <a:p>
            <a:endParaRPr lang="en-US" sz="1300" dirty="0"/>
          </a:p>
          <a:p>
            <a:r>
              <a:rPr lang="en-US" sz="1300" b="1" dirty="0"/>
              <a:t>**Transition Cue:**</a:t>
            </a:r>
            <a:endParaRPr lang="en-US" sz="1300" dirty="0"/>
          </a:p>
          <a:p>
            <a:r>
              <a:rPr lang="en-US" sz="1300" dirty="0"/>
              <a:t>The other trap is using code that works but cannot be explained.</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24</a:t>
            </a:fld>
            <a:endParaRPr lang="en-US"/>
          </a:p>
        </p:txBody>
      </p:sp>
    </p:spTree>
    <p:extLst>
      <p:ext uri="{BB962C8B-B14F-4D97-AF65-F5344CB8AC3E}">
        <p14:creationId xmlns:p14="http://schemas.microsoft.com/office/powerpoint/2010/main" val="19644501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This reinforces conceptual understanding over logic regurgitation. </a:t>
            </a:r>
          </a:p>
          <a:p>
            <a:r>
              <a:rPr lang="en-US" sz="1300" dirty="0"/>
              <a:t>A simple program with a clear explanation is stronger than a copied or overbuilt script the student cannot discuss.</a:t>
            </a:r>
          </a:p>
          <a:p>
            <a:endParaRPr lang="en-US" sz="1300" dirty="0"/>
          </a:p>
          <a:p>
            <a:r>
              <a:rPr lang="en-US" sz="1300" b="1" dirty="0"/>
              <a:t>**Transition Cue:**</a:t>
            </a:r>
            <a:endParaRPr lang="en-US" sz="1300" dirty="0"/>
          </a:p>
          <a:p>
            <a:r>
              <a:rPr lang="en-US" sz="1300" dirty="0"/>
              <a:t>Now students can finish Assignment 1 with a clear target.</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25</a:t>
            </a:fld>
            <a:endParaRPr lang="en-US"/>
          </a:p>
        </p:txBody>
      </p:sp>
    </p:spTree>
    <p:extLst>
      <p:ext uri="{BB962C8B-B14F-4D97-AF65-F5344CB8AC3E}">
        <p14:creationId xmlns:p14="http://schemas.microsoft.com/office/powerpoint/2010/main" val="6341301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Recommended options:</a:t>
            </a:r>
          </a:p>
          <a:p>
            <a:r>
              <a:rPr lang="en-US" sz="1300" dirty="0"/>
              <a:t>- greeting or introduction program</a:t>
            </a:r>
          </a:p>
          <a:p>
            <a:r>
              <a:rPr lang="en-US" sz="1300" dirty="0"/>
              <a:t>- simple calculator</a:t>
            </a:r>
          </a:p>
          <a:p>
            <a:r>
              <a:rPr lang="en-US" sz="1300" dirty="0"/>
              <a:t>- unit converter</a:t>
            </a:r>
          </a:p>
          <a:p>
            <a:r>
              <a:rPr lang="en-US" sz="1300" dirty="0"/>
              <a:t>- total-cost estimator</a:t>
            </a:r>
          </a:p>
          <a:p>
            <a:r>
              <a:rPr lang="en-US" sz="1300" dirty="0"/>
              <a:t>- personalized message builder</a:t>
            </a:r>
          </a:p>
          <a:p>
            <a:endParaRPr lang="en-US" sz="1300" dirty="0"/>
          </a:p>
          <a:p>
            <a:r>
              <a:rPr lang="en-US" sz="1300" dirty="0"/>
              <a:t>Keep students out of feature sprawl. </a:t>
            </a:r>
          </a:p>
          <a:p>
            <a:r>
              <a:rPr lang="en-US" sz="1300" dirty="0"/>
              <a:t>If a student is stuck, reduce scope until the value flow is visible again.</a:t>
            </a:r>
          </a:p>
          <a:p>
            <a:br>
              <a:rPr lang="en-US" sz="1300" dirty="0"/>
            </a:br>
            <a:r>
              <a:rPr lang="en-US" sz="1300" b="1" dirty="0"/>
              <a:t>**Transition Cue:**</a:t>
            </a:r>
            <a:endParaRPr lang="en-US" sz="1300" dirty="0"/>
          </a:p>
          <a:p>
            <a:r>
              <a:rPr lang="en-US" sz="1300" dirty="0"/>
              <a:t>The submission should preserve the work and one explanation.</a:t>
            </a:r>
          </a:p>
          <a:p>
            <a:br>
              <a:rPr lang="en-US" sz="1300" dirty="0"/>
            </a:br>
            <a:r>
              <a:rPr lang="en-US" sz="1300" b="1" dirty="0"/>
              <a:t>**Lab Connection:**</a:t>
            </a:r>
            <a:endParaRPr lang="en-US" sz="1300" dirty="0"/>
          </a:p>
          <a:p>
            <a:r>
              <a:rPr lang="en-US" sz="1300" dirty="0"/>
              <a:t>This closes Assignment 1 - First Programs.</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26</a:t>
            </a:fld>
            <a:endParaRPr lang="en-US"/>
          </a:p>
        </p:txBody>
      </p:sp>
    </p:spTree>
    <p:extLst>
      <p:ext uri="{BB962C8B-B14F-4D97-AF65-F5344CB8AC3E}">
        <p14:creationId xmlns:p14="http://schemas.microsoft.com/office/powerpoint/2010/main" val="85906866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894C2-4DA7-D2A0-C872-5A65E863EB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9EB713-DF24-B39B-888E-F71CC931A4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486FE7B-CF07-6BA8-3289-8FAE7E49062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DB8CEB-3760-653F-428D-2D6558057011}"/>
              </a:ext>
            </a:extLst>
          </p:cNvPr>
          <p:cNvSpPr>
            <a:spLocks noGrp="1"/>
          </p:cNvSpPr>
          <p:nvPr>
            <p:ph type="sldNum" sz="quarter" idx="5"/>
          </p:nvPr>
        </p:nvSpPr>
        <p:spPr/>
        <p:txBody>
          <a:bodyPr/>
          <a:lstStyle/>
          <a:p>
            <a:fld id="{1916ACA2-47E6-42D2-BEC8-EDC49A1A9FA1}" type="slidenum">
              <a:rPr lang="en-US" smtClean="0"/>
              <a:t>27</a:t>
            </a:fld>
            <a:endParaRPr lang="en-US"/>
          </a:p>
        </p:txBody>
      </p:sp>
    </p:spTree>
    <p:extLst>
      <p:ext uri="{BB962C8B-B14F-4D97-AF65-F5344CB8AC3E}">
        <p14:creationId xmlns:p14="http://schemas.microsoft.com/office/powerpoint/2010/main" val="129139371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9B767-226F-091B-9CD6-4DCE2693D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103F7D-0D4F-2BD6-8A53-D3E3E3AA93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E6C406-BBE4-A4ED-CF16-1EB35489DCFF}"/>
              </a:ext>
            </a:extLst>
          </p:cNvPr>
          <p:cNvSpPr>
            <a:spLocks noGrp="1"/>
          </p:cNvSpPr>
          <p:nvPr>
            <p:ph type="body" idx="1"/>
          </p:nvPr>
        </p:nvSpPr>
        <p:spPr/>
        <p:txBody>
          <a:bodyPr/>
          <a:lstStyle/>
          <a:p>
            <a:r>
              <a:rPr lang="en-US" sz="1300" b="1" dirty="0"/>
              <a:t>**Instructor Notes:**</a:t>
            </a:r>
            <a:endParaRPr lang="en-US" sz="1300" dirty="0"/>
          </a:p>
          <a:p>
            <a:r>
              <a:rPr lang="en-US" sz="1300" dirty="0"/>
              <a:t>Keep evidence requirements aligned with Assignment 1:</a:t>
            </a:r>
          </a:p>
          <a:p>
            <a:r>
              <a:rPr lang="en-US" sz="1300" dirty="0"/>
              <a:t>- `.</a:t>
            </a:r>
            <a:r>
              <a:rPr lang="en-US" sz="1300" dirty="0" err="1"/>
              <a:t>py</a:t>
            </a:r>
            <a:r>
              <a:rPr lang="en-US" sz="1300" dirty="0"/>
              <a:t>` file or files</a:t>
            </a:r>
          </a:p>
          <a:p>
            <a:r>
              <a:rPr lang="en-US" sz="1300" dirty="0"/>
              <a:t>- clear filenames</a:t>
            </a:r>
          </a:p>
          <a:p>
            <a:r>
              <a:rPr lang="en-US" sz="1300" dirty="0"/>
              <a:t>- code that runs</a:t>
            </a:r>
          </a:p>
          <a:p>
            <a:r>
              <a:rPr lang="en-US" sz="1300" dirty="0"/>
              <a:t>- readable output</a:t>
            </a:r>
          </a:p>
          <a:p>
            <a:r>
              <a:rPr lang="en-US" sz="1300" dirty="0"/>
              <a:t>- brief explanation of one program's value flow</a:t>
            </a:r>
          </a:p>
          <a:p>
            <a:br>
              <a:rPr lang="en-US" sz="1300" dirty="0"/>
            </a:br>
            <a:r>
              <a:rPr lang="en-US" sz="1300" dirty="0"/>
              <a:t>For GitHub, reinforce that code and explanation should live together eventually. </a:t>
            </a:r>
          </a:p>
          <a:p>
            <a:r>
              <a:rPr lang="en-US" sz="1300" dirty="0"/>
              <a:t>However, do not let GitHub mechanics overtake the Assignment 1 target.</a:t>
            </a:r>
          </a:p>
          <a:p>
            <a:br>
              <a:rPr lang="en-US" sz="1300" dirty="0"/>
            </a:br>
            <a:r>
              <a:rPr lang="en-US" sz="1300" b="1" dirty="0"/>
              <a:t>**Transition Cue:**</a:t>
            </a:r>
            <a:endParaRPr lang="en-US" sz="1300" dirty="0"/>
          </a:p>
          <a:p>
            <a:r>
              <a:rPr lang="en-US" sz="1300" dirty="0"/>
              <a:t>The final Week 1 check is whether the programs run and make sense.</a:t>
            </a:r>
          </a:p>
          <a:p>
            <a:endParaRPr lang="en-US" dirty="0"/>
          </a:p>
        </p:txBody>
      </p:sp>
      <p:sp>
        <p:nvSpPr>
          <p:cNvPr id="4" name="Slide Number Placeholder 3">
            <a:extLst>
              <a:ext uri="{FF2B5EF4-FFF2-40B4-BE49-F238E27FC236}">
                <a16:creationId xmlns:a16="http://schemas.microsoft.com/office/drawing/2014/main" id="{1BB28284-F35F-E178-A606-201FCCDEBBE5}"/>
              </a:ext>
            </a:extLst>
          </p:cNvPr>
          <p:cNvSpPr>
            <a:spLocks noGrp="1"/>
          </p:cNvSpPr>
          <p:nvPr>
            <p:ph type="sldNum" sz="quarter" idx="5"/>
          </p:nvPr>
        </p:nvSpPr>
        <p:spPr/>
        <p:txBody>
          <a:bodyPr/>
          <a:lstStyle/>
          <a:p>
            <a:fld id="{1916ACA2-47E6-42D2-BEC8-EDC49A1A9FA1}" type="slidenum">
              <a:rPr lang="en-US" smtClean="0"/>
              <a:t>28</a:t>
            </a:fld>
            <a:endParaRPr lang="en-US"/>
          </a:p>
        </p:txBody>
      </p:sp>
    </p:spTree>
    <p:extLst>
      <p:ext uri="{BB962C8B-B14F-4D97-AF65-F5344CB8AC3E}">
        <p14:creationId xmlns:p14="http://schemas.microsoft.com/office/powerpoint/2010/main" val="374171059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300" b="1" dirty="0"/>
              <a:t>**Instructor Notes:**</a:t>
            </a:r>
            <a:endParaRPr lang="en-US" sz="1300" dirty="0"/>
          </a:p>
          <a:p>
            <a:r>
              <a:rPr lang="en-US" sz="1300" dirty="0"/>
              <a:t>Ask:</a:t>
            </a:r>
          </a:p>
          <a:p>
            <a:r>
              <a:rPr lang="en-US" sz="1300" dirty="0"/>
              <a:t>- What values does one program use?</a:t>
            </a:r>
          </a:p>
          <a:p>
            <a:r>
              <a:rPr lang="en-US" sz="1300" dirty="0"/>
              <a:t>- What output does it produce?</a:t>
            </a:r>
          </a:p>
          <a:p>
            <a:r>
              <a:rPr lang="en-US" sz="1300" dirty="0"/>
              <a:t>- Where does a value change?</a:t>
            </a:r>
          </a:p>
          <a:p>
            <a:r>
              <a:rPr lang="en-US" sz="1300" dirty="0"/>
              <a:t>- Could you explain this script line by line to someone else?</a:t>
            </a:r>
          </a:p>
          <a:p>
            <a:endParaRPr lang="en-US" sz="1300" dirty="0"/>
          </a:p>
          <a:p>
            <a:r>
              <a:rPr lang="en-US" sz="1300" dirty="0"/>
              <a:t>Name the next step: Week 2 adds decisions and repetition.</a:t>
            </a:r>
          </a:p>
          <a:p>
            <a:br>
              <a:rPr lang="en-US" sz="1300" dirty="0"/>
            </a:br>
            <a:r>
              <a:rPr lang="en-US" sz="1300" b="1" dirty="0"/>
              <a:t>**Transition Cue:**</a:t>
            </a:r>
            <a:endParaRPr lang="en-US" sz="1300" dirty="0"/>
          </a:p>
          <a:p>
            <a:r>
              <a:rPr lang="en-US" sz="1300" dirty="0"/>
              <a:t>Next week, programs begin making choices and repeating work.</a:t>
            </a:r>
          </a:p>
          <a:p>
            <a:endParaRPr lang="en-US" dirty="0"/>
          </a:p>
        </p:txBody>
      </p:sp>
      <p:sp>
        <p:nvSpPr>
          <p:cNvPr id="4" name="Slide Number Placeholder 3"/>
          <p:cNvSpPr>
            <a:spLocks noGrp="1"/>
          </p:cNvSpPr>
          <p:nvPr>
            <p:ph type="sldNum" sz="quarter" idx="5"/>
          </p:nvPr>
        </p:nvSpPr>
        <p:spPr/>
        <p:txBody>
          <a:bodyPr/>
          <a:lstStyle/>
          <a:p>
            <a:fld id="{1916ACA2-47E6-42D2-BEC8-EDC49A1A9FA1}" type="slidenum">
              <a:rPr lang="en-US" smtClean="0"/>
              <a:t>29</a:t>
            </a:fld>
            <a:endParaRPr lang="en-US"/>
          </a:p>
        </p:txBody>
      </p:sp>
    </p:spTree>
    <p:extLst>
      <p:ext uri="{BB962C8B-B14F-4D97-AF65-F5344CB8AC3E}">
        <p14:creationId xmlns:p14="http://schemas.microsoft.com/office/powerpoint/2010/main" val="2693333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916ACA2-47E6-42D2-BEC8-EDC49A1A9FA1}" type="slidenum">
              <a:rPr lang="en-US" smtClean="0"/>
              <a:t>30</a:t>
            </a:fld>
            <a:endParaRPr lang="en-US"/>
          </a:p>
        </p:txBody>
      </p:sp>
    </p:spTree>
    <p:extLst>
      <p:ext uri="{BB962C8B-B14F-4D97-AF65-F5344CB8AC3E}">
        <p14:creationId xmlns:p14="http://schemas.microsoft.com/office/powerpoint/2010/main" val="238419656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8466" y="-8468"/>
            <a:ext cx="9171316" cy="6874935"/>
            <a:chOff x="-8466" y="-8468"/>
            <a:chExt cx="9171316" cy="6874935"/>
          </a:xfrm>
        </p:grpSpPr>
        <p:cxnSp>
          <p:nvCxnSpPr>
            <p:cNvPr id="28" name="Straight Connector 27"/>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30" name="Freeform 29"/>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Freeform 30"/>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Freeform 31"/>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Freeform 32"/>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Freeform 33"/>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Freeform 34"/>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Freeform 35"/>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Freeform 17"/>
            <p:cNvSpPr/>
            <p:nvPr/>
          </p:nvSpPr>
          <p:spPr>
            <a:xfrm>
              <a:off x="-8466" y="-8468"/>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lumMod val="75000"/>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130595" y="2404534"/>
            <a:ext cx="5826719" cy="1646302"/>
          </a:xfrm>
        </p:spPr>
        <p:txBody>
          <a:bodyPr anchor="b">
            <a:noAutofit/>
          </a:bodyPr>
          <a:lstStyle>
            <a:lvl1pPr algn="r">
              <a:defRPr sz="5400">
                <a:solidFill>
                  <a:schemeClr val="accent1">
                    <a:lumMod val="7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30595" y="4050834"/>
            <a:ext cx="5826719"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816E1E9-1B50-BC39-BE3A-AFDDF27CC4C7}"/>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1285939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42DEB143-89C9-076B-466C-73BE156FD58B}"/>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159841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9598" y="2700868"/>
            <a:ext cx="6347715"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7" name="Picture 6">
            <a:extLst>
              <a:ext uri="{FF2B5EF4-FFF2-40B4-BE49-F238E27FC236}">
                <a16:creationId xmlns:a16="http://schemas.microsoft.com/office/drawing/2014/main" id="{3A015F4D-DE23-F2FC-1853-93512C13AB1B}"/>
              </a:ext>
            </a:extLst>
          </p:cNvPr>
          <p:cNvPicPr>
            <a:picLocks noChangeAspect="1"/>
          </p:cNvPicPr>
          <p:nvPr userDrawn="1"/>
        </p:nvPicPr>
        <p:blipFill>
          <a:blip r:embed="rId2"/>
          <a:stretch>
            <a:fillRect/>
          </a:stretch>
        </p:blipFill>
        <p:spPr>
          <a:xfrm>
            <a:off x="1130594" y="300327"/>
            <a:ext cx="1196045" cy="526260"/>
          </a:xfrm>
          <a:prstGeom prst="rect">
            <a:avLst/>
          </a:prstGeom>
        </p:spPr>
      </p:pic>
    </p:spTree>
    <p:extLst>
      <p:ext uri="{BB962C8B-B14F-4D97-AF65-F5344CB8AC3E}">
        <p14:creationId xmlns:p14="http://schemas.microsoft.com/office/powerpoint/2010/main" val="2557367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1320800"/>
          </a:xfrm>
        </p:spPr>
        <p:txBody>
          <a:bodyPr/>
          <a:lstStyle/>
          <a:p>
            <a:r>
              <a:rPr lang="en-US"/>
              <a:t>Click to edit Master title style</a:t>
            </a:r>
            <a:endParaRPr lang="en-US" dirty="0"/>
          </a:p>
        </p:txBody>
      </p:sp>
      <p:sp>
        <p:nvSpPr>
          <p:cNvPr id="3" name="Content Placeholder 2"/>
          <p:cNvSpPr>
            <a:spLocks noGrp="1"/>
          </p:cNvSpPr>
          <p:nvPr>
            <p:ph sz="half" idx="1"/>
          </p:nvPr>
        </p:nvSpPr>
        <p:spPr>
          <a:xfrm>
            <a:off x="609600" y="2160589"/>
            <a:ext cx="3088109" cy="3880772"/>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869204" y="2160590"/>
            <a:ext cx="3088110" cy="388077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816E11E5-B722-B4E0-8233-E8E58F314BD6}"/>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19992119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3" cy="13208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09599"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599"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866640" y="2160983"/>
            <a:ext cx="309067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3866640" y="2737246"/>
            <a:ext cx="3090672"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6/16/2026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pic>
        <p:nvPicPr>
          <p:cNvPr id="11" name="Picture 10">
            <a:extLst>
              <a:ext uri="{FF2B5EF4-FFF2-40B4-BE49-F238E27FC236}">
                <a16:creationId xmlns:a16="http://schemas.microsoft.com/office/drawing/2014/main" id="{2CADA43D-D69A-D7AE-81F9-ED5E4E7A18A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328912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09599" y="609600"/>
            <a:ext cx="6347714"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6/16/2026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654163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pic>
        <p:nvPicPr>
          <p:cNvPr id="6" name="Picture 5">
            <a:extLst>
              <a:ext uri="{FF2B5EF4-FFF2-40B4-BE49-F238E27FC236}">
                <a16:creationId xmlns:a16="http://schemas.microsoft.com/office/drawing/2014/main" id="{4AA1305F-50C0-9117-EE66-5430C74994B7}"/>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9144144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1498604"/>
            <a:ext cx="2790182"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3571275" y="514925"/>
            <a:ext cx="3386037"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09599" y="2777069"/>
            <a:ext cx="2790182" cy="2584449"/>
          </a:xfrm>
        </p:spPr>
        <p:txBody>
          <a:bodyPr>
            <a:normAutofit/>
          </a:bodyPr>
          <a:lstStyle>
            <a:lvl1pPr marL="0" indent="0">
              <a:buNone/>
              <a:defRPr sz="14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6914F403-DB38-13CA-CC40-CAE2A088327D}"/>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42412446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599" y="4800600"/>
            <a:ext cx="6347714"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 y="609600"/>
            <a:ext cx="6347714"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09599" y="5367338"/>
            <a:ext cx="6347714"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91B8750C-22DC-D652-EE9D-9D81650FC9D5}"/>
              </a:ext>
            </a:extLst>
          </p:cNvPr>
          <p:cNvPicPr>
            <a:picLocks noChangeAspect="1"/>
          </p:cNvPicPr>
          <p:nvPr userDrawn="1"/>
        </p:nvPicPr>
        <p:blipFill>
          <a:blip r:embed="rId2"/>
          <a:stretch>
            <a:fillRect/>
          </a:stretch>
        </p:blipFill>
        <p:spPr>
          <a:xfrm>
            <a:off x="6238240" y="185696"/>
            <a:ext cx="726014" cy="319446"/>
          </a:xfrm>
          <a:prstGeom prst="rect">
            <a:avLst/>
          </a:prstGeom>
        </p:spPr>
      </p:pic>
    </p:spTree>
    <p:extLst>
      <p:ext uri="{BB962C8B-B14F-4D97-AF65-F5344CB8AC3E}">
        <p14:creationId xmlns:p14="http://schemas.microsoft.com/office/powerpoint/2010/main" val="2316369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609600"/>
            <a:ext cx="6347714"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600" y="4470400"/>
            <a:ext cx="6347714"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7419628F-1787-26D4-A797-33B210458050}"/>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92352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101074" y="3632200"/>
            <a:ext cx="541980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470400"/>
            <a:ext cx="6347715"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8" name="Picture 7">
            <a:extLst>
              <a:ext uri="{FF2B5EF4-FFF2-40B4-BE49-F238E27FC236}">
                <a16:creationId xmlns:a16="http://schemas.microsoft.com/office/drawing/2014/main" id="{8C05115D-2B3B-A0F2-8B96-FF372AE7620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586779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09598" y="1931988"/>
            <a:ext cx="6347715"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E69252F8-DFBE-EC79-0D43-E7702CC2845C}"/>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311907975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774885" y="609600"/>
            <a:ext cx="6072182"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24" name="TextBox 23"/>
          <p:cNvSpPr txBox="1"/>
          <p:nvPr/>
        </p:nvSpPr>
        <p:spPr>
          <a:xfrm>
            <a:off x="482711" y="790378"/>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25" name="TextBox 24"/>
          <p:cNvSpPr txBox="1"/>
          <p:nvPr/>
        </p:nvSpPr>
        <p:spPr>
          <a:xfrm>
            <a:off x="6747699" y="2886556"/>
            <a:ext cx="457319"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pic>
        <p:nvPicPr>
          <p:cNvPr id="7" name="Picture 6">
            <a:extLst>
              <a:ext uri="{FF2B5EF4-FFF2-40B4-BE49-F238E27FC236}">
                <a16:creationId xmlns:a16="http://schemas.microsoft.com/office/drawing/2014/main" id="{4A252413-6471-13E8-59E6-F7EEDC0F07B7}"/>
              </a:ext>
            </a:extLst>
          </p:cNvPr>
          <p:cNvPicPr>
            <a:picLocks noChangeAspect="1"/>
          </p:cNvPicPr>
          <p:nvPr userDrawn="1"/>
        </p:nvPicPr>
        <p:blipFill>
          <a:blip r:embed="rId2"/>
          <a:stretch>
            <a:fillRect/>
          </a:stretch>
        </p:blipFill>
        <p:spPr>
          <a:xfrm>
            <a:off x="586443" y="185696"/>
            <a:ext cx="917237" cy="403584"/>
          </a:xfrm>
          <a:prstGeom prst="rect">
            <a:avLst/>
          </a:prstGeom>
        </p:spPr>
      </p:pic>
    </p:spTree>
    <p:extLst>
      <p:ext uri="{BB962C8B-B14F-4D97-AF65-F5344CB8AC3E}">
        <p14:creationId xmlns:p14="http://schemas.microsoft.com/office/powerpoint/2010/main" val="7778940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15848" y="609600"/>
            <a:ext cx="6341465"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09597" y="4013200"/>
            <a:ext cx="6347716"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09598" y="4527448"/>
            <a:ext cx="6347715"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8" name="Picture 7">
            <a:extLst>
              <a:ext uri="{FF2B5EF4-FFF2-40B4-BE49-F238E27FC236}">
                <a16:creationId xmlns:a16="http://schemas.microsoft.com/office/drawing/2014/main" id="{10449300-3D10-A0CB-2DB5-98F274AC6632}"/>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7491223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pic>
        <p:nvPicPr>
          <p:cNvPr id="9" name="Picture 8">
            <a:extLst>
              <a:ext uri="{FF2B5EF4-FFF2-40B4-BE49-F238E27FC236}">
                <a16:creationId xmlns:a16="http://schemas.microsoft.com/office/drawing/2014/main" id="{DBAFCF80-E27A-06C5-A850-78E5A5D2C2BD}"/>
              </a:ext>
            </a:extLst>
          </p:cNvPr>
          <p:cNvPicPr>
            <a:picLocks noChangeAspect="1"/>
          </p:cNvPicPr>
          <p:nvPr userDrawn="1"/>
        </p:nvPicPr>
        <p:blipFill>
          <a:blip r:embed="rId2"/>
          <a:stretch>
            <a:fillRect/>
          </a:stretch>
        </p:blipFill>
        <p:spPr>
          <a:xfrm>
            <a:off x="6047017" y="185696"/>
            <a:ext cx="917237" cy="403584"/>
          </a:xfrm>
          <a:prstGeom prst="rect">
            <a:avLst/>
          </a:prstGeom>
        </p:spPr>
      </p:pic>
    </p:spTree>
    <p:extLst>
      <p:ext uri="{BB962C8B-B14F-4D97-AF65-F5344CB8AC3E}">
        <p14:creationId xmlns:p14="http://schemas.microsoft.com/office/powerpoint/2010/main" val="200495074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7312" y="609600"/>
            <a:ext cx="978812"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09599" y="609600"/>
            <a:ext cx="5195026" cy="525145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0219730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7" name="Group 16"/>
          <p:cNvGrpSpPr/>
          <p:nvPr/>
        </p:nvGrpSpPr>
        <p:grpSpPr>
          <a:xfrm>
            <a:off x="-8467" y="-8468"/>
            <a:ext cx="9171317" cy="6874935"/>
            <a:chOff x="-8467" y="-8468"/>
            <a:chExt cx="9171317" cy="6874935"/>
          </a:xfrm>
        </p:grpSpPr>
        <p:cxnSp>
          <p:nvCxnSpPr>
            <p:cNvPr id="7" name="Straight Connector 6"/>
            <p:cNvCxnSpPr/>
            <p:nvPr/>
          </p:nvCxnSpPr>
          <p:spPr>
            <a:xfrm flipV="1">
              <a:off x="5130830" y="4175605"/>
              <a:ext cx="4022475" cy="2682396"/>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8" name="Straight Connector 7"/>
            <p:cNvCxnSpPr/>
            <p:nvPr/>
          </p:nvCxnSpPr>
          <p:spPr>
            <a:xfrm>
              <a:off x="7042707"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9" name="Freeform 8"/>
            <p:cNvSpPr/>
            <p:nvPr/>
          </p:nvSpPr>
          <p:spPr>
            <a:xfrm>
              <a:off x="6891896" y="1"/>
              <a:ext cx="2269442" cy="6866466"/>
            </a:xfrm>
            <a:custGeom>
              <a:avLst/>
              <a:gdLst/>
              <a:ahLst/>
              <a:cxnLst/>
              <a:rect l="l" t="t" r="r" b="b"/>
              <a:pathLst>
                <a:path w="2269442" h="6866466">
                  <a:moveTo>
                    <a:pt x="2023534" y="0"/>
                  </a:moveTo>
                  <a:lnTo>
                    <a:pt x="0" y="6858000"/>
                  </a:lnTo>
                  <a:lnTo>
                    <a:pt x="2269067" y="6866466"/>
                  </a:lnTo>
                  <a:cubicBezTo>
                    <a:pt x="2271889" y="4580466"/>
                    <a:pt x="2257778" y="2294466"/>
                    <a:pt x="2260600" y="8466"/>
                  </a:cubicBezTo>
                  <a:lnTo>
                    <a:pt x="2023534"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 name="Freeform 9"/>
            <p:cNvSpPr/>
            <p:nvPr/>
          </p:nvSpPr>
          <p:spPr>
            <a:xfrm>
              <a:off x="7205158" y="-8467"/>
              <a:ext cx="1948147" cy="6866467"/>
            </a:xfrm>
            <a:custGeom>
              <a:avLst/>
              <a:gdLst/>
              <a:ahLst/>
              <a:cxnLst/>
              <a:rect l="l" t="t" r="r" b="b"/>
              <a:pathLst>
                <a:path w="1948147" h="6866467">
                  <a:moveTo>
                    <a:pt x="0" y="0"/>
                  </a:moveTo>
                  <a:lnTo>
                    <a:pt x="1202267" y="6866467"/>
                  </a:lnTo>
                  <a:lnTo>
                    <a:pt x="1947333" y="6866467"/>
                  </a:lnTo>
                  <a:cubicBezTo>
                    <a:pt x="1944511" y="4577645"/>
                    <a:pt x="1950155" y="2288822"/>
                    <a:pt x="1947333" y="0"/>
                  </a:cubicBez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1" name="Freeform 10"/>
            <p:cNvSpPr/>
            <p:nvPr/>
          </p:nvSpPr>
          <p:spPr>
            <a:xfrm>
              <a:off x="6637896" y="3920066"/>
              <a:ext cx="2513565" cy="2937933"/>
            </a:xfrm>
            <a:custGeom>
              <a:avLst/>
              <a:gdLst/>
              <a:ahLst/>
              <a:cxnLst/>
              <a:rect l="l" t="t" r="r" b="b"/>
              <a:pathLst>
                <a:path w="3259667" h="3810000">
                  <a:moveTo>
                    <a:pt x="0" y="3810000"/>
                  </a:moveTo>
                  <a:lnTo>
                    <a:pt x="3251200" y="0"/>
                  </a:lnTo>
                  <a:cubicBezTo>
                    <a:pt x="3254022" y="1270000"/>
                    <a:pt x="3256845" y="2540000"/>
                    <a:pt x="3259667" y="3810000"/>
                  </a:cubicBezTo>
                  <a:lnTo>
                    <a:pt x="0" y="3810000"/>
                  </a:lnTo>
                  <a:close/>
                </a:path>
              </a:pathLst>
            </a:cu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2" name="Freeform 11"/>
            <p:cNvSpPr/>
            <p:nvPr/>
          </p:nvSpPr>
          <p:spPr>
            <a:xfrm>
              <a:off x="7010429" y="-8467"/>
              <a:ext cx="2142876" cy="6866467"/>
            </a:xfrm>
            <a:custGeom>
              <a:avLst/>
              <a:gdLst/>
              <a:ahLst/>
              <a:cxnLst/>
              <a:rect l="l" t="t" r="r" b="b"/>
              <a:pathLst>
                <a:path w="2853267" h="6866467">
                  <a:moveTo>
                    <a:pt x="0" y="0"/>
                  </a:moveTo>
                  <a:lnTo>
                    <a:pt x="2472267" y="6866467"/>
                  </a:lnTo>
                  <a:lnTo>
                    <a:pt x="2853267" y="6858000"/>
                  </a:lnTo>
                  <a:lnTo>
                    <a:pt x="2853267" y="0"/>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3" name="Freeform 12"/>
            <p:cNvSpPr/>
            <p:nvPr/>
          </p:nvSpPr>
          <p:spPr>
            <a:xfrm>
              <a:off x="8295776" y="-8467"/>
              <a:ext cx="857530" cy="6866467"/>
            </a:xfrm>
            <a:custGeom>
              <a:avLst/>
              <a:gdLst/>
              <a:ahLst/>
              <a:cxnLst/>
              <a:rect l="l" t="t" r="r" b="b"/>
              <a:pathLst>
                <a:path w="1286933" h="6866467">
                  <a:moveTo>
                    <a:pt x="1016000" y="0"/>
                  </a:moveTo>
                  <a:lnTo>
                    <a:pt x="0" y="6866467"/>
                  </a:lnTo>
                  <a:lnTo>
                    <a:pt x="1286933" y="6866467"/>
                  </a:lnTo>
                  <a:cubicBezTo>
                    <a:pt x="1284111" y="4577645"/>
                    <a:pt x="1281288" y="2288822"/>
                    <a:pt x="1278466" y="0"/>
                  </a:cubicBezTo>
                  <a:lnTo>
                    <a:pt x="1016000" y="0"/>
                  </a:lnTo>
                  <a:close/>
                </a:path>
              </a:pathLst>
            </a:cu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4" name="Freeform 13"/>
            <p:cNvSpPr/>
            <p:nvPr/>
          </p:nvSpPr>
          <p:spPr>
            <a:xfrm>
              <a:off x="8094165" y="-8468"/>
              <a:ext cx="1066770" cy="6866467"/>
            </a:xfrm>
            <a:custGeom>
              <a:avLst/>
              <a:gdLst/>
              <a:ahLst/>
              <a:cxnLst/>
              <a:rect l="l" t="t" r="r" b="b"/>
              <a:pathLst>
                <a:path w="1270244" h="6866467">
                  <a:moveTo>
                    <a:pt x="0" y="0"/>
                  </a:moveTo>
                  <a:lnTo>
                    <a:pt x="1117600" y="6866467"/>
                  </a:lnTo>
                  <a:lnTo>
                    <a:pt x="1270000" y="6866467"/>
                  </a:lnTo>
                  <a:cubicBezTo>
                    <a:pt x="1272822" y="4574822"/>
                    <a:pt x="1250245" y="2291645"/>
                    <a:pt x="1253067" y="0"/>
                  </a:cubicBez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5" name="Freeform 14"/>
            <p:cNvSpPr/>
            <p:nvPr/>
          </p:nvSpPr>
          <p:spPr>
            <a:xfrm>
              <a:off x="8068764" y="4893733"/>
              <a:ext cx="1094086" cy="1964267"/>
            </a:xfrm>
            <a:custGeom>
              <a:avLst/>
              <a:gdLst/>
              <a:ahLst/>
              <a:cxnLst/>
              <a:rect l="l" t="t" r="r" b="b"/>
              <a:pathLst>
                <a:path w="1820333" h="3268133">
                  <a:moveTo>
                    <a:pt x="0" y="3268133"/>
                  </a:moveTo>
                  <a:lnTo>
                    <a:pt x="1811866" y="0"/>
                  </a:lnTo>
                  <a:cubicBezTo>
                    <a:pt x="1814688" y="1086555"/>
                    <a:pt x="1817511" y="2173111"/>
                    <a:pt x="1820333" y="3259666"/>
                  </a:cubicBezTo>
                  <a:lnTo>
                    <a:pt x="0" y="3268133"/>
                  </a:lnTo>
                  <a:close/>
                </a:path>
              </a:pathLst>
            </a:custGeom>
            <a:solidFill>
              <a:schemeClr val="accent1">
                <a:lumMod val="50000"/>
                <a:alpha val="7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Freeform 15"/>
            <p:cNvSpPr/>
            <p:nvPr/>
          </p:nvSpPr>
          <p:spPr>
            <a:xfrm>
              <a:off x="-8467" y="4013200"/>
              <a:ext cx="457200" cy="2853267"/>
            </a:xfrm>
            <a:custGeom>
              <a:avLst/>
              <a:gdLst/>
              <a:ahLst/>
              <a:cxnLst/>
              <a:rect l="l" t="t" r="r" b="b"/>
              <a:pathLst>
                <a:path w="457200" h="2853267">
                  <a:moveTo>
                    <a:pt x="0" y="0"/>
                  </a:moveTo>
                  <a:lnTo>
                    <a:pt x="457200" y="2853267"/>
                  </a:lnTo>
                  <a:lnTo>
                    <a:pt x="0" y="2844800"/>
                  </a:lnTo>
                  <a:cubicBezTo>
                    <a:pt x="2822" y="1905000"/>
                    <a:pt x="5645" y="965200"/>
                    <a:pt x="0" y="0"/>
                  </a:cubicBez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09599" y="609600"/>
            <a:ext cx="6347713"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09599" y="2160590"/>
            <a:ext cx="6347714"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405258" y="6041363"/>
            <a:ext cx="684132"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5BCAD085-E8A6-8845-BD4E-CB4CCA059FC4}" type="datetimeFigureOut">
              <a:rPr lang="en-US" smtClean="0"/>
              <a:t>6/16/2026</a:t>
            </a:fld>
            <a:endParaRPr lang="en-US"/>
          </a:p>
        </p:txBody>
      </p:sp>
      <p:sp>
        <p:nvSpPr>
          <p:cNvPr id="5" name="Footer Placeholder 4"/>
          <p:cNvSpPr>
            <a:spLocks noGrp="1"/>
          </p:cNvSpPr>
          <p:nvPr>
            <p:ph type="ftr" sz="quarter" idx="3"/>
          </p:nvPr>
        </p:nvSpPr>
        <p:spPr>
          <a:xfrm>
            <a:off x="609599" y="6041363"/>
            <a:ext cx="4622973"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44676" y="6041363"/>
            <a:ext cx="512638" cy="365125"/>
          </a:xfrm>
          <a:prstGeom prst="rect">
            <a:avLst/>
          </a:prstGeom>
        </p:spPr>
        <p:txBody>
          <a:bodyPr vert="horz" lIns="91440" tIns="45720" rIns="91440" bIns="45720" rtlCol="0" anchor="ctr"/>
          <a:lstStyle>
            <a:lvl1pPr algn="r">
              <a:defRPr sz="900">
                <a:solidFill>
                  <a:schemeClr val="accent1">
                    <a:lumMod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343594530"/>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accent1">
              <a:lumMod val="7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lumMod val="75000"/>
          </a:schemeClr>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lumMod val="75000"/>
          </a:schemeClr>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lumMod val="75000"/>
          </a:schemeClr>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1"/><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hyperlink" Target="https://www.rawpixel.com/image/65575/survey-feedback-accountant-aerial-view-business-calculator-check-checklist-choice-coffee-computation" TargetMode="Externa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hyperlink" Target="https://creativecommons.org/licenses/by-sa/3.0/" TargetMode="External"/><Relationship Id="rId5" Type="http://schemas.openxmlformats.org/officeDocument/2006/relationships/hyperlink" Target="https://commons.wikimedia.org/wiki/Category:Boxing_at_the_2017_Islamic_Solidarity_Games" TargetMode="External"/><Relationship Id="rId4" Type="http://schemas.openxmlformats.org/officeDocument/2006/relationships/hyperlink" Target="https://pxhere.com/en/photo/1042176"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www.pickpik.com/search?q=desktop"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hyperlink" Target="https://creativecommons.org/licenses/by-nc/3.0/" TargetMode="External"/><Relationship Id="rId4" Type="http://schemas.openxmlformats.org/officeDocument/2006/relationships/hyperlink" Target="https://www.duperrin.com/english/2025/02/12/ai-europe-entrerprises-ambition/" TargetMode="External"/></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3.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hyperlink" Target="https://creativecommons.org/licenses/by-nc/3.0/" TargetMode="External"/><Relationship Id="rId4" Type="http://schemas.openxmlformats.org/officeDocument/2006/relationships/hyperlink" Target="https://scarfedigitalsandbox.teach.educ.ubc.ca/explain-everything-lapplication-du-tableau-blanc-interactif/" TargetMode="External"/></Relationships>
</file>

<file path=ppt/slides/_rels/slide26.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7.xml"/><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3" Type="http://schemas.openxmlformats.org/officeDocument/2006/relationships/image" Target="../media/image27.jpe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8.sv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397F88-6791-2CCC-FDDE-DEB157237E3D}"/>
              </a:ext>
            </a:extLst>
          </p:cNvPr>
          <p:cNvSpPr>
            <a:spLocks noGrp="1"/>
          </p:cNvSpPr>
          <p:nvPr>
            <p:ph type="ctrTitle"/>
          </p:nvPr>
        </p:nvSpPr>
        <p:spPr>
          <a:xfrm>
            <a:off x="1130595" y="1358537"/>
            <a:ext cx="5826719" cy="2692299"/>
          </a:xfrm>
        </p:spPr>
        <p:txBody>
          <a:bodyPr/>
          <a:lstStyle/>
          <a:p>
            <a:r>
              <a:rPr lang="en-US" dirty="0"/>
              <a:t>Python Programming Foundations</a:t>
            </a:r>
          </a:p>
        </p:txBody>
      </p:sp>
      <p:sp>
        <p:nvSpPr>
          <p:cNvPr id="3" name="Subtitle 2">
            <a:extLst>
              <a:ext uri="{FF2B5EF4-FFF2-40B4-BE49-F238E27FC236}">
                <a16:creationId xmlns:a16="http://schemas.microsoft.com/office/drawing/2014/main" id="{33F15B13-1D93-97F4-3DBC-B06CC6F12095}"/>
              </a:ext>
            </a:extLst>
          </p:cNvPr>
          <p:cNvSpPr>
            <a:spLocks noGrp="1"/>
          </p:cNvSpPr>
          <p:nvPr>
            <p:ph type="subTitle" idx="1"/>
          </p:nvPr>
        </p:nvSpPr>
        <p:spPr/>
        <p:txBody>
          <a:bodyPr/>
          <a:lstStyle/>
          <a:p>
            <a:r>
              <a:rPr lang="en-US" dirty="0"/>
              <a:t>Week 1 – First Programs and Basic Values</a:t>
            </a:r>
          </a:p>
          <a:p>
            <a:r>
              <a:rPr lang="en-US" i="1" dirty="0"/>
              <a:t>Day 3: “Basic Values Together”</a:t>
            </a:r>
          </a:p>
        </p:txBody>
      </p:sp>
    </p:spTree>
    <p:extLst>
      <p:ext uri="{BB962C8B-B14F-4D97-AF65-F5344CB8AC3E}">
        <p14:creationId xmlns:p14="http://schemas.microsoft.com/office/powerpoint/2010/main" val="37950260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334B4-98A7-ED8F-9DE6-CF252491F1EE}"/>
              </a:ext>
            </a:extLst>
          </p:cNvPr>
          <p:cNvSpPr>
            <a:spLocks noGrp="1"/>
          </p:cNvSpPr>
          <p:nvPr>
            <p:ph type="title"/>
          </p:nvPr>
        </p:nvSpPr>
        <p:spPr>
          <a:xfrm>
            <a:off x="507559" y="609600"/>
            <a:ext cx="2796807" cy="1320800"/>
          </a:xfrm>
        </p:spPr>
        <p:txBody>
          <a:bodyPr anchor="ctr">
            <a:normAutofit/>
          </a:bodyPr>
          <a:lstStyle/>
          <a:p>
            <a:pPr>
              <a:lnSpc>
                <a:spcPct val="90000"/>
              </a:lnSpc>
            </a:pPr>
            <a:r>
              <a:rPr lang="en-US" sz="3100"/>
              <a:t>Put The Pieces Together</a:t>
            </a:r>
          </a:p>
        </p:txBody>
      </p:sp>
      <p:sp>
        <p:nvSpPr>
          <p:cNvPr id="3" name="Content Placeholder 2">
            <a:extLst>
              <a:ext uri="{FF2B5EF4-FFF2-40B4-BE49-F238E27FC236}">
                <a16:creationId xmlns:a16="http://schemas.microsoft.com/office/drawing/2014/main" id="{8FFD0210-D2E2-EE51-639B-E47A562C6C1B}"/>
              </a:ext>
            </a:extLst>
          </p:cNvPr>
          <p:cNvSpPr>
            <a:spLocks noGrp="1"/>
          </p:cNvSpPr>
          <p:nvPr>
            <p:ph idx="1"/>
          </p:nvPr>
        </p:nvSpPr>
        <p:spPr>
          <a:xfrm>
            <a:off x="513875" y="2160589"/>
            <a:ext cx="2790687" cy="3560733"/>
          </a:xfrm>
        </p:spPr>
        <p:txBody>
          <a:bodyPr>
            <a:normAutofit/>
          </a:bodyPr>
          <a:lstStyle/>
          <a:p>
            <a:pPr marL="0" indent="0">
              <a:buNone/>
            </a:pPr>
            <a:r>
              <a:rPr lang="en-US" dirty="0"/>
              <a:t>This week, you learned the smallest useful Python pieces.</a:t>
            </a:r>
          </a:p>
          <a:p>
            <a:pPr marL="0" indent="0">
              <a:buNone/>
            </a:pPr>
            <a:endParaRPr lang="en-US" dirty="0"/>
          </a:p>
          <a:p>
            <a:pPr marL="0" indent="0">
              <a:buNone/>
            </a:pPr>
            <a:r>
              <a:rPr lang="en-US" dirty="0"/>
              <a:t>Today, you combine them into tiny programs that run and make sense.</a:t>
            </a:r>
          </a:p>
          <a:p>
            <a:pPr marL="0" indent="0">
              <a:buNone/>
            </a:pPr>
            <a:endParaRPr lang="en-US" dirty="0"/>
          </a:p>
        </p:txBody>
      </p:sp>
      <p:pic>
        <p:nvPicPr>
          <p:cNvPr id="4" name="Picture Placeholder 4" descr="Diagram illustrating Week 1 Python concepts working together to create a small program, featuring five labeled boxes: strings with &quot;Hello&quot; in quotes, numbers showing 123, variables represented by a box labeled x, expressions with math symbols, and output displaying a computer screen. Arrows from each box point to a Python file icon named small_program.py, emphasizing how these elements combine to form a script, with a note stating small pieces can make a useful script.">
            <a:extLst>
              <a:ext uri="{FF2B5EF4-FFF2-40B4-BE49-F238E27FC236}">
                <a16:creationId xmlns:a16="http://schemas.microsoft.com/office/drawing/2014/main" id="{1EF47081-4B0E-DB6C-3A72-3AA0C2F1F5E4}"/>
              </a:ext>
            </a:extLst>
          </p:cNvPr>
          <p:cNvPicPr>
            <a:picLocks noChangeAspect="1"/>
          </p:cNvPicPr>
          <p:nvPr/>
        </p:nvPicPr>
        <p:blipFill>
          <a:blip r:embed="rId3"/>
          <a:srcRect t="1786" b="1786"/>
          <a:stretch>
            <a:fillRect/>
          </a:stretch>
        </p:blipFill>
        <p:spPr>
          <a:xfrm>
            <a:off x="3304562" y="2065763"/>
            <a:ext cx="4725832" cy="3041814"/>
          </a:xfrm>
          <a:prstGeom prst="rect">
            <a:avLst/>
          </a:prstGeom>
        </p:spPr>
      </p:pic>
    </p:spTree>
    <p:extLst>
      <p:ext uri="{BB962C8B-B14F-4D97-AF65-F5344CB8AC3E}">
        <p14:creationId xmlns:p14="http://schemas.microsoft.com/office/powerpoint/2010/main" val="920642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7C0D926-DDB4-ABA2-F676-65368B8023E4}"/>
              </a:ext>
              <a:ext uri="{C183D7F6-B498-43B3-948B-1728B52AA6E4}">
                <adec:decorative xmlns:adec="http://schemas.microsoft.com/office/drawing/2017/decorative" val="1"/>
              </a:ext>
            </a:extLst>
          </p:cNvPr>
          <p:cNvPicPr>
            <a:picLocks noChangeAspect="1"/>
          </p:cNvPicPr>
          <p:nvPr/>
        </p:nvPicPr>
        <p:blipFill>
          <a:blip r:embed="rId3">
            <a:extLst>
              <a:ext uri="{837473B0-CC2E-450A-ABE3-18F120FF3D39}">
                <a1611:picAttrSrcUrl xmlns:a1611="http://schemas.microsoft.com/office/drawing/2016/11/main" r:id="rId4"/>
              </a:ext>
            </a:extLst>
          </a:blip>
          <a:srcRect l="18611" r="23342"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B44AE7D7-0CEB-F126-08CD-348C3A2A8808}"/>
              </a:ext>
            </a:extLst>
          </p:cNvPr>
          <p:cNvSpPr>
            <a:spLocks noGrp="1"/>
          </p:cNvSpPr>
          <p:nvPr>
            <p:ph type="title"/>
          </p:nvPr>
        </p:nvSpPr>
        <p:spPr>
          <a:xfrm>
            <a:off x="507999" y="609600"/>
            <a:ext cx="2888343" cy="1320800"/>
          </a:xfrm>
        </p:spPr>
        <p:txBody>
          <a:bodyPr>
            <a:normAutofit/>
          </a:bodyPr>
          <a:lstStyle/>
          <a:p>
            <a:r>
              <a:rPr lang="en-US" dirty="0"/>
              <a:t>Quick Review</a:t>
            </a:r>
          </a:p>
        </p:txBody>
      </p:sp>
      <p:sp>
        <p:nvSpPr>
          <p:cNvPr id="3" name="Content Placeholder 2">
            <a:extLst>
              <a:ext uri="{FF2B5EF4-FFF2-40B4-BE49-F238E27FC236}">
                <a16:creationId xmlns:a16="http://schemas.microsoft.com/office/drawing/2014/main" id="{27B93D39-026B-C61D-D6A3-14087848421B}"/>
              </a:ext>
            </a:extLst>
          </p:cNvPr>
          <p:cNvSpPr>
            <a:spLocks noGrp="1"/>
          </p:cNvSpPr>
          <p:nvPr>
            <p:ph idx="1"/>
          </p:nvPr>
        </p:nvSpPr>
        <p:spPr>
          <a:xfrm>
            <a:off x="508000" y="2160589"/>
            <a:ext cx="2888342" cy="3880773"/>
          </a:xfrm>
        </p:spPr>
        <p:txBody>
          <a:bodyPr>
            <a:normAutofit/>
          </a:bodyPr>
          <a:lstStyle/>
          <a:p>
            <a:pPr marL="0" indent="0">
              <a:buNone/>
            </a:pPr>
            <a:r>
              <a:rPr lang="en-US" dirty="0"/>
              <a:t>Monday made output visible.</a:t>
            </a:r>
          </a:p>
          <a:p>
            <a:pPr marL="0" indent="0">
              <a:buNone/>
            </a:pPr>
            <a:endParaRPr lang="en-US" dirty="0"/>
          </a:p>
          <a:p>
            <a:pPr marL="0" indent="0">
              <a:buNone/>
            </a:pPr>
            <a:r>
              <a:rPr lang="en-US" dirty="0"/>
              <a:t>Tuesday made numeric value flow visible.</a:t>
            </a:r>
          </a:p>
        </p:txBody>
      </p:sp>
      <p:cxnSp>
        <p:nvCxnSpPr>
          <p:cNvPr id="19" name="Straight Connector 18">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3"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5"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7"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9"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1"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3"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5"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Tree>
    <p:extLst>
      <p:ext uri="{BB962C8B-B14F-4D97-AF65-F5344CB8AC3E}">
        <p14:creationId xmlns:p14="http://schemas.microsoft.com/office/powerpoint/2010/main" val="2203766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80265050-FD84-47EF-A163-6A481836C14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11B064D-F4EB-4312-AEEA-6AFDB257E7C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34303" y="-8467"/>
            <a:ext cx="3575050" cy="6866467"/>
            <a:chOff x="7425267" y="-8467"/>
            <a:chExt cx="4766733" cy="6866467"/>
          </a:xfrm>
        </p:grpSpPr>
        <p:cxnSp>
          <p:nvCxnSpPr>
            <p:cNvPr id="30" name="Straight Connector 29">
              <a:extLst>
                <a:ext uri="{FF2B5EF4-FFF2-40B4-BE49-F238E27FC236}">
                  <a16:creationId xmlns:a16="http://schemas.microsoft.com/office/drawing/2014/main" id="{E7041201-C3DD-4181-B0E0-5C960FFE535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rgbClr val="BFBFBF">
                  <a:alpha val="75000"/>
                </a:srgbClr>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929A678F-8D0F-4F98-85A6-797199C550FC}"/>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rgbClr val="BFBFBF">
                  <a:alpha val="80000"/>
                </a:srgbClr>
              </a:solidFill>
            </a:ln>
          </p:spPr>
          <p:style>
            <a:lnRef idx="2">
              <a:schemeClr val="accent1"/>
            </a:lnRef>
            <a:fillRef idx="0">
              <a:schemeClr val="accent1"/>
            </a:fillRef>
            <a:effectRef idx="1">
              <a:schemeClr val="accent1"/>
            </a:effectRef>
            <a:fontRef idx="minor">
              <a:schemeClr val="tx1"/>
            </a:fontRef>
          </p:style>
        </p:cxnSp>
        <p:sp>
          <p:nvSpPr>
            <p:cNvPr id="32" name="Rectangle 23">
              <a:extLst>
                <a:ext uri="{FF2B5EF4-FFF2-40B4-BE49-F238E27FC236}">
                  <a16:creationId xmlns:a16="http://schemas.microsoft.com/office/drawing/2014/main" id="{82463FFC-4B08-4AF2-AC5A-F681CE9772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5">
              <a:extLst>
                <a:ext uri="{FF2B5EF4-FFF2-40B4-BE49-F238E27FC236}">
                  <a16:creationId xmlns:a16="http://schemas.microsoft.com/office/drawing/2014/main" id="{87C110A9-8F54-42F4-9B19-8D33F94DE5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Isosceles Triangle 33">
              <a:extLst>
                <a:ext uri="{FF2B5EF4-FFF2-40B4-BE49-F238E27FC236}">
                  <a16:creationId xmlns:a16="http://schemas.microsoft.com/office/drawing/2014/main" id="{9F5AD5FC-19DB-4C66-BDDA-043A6AAC9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Rectangle 27">
              <a:extLst>
                <a:ext uri="{FF2B5EF4-FFF2-40B4-BE49-F238E27FC236}">
                  <a16:creationId xmlns:a16="http://schemas.microsoft.com/office/drawing/2014/main" id="{352A3EAD-426D-4399-B7E0-81D26F7003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Rectangle 28">
              <a:extLst>
                <a:ext uri="{FF2B5EF4-FFF2-40B4-BE49-F238E27FC236}">
                  <a16:creationId xmlns:a16="http://schemas.microsoft.com/office/drawing/2014/main" id="{F842EF93-A507-4796-A726-0D0A9B751C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7" name="Rectangle 29">
              <a:extLst>
                <a:ext uri="{FF2B5EF4-FFF2-40B4-BE49-F238E27FC236}">
                  <a16:creationId xmlns:a16="http://schemas.microsoft.com/office/drawing/2014/main" id="{24F1410B-DBCE-471A-97C3-B96C0A7BBC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8" name="Isosceles Triangle 37">
              <a:extLst>
                <a:ext uri="{FF2B5EF4-FFF2-40B4-BE49-F238E27FC236}">
                  <a16:creationId xmlns:a16="http://schemas.microsoft.com/office/drawing/2014/main" id="{0BBC8502-8D68-4CE4-B690-2EBB6BCCDD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a:extLst>
              <a:ext uri="{FF2B5EF4-FFF2-40B4-BE49-F238E27FC236}">
                <a16:creationId xmlns:a16="http://schemas.microsoft.com/office/drawing/2014/main" id="{B5BB2258-2A42-7358-855B-3C842DFCA6C1}"/>
              </a:ext>
            </a:extLst>
          </p:cNvPr>
          <p:cNvSpPr>
            <a:spLocks noGrp="1"/>
          </p:cNvSpPr>
          <p:nvPr>
            <p:ph type="title"/>
          </p:nvPr>
        </p:nvSpPr>
        <p:spPr>
          <a:xfrm>
            <a:off x="489360" y="1382486"/>
            <a:ext cx="2660686" cy="4093028"/>
          </a:xfrm>
        </p:spPr>
        <p:txBody>
          <a:bodyPr anchor="ctr">
            <a:normAutofit/>
          </a:bodyPr>
          <a:lstStyle/>
          <a:p>
            <a:r>
              <a:rPr lang="en-US" sz="3800"/>
              <a:t>What Counts as Success Today</a:t>
            </a:r>
          </a:p>
        </p:txBody>
      </p:sp>
      <p:sp>
        <p:nvSpPr>
          <p:cNvPr id="40" name="Rectangle 39">
            <a:extLst>
              <a:ext uri="{FF2B5EF4-FFF2-40B4-BE49-F238E27FC236}">
                <a16:creationId xmlns:a16="http://schemas.microsoft.com/office/drawing/2014/main" id="{DE77CD7A-FE9E-475D-BF9C-78183B0B1B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06968" y="0"/>
            <a:ext cx="483703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4E8FB340-C6CC-FE68-2C30-7F4BB19196CF}"/>
              </a:ext>
            </a:extLst>
          </p:cNvPr>
          <p:cNvGraphicFramePr>
            <a:graphicFrameLocks noGrp="1"/>
          </p:cNvGraphicFramePr>
          <p:nvPr>
            <p:ph idx="1"/>
            <p:extLst>
              <p:ext uri="{D42A27DB-BD31-4B8C-83A1-F6EECF244321}">
                <p14:modId xmlns:p14="http://schemas.microsoft.com/office/powerpoint/2010/main" val="2732251381"/>
              </p:ext>
            </p:extLst>
          </p:nvPr>
        </p:nvGraphicFramePr>
        <p:xfrm>
          <a:off x="3639407" y="944564"/>
          <a:ext cx="5019610" cy="48231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0820667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7C1AD2-E72F-7796-291A-36CD1216022D}"/>
              </a:ext>
            </a:extLst>
          </p:cNvPr>
          <p:cNvSpPr>
            <a:spLocks noGrp="1"/>
          </p:cNvSpPr>
          <p:nvPr>
            <p:ph type="title"/>
          </p:nvPr>
        </p:nvSpPr>
        <p:spPr>
          <a:xfrm>
            <a:off x="4152550" y="609600"/>
            <a:ext cx="2802951" cy="1320800"/>
          </a:xfrm>
        </p:spPr>
        <p:txBody>
          <a:bodyPr>
            <a:normAutofit/>
          </a:bodyPr>
          <a:lstStyle/>
          <a:p>
            <a:r>
              <a:rPr lang="en-US" sz="3300" dirty="0"/>
              <a:t>What We Will Use Today</a:t>
            </a:r>
          </a:p>
        </p:txBody>
      </p:sp>
      <p:sp>
        <p:nvSpPr>
          <p:cNvPr id="3" name="Content Placeholder 2">
            <a:extLst>
              <a:ext uri="{FF2B5EF4-FFF2-40B4-BE49-F238E27FC236}">
                <a16:creationId xmlns:a16="http://schemas.microsoft.com/office/drawing/2014/main" id="{186EEC5C-1292-A4A2-1E2D-A19D199A8749}"/>
              </a:ext>
            </a:extLst>
          </p:cNvPr>
          <p:cNvSpPr>
            <a:spLocks noGrp="1"/>
          </p:cNvSpPr>
          <p:nvPr>
            <p:ph idx="1"/>
          </p:nvPr>
        </p:nvSpPr>
        <p:spPr>
          <a:xfrm>
            <a:off x="3907172" y="2160589"/>
            <a:ext cx="3048329" cy="3880773"/>
          </a:xfrm>
        </p:spPr>
        <p:txBody>
          <a:bodyPr>
            <a:normAutofit/>
          </a:bodyPr>
          <a:lstStyle/>
          <a:p>
            <a:r>
              <a:rPr lang="en-US" dirty="0"/>
              <a:t>strings</a:t>
            </a:r>
          </a:p>
          <a:p>
            <a:r>
              <a:rPr lang="en-US" dirty="0"/>
              <a:t>numbers</a:t>
            </a:r>
          </a:p>
          <a:p>
            <a:r>
              <a:rPr lang="en-US" dirty="0"/>
              <a:t>variables</a:t>
            </a:r>
          </a:p>
          <a:p>
            <a:r>
              <a:rPr lang="en-US" dirty="0"/>
              <a:t>simple expressions</a:t>
            </a:r>
          </a:p>
          <a:p>
            <a:r>
              <a:rPr lang="en-US" dirty="0"/>
              <a:t>`</a:t>
            </a:r>
            <a:r>
              <a:rPr lang="en-US" b="1" dirty="0">
                <a:solidFill>
                  <a:srgbClr val="00B050"/>
                </a:solidFill>
              </a:rPr>
              <a:t>print()</a:t>
            </a:r>
            <a:r>
              <a:rPr lang="en-US" dirty="0"/>
              <a:t>` </a:t>
            </a:r>
          </a:p>
          <a:p>
            <a:r>
              <a:rPr lang="en-US" dirty="0"/>
              <a:t>optional `</a:t>
            </a:r>
            <a:r>
              <a:rPr lang="en-US" b="1" dirty="0">
                <a:solidFill>
                  <a:srgbClr val="00B050"/>
                </a:solidFill>
              </a:rPr>
              <a:t>input()</a:t>
            </a:r>
            <a:r>
              <a:rPr lang="en-US" dirty="0"/>
              <a:t>` if stable</a:t>
            </a:r>
          </a:p>
          <a:p>
            <a:r>
              <a:rPr lang="en-US" dirty="0"/>
              <a:t>basic type awareness</a:t>
            </a:r>
          </a:p>
          <a:p>
            <a:pPr marL="0" indent="0">
              <a:buNone/>
            </a:pPr>
            <a:endParaRPr lang="en-US" dirty="0"/>
          </a:p>
        </p:txBody>
      </p:sp>
      <p:pic>
        <p:nvPicPr>
          <p:cNvPr id="28" name="Picture 27">
            <a:extLst>
              <a:ext uri="{FF2B5EF4-FFF2-40B4-BE49-F238E27FC236}">
                <a16:creationId xmlns:a16="http://schemas.microsoft.com/office/drawing/2014/main" id="{38D50984-DDEB-A743-533E-89C11F357B8D}"/>
              </a:ext>
              <a:ext uri="{C183D7F6-B498-43B3-948B-1728B52AA6E4}">
                <adec:decorative xmlns:adec="http://schemas.microsoft.com/office/drawing/2017/decorative" val="1"/>
              </a:ext>
            </a:extLst>
          </p:cNvPr>
          <p:cNvPicPr>
            <a:picLocks noChangeAspect="1"/>
          </p:cNvPicPr>
          <p:nvPr/>
        </p:nvPicPr>
        <p:blipFill>
          <a:blip r:embed="rId3"/>
          <a:srcRect l="10423" r="50195"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33" name="Isosceles Triangle 32">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2957642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E3CD81-691C-9197-92B1-AEA221AE58B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2BAC28-12E8-A0E4-5050-9081F568A618}"/>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Working Set</a:t>
            </a:r>
          </a:p>
        </p:txBody>
      </p:sp>
      <p:pic>
        <p:nvPicPr>
          <p:cNvPr id="5" name="Picture Placeholder 4" descr="Diagram of a toolbox labeled &quot;Day 3 Working Set&quot; illustrating programming concepts with six labeled compartments: strings, numbers, variables, expressions, print(), and optional input(). Each compartment includes a brief description and icon, highlighting key tools for coding such as text in quotes, numeric values, stored names, combined values, output display, and optional keyboard input.">
            <a:extLst>
              <a:ext uri="{FF2B5EF4-FFF2-40B4-BE49-F238E27FC236}">
                <a16:creationId xmlns:a16="http://schemas.microsoft.com/office/drawing/2014/main" id="{20A57260-8654-4F62-ACA9-C96B91725BBD}"/>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533391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9ADFD-69D3-36DB-4A46-154C5283EF4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86266B0-002D-A3E1-56EF-0ACA450B07AD}"/>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What to “Skip” for Now</a:t>
            </a:r>
          </a:p>
        </p:txBody>
      </p:sp>
      <p:pic>
        <p:nvPicPr>
          <p:cNvPr id="5" name="Picture Placeholder 4" descr="Diagram titled &quot;Topics Parked for Later&quot; illustrating programming concepts postponed for future learning. It features six labeled cards—lists, dictionaries, loops, functions, files, AI-generated code—each with icons and brief descriptions, emphasizing these as future tools rather than current requirements.">
            <a:extLst>
              <a:ext uri="{FF2B5EF4-FFF2-40B4-BE49-F238E27FC236}">
                <a16:creationId xmlns:a16="http://schemas.microsoft.com/office/drawing/2014/main" id="{64BF3059-23CA-24D3-936F-42DEAA334842}"/>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280778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9402FC-CA91-9A29-8255-099318FEC2D0}"/>
            </a:ext>
          </a:extLst>
        </p:cNvPr>
        <p:cNvGrpSpPr/>
        <p:nvPr/>
      </p:nvGrpSpPr>
      <p:grpSpPr>
        <a:xfrm>
          <a:off x="0" y="0"/>
          <a:ext cx="0" cy="0"/>
          <a:chOff x="0" y="0"/>
          <a:chExt cx="0" cy="0"/>
        </a:xfrm>
      </p:grpSpPr>
      <p:pic>
        <p:nvPicPr>
          <p:cNvPr id="2" name="Picture Placeholder 4" descr="Diagram illustrating a simple program calculating reimbursement by multiplying miles (3) by rate (0.65) to produce an output of 1.95. The diagram uses labeled boxes with blue for input values, green for output, and includes a formula and motivational note emphasizing usefulness of small programs.">
            <a:extLst>
              <a:ext uri="{FF2B5EF4-FFF2-40B4-BE49-F238E27FC236}">
                <a16:creationId xmlns:a16="http://schemas.microsoft.com/office/drawing/2014/main" id="{06BB9702-8E19-60DF-D534-8EB21F07455B}"/>
              </a:ext>
            </a:extLst>
          </p:cNvPr>
          <p:cNvPicPr>
            <a:picLocks noChangeAspect="1"/>
          </p:cNvPicPr>
          <p:nvPr/>
        </p:nvPicPr>
        <p:blipFill>
          <a:blip r:embed="rId3"/>
          <a:srcRect t="1786" b="1786"/>
          <a:stretch>
            <a:fillRect/>
          </a:stretch>
        </p:blipFill>
        <p:spPr>
          <a:xfrm>
            <a:off x="460704" y="851231"/>
            <a:ext cx="6283517" cy="4044429"/>
          </a:xfrm>
          <a:prstGeom prst="rect">
            <a:avLst/>
          </a:prstGeom>
        </p:spPr>
      </p:pic>
      <p:sp>
        <p:nvSpPr>
          <p:cNvPr id="5" name="Content Placeholder 4">
            <a:extLst>
              <a:ext uri="{FF2B5EF4-FFF2-40B4-BE49-F238E27FC236}">
                <a16:creationId xmlns:a16="http://schemas.microsoft.com/office/drawing/2014/main" id="{96D4DD87-9CE4-3285-4403-210028ED8652}"/>
              </a:ext>
            </a:extLst>
          </p:cNvPr>
          <p:cNvSpPr>
            <a:spLocks noGrp="1"/>
          </p:cNvSpPr>
          <p:nvPr>
            <p:ph idx="1"/>
          </p:nvPr>
        </p:nvSpPr>
        <p:spPr>
          <a:xfrm>
            <a:off x="596900" y="5138113"/>
            <a:ext cx="6283518" cy="909304"/>
          </a:xfrm>
        </p:spPr>
        <p:txBody>
          <a:bodyPr>
            <a:normAutofit/>
          </a:bodyPr>
          <a:lstStyle/>
          <a:p>
            <a:pPr marL="0" indent="0">
              <a:buNone/>
            </a:pPr>
            <a:r>
              <a:rPr lang="en-US" sz="1300" dirty="0"/>
              <a:t>A useful first program does not have to be large.</a:t>
            </a:r>
          </a:p>
          <a:p>
            <a:pPr marL="0" indent="0">
              <a:buNone/>
            </a:pPr>
            <a:r>
              <a:rPr lang="en-US" sz="1300" dirty="0"/>
              <a:t>It only needs a clear purpose, visible output, and values you can explain.</a:t>
            </a:r>
          </a:p>
        </p:txBody>
      </p:sp>
    </p:spTree>
    <p:extLst>
      <p:ext uri="{BB962C8B-B14F-4D97-AF65-F5344CB8AC3E}">
        <p14:creationId xmlns:p14="http://schemas.microsoft.com/office/powerpoint/2010/main" val="174844124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64C4931-48D4-C28E-379D-215B65B7717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DDB048F-FE56-CDE2-41C7-D36B5259E0DB}"/>
              </a:ext>
            </a:extLst>
          </p:cNvPr>
          <p:cNvSpPr>
            <a:spLocks noGrp="1"/>
          </p:cNvSpPr>
          <p:nvPr>
            <p:ph type="title"/>
          </p:nvPr>
        </p:nvSpPr>
        <p:spPr>
          <a:xfrm>
            <a:off x="2137171" y="609600"/>
            <a:ext cx="4818330" cy="1320800"/>
          </a:xfrm>
        </p:spPr>
        <p:txBody>
          <a:bodyPr>
            <a:normAutofit/>
          </a:bodyPr>
          <a:lstStyle/>
          <a:p>
            <a:r>
              <a:rPr lang="en-US"/>
              <a:t>Combine Values Carefully</a:t>
            </a:r>
          </a:p>
        </p:txBody>
      </p:sp>
      <p:sp>
        <p:nvSpPr>
          <p:cNvPr id="16" name="Isosceles Triangle 15">
            <a:extLst>
              <a:ext uri="{FF2B5EF4-FFF2-40B4-BE49-F238E27FC236}">
                <a16:creationId xmlns:a16="http://schemas.microsoft.com/office/drawing/2014/main" id="{9F8803AC-EE0E-40C2-AD46-FD84FAD82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3187" y="3822970"/>
            <a:ext cx="372084" cy="2918298"/>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Picture 6">
            <a:extLst>
              <a:ext uri="{FF2B5EF4-FFF2-40B4-BE49-F238E27FC236}">
                <a16:creationId xmlns:a16="http://schemas.microsoft.com/office/drawing/2014/main" id="{CB5EA5E4-0306-16B3-8033-322213830700}"/>
              </a:ext>
              <a:ext uri="{C183D7F6-B498-43B3-948B-1728B52AA6E4}">
                <adec:decorative xmlns:adec="http://schemas.microsoft.com/office/drawing/2017/decorative" val="1"/>
              </a:ext>
            </a:extLst>
          </p:cNvPr>
          <p:cNvPicPr>
            <a:picLocks noChangeAspect="1"/>
          </p:cNvPicPr>
          <p:nvPr/>
        </p:nvPicPr>
        <p:blipFill>
          <a:blip r:embed="rId3"/>
          <a:srcRect l="43875" r="36167" b="-2"/>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18" name="Isosceles Triangle 17">
            <a:extLst>
              <a:ext uri="{FF2B5EF4-FFF2-40B4-BE49-F238E27FC236}">
                <a16:creationId xmlns:a16="http://schemas.microsoft.com/office/drawing/2014/main" id="{051A3413-562D-435C-AAE4-56808F0CB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1"/>
            <a:ext cx="357491" cy="2844800"/>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BD188BE8-3546-6E62-67B4-6AAC1BAE6092}"/>
              </a:ext>
            </a:extLst>
          </p:cNvPr>
          <p:cNvSpPr>
            <a:spLocks noGrp="1"/>
          </p:cNvSpPr>
          <p:nvPr>
            <p:ph idx="1"/>
          </p:nvPr>
        </p:nvSpPr>
        <p:spPr>
          <a:xfrm>
            <a:off x="2137171" y="2160589"/>
            <a:ext cx="4818330" cy="3880773"/>
          </a:xfrm>
        </p:spPr>
        <p:txBody>
          <a:bodyPr>
            <a:normAutofit/>
          </a:bodyPr>
          <a:lstStyle/>
          <a:p>
            <a:pPr marL="0" indent="0">
              <a:buNone/>
            </a:pPr>
            <a:r>
              <a:rPr lang="en-US" dirty="0"/>
              <a:t>Your program may use text and numbers together.</a:t>
            </a:r>
          </a:p>
          <a:p>
            <a:pPr marL="0" indent="0">
              <a:buNone/>
            </a:pPr>
            <a:endParaRPr lang="en-US" dirty="0"/>
          </a:p>
          <a:p>
            <a:pPr marL="0" indent="0">
              <a:buNone/>
            </a:pPr>
            <a:r>
              <a:rPr lang="en-US" dirty="0"/>
              <a:t>The important question is whether you can explain each value's role.</a:t>
            </a:r>
          </a:p>
        </p:txBody>
      </p:sp>
    </p:spTree>
    <p:extLst>
      <p:ext uri="{BB962C8B-B14F-4D97-AF65-F5344CB8AC3E}">
        <p14:creationId xmlns:p14="http://schemas.microsoft.com/office/powerpoint/2010/main" val="7592672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2CA0BA-7358-A99B-6983-096C79E82C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6106F7D-158A-443C-4D2F-A1D5854A5685}"/>
              </a:ext>
            </a:extLst>
          </p:cNvPr>
          <p:cNvSpPr>
            <a:spLocks noGrp="1"/>
          </p:cNvSpPr>
          <p:nvPr>
            <p:ph type="title"/>
          </p:nvPr>
        </p:nvSpPr>
        <p:spPr>
          <a:xfrm>
            <a:off x="2137171" y="609600"/>
            <a:ext cx="4818330" cy="1320800"/>
          </a:xfrm>
        </p:spPr>
        <p:txBody>
          <a:bodyPr>
            <a:normAutofit/>
          </a:bodyPr>
          <a:lstStyle/>
          <a:p>
            <a:r>
              <a:rPr lang="en-US" dirty="0"/>
              <a:t>Type Awareness Through Use</a:t>
            </a:r>
          </a:p>
        </p:txBody>
      </p:sp>
      <p:sp>
        <p:nvSpPr>
          <p:cNvPr id="11" name="Isosceles Triangle 10">
            <a:extLst>
              <a:ext uri="{FF2B5EF4-FFF2-40B4-BE49-F238E27FC236}">
                <a16:creationId xmlns:a16="http://schemas.microsoft.com/office/drawing/2014/main" id="{9F8803AC-EE0E-40C2-AD46-FD84FAD822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3187" y="3822970"/>
            <a:ext cx="372084" cy="2918298"/>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7" name="Picture 6">
            <a:extLst>
              <a:ext uri="{FF2B5EF4-FFF2-40B4-BE49-F238E27FC236}">
                <a16:creationId xmlns:a16="http://schemas.microsoft.com/office/drawing/2014/main" id="{1E19025F-530F-BD4C-3145-ADB521B01C23}"/>
              </a:ext>
              <a:ext uri="{C183D7F6-B498-43B3-948B-1728B52AA6E4}">
                <adec:decorative xmlns:adec="http://schemas.microsoft.com/office/drawing/2017/decorative" val="1"/>
              </a:ext>
            </a:extLst>
          </p:cNvPr>
          <p:cNvPicPr>
            <a:picLocks noChangeAspect="1"/>
          </p:cNvPicPr>
          <p:nvPr/>
        </p:nvPicPr>
        <p:blipFill>
          <a:blip r:embed="rId3"/>
          <a:srcRect l="43460" r="36582" b="-2"/>
          <a:stretch>
            <a:fillRect/>
          </a:stretch>
        </p:blipFill>
        <p:spPr>
          <a:xfrm>
            <a:off x="20" y="1"/>
            <a:ext cx="2050522" cy="6858000"/>
          </a:xfrm>
          <a:custGeom>
            <a:avLst/>
            <a:gdLst/>
            <a:ahLst/>
            <a:cxnLst/>
            <a:rect l="l" t="t" r="r" b="b"/>
            <a:pathLst>
              <a:path w="2734056" h="6858000">
                <a:moveTo>
                  <a:pt x="0" y="0"/>
                </a:moveTo>
                <a:lnTo>
                  <a:pt x="1674254" y="0"/>
                </a:lnTo>
                <a:lnTo>
                  <a:pt x="2734056" y="6850199"/>
                </a:lnTo>
                <a:lnTo>
                  <a:pt x="2734056" y="6858000"/>
                </a:lnTo>
                <a:lnTo>
                  <a:pt x="461457" y="6858000"/>
                </a:lnTo>
                <a:lnTo>
                  <a:pt x="0" y="4134118"/>
                </a:lnTo>
                <a:close/>
              </a:path>
            </a:pathLst>
          </a:custGeom>
        </p:spPr>
      </p:pic>
      <p:sp>
        <p:nvSpPr>
          <p:cNvPr id="13" name="Isosceles Triangle 12">
            <a:extLst>
              <a:ext uri="{FF2B5EF4-FFF2-40B4-BE49-F238E27FC236}">
                <a16:creationId xmlns:a16="http://schemas.microsoft.com/office/drawing/2014/main" id="{051A3413-562D-435C-AAE4-56808F0CB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013201"/>
            <a:ext cx="357491" cy="2844800"/>
          </a:xfrm>
          <a:prstGeom prst="triangle">
            <a:avLst>
              <a:gd name="adj" fmla="val 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 name="Content Placeholder 4">
            <a:extLst>
              <a:ext uri="{FF2B5EF4-FFF2-40B4-BE49-F238E27FC236}">
                <a16:creationId xmlns:a16="http://schemas.microsoft.com/office/drawing/2014/main" id="{0F4DF5C9-E895-79E8-B1CE-FDB4E2C109C3}"/>
              </a:ext>
            </a:extLst>
          </p:cNvPr>
          <p:cNvSpPr>
            <a:spLocks noGrp="1"/>
          </p:cNvSpPr>
          <p:nvPr>
            <p:ph idx="1"/>
          </p:nvPr>
        </p:nvSpPr>
        <p:spPr>
          <a:xfrm>
            <a:off x="2137171" y="2160589"/>
            <a:ext cx="4818330" cy="3880773"/>
          </a:xfrm>
        </p:spPr>
        <p:txBody>
          <a:bodyPr>
            <a:normAutofit/>
          </a:bodyPr>
          <a:lstStyle/>
          <a:p>
            <a:pPr marL="0" indent="0">
              <a:buNone/>
            </a:pPr>
            <a:r>
              <a:rPr lang="en-US" dirty="0"/>
              <a:t>For Week 1, recognize:</a:t>
            </a:r>
          </a:p>
          <a:p>
            <a:r>
              <a:rPr lang="en-US" dirty="0"/>
              <a:t>Text</a:t>
            </a:r>
          </a:p>
          <a:p>
            <a:r>
              <a:rPr lang="en-US" dirty="0"/>
              <a:t>Whole numbers</a:t>
            </a:r>
          </a:p>
          <a:p>
            <a:r>
              <a:rPr lang="en-US" dirty="0"/>
              <a:t>Decimal numbers</a:t>
            </a:r>
          </a:p>
          <a:p>
            <a:r>
              <a:rPr lang="en-US" dirty="0"/>
              <a:t>True/false values (boolean)</a:t>
            </a:r>
          </a:p>
          <a:p>
            <a:pPr marL="0" indent="0">
              <a:buNone/>
            </a:pPr>
            <a:endParaRPr lang="en-US" dirty="0"/>
          </a:p>
        </p:txBody>
      </p:sp>
    </p:spTree>
    <p:extLst>
      <p:ext uri="{BB962C8B-B14F-4D97-AF65-F5344CB8AC3E}">
        <p14:creationId xmlns:p14="http://schemas.microsoft.com/office/powerpoint/2010/main" val="6974687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1F6E08-2C06-7993-FFDE-844D89DE67D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FBF52DF-7226-FA90-E181-3F9BAC8F8067}"/>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Type Awareness</a:t>
            </a:r>
          </a:p>
        </p:txBody>
      </p:sp>
      <p:pic>
        <p:nvPicPr>
          <p:cNvPr id="5" name="Picture Placeholder 4" descr="Diagram explaining basic Python data types with examples and descriptions. It includes four labeled sections: Text with &quot;Riley&quot; in quotes, Whole number showing 2, Decimal number displaying 87.5, and True/False with True, each color-coded and accompanied by brief explanations of their use in code.">
            <a:extLst>
              <a:ext uri="{FF2B5EF4-FFF2-40B4-BE49-F238E27FC236}">
                <a16:creationId xmlns:a16="http://schemas.microsoft.com/office/drawing/2014/main" id="{1282D913-C839-A724-5217-19F56F8FC738}"/>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3154978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02B532D-8DE1-5594-1185-B787B928821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7E3ECB6-A671-4B78-9F55-A081EE121422}"/>
              </a:ext>
            </a:extLst>
          </p:cNvPr>
          <p:cNvSpPr>
            <a:spLocks noGrp="1"/>
          </p:cNvSpPr>
          <p:nvPr>
            <p:ph type="title"/>
          </p:nvPr>
        </p:nvSpPr>
        <p:spPr>
          <a:xfrm>
            <a:off x="4152550" y="609600"/>
            <a:ext cx="2802951" cy="1320800"/>
          </a:xfrm>
        </p:spPr>
        <p:txBody>
          <a:bodyPr>
            <a:normAutofit/>
          </a:bodyPr>
          <a:lstStyle/>
          <a:p>
            <a:r>
              <a:rPr lang="en-US" sz="3300"/>
              <a:t>Explain Every Main Line</a:t>
            </a:r>
          </a:p>
        </p:txBody>
      </p:sp>
      <p:sp>
        <p:nvSpPr>
          <p:cNvPr id="5" name="Content Placeholder 4">
            <a:extLst>
              <a:ext uri="{FF2B5EF4-FFF2-40B4-BE49-F238E27FC236}">
                <a16:creationId xmlns:a16="http://schemas.microsoft.com/office/drawing/2014/main" id="{FFD5927D-7C04-68E0-3F00-26732E48AA20}"/>
              </a:ext>
            </a:extLst>
          </p:cNvPr>
          <p:cNvSpPr>
            <a:spLocks noGrp="1"/>
          </p:cNvSpPr>
          <p:nvPr>
            <p:ph idx="1"/>
          </p:nvPr>
        </p:nvSpPr>
        <p:spPr>
          <a:xfrm>
            <a:off x="3907172" y="2160589"/>
            <a:ext cx="3048329" cy="3880773"/>
          </a:xfrm>
        </p:spPr>
        <p:txBody>
          <a:bodyPr>
            <a:normAutofit/>
          </a:bodyPr>
          <a:lstStyle/>
          <a:p>
            <a:pPr marL="0" indent="0">
              <a:buNone/>
            </a:pPr>
            <a:r>
              <a:rPr lang="en-US" dirty="0"/>
              <a:t>Before submitting Assignment 1, ask: can I explain every main line?</a:t>
            </a:r>
            <a:br>
              <a:rPr lang="en-US" dirty="0"/>
            </a:br>
            <a:endParaRPr lang="en-US" dirty="0"/>
          </a:p>
          <a:p>
            <a:pPr marL="0" indent="0">
              <a:buNone/>
            </a:pPr>
            <a:r>
              <a:rPr lang="en-US" dirty="0"/>
              <a:t>If a line works but you cannot explain it, slow down and inspect it.</a:t>
            </a:r>
          </a:p>
        </p:txBody>
      </p:sp>
      <p:pic>
        <p:nvPicPr>
          <p:cNvPr id="7" name="Picture 6">
            <a:extLst>
              <a:ext uri="{FF2B5EF4-FFF2-40B4-BE49-F238E27FC236}">
                <a16:creationId xmlns:a16="http://schemas.microsoft.com/office/drawing/2014/main" id="{DC48DAB9-0A25-81F9-5D41-E966CB9A2E83}"/>
              </a:ext>
              <a:ext uri="{C183D7F6-B498-43B3-948B-1728B52AA6E4}">
                <adec:decorative xmlns:adec="http://schemas.microsoft.com/office/drawing/2017/decorative" val="1"/>
              </a:ext>
            </a:extLst>
          </p:cNvPr>
          <p:cNvPicPr>
            <a:picLocks noChangeAspect="1"/>
          </p:cNvPicPr>
          <p:nvPr/>
        </p:nvPicPr>
        <p:blipFill>
          <a:blip r:embed="rId3"/>
          <a:srcRect l="60619" r="-2"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387654348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6"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7" name="Isosceles Triangle 16">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8"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9"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0"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1" name="Isosceles Triangle 20">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2" name="Isosceles Triangle 21">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grpSp>
      <p:pic>
        <p:nvPicPr>
          <p:cNvPr id="7" name="Picture 6">
            <a:extLst>
              <a:ext uri="{FF2B5EF4-FFF2-40B4-BE49-F238E27FC236}">
                <a16:creationId xmlns:a16="http://schemas.microsoft.com/office/drawing/2014/main" id="{3F92D707-4F6F-1707-563F-DAA7E83D0FDA}"/>
              </a:ext>
              <a:ext uri="{C183D7F6-B498-43B3-948B-1728B52AA6E4}">
                <adec:decorative xmlns:adec="http://schemas.microsoft.com/office/drawing/2017/decorative" val="1"/>
              </a:ext>
            </a:extLst>
          </p:cNvPr>
          <p:cNvPicPr>
            <a:picLocks noChangeAspect="1"/>
          </p:cNvPicPr>
          <p:nvPr/>
        </p:nvPicPr>
        <p:blipFill>
          <a:blip r:embed="rId3"/>
          <a:srcRect l="19091" t="9091"/>
          <a:stretch>
            <a:fillRect/>
          </a:stretch>
        </p:blipFill>
        <p:spPr>
          <a:xfrm>
            <a:off x="20" y="10"/>
            <a:ext cx="9143980" cy="6857990"/>
          </a:xfrm>
          <a:prstGeom prst="rect">
            <a:avLst/>
          </a:prstGeom>
        </p:spPr>
      </p:pic>
      <p:sp>
        <p:nvSpPr>
          <p:cNvPr id="24" name="Isosceles Triangle 23">
            <a:extLst>
              <a:ext uri="{FF2B5EF4-FFF2-40B4-BE49-F238E27FC236}">
                <a16:creationId xmlns:a16="http://schemas.microsoft.com/office/drawing/2014/main" id="{34257526-B660-46EC-83FB-51CCCEF4D5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6" name="Parallelogram 25">
            <a:extLst>
              <a:ext uri="{FF2B5EF4-FFF2-40B4-BE49-F238E27FC236}">
                <a16:creationId xmlns:a16="http://schemas.microsoft.com/office/drawing/2014/main" id="{5E54613B-CC3A-459D-97E1-23B891DE93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3405" y="0"/>
            <a:ext cx="5486400" cy="6858000"/>
          </a:xfrm>
          <a:prstGeom prst="parallelogram">
            <a:avLst>
              <a:gd name="adj" fmla="val 14937"/>
            </a:avLst>
          </a:prstGeom>
          <a:solidFill>
            <a:schemeClr val="bg1">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cxnSp>
        <p:nvCxnSpPr>
          <p:cNvPr id="28" name="Straight Connector 27">
            <a:extLst>
              <a:ext uri="{FF2B5EF4-FFF2-40B4-BE49-F238E27FC236}">
                <a16:creationId xmlns:a16="http://schemas.microsoft.com/office/drawing/2014/main" id="{0B21385D-063D-42D0-BD60-907E9F826D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8921B275-E6A3-4146-9F5F-5CD28092A37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2" name="Rectangle 23">
            <a:extLst>
              <a:ext uri="{FF2B5EF4-FFF2-40B4-BE49-F238E27FC236}">
                <a16:creationId xmlns:a16="http://schemas.microsoft.com/office/drawing/2014/main" id="{28E190A5-6423-4EE2-AF46-8B82F34BCD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4" name="Rectangle 25">
            <a:extLst>
              <a:ext uri="{FF2B5EF4-FFF2-40B4-BE49-F238E27FC236}">
                <a16:creationId xmlns:a16="http://schemas.microsoft.com/office/drawing/2014/main" id="{4A97AE97-5706-400B-8F09-602A25EA14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6" name="Isosceles Triangle 35">
            <a:extLst>
              <a:ext uri="{FF2B5EF4-FFF2-40B4-BE49-F238E27FC236}">
                <a16:creationId xmlns:a16="http://schemas.microsoft.com/office/drawing/2014/main" id="{0860785A-BE10-40E0-8A0F-805CD3F59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 name="Title 3">
            <a:extLst>
              <a:ext uri="{FF2B5EF4-FFF2-40B4-BE49-F238E27FC236}">
                <a16:creationId xmlns:a16="http://schemas.microsoft.com/office/drawing/2014/main" id="{2FC93F9C-2692-8651-EDC7-6D41F5D66139}"/>
              </a:ext>
            </a:extLst>
          </p:cNvPr>
          <p:cNvSpPr>
            <a:spLocks noGrp="1"/>
          </p:cNvSpPr>
          <p:nvPr>
            <p:ph type="title"/>
          </p:nvPr>
        </p:nvSpPr>
        <p:spPr>
          <a:xfrm>
            <a:off x="3528150" y="1678665"/>
            <a:ext cx="3427352" cy="2369131"/>
          </a:xfrm>
        </p:spPr>
        <p:txBody>
          <a:bodyPr vert="horz" lIns="91440" tIns="45720" rIns="91440" bIns="45720" rtlCol="0" anchor="b">
            <a:normAutofit/>
          </a:bodyPr>
          <a:lstStyle/>
          <a:p>
            <a:pPr algn="r"/>
            <a:r>
              <a:rPr lang="en-US" sz="5400" dirty="0"/>
              <a:t>Demo #1</a:t>
            </a:r>
          </a:p>
        </p:txBody>
      </p:sp>
      <p:sp>
        <p:nvSpPr>
          <p:cNvPr id="38" name="Rectangle 27">
            <a:extLst>
              <a:ext uri="{FF2B5EF4-FFF2-40B4-BE49-F238E27FC236}">
                <a16:creationId xmlns:a16="http://schemas.microsoft.com/office/drawing/2014/main" id="{2CD66695-C096-4E32-9AC2-19B4EFD660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0" name="Rectangle 28">
            <a:extLst>
              <a:ext uri="{FF2B5EF4-FFF2-40B4-BE49-F238E27FC236}">
                <a16:creationId xmlns:a16="http://schemas.microsoft.com/office/drawing/2014/main" id="{A97E83CA-07FA-4B94-A213-9E6DA6FAC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2" name="Rectangle 29">
            <a:extLst>
              <a:ext uri="{FF2B5EF4-FFF2-40B4-BE49-F238E27FC236}">
                <a16:creationId xmlns:a16="http://schemas.microsoft.com/office/drawing/2014/main" id="{A531E02F-6391-4B0C-B1E1-D67E8EFC40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4" name="Isosceles Triangle 43">
            <a:extLst>
              <a:ext uri="{FF2B5EF4-FFF2-40B4-BE49-F238E27FC236}">
                <a16:creationId xmlns:a16="http://schemas.microsoft.com/office/drawing/2014/main" id="{568558EC-35CA-4EC8-BB31-75AB78ACA6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 name="TextBox 1">
            <a:extLst>
              <a:ext uri="{FF2B5EF4-FFF2-40B4-BE49-F238E27FC236}">
                <a16:creationId xmlns:a16="http://schemas.microsoft.com/office/drawing/2014/main" id="{1C8DFD8B-5C86-3290-9577-EDD61563B509}"/>
              </a:ext>
            </a:extLst>
          </p:cNvPr>
          <p:cNvSpPr txBox="1"/>
          <p:nvPr/>
        </p:nvSpPr>
        <p:spPr>
          <a:xfrm>
            <a:off x="3879669" y="4558937"/>
            <a:ext cx="3320533" cy="369332"/>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B4F8A"/>
                </a:solidFill>
                <a:effectLst/>
                <a:uLnTx/>
                <a:uFillTx/>
                <a:latin typeface="Trebuchet MS" panose="020B0603020202020204"/>
                <a:ea typeface="+mn-ea"/>
                <a:cs typeface="+mn-cs"/>
              </a:rPr>
              <a:t>“</a:t>
            </a:r>
            <a:r>
              <a:rPr lang="en-US" dirty="0">
                <a:solidFill>
                  <a:srgbClr val="0B4F8A"/>
                </a:solidFill>
                <a:latin typeface="Trebuchet MS" panose="020B0603020202020204"/>
              </a:rPr>
              <a:t>Basic Type Awareness</a:t>
            </a:r>
            <a:r>
              <a:rPr kumimoji="0" lang="en-US" sz="1800" b="0" i="0" u="none" strike="noStrike" kern="1200" cap="none" spc="0" normalizeH="0" baseline="0" noProof="0" dirty="0">
                <a:ln>
                  <a:noFill/>
                </a:ln>
                <a:solidFill>
                  <a:srgbClr val="0B4F8A"/>
                </a:solidFill>
                <a:effectLst/>
                <a:uLnTx/>
                <a:uFillTx/>
                <a:latin typeface="Trebuchet MS" panose="020B0603020202020204"/>
                <a:ea typeface="+mn-ea"/>
                <a:cs typeface="+mn-cs"/>
              </a:rPr>
              <a:t>”</a:t>
            </a:r>
          </a:p>
        </p:txBody>
      </p:sp>
    </p:spTree>
    <p:extLst>
      <p:ext uri="{BB962C8B-B14F-4D97-AF65-F5344CB8AC3E}">
        <p14:creationId xmlns:p14="http://schemas.microsoft.com/office/powerpoint/2010/main" val="8587673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F312A9D-A900-39EC-1EFA-AD548E92ACA6}"/>
              </a:ext>
            </a:extLst>
          </p:cNvPr>
          <p:cNvSpPr>
            <a:spLocks noGrp="1"/>
          </p:cNvSpPr>
          <p:nvPr>
            <p:ph type="title"/>
          </p:nvPr>
        </p:nvSpPr>
        <p:spPr>
          <a:xfrm>
            <a:off x="4152550" y="609600"/>
            <a:ext cx="2802951" cy="1320800"/>
          </a:xfrm>
        </p:spPr>
        <p:txBody>
          <a:bodyPr>
            <a:normAutofit/>
          </a:bodyPr>
          <a:lstStyle/>
          <a:p>
            <a:r>
              <a:rPr lang="en-US" dirty="0"/>
              <a:t>What to watch for</a:t>
            </a:r>
          </a:p>
        </p:txBody>
      </p:sp>
      <p:sp>
        <p:nvSpPr>
          <p:cNvPr id="5" name="Content Placeholder 4">
            <a:extLst>
              <a:ext uri="{FF2B5EF4-FFF2-40B4-BE49-F238E27FC236}">
                <a16:creationId xmlns:a16="http://schemas.microsoft.com/office/drawing/2014/main" id="{B7981869-44BD-6366-C29A-B2CB8A8C432E}"/>
              </a:ext>
            </a:extLst>
          </p:cNvPr>
          <p:cNvSpPr>
            <a:spLocks noGrp="1"/>
          </p:cNvSpPr>
          <p:nvPr>
            <p:ph idx="1"/>
          </p:nvPr>
        </p:nvSpPr>
        <p:spPr>
          <a:xfrm>
            <a:off x="3907172" y="2160589"/>
            <a:ext cx="3048329" cy="3880773"/>
          </a:xfrm>
        </p:spPr>
        <p:txBody>
          <a:bodyPr>
            <a:normAutofit/>
          </a:bodyPr>
          <a:lstStyle/>
          <a:p>
            <a:pPr marL="0" indent="0">
              <a:buNone/>
            </a:pPr>
            <a:r>
              <a:rPr lang="en-US" dirty="0"/>
              <a:t>As the demo runs, watch for two things:</a:t>
            </a:r>
          </a:p>
          <a:p>
            <a:r>
              <a:rPr lang="en-US" dirty="0"/>
              <a:t>How the program stores several different kinds of values.</a:t>
            </a:r>
          </a:p>
          <a:p>
            <a:r>
              <a:rPr lang="en-US" dirty="0"/>
              <a:t>Recognition. This is the goal - </a:t>
            </a:r>
            <a:r>
              <a:rPr lang="en-US" b="1" i="1" dirty="0">
                <a:solidFill>
                  <a:srgbClr val="FF0000"/>
                </a:solidFill>
              </a:rPr>
              <a:t>not</a:t>
            </a:r>
            <a:r>
              <a:rPr lang="en-US" dirty="0"/>
              <a:t> a full type inventory.</a:t>
            </a:r>
          </a:p>
        </p:txBody>
      </p:sp>
      <p:pic>
        <p:nvPicPr>
          <p:cNvPr id="7" name="Picture 6">
            <a:extLst>
              <a:ext uri="{FF2B5EF4-FFF2-40B4-BE49-F238E27FC236}">
                <a16:creationId xmlns:a16="http://schemas.microsoft.com/office/drawing/2014/main" id="{76347893-85AD-4451-AC62-62B0694C3551}"/>
              </a:ext>
              <a:ext uri="{C183D7F6-B498-43B3-948B-1728B52AA6E4}">
                <adec:decorative xmlns:adec="http://schemas.microsoft.com/office/drawing/2017/decorative" val="1"/>
              </a:ext>
            </a:extLst>
          </p:cNvPr>
          <p:cNvPicPr>
            <a:picLocks noChangeAspect="1"/>
          </p:cNvPicPr>
          <p:nvPr/>
        </p:nvPicPr>
        <p:blipFill>
          <a:blip r:embed="rId3"/>
          <a:srcRect l="23476" r="372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1" name="Isosceles Triangle 10">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Tree>
    <p:extLst>
      <p:ext uri="{BB962C8B-B14F-4D97-AF65-F5344CB8AC3E}">
        <p14:creationId xmlns:p14="http://schemas.microsoft.com/office/powerpoint/2010/main" val="24915958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B8D4C-9116-5CBF-B4DB-D35E166A5CD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8A143EE-A892-65C9-97B0-CF22E18A5C53}"/>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Type Demo</a:t>
            </a:r>
          </a:p>
        </p:txBody>
      </p:sp>
      <p:pic>
        <p:nvPicPr>
          <p:cNvPr id="5" name="Picture Placeholder 4" descr="Table demonstrating basic variable types with columns labeled Variable Name, Value, and Kind of Value. It lists four variables—student_name as text &quot;Riley,&quot; assignments_completed as whole number 2, average_score as decimal number 87.5, and is_passing as true/false True—with corresponding icons and a note advising to recognize value before explaining program.">
            <a:extLst>
              <a:ext uri="{FF2B5EF4-FFF2-40B4-BE49-F238E27FC236}">
                <a16:creationId xmlns:a16="http://schemas.microsoft.com/office/drawing/2014/main" id="{B48C89F9-75D2-2F1D-0A0B-28560FE38E00}"/>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2110078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64D10A-DEEF-2913-C772-6C15BE7CB8A5}"/>
            </a:ext>
          </a:extLst>
        </p:cNvPr>
        <p:cNvGrpSpPr/>
        <p:nvPr/>
      </p:nvGrpSpPr>
      <p:grpSpPr>
        <a:xfrm>
          <a:off x="0" y="0"/>
          <a:ext cx="0" cy="0"/>
          <a:chOff x="0" y="0"/>
          <a:chExt cx="0" cy="0"/>
        </a:xfrm>
      </p:grpSpPr>
      <p:grpSp>
        <p:nvGrpSpPr>
          <p:cNvPr id="12" name="Group 11">
            <a:extLst>
              <a:ext uri="{FF2B5EF4-FFF2-40B4-BE49-F238E27FC236}">
                <a16:creationId xmlns:a16="http://schemas.microsoft.com/office/drawing/2014/main" id="{A6F32445-792B-E5A0-45AC-F3E824DBEDF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9AF83F06-F711-984F-CD54-64AE6B471522}"/>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D35AAE88-C577-1D74-4ECA-FD1D38459B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1FF699E2-0309-F2CC-8A88-97258775B5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6" name="Rectangle 25">
              <a:extLst>
                <a:ext uri="{FF2B5EF4-FFF2-40B4-BE49-F238E27FC236}">
                  <a16:creationId xmlns:a16="http://schemas.microsoft.com/office/drawing/2014/main" id="{47BE6979-9149-1A3F-65A2-63F82A5FEE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7" name="Isosceles Triangle 16">
              <a:extLst>
                <a:ext uri="{FF2B5EF4-FFF2-40B4-BE49-F238E27FC236}">
                  <a16:creationId xmlns:a16="http://schemas.microsoft.com/office/drawing/2014/main" id="{AB23EFB1-C466-698D-429C-C211C94DA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8" name="Rectangle 27">
              <a:extLst>
                <a:ext uri="{FF2B5EF4-FFF2-40B4-BE49-F238E27FC236}">
                  <a16:creationId xmlns:a16="http://schemas.microsoft.com/office/drawing/2014/main" id="{04ECD833-F273-AACC-88E5-DE401084EA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19" name="Rectangle 28">
              <a:extLst>
                <a:ext uri="{FF2B5EF4-FFF2-40B4-BE49-F238E27FC236}">
                  <a16:creationId xmlns:a16="http://schemas.microsoft.com/office/drawing/2014/main" id="{2D0A695B-308A-ED1B-AB77-ECD2CD05D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0" name="Rectangle 29">
              <a:extLst>
                <a:ext uri="{FF2B5EF4-FFF2-40B4-BE49-F238E27FC236}">
                  <a16:creationId xmlns:a16="http://schemas.microsoft.com/office/drawing/2014/main" id="{AF1746FD-0FE5-C780-E9BC-510F8C4B73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1" name="Isosceles Triangle 20">
              <a:extLst>
                <a:ext uri="{FF2B5EF4-FFF2-40B4-BE49-F238E27FC236}">
                  <a16:creationId xmlns:a16="http://schemas.microsoft.com/office/drawing/2014/main" id="{460D4E3C-0110-CE5B-31EC-386FD21AF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2" name="Isosceles Triangle 21">
              <a:extLst>
                <a:ext uri="{FF2B5EF4-FFF2-40B4-BE49-F238E27FC236}">
                  <a16:creationId xmlns:a16="http://schemas.microsoft.com/office/drawing/2014/main" id="{393CAFC7-E0C7-2E11-3263-101D5B84A8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grpSp>
      <p:pic>
        <p:nvPicPr>
          <p:cNvPr id="7" name="Picture 6">
            <a:extLst>
              <a:ext uri="{FF2B5EF4-FFF2-40B4-BE49-F238E27FC236}">
                <a16:creationId xmlns:a16="http://schemas.microsoft.com/office/drawing/2014/main" id="{33D0ACA6-ABB8-47B7-F151-BDB2CF079899}"/>
              </a:ext>
              <a:ext uri="{C183D7F6-B498-43B3-948B-1728B52AA6E4}">
                <adec:decorative xmlns:adec="http://schemas.microsoft.com/office/drawing/2017/decorative" val="1"/>
              </a:ext>
            </a:extLst>
          </p:cNvPr>
          <p:cNvPicPr>
            <a:picLocks noChangeAspect="1"/>
          </p:cNvPicPr>
          <p:nvPr/>
        </p:nvPicPr>
        <p:blipFill>
          <a:blip r:embed="rId3"/>
          <a:srcRect l="19091" t="9091"/>
          <a:stretch>
            <a:fillRect/>
          </a:stretch>
        </p:blipFill>
        <p:spPr>
          <a:xfrm>
            <a:off x="20" y="10"/>
            <a:ext cx="9143980" cy="6857990"/>
          </a:xfrm>
          <a:prstGeom prst="rect">
            <a:avLst/>
          </a:prstGeom>
        </p:spPr>
      </p:pic>
      <p:sp>
        <p:nvSpPr>
          <p:cNvPr id="24" name="Isosceles Triangle 23">
            <a:extLst>
              <a:ext uri="{FF2B5EF4-FFF2-40B4-BE49-F238E27FC236}">
                <a16:creationId xmlns:a16="http://schemas.microsoft.com/office/drawing/2014/main" id="{5D3D1C5F-415A-75D0-7E0A-D85D18D7C4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6" name="Parallelogram 25">
            <a:extLst>
              <a:ext uri="{FF2B5EF4-FFF2-40B4-BE49-F238E27FC236}">
                <a16:creationId xmlns:a16="http://schemas.microsoft.com/office/drawing/2014/main" id="{F4FC77B8-2D06-83E2-2A4F-350E47110D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763405" y="0"/>
            <a:ext cx="5486400" cy="6858000"/>
          </a:xfrm>
          <a:prstGeom prst="parallelogram">
            <a:avLst>
              <a:gd name="adj" fmla="val 14937"/>
            </a:avLst>
          </a:prstGeom>
          <a:solidFill>
            <a:schemeClr val="bg1">
              <a:alpha val="9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cxnSp>
        <p:nvCxnSpPr>
          <p:cNvPr id="28" name="Straight Connector 27">
            <a:extLst>
              <a:ext uri="{FF2B5EF4-FFF2-40B4-BE49-F238E27FC236}">
                <a16:creationId xmlns:a16="http://schemas.microsoft.com/office/drawing/2014/main" id="{FCEA58FC-5640-941B-9447-2F4D042A6F4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44017D34-D03E-AA2C-A77D-225CF191E7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32" name="Rectangle 23">
            <a:extLst>
              <a:ext uri="{FF2B5EF4-FFF2-40B4-BE49-F238E27FC236}">
                <a16:creationId xmlns:a16="http://schemas.microsoft.com/office/drawing/2014/main" id="{F8F1928A-337A-E630-F171-6EE2FF09B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4" name="Rectangle 25">
            <a:extLst>
              <a:ext uri="{FF2B5EF4-FFF2-40B4-BE49-F238E27FC236}">
                <a16:creationId xmlns:a16="http://schemas.microsoft.com/office/drawing/2014/main" id="{AC4BF734-400E-C3AE-D49A-E612F9C30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36" name="Isosceles Triangle 35">
            <a:extLst>
              <a:ext uri="{FF2B5EF4-FFF2-40B4-BE49-F238E27FC236}">
                <a16:creationId xmlns:a16="http://schemas.microsoft.com/office/drawing/2014/main" id="{15022CFD-4E62-9AAF-6449-D803B372F0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 name="Title 3">
            <a:extLst>
              <a:ext uri="{FF2B5EF4-FFF2-40B4-BE49-F238E27FC236}">
                <a16:creationId xmlns:a16="http://schemas.microsoft.com/office/drawing/2014/main" id="{6FA840F9-DB6E-7C1D-67D4-F1D69B8088D9}"/>
              </a:ext>
            </a:extLst>
          </p:cNvPr>
          <p:cNvSpPr>
            <a:spLocks noGrp="1"/>
          </p:cNvSpPr>
          <p:nvPr>
            <p:ph type="title"/>
          </p:nvPr>
        </p:nvSpPr>
        <p:spPr>
          <a:xfrm>
            <a:off x="3528150" y="1678665"/>
            <a:ext cx="3427352" cy="2369131"/>
          </a:xfrm>
        </p:spPr>
        <p:txBody>
          <a:bodyPr vert="horz" lIns="91440" tIns="45720" rIns="91440" bIns="45720" rtlCol="0" anchor="b">
            <a:normAutofit/>
          </a:bodyPr>
          <a:lstStyle/>
          <a:p>
            <a:pPr algn="r"/>
            <a:r>
              <a:rPr lang="en-US" sz="5400" dirty="0"/>
              <a:t>Optional</a:t>
            </a:r>
            <a:br>
              <a:rPr lang="en-US" sz="5400" dirty="0"/>
            </a:br>
            <a:r>
              <a:rPr lang="en-US" sz="5400" dirty="0"/>
              <a:t>Demo #2</a:t>
            </a:r>
          </a:p>
        </p:txBody>
      </p:sp>
      <p:sp>
        <p:nvSpPr>
          <p:cNvPr id="38" name="Rectangle 27">
            <a:extLst>
              <a:ext uri="{FF2B5EF4-FFF2-40B4-BE49-F238E27FC236}">
                <a16:creationId xmlns:a16="http://schemas.microsoft.com/office/drawing/2014/main" id="{E499EA09-9A59-A820-76B1-07A484BBD4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0" name="Rectangle 28">
            <a:extLst>
              <a:ext uri="{FF2B5EF4-FFF2-40B4-BE49-F238E27FC236}">
                <a16:creationId xmlns:a16="http://schemas.microsoft.com/office/drawing/2014/main" id="{4A1A5531-EB67-71C6-5C91-D9B315D816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2" name="Rectangle 29">
            <a:extLst>
              <a:ext uri="{FF2B5EF4-FFF2-40B4-BE49-F238E27FC236}">
                <a16:creationId xmlns:a16="http://schemas.microsoft.com/office/drawing/2014/main" id="{7EFA0142-A60F-28C5-E240-26887262A7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44" name="Isosceles Triangle 43">
            <a:extLst>
              <a:ext uri="{FF2B5EF4-FFF2-40B4-BE49-F238E27FC236}">
                <a16:creationId xmlns:a16="http://schemas.microsoft.com/office/drawing/2014/main" id="{630A30C5-BFFE-E25C-B149-5C42831E4C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
        <p:nvSpPr>
          <p:cNvPr id="2" name="TextBox 1">
            <a:extLst>
              <a:ext uri="{FF2B5EF4-FFF2-40B4-BE49-F238E27FC236}">
                <a16:creationId xmlns:a16="http://schemas.microsoft.com/office/drawing/2014/main" id="{FC543FD9-746D-0687-50F8-896260E44896}"/>
              </a:ext>
            </a:extLst>
          </p:cNvPr>
          <p:cNvSpPr txBox="1"/>
          <p:nvPr/>
        </p:nvSpPr>
        <p:spPr>
          <a:xfrm>
            <a:off x="3879669" y="4558937"/>
            <a:ext cx="3320533" cy="646331"/>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0B4F8A"/>
                </a:solidFill>
                <a:effectLst/>
                <a:uLnTx/>
                <a:uFillTx/>
                <a:latin typeface="Trebuchet MS" panose="020B0603020202020204"/>
                <a:ea typeface="+mn-ea"/>
                <a:cs typeface="+mn-cs"/>
              </a:rPr>
              <a:t>“Input And Number Conversion”</a:t>
            </a:r>
          </a:p>
        </p:txBody>
      </p:sp>
    </p:spTree>
    <p:extLst>
      <p:ext uri="{BB962C8B-B14F-4D97-AF65-F5344CB8AC3E}">
        <p14:creationId xmlns:p14="http://schemas.microsoft.com/office/powerpoint/2010/main" val="6074243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D85B7-E617-7232-3D45-118C5B1AF291}"/>
              </a:ext>
            </a:extLst>
          </p:cNvPr>
          <p:cNvSpPr>
            <a:spLocks noGrp="1"/>
          </p:cNvSpPr>
          <p:nvPr>
            <p:ph type="title"/>
          </p:nvPr>
        </p:nvSpPr>
        <p:spPr>
          <a:xfrm>
            <a:off x="4152550" y="609600"/>
            <a:ext cx="2802951" cy="1320800"/>
          </a:xfrm>
        </p:spPr>
        <p:txBody>
          <a:bodyPr>
            <a:normAutofit fontScale="90000"/>
          </a:bodyPr>
          <a:lstStyle/>
          <a:p>
            <a:pPr>
              <a:lnSpc>
                <a:spcPct val="90000"/>
              </a:lnSpc>
            </a:pPr>
            <a:r>
              <a:rPr lang="en-US" sz="2800" dirty="0"/>
              <a:t>Optional Demo: </a:t>
            </a:r>
            <a:br>
              <a:rPr lang="en-US" sz="2800" dirty="0"/>
            </a:br>
            <a:r>
              <a:rPr lang="en-US" sz="2800" dirty="0"/>
              <a:t>Input And Number Conversion</a:t>
            </a:r>
            <a:endParaRPr lang="en-US" sz="2800" b="1" dirty="0"/>
          </a:p>
        </p:txBody>
      </p:sp>
      <p:sp>
        <p:nvSpPr>
          <p:cNvPr id="3" name="Content Placeholder 2">
            <a:extLst>
              <a:ext uri="{FF2B5EF4-FFF2-40B4-BE49-F238E27FC236}">
                <a16:creationId xmlns:a16="http://schemas.microsoft.com/office/drawing/2014/main" id="{D4623AC4-941F-5169-DAA0-DF23E55C8058}"/>
              </a:ext>
            </a:extLst>
          </p:cNvPr>
          <p:cNvSpPr>
            <a:spLocks noGrp="1"/>
          </p:cNvSpPr>
          <p:nvPr>
            <p:ph idx="1"/>
          </p:nvPr>
        </p:nvSpPr>
        <p:spPr>
          <a:xfrm>
            <a:off x="3907172" y="2160589"/>
            <a:ext cx="3048329" cy="3880773"/>
          </a:xfrm>
        </p:spPr>
        <p:txBody>
          <a:bodyPr>
            <a:normAutofit/>
          </a:bodyPr>
          <a:lstStyle/>
          <a:p>
            <a:r>
              <a:rPr lang="en-US" dirty="0"/>
              <a:t>When users type into `</a:t>
            </a:r>
            <a:r>
              <a:rPr lang="en-US" b="1" dirty="0">
                <a:solidFill>
                  <a:srgbClr val="00B050"/>
                </a:solidFill>
              </a:rPr>
              <a:t>input()</a:t>
            </a:r>
            <a:r>
              <a:rPr lang="en-US" dirty="0"/>
              <a:t>`, Python receives text first.</a:t>
            </a:r>
          </a:p>
          <a:p>
            <a:r>
              <a:rPr lang="en-US" dirty="0"/>
              <a:t>For math, the text must be converted into a number.</a:t>
            </a:r>
          </a:p>
        </p:txBody>
      </p:sp>
      <p:pic>
        <p:nvPicPr>
          <p:cNvPr id="5" name="Picture 4">
            <a:extLst>
              <a:ext uri="{FF2B5EF4-FFF2-40B4-BE49-F238E27FC236}">
                <a16:creationId xmlns:a16="http://schemas.microsoft.com/office/drawing/2014/main" id="{12D2ACC5-5A3D-BA22-57E5-C46C8A594484}"/>
              </a:ext>
              <a:ext uri="{C183D7F6-B498-43B3-948B-1728B52AA6E4}">
                <adec:decorative xmlns:adec="http://schemas.microsoft.com/office/drawing/2017/decorative" val="1"/>
              </a:ext>
            </a:extLst>
          </p:cNvPr>
          <p:cNvPicPr>
            <a:picLocks noChangeAspect="1"/>
          </p:cNvPicPr>
          <p:nvPr/>
        </p:nvPicPr>
        <p:blipFill>
          <a:blip r:embed="rId3"/>
          <a:srcRect l="46083" r="18517"/>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rebuchet MS" panose="020B0603020202020204"/>
              <a:ea typeface="+mn-ea"/>
              <a:cs typeface="+mn-cs"/>
            </a:endParaRPr>
          </a:p>
        </p:txBody>
      </p:sp>
    </p:spTree>
    <p:extLst>
      <p:ext uri="{BB962C8B-B14F-4D97-AF65-F5344CB8AC3E}">
        <p14:creationId xmlns:p14="http://schemas.microsoft.com/office/powerpoint/2010/main" val="18026417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id="{9AE27B9D-0F04-458B-A718-F84902C79F7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27" name="Straight Connector 26">
              <a:extLst>
                <a:ext uri="{FF2B5EF4-FFF2-40B4-BE49-F238E27FC236}">
                  <a16:creationId xmlns:a16="http://schemas.microsoft.com/office/drawing/2014/main" id="{47AB6435-428E-44C8-A107-8435183F6553}"/>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659658D-9AE1-44D3-B002-2BA204AB9021}"/>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9" name="Rectangle 23">
              <a:extLst>
                <a:ext uri="{FF2B5EF4-FFF2-40B4-BE49-F238E27FC236}">
                  <a16:creationId xmlns:a16="http://schemas.microsoft.com/office/drawing/2014/main" id="{2083C874-CFCD-47ED-9F98-DDB125C9C0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5">
              <a:extLst>
                <a:ext uri="{FF2B5EF4-FFF2-40B4-BE49-F238E27FC236}">
                  <a16:creationId xmlns:a16="http://schemas.microsoft.com/office/drawing/2014/main" id="{605E9946-A240-42E3-B6CD-E6691BF467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a:extLst>
                <a:ext uri="{FF2B5EF4-FFF2-40B4-BE49-F238E27FC236}">
                  <a16:creationId xmlns:a16="http://schemas.microsoft.com/office/drawing/2014/main" id="{315B1B45-25C3-4C58-8EB8-41BCFA02A6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2" name="Rectangle 27">
              <a:extLst>
                <a:ext uri="{FF2B5EF4-FFF2-40B4-BE49-F238E27FC236}">
                  <a16:creationId xmlns:a16="http://schemas.microsoft.com/office/drawing/2014/main" id="{87983A9A-7A69-406F-AFEA-AD2AE87E1F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3" name="Rectangle 28">
              <a:extLst>
                <a:ext uri="{FF2B5EF4-FFF2-40B4-BE49-F238E27FC236}">
                  <a16:creationId xmlns:a16="http://schemas.microsoft.com/office/drawing/2014/main" id="{FFCBC4EF-C03E-4EED-9E9A-3097DECC00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4" name="Rectangle 29">
              <a:extLst>
                <a:ext uri="{FF2B5EF4-FFF2-40B4-BE49-F238E27FC236}">
                  <a16:creationId xmlns:a16="http://schemas.microsoft.com/office/drawing/2014/main" id="{F56545EE-F94F-4B4C-AA43-9D67456645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5" name="Isosceles Triangle 34">
              <a:extLst>
                <a:ext uri="{FF2B5EF4-FFF2-40B4-BE49-F238E27FC236}">
                  <a16:creationId xmlns:a16="http://schemas.microsoft.com/office/drawing/2014/main" id="{2FE2A6B2-D45B-484C-BAFD-3F45082664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6" name="Isosceles Triangle 35">
              <a:extLst>
                <a:ext uri="{FF2B5EF4-FFF2-40B4-BE49-F238E27FC236}">
                  <a16:creationId xmlns:a16="http://schemas.microsoft.com/office/drawing/2014/main" id="{EC2132BF-207E-4FB2-B0FE-E6FD0A1D18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pic>
        <p:nvPicPr>
          <p:cNvPr id="7" name="Picture 6">
            <a:extLst>
              <a:ext uri="{FF2B5EF4-FFF2-40B4-BE49-F238E27FC236}">
                <a16:creationId xmlns:a16="http://schemas.microsoft.com/office/drawing/2014/main" id="{FFE889AD-14B3-40E6-3823-CEBA1DC5533A}"/>
              </a:ext>
              <a:ext uri="{C183D7F6-B498-43B3-948B-1728B52AA6E4}">
                <adec:decorative xmlns:adec="http://schemas.microsoft.com/office/drawing/2017/decorative" val="1"/>
              </a:ext>
            </a:extLst>
          </p:cNvPr>
          <p:cNvPicPr>
            <a:picLocks noChangeAspect="1"/>
          </p:cNvPicPr>
          <p:nvPr/>
        </p:nvPicPr>
        <p:blipFill>
          <a:blip r:embed="rId3">
            <a:extLst>
              <a:ext uri="{837473B0-CC2E-450A-ABE3-18F120FF3D39}">
                <a1611:picAttrSrcUrl xmlns:a1611="http://schemas.microsoft.com/office/drawing/2016/11/main" r:id="rId4"/>
              </a:ext>
            </a:extLst>
          </a:blip>
          <a:srcRect l="15570" r="21834"/>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4" name="Title 3">
            <a:extLst>
              <a:ext uri="{FF2B5EF4-FFF2-40B4-BE49-F238E27FC236}">
                <a16:creationId xmlns:a16="http://schemas.microsoft.com/office/drawing/2014/main" id="{B8DDF171-02C0-A44A-24B0-0A4D1AB0373F}"/>
              </a:ext>
            </a:extLst>
          </p:cNvPr>
          <p:cNvSpPr>
            <a:spLocks noGrp="1"/>
          </p:cNvSpPr>
          <p:nvPr>
            <p:ph type="title"/>
          </p:nvPr>
        </p:nvSpPr>
        <p:spPr>
          <a:xfrm>
            <a:off x="501650" y="1678666"/>
            <a:ext cx="3066142" cy="2369093"/>
          </a:xfrm>
        </p:spPr>
        <p:txBody>
          <a:bodyPr vert="horz" lIns="91440" tIns="45720" rIns="91440" bIns="45720" rtlCol="0" anchor="b">
            <a:normAutofit/>
          </a:bodyPr>
          <a:lstStyle/>
          <a:p>
            <a:pPr algn="r"/>
            <a:r>
              <a:rPr lang="en-US" sz="4200"/>
              <a:t>Typing vs. Copy-Paste</a:t>
            </a:r>
          </a:p>
        </p:txBody>
      </p:sp>
      <p:sp>
        <p:nvSpPr>
          <p:cNvPr id="5" name="Text Placeholder 4">
            <a:extLst>
              <a:ext uri="{FF2B5EF4-FFF2-40B4-BE49-F238E27FC236}">
                <a16:creationId xmlns:a16="http://schemas.microsoft.com/office/drawing/2014/main" id="{C4FB8392-0086-AD52-9CE9-DFE46923EED4}"/>
              </a:ext>
            </a:extLst>
          </p:cNvPr>
          <p:cNvSpPr>
            <a:spLocks noGrp="1"/>
          </p:cNvSpPr>
          <p:nvPr>
            <p:ph type="body" idx="1"/>
          </p:nvPr>
        </p:nvSpPr>
        <p:spPr>
          <a:xfrm>
            <a:off x="508001" y="4050831"/>
            <a:ext cx="3059791" cy="1096901"/>
          </a:xfrm>
        </p:spPr>
        <p:txBody>
          <a:bodyPr vert="horz" lIns="91440" tIns="45720" rIns="91440" bIns="45720" rtlCol="0" anchor="t">
            <a:normAutofit/>
          </a:bodyPr>
          <a:lstStyle/>
          <a:p>
            <a:pPr algn="r"/>
            <a:endParaRPr lang="en-US" sz="1400"/>
          </a:p>
        </p:txBody>
      </p:sp>
      <p:cxnSp>
        <p:nvCxnSpPr>
          <p:cNvPr id="38" name="Straight Connector 37">
            <a:extLst>
              <a:ext uri="{FF2B5EF4-FFF2-40B4-BE49-F238E27FC236}">
                <a16:creationId xmlns:a16="http://schemas.microsoft.com/office/drawing/2014/main" id="{A57C1A16-B8AB-4D99-A195-A38F556A648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F8A9B20B-D1DD-4573-B5EC-55802951923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2" name="Rectangle 23">
            <a:extLst>
              <a:ext uri="{FF2B5EF4-FFF2-40B4-BE49-F238E27FC236}">
                <a16:creationId xmlns:a16="http://schemas.microsoft.com/office/drawing/2014/main" id="{66D61E08-70C3-48D8-BEA0-787111DC30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4" name="Rectangle 25">
            <a:extLst>
              <a:ext uri="{FF2B5EF4-FFF2-40B4-BE49-F238E27FC236}">
                <a16:creationId xmlns:a16="http://schemas.microsoft.com/office/drawing/2014/main" id="{FC55298F-0AE5-478E-AD2B-03C2614C58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Isosceles Triangle 24">
            <a:extLst>
              <a:ext uri="{FF2B5EF4-FFF2-40B4-BE49-F238E27FC236}">
                <a16:creationId xmlns:a16="http://schemas.microsoft.com/office/drawing/2014/main" id="{C180E4EA-0B63-4779-A895-7E90E71088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Rectangle 27">
            <a:extLst>
              <a:ext uri="{FF2B5EF4-FFF2-40B4-BE49-F238E27FC236}">
                <a16:creationId xmlns:a16="http://schemas.microsoft.com/office/drawing/2014/main" id="{CEE01D9D-3DE8-4EED-B0D3-8F3C79CC76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8">
            <a:extLst>
              <a:ext uri="{FF2B5EF4-FFF2-40B4-BE49-F238E27FC236}">
                <a16:creationId xmlns:a16="http://schemas.microsoft.com/office/drawing/2014/main" id="{89AF5CE9-607F-43F4-8983-DCD6DA4051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Rectangle 29">
            <a:extLst>
              <a:ext uri="{FF2B5EF4-FFF2-40B4-BE49-F238E27FC236}">
                <a16:creationId xmlns:a16="http://schemas.microsoft.com/office/drawing/2014/main" id="{6EEA2DBD-9E1E-4521-8C01-F32AD18A89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4" name="Isosceles Triangle 29">
            <a:extLst>
              <a:ext uri="{FF2B5EF4-FFF2-40B4-BE49-F238E27FC236}">
                <a16:creationId xmlns:a16="http://schemas.microsoft.com/office/drawing/2014/main" id="{15BBD2C1-BA9B-46A9-A27A-33498B16927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 name="TextBox 5">
            <a:extLst>
              <a:ext uri="{FF2B5EF4-FFF2-40B4-BE49-F238E27FC236}">
                <a16:creationId xmlns:a16="http://schemas.microsoft.com/office/drawing/2014/main" id="{631534A6-3D31-BF3B-4747-440B4981FCD7}"/>
              </a:ext>
            </a:extLst>
          </p:cNvPr>
          <p:cNvSpPr txBox="1"/>
          <p:nvPr/>
        </p:nvSpPr>
        <p:spPr>
          <a:xfrm>
            <a:off x="6617346" y="6870700"/>
            <a:ext cx="2526654" cy="200055"/>
          </a:xfrm>
          <a:prstGeom prst="rect">
            <a:avLst/>
          </a:prstGeom>
          <a:solidFill>
            <a:srgbClr val="000000"/>
          </a:solidFill>
        </p:spPr>
        <p:txBody>
          <a:bodyPr wrap="none" rtlCol="0">
            <a:spAutoFit/>
          </a:bodyPr>
          <a:lstStyle/>
          <a:p>
            <a:pPr algn="r">
              <a:spcAft>
                <a:spcPts val="600"/>
              </a:spcAft>
            </a:pPr>
            <a:r>
              <a:rPr lang="en-US" sz="700">
                <a:solidFill>
                  <a:srgbClr val="FFFFFF"/>
                </a:solidFill>
                <a:hlinkClick r:id="rId5" tooltip="https://commons.wikimedia.org/wiki/Category:Boxing_at_the_2017_Islamic_Solidarity_Games">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6" tooltip="https://creativecommons.org/licenses/by-sa/3.0/">
                  <a:extLst>
                    <a:ext uri="{A12FA001-AC4F-418D-AE19-62706E023703}">
                      <ahyp:hlinkClr xmlns:ahyp="http://schemas.microsoft.com/office/drawing/2018/hyperlinkcolor" val="tx"/>
                    </a:ext>
                  </a:extLst>
                </a:hlinkClick>
              </a:rPr>
              <a:t>CC BY-SA</a:t>
            </a:r>
            <a:endParaRPr lang="en-US" sz="700">
              <a:solidFill>
                <a:srgbClr val="FFFFFF"/>
              </a:solidFill>
            </a:endParaRPr>
          </a:p>
        </p:txBody>
      </p:sp>
    </p:spTree>
    <p:extLst>
      <p:ext uri="{BB962C8B-B14F-4D97-AF65-F5344CB8AC3E}">
        <p14:creationId xmlns:p14="http://schemas.microsoft.com/office/powerpoint/2010/main" val="42697166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3214C9-F3DD-BBAD-2D77-9C4E55B6D528}"/>
              </a:ext>
            </a:extLst>
          </p:cNvPr>
          <p:cNvSpPr>
            <a:spLocks noGrp="1"/>
          </p:cNvSpPr>
          <p:nvPr>
            <p:ph type="title"/>
          </p:nvPr>
        </p:nvSpPr>
        <p:spPr/>
        <p:txBody>
          <a:bodyPr/>
          <a:lstStyle/>
          <a:p>
            <a:r>
              <a:rPr lang="en-US" dirty="0"/>
              <a:t>Learning Move: </a:t>
            </a:r>
            <a:br>
              <a:rPr lang="en-US" dirty="0"/>
            </a:br>
            <a:r>
              <a:rPr lang="en-US" i="1" dirty="0"/>
              <a:t>Type It When It Is New</a:t>
            </a:r>
          </a:p>
        </p:txBody>
      </p:sp>
      <p:sp>
        <p:nvSpPr>
          <p:cNvPr id="3" name="Content Placeholder 2">
            <a:extLst>
              <a:ext uri="{FF2B5EF4-FFF2-40B4-BE49-F238E27FC236}">
                <a16:creationId xmlns:a16="http://schemas.microsoft.com/office/drawing/2014/main" id="{CC75ABCC-AD9C-7663-98BC-465555BFECE4}"/>
              </a:ext>
            </a:extLst>
          </p:cNvPr>
          <p:cNvSpPr>
            <a:spLocks noGrp="1"/>
          </p:cNvSpPr>
          <p:nvPr>
            <p:ph idx="1"/>
          </p:nvPr>
        </p:nvSpPr>
        <p:spPr/>
        <p:txBody>
          <a:bodyPr/>
          <a:lstStyle/>
          <a:p>
            <a:pPr marL="0" indent="0">
              <a:buNone/>
            </a:pPr>
            <a:r>
              <a:rPr lang="en-US" dirty="0"/>
              <a:t>Typing code can be part of learning.</a:t>
            </a:r>
          </a:p>
          <a:p>
            <a:pPr marL="0" indent="0">
              <a:buNone/>
            </a:pPr>
            <a:endParaRPr lang="en-US" dirty="0"/>
          </a:p>
          <a:p>
            <a:pPr marL="0" indent="0">
              <a:buNone/>
            </a:pPr>
            <a:r>
              <a:rPr lang="en-US" dirty="0"/>
              <a:t>Copying is not automatically wrong, but it should not replace understanding.</a:t>
            </a:r>
          </a:p>
        </p:txBody>
      </p:sp>
    </p:spTree>
    <p:extLst>
      <p:ext uri="{BB962C8B-B14F-4D97-AF65-F5344CB8AC3E}">
        <p14:creationId xmlns:p14="http://schemas.microsoft.com/office/powerpoint/2010/main" val="6836846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C5890E-F9FE-06A6-39D5-3545A9349EDD}"/>
              </a:ext>
            </a:extLst>
          </p:cNvPr>
          <p:cNvSpPr>
            <a:spLocks noGrp="1"/>
          </p:cNvSpPr>
          <p:nvPr>
            <p:ph type="title"/>
          </p:nvPr>
        </p:nvSpPr>
        <p:spPr>
          <a:xfrm>
            <a:off x="2089535" y="609600"/>
            <a:ext cx="4865966" cy="1320800"/>
          </a:xfrm>
        </p:spPr>
        <p:txBody>
          <a:bodyPr>
            <a:normAutofit/>
          </a:bodyPr>
          <a:lstStyle/>
          <a:p>
            <a:r>
              <a:rPr lang="en-US" dirty="0"/>
              <a:t>Typing it Out</a:t>
            </a:r>
          </a:p>
        </p:txBody>
      </p:sp>
      <p:pic>
        <p:nvPicPr>
          <p:cNvPr id="5" name="Picture 4">
            <a:extLst>
              <a:ext uri="{FF2B5EF4-FFF2-40B4-BE49-F238E27FC236}">
                <a16:creationId xmlns:a16="http://schemas.microsoft.com/office/drawing/2014/main" id="{37E98266-5B37-471D-1352-86378DE0AC47}"/>
              </a:ext>
              <a:ext uri="{C183D7F6-B498-43B3-948B-1728B52AA6E4}">
                <adec:decorative xmlns:adec="http://schemas.microsoft.com/office/drawing/2017/decorative" val="1"/>
              </a:ext>
            </a:extLst>
          </p:cNvPr>
          <p:cNvPicPr>
            <a:picLocks noChangeAspect="1"/>
          </p:cNvPicPr>
          <p:nvPr/>
        </p:nvPicPr>
        <p:blipFill>
          <a:blip r:embed="rId3">
            <a:duotone>
              <a:prstClr val="black"/>
              <a:schemeClr val="tx2">
                <a:tint val="45000"/>
                <a:satMod val="400000"/>
              </a:schemeClr>
            </a:duotone>
          </a:blip>
          <a:srcRect l="30321" r="50370" b="-1"/>
          <a:stretch>
            <a:fillRect/>
          </a:stretch>
        </p:blipFill>
        <p:spPr>
          <a:xfrm>
            <a:off x="20" y="10"/>
            <a:ext cx="2050522" cy="6876278"/>
          </a:xfrm>
          <a:custGeom>
            <a:avLst/>
            <a:gdLst/>
            <a:ahLst/>
            <a:cxnLst/>
            <a:rect l="l" t="t" r="r" b="b"/>
            <a:pathLst>
              <a:path w="2734056" h="6858000">
                <a:moveTo>
                  <a:pt x="0" y="0"/>
                </a:moveTo>
                <a:lnTo>
                  <a:pt x="1674254" y="0"/>
                </a:lnTo>
                <a:lnTo>
                  <a:pt x="2734056" y="6850199"/>
                </a:lnTo>
                <a:lnTo>
                  <a:pt x="2734056" y="6858000"/>
                </a:lnTo>
                <a:lnTo>
                  <a:pt x="842596" y="6858000"/>
                </a:lnTo>
                <a:lnTo>
                  <a:pt x="0" y="1191846"/>
                </a:lnTo>
                <a:close/>
              </a:path>
            </a:pathLst>
          </a:custGeom>
        </p:spPr>
      </p:pic>
      <p:sp>
        <p:nvSpPr>
          <p:cNvPr id="9" name="Isosceles Triangle 8">
            <a:extLst>
              <a:ext uri="{FF2B5EF4-FFF2-40B4-BE49-F238E27FC236}">
                <a16:creationId xmlns:a16="http://schemas.microsoft.com/office/drawing/2014/main" id="{58CB4BA4-5207-43FB-9FA5-62223EF71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1191846"/>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 name="Content Placeholder 2">
            <a:extLst>
              <a:ext uri="{FF2B5EF4-FFF2-40B4-BE49-F238E27FC236}">
                <a16:creationId xmlns:a16="http://schemas.microsoft.com/office/drawing/2014/main" id="{BEA44072-50DC-EEB5-8F15-68712202164A}"/>
              </a:ext>
            </a:extLst>
          </p:cNvPr>
          <p:cNvSpPr>
            <a:spLocks noGrp="1"/>
          </p:cNvSpPr>
          <p:nvPr>
            <p:ph idx="1"/>
          </p:nvPr>
        </p:nvSpPr>
        <p:spPr>
          <a:xfrm>
            <a:off x="2089535" y="2160589"/>
            <a:ext cx="4865966" cy="3880773"/>
          </a:xfrm>
        </p:spPr>
        <p:txBody>
          <a:bodyPr>
            <a:normAutofit/>
          </a:bodyPr>
          <a:lstStyle/>
          <a:p>
            <a:pPr marL="0" indent="0">
              <a:lnSpc>
                <a:spcPct val="90000"/>
              </a:lnSpc>
              <a:buNone/>
            </a:pPr>
            <a:r>
              <a:rPr lang="en-US" sz="1700"/>
              <a:t>Typing code manually slows the process down in a useful way.</a:t>
            </a:r>
          </a:p>
          <a:p>
            <a:pPr marL="0" indent="0">
              <a:lnSpc>
                <a:spcPct val="90000"/>
              </a:lnSpc>
              <a:buNone/>
            </a:pPr>
            <a:r>
              <a:rPr lang="en-US" sz="1700"/>
              <a:t>When you type an example, you are not just moving characters onto the screen. You are giving your mind time to process:</a:t>
            </a:r>
          </a:p>
          <a:p>
            <a:pPr>
              <a:lnSpc>
                <a:spcPct val="90000"/>
              </a:lnSpc>
            </a:pPr>
            <a:r>
              <a:rPr lang="en-US" sz="1700"/>
              <a:t>the order of the instructions</a:t>
            </a:r>
          </a:p>
          <a:p>
            <a:pPr>
              <a:lnSpc>
                <a:spcPct val="90000"/>
              </a:lnSpc>
            </a:pPr>
            <a:r>
              <a:rPr lang="en-US" sz="1700"/>
              <a:t>the names of variables</a:t>
            </a:r>
          </a:p>
          <a:p>
            <a:pPr>
              <a:lnSpc>
                <a:spcPct val="90000"/>
              </a:lnSpc>
            </a:pPr>
            <a:r>
              <a:rPr lang="en-US" sz="1700"/>
              <a:t>the structure of the logic</a:t>
            </a:r>
          </a:p>
          <a:p>
            <a:pPr>
              <a:lnSpc>
                <a:spcPct val="90000"/>
              </a:lnSpc>
            </a:pPr>
            <a:r>
              <a:rPr lang="en-US" sz="1700"/>
              <a:t>the punctuation and syntax</a:t>
            </a:r>
          </a:p>
          <a:p>
            <a:pPr>
              <a:lnSpc>
                <a:spcPct val="90000"/>
              </a:lnSpc>
            </a:pPr>
            <a:r>
              <a:rPr lang="en-US" sz="1700"/>
              <a:t>the relationship between one line and the next</a:t>
            </a:r>
          </a:p>
          <a:p>
            <a:pPr>
              <a:lnSpc>
                <a:spcPct val="90000"/>
              </a:lnSpc>
            </a:pPr>
            <a:r>
              <a:rPr lang="en-US" sz="1700"/>
              <a:t>what the program is actually doing</a:t>
            </a:r>
          </a:p>
        </p:txBody>
      </p:sp>
    </p:spTree>
    <p:extLst>
      <p:ext uri="{BB962C8B-B14F-4D97-AF65-F5344CB8AC3E}">
        <p14:creationId xmlns:p14="http://schemas.microsoft.com/office/powerpoint/2010/main" val="3833597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B58CFD4-04DC-3CA4-A920-FBEA16FA36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6FED2B-4997-60D2-EC31-6BFA99A6AEFE}"/>
              </a:ext>
            </a:extLst>
          </p:cNvPr>
          <p:cNvSpPr>
            <a:spLocks noGrp="1"/>
          </p:cNvSpPr>
          <p:nvPr>
            <p:ph type="title"/>
          </p:nvPr>
        </p:nvSpPr>
        <p:spPr>
          <a:xfrm>
            <a:off x="4152550" y="609600"/>
            <a:ext cx="3048329" cy="1320800"/>
          </a:xfrm>
        </p:spPr>
        <p:txBody>
          <a:bodyPr>
            <a:normAutofit/>
          </a:bodyPr>
          <a:lstStyle/>
          <a:p>
            <a:r>
              <a:rPr lang="en-US" dirty="0"/>
              <a:t>Copying and Pasting</a:t>
            </a:r>
          </a:p>
        </p:txBody>
      </p:sp>
      <p:sp>
        <p:nvSpPr>
          <p:cNvPr id="3" name="Content Placeholder 2">
            <a:extLst>
              <a:ext uri="{FF2B5EF4-FFF2-40B4-BE49-F238E27FC236}">
                <a16:creationId xmlns:a16="http://schemas.microsoft.com/office/drawing/2014/main" id="{A51DF29B-B64C-DA80-E379-2A6550FDA350}"/>
              </a:ext>
            </a:extLst>
          </p:cNvPr>
          <p:cNvSpPr>
            <a:spLocks noGrp="1"/>
          </p:cNvSpPr>
          <p:nvPr>
            <p:ph idx="1"/>
          </p:nvPr>
        </p:nvSpPr>
        <p:spPr>
          <a:xfrm>
            <a:off x="3907172" y="1930401"/>
            <a:ext cx="3560428" cy="4572000"/>
          </a:xfrm>
        </p:spPr>
        <p:txBody>
          <a:bodyPr>
            <a:normAutofit fontScale="92500"/>
          </a:bodyPr>
          <a:lstStyle/>
          <a:p>
            <a:pPr marL="0" indent="0">
              <a:lnSpc>
                <a:spcPct val="90000"/>
              </a:lnSpc>
              <a:buNone/>
            </a:pPr>
            <a:r>
              <a:rPr lang="en-US" sz="1500" dirty="0"/>
              <a:t>Copying and pasting can also be appropriate. It may make sense when:</a:t>
            </a:r>
          </a:p>
          <a:p>
            <a:pPr>
              <a:lnSpc>
                <a:spcPct val="90000"/>
              </a:lnSpc>
            </a:pPr>
            <a:r>
              <a:rPr lang="en-US" sz="1500" dirty="0"/>
              <a:t>the code is long</a:t>
            </a:r>
          </a:p>
          <a:p>
            <a:pPr>
              <a:lnSpc>
                <a:spcPct val="90000"/>
              </a:lnSpc>
            </a:pPr>
            <a:r>
              <a:rPr lang="en-US" sz="1500" dirty="0"/>
              <a:t>the concept has already been learned</a:t>
            </a:r>
          </a:p>
          <a:p>
            <a:pPr>
              <a:lnSpc>
                <a:spcPct val="90000"/>
              </a:lnSpc>
            </a:pPr>
            <a:r>
              <a:rPr lang="en-US" sz="1500" dirty="0"/>
              <a:t>the focus is on a different part of the task</a:t>
            </a:r>
          </a:p>
          <a:p>
            <a:pPr>
              <a:lnSpc>
                <a:spcPct val="90000"/>
              </a:lnSpc>
            </a:pPr>
            <a:r>
              <a:rPr lang="en-US" sz="1500" dirty="0"/>
              <a:t>you understands the logic already</a:t>
            </a:r>
          </a:p>
          <a:p>
            <a:pPr>
              <a:lnSpc>
                <a:spcPct val="90000"/>
              </a:lnSpc>
            </a:pPr>
            <a:r>
              <a:rPr lang="en-US" sz="1500" dirty="0"/>
              <a:t>the code is being used as a scaffold for something else</a:t>
            </a:r>
          </a:p>
          <a:p>
            <a:pPr marL="0" indent="0">
              <a:lnSpc>
                <a:spcPct val="90000"/>
              </a:lnSpc>
              <a:buNone/>
            </a:pPr>
            <a:r>
              <a:rPr lang="en-US" sz="1500" dirty="0"/>
              <a:t>Copy/paste becomes a problem when it replaces understanding. - Before copying, You should ask:</a:t>
            </a:r>
          </a:p>
          <a:p>
            <a:pPr>
              <a:lnSpc>
                <a:spcPct val="90000"/>
              </a:lnSpc>
            </a:pPr>
            <a:r>
              <a:rPr lang="en-US" sz="1500" dirty="0"/>
              <a:t>Do I understand what this code does?</a:t>
            </a:r>
          </a:p>
          <a:p>
            <a:pPr>
              <a:lnSpc>
                <a:spcPct val="90000"/>
              </a:lnSpc>
            </a:pPr>
            <a:r>
              <a:rPr lang="en-US" sz="1500" dirty="0"/>
              <a:t>Do I need to understand this more deeply right now?</a:t>
            </a:r>
          </a:p>
          <a:p>
            <a:pPr>
              <a:lnSpc>
                <a:spcPct val="90000"/>
              </a:lnSpc>
            </a:pPr>
            <a:r>
              <a:rPr lang="en-US" sz="1500" dirty="0"/>
              <a:t>Am I copying because it saves time, or because I am avoiding thinking?</a:t>
            </a:r>
          </a:p>
        </p:txBody>
      </p:sp>
      <p:pic>
        <p:nvPicPr>
          <p:cNvPr id="5" name="Picture 4">
            <a:extLst>
              <a:ext uri="{FF2B5EF4-FFF2-40B4-BE49-F238E27FC236}">
                <a16:creationId xmlns:a16="http://schemas.microsoft.com/office/drawing/2014/main" id="{D9E9F24A-4CDE-2C7B-F96F-D4B8BE4BFF05}"/>
              </a:ext>
              <a:ext uri="{C183D7F6-B498-43B3-948B-1728B52AA6E4}">
                <adec:decorative xmlns:adec="http://schemas.microsoft.com/office/drawing/2017/decorative" val="1"/>
              </a:ext>
            </a:extLst>
          </p:cNvPr>
          <p:cNvPicPr>
            <a:picLocks noChangeAspect="1"/>
          </p:cNvPicPr>
          <p:nvPr/>
        </p:nvPicPr>
        <p:blipFill>
          <a:blip r:embed="rId3">
            <a:extLst>
              <a:ext uri="{837473B0-CC2E-450A-ABE3-18F120FF3D39}">
                <a1611:picAttrSrcUrl xmlns:a1611="http://schemas.microsoft.com/office/drawing/2016/11/main" r:id="rId4"/>
              </a:ext>
            </a:extLst>
          </a:blip>
          <a:srcRect l="17163" r="39915"/>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7438304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795615-97CC-731A-3DE0-E2679B43C93B}"/>
              </a:ext>
            </a:extLst>
          </p:cNvPr>
          <p:cNvSpPr>
            <a:spLocks noGrp="1"/>
          </p:cNvSpPr>
          <p:nvPr>
            <p:ph type="title"/>
          </p:nvPr>
        </p:nvSpPr>
        <p:spPr>
          <a:xfrm>
            <a:off x="4152550" y="609600"/>
            <a:ext cx="2802951" cy="1320800"/>
          </a:xfrm>
        </p:spPr>
        <p:txBody>
          <a:bodyPr>
            <a:normAutofit/>
          </a:bodyPr>
          <a:lstStyle/>
          <a:p>
            <a:pPr>
              <a:lnSpc>
                <a:spcPct val="90000"/>
              </a:lnSpc>
            </a:pPr>
            <a:r>
              <a:rPr lang="en-US" sz="3100"/>
              <a:t>Connection to AI Prompting</a:t>
            </a:r>
          </a:p>
        </p:txBody>
      </p:sp>
      <p:sp>
        <p:nvSpPr>
          <p:cNvPr id="3" name="Content Placeholder 2">
            <a:extLst>
              <a:ext uri="{FF2B5EF4-FFF2-40B4-BE49-F238E27FC236}">
                <a16:creationId xmlns:a16="http://schemas.microsoft.com/office/drawing/2014/main" id="{E0BF9F94-AB13-E0D5-C62F-CD1D8E2F3E69}"/>
              </a:ext>
            </a:extLst>
          </p:cNvPr>
          <p:cNvSpPr>
            <a:spLocks noGrp="1"/>
          </p:cNvSpPr>
          <p:nvPr>
            <p:ph idx="1"/>
          </p:nvPr>
        </p:nvSpPr>
        <p:spPr>
          <a:xfrm>
            <a:off x="3907172" y="1739901"/>
            <a:ext cx="3662028" cy="4737100"/>
          </a:xfrm>
        </p:spPr>
        <p:txBody>
          <a:bodyPr>
            <a:noAutofit/>
          </a:bodyPr>
          <a:lstStyle/>
          <a:p>
            <a:pPr marL="0" indent="0">
              <a:lnSpc>
                <a:spcPct val="90000"/>
              </a:lnSpc>
              <a:buNone/>
            </a:pPr>
            <a:r>
              <a:rPr lang="en-US" sz="1400" dirty="0"/>
              <a:t>Typing a prompt is not just the act of entering text into a tool. It is often part of the thinking process. </a:t>
            </a:r>
          </a:p>
          <a:p>
            <a:pPr marL="0" indent="0">
              <a:lnSpc>
                <a:spcPct val="90000"/>
              </a:lnSpc>
              <a:buNone/>
            </a:pPr>
            <a:r>
              <a:rPr lang="en-US" sz="1400" dirty="0"/>
              <a:t>As a person writes a prompt, they may:</a:t>
            </a:r>
          </a:p>
          <a:p>
            <a:pPr>
              <a:lnSpc>
                <a:spcPct val="90000"/>
              </a:lnSpc>
            </a:pPr>
            <a:r>
              <a:rPr lang="en-US" sz="1400" dirty="0"/>
              <a:t>clarify the goal</a:t>
            </a:r>
          </a:p>
          <a:p>
            <a:pPr>
              <a:lnSpc>
                <a:spcPct val="90000"/>
              </a:lnSpc>
            </a:pPr>
            <a:r>
              <a:rPr lang="en-US" sz="1400" dirty="0"/>
              <a:t>revise wording</a:t>
            </a:r>
          </a:p>
          <a:p>
            <a:pPr>
              <a:lnSpc>
                <a:spcPct val="90000"/>
              </a:lnSpc>
            </a:pPr>
            <a:r>
              <a:rPr lang="en-US" sz="1400" dirty="0"/>
              <a:t>discover missing constraints</a:t>
            </a:r>
          </a:p>
          <a:p>
            <a:pPr>
              <a:lnSpc>
                <a:spcPct val="90000"/>
              </a:lnSpc>
            </a:pPr>
            <a:r>
              <a:rPr lang="en-US" sz="1400" dirty="0"/>
              <a:t>notice ambiguity</a:t>
            </a:r>
          </a:p>
          <a:p>
            <a:pPr>
              <a:lnSpc>
                <a:spcPct val="90000"/>
              </a:lnSpc>
            </a:pPr>
            <a:r>
              <a:rPr lang="en-US" sz="1400" dirty="0"/>
              <a:t>reshape the request</a:t>
            </a:r>
          </a:p>
          <a:p>
            <a:pPr>
              <a:lnSpc>
                <a:spcPct val="90000"/>
              </a:lnSpc>
            </a:pPr>
            <a:r>
              <a:rPr lang="en-US" sz="1400" dirty="0"/>
              <a:t>improve the structure of their own thinking</a:t>
            </a:r>
          </a:p>
          <a:p>
            <a:pPr marL="0" indent="0">
              <a:lnSpc>
                <a:spcPct val="90000"/>
              </a:lnSpc>
              <a:buNone/>
            </a:pPr>
            <a:r>
              <a:rPr lang="en-US" sz="1400" dirty="0"/>
              <a:t>This is closely connected to AI-assisted development and Refraction-Based Architecture.</a:t>
            </a:r>
          </a:p>
          <a:p>
            <a:pPr>
              <a:lnSpc>
                <a:spcPct val="90000"/>
              </a:lnSpc>
            </a:pPr>
            <a:r>
              <a:rPr lang="en-US" sz="1400" dirty="0"/>
              <a:t>The human is not merely asking AI for output </a:t>
            </a:r>
            <a:r>
              <a:rPr lang="en-US" sz="1400" b="1" i="1" dirty="0"/>
              <a:t>- The human is shaping intent!</a:t>
            </a:r>
          </a:p>
        </p:txBody>
      </p:sp>
      <p:pic>
        <p:nvPicPr>
          <p:cNvPr id="5" name="Picture 4">
            <a:extLst>
              <a:ext uri="{FF2B5EF4-FFF2-40B4-BE49-F238E27FC236}">
                <a16:creationId xmlns:a16="http://schemas.microsoft.com/office/drawing/2014/main" id="{178A92D7-31D6-FADD-CD5B-7A68D49FA02C}"/>
              </a:ext>
              <a:ext uri="{C183D7F6-B498-43B3-948B-1728B52AA6E4}">
                <adec:decorative xmlns:adec="http://schemas.microsoft.com/office/drawing/2017/decorative" val="1"/>
              </a:ext>
            </a:extLst>
          </p:cNvPr>
          <p:cNvPicPr>
            <a:picLocks noChangeAspect="1"/>
          </p:cNvPicPr>
          <p:nvPr/>
        </p:nvPicPr>
        <p:blipFill>
          <a:blip r:embed="rId3">
            <a:extLst>
              <a:ext uri="{837473B0-CC2E-450A-ABE3-18F120FF3D39}">
                <a1611:picAttrSrcUrl xmlns:a1611="http://schemas.microsoft.com/office/drawing/2016/11/main" r:id="rId4"/>
              </a:ext>
            </a:extLst>
          </a:blip>
          <a:srcRect l="33996" r="33997" b="1"/>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4" name="Isosceles Triangle 13">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extBox 3">
            <a:extLst>
              <a:ext uri="{FF2B5EF4-FFF2-40B4-BE49-F238E27FC236}">
                <a16:creationId xmlns:a16="http://schemas.microsoft.com/office/drawing/2014/main" id="{F249781B-C1F6-1EF6-2C98-115E78FCF267}"/>
              </a:ext>
            </a:extLst>
          </p:cNvPr>
          <p:cNvSpPr txBox="1"/>
          <p:nvPr/>
        </p:nvSpPr>
        <p:spPr>
          <a:xfrm>
            <a:off x="6602920" y="6657945"/>
            <a:ext cx="2541080" cy="200055"/>
          </a:xfrm>
          <a:prstGeom prst="rect">
            <a:avLst/>
          </a:prstGeom>
          <a:solidFill>
            <a:srgbClr val="000000"/>
          </a:solidFill>
        </p:spPr>
        <p:txBody>
          <a:bodyPr wrap="none" rtlCol="0">
            <a:spAutoFit/>
          </a:bodyPr>
          <a:lstStyle/>
          <a:p>
            <a:pPr algn="r">
              <a:spcAft>
                <a:spcPts val="600"/>
              </a:spcAft>
            </a:pPr>
            <a:r>
              <a:rPr lang="en-US" sz="700">
                <a:solidFill>
                  <a:srgbClr val="FFFFFF"/>
                </a:solidFill>
                <a:hlinkClick r:id="rId4" tooltip="https://www.duperrin.com/english/2025/02/12/ai-europe-entrerprises-ambition/">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5" tooltip="https://creativecommons.org/licenses/by-nc/3.0/">
                  <a:extLst>
                    <a:ext uri="{A12FA001-AC4F-418D-AE19-62706E023703}">
                      <ahyp:hlinkClr xmlns:ahyp="http://schemas.microsoft.com/office/drawing/2018/hyperlinkcolor" val="tx"/>
                    </a:ext>
                  </a:extLst>
                </a:hlinkClick>
              </a:rPr>
              <a:t>CC BY-NC</a:t>
            </a:r>
            <a:endParaRPr lang="en-US" sz="700">
              <a:solidFill>
                <a:srgbClr val="FFFFFF"/>
              </a:solidFill>
            </a:endParaRPr>
          </a:p>
        </p:txBody>
      </p:sp>
    </p:spTree>
    <p:extLst>
      <p:ext uri="{BB962C8B-B14F-4D97-AF65-F5344CB8AC3E}">
        <p14:creationId xmlns:p14="http://schemas.microsoft.com/office/powerpoint/2010/main" val="39123109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C409AF-76DF-A685-A9BA-F2BC98B6E81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2016837-AF84-C80F-6E88-6327782FDEC9}"/>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Typing vs Copy-Pasting</a:t>
            </a:r>
          </a:p>
        </p:txBody>
      </p:sp>
      <p:pic>
        <p:nvPicPr>
          <p:cNvPr id="5" name="Picture Placeholder 4" descr="Diagram comparing benefits of typing versus copying for skill building, emphasizing when to use each method. Typing slows down to enhance noticing details, while copying is effective once logic is clear; highlighted goal stresses understanding over continuous typing.">
            <a:extLst>
              <a:ext uri="{FF2B5EF4-FFF2-40B4-BE49-F238E27FC236}">
                <a16:creationId xmlns:a16="http://schemas.microsoft.com/office/drawing/2014/main" id="{52978D16-56B4-DA7A-69D3-62BCB65A7C99}"/>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7179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4D7B8F8F-4528-4480-AFA3-A006195F5A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4">
            <a:extLst>
              <a:ext uri="{FF2B5EF4-FFF2-40B4-BE49-F238E27FC236}">
                <a16:creationId xmlns:a16="http://schemas.microsoft.com/office/drawing/2014/main" id="{28A3B336-73FA-4302-BF92-6DAC2759A823}"/>
              </a:ext>
            </a:extLst>
          </p:cNvPr>
          <p:cNvSpPr>
            <a:spLocks noGrp="1"/>
          </p:cNvSpPr>
          <p:nvPr>
            <p:ph type="title"/>
          </p:nvPr>
        </p:nvSpPr>
        <p:spPr>
          <a:xfrm>
            <a:off x="965199" y="609600"/>
            <a:ext cx="7648121" cy="1099457"/>
          </a:xfrm>
        </p:spPr>
        <p:txBody>
          <a:bodyPr>
            <a:normAutofit/>
          </a:bodyPr>
          <a:lstStyle/>
          <a:p>
            <a:pPr>
              <a:lnSpc>
                <a:spcPct val="90000"/>
              </a:lnSpc>
            </a:pPr>
            <a:r>
              <a:rPr lang="en-US"/>
              <a:t>Common Failure: </a:t>
            </a:r>
            <a:br>
              <a:rPr lang="en-US"/>
            </a:br>
            <a:r>
              <a:rPr lang="en-US"/>
              <a:t>Too Much Is Too Much</a:t>
            </a:r>
          </a:p>
        </p:txBody>
      </p:sp>
      <p:sp>
        <p:nvSpPr>
          <p:cNvPr id="14" name="Isosceles Triangle 13">
            <a:extLst>
              <a:ext uri="{FF2B5EF4-FFF2-40B4-BE49-F238E27FC236}">
                <a16:creationId xmlns:a16="http://schemas.microsoft.com/office/drawing/2014/main" id="{4F8B2185-AE38-43EA-9FA9-E5378AD730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Isosceles Triangle 15">
            <a:extLst>
              <a:ext uri="{FF2B5EF4-FFF2-40B4-BE49-F238E27FC236}">
                <a16:creationId xmlns:a16="http://schemas.microsoft.com/office/drawing/2014/main" id="{0D36BD5A-BF22-48CD-8A55-28B19177CE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807450" y="4013200"/>
            <a:ext cx="336550"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8" name="Content Placeholder 5">
            <a:extLst>
              <a:ext uri="{FF2B5EF4-FFF2-40B4-BE49-F238E27FC236}">
                <a16:creationId xmlns:a16="http://schemas.microsoft.com/office/drawing/2014/main" id="{3AC76DC6-3835-EBD4-7789-99882608A0AA}"/>
              </a:ext>
            </a:extLst>
          </p:cNvPr>
          <p:cNvGraphicFramePr>
            <a:graphicFrameLocks noGrp="1"/>
          </p:cNvGraphicFramePr>
          <p:nvPr>
            <p:ph idx="1"/>
            <p:extLst>
              <p:ext uri="{D42A27DB-BD31-4B8C-83A1-F6EECF244321}">
                <p14:modId xmlns:p14="http://schemas.microsoft.com/office/powerpoint/2010/main" val="2644736369"/>
              </p:ext>
            </p:extLst>
          </p:nvPr>
        </p:nvGraphicFramePr>
        <p:xfrm>
          <a:off x="965199" y="1948543"/>
          <a:ext cx="7213600" cy="409348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247115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1EE667E-D1D3-47FB-7D51-F105B92D6BF6}"/>
              </a:ext>
              <a:ext uri="{C183D7F6-B498-43B3-948B-1728B52AA6E4}">
                <adec:decorative xmlns:adec="http://schemas.microsoft.com/office/drawing/2017/decorative" val="1"/>
              </a:ext>
            </a:extLst>
          </p:cNvPr>
          <p:cNvPicPr>
            <a:picLocks noChangeAspect="1"/>
          </p:cNvPicPr>
          <p:nvPr/>
        </p:nvPicPr>
        <p:blipFill>
          <a:blip r:embed="rId3"/>
          <a:srcRect l="17336" r="24832" b="-2"/>
          <a:stretch>
            <a:fillRect/>
          </a:stretch>
        </p:blipFill>
        <p:spPr>
          <a:xfrm>
            <a:off x="3202390" y="-1"/>
            <a:ext cx="5941610" cy="6858001"/>
          </a:xfrm>
          <a:custGeom>
            <a:avLst/>
            <a:gdLst/>
            <a:ahLst/>
            <a:cxnLst/>
            <a:rect l="l" t="t" r="r" b="b"/>
            <a:pathLst>
              <a:path w="7922146" h="6858001">
                <a:moveTo>
                  <a:pt x="379987" y="0"/>
                </a:moveTo>
                <a:lnTo>
                  <a:pt x="5304971" y="0"/>
                </a:lnTo>
                <a:lnTo>
                  <a:pt x="7065281" y="0"/>
                </a:lnTo>
                <a:lnTo>
                  <a:pt x="7397540" y="0"/>
                </a:lnTo>
                <a:lnTo>
                  <a:pt x="7397540" y="1"/>
                </a:lnTo>
                <a:lnTo>
                  <a:pt x="7922146" y="1"/>
                </a:lnTo>
                <a:lnTo>
                  <a:pt x="7922146" y="6858001"/>
                </a:lnTo>
                <a:lnTo>
                  <a:pt x="7065281" y="6858001"/>
                </a:lnTo>
                <a:lnTo>
                  <a:pt x="7065281" y="6858000"/>
                </a:lnTo>
                <a:lnTo>
                  <a:pt x="5932989" y="6858000"/>
                </a:lnTo>
                <a:lnTo>
                  <a:pt x="5932989" y="6858001"/>
                </a:lnTo>
                <a:lnTo>
                  <a:pt x="27809" y="6858001"/>
                </a:lnTo>
                <a:lnTo>
                  <a:pt x="1803228" y="4521201"/>
                </a:lnTo>
                <a:close/>
                <a:moveTo>
                  <a:pt x="0" y="0"/>
                </a:moveTo>
                <a:lnTo>
                  <a:pt x="379987" y="0"/>
                </a:lnTo>
                <a:lnTo>
                  <a:pt x="0" y="407"/>
                </a:lnTo>
                <a:close/>
              </a:path>
            </a:pathLst>
          </a:custGeom>
        </p:spPr>
      </p:pic>
      <p:sp>
        <p:nvSpPr>
          <p:cNvPr id="2" name="Title 1">
            <a:extLst>
              <a:ext uri="{FF2B5EF4-FFF2-40B4-BE49-F238E27FC236}">
                <a16:creationId xmlns:a16="http://schemas.microsoft.com/office/drawing/2014/main" id="{F77BAF64-BFE8-4FC5-ABD5-FE7E633569FF}"/>
              </a:ext>
            </a:extLst>
          </p:cNvPr>
          <p:cNvSpPr>
            <a:spLocks noGrp="1"/>
          </p:cNvSpPr>
          <p:nvPr>
            <p:ph type="title"/>
          </p:nvPr>
        </p:nvSpPr>
        <p:spPr>
          <a:xfrm>
            <a:off x="507999" y="609600"/>
            <a:ext cx="2888343" cy="1320800"/>
          </a:xfrm>
        </p:spPr>
        <p:txBody>
          <a:bodyPr>
            <a:normAutofit/>
          </a:bodyPr>
          <a:lstStyle/>
          <a:p>
            <a:pPr>
              <a:lnSpc>
                <a:spcPct val="90000"/>
              </a:lnSpc>
            </a:pPr>
            <a:r>
              <a:rPr lang="en-US" sz="2500"/>
              <a:t>Common Failure: </a:t>
            </a:r>
            <a:br>
              <a:rPr lang="en-US" sz="2500"/>
            </a:br>
            <a:r>
              <a:rPr lang="en-US" sz="2500"/>
              <a:t>Working But Unexplained</a:t>
            </a:r>
          </a:p>
        </p:txBody>
      </p:sp>
      <p:sp>
        <p:nvSpPr>
          <p:cNvPr id="3" name="Content Placeholder 2">
            <a:extLst>
              <a:ext uri="{FF2B5EF4-FFF2-40B4-BE49-F238E27FC236}">
                <a16:creationId xmlns:a16="http://schemas.microsoft.com/office/drawing/2014/main" id="{8994F579-6F40-F0E4-3BC6-5A0247D949B2}"/>
              </a:ext>
            </a:extLst>
          </p:cNvPr>
          <p:cNvSpPr>
            <a:spLocks noGrp="1"/>
          </p:cNvSpPr>
          <p:nvPr>
            <p:ph idx="1"/>
          </p:nvPr>
        </p:nvSpPr>
        <p:spPr>
          <a:xfrm>
            <a:off x="508000" y="2160589"/>
            <a:ext cx="2888342" cy="3880773"/>
          </a:xfrm>
        </p:spPr>
        <p:txBody>
          <a:bodyPr>
            <a:normAutofit/>
          </a:bodyPr>
          <a:lstStyle/>
          <a:p>
            <a:r>
              <a:rPr lang="en-US" dirty="0"/>
              <a:t>Code that runs is not the whole goal.</a:t>
            </a:r>
          </a:p>
          <a:p>
            <a:endParaRPr lang="en-US" dirty="0"/>
          </a:p>
          <a:p>
            <a:r>
              <a:rPr lang="en-US" dirty="0"/>
              <a:t>You also need to explain what values the program uses and what output it creates.</a:t>
            </a:r>
          </a:p>
        </p:txBody>
      </p:sp>
      <p:cxnSp>
        <p:nvCxnSpPr>
          <p:cNvPr id="40" name="Straight Connector 39">
            <a:extLst>
              <a:ext uri="{FF2B5EF4-FFF2-40B4-BE49-F238E27FC236}">
                <a16:creationId xmlns:a16="http://schemas.microsoft.com/office/drawing/2014/main" id="{64FA5DFF-7FE6-4855-84E6-DFA78EE978B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028259" y="0"/>
            <a:ext cx="9144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2AFD8CBA-54A3-4363-991B-B9C631BBFA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568950" y="3681413"/>
            <a:ext cx="357266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44" name="Rectangle 23">
            <a:extLst>
              <a:ext uri="{FF2B5EF4-FFF2-40B4-BE49-F238E27FC236}">
                <a16:creationId xmlns:a16="http://schemas.microsoft.com/office/drawing/2014/main" id="{3F088236-D655-4F88-B238-E167623580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107" y="-8467"/>
            <a:ext cx="2255511"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6" name="Rectangle 25">
            <a:extLst>
              <a:ext uri="{FF2B5EF4-FFF2-40B4-BE49-F238E27FC236}">
                <a16:creationId xmlns:a16="http://schemas.microsoft.com/office/drawing/2014/main" id="{3DAC0C92-199E-475C-9390-119A9B027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02581" y="-8467"/>
            <a:ext cx="1941419"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8" name="Isosceles Triangle 24">
            <a:extLst>
              <a:ext uri="{FF2B5EF4-FFF2-40B4-BE49-F238E27FC236}">
                <a16:creationId xmlns:a16="http://schemas.microsoft.com/office/drawing/2014/main" id="{C4CFB339-0ED8-4FE2-9EF1-6D1375B849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9249" y="3048000"/>
            <a:ext cx="2444751"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0" name="Rectangle 27">
            <a:extLst>
              <a:ext uri="{FF2B5EF4-FFF2-40B4-BE49-F238E27FC236}">
                <a16:creationId xmlns:a16="http://schemas.microsoft.com/office/drawing/2014/main" id="{31896C80-2069-4431-9C19-83B9137344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000875" y="-8467"/>
            <a:ext cx="2140744"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47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2" name="Rectangle 28">
            <a:extLst>
              <a:ext uri="{FF2B5EF4-FFF2-40B4-BE49-F238E27FC236}">
                <a16:creationId xmlns:a16="http://schemas.microsoft.com/office/drawing/2014/main" id="{BF120A21-0841-4823-B0C4-28AEBCEF9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74047" y="-8467"/>
            <a:ext cx="967571"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4" name="Rectangle 29">
            <a:extLst>
              <a:ext uri="{FF2B5EF4-FFF2-40B4-BE49-F238E27FC236}">
                <a16:creationId xmlns:a16="http://schemas.microsoft.com/office/drawing/2014/main" id="{DBB05BAE-BBD3-4289-899F-A6851503C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4249" y="-8467"/>
            <a:ext cx="937369"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56" name="Isosceles Triangle 29">
            <a:extLst>
              <a:ext uri="{FF2B5EF4-FFF2-40B4-BE49-F238E27FC236}">
                <a16:creationId xmlns:a16="http://schemas.microsoft.com/office/drawing/2014/main" id="{9874D11C-36F5-4BBE-A490-019A54E953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778749" y="3589867"/>
            <a:ext cx="136286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4" name="TextBox 3">
            <a:extLst>
              <a:ext uri="{FF2B5EF4-FFF2-40B4-BE49-F238E27FC236}">
                <a16:creationId xmlns:a16="http://schemas.microsoft.com/office/drawing/2014/main" id="{47F3D433-F1F7-FA20-B858-06B356898D6B}"/>
              </a:ext>
            </a:extLst>
          </p:cNvPr>
          <p:cNvSpPr txBox="1"/>
          <p:nvPr/>
        </p:nvSpPr>
        <p:spPr>
          <a:xfrm>
            <a:off x="6602920" y="6870700"/>
            <a:ext cx="2541080" cy="200055"/>
          </a:xfrm>
          <a:prstGeom prst="rect">
            <a:avLst/>
          </a:prstGeom>
          <a:solidFill>
            <a:srgbClr val="000000"/>
          </a:solidFill>
        </p:spPr>
        <p:txBody>
          <a:bodyPr wrap="none" rtlCol="0">
            <a:spAutoFit/>
          </a:bodyPr>
          <a:lstStyle/>
          <a:p>
            <a:pPr algn="r">
              <a:spcAft>
                <a:spcPts val="600"/>
              </a:spcAft>
            </a:pPr>
            <a:r>
              <a:rPr lang="en-US" sz="700">
                <a:solidFill>
                  <a:srgbClr val="FFFFFF"/>
                </a:solidFill>
                <a:hlinkClick r:id="rId4" tooltip="https://scarfedigitalsandbox.teach.educ.ubc.ca/explain-everything-lapplication-du-tableau-blanc-interactif/">
                  <a:extLst>
                    <a:ext uri="{A12FA001-AC4F-418D-AE19-62706E023703}">
                      <ahyp:hlinkClr xmlns:ahyp="http://schemas.microsoft.com/office/drawing/2018/hyperlinkcolor" val="tx"/>
                    </a:ext>
                  </a:extLst>
                </a:hlinkClick>
              </a:rPr>
              <a:t>This Photo</a:t>
            </a:r>
            <a:r>
              <a:rPr lang="en-US" sz="700">
                <a:solidFill>
                  <a:srgbClr val="FFFFFF"/>
                </a:solidFill>
              </a:rPr>
              <a:t> by Unknown Author is licensed under </a:t>
            </a:r>
            <a:r>
              <a:rPr lang="en-US" sz="700">
                <a:solidFill>
                  <a:srgbClr val="FFFFFF"/>
                </a:solidFill>
                <a:hlinkClick r:id="rId5" tooltip="https://creativecommons.org/licenses/by-nc/3.0/">
                  <a:extLst>
                    <a:ext uri="{A12FA001-AC4F-418D-AE19-62706E023703}">
                      <ahyp:hlinkClr xmlns:ahyp="http://schemas.microsoft.com/office/drawing/2018/hyperlinkcolor" val="tx"/>
                    </a:ext>
                  </a:extLst>
                </a:hlinkClick>
              </a:rPr>
              <a:t>CC BY-NC</a:t>
            </a:r>
            <a:endParaRPr lang="en-US" sz="700">
              <a:solidFill>
                <a:srgbClr val="FFFFFF"/>
              </a:solidFill>
            </a:endParaRPr>
          </a:p>
        </p:txBody>
      </p:sp>
    </p:spTree>
    <p:extLst>
      <p:ext uri="{BB962C8B-B14F-4D97-AF65-F5344CB8AC3E}">
        <p14:creationId xmlns:p14="http://schemas.microsoft.com/office/powerpoint/2010/main" val="8504447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AF827-0A5A-D6D9-6C73-5ACE22424AF2}"/>
              </a:ext>
            </a:extLst>
          </p:cNvPr>
          <p:cNvSpPr>
            <a:spLocks noGrp="1"/>
          </p:cNvSpPr>
          <p:nvPr>
            <p:ph type="title"/>
          </p:nvPr>
        </p:nvSpPr>
        <p:spPr>
          <a:xfrm>
            <a:off x="4152550" y="609600"/>
            <a:ext cx="2802951" cy="1320800"/>
          </a:xfrm>
        </p:spPr>
        <p:txBody>
          <a:bodyPr>
            <a:normAutofit fontScale="90000"/>
          </a:bodyPr>
          <a:lstStyle/>
          <a:p>
            <a:r>
              <a:rPr lang="en-US" dirty="0"/>
              <a:t>From Demo to Assignment</a:t>
            </a:r>
          </a:p>
        </p:txBody>
      </p:sp>
      <p:sp>
        <p:nvSpPr>
          <p:cNvPr id="3" name="Content Placeholder 2">
            <a:extLst>
              <a:ext uri="{FF2B5EF4-FFF2-40B4-BE49-F238E27FC236}">
                <a16:creationId xmlns:a16="http://schemas.microsoft.com/office/drawing/2014/main" id="{B08E31B9-CEED-D579-BC3C-E6F2B784D1BE}"/>
              </a:ext>
            </a:extLst>
          </p:cNvPr>
          <p:cNvSpPr>
            <a:spLocks noGrp="1"/>
          </p:cNvSpPr>
          <p:nvPr>
            <p:ph idx="1"/>
          </p:nvPr>
        </p:nvSpPr>
        <p:spPr>
          <a:xfrm>
            <a:off x="3907172" y="2160589"/>
            <a:ext cx="3048329" cy="3880773"/>
          </a:xfrm>
        </p:spPr>
        <p:txBody>
          <a:bodyPr>
            <a:normAutofit/>
          </a:bodyPr>
          <a:lstStyle/>
          <a:p>
            <a:pPr marL="0" indent="0">
              <a:buNone/>
            </a:pPr>
            <a:r>
              <a:rPr lang="en-US" dirty="0"/>
              <a:t>For Assignment 1:</a:t>
            </a:r>
          </a:p>
          <a:p>
            <a:r>
              <a:rPr lang="en-US" dirty="0"/>
              <a:t>Finish two or three tiny programs.</a:t>
            </a:r>
          </a:p>
          <a:p>
            <a:r>
              <a:rPr lang="en-US" dirty="0"/>
              <a:t>Each program should run, show output, and make sense when you explain it.</a:t>
            </a:r>
          </a:p>
        </p:txBody>
      </p:sp>
      <p:pic>
        <p:nvPicPr>
          <p:cNvPr id="5" name="Picture 4">
            <a:extLst>
              <a:ext uri="{FF2B5EF4-FFF2-40B4-BE49-F238E27FC236}">
                <a16:creationId xmlns:a16="http://schemas.microsoft.com/office/drawing/2014/main" id="{5406C1C5-46D3-5662-C887-3DA2319E776C}"/>
              </a:ext>
              <a:ext uri="{C183D7F6-B498-43B3-948B-1728B52AA6E4}">
                <adec:decorative xmlns:adec="http://schemas.microsoft.com/office/drawing/2017/decorative" val="1"/>
              </a:ext>
            </a:extLst>
          </p:cNvPr>
          <p:cNvPicPr>
            <a:picLocks noChangeAspect="1"/>
          </p:cNvPicPr>
          <p:nvPr/>
        </p:nvPicPr>
        <p:blipFill>
          <a:blip r:embed="rId3"/>
          <a:srcRect l="51361" r="4389"/>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10" name="Isosceles Triangle 9">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347200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A6175-141F-2613-3D9A-5D247F75472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5A31559-162B-D5D5-28F7-5753EE99C450}"/>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Assignment Completion</a:t>
            </a:r>
          </a:p>
        </p:txBody>
      </p:sp>
      <p:pic>
        <p:nvPicPr>
          <p:cNvPr id="5" name="Picture Placeholder 4" descr="Screenshot of a completed programming assignment showing three Python files named greeting.py, calculator.py, and converter.py, each with a green checkmark and corresponding output examples like &quot;Hello, Riley!&quot;, &quot;7 + 5 = 12&quot;, and &quot;3 miles = 1.95&quot;. The layout includes Python icons next to file names, output labels in blue text, and a highlighted note stating &quot;Two or three tiny programs that run and make sense.&quot;">
            <a:extLst>
              <a:ext uri="{FF2B5EF4-FFF2-40B4-BE49-F238E27FC236}">
                <a16:creationId xmlns:a16="http://schemas.microsoft.com/office/drawing/2014/main" id="{3F646139-5E79-EB64-54B4-4C6E110517D4}"/>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2721260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D38BDB-E256-8E83-48FF-054389FFE2B9}"/>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41A8D80-F6DC-B33A-300A-6F2E65207C41}"/>
              </a:ext>
            </a:extLst>
          </p:cNvPr>
          <p:cNvSpPr>
            <a:spLocks noGrp="1"/>
          </p:cNvSpPr>
          <p:nvPr>
            <p:ph type="title"/>
          </p:nvPr>
        </p:nvSpPr>
        <p:spPr>
          <a:xfrm>
            <a:off x="739476" y="4750526"/>
            <a:ext cx="6216024" cy="1096648"/>
          </a:xfrm>
        </p:spPr>
        <p:txBody>
          <a:bodyPr vert="horz" lIns="91440" tIns="45720" rIns="91440" bIns="45720" rtlCol="0" anchor="b">
            <a:normAutofit/>
          </a:bodyPr>
          <a:lstStyle/>
          <a:p>
            <a:r>
              <a:rPr lang="en-US" sz="4200" dirty="0"/>
              <a:t>Assignment Evidence</a:t>
            </a:r>
          </a:p>
        </p:txBody>
      </p:sp>
      <p:pic>
        <p:nvPicPr>
          <p:cNvPr id="5" name="Picture Placeholder 4" descr="Diagram illustrating &quot;Assignment 1: Beginner Evidence&quot; with three sections: .py files (greeting.py, calculator.py, converter.py), readable output examples (&quot;Hello, Riley!&quot;, &quot;7 + 5 = 12&quot;, &quot;3 miles = 1.95&quot;), and a short explanation note describing program functions. The bottom shows a formula combining code, output, and explanation represented by icons for .py file, terminal output, and note, emphasizing clear demonstration of program functionality.">
            <a:extLst>
              <a:ext uri="{FF2B5EF4-FFF2-40B4-BE49-F238E27FC236}">
                <a16:creationId xmlns:a16="http://schemas.microsoft.com/office/drawing/2014/main" id="{9BE0F423-31BD-5C45-7351-7AFE0C3D3820}"/>
              </a:ext>
            </a:extLst>
          </p:cNvPr>
          <p:cNvPicPr>
            <a:picLocks noGrp="1" noChangeAspect="1"/>
          </p:cNvPicPr>
          <p:nvPr>
            <p:ph type="pic" idx="1"/>
          </p:nvPr>
        </p:nvPicPr>
        <p:blipFill>
          <a:blip r:embed="rId3"/>
          <a:srcRect t="1786" b="1786"/>
          <a:stretch>
            <a:fillRect/>
          </a:stretch>
        </p:blipFill>
        <p:spPr>
          <a:xfrm>
            <a:off x="609600" y="609600"/>
            <a:ext cx="6400800" cy="4114800"/>
          </a:xfrm>
          <a:prstGeom prst="rect">
            <a:avLst/>
          </a:prstGeom>
        </p:spPr>
      </p:pic>
    </p:spTree>
    <p:extLst>
      <p:ext uri="{BB962C8B-B14F-4D97-AF65-F5344CB8AC3E}">
        <p14:creationId xmlns:p14="http://schemas.microsoft.com/office/powerpoint/2010/main" val="3928094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E9555-1E16-8E8B-E548-105BA59C0BD8}"/>
              </a:ext>
            </a:extLst>
          </p:cNvPr>
          <p:cNvSpPr>
            <a:spLocks noGrp="1"/>
          </p:cNvSpPr>
          <p:nvPr>
            <p:ph type="title"/>
          </p:nvPr>
        </p:nvSpPr>
        <p:spPr>
          <a:xfrm>
            <a:off x="4152550" y="609600"/>
            <a:ext cx="2802951" cy="1320800"/>
          </a:xfrm>
        </p:spPr>
        <p:txBody>
          <a:bodyPr>
            <a:normAutofit/>
          </a:bodyPr>
          <a:lstStyle/>
          <a:p>
            <a:pPr>
              <a:lnSpc>
                <a:spcPct val="90000"/>
              </a:lnSpc>
            </a:pPr>
            <a:r>
              <a:rPr lang="en-US" sz="3100" dirty="0"/>
              <a:t>Lab 0n Success Check</a:t>
            </a:r>
          </a:p>
        </p:txBody>
      </p:sp>
      <p:sp>
        <p:nvSpPr>
          <p:cNvPr id="3" name="Content Placeholder 2">
            <a:extLst>
              <a:ext uri="{FF2B5EF4-FFF2-40B4-BE49-F238E27FC236}">
                <a16:creationId xmlns:a16="http://schemas.microsoft.com/office/drawing/2014/main" id="{77AFF21A-F8C1-15AA-C705-4530AE58A074}"/>
              </a:ext>
            </a:extLst>
          </p:cNvPr>
          <p:cNvSpPr>
            <a:spLocks noGrp="1"/>
          </p:cNvSpPr>
          <p:nvPr>
            <p:ph idx="1"/>
          </p:nvPr>
        </p:nvSpPr>
        <p:spPr>
          <a:xfrm>
            <a:off x="3907172" y="2160589"/>
            <a:ext cx="3048329" cy="3880773"/>
          </a:xfrm>
        </p:spPr>
        <p:txBody>
          <a:bodyPr>
            <a:normAutofit fontScale="92500" lnSpcReduction="10000"/>
          </a:bodyPr>
          <a:lstStyle/>
          <a:p>
            <a:r>
              <a:rPr lang="en-US" dirty="0"/>
              <a:t>Week 1 worked if your small programs run and you can explain them.</a:t>
            </a:r>
          </a:p>
          <a:p>
            <a:r>
              <a:rPr lang="en-US" dirty="0"/>
              <a:t>Understanding what the code is doing:</a:t>
            </a:r>
          </a:p>
          <a:p>
            <a:pPr lvl="1">
              <a:buFont typeface="Wingdings" panose="05000000000000000000" pitchFamily="2" charset="2"/>
              <a:buChar char="Ø"/>
            </a:pPr>
            <a:r>
              <a:rPr lang="en-US" dirty="0">
                <a:solidFill>
                  <a:schemeClr val="tx1"/>
                </a:solidFill>
              </a:rPr>
              <a:t>What values does (each) program use?</a:t>
            </a:r>
          </a:p>
          <a:p>
            <a:pPr lvl="1">
              <a:buFont typeface="Wingdings" panose="05000000000000000000" pitchFamily="2" charset="2"/>
              <a:buChar char="Ø"/>
            </a:pPr>
            <a:r>
              <a:rPr lang="en-US" dirty="0">
                <a:solidFill>
                  <a:schemeClr val="tx1"/>
                </a:solidFill>
              </a:rPr>
              <a:t>What output does it produce?</a:t>
            </a:r>
          </a:p>
          <a:p>
            <a:pPr lvl="1">
              <a:buFont typeface="Wingdings" panose="05000000000000000000" pitchFamily="2" charset="2"/>
              <a:buChar char="Ø"/>
            </a:pPr>
            <a:r>
              <a:rPr lang="en-US" dirty="0">
                <a:solidFill>
                  <a:schemeClr val="tx1"/>
                </a:solidFill>
              </a:rPr>
              <a:t>Where does a value change?</a:t>
            </a:r>
          </a:p>
          <a:p>
            <a:pPr lvl="1">
              <a:buFont typeface="Wingdings" panose="05000000000000000000" pitchFamily="2" charset="2"/>
              <a:buChar char="Ø"/>
            </a:pPr>
            <a:r>
              <a:rPr lang="en-US" dirty="0">
                <a:solidFill>
                  <a:schemeClr val="tx1"/>
                </a:solidFill>
              </a:rPr>
              <a:t>Could you explain this script line by line to someone else?</a:t>
            </a:r>
          </a:p>
          <a:p>
            <a:endParaRPr lang="en-US" dirty="0"/>
          </a:p>
        </p:txBody>
      </p:sp>
      <p:pic>
        <p:nvPicPr>
          <p:cNvPr id="5" name="Picture 4">
            <a:extLst>
              <a:ext uri="{FF2B5EF4-FFF2-40B4-BE49-F238E27FC236}">
                <a16:creationId xmlns:a16="http://schemas.microsoft.com/office/drawing/2014/main" id="{255A690D-4CB8-0C66-184B-33949F8D651C}"/>
              </a:ext>
              <a:ext uri="{C183D7F6-B498-43B3-948B-1728B52AA6E4}">
                <adec:decorative xmlns:adec="http://schemas.microsoft.com/office/drawing/2017/decorative" val="1"/>
              </a:ext>
            </a:extLst>
          </p:cNvPr>
          <p:cNvPicPr>
            <a:picLocks noChangeAspect="1"/>
          </p:cNvPicPr>
          <p:nvPr/>
        </p:nvPicPr>
        <p:blipFill>
          <a:blip r:embed="rId3"/>
          <a:srcRect l="36287" r="24330" b="-2"/>
          <a:stretch>
            <a:fillRect/>
          </a:stretch>
        </p:blipFill>
        <p:spPr>
          <a:xfrm>
            <a:off x="20" y="-1"/>
            <a:ext cx="4046200" cy="6858001"/>
          </a:xfrm>
          <a:custGeom>
            <a:avLst/>
            <a:gdLst/>
            <a:ahLst/>
            <a:cxnLst/>
            <a:rect l="l" t="t" r="r" b="b"/>
            <a:pathLst>
              <a:path w="5394960" h="6858000">
                <a:moveTo>
                  <a:pt x="842596" y="0"/>
                </a:moveTo>
                <a:lnTo>
                  <a:pt x="5394960" y="0"/>
                </a:lnTo>
                <a:lnTo>
                  <a:pt x="5394960" y="21851"/>
                </a:lnTo>
                <a:lnTo>
                  <a:pt x="4365943" y="6858000"/>
                </a:lnTo>
                <a:lnTo>
                  <a:pt x="0" y="6858000"/>
                </a:lnTo>
                <a:lnTo>
                  <a:pt x="0" y="5666154"/>
                </a:lnTo>
                <a:close/>
              </a:path>
            </a:pathLst>
          </a:custGeom>
        </p:spPr>
      </p:pic>
      <p:sp>
        <p:nvSpPr>
          <p:cNvPr id="9" name="Isosceles Triangle 8">
            <a:extLst>
              <a:ext uri="{FF2B5EF4-FFF2-40B4-BE49-F238E27FC236}">
                <a16:creationId xmlns:a16="http://schemas.microsoft.com/office/drawing/2014/main" id="{3BCB5F6A-9EB0-40B0-9D13-3023E9A205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631947" cy="5666154"/>
          </a:xfrm>
          <a:prstGeom prst="triangle">
            <a:avLst>
              <a:gd name="adj" fmla="val 10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Tree>
    <p:extLst>
      <p:ext uri="{BB962C8B-B14F-4D97-AF65-F5344CB8AC3E}">
        <p14:creationId xmlns:p14="http://schemas.microsoft.com/office/powerpoint/2010/main" val="408951316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E09B7E24-271E-4A3A-9D65-EE95ED9723D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9144001" cy="6866467"/>
            <a:chOff x="0" y="-8467"/>
            <a:chExt cx="12192000" cy="6866467"/>
          </a:xfrm>
        </p:grpSpPr>
        <p:cxnSp>
          <p:nvCxnSpPr>
            <p:cNvPr id="13" name="Straight Connector 12">
              <a:extLst>
                <a:ext uri="{FF2B5EF4-FFF2-40B4-BE49-F238E27FC236}">
                  <a16:creationId xmlns:a16="http://schemas.microsoft.com/office/drawing/2014/main" id="{45C59434-03B2-4F06-8362-A01DD785E20B}"/>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4FDF3815-C9F7-4B9E-A371-DE71C4E9D178}"/>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5" name="Rectangle 23">
              <a:extLst>
                <a:ext uri="{FF2B5EF4-FFF2-40B4-BE49-F238E27FC236}">
                  <a16:creationId xmlns:a16="http://schemas.microsoft.com/office/drawing/2014/main" id="{34C30A41-6D9F-42F2-BE4A-B6D2E44007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6" name="Rectangle 25">
              <a:extLst>
                <a:ext uri="{FF2B5EF4-FFF2-40B4-BE49-F238E27FC236}">
                  <a16:creationId xmlns:a16="http://schemas.microsoft.com/office/drawing/2014/main" id="{8577AE11-EC00-4E67-9DDD-624E9DA123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7" name="Isosceles Triangle 16">
              <a:extLst>
                <a:ext uri="{FF2B5EF4-FFF2-40B4-BE49-F238E27FC236}">
                  <a16:creationId xmlns:a16="http://schemas.microsoft.com/office/drawing/2014/main" id="{406A24DE-7A6F-4459-9A79-712243D200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8" name="Rectangle 27">
              <a:extLst>
                <a:ext uri="{FF2B5EF4-FFF2-40B4-BE49-F238E27FC236}">
                  <a16:creationId xmlns:a16="http://schemas.microsoft.com/office/drawing/2014/main" id="{BFEBE697-7D77-4AC8-8E68-0483B47DFB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Rectangle 28">
              <a:extLst>
                <a:ext uri="{FF2B5EF4-FFF2-40B4-BE49-F238E27FC236}">
                  <a16:creationId xmlns:a16="http://schemas.microsoft.com/office/drawing/2014/main" id="{49FC7B15-C721-4A23-8F6A-2CFA77C614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0" name="Rectangle 29">
              <a:extLst>
                <a:ext uri="{FF2B5EF4-FFF2-40B4-BE49-F238E27FC236}">
                  <a16:creationId xmlns:a16="http://schemas.microsoft.com/office/drawing/2014/main" id="{164E8ACB-FC50-451D-AF0A-879ABC6EA6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lumMod val="50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1" name="Isosceles Triangle 20">
              <a:extLst>
                <a:ext uri="{FF2B5EF4-FFF2-40B4-BE49-F238E27FC236}">
                  <a16:creationId xmlns:a16="http://schemas.microsoft.com/office/drawing/2014/main" id="{D5F354A0-F0C9-4254-A913-DD68E78161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50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2" name="Isosceles Triangle 21">
              <a:extLst>
                <a:ext uri="{FF2B5EF4-FFF2-40B4-BE49-F238E27FC236}">
                  <a16:creationId xmlns:a16="http://schemas.microsoft.com/office/drawing/2014/main" id="{9B01B525-8D81-44A3-BC1F-C711B89D23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4" name="Title 3">
            <a:extLst>
              <a:ext uri="{FF2B5EF4-FFF2-40B4-BE49-F238E27FC236}">
                <a16:creationId xmlns:a16="http://schemas.microsoft.com/office/drawing/2014/main" id="{B291DAF8-8CBA-95A1-BEA8-AAD0C09C5642}"/>
              </a:ext>
            </a:extLst>
          </p:cNvPr>
          <p:cNvSpPr>
            <a:spLocks noGrp="1"/>
          </p:cNvSpPr>
          <p:nvPr>
            <p:ph type="title"/>
          </p:nvPr>
        </p:nvSpPr>
        <p:spPr>
          <a:xfrm>
            <a:off x="3730752" y="1265314"/>
            <a:ext cx="3572668" cy="3249131"/>
          </a:xfrm>
        </p:spPr>
        <p:txBody>
          <a:bodyPr vert="horz" lIns="91440" tIns="45720" rIns="91440" bIns="45720" rtlCol="0" anchor="b">
            <a:normAutofit/>
          </a:bodyPr>
          <a:lstStyle/>
          <a:p>
            <a:pPr>
              <a:lnSpc>
                <a:spcPct val="90000"/>
              </a:lnSpc>
            </a:pPr>
            <a:r>
              <a:rPr lang="en-US" sz="4800" dirty="0"/>
              <a:t>Thank you!</a:t>
            </a:r>
            <a:br>
              <a:rPr lang="en-US" sz="4800" dirty="0"/>
            </a:br>
            <a:br>
              <a:rPr lang="en-US" sz="4800" dirty="0"/>
            </a:br>
            <a:r>
              <a:rPr lang="en-US" sz="4800" dirty="0"/>
              <a:t>Have Fun!</a:t>
            </a:r>
          </a:p>
        </p:txBody>
      </p:sp>
      <p:sp>
        <p:nvSpPr>
          <p:cNvPr id="5" name="Text Placeholder 4">
            <a:extLst>
              <a:ext uri="{FF2B5EF4-FFF2-40B4-BE49-F238E27FC236}">
                <a16:creationId xmlns:a16="http://schemas.microsoft.com/office/drawing/2014/main" id="{8FE61A93-6BD2-677B-DBB4-F66B15926039}"/>
              </a:ext>
            </a:extLst>
          </p:cNvPr>
          <p:cNvSpPr>
            <a:spLocks noGrp="1"/>
          </p:cNvSpPr>
          <p:nvPr>
            <p:ph type="body" idx="1"/>
          </p:nvPr>
        </p:nvSpPr>
        <p:spPr>
          <a:xfrm>
            <a:off x="3730752" y="4514446"/>
            <a:ext cx="3224749" cy="871042"/>
          </a:xfrm>
        </p:spPr>
        <p:txBody>
          <a:bodyPr vert="horz" lIns="91440" tIns="45720" rIns="91440" bIns="45720" rtlCol="0" anchor="t">
            <a:normAutofit/>
          </a:bodyPr>
          <a:lstStyle/>
          <a:p>
            <a:endParaRPr lang="en-US" sz="1800"/>
          </a:p>
        </p:txBody>
      </p:sp>
      <p:sp>
        <p:nvSpPr>
          <p:cNvPr id="24" name="Isosceles Triangle 23">
            <a:extLst>
              <a:ext uri="{FF2B5EF4-FFF2-40B4-BE49-F238E27FC236}">
                <a16:creationId xmlns:a16="http://schemas.microsoft.com/office/drawing/2014/main" id="{ADC5C86B-28CE-4597-97B7-4C09E20141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380" y="12700"/>
            <a:ext cx="631947"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pic>
        <p:nvPicPr>
          <p:cNvPr id="9" name="Graphic 8" descr="Thumbs Up Sign">
            <a:extLst>
              <a:ext uri="{FF2B5EF4-FFF2-40B4-BE49-F238E27FC236}">
                <a16:creationId xmlns:a16="http://schemas.microsoft.com/office/drawing/2014/main" id="{CD1A5982-49F4-6629-1884-3B7061C5B5F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6453" y="2020850"/>
            <a:ext cx="2824269" cy="2824269"/>
          </a:xfrm>
          <a:prstGeom prst="rect">
            <a:avLst/>
          </a:prstGeom>
        </p:spPr>
      </p:pic>
    </p:spTree>
    <p:extLst>
      <p:ext uri="{BB962C8B-B14F-4D97-AF65-F5344CB8AC3E}">
        <p14:creationId xmlns:p14="http://schemas.microsoft.com/office/powerpoint/2010/main" val="842682234"/>
      </p:ext>
    </p:extLst>
  </p:cSld>
  <p:clrMapOvr>
    <a:masterClrMapping/>
  </p:clrMapOvr>
</p:sld>
</file>

<file path=ppt/theme/theme1.xml><?xml version="1.0" encoding="utf-8"?>
<a:theme xmlns:a="http://schemas.openxmlformats.org/drawingml/2006/main" name="Facet">
  <a:themeElements>
    <a:clrScheme name="Southwest Tech">
      <a:dk1>
        <a:srgbClr val="0B4F8A"/>
      </a:dk1>
      <a:lt1>
        <a:sysClr val="window" lastClr="FFFFFF"/>
      </a:lt1>
      <a:dk2>
        <a:srgbClr val="6F6F6F"/>
      </a:dk2>
      <a:lt2>
        <a:srgbClr val="F4F6F8"/>
      </a:lt2>
      <a:accent1>
        <a:srgbClr val="0B4F8A"/>
      </a:accent1>
      <a:accent2>
        <a:srgbClr val="2E73B8"/>
      </a:accent2>
      <a:accent3>
        <a:srgbClr val="F2B705"/>
      </a:accent3>
      <a:accent4>
        <a:srgbClr val="6F6F6F"/>
      </a:accent4>
      <a:accent5>
        <a:srgbClr val="2E73B8"/>
      </a:accent5>
      <a:accent6>
        <a:srgbClr val="F2B705"/>
      </a:accent6>
      <a:hlink>
        <a:srgbClr val="2E73B8"/>
      </a:hlink>
      <a:folHlink>
        <a:srgbClr val="0B4F8A"/>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23659B44-6E34-4CE8-8F0D-387DA799682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TM02900688[[fn=Facet]]</Template>
  <TotalTime>9308</TotalTime>
  <Words>2309</Words>
  <Application>Microsoft Office PowerPoint</Application>
  <PresentationFormat>On-screen Show (4:3)</PresentationFormat>
  <Paragraphs>329</Paragraphs>
  <Slides>30</Slides>
  <Notes>30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Arial</vt:lpstr>
      <vt:lpstr>Trebuchet MS</vt:lpstr>
      <vt:lpstr>Wingdings</vt:lpstr>
      <vt:lpstr>Wingdings 3</vt:lpstr>
      <vt:lpstr>Facet</vt:lpstr>
      <vt:lpstr>Python Programming Foundations</vt:lpstr>
      <vt:lpstr>Put The Pieces Together</vt:lpstr>
      <vt:lpstr>Quick Review</vt:lpstr>
      <vt:lpstr>What Counts as Success Today</vt:lpstr>
      <vt:lpstr>What We Will Use Today</vt:lpstr>
      <vt:lpstr>Working Set</vt:lpstr>
      <vt:lpstr>What to “Skip” for Now</vt:lpstr>
      <vt:lpstr>PowerPoint Presentation</vt:lpstr>
      <vt:lpstr>Combine Values Carefully</vt:lpstr>
      <vt:lpstr>Type Awareness Through Use</vt:lpstr>
      <vt:lpstr>Type Awareness</vt:lpstr>
      <vt:lpstr>Explain Every Main Line</vt:lpstr>
      <vt:lpstr>Demo #1</vt:lpstr>
      <vt:lpstr>What to watch for</vt:lpstr>
      <vt:lpstr>Type Demo</vt:lpstr>
      <vt:lpstr>Optional Demo #2</vt:lpstr>
      <vt:lpstr>Optional Demo:  Input And Number Conversion</vt:lpstr>
      <vt:lpstr>Typing vs. Copy-Paste</vt:lpstr>
      <vt:lpstr>Learning Move:  Type It When It Is New</vt:lpstr>
      <vt:lpstr>Typing it Out</vt:lpstr>
      <vt:lpstr>Copying and Pasting</vt:lpstr>
      <vt:lpstr>Connection to AI Prompting</vt:lpstr>
      <vt:lpstr>Typing vs Copy-Pasting</vt:lpstr>
      <vt:lpstr>Common Failure:  Too Much Is Too Much</vt:lpstr>
      <vt:lpstr>Common Failure:  Working But Unexplained</vt:lpstr>
      <vt:lpstr>From Demo to Assignment</vt:lpstr>
      <vt:lpstr>Assignment Completion</vt:lpstr>
      <vt:lpstr>Assignment Evidence</vt:lpstr>
      <vt:lpstr>Lab 0n Success Check</vt:lpstr>
      <vt:lpstr>Thank you!  Have Fun!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Cash Myers</dc:creator>
  <cp:keywords/>
  <dc:description>generated using python-pptx</dc:description>
  <cp:lastModifiedBy>Cash Myers</cp:lastModifiedBy>
  <cp:revision>135</cp:revision>
  <cp:lastPrinted>2026-06-10T15:07:30Z</cp:lastPrinted>
  <dcterms:created xsi:type="dcterms:W3CDTF">2013-01-27T09:14:16Z</dcterms:created>
  <dcterms:modified xsi:type="dcterms:W3CDTF">2026-06-16T14:55:20Z</dcterms:modified>
  <cp:category/>
</cp:coreProperties>
</file>