
<file path=[Content_Types].xml><?xml version="1.0" encoding="utf-8"?>
<Types xmlns="http://schemas.openxmlformats.org/package/2006/content-types">
  <Default Extension="1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notesMasterIdLst>
    <p:notesMasterId r:id="rId32"/>
  </p:notesMasterIdLst>
  <p:handoutMasterIdLst>
    <p:handoutMasterId r:id="rId33"/>
  </p:handoutMasterIdLst>
  <p:sldIdLst>
    <p:sldId id="256" r:id="rId2"/>
    <p:sldId id="464" r:id="rId3"/>
    <p:sldId id="466" r:id="rId4"/>
    <p:sldId id="323" r:id="rId5"/>
    <p:sldId id="260" r:id="rId6"/>
    <p:sldId id="467" r:id="rId7"/>
    <p:sldId id="468" r:id="rId8"/>
    <p:sldId id="475" r:id="rId9"/>
    <p:sldId id="476" r:id="rId10"/>
    <p:sldId id="477" r:id="rId11"/>
    <p:sldId id="470" r:id="rId12"/>
    <p:sldId id="478" r:id="rId13"/>
    <p:sldId id="487" r:id="rId14"/>
    <p:sldId id="484" r:id="rId15"/>
    <p:sldId id="471" r:id="rId16"/>
    <p:sldId id="485" r:id="rId17"/>
    <p:sldId id="378" r:id="rId18"/>
    <p:sldId id="491" r:id="rId19"/>
    <p:sldId id="489" r:id="rId20"/>
    <p:sldId id="490" r:id="rId21"/>
    <p:sldId id="493" r:id="rId22"/>
    <p:sldId id="494" r:id="rId23"/>
    <p:sldId id="472" r:id="rId24"/>
    <p:sldId id="495" r:id="rId25"/>
    <p:sldId id="497" r:id="rId26"/>
    <p:sldId id="307" r:id="rId27"/>
    <p:sldId id="473" r:id="rId28"/>
    <p:sldId id="474" r:id="rId29"/>
    <p:sldId id="375" r:id="rId30"/>
    <p:sldId id="320" r:id="rId31"/>
  </p:sldIdLst>
  <p:sldSz cx="9144000" cy="6858000" type="screen4x3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68900" autoAdjust="0"/>
  </p:normalViewPr>
  <p:slideViewPr>
    <p:cSldViewPr snapToGrid="0" snapToObjects="1">
      <p:cViewPr varScale="1">
        <p:scale>
          <a:sx n="64" d="100"/>
          <a:sy n="64" d="100"/>
        </p:scale>
        <p:origin x="2064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15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0" d="100"/>
          <a:sy n="80" d="100"/>
        </p:scale>
        <p:origin x="4002" y="11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image" Target="../media/image21.sv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972B69-4B4F-436A-B547-1FADC4FB29B4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75A4D4B-BFE9-4B6F-9A81-9F9C96F5DA38}">
      <dgm:prSet/>
      <dgm:spPr/>
      <dgm:t>
        <a:bodyPr/>
        <a:lstStyle/>
        <a:p>
          <a:r>
            <a:rPr lang="en-US" dirty="0"/>
            <a:t>NOT a large program</a:t>
          </a:r>
        </a:p>
      </dgm:t>
    </dgm:pt>
    <dgm:pt modelId="{4FAABBF4-AB55-44FE-B6F0-B4BF829D004F}" type="parTrans" cxnId="{7F9DA8A4-8191-4121-8DA1-F0552EB3E440}">
      <dgm:prSet/>
      <dgm:spPr/>
      <dgm:t>
        <a:bodyPr/>
        <a:lstStyle/>
        <a:p>
          <a:endParaRPr lang="en-US"/>
        </a:p>
      </dgm:t>
    </dgm:pt>
    <dgm:pt modelId="{7E1354BB-EC61-4A45-99C9-75C6202CC56A}" type="sibTrans" cxnId="{7F9DA8A4-8191-4121-8DA1-F0552EB3E440}">
      <dgm:prSet/>
      <dgm:spPr/>
      <dgm:t>
        <a:bodyPr/>
        <a:lstStyle/>
        <a:p>
          <a:endParaRPr lang="en-US"/>
        </a:p>
      </dgm:t>
    </dgm:pt>
    <dgm:pt modelId="{85557830-9F6F-45ED-883E-1C95B54D317F}">
      <dgm:prSet/>
      <dgm:spPr/>
      <dgm:t>
        <a:bodyPr/>
        <a:lstStyle/>
        <a:p>
          <a:r>
            <a:rPr lang="en-US" dirty="0"/>
            <a:t>Small Program that:</a:t>
          </a:r>
        </a:p>
      </dgm:t>
    </dgm:pt>
    <dgm:pt modelId="{03207C8A-3730-4475-98B2-BA9719145574}" type="parTrans" cxnId="{08DB17E5-0AC9-4547-BFAD-F8B08937CCC9}">
      <dgm:prSet/>
      <dgm:spPr/>
      <dgm:t>
        <a:bodyPr/>
        <a:lstStyle/>
        <a:p>
          <a:endParaRPr lang="en-US"/>
        </a:p>
      </dgm:t>
    </dgm:pt>
    <dgm:pt modelId="{852E86E0-7E46-4564-8BAF-004FCBD01D6C}" type="sibTrans" cxnId="{08DB17E5-0AC9-4547-BFAD-F8B08937CCC9}">
      <dgm:prSet/>
      <dgm:spPr/>
      <dgm:t>
        <a:bodyPr/>
        <a:lstStyle/>
        <a:p>
          <a:endParaRPr lang="en-US"/>
        </a:p>
      </dgm:t>
    </dgm:pt>
    <dgm:pt modelId="{28CC8EF6-09B2-497D-A474-91973F3DDF46}">
      <dgm:prSet/>
      <dgm:spPr/>
      <dgm:t>
        <a:bodyPr/>
        <a:lstStyle/>
        <a:p>
          <a:r>
            <a:rPr lang="en-US"/>
            <a:t>Runs</a:t>
          </a:r>
          <a:endParaRPr lang="en-US" dirty="0"/>
        </a:p>
      </dgm:t>
    </dgm:pt>
    <dgm:pt modelId="{D11572E8-1FF8-473A-BF42-572611F1EFB3}" type="parTrans" cxnId="{5D025ABF-3EDC-42CC-A280-7394287E55AA}">
      <dgm:prSet/>
      <dgm:spPr/>
      <dgm:t>
        <a:bodyPr/>
        <a:lstStyle/>
        <a:p>
          <a:endParaRPr lang="en-US"/>
        </a:p>
      </dgm:t>
    </dgm:pt>
    <dgm:pt modelId="{FD5619E6-EE22-4FEB-8AC8-BA0D0DB7836B}" type="sibTrans" cxnId="{5D025ABF-3EDC-42CC-A280-7394287E55AA}">
      <dgm:prSet/>
      <dgm:spPr/>
      <dgm:t>
        <a:bodyPr/>
        <a:lstStyle/>
        <a:p>
          <a:endParaRPr lang="en-US"/>
        </a:p>
      </dgm:t>
    </dgm:pt>
    <dgm:pt modelId="{B2A8F814-AD0C-4DF0-B682-3BC6CC654C24}">
      <dgm:prSet/>
      <dgm:spPr/>
      <dgm:t>
        <a:bodyPr/>
        <a:lstStyle/>
        <a:p>
          <a:r>
            <a:rPr lang="en-US"/>
            <a:t>Produces output</a:t>
          </a:r>
          <a:endParaRPr lang="en-US" dirty="0"/>
        </a:p>
      </dgm:t>
    </dgm:pt>
    <dgm:pt modelId="{17848FDB-D365-4E51-B3F1-B1B426BF87F1}" type="parTrans" cxnId="{3180DA75-EB76-447E-9DCB-610E6AEC154A}">
      <dgm:prSet/>
      <dgm:spPr/>
      <dgm:t>
        <a:bodyPr/>
        <a:lstStyle/>
        <a:p>
          <a:endParaRPr lang="en-US"/>
        </a:p>
      </dgm:t>
    </dgm:pt>
    <dgm:pt modelId="{E861FF10-0667-4299-A99E-8B686974A719}" type="sibTrans" cxnId="{3180DA75-EB76-447E-9DCB-610E6AEC154A}">
      <dgm:prSet/>
      <dgm:spPr/>
      <dgm:t>
        <a:bodyPr/>
        <a:lstStyle/>
        <a:p>
          <a:endParaRPr lang="en-US"/>
        </a:p>
      </dgm:t>
    </dgm:pt>
    <dgm:pt modelId="{18190B89-416A-4523-AD4B-6445E9A98567}">
      <dgm:prSet/>
      <dgm:spPr/>
      <dgm:t>
        <a:bodyPr/>
        <a:lstStyle/>
        <a:p>
          <a:r>
            <a:rPr lang="en-US"/>
            <a:t>Can be Explained</a:t>
          </a:r>
          <a:endParaRPr lang="en-US" dirty="0"/>
        </a:p>
      </dgm:t>
    </dgm:pt>
    <dgm:pt modelId="{FF1B7E07-9723-4F84-8F20-7C771A89C927}" type="parTrans" cxnId="{776A1E9D-9C0D-47CF-9A03-0A952073AC46}">
      <dgm:prSet/>
      <dgm:spPr/>
      <dgm:t>
        <a:bodyPr/>
        <a:lstStyle/>
        <a:p>
          <a:endParaRPr lang="en-US"/>
        </a:p>
      </dgm:t>
    </dgm:pt>
    <dgm:pt modelId="{374FB655-8DB6-4770-B82B-9F7BC8B0CD6A}" type="sibTrans" cxnId="{776A1E9D-9C0D-47CF-9A03-0A952073AC46}">
      <dgm:prSet/>
      <dgm:spPr/>
      <dgm:t>
        <a:bodyPr/>
        <a:lstStyle/>
        <a:p>
          <a:endParaRPr lang="en-US"/>
        </a:p>
      </dgm:t>
    </dgm:pt>
    <dgm:pt modelId="{7336779F-ADC4-45E4-9F68-8DE8A2DF24F9}" type="pres">
      <dgm:prSet presAssocID="{A8972B69-4B4F-436A-B547-1FADC4FB29B4}" presName="linear" presStyleCnt="0">
        <dgm:presLayoutVars>
          <dgm:dir/>
          <dgm:animLvl val="lvl"/>
          <dgm:resizeHandles val="exact"/>
        </dgm:presLayoutVars>
      </dgm:prSet>
      <dgm:spPr/>
    </dgm:pt>
    <dgm:pt modelId="{9D35D8A8-7423-44F2-90BA-FDDB4EEF4402}" type="pres">
      <dgm:prSet presAssocID="{A75A4D4B-BFE9-4B6F-9A81-9F9C96F5DA38}" presName="parentLin" presStyleCnt="0"/>
      <dgm:spPr/>
    </dgm:pt>
    <dgm:pt modelId="{8B330473-D8DB-44FE-943D-AF8935E93284}" type="pres">
      <dgm:prSet presAssocID="{A75A4D4B-BFE9-4B6F-9A81-9F9C96F5DA38}" presName="parentLeftMargin" presStyleLbl="node1" presStyleIdx="0" presStyleCnt="2"/>
      <dgm:spPr/>
    </dgm:pt>
    <dgm:pt modelId="{C02A24F1-543D-4BD2-AAF4-154449A41DAD}" type="pres">
      <dgm:prSet presAssocID="{A75A4D4B-BFE9-4B6F-9A81-9F9C96F5DA3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9CEC0E9-2578-4012-B140-DF1D1158A7BA}" type="pres">
      <dgm:prSet presAssocID="{A75A4D4B-BFE9-4B6F-9A81-9F9C96F5DA38}" presName="negativeSpace" presStyleCnt="0"/>
      <dgm:spPr/>
    </dgm:pt>
    <dgm:pt modelId="{B866DC59-1938-4778-967D-67E2B8BEE2C2}" type="pres">
      <dgm:prSet presAssocID="{A75A4D4B-BFE9-4B6F-9A81-9F9C96F5DA38}" presName="childText" presStyleLbl="conFgAcc1" presStyleIdx="0" presStyleCnt="2">
        <dgm:presLayoutVars>
          <dgm:bulletEnabled val="1"/>
        </dgm:presLayoutVars>
      </dgm:prSet>
      <dgm:spPr/>
    </dgm:pt>
    <dgm:pt modelId="{7F3F106E-D5D6-4EC8-8105-A45B53A1B210}" type="pres">
      <dgm:prSet presAssocID="{7E1354BB-EC61-4A45-99C9-75C6202CC56A}" presName="spaceBetweenRectangles" presStyleCnt="0"/>
      <dgm:spPr/>
    </dgm:pt>
    <dgm:pt modelId="{A36078CD-6247-435F-9482-F82415031E9F}" type="pres">
      <dgm:prSet presAssocID="{85557830-9F6F-45ED-883E-1C95B54D317F}" presName="parentLin" presStyleCnt="0"/>
      <dgm:spPr/>
    </dgm:pt>
    <dgm:pt modelId="{894EE8AC-F77D-461A-BC01-B9D8BF678E65}" type="pres">
      <dgm:prSet presAssocID="{85557830-9F6F-45ED-883E-1C95B54D317F}" presName="parentLeftMargin" presStyleLbl="node1" presStyleIdx="0" presStyleCnt="2"/>
      <dgm:spPr/>
    </dgm:pt>
    <dgm:pt modelId="{573F7CC0-32A3-4091-8D3B-0163CF8E340D}" type="pres">
      <dgm:prSet presAssocID="{85557830-9F6F-45ED-883E-1C95B54D317F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7C212DAA-91D4-43F4-B6CC-317765687858}" type="pres">
      <dgm:prSet presAssocID="{85557830-9F6F-45ED-883E-1C95B54D317F}" presName="negativeSpace" presStyleCnt="0"/>
      <dgm:spPr/>
    </dgm:pt>
    <dgm:pt modelId="{F6608AD0-85CB-4277-913F-F7A2C1A11F09}" type="pres">
      <dgm:prSet presAssocID="{85557830-9F6F-45ED-883E-1C95B54D317F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2384A503-F271-4BCF-95CE-2D648CADEE9E}" type="presOf" srcId="{A75A4D4B-BFE9-4B6F-9A81-9F9C96F5DA38}" destId="{C02A24F1-543D-4BD2-AAF4-154449A41DAD}" srcOrd="1" destOrd="0" presId="urn:microsoft.com/office/officeart/2005/8/layout/list1"/>
    <dgm:cxn modelId="{7B473105-9283-475B-8608-660AD7A00C56}" type="presOf" srcId="{A8972B69-4B4F-436A-B547-1FADC4FB29B4}" destId="{7336779F-ADC4-45E4-9F68-8DE8A2DF24F9}" srcOrd="0" destOrd="0" presId="urn:microsoft.com/office/officeart/2005/8/layout/list1"/>
    <dgm:cxn modelId="{16B9F319-AB90-42D8-8B26-251A3FB285DD}" type="presOf" srcId="{28CC8EF6-09B2-497D-A474-91973F3DDF46}" destId="{F6608AD0-85CB-4277-913F-F7A2C1A11F09}" srcOrd="0" destOrd="0" presId="urn:microsoft.com/office/officeart/2005/8/layout/list1"/>
    <dgm:cxn modelId="{08240E28-4CA0-44B9-90B0-AA19170A54A4}" type="presOf" srcId="{A75A4D4B-BFE9-4B6F-9A81-9F9C96F5DA38}" destId="{8B330473-D8DB-44FE-943D-AF8935E93284}" srcOrd="0" destOrd="0" presId="urn:microsoft.com/office/officeart/2005/8/layout/list1"/>
    <dgm:cxn modelId="{3180DA75-EB76-447E-9DCB-610E6AEC154A}" srcId="{85557830-9F6F-45ED-883E-1C95B54D317F}" destId="{B2A8F814-AD0C-4DF0-B682-3BC6CC654C24}" srcOrd="1" destOrd="0" parTransId="{17848FDB-D365-4E51-B3F1-B1B426BF87F1}" sibTransId="{E861FF10-0667-4299-A99E-8B686974A719}"/>
    <dgm:cxn modelId="{0F6B7F83-A81F-4CE3-8D7C-D94A47AC3E11}" type="presOf" srcId="{85557830-9F6F-45ED-883E-1C95B54D317F}" destId="{573F7CC0-32A3-4091-8D3B-0163CF8E340D}" srcOrd="1" destOrd="0" presId="urn:microsoft.com/office/officeart/2005/8/layout/list1"/>
    <dgm:cxn modelId="{8A98868A-A2A6-4773-9441-F749C56FE8BB}" type="presOf" srcId="{B2A8F814-AD0C-4DF0-B682-3BC6CC654C24}" destId="{F6608AD0-85CB-4277-913F-F7A2C1A11F09}" srcOrd="0" destOrd="1" presId="urn:microsoft.com/office/officeart/2005/8/layout/list1"/>
    <dgm:cxn modelId="{776A1E9D-9C0D-47CF-9A03-0A952073AC46}" srcId="{85557830-9F6F-45ED-883E-1C95B54D317F}" destId="{18190B89-416A-4523-AD4B-6445E9A98567}" srcOrd="2" destOrd="0" parTransId="{FF1B7E07-9723-4F84-8F20-7C771A89C927}" sibTransId="{374FB655-8DB6-4770-B82B-9F7BC8B0CD6A}"/>
    <dgm:cxn modelId="{308698A2-6EF8-4D33-BD25-C40893D2AB03}" type="presOf" srcId="{18190B89-416A-4523-AD4B-6445E9A98567}" destId="{F6608AD0-85CB-4277-913F-F7A2C1A11F09}" srcOrd="0" destOrd="2" presId="urn:microsoft.com/office/officeart/2005/8/layout/list1"/>
    <dgm:cxn modelId="{7F9DA8A4-8191-4121-8DA1-F0552EB3E440}" srcId="{A8972B69-4B4F-436A-B547-1FADC4FB29B4}" destId="{A75A4D4B-BFE9-4B6F-9A81-9F9C96F5DA38}" srcOrd="0" destOrd="0" parTransId="{4FAABBF4-AB55-44FE-B6F0-B4BF829D004F}" sibTransId="{7E1354BB-EC61-4A45-99C9-75C6202CC56A}"/>
    <dgm:cxn modelId="{5D025ABF-3EDC-42CC-A280-7394287E55AA}" srcId="{85557830-9F6F-45ED-883E-1C95B54D317F}" destId="{28CC8EF6-09B2-497D-A474-91973F3DDF46}" srcOrd="0" destOrd="0" parTransId="{D11572E8-1FF8-473A-BF42-572611F1EFB3}" sibTransId="{FD5619E6-EE22-4FEB-8AC8-BA0D0DB7836B}"/>
    <dgm:cxn modelId="{08DB17E5-0AC9-4547-BFAD-F8B08937CCC9}" srcId="{A8972B69-4B4F-436A-B547-1FADC4FB29B4}" destId="{85557830-9F6F-45ED-883E-1C95B54D317F}" srcOrd="1" destOrd="0" parTransId="{03207C8A-3730-4475-98B2-BA9719145574}" sibTransId="{852E86E0-7E46-4564-8BAF-004FCBD01D6C}"/>
    <dgm:cxn modelId="{D6E599F4-F71D-4BA9-A22D-E2A61C38DE48}" type="presOf" srcId="{85557830-9F6F-45ED-883E-1C95B54D317F}" destId="{894EE8AC-F77D-461A-BC01-B9D8BF678E65}" srcOrd="0" destOrd="0" presId="urn:microsoft.com/office/officeart/2005/8/layout/list1"/>
    <dgm:cxn modelId="{A33A706F-B867-4FD8-8CED-4F05213CCCAF}" type="presParOf" srcId="{7336779F-ADC4-45E4-9F68-8DE8A2DF24F9}" destId="{9D35D8A8-7423-44F2-90BA-FDDB4EEF4402}" srcOrd="0" destOrd="0" presId="urn:microsoft.com/office/officeart/2005/8/layout/list1"/>
    <dgm:cxn modelId="{F887BAF9-CED5-45BF-A11B-16905D3DE65D}" type="presParOf" srcId="{9D35D8A8-7423-44F2-90BA-FDDB4EEF4402}" destId="{8B330473-D8DB-44FE-943D-AF8935E93284}" srcOrd="0" destOrd="0" presId="urn:microsoft.com/office/officeart/2005/8/layout/list1"/>
    <dgm:cxn modelId="{F8E8CDBC-C651-417F-85C8-3722FFECBC75}" type="presParOf" srcId="{9D35D8A8-7423-44F2-90BA-FDDB4EEF4402}" destId="{C02A24F1-543D-4BD2-AAF4-154449A41DAD}" srcOrd="1" destOrd="0" presId="urn:microsoft.com/office/officeart/2005/8/layout/list1"/>
    <dgm:cxn modelId="{319756B0-037F-494F-A57D-C75D8AE29FDA}" type="presParOf" srcId="{7336779F-ADC4-45E4-9F68-8DE8A2DF24F9}" destId="{B9CEC0E9-2578-4012-B140-DF1D1158A7BA}" srcOrd="1" destOrd="0" presId="urn:microsoft.com/office/officeart/2005/8/layout/list1"/>
    <dgm:cxn modelId="{AA61D148-4DDC-4D5E-98D6-AD872BB988B1}" type="presParOf" srcId="{7336779F-ADC4-45E4-9F68-8DE8A2DF24F9}" destId="{B866DC59-1938-4778-967D-67E2B8BEE2C2}" srcOrd="2" destOrd="0" presId="urn:microsoft.com/office/officeart/2005/8/layout/list1"/>
    <dgm:cxn modelId="{938A5B06-1923-4665-8245-7570031E3D44}" type="presParOf" srcId="{7336779F-ADC4-45E4-9F68-8DE8A2DF24F9}" destId="{7F3F106E-D5D6-4EC8-8105-A45B53A1B210}" srcOrd="3" destOrd="0" presId="urn:microsoft.com/office/officeart/2005/8/layout/list1"/>
    <dgm:cxn modelId="{7624581F-C004-41E4-A8FE-2E40CDBF1AE5}" type="presParOf" srcId="{7336779F-ADC4-45E4-9F68-8DE8A2DF24F9}" destId="{A36078CD-6247-435F-9482-F82415031E9F}" srcOrd="4" destOrd="0" presId="urn:microsoft.com/office/officeart/2005/8/layout/list1"/>
    <dgm:cxn modelId="{38587FA5-4DF9-46CC-A493-3065F71F77FE}" type="presParOf" srcId="{A36078CD-6247-435F-9482-F82415031E9F}" destId="{894EE8AC-F77D-461A-BC01-B9D8BF678E65}" srcOrd="0" destOrd="0" presId="urn:microsoft.com/office/officeart/2005/8/layout/list1"/>
    <dgm:cxn modelId="{1954C942-A115-4849-935E-F587E3EE59C7}" type="presParOf" srcId="{A36078CD-6247-435F-9482-F82415031E9F}" destId="{573F7CC0-32A3-4091-8D3B-0163CF8E340D}" srcOrd="1" destOrd="0" presId="urn:microsoft.com/office/officeart/2005/8/layout/list1"/>
    <dgm:cxn modelId="{A71FA6E2-8C52-448B-A902-DCEB925F7074}" type="presParOf" srcId="{7336779F-ADC4-45E4-9F68-8DE8A2DF24F9}" destId="{7C212DAA-91D4-43F4-B6CC-317765687858}" srcOrd="5" destOrd="0" presId="urn:microsoft.com/office/officeart/2005/8/layout/list1"/>
    <dgm:cxn modelId="{0FBFB061-7144-40BB-84BA-8AA484913AA6}" type="presParOf" srcId="{7336779F-ADC4-45E4-9F68-8DE8A2DF24F9}" destId="{F6608AD0-85CB-4277-913F-F7A2C1A11F09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3CB6246-561C-474E-99DE-76064ACA003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84DF948-4CF1-49F7-BF4D-735D9A8B3C32}">
      <dgm:prSet/>
      <dgm:spPr/>
      <dgm:t>
        <a:bodyPr/>
        <a:lstStyle/>
        <a:p>
          <a:r>
            <a:rPr lang="en-US"/>
            <a:t>Trying to impress can make the first assignment harder than it needs to be.</a:t>
          </a:r>
        </a:p>
      </dgm:t>
    </dgm:pt>
    <dgm:pt modelId="{65340EB2-AB1C-4071-B5CE-8C6A4F0CEBA6}" type="parTrans" cxnId="{9249F1BB-C67B-4EE2-ACF8-BED1EE1E87BF}">
      <dgm:prSet/>
      <dgm:spPr/>
      <dgm:t>
        <a:bodyPr/>
        <a:lstStyle/>
        <a:p>
          <a:endParaRPr lang="en-US"/>
        </a:p>
      </dgm:t>
    </dgm:pt>
    <dgm:pt modelId="{370E24BC-94E9-4AE3-8E11-3C7EF37B706B}" type="sibTrans" cxnId="{9249F1BB-C67B-4EE2-ACF8-BED1EE1E87BF}">
      <dgm:prSet/>
      <dgm:spPr/>
      <dgm:t>
        <a:bodyPr/>
        <a:lstStyle/>
        <a:p>
          <a:endParaRPr lang="en-US"/>
        </a:p>
      </dgm:t>
    </dgm:pt>
    <dgm:pt modelId="{C40F9E67-DAA0-4055-9018-05CC1DC50A54}">
      <dgm:prSet/>
      <dgm:spPr/>
      <dgm:t>
        <a:bodyPr/>
        <a:lstStyle/>
        <a:p>
          <a:r>
            <a:rPr lang="en-US"/>
            <a:t>Small, clean, and explainable is better than large and confusing.</a:t>
          </a:r>
        </a:p>
      </dgm:t>
    </dgm:pt>
    <dgm:pt modelId="{644A129A-4F80-4FA8-ADDE-8E4D4C795CF0}" type="parTrans" cxnId="{09C45EA6-FE1D-40EE-B487-2D775C57BB4F}">
      <dgm:prSet/>
      <dgm:spPr/>
      <dgm:t>
        <a:bodyPr/>
        <a:lstStyle/>
        <a:p>
          <a:endParaRPr lang="en-US"/>
        </a:p>
      </dgm:t>
    </dgm:pt>
    <dgm:pt modelId="{393E63F0-8E22-4DA8-A327-FD89922D3565}" type="sibTrans" cxnId="{09C45EA6-FE1D-40EE-B487-2D775C57BB4F}">
      <dgm:prSet/>
      <dgm:spPr/>
      <dgm:t>
        <a:bodyPr/>
        <a:lstStyle/>
        <a:p>
          <a:endParaRPr lang="en-US"/>
        </a:p>
      </dgm:t>
    </dgm:pt>
    <dgm:pt modelId="{BDC851E9-86FF-4B49-A978-7E472B281133}" type="pres">
      <dgm:prSet presAssocID="{33CB6246-561C-474E-99DE-76064ACA0037}" presName="root" presStyleCnt="0">
        <dgm:presLayoutVars>
          <dgm:dir/>
          <dgm:resizeHandles val="exact"/>
        </dgm:presLayoutVars>
      </dgm:prSet>
      <dgm:spPr/>
    </dgm:pt>
    <dgm:pt modelId="{B98FDE64-48E9-42F0-A637-1DA1D99A8C9B}" type="pres">
      <dgm:prSet presAssocID="{884DF948-4CF1-49F7-BF4D-735D9A8B3C32}" presName="compNode" presStyleCnt="0"/>
      <dgm:spPr/>
    </dgm:pt>
    <dgm:pt modelId="{F06CE6E1-1A6F-4F6A-AB74-2F2B8732E201}" type="pres">
      <dgm:prSet presAssocID="{884DF948-4CF1-49F7-BF4D-735D9A8B3C32}" presName="bgRect" presStyleLbl="bgShp" presStyleIdx="0" presStyleCnt="2"/>
      <dgm:spPr/>
    </dgm:pt>
    <dgm:pt modelId="{5E2316A9-F76E-4308-BF1D-D3B4788EFEAA}" type="pres">
      <dgm:prSet presAssocID="{884DF948-4CF1-49F7-BF4D-735D9A8B3C32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A7513A2A-72DB-4173-B403-A982559C0267}" type="pres">
      <dgm:prSet presAssocID="{884DF948-4CF1-49F7-BF4D-735D9A8B3C32}" presName="spaceRect" presStyleCnt="0"/>
      <dgm:spPr/>
    </dgm:pt>
    <dgm:pt modelId="{99769BE4-CD72-42A7-A2B3-F5F9AE5A460A}" type="pres">
      <dgm:prSet presAssocID="{884DF948-4CF1-49F7-BF4D-735D9A8B3C32}" presName="parTx" presStyleLbl="revTx" presStyleIdx="0" presStyleCnt="2">
        <dgm:presLayoutVars>
          <dgm:chMax val="0"/>
          <dgm:chPref val="0"/>
        </dgm:presLayoutVars>
      </dgm:prSet>
      <dgm:spPr/>
    </dgm:pt>
    <dgm:pt modelId="{DEED10DD-02D9-453C-9897-C72A10CF5903}" type="pres">
      <dgm:prSet presAssocID="{370E24BC-94E9-4AE3-8E11-3C7EF37B706B}" presName="sibTrans" presStyleCnt="0"/>
      <dgm:spPr/>
    </dgm:pt>
    <dgm:pt modelId="{AE90A578-2215-460B-93B1-C58ED70FE41D}" type="pres">
      <dgm:prSet presAssocID="{C40F9E67-DAA0-4055-9018-05CC1DC50A54}" presName="compNode" presStyleCnt="0"/>
      <dgm:spPr/>
    </dgm:pt>
    <dgm:pt modelId="{F283E99C-BDFF-47D8-AF65-1C1E54A9C4CA}" type="pres">
      <dgm:prSet presAssocID="{C40F9E67-DAA0-4055-9018-05CC1DC50A54}" presName="bgRect" presStyleLbl="bgShp" presStyleIdx="1" presStyleCnt="2"/>
      <dgm:spPr/>
    </dgm:pt>
    <dgm:pt modelId="{BD761238-2400-472C-9971-6D0DC2E4B0EF}" type="pres">
      <dgm:prSet presAssocID="{C40F9E67-DAA0-4055-9018-05CC1DC50A54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rglass"/>
        </a:ext>
      </dgm:extLst>
    </dgm:pt>
    <dgm:pt modelId="{4F1DFF24-38AA-40D8-8D7D-29FA44F5794B}" type="pres">
      <dgm:prSet presAssocID="{C40F9E67-DAA0-4055-9018-05CC1DC50A54}" presName="spaceRect" presStyleCnt="0"/>
      <dgm:spPr/>
    </dgm:pt>
    <dgm:pt modelId="{D732B281-DE85-4B4A-87BA-15CE909D27C3}" type="pres">
      <dgm:prSet presAssocID="{C40F9E67-DAA0-4055-9018-05CC1DC50A54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92D9AE05-3A6F-488E-ABEE-9594AAFD1D25}" type="presOf" srcId="{33CB6246-561C-474E-99DE-76064ACA0037}" destId="{BDC851E9-86FF-4B49-A978-7E472B281133}" srcOrd="0" destOrd="0" presId="urn:microsoft.com/office/officeart/2018/2/layout/IconVerticalSolidList"/>
    <dgm:cxn modelId="{863F0575-D8E0-4673-B324-E863265D7A51}" type="presOf" srcId="{884DF948-4CF1-49F7-BF4D-735D9A8B3C32}" destId="{99769BE4-CD72-42A7-A2B3-F5F9AE5A460A}" srcOrd="0" destOrd="0" presId="urn:microsoft.com/office/officeart/2018/2/layout/IconVerticalSolidList"/>
    <dgm:cxn modelId="{09C45EA6-FE1D-40EE-B487-2D775C57BB4F}" srcId="{33CB6246-561C-474E-99DE-76064ACA0037}" destId="{C40F9E67-DAA0-4055-9018-05CC1DC50A54}" srcOrd="1" destOrd="0" parTransId="{644A129A-4F80-4FA8-ADDE-8E4D4C795CF0}" sibTransId="{393E63F0-8E22-4DA8-A327-FD89922D3565}"/>
    <dgm:cxn modelId="{0393A5A8-2CD8-44C4-9799-4FCA0D482DEA}" type="presOf" srcId="{C40F9E67-DAA0-4055-9018-05CC1DC50A54}" destId="{D732B281-DE85-4B4A-87BA-15CE909D27C3}" srcOrd="0" destOrd="0" presId="urn:microsoft.com/office/officeart/2018/2/layout/IconVerticalSolidList"/>
    <dgm:cxn modelId="{9249F1BB-C67B-4EE2-ACF8-BED1EE1E87BF}" srcId="{33CB6246-561C-474E-99DE-76064ACA0037}" destId="{884DF948-4CF1-49F7-BF4D-735D9A8B3C32}" srcOrd="0" destOrd="0" parTransId="{65340EB2-AB1C-4071-B5CE-8C6A4F0CEBA6}" sibTransId="{370E24BC-94E9-4AE3-8E11-3C7EF37B706B}"/>
    <dgm:cxn modelId="{AB4CAC19-FB28-4C3B-A349-26342B22A35B}" type="presParOf" srcId="{BDC851E9-86FF-4B49-A978-7E472B281133}" destId="{B98FDE64-48E9-42F0-A637-1DA1D99A8C9B}" srcOrd="0" destOrd="0" presId="urn:microsoft.com/office/officeart/2018/2/layout/IconVerticalSolidList"/>
    <dgm:cxn modelId="{E0EF26C7-AC16-442C-B3D2-0ECC6536CDCA}" type="presParOf" srcId="{B98FDE64-48E9-42F0-A637-1DA1D99A8C9B}" destId="{F06CE6E1-1A6F-4F6A-AB74-2F2B8732E201}" srcOrd="0" destOrd="0" presId="urn:microsoft.com/office/officeart/2018/2/layout/IconVerticalSolidList"/>
    <dgm:cxn modelId="{54E56D2B-D678-4F4B-B66B-7CFB03C934EA}" type="presParOf" srcId="{B98FDE64-48E9-42F0-A637-1DA1D99A8C9B}" destId="{5E2316A9-F76E-4308-BF1D-D3B4788EFEAA}" srcOrd="1" destOrd="0" presId="urn:microsoft.com/office/officeart/2018/2/layout/IconVerticalSolidList"/>
    <dgm:cxn modelId="{A7612264-31BA-4C8C-979D-C730C0BA33FB}" type="presParOf" srcId="{B98FDE64-48E9-42F0-A637-1DA1D99A8C9B}" destId="{A7513A2A-72DB-4173-B403-A982559C0267}" srcOrd="2" destOrd="0" presId="urn:microsoft.com/office/officeart/2018/2/layout/IconVerticalSolidList"/>
    <dgm:cxn modelId="{6F5356F3-280D-472D-AA59-15EC83986574}" type="presParOf" srcId="{B98FDE64-48E9-42F0-A637-1DA1D99A8C9B}" destId="{99769BE4-CD72-42A7-A2B3-F5F9AE5A460A}" srcOrd="3" destOrd="0" presId="urn:microsoft.com/office/officeart/2018/2/layout/IconVerticalSolidList"/>
    <dgm:cxn modelId="{3FF99951-2943-466F-A37E-5728DE1FC83B}" type="presParOf" srcId="{BDC851E9-86FF-4B49-A978-7E472B281133}" destId="{DEED10DD-02D9-453C-9897-C72A10CF5903}" srcOrd="1" destOrd="0" presId="urn:microsoft.com/office/officeart/2018/2/layout/IconVerticalSolidList"/>
    <dgm:cxn modelId="{603789CD-1347-41F8-994A-8720EA07B561}" type="presParOf" srcId="{BDC851E9-86FF-4B49-A978-7E472B281133}" destId="{AE90A578-2215-460B-93B1-C58ED70FE41D}" srcOrd="2" destOrd="0" presId="urn:microsoft.com/office/officeart/2018/2/layout/IconVerticalSolidList"/>
    <dgm:cxn modelId="{C90F3188-CB8D-446F-B1DA-E9239DCCF159}" type="presParOf" srcId="{AE90A578-2215-460B-93B1-C58ED70FE41D}" destId="{F283E99C-BDFF-47D8-AF65-1C1E54A9C4CA}" srcOrd="0" destOrd="0" presId="urn:microsoft.com/office/officeart/2018/2/layout/IconVerticalSolidList"/>
    <dgm:cxn modelId="{A8D08019-083D-4706-9BA2-39DF16260BD5}" type="presParOf" srcId="{AE90A578-2215-460B-93B1-C58ED70FE41D}" destId="{BD761238-2400-472C-9971-6D0DC2E4B0EF}" srcOrd="1" destOrd="0" presId="urn:microsoft.com/office/officeart/2018/2/layout/IconVerticalSolidList"/>
    <dgm:cxn modelId="{41756FE6-FC1F-450E-8374-E946B6208DF7}" type="presParOf" srcId="{AE90A578-2215-460B-93B1-C58ED70FE41D}" destId="{4F1DFF24-38AA-40D8-8D7D-29FA44F5794B}" srcOrd="2" destOrd="0" presId="urn:microsoft.com/office/officeart/2018/2/layout/IconVerticalSolidList"/>
    <dgm:cxn modelId="{109A1201-7C43-4A1C-BE0A-AF4DA8E61D5E}" type="presParOf" srcId="{AE90A578-2215-460B-93B1-C58ED70FE41D}" destId="{D732B281-DE85-4B4A-87BA-15CE909D27C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66DC59-1938-4778-967D-67E2B8BEE2C2}">
      <dsp:nvSpPr>
        <dsp:cNvPr id="0" name=""/>
        <dsp:cNvSpPr/>
      </dsp:nvSpPr>
      <dsp:spPr>
        <a:xfrm>
          <a:off x="0" y="556694"/>
          <a:ext cx="5019610" cy="90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2A24F1-543D-4BD2-AAF4-154449A41DAD}">
      <dsp:nvSpPr>
        <dsp:cNvPr id="0" name=""/>
        <dsp:cNvSpPr/>
      </dsp:nvSpPr>
      <dsp:spPr>
        <a:xfrm>
          <a:off x="250980" y="25334"/>
          <a:ext cx="3513727" cy="10627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811" tIns="0" rIns="132811" bIns="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NOT a large program</a:t>
          </a:r>
        </a:p>
      </dsp:txBody>
      <dsp:txXfrm>
        <a:off x="302858" y="77212"/>
        <a:ext cx="3409971" cy="958964"/>
      </dsp:txXfrm>
    </dsp:sp>
    <dsp:sp modelId="{F6608AD0-85CB-4277-913F-F7A2C1A11F09}">
      <dsp:nvSpPr>
        <dsp:cNvPr id="0" name=""/>
        <dsp:cNvSpPr/>
      </dsp:nvSpPr>
      <dsp:spPr>
        <a:xfrm>
          <a:off x="0" y="2189654"/>
          <a:ext cx="5019610" cy="2608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-9896230"/>
              <a:satOff val="35944"/>
              <a:lumOff val="333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9578" tIns="749808" rIns="389578" bIns="256032" numCol="1" spcCol="1270" anchor="t" anchorCtr="0">
          <a:noAutofit/>
        </a:bodyPr>
        <a:lstStyle/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600" kern="1200"/>
            <a:t>Runs</a:t>
          </a:r>
          <a:endParaRPr lang="en-US" sz="3600" kern="1200" dirty="0"/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600" kern="1200"/>
            <a:t>Produces output</a:t>
          </a:r>
          <a:endParaRPr lang="en-US" sz="3600" kern="1200" dirty="0"/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600" kern="1200"/>
            <a:t>Can be Explained</a:t>
          </a:r>
          <a:endParaRPr lang="en-US" sz="3600" kern="1200" dirty="0"/>
        </a:p>
      </dsp:txBody>
      <dsp:txXfrm>
        <a:off x="0" y="2189654"/>
        <a:ext cx="5019610" cy="2608200"/>
      </dsp:txXfrm>
    </dsp:sp>
    <dsp:sp modelId="{573F7CC0-32A3-4091-8D3B-0163CF8E340D}">
      <dsp:nvSpPr>
        <dsp:cNvPr id="0" name=""/>
        <dsp:cNvSpPr/>
      </dsp:nvSpPr>
      <dsp:spPr>
        <a:xfrm>
          <a:off x="250980" y="1658294"/>
          <a:ext cx="3513727" cy="1062720"/>
        </a:xfrm>
        <a:prstGeom prst="roundRect">
          <a:avLst/>
        </a:prstGeom>
        <a:gradFill rotWithShape="0">
          <a:gsLst>
            <a:gs pos="0">
              <a:schemeClr val="accent2">
                <a:hueOff val="-9896230"/>
                <a:satOff val="35944"/>
                <a:lumOff val="3335"/>
                <a:alphaOff val="0"/>
                <a:tint val="96000"/>
                <a:lumMod val="100000"/>
              </a:schemeClr>
            </a:gs>
            <a:gs pos="78000">
              <a:schemeClr val="accent2">
                <a:hueOff val="-9896230"/>
                <a:satOff val="35944"/>
                <a:lumOff val="3335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811" tIns="0" rIns="132811" bIns="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Small Program that:</a:t>
          </a:r>
        </a:p>
      </dsp:txBody>
      <dsp:txXfrm>
        <a:off x="302858" y="1710172"/>
        <a:ext cx="3409971" cy="9589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6CE6E1-1A6F-4F6A-AB74-2F2B8732E201}">
      <dsp:nvSpPr>
        <dsp:cNvPr id="0" name=""/>
        <dsp:cNvSpPr/>
      </dsp:nvSpPr>
      <dsp:spPr>
        <a:xfrm>
          <a:off x="0" y="665190"/>
          <a:ext cx="7213600" cy="12280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2316A9-F76E-4308-BF1D-D3B4788EFEAA}">
      <dsp:nvSpPr>
        <dsp:cNvPr id="0" name=""/>
        <dsp:cNvSpPr/>
      </dsp:nvSpPr>
      <dsp:spPr>
        <a:xfrm>
          <a:off x="371483" y="941500"/>
          <a:ext cx="675424" cy="67542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769BE4-CD72-42A7-A2B3-F5F9AE5A460A}">
      <dsp:nvSpPr>
        <dsp:cNvPr id="0" name=""/>
        <dsp:cNvSpPr/>
      </dsp:nvSpPr>
      <dsp:spPr>
        <a:xfrm>
          <a:off x="1418391" y="665190"/>
          <a:ext cx="5795208" cy="1228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968" tIns="129968" rIns="129968" bIns="129968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Trying to impress can make the first assignment harder than it needs to be.</a:t>
          </a:r>
        </a:p>
      </dsp:txBody>
      <dsp:txXfrm>
        <a:off x="1418391" y="665190"/>
        <a:ext cx="5795208" cy="1228044"/>
      </dsp:txXfrm>
    </dsp:sp>
    <dsp:sp modelId="{F283E99C-BDFF-47D8-AF65-1C1E54A9C4CA}">
      <dsp:nvSpPr>
        <dsp:cNvPr id="0" name=""/>
        <dsp:cNvSpPr/>
      </dsp:nvSpPr>
      <dsp:spPr>
        <a:xfrm>
          <a:off x="0" y="2200246"/>
          <a:ext cx="7213600" cy="12280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761238-2400-472C-9971-6D0DC2E4B0EF}">
      <dsp:nvSpPr>
        <dsp:cNvPr id="0" name=""/>
        <dsp:cNvSpPr/>
      </dsp:nvSpPr>
      <dsp:spPr>
        <a:xfrm>
          <a:off x="371483" y="2476556"/>
          <a:ext cx="675424" cy="67542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32B281-DE85-4B4A-87BA-15CE909D27C3}">
      <dsp:nvSpPr>
        <dsp:cNvPr id="0" name=""/>
        <dsp:cNvSpPr/>
      </dsp:nvSpPr>
      <dsp:spPr>
        <a:xfrm>
          <a:off x="1418391" y="2200246"/>
          <a:ext cx="5795208" cy="1228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968" tIns="129968" rIns="129968" bIns="129968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Small, clean, and explainable is better than large and confusing.</a:t>
          </a:r>
        </a:p>
      </dsp:txBody>
      <dsp:txXfrm>
        <a:off x="1418391" y="2200246"/>
        <a:ext cx="5795208" cy="12280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759AF9F-1092-690D-006F-EBCE2C96B7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FC0900-FCC2-2A2A-613C-A277F4B7120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64943E5A-6629-4B53-8BAD-0FC37077EB1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2D7F8D-A102-3CF3-78CD-2CA4C36115D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D03618-FB8B-BA92-AF2F-43138FFAD96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9E905D54-93E9-4845-A874-0CB2F7E46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368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E3382475-516A-409A-944E-F435F3DFCCF2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1916ACA2-47E6-42D2-BEC8-EDC49A1A9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224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2349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300" b="1" dirty="0"/>
              <a:t>**Instructor Notes:**</a:t>
            </a:r>
            <a:endParaRPr lang="en-US" sz="1300" dirty="0"/>
          </a:p>
          <a:p>
            <a:r>
              <a:rPr lang="en-US" sz="1300" dirty="0"/>
              <a:t>Frame the day as integration, not expansion. </a:t>
            </a:r>
          </a:p>
          <a:p>
            <a:r>
              <a:rPr lang="en-US" sz="1300" dirty="0"/>
              <a:t>Students may expect "more Python“ before they can build anything. </a:t>
            </a:r>
          </a:p>
          <a:p>
            <a:r>
              <a:rPr lang="en-US" sz="1300" dirty="0"/>
              <a:t>Push back gently: they already have enough to make several useful beginner scripts.</a:t>
            </a:r>
          </a:p>
          <a:p>
            <a:endParaRPr lang="en-US" sz="1300" dirty="0"/>
          </a:p>
          <a:p>
            <a:r>
              <a:rPr lang="en-US" sz="1300" b="1" dirty="0"/>
              <a:t>**Transition Cue:**</a:t>
            </a:r>
            <a:endParaRPr lang="en-US" sz="1300" dirty="0"/>
          </a:p>
          <a:p>
            <a:r>
              <a:rPr lang="en-US" sz="1300" dirty="0"/>
              <a:t>Start by naming what they already know.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3179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300" b="1" dirty="0"/>
              <a:t>**Instructor Notes:**</a:t>
            </a:r>
            <a:endParaRPr lang="en-US" sz="1300" dirty="0"/>
          </a:p>
          <a:p>
            <a:r>
              <a:rPr lang="en-US" sz="1300" dirty="0"/>
              <a:t>Ask students to recall one idea from each day:</a:t>
            </a:r>
          </a:p>
          <a:p>
            <a:r>
              <a:rPr lang="en-US" sz="1300" dirty="0"/>
              <a:t>- Monday: What does `print()` do?</a:t>
            </a:r>
          </a:p>
          <a:p>
            <a:r>
              <a:rPr lang="en-US" sz="1300" dirty="0"/>
              <a:t>- Tuesday: What does an expression create?</a:t>
            </a:r>
          </a:p>
          <a:p>
            <a:endParaRPr lang="en-US" sz="1300" dirty="0"/>
          </a:p>
          <a:p>
            <a:r>
              <a:rPr lang="en-US" sz="1300" dirty="0"/>
              <a:t>Keep this short. The point is to bridge into integration.</a:t>
            </a:r>
          </a:p>
          <a:p>
            <a:br>
              <a:rPr lang="en-US" sz="1300" dirty="0"/>
            </a:br>
            <a:endParaRPr lang="en-US" sz="1300" dirty="0"/>
          </a:p>
          <a:p>
            <a:r>
              <a:rPr lang="en-US" sz="1300" b="1" dirty="0"/>
              <a:t>**Transition Cue:**</a:t>
            </a:r>
            <a:endParaRPr lang="en-US" sz="1300" dirty="0"/>
          </a:p>
          <a:p>
            <a:r>
              <a:rPr lang="en-US" sz="1300" dirty="0"/>
              <a:t>Now we focus on completing small programs, not collecting more topics.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483306"/>
            <a:fld id="{1916ACA2-47E6-42D2-BEC8-EDC49A1A9FA1}" type="slidenum">
              <a:rPr lang="en-US" sz="1400">
                <a:solidFill>
                  <a:prstClr val="black"/>
                </a:solidFill>
                <a:latin typeface="Aptos" panose="02110004020202020204"/>
              </a:rPr>
              <a:pPr defTabSz="483306"/>
              <a:t>3</a:t>
            </a:fld>
            <a:endParaRPr lang="en-US" sz="1400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5982901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300" b="1" dirty="0"/>
              <a:t>**Instructor Notes:**</a:t>
            </a:r>
            <a:endParaRPr lang="en-US" sz="1300" dirty="0"/>
          </a:p>
          <a:p>
            <a:r>
              <a:rPr lang="en-US" sz="1300" dirty="0"/>
              <a:t>This slide protects confidence. </a:t>
            </a:r>
          </a:p>
          <a:p>
            <a:r>
              <a:rPr lang="en-US" sz="1300" dirty="0"/>
              <a:t>Students may compare their first script to apps they use in daily life and feel the gap. </a:t>
            </a:r>
          </a:p>
          <a:p>
            <a:r>
              <a:rPr lang="en-US" sz="1300" dirty="0"/>
              <a:t>Reframe success around the course’s actual beginner target.</a:t>
            </a:r>
          </a:p>
          <a:p>
            <a:br>
              <a:rPr lang="en-US" sz="1300" dirty="0"/>
            </a:br>
            <a:endParaRPr lang="en-US" sz="1300" dirty="0"/>
          </a:p>
          <a:p>
            <a:r>
              <a:rPr lang="en-US" sz="1300" b="1" dirty="0"/>
              <a:t>**Transition Cue:**</a:t>
            </a:r>
            <a:endParaRPr lang="en-US" sz="1300" dirty="0"/>
          </a:p>
          <a:p>
            <a:r>
              <a:rPr lang="en-US" sz="1300" dirty="0"/>
              <a:t>To stay focused, we need to name today's working set.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483306"/>
            <a:fld id="{1916ACA2-47E6-42D2-BEC8-EDC49A1A9FA1}" type="slidenum">
              <a:rPr lang="en-US">
                <a:solidFill>
                  <a:prstClr val="black"/>
                </a:solidFill>
                <a:latin typeface="Aptos" panose="02110004020202020204"/>
              </a:rPr>
              <a:pPr defTabSz="483306"/>
              <a:t>4</a:t>
            </a:fld>
            <a:endParaRPr lang="en-US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2923700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300" b="1" dirty="0"/>
              <a:t>**Instructor Notes:**</a:t>
            </a:r>
            <a:endParaRPr lang="en-US" sz="1300" dirty="0"/>
          </a:p>
          <a:p>
            <a:r>
              <a:rPr lang="en-US" sz="1300" dirty="0"/>
              <a:t>This should feel like a toolbox students already recognize. </a:t>
            </a:r>
          </a:p>
          <a:p>
            <a:r>
              <a:rPr lang="en-US" sz="1300" dirty="0"/>
              <a:t>The point is integration, not a new list to memorize.</a:t>
            </a:r>
          </a:p>
          <a:p>
            <a:endParaRPr lang="en-US" sz="1300" dirty="0"/>
          </a:p>
          <a:p>
            <a:pPr defTabSz="966612"/>
            <a:r>
              <a:rPr lang="en-US" sz="1300" dirty="0"/>
              <a:t>If `input()` is unstable or not introduced, state that assigned values remain a valid path for Assignment 1.</a:t>
            </a:r>
          </a:p>
          <a:p>
            <a:br>
              <a:rPr lang="en-US" sz="1300" dirty="0"/>
            </a:br>
            <a:r>
              <a:rPr lang="en-US" sz="1300" b="1" dirty="0"/>
              <a:t>**Transition Cue:**</a:t>
            </a:r>
            <a:endParaRPr lang="en-US" sz="1300" dirty="0"/>
          </a:p>
          <a:p>
            <a:r>
              <a:rPr lang="en-US" sz="1300" dirty="0"/>
              <a:t>Just as important: there are topics we are not responsible for yet.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6135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616EE-D3D9-39E6-57FF-5D19FF682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153483-B1DA-0856-1670-0F6D4FA474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A76DB8-4C71-F45D-E310-63B032194B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AEDEB2-758A-289F-9C24-DB17B17B4F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4374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D2AA8-1855-F25E-5F3D-09A691142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51C4C8-2837-6B8F-8BDC-FCC8E18CD3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1B1025-8213-30AB-44A2-2115EA751E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300" b="1" dirty="0"/>
              <a:t>**Instructor Notes:**</a:t>
            </a:r>
            <a:endParaRPr lang="en-US" sz="1300" dirty="0"/>
          </a:p>
          <a:p>
            <a:r>
              <a:rPr lang="en-US" sz="1300" dirty="0"/>
              <a:t>Keep this reassuring. </a:t>
            </a:r>
          </a:p>
          <a:p>
            <a:r>
              <a:rPr lang="en-US" sz="1300" dirty="0"/>
              <a:t>These topics are not forbidden or unimportant. </a:t>
            </a:r>
          </a:p>
          <a:p>
            <a:r>
              <a:rPr lang="en-US" sz="1300" dirty="0"/>
              <a:t>They are future learning targets. </a:t>
            </a:r>
          </a:p>
          <a:p>
            <a:r>
              <a:rPr lang="en-US" sz="1300" dirty="0"/>
              <a:t>Separating them from today's working set prevents the textbook's breadth from turning into day-three anxiety.</a:t>
            </a:r>
          </a:p>
          <a:p>
            <a:endParaRPr lang="en-US" sz="1300" dirty="0"/>
          </a:p>
          <a:p>
            <a:r>
              <a:rPr lang="en-US" sz="1300" b="1" dirty="0"/>
              <a:t>**Transition Cue:**</a:t>
            </a:r>
            <a:endParaRPr lang="en-US" sz="1300" dirty="0"/>
          </a:p>
          <a:p>
            <a:r>
              <a:rPr lang="en-US" sz="1300" dirty="0"/>
              <a:t>With the working set clear, we can build small useful scripts.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916738-9AB4-AC38-59B7-9EBD25BD46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7453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300" b="1" dirty="0"/>
              <a:t>**Instructor Notes:**</a:t>
            </a:r>
            <a:endParaRPr lang="en-US" sz="1300" dirty="0"/>
          </a:p>
          <a:p>
            <a:r>
              <a:rPr lang="en-US" sz="1300" dirty="0"/>
              <a:t>Reframe usefulness away from size. A unit converter, total-cost estimator, or personalized message builder is enough for Week 1.</a:t>
            </a:r>
          </a:p>
          <a:p>
            <a:endParaRPr lang="en-US" sz="1300" dirty="0"/>
          </a:p>
          <a:p>
            <a:r>
              <a:rPr lang="en-US" sz="1300" b="1" dirty="0"/>
              <a:t>**Transition Cue:**</a:t>
            </a:r>
            <a:endParaRPr lang="en-US" sz="1300" dirty="0"/>
          </a:p>
          <a:p>
            <a:r>
              <a:rPr lang="en-US" sz="1300" dirty="0"/>
              <a:t>The simplest useful programs combine values carefully.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3556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300" b="1" dirty="0"/>
              <a:t>**Instructor Notes:**</a:t>
            </a:r>
            <a:endParaRPr lang="en-US" sz="1300" dirty="0"/>
          </a:p>
          <a:p>
            <a:r>
              <a:rPr lang="en-US" sz="1300" dirty="0"/>
              <a:t>Introduce type awareness through use. </a:t>
            </a:r>
          </a:p>
          <a:p>
            <a:r>
              <a:rPr lang="en-US" sz="1300" dirty="0"/>
              <a:t>Do not launch into all built-in types.</a:t>
            </a:r>
          </a:p>
          <a:p>
            <a:r>
              <a:rPr lang="en-US" sz="1300" dirty="0"/>
              <a:t>Students need to know that text, whole numbers, decimal numbers, and boolean values behave differently enough that they should pay attention.</a:t>
            </a:r>
          </a:p>
          <a:p>
            <a:endParaRPr lang="en-US" sz="1300" dirty="0"/>
          </a:p>
          <a:p>
            <a:r>
              <a:rPr lang="en-US" sz="1300" b="1" dirty="0"/>
              <a:t>**Transition Cue:**</a:t>
            </a:r>
            <a:endParaRPr lang="en-US" sz="1300" dirty="0"/>
          </a:p>
          <a:p>
            <a:r>
              <a:rPr lang="en-US" sz="1300" dirty="0"/>
              <a:t>This is where basic type awareness helps.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6414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300" b="1" dirty="0"/>
              <a:t>**Instructor Notes:**</a:t>
            </a:r>
            <a:endParaRPr lang="en-US" sz="1300" dirty="0"/>
          </a:p>
          <a:p>
            <a:r>
              <a:rPr lang="en-US" sz="1300" dirty="0"/>
              <a:t>Use practical names:</a:t>
            </a:r>
          </a:p>
          <a:p>
            <a:r>
              <a:rPr lang="en-US" sz="1300" dirty="0"/>
              <a:t>- string: text</a:t>
            </a:r>
          </a:p>
          <a:p>
            <a:r>
              <a:rPr lang="en-US" sz="1300" dirty="0"/>
              <a:t>- integer: whole number</a:t>
            </a:r>
          </a:p>
          <a:p>
            <a:r>
              <a:rPr lang="en-US" sz="1300" dirty="0"/>
              <a:t>- float: decimal number</a:t>
            </a:r>
          </a:p>
          <a:p>
            <a:r>
              <a:rPr lang="en-US" sz="1300" dirty="0"/>
              <a:t>- boolean: true/false</a:t>
            </a:r>
          </a:p>
          <a:p>
            <a:br>
              <a:rPr lang="en-US" sz="1300" dirty="0"/>
            </a:br>
            <a:r>
              <a:rPr lang="en-US" sz="1300" dirty="0"/>
              <a:t>Avoid exhaustive coverage. The textbook covers more, but Assignment 1 needs practical recognition.</a:t>
            </a:r>
          </a:p>
          <a:p>
            <a:endParaRPr lang="en-US" sz="1300" dirty="0"/>
          </a:p>
          <a:p>
            <a:r>
              <a:rPr lang="en-US" sz="1300" b="1" dirty="0"/>
              <a:t>**Transition Cue:**</a:t>
            </a:r>
            <a:endParaRPr lang="en-US" sz="1300" dirty="0"/>
          </a:p>
          <a:p>
            <a:r>
              <a:rPr lang="en-US" sz="1300" dirty="0"/>
              <a:t>Type awareness matters because output and explanation should remain clear.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2365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82743-D71D-5999-7EC5-27B80F2FE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0E93D9-215B-6A52-ADDE-5902C489B6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2F1C62-CFB6-6D9A-3C31-39494B904E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BED247-B3B9-84E5-D520-7E5C7D98EB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7708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300" b="1" dirty="0"/>
              <a:t>**Instructor Notes:**</a:t>
            </a:r>
            <a:endParaRPr lang="en-US" sz="1300" dirty="0"/>
          </a:p>
          <a:p>
            <a:r>
              <a:rPr lang="en-US" sz="1300" dirty="0"/>
              <a:t>This is the Day 3 thinking tool.</a:t>
            </a:r>
          </a:p>
          <a:p>
            <a:r>
              <a:rPr lang="en-US" sz="1300" dirty="0"/>
              <a:t>It connects manual-first learning, debugging, and later AI accountability without introducing AI as a coding shortcut.</a:t>
            </a:r>
          </a:p>
          <a:p>
            <a:endParaRPr lang="en-US" sz="1300" dirty="0"/>
          </a:p>
          <a:p>
            <a:r>
              <a:rPr lang="en-US" sz="1300" b="1" dirty="0"/>
              <a:t>**Transition Cue:**</a:t>
            </a:r>
            <a:endParaRPr lang="en-US" sz="1300" dirty="0"/>
          </a:p>
          <a:p>
            <a:r>
              <a:rPr lang="en-US" sz="1300" dirty="0"/>
              <a:t>Let's watch a small example that uses several value types without becoming large.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935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510903"/>
            <a:fld id="{1916ACA2-47E6-42D2-BEC8-EDC49A1A9FA1}" type="slidenum">
              <a:rPr lang="en-US" sz="1500">
                <a:solidFill>
                  <a:prstClr val="black"/>
                </a:solidFill>
                <a:latin typeface="Aptos" panose="02110004020202020204"/>
              </a:rPr>
              <a:pPr defTabSz="510903"/>
              <a:t>13</a:t>
            </a:fld>
            <a:endParaRPr lang="en-US" sz="1500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1256578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300" b="1" dirty="0"/>
              <a:t>**Instructor Notes:**</a:t>
            </a:r>
            <a:endParaRPr lang="en-US" sz="1300" dirty="0"/>
          </a:p>
          <a:p>
            <a:r>
              <a:rPr lang="en-US" sz="1300" dirty="0"/>
              <a:t>Use:</a:t>
            </a:r>
          </a:p>
          <a:p>
            <a:r>
              <a:rPr lang="en-US" sz="1300" i="1" dirty="0"/>
              <a:t>`Demos/Week_01_First_Programs_and_Basic_Values/06_type_awareness.py`</a:t>
            </a:r>
          </a:p>
          <a:p>
            <a:endParaRPr lang="en-US" sz="1300" dirty="0"/>
          </a:p>
          <a:p>
            <a:r>
              <a:rPr lang="en-US" sz="1300" dirty="0"/>
              <a:t>Focus on:</a:t>
            </a:r>
          </a:p>
          <a:p>
            <a:r>
              <a:rPr lang="en-US" sz="1300" dirty="0"/>
              <a:t>- `</a:t>
            </a:r>
            <a:r>
              <a:rPr lang="en-US" sz="1300" dirty="0" err="1"/>
              <a:t>student_name</a:t>
            </a:r>
            <a:r>
              <a:rPr lang="en-US" sz="1300" dirty="0"/>
              <a:t>` as text</a:t>
            </a:r>
          </a:p>
          <a:p>
            <a:r>
              <a:rPr lang="en-US" sz="1300" dirty="0"/>
              <a:t>- `</a:t>
            </a:r>
            <a:r>
              <a:rPr lang="en-US" sz="1300" dirty="0" err="1"/>
              <a:t>assignments_completed</a:t>
            </a:r>
            <a:r>
              <a:rPr lang="en-US" sz="1300" dirty="0"/>
              <a:t>` as a whole number</a:t>
            </a:r>
          </a:p>
          <a:p>
            <a:r>
              <a:rPr lang="en-US" sz="1300" dirty="0"/>
              <a:t>- `</a:t>
            </a:r>
            <a:r>
              <a:rPr lang="en-US" sz="1300" dirty="0" err="1"/>
              <a:t>average_score</a:t>
            </a:r>
            <a:r>
              <a:rPr lang="en-US" sz="1300" dirty="0"/>
              <a:t>` as a decimal number</a:t>
            </a:r>
          </a:p>
          <a:p>
            <a:r>
              <a:rPr lang="en-US" sz="1300" dirty="0"/>
              <a:t>- `</a:t>
            </a:r>
            <a:r>
              <a:rPr lang="en-US" sz="1300" dirty="0" err="1"/>
              <a:t>is_passing</a:t>
            </a:r>
            <a:r>
              <a:rPr lang="en-US" sz="1300" dirty="0"/>
              <a:t>` as true/false</a:t>
            </a:r>
          </a:p>
          <a:p>
            <a:br>
              <a:rPr lang="en-US" sz="1300" dirty="0"/>
            </a:br>
            <a:r>
              <a:rPr lang="en-US" sz="1300" dirty="0"/>
              <a:t>If using `type()`, explain it as an inspection tool. </a:t>
            </a:r>
          </a:p>
          <a:p>
            <a:r>
              <a:rPr lang="en-US" sz="1300" dirty="0"/>
              <a:t>Do not turn the demo into a type-system lecture.</a:t>
            </a:r>
          </a:p>
          <a:p>
            <a:endParaRPr lang="en-US" sz="1300" dirty="0"/>
          </a:p>
          <a:p>
            <a:r>
              <a:rPr lang="en-US" sz="1300" b="1" dirty="0"/>
              <a:t>**Transition Cue:**</a:t>
            </a:r>
            <a:endParaRPr lang="en-US" sz="1300" dirty="0"/>
          </a:p>
          <a:p>
            <a:r>
              <a:rPr lang="en-US" sz="1300" dirty="0"/>
              <a:t>If input is included, we need one more caution about numbers.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510903"/>
            <a:fld id="{1916ACA2-47E6-42D2-BEC8-EDC49A1A9FA1}" type="slidenum">
              <a:rPr lang="en-US" sz="1500">
                <a:solidFill>
                  <a:prstClr val="black"/>
                </a:solidFill>
                <a:latin typeface="Aptos" panose="02110004020202020204"/>
              </a:rPr>
              <a:pPr defTabSz="510903"/>
              <a:t>14</a:t>
            </a:fld>
            <a:endParaRPr lang="en-US" sz="1500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1977663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C0C8F-EFDE-0E45-3398-87176EF16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297C5F-E445-3446-132F-6397E5688C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A52408-775D-4CBB-29CD-46BEC15FCB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4C4327-F6FC-F0CB-7981-7D58FE3ACA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2474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083DA-528A-7826-74CC-BD975BD86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E29714-BFC7-83E3-0DA6-B9F05C1F06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3DF7A2-DC5B-775A-B2BA-BB09696FC6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500" b="1" dirty="0"/>
              <a:t>**Instructor Notes:**</a:t>
            </a:r>
            <a:endParaRPr lang="en-US" sz="1500" dirty="0"/>
          </a:p>
          <a:p>
            <a:br>
              <a:rPr lang="en-US" sz="1500" dirty="0"/>
            </a:br>
            <a:r>
              <a:rPr lang="en-US" sz="1500" dirty="0"/>
              <a:t>Use only if students are stable with the first two demos and there is time.</a:t>
            </a:r>
          </a:p>
          <a:p>
            <a:endParaRPr lang="en-US" sz="1500" dirty="0"/>
          </a:p>
          <a:p>
            <a:r>
              <a:rPr lang="en-US" sz="1500" dirty="0"/>
              <a:t>Reference:</a:t>
            </a:r>
          </a:p>
          <a:p>
            <a:r>
              <a:rPr lang="en-US" sz="1500" dirty="0"/>
              <a:t>`Demos/Week_01_First_Programs_and_Basic_Values/03_numbers_expressions.py`</a:t>
            </a:r>
          </a:p>
          <a:p>
            <a:br>
              <a:rPr lang="en-US" sz="1500" dirty="0"/>
            </a:br>
            <a:endParaRPr lang="en-US" sz="1500" dirty="0"/>
          </a:p>
          <a:p>
            <a:r>
              <a:rPr lang="en-US" sz="1500" dirty="0"/>
              <a:t>Frame this as a preview for Day 2, not as a Day 1 expectation. Students should</a:t>
            </a:r>
          </a:p>
          <a:p>
            <a:r>
              <a:rPr lang="en-US" sz="1500" dirty="0"/>
              <a:t>not leave thinking A1 must already include calculations if numbers have not</a:t>
            </a:r>
          </a:p>
          <a:p>
            <a:r>
              <a:rPr lang="en-US" sz="1500" dirty="0"/>
              <a:t>been taught carefully yet.</a:t>
            </a:r>
          </a:p>
          <a:p>
            <a:br>
              <a:rPr lang="en-US" sz="1500" dirty="0"/>
            </a:br>
            <a:endParaRPr lang="en-US" sz="1500" dirty="0"/>
          </a:p>
          <a:p>
            <a:r>
              <a:rPr lang="en-US" sz="1500" b="1" dirty="0"/>
              <a:t>**Transition Cue:**</a:t>
            </a:r>
            <a:endParaRPr lang="en-US" sz="1500" dirty="0"/>
          </a:p>
          <a:p>
            <a:br>
              <a:rPr lang="en-US" sz="1500" dirty="0"/>
            </a:br>
            <a:endParaRPr lang="en-US" sz="1500" dirty="0"/>
          </a:p>
          <a:p>
            <a:r>
              <a:rPr lang="en-US" sz="1500" dirty="0"/>
              <a:t>Before students begin, name the mistakes that are most likely to happen.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CFC54-92D6-0940-9A9B-CE2620681F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540076"/>
            <a:fld id="{1916ACA2-47E6-42D2-BEC8-EDC49A1A9FA1}" type="slidenum">
              <a:rPr lang="en-US" sz="1500">
                <a:solidFill>
                  <a:prstClr val="black"/>
                </a:solidFill>
                <a:latin typeface="Aptos" panose="02110004020202020204"/>
              </a:rPr>
              <a:pPr defTabSz="540076"/>
              <a:t>16</a:t>
            </a:fld>
            <a:endParaRPr lang="en-US" sz="1500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9493185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300" b="1" dirty="0"/>
              <a:t>**Instructor Notes:**</a:t>
            </a:r>
            <a:endParaRPr lang="en-US" sz="1300" dirty="0"/>
          </a:p>
          <a:p>
            <a:r>
              <a:rPr lang="en-US" sz="1300" dirty="0"/>
              <a:t>Use only if helpful:</a:t>
            </a:r>
          </a:p>
          <a:p>
            <a:r>
              <a:rPr lang="en-US" sz="1300" i="1" dirty="0"/>
              <a:t>`Demos/Week_01_First_Programs_and_Basic_Values/05_input_number_conversion.py`</a:t>
            </a:r>
          </a:p>
          <a:p>
            <a:br>
              <a:rPr lang="en-US" sz="1300" dirty="0"/>
            </a:br>
            <a:r>
              <a:rPr lang="en-US" sz="1300" dirty="0"/>
              <a:t>This demo can support students who want an input-based calculator. </a:t>
            </a:r>
          </a:p>
          <a:p>
            <a:r>
              <a:rPr lang="en-US" sz="1300" dirty="0"/>
              <a:t>If the class is not ready, skip it and keep Assignment 1 on assigned values.</a:t>
            </a:r>
          </a:p>
          <a:p>
            <a:endParaRPr lang="en-US" sz="1300" dirty="0"/>
          </a:p>
          <a:p>
            <a:r>
              <a:rPr lang="en-US" sz="1300" b="1" dirty="0"/>
              <a:t>**Transition Cue:**</a:t>
            </a:r>
            <a:endParaRPr lang="en-US" sz="1300" dirty="0"/>
          </a:p>
          <a:p>
            <a:r>
              <a:rPr lang="en-US" sz="1300" dirty="0"/>
              <a:t>The next issue is not technical. It is how students should work with examples.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483306"/>
            <a:fld id="{1916ACA2-47E6-42D2-BEC8-EDC49A1A9FA1}" type="slidenum">
              <a:rPr lang="en-US" sz="1400">
                <a:solidFill>
                  <a:prstClr val="black"/>
                </a:solidFill>
                <a:latin typeface="Aptos" panose="02110004020202020204"/>
              </a:rPr>
              <a:pPr defTabSz="483306"/>
              <a:t>17</a:t>
            </a:fld>
            <a:endParaRPr lang="en-US" sz="1400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8943046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7287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300" b="1" dirty="0"/>
              <a:t>**Instructor Notes:**</a:t>
            </a:r>
            <a:endParaRPr lang="en-US" sz="1300" dirty="0"/>
          </a:p>
          <a:p>
            <a:r>
              <a:rPr lang="en-US" sz="1300" dirty="0"/>
              <a:t>Use:</a:t>
            </a:r>
          </a:p>
          <a:p>
            <a:r>
              <a:rPr lang="en-US" sz="1300" dirty="0"/>
              <a:t>`Demos/Instructor_Notes-Typing_vs_CopyPaste.md`</a:t>
            </a:r>
          </a:p>
          <a:p>
            <a:endParaRPr lang="en-US" sz="1300" dirty="0"/>
          </a:p>
          <a:p>
            <a:r>
              <a:rPr lang="en-US" sz="1300" dirty="0"/>
              <a:t>Keep this brief but explicit. In Week 1, typing examples helps students process order, syntax, value names, and line relationships.</a:t>
            </a:r>
          </a:p>
          <a:p>
            <a:endParaRPr lang="en-US" sz="1300" dirty="0"/>
          </a:p>
          <a:p>
            <a:r>
              <a:rPr lang="en-US" sz="1300" dirty="0"/>
              <a:t>Connect this to Assignment 1: students should understand what they submit.</a:t>
            </a:r>
          </a:p>
          <a:p>
            <a:endParaRPr lang="en-US" sz="1300" dirty="0"/>
          </a:p>
          <a:p>
            <a:r>
              <a:rPr lang="en-US" sz="1300" b="1" dirty="0"/>
              <a:t>**Transition Cue:**</a:t>
            </a:r>
            <a:endParaRPr lang="en-US" sz="1300" dirty="0"/>
          </a:p>
          <a:p>
            <a:r>
              <a:rPr lang="en-US" sz="1300" dirty="0"/>
              <a:t>That leads to two common Week 1 traps.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1866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300" b="1" dirty="0"/>
              <a:t># Instructor Narrative</a:t>
            </a:r>
            <a:endParaRPr lang="en-US" sz="1300" dirty="0"/>
          </a:p>
          <a:p>
            <a:r>
              <a:rPr lang="en-US" sz="1300" dirty="0"/>
              <a:t>You might say something like:</a:t>
            </a:r>
          </a:p>
          <a:p>
            <a:r>
              <a:rPr lang="en-US" sz="1300" i="1" dirty="0"/>
              <a:t>"Even after decades of programming, software development, and working with AI systems, I still type code examples out by hand in many situations. </a:t>
            </a:r>
          </a:p>
          <a:p>
            <a:r>
              <a:rPr lang="en-US" sz="1300" i="1" dirty="0"/>
              <a:t>I do this because typing slows me down enough to think. As I type, my mind processes the logic, the structure, and the implications of what is happening."</a:t>
            </a:r>
          </a:p>
          <a:p>
            <a:br>
              <a:rPr lang="en-US" sz="1300" dirty="0"/>
            </a:br>
            <a:endParaRPr lang="en-US" sz="1300" dirty="0"/>
          </a:p>
          <a:p>
            <a:r>
              <a:rPr lang="en-US" sz="1300" dirty="0"/>
              <a:t>Then connect it directly to students:</a:t>
            </a:r>
          </a:p>
          <a:p>
            <a:r>
              <a:rPr lang="en-US" sz="1300" i="1" dirty="0"/>
              <a:t>"When you are new to Python, typing the example is not busywork. It is part of how your brain learns the pattern."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7115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80CF9-94BA-BC45-CF3E-8335B037A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5732B2-86C2-D0FC-961D-9B1D39B4EF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9F9860-1367-B6E8-CC5A-0EFB55903C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300" b="1" dirty="0"/>
              <a:t># Instructor Narrative</a:t>
            </a:r>
            <a:endParaRPr lang="en-US" sz="1300" dirty="0"/>
          </a:p>
          <a:p>
            <a:r>
              <a:rPr lang="en-US" sz="1300" dirty="0"/>
              <a:t>You might say something like:</a:t>
            </a:r>
          </a:p>
          <a:p>
            <a:r>
              <a:rPr lang="en-US" sz="1300" i="1" dirty="0"/>
              <a:t>"Sometimes I copy something because I think I understand it well enough. </a:t>
            </a:r>
          </a:p>
          <a:p>
            <a:r>
              <a:rPr lang="en-US" sz="1300" i="1" dirty="0"/>
              <a:t>If that turns out to be wrong, I go back and type it out. </a:t>
            </a:r>
          </a:p>
          <a:p>
            <a:r>
              <a:rPr lang="en-US" sz="1300" i="1" dirty="0"/>
              <a:t>That is not failure. That is calibration."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9049E3-281F-4BFF-3781-EEB46EDD8B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483306"/>
            <a:fld id="{1916ACA2-47E6-42D2-BEC8-EDC49A1A9FA1}" type="slidenum">
              <a:rPr lang="en-US">
                <a:solidFill>
                  <a:prstClr val="black"/>
                </a:solidFill>
                <a:latin typeface="Aptos" panose="02110004020202020204"/>
              </a:rPr>
              <a:pPr defTabSz="483306"/>
              <a:t>21</a:t>
            </a:fld>
            <a:endParaRPr lang="en-US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5752275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300" b="1" dirty="0"/>
              <a:t># Instructor Narrative for AI</a:t>
            </a:r>
            <a:endParaRPr lang="en-US" sz="1300" dirty="0"/>
          </a:p>
          <a:p>
            <a:r>
              <a:rPr lang="en-US" sz="1300" dirty="0"/>
              <a:t>You might say:</a:t>
            </a:r>
          </a:p>
          <a:p>
            <a:r>
              <a:rPr lang="en-US" sz="1300" i="1" dirty="0"/>
              <a:t>"When I write prompts for AI, I often learn while I am writing the prompt. </a:t>
            </a:r>
          </a:p>
          <a:p>
            <a:r>
              <a:rPr lang="en-US" sz="1300" i="1" dirty="0"/>
              <a:t>I revise my wording, change the structure, and clarify what I really mean as I type. </a:t>
            </a:r>
          </a:p>
          <a:p>
            <a:r>
              <a:rPr lang="en-US" sz="1300" i="1" dirty="0"/>
              <a:t>The typing itself becomes part of the thinking process."</a:t>
            </a:r>
          </a:p>
          <a:p>
            <a:br>
              <a:rPr lang="en-US" sz="1300" dirty="0"/>
            </a:br>
            <a:endParaRPr lang="en-US" sz="1300" dirty="0"/>
          </a:p>
          <a:p>
            <a:r>
              <a:rPr lang="en-US" sz="1300" dirty="0"/>
              <a:t>Then connect it to Refraction-Based Architecture (RBA):</a:t>
            </a:r>
          </a:p>
          <a:p>
            <a:r>
              <a:rPr lang="en-US" sz="1300" i="1" dirty="0"/>
              <a:t>"In AI-assisted development, the quality of the output depends heavily on the clarity of the human intent. </a:t>
            </a:r>
          </a:p>
          <a:p>
            <a:r>
              <a:rPr lang="en-US" sz="1300" i="1" dirty="0"/>
              <a:t>Typing out the prompt can help you clarify that intent before AI ever responds."</a:t>
            </a:r>
          </a:p>
          <a:p>
            <a:br>
              <a:rPr lang="en-US" sz="1300" dirty="0"/>
            </a:br>
            <a:endParaRPr lang="en-US" sz="13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6151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D56E7-F4BF-8FC6-5804-5BC08BB2B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625A9B-E8D9-FFEF-1AD9-5EBD0FEC49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F63FD3-6444-ECA1-7C5E-D089E515F0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9AF07B-1037-EF48-85B4-0A717B79E9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46246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300" b="1" dirty="0"/>
              <a:t>**Instructor Notes:**</a:t>
            </a:r>
            <a:endParaRPr lang="en-US" sz="1300" dirty="0"/>
          </a:p>
          <a:p>
            <a:r>
              <a:rPr lang="en-US" sz="1300" dirty="0"/>
              <a:t>Name the trap kindly. </a:t>
            </a:r>
          </a:p>
          <a:p>
            <a:r>
              <a:rPr lang="en-US" sz="1300" dirty="0"/>
              <a:t>Some students will overbuild because they think larger means better. </a:t>
            </a:r>
          </a:p>
          <a:p>
            <a:r>
              <a:rPr lang="en-US" sz="1300" dirty="0"/>
              <a:t>In Week 1, larger often means less explainable.</a:t>
            </a:r>
          </a:p>
          <a:p>
            <a:endParaRPr lang="en-US" sz="1300" dirty="0"/>
          </a:p>
          <a:p>
            <a:r>
              <a:rPr lang="en-US" sz="1300" dirty="0"/>
              <a:t>For those students who absolutely, positively, must “scratch this itch” … Have them create 2 versions: Basic and enhanced</a:t>
            </a:r>
          </a:p>
          <a:p>
            <a:endParaRPr lang="en-US" sz="1300" dirty="0"/>
          </a:p>
          <a:p>
            <a:r>
              <a:rPr lang="en-US" sz="1300" b="1" dirty="0"/>
              <a:t>**Transition Cue:**</a:t>
            </a:r>
            <a:endParaRPr lang="en-US" sz="1300" dirty="0"/>
          </a:p>
          <a:p>
            <a:r>
              <a:rPr lang="en-US" sz="1300" dirty="0"/>
              <a:t>The other trap is using code that works but cannot be explained.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45013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300" b="1" dirty="0"/>
              <a:t>**Instructor Notes:**</a:t>
            </a:r>
            <a:endParaRPr lang="en-US" sz="1300" dirty="0"/>
          </a:p>
          <a:p>
            <a:r>
              <a:rPr lang="en-US" sz="1300" dirty="0"/>
              <a:t>This reinforces conceptual understanding over logic regurgitation. </a:t>
            </a:r>
          </a:p>
          <a:p>
            <a:r>
              <a:rPr lang="en-US" sz="1300" dirty="0"/>
              <a:t>A simple program with a clear explanation is stronger than a copied or overbuilt script the student cannot discuss.</a:t>
            </a:r>
          </a:p>
          <a:p>
            <a:endParaRPr lang="en-US" sz="1300" dirty="0"/>
          </a:p>
          <a:p>
            <a:r>
              <a:rPr lang="en-US" sz="1300" b="1" dirty="0"/>
              <a:t>**Transition Cue:**</a:t>
            </a:r>
            <a:endParaRPr lang="en-US" sz="1300" dirty="0"/>
          </a:p>
          <a:p>
            <a:r>
              <a:rPr lang="en-US" sz="1300" dirty="0"/>
              <a:t>Now students can finish Assignment 1 with a clear target.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1301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300" b="1" dirty="0"/>
              <a:t>**Instructor Notes:**</a:t>
            </a:r>
            <a:endParaRPr lang="en-US" sz="1300" dirty="0"/>
          </a:p>
          <a:p>
            <a:r>
              <a:rPr lang="en-US" sz="1300" dirty="0"/>
              <a:t>Recommended options:</a:t>
            </a:r>
          </a:p>
          <a:p>
            <a:r>
              <a:rPr lang="en-US" sz="1300" dirty="0"/>
              <a:t>- greeting or introduction program</a:t>
            </a:r>
          </a:p>
          <a:p>
            <a:r>
              <a:rPr lang="en-US" sz="1300" dirty="0"/>
              <a:t>- simple calculator</a:t>
            </a:r>
          </a:p>
          <a:p>
            <a:r>
              <a:rPr lang="en-US" sz="1300" dirty="0"/>
              <a:t>- unit converter</a:t>
            </a:r>
          </a:p>
          <a:p>
            <a:r>
              <a:rPr lang="en-US" sz="1300" dirty="0"/>
              <a:t>- total-cost estimator</a:t>
            </a:r>
          </a:p>
          <a:p>
            <a:r>
              <a:rPr lang="en-US" sz="1300" dirty="0"/>
              <a:t>- personalized message builder</a:t>
            </a:r>
          </a:p>
          <a:p>
            <a:endParaRPr lang="en-US" sz="1300" dirty="0"/>
          </a:p>
          <a:p>
            <a:r>
              <a:rPr lang="en-US" sz="1300" dirty="0"/>
              <a:t>Keep students out of feature sprawl. </a:t>
            </a:r>
          </a:p>
          <a:p>
            <a:r>
              <a:rPr lang="en-US" sz="1300" dirty="0"/>
              <a:t>If a student is stuck, reduce scope until the value flow is visible again.</a:t>
            </a:r>
          </a:p>
          <a:p>
            <a:br>
              <a:rPr lang="en-US" sz="1300" dirty="0"/>
            </a:br>
            <a:r>
              <a:rPr lang="en-US" sz="1300" b="1" dirty="0"/>
              <a:t>**Transition Cue:**</a:t>
            </a:r>
            <a:endParaRPr lang="en-US" sz="1300" dirty="0"/>
          </a:p>
          <a:p>
            <a:r>
              <a:rPr lang="en-US" sz="1300" dirty="0"/>
              <a:t>The submission should preserve the work and one explanation.</a:t>
            </a:r>
          </a:p>
          <a:p>
            <a:br>
              <a:rPr lang="en-US" sz="1300" dirty="0"/>
            </a:br>
            <a:r>
              <a:rPr lang="en-US" sz="1300" b="1" dirty="0"/>
              <a:t>**Lab Connection:**</a:t>
            </a:r>
            <a:endParaRPr lang="en-US" sz="1300" dirty="0"/>
          </a:p>
          <a:p>
            <a:r>
              <a:rPr lang="en-US" sz="1300" dirty="0"/>
              <a:t>This closes Assignment 1 - First Programs.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06866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894C2-4DA7-D2A0-C872-5A65E863E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9EB713-DF24-B39B-888E-F71CC931A4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6FE7B-CF07-6BA8-3289-8FAE7E4906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DB8CEB-3760-653F-428D-2D65580570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39371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9B767-226F-091B-9CD6-4DCE2693D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103F7D-0D4F-2BD6-8A53-D3E3E3AA93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E6C406-BBE4-A4ED-CF16-1EB35489DC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300" b="1" dirty="0"/>
              <a:t>**Instructor Notes:**</a:t>
            </a:r>
            <a:endParaRPr lang="en-US" sz="1300" dirty="0"/>
          </a:p>
          <a:p>
            <a:r>
              <a:rPr lang="en-US" sz="1300" dirty="0"/>
              <a:t>Keep evidence requirements aligned with Assignment 1:</a:t>
            </a:r>
          </a:p>
          <a:p>
            <a:r>
              <a:rPr lang="en-US" sz="1300" dirty="0"/>
              <a:t>- `.</a:t>
            </a:r>
            <a:r>
              <a:rPr lang="en-US" sz="1300" dirty="0" err="1"/>
              <a:t>py</a:t>
            </a:r>
            <a:r>
              <a:rPr lang="en-US" sz="1300" dirty="0"/>
              <a:t>` file or files</a:t>
            </a:r>
          </a:p>
          <a:p>
            <a:r>
              <a:rPr lang="en-US" sz="1300" dirty="0"/>
              <a:t>- clear filenames</a:t>
            </a:r>
          </a:p>
          <a:p>
            <a:r>
              <a:rPr lang="en-US" sz="1300" dirty="0"/>
              <a:t>- code that runs</a:t>
            </a:r>
          </a:p>
          <a:p>
            <a:r>
              <a:rPr lang="en-US" sz="1300" dirty="0"/>
              <a:t>- readable output</a:t>
            </a:r>
          </a:p>
          <a:p>
            <a:r>
              <a:rPr lang="en-US" sz="1300" dirty="0"/>
              <a:t>- brief explanation of one program's value flow</a:t>
            </a:r>
          </a:p>
          <a:p>
            <a:br>
              <a:rPr lang="en-US" sz="1300" dirty="0"/>
            </a:br>
            <a:r>
              <a:rPr lang="en-US" sz="1300" dirty="0"/>
              <a:t>For GitHub, reinforce that code and explanation should live together eventually. </a:t>
            </a:r>
          </a:p>
          <a:p>
            <a:r>
              <a:rPr lang="en-US" sz="1300" dirty="0"/>
              <a:t>However, do not let GitHub mechanics overtake the Assignment 1 target.</a:t>
            </a:r>
          </a:p>
          <a:p>
            <a:br>
              <a:rPr lang="en-US" sz="1300" dirty="0"/>
            </a:br>
            <a:r>
              <a:rPr lang="en-US" sz="1300" b="1" dirty="0"/>
              <a:t>**Transition Cue:**</a:t>
            </a:r>
            <a:endParaRPr lang="en-US" sz="1300" dirty="0"/>
          </a:p>
          <a:p>
            <a:r>
              <a:rPr lang="en-US" sz="1300" dirty="0"/>
              <a:t>The final Week 1 check is whether the programs run and make sense.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B28284-F35F-E178-A606-201FCCDEBB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71059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300" b="1" dirty="0"/>
              <a:t>**Instructor Notes:**</a:t>
            </a:r>
            <a:endParaRPr lang="en-US" sz="1300" dirty="0"/>
          </a:p>
          <a:p>
            <a:r>
              <a:rPr lang="en-US" sz="1300" dirty="0"/>
              <a:t>Ask:</a:t>
            </a:r>
          </a:p>
          <a:p>
            <a:r>
              <a:rPr lang="en-US" sz="1300" dirty="0"/>
              <a:t>- What values does one program use?</a:t>
            </a:r>
          </a:p>
          <a:p>
            <a:r>
              <a:rPr lang="en-US" sz="1300" dirty="0"/>
              <a:t>- What output does it produce?</a:t>
            </a:r>
          </a:p>
          <a:p>
            <a:r>
              <a:rPr lang="en-US" sz="1300" dirty="0"/>
              <a:t>- Where does a value change?</a:t>
            </a:r>
          </a:p>
          <a:p>
            <a:r>
              <a:rPr lang="en-US" sz="1300" dirty="0"/>
              <a:t>- Could you explain this script line by line to someone else?</a:t>
            </a:r>
          </a:p>
          <a:p>
            <a:endParaRPr lang="en-US" sz="1300" dirty="0"/>
          </a:p>
          <a:p>
            <a:r>
              <a:rPr lang="en-US" sz="1300" dirty="0"/>
              <a:t>Name the next step: Week 2 adds decisions and repetition.</a:t>
            </a:r>
          </a:p>
          <a:p>
            <a:br>
              <a:rPr lang="en-US" sz="1300" dirty="0"/>
            </a:br>
            <a:r>
              <a:rPr lang="en-US" sz="1300" b="1" dirty="0"/>
              <a:t>**Transition Cue:**</a:t>
            </a:r>
            <a:endParaRPr lang="en-US" sz="1300" dirty="0"/>
          </a:p>
          <a:p>
            <a:r>
              <a:rPr lang="en-US" sz="1300" dirty="0"/>
              <a:t>Next week, programs begin making choices and repeating work.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3335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196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50000"/>
                <a:alpha val="7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lumMod val="75000"/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16E1E9-1B50-BC39-BE3A-AFDDF27CC4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0594" y="300327"/>
            <a:ext cx="1196045" cy="526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939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DEB143-89C9-076B-466C-73BE156FD5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84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015F4D-DE23-F2FC-1853-93512C13AB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0594" y="300327"/>
            <a:ext cx="1196045" cy="526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367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16E11E5-B722-B4E0-8233-E8E58F314B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211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CADA43D-D69A-D7AE-81F9-ED5E4E7A18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912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416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A1305F-50C0-9117-EE66-5430C74994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414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14F403-DB38-13CA-CC40-CAE2A08832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6443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244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B8750C-22DC-D652-EE9D-9D81650FC9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8240" y="185696"/>
            <a:ext cx="726014" cy="319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369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19628F-1787-26D4-A797-33B2104580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3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05115D-2B3B-A0F2-8B96-FF372AE76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7795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9252F8-DFBE-EC79-0D43-E7702CC2845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0797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252413-6471-13E8-59E6-F7EEDC0F0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6443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8940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449300-3D10-A0CB-2DB5-98F274AC66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1223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AFCF80-E27A-06C5-A850-78E5A5D2C2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9507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973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cxnSp>
          <p:nvCxnSpPr>
            <p:cNvPr id="7" name="Straight Connector 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50000"/>
                <a:alpha val="7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594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1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rawpixel.com/image/65575/survey-feedback-accountant-aerial-view-business-calculator-check-checklist-choice-coffee-computation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creativecommons.org/licenses/by-sa/3.0/" TargetMode="External"/><Relationship Id="rId5" Type="http://schemas.openxmlformats.org/officeDocument/2006/relationships/hyperlink" Target="https://commons.wikimedia.org/wiki/Category:Boxing_at_the_2017_Islamic_Solidarity_Games" TargetMode="External"/><Relationship Id="rId4" Type="http://schemas.openxmlformats.org/officeDocument/2006/relationships/hyperlink" Target="https://pxhere.com/en/photo/1042176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pickpik.com/search?q=desktop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-nc/3.0/" TargetMode="External"/><Relationship Id="rId4" Type="http://schemas.openxmlformats.org/officeDocument/2006/relationships/hyperlink" Target="https://www.duperrin.com/english/2025/02/12/ai-europe-entrerprises-ambition/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-nc/3.0/" TargetMode="External"/><Relationship Id="rId4" Type="http://schemas.openxmlformats.org/officeDocument/2006/relationships/hyperlink" Target="https://scarfedigitalsandbox.teach.educ.ubc.ca/explain-everything-lapplication-du-tableau-blanc-interactif/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97F88-6791-2CCC-FDDE-DEB157237E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0595" y="1358537"/>
            <a:ext cx="5826719" cy="2692299"/>
          </a:xfrm>
        </p:spPr>
        <p:txBody>
          <a:bodyPr/>
          <a:lstStyle/>
          <a:p>
            <a:r>
              <a:rPr lang="en-US" dirty="0"/>
              <a:t>Python Programming Foundations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F15B13-1D93-97F4-3DBC-B06CC6F120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Week 1 – First Programs and Basic Values</a:t>
            </a:r>
          </a:p>
          <a:p>
            <a:r>
              <a:rPr lang="en-US" i="1" dirty="0"/>
              <a:t>Day 3: “Basic Values Together”</a:t>
            </a:r>
          </a:p>
        </p:txBody>
      </p:sp>
    </p:spTree>
    <p:extLst>
      <p:ext uri="{BB962C8B-B14F-4D97-AF65-F5344CB8AC3E}">
        <p14:creationId xmlns:p14="http://schemas.microsoft.com/office/powerpoint/2010/main" val="3795026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334B4-98A7-ED8F-9DE6-CF252491F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559" y="609600"/>
            <a:ext cx="2796807" cy="13208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/>
              <a:t>Put The Pieces Together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D0210-D2E2-EE51-639B-E47A562C6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75" y="2160589"/>
            <a:ext cx="2790687" cy="35607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This week, you learned the smallest useful Python pieces.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Today, you combine them into tiny programs that run and make sense.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Placeholder 4">
            <a:extLst>
              <a:ext uri="{FF2B5EF4-FFF2-40B4-BE49-F238E27FC236}">
                <a16:creationId xmlns:a16="http://schemas.microsoft.com/office/drawing/2014/main" id="{1EF47081-4B0E-DB6C-3A72-3AA0C2F1F5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86" b="1786"/>
          <a:stretch>
            <a:fillRect/>
          </a:stretch>
        </p:blipFill>
        <p:spPr>
          <a:xfrm>
            <a:off x="3304562" y="2065763"/>
            <a:ext cx="4725832" cy="3041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642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7C0D926-DDB4-ABA2-F676-65368B8023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8611" r="23342" b="2"/>
          <a:stretch>
            <a:fillRect/>
          </a:stretch>
        </p:blipFill>
        <p:spPr>
          <a:xfrm>
            <a:off x="3202390" y="-1"/>
            <a:ext cx="5941610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4AE7D7-0CEB-F126-08CD-348C3A2A8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999" y="609600"/>
            <a:ext cx="2888343" cy="1320800"/>
          </a:xfrm>
        </p:spPr>
        <p:txBody>
          <a:bodyPr>
            <a:normAutofit/>
          </a:bodyPr>
          <a:lstStyle/>
          <a:p>
            <a:r>
              <a:rPr lang="en-US" dirty="0"/>
              <a:t>Quick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93D39-026B-C61D-D6A3-140878484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2160589"/>
            <a:ext cx="2888342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Monday made output visible.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Tuesday made numeric value flow visible.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5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7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9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31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33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35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3766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80265050-FD84-47EF-A163-6A481836C1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11B064D-F4EB-4312-AEEA-6AFDB257E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34303" y="-8467"/>
            <a:ext cx="3575050" cy="6866467"/>
            <a:chOff x="7425267" y="-8467"/>
            <a:chExt cx="4766733" cy="686646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7041201-C3DD-4181-B0E0-5C960FFE5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29A678F-8D0F-4F98-85A6-797199C550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ectangle 23">
              <a:extLst>
                <a:ext uri="{FF2B5EF4-FFF2-40B4-BE49-F238E27FC236}">
                  <a16:creationId xmlns:a16="http://schemas.microsoft.com/office/drawing/2014/main" id="{82463FFC-4B08-4AF2-AC5A-F681CE9772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Rectangle 25">
              <a:extLst>
                <a:ext uri="{FF2B5EF4-FFF2-40B4-BE49-F238E27FC236}">
                  <a16:creationId xmlns:a16="http://schemas.microsoft.com/office/drawing/2014/main" id="{87C110A9-8F54-42F4-9B19-8D33F94DE5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4" name="Isosceles Triangle 33">
              <a:extLst>
                <a:ext uri="{FF2B5EF4-FFF2-40B4-BE49-F238E27FC236}">
                  <a16:creationId xmlns:a16="http://schemas.microsoft.com/office/drawing/2014/main" id="{9F5AD5FC-19DB-4C66-BDDA-043A6AAC94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5" name="Rectangle 27">
              <a:extLst>
                <a:ext uri="{FF2B5EF4-FFF2-40B4-BE49-F238E27FC236}">
                  <a16:creationId xmlns:a16="http://schemas.microsoft.com/office/drawing/2014/main" id="{352A3EAD-426D-4399-B7E0-81D26F7003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6" name="Rectangle 28">
              <a:extLst>
                <a:ext uri="{FF2B5EF4-FFF2-40B4-BE49-F238E27FC236}">
                  <a16:creationId xmlns:a16="http://schemas.microsoft.com/office/drawing/2014/main" id="{F842EF93-A507-4796-A726-0D0A9B751C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7" name="Rectangle 29">
              <a:extLst>
                <a:ext uri="{FF2B5EF4-FFF2-40B4-BE49-F238E27FC236}">
                  <a16:creationId xmlns:a16="http://schemas.microsoft.com/office/drawing/2014/main" id="{24F1410B-DBCE-471A-97C3-B96C0A7BB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8" name="Isosceles Triangle 37">
              <a:extLst>
                <a:ext uri="{FF2B5EF4-FFF2-40B4-BE49-F238E27FC236}">
                  <a16:creationId xmlns:a16="http://schemas.microsoft.com/office/drawing/2014/main" id="{0BBC8502-8D68-4CE4-B690-2EBB6BCCDD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5BB2258-2A42-7358-855B-3C842DFCA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n-US" sz="3800"/>
              <a:t>What Counts as Success Today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E77CD7A-FE9E-475D-BF9C-78183B0B1B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06968" y="0"/>
            <a:ext cx="483703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E8FB340-C6CC-FE68-2C30-7F4BB19196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2251381"/>
              </p:ext>
            </p:extLst>
          </p:nvPr>
        </p:nvGraphicFramePr>
        <p:xfrm>
          <a:off x="3639407" y="944564"/>
          <a:ext cx="5019610" cy="48231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82066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C1AD2-E72F-7796-291A-36CD12160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r>
              <a:rPr lang="en-US" sz="3300" dirty="0"/>
              <a:t>What We Will Use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EEC5C-1292-A4A2-1E2D-A19D199A8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r>
              <a:rPr lang="en-US" dirty="0"/>
              <a:t>strings</a:t>
            </a:r>
          </a:p>
          <a:p>
            <a:r>
              <a:rPr lang="en-US" dirty="0"/>
              <a:t>numbers</a:t>
            </a:r>
          </a:p>
          <a:p>
            <a:r>
              <a:rPr lang="en-US" dirty="0"/>
              <a:t>variables</a:t>
            </a:r>
          </a:p>
          <a:p>
            <a:r>
              <a:rPr lang="en-US" dirty="0"/>
              <a:t>simple expressions</a:t>
            </a:r>
          </a:p>
          <a:p>
            <a:r>
              <a:rPr lang="en-US" dirty="0"/>
              <a:t>`</a:t>
            </a:r>
            <a:r>
              <a:rPr lang="en-US" b="1" dirty="0">
                <a:solidFill>
                  <a:srgbClr val="00B050"/>
                </a:solidFill>
              </a:rPr>
              <a:t>print()</a:t>
            </a:r>
            <a:r>
              <a:rPr lang="en-US" dirty="0"/>
              <a:t>` </a:t>
            </a:r>
          </a:p>
          <a:p>
            <a:r>
              <a:rPr lang="en-US" dirty="0"/>
              <a:t>optional `</a:t>
            </a:r>
            <a:r>
              <a:rPr lang="en-US" b="1" dirty="0">
                <a:solidFill>
                  <a:srgbClr val="00B050"/>
                </a:solidFill>
              </a:rPr>
              <a:t>input()</a:t>
            </a:r>
            <a:r>
              <a:rPr lang="en-US" dirty="0"/>
              <a:t>` if stable</a:t>
            </a:r>
          </a:p>
          <a:p>
            <a:r>
              <a:rPr lang="en-US" dirty="0"/>
              <a:t>basic type awareness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8" name="Picture 27" descr="Computer script on a screen">
            <a:extLst>
              <a:ext uri="{FF2B5EF4-FFF2-40B4-BE49-F238E27FC236}">
                <a16:creationId xmlns:a16="http://schemas.microsoft.com/office/drawing/2014/main" id="{38D50984-DDEB-A743-533E-89C11F357B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423" r="50195" b="-2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42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3CD81-691C-9197-92B1-AEA221AE5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F2BAC28-12E8-A0E4-5050-9081F568A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476" y="4750526"/>
            <a:ext cx="6216024" cy="10966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dirty="0"/>
              <a:t>Working Set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20A57260-8654-4F62-ACA9-C96B91725BB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1786" b="1786"/>
          <a:stretch>
            <a:fillRect/>
          </a:stretch>
        </p:blipFill>
        <p:spPr>
          <a:xfrm>
            <a:off x="609600" y="609600"/>
            <a:ext cx="64008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391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9ADFD-69D3-36DB-4A46-154C5283E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6266B0-002D-A3E1-56EF-0ACA450B0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476" y="4750526"/>
            <a:ext cx="6216024" cy="10966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dirty="0"/>
              <a:t>What to “Skip” for Now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64BF3059-23CA-24D3-936F-42DEAA33484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1786" b="1786"/>
          <a:stretch>
            <a:fillRect/>
          </a:stretch>
        </p:blipFill>
        <p:spPr>
          <a:xfrm>
            <a:off x="609600" y="609600"/>
            <a:ext cx="64008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783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9402FC-CA91-9A29-8255-099318FEC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4">
            <a:extLst>
              <a:ext uri="{FF2B5EF4-FFF2-40B4-BE49-F238E27FC236}">
                <a16:creationId xmlns:a16="http://schemas.microsoft.com/office/drawing/2014/main" id="{06BB9702-8E19-60DF-D534-8EB21F0745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86" b="1786"/>
          <a:stretch>
            <a:fillRect/>
          </a:stretch>
        </p:blipFill>
        <p:spPr>
          <a:xfrm>
            <a:off x="460704" y="851231"/>
            <a:ext cx="6283517" cy="4044429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D4DD87-9CE4-3285-4403-210028ED86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900" y="5138113"/>
            <a:ext cx="6283518" cy="9093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300" dirty="0"/>
              <a:t>A useful first program does not have to be large.</a:t>
            </a:r>
          </a:p>
          <a:p>
            <a:pPr marL="0" indent="0">
              <a:buNone/>
            </a:pPr>
            <a:r>
              <a:rPr lang="en-US" sz="1300" dirty="0"/>
              <a:t>It only needs a clear purpose, visible output, and values you can explain.</a:t>
            </a:r>
          </a:p>
        </p:txBody>
      </p:sp>
    </p:spTree>
    <p:extLst>
      <p:ext uri="{BB962C8B-B14F-4D97-AF65-F5344CB8AC3E}">
        <p14:creationId xmlns:p14="http://schemas.microsoft.com/office/powerpoint/2010/main" val="1748441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4C4931-48D4-C28E-379D-215B65B77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DB048F-FE56-CDE2-41C7-D36B5259E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7171" y="609600"/>
            <a:ext cx="4818330" cy="1320800"/>
          </a:xfrm>
        </p:spPr>
        <p:txBody>
          <a:bodyPr>
            <a:normAutofit/>
          </a:bodyPr>
          <a:lstStyle/>
          <a:p>
            <a:r>
              <a:rPr lang="en-US"/>
              <a:t>Combine Values Carefully</a:t>
            </a:r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9F8803AC-EE0E-40C2-AD46-FD84FAD82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187" y="3822970"/>
            <a:ext cx="372084" cy="2918298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 descr="Sticky notes with question marks">
            <a:extLst>
              <a:ext uri="{FF2B5EF4-FFF2-40B4-BE49-F238E27FC236}">
                <a16:creationId xmlns:a16="http://schemas.microsoft.com/office/drawing/2014/main" id="{CB5EA5E4-0306-16B3-8033-3222138307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875" r="36167" b="-2"/>
          <a:stretch>
            <a:fillRect/>
          </a:stretch>
        </p:blipFill>
        <p:spPr>
          <a:xfrm>
            <a:off x="20" y="1"/>
            <a:ext cx="2050522" cy="6858000"/>
          </a:xfrm>
          <a:custGeom>
            <a:avLst/>
            <a:gdLst/>
            <a:ahLst/>
            <a:cxnLst/>
            <a:rect l="l" t="t" r="r" b="b"/>
            <a:pathLst>
              <a:path w="2734056" h="6858000">
                <a:moveTo>
                  <a:pt x="0" y="0"/>
                </a:moveTo>
                <a:lnTo>
                  <a:pt x="1674254" y="0"/>
                </a:lnTo>
                <a:lnTo>
                  <a:pt x="2734056" y="6850199"/>
                </a:lnTo>
                <a:lnTo>
                  <a:pt x="2734056" y="6858000"/>
                </a:lnTo>
                <a:lnTo>
                  <a:pt x="461457" y="6858000"/>
                </a:lnTo>
                <a:lnTo>
                  <a:pt x="0" y="4134118"/>
                </a:lnTo>
                <a:close/>
              </a:path>
            </a:pathLst>
          </a:custGeom>
        </p:spPr>
      </p:pic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051A3413-562D-435C-AAE4-56808F0CBC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1"/>
            <a:ext cx="357491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188BE8-3546-6E62-67B4-6AAC1BAE60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7171" y="2160589"/>
            <a:ext cx="4818330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Your program may use text and numbers together.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important question is whether you can explain each value's role.</a:t>
            </a:r>
          </a:p>
        </p:txBody>
      </p:sp>
    </p:spTree>
    <p:extLst>
      <p:ext uri="{BB962C8B-B14F-4D97-AF65-F5344CB8AC3E}">
        <p14:creationId xmlns:p14="http://schemas.microsoft.com/office/powerpoint/2010/main" val="7592672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2CA0BA-7358-A99B-6983-096C79E82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6106F7D-158A-443C-4D2F-A1D5854A5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7171" y="609600"/>
            <a:ext cx="4818330" cy="1320800"/>
          </a:xfrm>
        </p:spPr>
        <p:txBody>
          <a:bodyPr>
            <a:normAutofit/>
          </a:bodyPr>
          <a:lstStyle/>
          <a:p>
            <a:r>
              <a:rPr lang="en-US" dirty="0"/>
              <a:t>Type Awareness Through Use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9F8803AC-EE0E-40C2-AD46-FD84FAD82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187" y="3822970"/>
            <a:ext cx="372084" cy="2918298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 descr="Rubberized numbers on the wall">
            <a:extLst>
              <a:ext uri="{FF2B5EF4-FFF2-40B4-BE49-F238E27FC236}">
                <a16:creationId xmlns:a16="http://schemas.microsoft.com/office/drawing/2014/main" id="{1E19025F-530F-BD4C-3145-ADB521B01C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460" r="36582" b="-2"/>
          <a:stretch>
            <a:fillRect/>
          </a:stretch>
        </p:blipFill>
        <p:spPr>
          <a:xfrm>
            <a:off x="20" y="1"/>
            <a:ext cx="2050522" cy="6858000"/>
          </a:xfrm>
          <a:custGeom>
            <a:avLst/>
            <a:gdLst/>
            <a:ahLst/>
            <a:cxnLst/>
            <a:rect l="l" t="t" r="r" b="b"/>
            <a:pathLst>
              <a:path w="2734056" h="6858000">
                <a:moveTo>
                  <a:pt x="0" y="0"/>
                </a:moveTo>
                <a:lnTo>
                  <a:pt x="1674254" y="0"/>
                </a:lnTo>
                <a:lnTo>
                  <a:pt x="2734056" y="6850199"/>
                </a:lnTo>
                <a:lnTo>
                  <a:pt x="2734056" y="6858000"/>
                </a:lnTo>
                <a:lnTo>
                  <a:pt x="461457" y="6858000"/>
                </a:lnTo>
                <a:lnTo>
                  <a:pt x="0" y="4134118"/>
                </a:lnTo>
                <a:close/>
              </a:path>
            </a:pathLst>
          </a:custGeom>
        </p:spPr>
      </p:pic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051A3413-562D-435C-AAE4-56808F0CBC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1"/>
            <a:ext cx="357491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F4DF5C9-E895-79E8-B1CE-FDB4E2C10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7171" y="2160589"/>
            <a:ext cx="4818330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Week 1, recognize:</a:t>
            </a:r>
          </a:p>
          <a:p>
            <a:r>
              <a:rPr lang="en-US" dirty="0"/>
              <a:t>Text</a:t>
            </a:r>
          </a:p>
          <a:p>
            <a:r>
              <a:rPr lang="en-US" dirty="0"/>
              <a:t>Whole numbers</a:t>
            </a:r>
          </a:p>
          <a:p>
            <a:r>
              <a:rPr lang="en-US" dirty="0"/>
              <a:t>Decimal numbers</a:t>
            </a:r>
          </a:p>
          <a:p>
            <a:r>
              <a:rPr lang="en-US" dirty="0"/>
              <a:t>True/false values (boolean)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4687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F6E08-2C06-7993-FFDE-844D89DE6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FBF52DF-7226-FA90-E181-3F9BAC8F8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476" y="4750526"/>
            <a:ext cx="6216024" cy="10966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dirty="0"/>
              <a:t>Type Awareness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1282D913-C839-A724-5217-19F56F8FC73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1786" b="1786"/>
          <a:stretch>
            <a:fillRect/>
          </a:stretch>
        </p:blipFill>
        <p:spPr>
          <a:xfrm>
            <a:off x="609600" y="609600"/>
            <a:ext cx="64008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978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2B532D-8DE1-5594-1185-B787B9288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E3ECB6-A671-4B78-9F55-A081EE121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r>
              <a:rPr lang="en-US" sz="3300"/>
              <a:t>Explain Every Main Line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D5927D-7C04-68E0-3F00-26732E48A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Before submitting Assignment 1, ask: can I explain every main line?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If a line works but you cannot explain it, slow down and inspect it.</a:t>
            </a:r>
          </a:p>
        </p:txBody>
      </p:sp>
      <p:pic>
        <p:nvPicPr>
          <p:cNvPr id="7" name="Picture 6" descr="Color pencils drawing curves on background">
            <a:extLst>
              <a:ext uri="{FF2B5EF4-FFF2-40B4-BE49-F238E27FC236}">
                <a16:creationId xmlns:a16="http://schemas.microsoft.com/office/drawing/2014/main" id="{DC48DAB9-0A25-81F9-5D41-E966CB9A2E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0619" r="-2" b="-2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543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AE27B9D-0F04-458B-A718-F84902C79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7AB6435-428E-44C8-A107-8435183F6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59658D-9AE1-44D3-B002-2BA204AB9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23">
              <a:extLst>
                <a:ext uri="{FF2B5EF4-FFF2-40B4-BE49-F238E27FC236}">
                  <a16:creationId xmlns:a16="http://schemas.microsoft.com/office/drawing/2014/main" id="{2083C874-CFCD-47ED-9F98-DDB125C9C0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6" name="Rectangle 25">
              <a:extLst>
                <a:ext uri="{FF2B5EF4-FFF2-40B4-BE49-F238E27FC236}">
                  <a16:creationId xmlns:a16="http://schemas.microsoft.com/office/drawing/2014/main" id="{605E9946-A240-42E3-B6CD-E6691BF467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315B1B45-25C3-4C58-8EB8-41BCFA02A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8" name="Rectangle 27">
              <a:extLst>
                <a:ext uri="{FF2B5EF4-FFF2-40B4-BE49-F238E27FC236}">
                  <a16:creationId xmlns:a16="http://schemas.microsoft.com/office/drawing/2014/main" id="{87983A9A-7A69-406F-AFEA-AD2AE87E1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9" name="Rectangle 28">
              <a:extLst>
                <a:ext uri="{FF2B5EF4-FFF2-40B4-BE49-F238E27FC236}">
                  <a16:creationId xmlns:a16="http://schemas.microsoft.com/office/drawing/2014/main" id="{FFCBC4EF-C03E-4EED-9E9A-3097DECC0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0" name="Rectangle 29">
              <a:extLst>
                <a:ext uri="{FF2B5EF4-FFF2-40B4-BE49-F238E27FC236}">
                  <a16:creationId xmlns:a16="http://schemas.microsoft.com/office/drawing/2014/main" id="{F56545EE-F94F-4B4C-AA43-9D6745664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2FE2A6B2-D45B-484C-BAFD-3F45082664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C2132BF-207E-4FB2-B0FE-E6FD0A1D18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</p:grpSp>
      <p:pic>
        <p:nvPicPr>
          <p:cNvPr id="7" name="Picture 6" descr="Camera lens close up">
            <a:extLst>
              <a:ext uri="{FF2B5EF4-FFF2-40B4-BE49-F238E27FC236}">
                <a16:creationId xmlns:a16="http://schemas.microsoft.com/office/drawing/2014/main" id="{3F92D707-4F6F-1707-563F-DAA7E83D0F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91" t="909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34257526-B660-46EC-83FB-51CCCEF4D5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5E54613B-CC3A-459D-97E1-23B891DE9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3405" y="0"/>
            <a:ext cx="5486400" cy="6858000"/>
          </a:xfrm>
          <a:prstGeom prst="parallelogram">
            <a:avLst>
              <a:gd name="adj" fmla="val 14937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B21385D-063D-42D0-BD60-907E9F826D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921B275-E6A3-4146-9F5F-5CD28092A3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23">
            <a:extLst>
              <a:ext uri="{FF2B5EF4-FFF2-40B4-BE49-F238E27FC236}">
                <a16:creationId xmlns:a16="http://schemas.microsoft.com/office/drawing/2014/main" id="{28E190A5-6423-4EE2-AF46-8B82F34BC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34" name="Rectangle 25">
            <a:extLst>
              <a:ext uri="{FF2B5EF4-FFF2-40B4-BE49-F238E27FC236}">
                <a16:creationId xmlns:a16="http://schemas.microsoft.com/office/drawing/2014/main" id="{4A97AE97-5706-400B-8F09-602A25EA1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0860785A-BE10-40E0-8A0F-805CD3F59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FC93F9C-2692-8651-EDC7-6D41F5D66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8150" y="1678665"/>
            <a:ext cx="3427352" cy="236913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 dirty="0"/>
              <a:t>Demo #1</a:t>
            </a:r>
          </a:p>
        </p:txBody>
      </p:sp>
      <p:sp>
        <p:nvSpPr>
          <p:cNvPr id="38" name="Rectangle 27">
            <a:extLst>
              <a:ext uri="{FF2B5EF4-FFF2-40B4-BE49-F238E27FC236}">
                <a16:creationId xmlns:a16="http://schemas.microsoft.com/office/drawing/2014/main" id="{2CD66695-C096-4E32-9AC2-19B4EFD66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40" name="Rectangle 28">
            <a:extLst>
              <a:ext uri="{FF2B5EF4-FFF2-40B4-BE49-F238E27FC236}">
                <a16:creationId xmlns:a16="http://schemas.microsoft.com/office/drawing/2014/main" id="{A97E83CA-07FA-4B94-A213-9E6DA6FAC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42" name="Rectangle 29">
            <a:extLst>
              <a:ext uri="{FF2B5EF4-FFF2-40B4-BE49-F238E27FC236}">
                <a16:creationId xmlns:a16="http://schemas.microsoft.com/office/drawing/2014/main" id="{A531E02F-6391-4B0C-B1E1-D67E8EFC4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568558EC-35CA-4EC8-BB31-75AB78ACA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8DFD8B-5C86-3290-9577-EDD61563B509}"/>
              </a:ext>
            </a:extLst>
          </p:cNvPr>
          <p:cNvSpPr txBox="1"/>
          <p:nvPr/>
        </p:nvSpPr>
        <p:spPr>
          <a:xfrm>
            <a:off x="3879669" y="4558937"/>
            <a:ext cx="3320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B4F8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“</a:t>
            </a:r>
            <a:r>
              <a:rPr lang="en-US" dirty="0">
                <a:solidFill>
                  <a:srgbClr val="0B4F8A"/>
                </a:solidFill>
                <a:latin typeface="Trebuchet MS" panose="020B0603020202020204"/>
              </a:rPr>
              <a:t>Basic Type Awareness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B4F8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587673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312A9D-A900-39EC-1EFA-AD548E92A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r>
              <a:rPr lang="en-US" dirty="0"/>
              <a:t>What to watch for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7981869-44BD-6366-C29A-B2CB8A8C4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As the demo runs, watch for two things:</a:t>
            </a:r>
          </a:p>
          <a:p>
            <a:r>
              <a:rPr lang="en-US" dirty="0"/>
              <a:t>How the program stores several different kinds of values.</a:t>
            </a:r>
          </a:p>
          <a:p>
            <a:r>
              <a:rPr lang="en-US" dirty="0"/>
              <a:t>Recognition. This is the goal - </a:t>
            </a:r>
            <a:r>
              <a:rPr lang="en-US" b="1" i="1" dirty="0">
                <a:solidFill>
                  <a:srgbClr val="FF0000"/>
                </a:solidFill>
              </a:rPr>
              <a:t>not</a:t>
            </a:r>
            <a:r>
              <a:rPr lang="en-US" dirty="0"/>
              <a:t> a full type inventory.</a:t>
            </a:r>
          </a:p>
        </p:txBody>
      </p:sp>
      <p:pic>
        <p:nvPicPr>
          <p:cNvPr id="7" name="Picture 6" descr="Analogue wall clock">
            <a:extLst>
              <a:ext uri="{FF2B5EF4-FFF2-40B4-BE49-F238E27FC236}">
                <a16:creationId xmlns:a16="http://schemas.microsoft.com/office/drawing/2014/main" id="{76347893-85AD-4451-AC62-62B0694C35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476" r="37289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15958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B8D4C-9116-5CBF-B4DB-D35E166A5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8A143EE-A892-65C9-97B0-CF22E18A5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476" y="4750526"/>
            <a:ext cx="6216024" cy="10966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dirty="0"/>
              <a:t>Type Demo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B48C89F9-75D2-2F1D-0A0B-28560FE38E0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1786" b="1786"/>
          <a:stretch>
            <a:fillRect/>
          </a:stretch>
        </p:blipFill>
        <p:spPr>
          <a:xfrm>
            <a:off x="609600" y="609600"/>
            <a:ext cx="64008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078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64D10A-DEEF-2913-C772-6C15BE7CB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6F32445-792B-E5A0-45AC-F3E824DBE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AF83F06-F711-984F-CD54-64AE6B4715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35AAE88-C577-1D74-4ECA-FD1D38459B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23">
              <a:extLst>
                <a:ext uri="{FF2B5EF4-FFF2-40B4-BE49-F238E27FC236}">
                  <a16:creationId xmlns:a16="http://schemas.microsoft.com/office/drawing/2014/main" id="{1FF699E2-0309-F2CC-8A88-97258775B5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6" name="Rectangle 25">
              <a:extLst>
                <a:ext uri="{FF2B5EF4-FFF2-40B4-BE49-F238E27FC236}">
                  <a16:creationId xmlns:a16="http://schemas.microsoft.com/office/drawing/2014/main" id="{47BE6979-9149-1A3F-65A2-63F82A5FEE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AB23EFB1-C466-698D-429C-C211C94DA8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8" name="Rectangle 27">
              <a:extLst>
                <a:ext uri="{FF2B5EF4-FFF2-40B4-BE49-F238E27FC236}">
                  <a16:creationId xmlns:a16="http://schemas.microsoft.com/office/drawing/2014/main" id="{04ECD833-F273-AACC-88E5-DE401084E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9" name="Rectangle 28">
              <a:extLst>
                <a:ext uri="{FF2B5EF4-FFF2-40B4-BE49-F238E27FC236}">
                  <a16:creationId xmlns:a16="http://schemas.microsoft.com/office/drawing/2014/main" id="{2D0A695B-308A-ED1B-AB77-ECD2CD05DF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0" name="Rectangle 29">
              <a:extLst>
                <a:ext uri="{FF2B5EF4-FFF2-40B4-BE49-F238E27FC236}">
                  <a16:creationId xmlns:a16="http://schemas.microsoft.com/office/drawing/2014/main" id="{AF1746FD-0FE5-C780-E9BC-510F8C4B7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460D4E3C-0110-CE5B-31EC-386FD21AFD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393CAFC7-E0C7-2E11-3263-101D5B84A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</p:grpSp>
      <p:pic>
        <p:nvPicPr>
          <p:cNvPr id="7" name="Picture 6" descr="Camera lens close up">
            <a:extLst>
              <a:ext uri="{FF2B5EF4-FFF2-40B4-BE49-F238E27FC236}">
                <a16:creationId xmlns:a16="http://schemas.microsoft.com/office/drawing/2014/main" id="{33D0ACA6-ABB8-47B7-F151-BDB2CF0798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91" t="909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5D3D1C5F-415A-75D0-7E0A-D85D18D7C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F4FC77B8-2D06-83E2-2A4F-350E47110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3405" y="0"/>
            <a:ext cx="5486400" cy="6858000"/>
          </a:xfrm>
          <a:prstGeom prst="parallelogram">
            <a:avLst>
              <a:gd name="adj" fmla="val 14937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CEA58FC-5640-941B-9447-2F4D042A6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4017D34-D03E-AA2C-A77D-225CF191E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23">
            <a:extLst>
              <a:ext uri="{FF2B5EF4-FFF2-40B4-BE49-F238E27FC236}">
                <a16:creationId xmlns:a16="http://schemas.microsoft.com/office/drawing/2014/main" id="{F8F1928A-337A-E630-F171-6EE2FF09BD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34" name="Rectangle 25">
            <a:extLst>
              <a:ext uri="{FF2B5EF4-FFF2-40B4-BE49-F238E27FC236}">
                <a16:creationId xmlns:a16="http://schemas.microsoft.com/office/drawing/2014/main" id="{AC4BF734-400E-C3AE-D49A-E612F9C30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15022CFD-4E62-9AAF-6449-D803B372F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840F9-DB6E-7C1D-67D4-F1D69B808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8150" y="1678665"/>
            <a:ext cx="3427352" cy="236913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 dirty="0"/>
              <a:t>Optional</a:t>
            </a:r>
            <a:br>
              <a:rPr lang="en-US" sz="5400" dirty="0"/>
            </a:br>
            <a:r>
              <a:rPr lang="en-US" sz="5400" dirty="0"/>
              <a:t>Demo #2</a:t>
            </a:r>
          </a:p>
        </p:txBody>
      </p:sp>
      <p:sp>
        <p:nvSpPr>
          <p:cNvPr id="38" name="Rectangle 27">
            <a:extLst>
              <a:ext uri="{FF2B5EF4-FFF2-40B4-BE49-F238E27FC236}">
                <a16:creationId xmlns:a16="http://schemas.microsoft.com/office/drawing/2014/main" id="{E499EA09-9A59-A820-76B1-07A484BBD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40" name="Rectangle 28">
            <a:extLst>
              <a:ext uri="{FF2B5EF4-FFF2-40B4-BE49-F238E27FC236}">
                <a16:creationId xmlns:a16="http://schemas.microsoft.com/office/drawing/2014/main" id="{4A1A5531-EB67-71C6-5C91-D9B315D816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42" name="Rectangle 29">
            <a:extLst>
              <a:ext uri="{FF2B5EF4-FFF2-40B4-BE49-F238E27FC236}">
                <a16:creationId xmlns:a16="http://schemas.microsoft.com/office/drawing/2014/main" id="{7EFA0142-A60F-28C5-E240-26887262A7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630A30C5-BFFE-E25C-B149-5C42831E4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543FD9-746D-0687-50F8-896260E44896}"/>
              </a:ext>
            </a:extLst>
          </p:cNvPr>
          <p:cNvSpPr txBox="1"/>
          <p:nvPr/>
        </p:nvSpPr>
        <p:spPr>
          <a:xfrm>
            <a:off x="3879669" y="4558937"/>
            <a:ext cx="3320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B4F8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“Input And Number Conversion”</a:t>
            </a:r>
          </a:p>
        </p:txBody>
      </p:sp>
    </p:spTree>
    <p:extLst>
      <p:ext uri="{BB962C8B-B14F-4D97-AF65-F5344CB8AC3E}">
        <p14:creationId xmlns:p14="http://schemas.microsoft.com/office/powerpoint/2010/main" val="6074243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D85B7-E617-7232-3D45-118C5B1AF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Optional Demo: </a:t>
            </a:r>
            <a:br>
              <a:rPr lang="en-US" sz="2800" dirty="0"/>
            </a:br>
            <a:r>
              <a:rPr lang="en-US" sz="2800" dirty="0"/>
              <a:t>Input And Number Conversion</a:t>
            </a:r>
            <a:endParaRPr lang="en-US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23AC4-941F-5169-DAA0-DF23E55C8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r>
              <a:rPr lang="en-US" dirty="0"/>
              <a:t>When users type into `</a:t>
            </a:r>
            <a:r>
              <a:rPr lang="en-US" b="1" dirty="0">
                <a:solidFill>
                  <a:srgbClr val="00B050"/>
                </a:solidFill>
              </a:rPr>
              <a:t>input()</a:t>
            </a:r>
            <a:r>
              <a:rPr lang="en-US" dirty="0"/>
              <a:t>`, Python receives text first.</a:t>
            </a:r>
          </a:p>
          <a:p>
            <a:r>
              <a:rPr lang="en-US" dirty="0"/>
              <a:t>For math, the text must be converted into a number.</a:t>
            </a:r>
          </a:p>
        </p:txBody>
      </p:sp>
      <p:pic>
        <p:nvPicPr>
          <p:cNvPr id="5" name="Picture 4" descr="Blue and orange gradient with arrows">
            <a:extLst>
              <a:ext uri="{FF2B5EF4-FFF2-40B4-BE49-F238E27FC236}">
                <a16:creationId xmlns:a16="http://schemas.microsoft.com/office/drawing/2014/main" id="{12D2ACC5-5A3D-BA22-57E5-C46C8A5944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083" r="18517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26417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9AE27B9D-0F04-458B-A718-F84902C79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7AB6435-428E-44C8-A107-8435183F6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659658D-9AE1-44D3-B002-2BA204AB9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3">
              <a:extLst>
                <a:ext uri="{FF2B5EF4-FFF2-40B4-BE49-F238E27FC236}">
                  <a16:creationId xmlns:a16="http://schemas.microsoft.com/office/drawing/2014/main" id="{2083C874-CFCD-47ED-9F98-DDB125C9C0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5">
              <a:extLst>
                <a:ext uri="{FF2B5EF4-FFF2-40B4-BE49-F238E27FC236}">
                  <a16:creationId xmlns:a16="http://schemas.microsoft.com/office/drawing/2014/main" id="{605E9946-A240-42E3-B6CD-E6691BF467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315B1B45-25C3-4C58-8EB8-41BCFA02A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Rectangle 27">
              <a:extLst>
                <a:ext uri="{FF2B5EF4-FFF2-40B4-BE49-F238E27FC236}">
                  <a16:creationId xmlns:a16="http://schemas.microsoft.com/office/drawing/2014/main" id="{87983A9A-7A69-406F-AFEA-AD2AE87E1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Rectangle 28">
              <a:extLst>
                <a:ext uri="{FF2B5EF4-FFF2-40B4-BE49-F238E27FC236}">
                  <a16:creationId xmlns:a16="http://schemas.microsoft.com/office/drawing/2014/main" id="{FFCBC4EF-C03E-4EED-9E9A-3097DECC0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4" name="Rectangle 29">
              <a:extLst>
                <a:ext uri="{FF2B5EF4-FFF2-40B4-BE49-F238E27FC236}">
                  <a16:creationId xmlns:a16="http://schemas.microsoft.com/office/drawing/2014/main" id="{F56545EE-F94F-4B4C-AA43-9D6745664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5" name="Isosceles Triangle 34">
              <a:extLst>
                <a:ext uri="{FF2B5EF4-FFF2-40B4-BE49-F238E27FC236}">
                  <a16:creationId xmlns:a16="http://schemas.microsoft.com/office/drawing/2014/main" id="{2FE2A6B2-D45B-484C-BAFD-3F45082664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id="{EC2132BF-207E-4FB2-B0FE-E6FD0A1D18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FFE889AD-14B3-40E6-3823-CEBA1DC553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5570" r="21834"/>
          <a:stretch>
            <a:fillRect/>
          </a:stretch>
        </p:blipFill>
        <p:spPr>
          <a:xfrm>
            <a:off x="3202390" y="-1"/>
            <a:ext cx="5941610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8DDF171-02C0-A44A-24B0-0A4D1AB03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650" y="1678666"/>
            <a:ext cx="3066142" cy="23690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200"/>
              <a:t>Typing vs. Copy-Paste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FB8392-0086-AD52-9CE9-DFE46923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8001" y="4050831"/>
            <a:ext cx="3059791" cy="109690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endParaRPr lang="en-US" sz="140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57C1A16-B8AB-4D99-A195-A38F556A6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8A9B20B-D1DD-4573-B5EC-558029519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23">
            <a:extLst>
              <a:ext uri="{FF2B5EF4-FFF2-40B4-BE49-F238E27FC236}">
                <a16:creationId xmlns:a16="http://schemas.microsoft.com/office/drawing/2014/main" id="{66D61E08-70C3-48D8-BEA0-787111DC3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4" name="Rectangle 25">
            <a:extLst>
              <a:ext uri="{FF2B5EF4-FFF2-40B4-BE49-F238E27FC236}">
                <a16:creationId xmlns:a16="http://schemas.microsoft.com/office/drawing/2014/main" id="{FC55298F-0AE5-478E-AD2B-03C2614C5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6" name="Isosceles Triangle 24">
            <a:extLst>
              <a:ext uri="{FF2B5EF4-FFF2-40B4-BE49-F238E27FC236}">
                <a16:creationId xmlns:a16="http://schemas.microsoft.com/office/drawing/2014/main" id="{C180E4EA-0B63-4779-A895-7E90E7108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8" name="Rectangle 27">
            <a:extLst>
              <a:ext uri="{FF2B5EF4-FFF2-40B4-BE49-F238E27FC236}">
                <a16:creationId xmlns:a16="http://schemas.microsoft.com/office/drawing/2014/main" id="{CEE01D9D-3DE8-4EED-B0D3-8F3C79CC7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0" name="Rectangle 28">
            <a:extLst>
              <a:ext uri="{FF2B5EF4-FFF2-40B4-BE49-F238E27FC236}">
                <a16:creationId xmlns:a16="http://schemas.microsoft.com/office/drawing/2014/main" id="{89AF5CE9-607F-43F4-8983-DCD6DA405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2" name="Rectangle 29">
            <a:extLst>
              <a:ext uri="{FF2B5EF4-FFF2-40B4-BE49-F238E27FC236}">
                <a16:creationId xmlns:a16="http://schemas.microsoft.com/office/drawing/2014/main" id="{6EEA2DBD-9E1E-4521-8C01-F32AD18A8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4" name="Isosceles Triangle 29">
            <a:extLst>
              <a:ext uri="{FF2B5EF4-FFF2-40B4-BE49-F238E27FC236}">
                <a16:creationId xmlns:a16="http://schemas.microsoft.com/office/drawing/2014/main" id="{15BBD2C1-BA9B-46A9-A27A-33498B16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1534A6-3D31-BF3B-4747-440B4981FCD7}"/>
              </a:ext>
            </a:extLst>
          </p:cNvPr>
          <p:cNvSpPr txBox="1"/>
          <p:nvPr/>
        </p:nvSpPr>
        <p:spPr>
          <a:xfrm>
            <a:off x="6617346" y="6870700"/>
            <a:ext cx="2526654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5" tooltip="https://commons.wikimedia.org/wiki/Category:Boxing_at_the_2017_Islamic_Solidarity_Gam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6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US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97166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214C9-F3DD-BBAD-2D77-9C4E55B6D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Move: </a:t>
            </a:r>
            <a:br>
              <a:rPr lang="en-US" dirty="0"/>
            </a:br>
            <a:r>
              <a:rPr lang="en-US" i="1" dirty="0"/>
              <a:t>Type It When It Is New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5ABCC-AD9C-7663-98BC-465555BFE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Typing code can be part of learning.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Copying is not automatically wrong, but it should not replace understanding.</a:t>
            </a:r>
          </a:p>
        </p:txBody>
      </p:sp>
    </p:spTree>
    <p:extLst>
      <p:ext uri="{BB962C8B-B14F-4D97-AF65-F5344CB8AC3E}">
        <p14:creationId xmlns:p14="http://schemas.microsoft.com/office/powerpoint/2010/main" val="6836846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5890E-F9FE-06A6-39D5-3545A9349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9535" y="609600"/>
            <a:ext cx="4865966" cy="1320800"/>
          </a:xfrm>
        </p:spPr>
        <p:txBody>
          <a:bodyPr>
            <a:normAutofit/>
          </a:bodyPr>
          <a:lstStyle/>
          <a:p>
            <a:r>
              <a:rPr lang="en-US" dirty="0"/>
              <a:t>Typing it Out</a:t>
            </a:r>
          </a:p>
        </p:txBody>
      </p:sp>
      <p:pic>
        <p:nvPicPr>
          <p:cNvPr id="5" name="Picture 4" descr="Closeup of a keyboard">
            <a:extLst>
              <a:ext uri="{FF2B5EF4-FFF2-40B4-BE49-F238E27FC236}">
                <a16:creationId xmlns:a16="http://schemas.microsoft.com/office/drawing/2014/main" id="{37E98266-5B37-471D-1352-86378DE0AC4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 l="30321" r="50370" b="-1"/>
          <a:stretch>
            <a:fillRect/>
          </a:stretch>
        </p:blipFill>
        <p:spPr>
          <a:xfrm>
            <a:off x="20" y="10"/>
            <a:ext cx="2050522" cy="6876278"/>
          </a:xfrm>
          <a:custGeom>
            <a:avLst/>
            <a:gdLst/>
            <a:ahLst/>
            <a:cxnLst/>
            <a:rect l="l" t="t" r="r" b="b"/>
            <a:pathLst>
              <a:path w="2734056" h="6858000">
                <a:moveTo>
                  <a:pt x="0" y="0"/>
                </a:moveTo>
                <a:lnTo>
                  <a:pt x="1674254" y="0"/>
                </a:lnTo>
                <a:lnTo>
                  <a:pt x="2734056" y="6850199"/>
                </a:lnTo>
                <a:lnTo>
                  <a:pt x="2734056" y="6858000"/>
                </a:lnTo>
                <a:lnTo>
                  <a:pt x="842596" y="6858000"/>
                </a:lnTo>
                <a:lnTo>
                  <a:pt x="0" y="1191846"/>
                </a:lnTo>
                <a:close/>
              </a:path>
            </a:pathLst>
          </a:cu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58CB4BA4-5207-43FB-9FA5-62223EF71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1191846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44072-50DC-EEB5-8F15-6871220216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9535" y="2160589"/>
            <a:ext cx="4865966" cy="3880773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700"/>
              <a:t>Typing code manually slows the process down in a useful way.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/>
              <a:t>When you type an example, you are not just moving characters onto the screen. You are giving your mind time to process:</a:t>
            </a:r>
          </a:p>
          <a:p>
            <a:pPr>
              <a:lnSpc>
                <a:spcPct val="90000"/>
              </a:lnSpc>
            </a:pPr>
            <a:r>
              <a:rPr lang="en-US" sz="1700"/>
              <a:t>the order of the instructions</a:t>
            </a:r>
          </a:p>
          <a:p>
            <a:pPr>
              <a:lnSpc>
                <a:spcPct val="90000"/>
              </a:lnSpc>
            </a:pPr>
            <a:r>
              <a:rPr lang="en-US" sz="1700"/>
              <a:t>the names of variables</a:t>
            </a:r>
          </a:p>
          <a:p>
            <a:pPr>
              <a:lnSpc>
                <a:spcPct val="90000"/>
              </a:lnSpc>
            </a:pPr>
            <a:r>
              <a:rPr lang="en-US" sz="1700"/>
              <a:t>the structure of the logic</a:t>
            </a:r>
          </a:p>
          <a:p>
            <a:pPr>
              <a:lnSpc>
                <a:spcPct val="90000"/>
              </a:lnSpc>
            </a:pPr>
            <a:r>
              <a:rPr lang="en-US" sz="1700"/>
              <a:t>the punctuation and syntax</a:t>
            </a:r>
          </a:p>
          <a:p>
            <a:pPr>
              <a:lnSpc>
                <a:spcPct val="90000"/>
              </a:lnSpc>
            </a:pPr>
            <a:r>
              <a:rPr lang="en-US" sz="1700"/>
              <a:t>the relationship between one line and the next</a:t>
            </a:r>
          </a:p>
          <a:p>
            <a:pPr>
              <a:lnSpc>
                <a:spcPct val="90000"/>
              </a:lnSpc>
            </a:pPr>
            <a:r>
              <a:rPr lang="en-US" sz="1700"/>
              <a:t>what the program is actually doing</a:t>
            </a:r>
          </a:p>
        </p:txBody>
      </p:sp>
    </p:spTree>
    <p:extLst>
      <p:ext uri="{BB962C8B-B14F-4D97-AF65-F5344CB8AC3E}">
        <p14:creationId xmlns:p14="http://schemas.microsoft.com/office/powerpoint/2010/main" val="38335977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58CFD4-04DC-3CA4-A920-FBEA16FA3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FED2B-4997-60D2-EC31-6BFA99A6A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3048329" cy="1320800"/>
          </a:xfrm>
        </p:spPr>
        <p:txBody>
          <a:bodyPr>
            <a:normAutofit/>
          </a:bodyPr>
          <a:lstStyle/>
          <a:p>
            <a:r>
              <a:rPr lang="en-US" dirty="0"/>
              <a:t>Copying and Pasting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DF29B-B64C-DA80-E379-2A6550FDA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1930401"/>
            <a:ext cx="3560428" cy="4572000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Copying and pasting can also be appropriate. It may make sense when:</a:t>
            </a:r>
          </a:p>
          <a:p>
            <a:pPr>
              <a:lnSpc>
                <a:spcPct val="90000"/>
              </a:lnSpc>
            </a:pPr>
            <a:r>
              <a:rPr lang="en-US" sz="1500" dirty="0"/>
              <a:t>the code is long</a:t>
            </a:r>
          </a:p>
          <a:p>
            <a:pPr>
              <a:lnSpc>
                <a:spcPct val="90000"/>
              </a:lnSpc>
            </a:pPr>
            <a:r>
              <a:rPr lang="en-US" sz="1500" dirty="0"/>
              <a:t>the concept has already been learned</a:t>
            </a:r>
          </a:p>
          <a:p>
            <a:pPr>
              <a:lnSpc>
                <a:spcPct val="90000"/>
              </a:lnSpc>
            </a:pPr>
            <a:r>
              <a:rPr lang="en-US" sz="1500" dirty="0"/>
              <a:t>the focus is on a different part of the task</a:t>
            </a:r>
          </a:p>
          <a:p>
            <a:pPr>
              <a:lnSpc>
                <a:spcPct val="90000"/>
              </a:lnSpc>
            </a:pPr>
            <a:r>
              <a:rPr lang="en-US" sz="1500" dirty="0"/>
              <a:t>you understands the logic already</a:t>
            </a:r>
          </a:p>
          <a:p>
            <a:pPr>
              <a:lnSpc>
                <a:spcPct val="90000"/>
              </a:lnSpc>
            </a:pPr>
            <a:r>
              <a:rPr lang="en-US" sz="1500" dirty="0"/>
              <a:t>the code is being used as a scaffold for something else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Copy/paste becomes a problem when it replaces understanding. - Before copying, You should ask:</a:t>
            </a:r>
          </a:p>
          <a:p>
            <a:pPr>
              <a:lnSpc>
                <a:spcPct val="90000"/>
              </a:lnSpc>
            </a:pPr>
            <a:r>
              <a:rPr lang="en-US" sz="1500" dirty="0"/>
              <a:t>Do I understand what this code does?</a:t>
            </a:r>
          </a:p>
          <a:p>
            <a:pPr>
              <a:lnSpc>
                <a:spcPct val="90000"/>
              </a:lnSpc>
            </a:pPr>
            <a:r>
              <a:rPr lang="en-US" sz="1500" dirty="0"/>
              <a:t>Do I need to understand this more deeply right now?</a:t>
            </a:r>
          </a:p>
          <a:p>
            <a:pPr>
              <a:lnSpc>
                <a:spcPct val="90000"/>
              </a:lnSpc>
            </a:pPr>
            <a:r>
              <a:rPr lang="en-US" sz="1500" dirty="0"/>
              <a:t>Am I copying because it saves time, or because I am avoiding thinking?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E9F24A-4CDE-2C7B-F96F-D4B8BE4BFF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7163" r="39915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8304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95615-97CC-731A-3DE0-E2679B43C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/>
              <a:t>Connection to AI Prompting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F9F94-AB13-E0D5-C62F-CD1D8E2F3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1739901"/>
            <a:ext cx="3662028" cy="4737100"/>
          </a:xfrm>
        </p:spPr>
        <p:txBody>
          <a:bodyPr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400" dirty="0"/>
              <a:t>Typing a prompt is not just the act of entering text into a tool. It is often part of the thinking process.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 dirty="0"/>
              <a:t>As a person writes a prompt, they may: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clarify the goal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revise wording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discover missing constraints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notice ambiguity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reshape the request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improve the structure of their own thinking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 dirty="0"/>
              <a:t>This is closely connected to AI-assisted development and Refraction-Based Architecture.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The human is not merely asking AI for output </a:t>
            </a:r>
            <a:r>
              <a:rPr lang="en-US" sz="1400" b="1" i="1" dirty="0"/>
              <a:t>- The human is shaping intent!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8A92D7-31D6-FADD-CD5B-7A68D49FA0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33996" r="33997" b="1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49781B-C1F6-1EF6-2C98-115E78FCF267}"/>
              </a:ext>
            </a:extLst>
          </p:cNvPr>
          <p:cNvSpPr txBox="1"/>
          <p:nvPr/>
        </p:nvSpPr>
        <p:spPr>
          <a:xfrm>
            <a:off x="6602920" y="6657945"/>
            <a:ext cx="2541080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4" tooltip="https://www.duperrin.com/english/2025/02/12/ai-europe-entrerprises-ambition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5" tooltip="https://creativecommons.org/licenses/by-nc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</a:t>
            </a:r>
            <a:endParaRPr lang="en-US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23109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409AF-76DF-A685-A9BA-F2BC98B6E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2016837-AF84-C80F-6E88-6327782FD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476" y="4750526"/>
            <a:ext cx="6216024" cy="10966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dirty="0"/>
              <a:t>Typing vs Copy-Pasting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52978D16-56B4-DA7A-69D3-62BCB65A7C9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1786" b="1786"/>
          <a:stretch>
            <a:fillRect/>
          </a:stretch>
        </p:blipFill>
        <p:spPr>
          <a:xfrm>
            <a:off x="609600" y="609600"/>
            <a:ext cx="64008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9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D7B8F8F-4528-4480-AFA3-A006195F5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8A3B336-73FA-4302-BF92-6DAC2759A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Common Failure: </a:t>
            </a:r>
            <a:br>
              <a:rPr lang="en-US"/>
            </a:br>
            <a:r>
              <a:rPr lang="en-US"/>
              <a:t>Too Much Is Too Much</a:t>
            </a:r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4F8B2185-AE38-43EA-9FA9-E5378AD730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0D36BD5A-BF22-48CD-8A55-28B19177C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3AC76DC6-3835-EBD4-7789-99882608A0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4736369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247115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eacher pointing at laptop screen to young students">
            <a:extLst>
              <a:ext uri="{FF2B5EF4-FFF2-40B4-BE49-F238E27FC236}">
                <a16:creationId xmlns:a16="http://schemas.microsoft.com/office/drawing/2014/main" id="{21EE667E-D1D3-47FB-7D51-F105B92D6B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336" r="24832" b="-2"/>
          <a:stretch>
            <a:fillRect/>
          </a:stretch>
        </p:blipFill>
        <p:spPr>
          <a:xfrm>
            <a:off x="3202390" y="-1"/>
            <a:ext cx="5941610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77BAF64-BFE8-4FC5-ABD5-FE7E63356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999" y="609600"/>
            <a:ext cx="2888343" cy="1320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500"/>
              <a:t>Common Failure: </a:t>
            </a:r>
            <a:br>
              <a:rPr lang="en-US" sz="2500"/>
            </a:br>
            <a:r>
              <a:rPr lang="en-US" sz="2500"/>
              <a:t>Working But Unexplained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4F579-6F40-F0E4-3BC6-5A0247D949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2160589"/>
            <a:ext cx="2888342" cy="3880773"/>
          </a:xfrm>
        </p:spPr>
        <p:txBody>
          <a:bodyPr>
            <a:normAutofit/>
          </a:bodyPr>
          <a:lstStyle/>
          <a:p>
            <a:r>
              <a:rPr lang="en-US" dirty="0"/>
              <a:t>Code that runs is not the whole goal.</a:t>
            </a:r>
          </a:p>
          <a:p>
            <a:endParaRPr lang="en-US" dirty="0"/>
          </a:p>
          <a:p>
            <a:r>
              <a:rPr lang="en-US" dirty="0"/>
              <a:t>You also need to explain what values the program uses and what output it creates.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6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8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0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2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4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6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F3D433-F1F7-FA20-B858-06B356898D6B}"/>
              </a:ext>
            </a:extLst>
          </p:cNvPr>
          <p:cNvSpPr txBox="1"/>
          <p:nvPr/>
        </p:nvSpPr>
        <p:spPr>
          <a:xfrm>
            <a:off x="6602920" y="6870700"/>
            <a:ext cx="2541080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4" tooltip="https://scarfedigitalsandbox.teach.educ.ubc.ca/explain-everything-lapplication-du-tableau-blanc-interactif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5" tooltip="https://creativecommons.org/licenses/by-nc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</a:t>
            </a:r>
            <a:endParaRPr lang="en-US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04447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AF827-0A5A-D6D9-6C73-5ACE22424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r>
              <a:rPr lang="en-US" dirty="0"/>
              <a:t>From Demo to 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E31B9-CEED-D579-BC3C-E6F2B784D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Assignment 1:</a:t>
            </a:r>
          </a:p>
          <a:p>
            <a:r>
              <a:rPr lang="en-US" dirty="0"/>
              <a:t>Finish two or three tiny programs.</a:t>
            </a:r>
          </a:p>
          <a:p>
            <a:r>
              <a:rPr lang="en-US" dirty="0"/>
              <a:t>Each program should run, show output, and make sense when you explain it.</a:t>
            </a:r>
          </a:p>
        </p:txBody>
      </p:sp>
      <p:pic>
        <p:nvPicPr>
          <p:cNvPr id="5" name="Picture 4" descr="A row of samples for medical testing">
            <a:extLst>
              <a:ext uri="{FF2B5EF4-FFF2-40B4-BE49-F238E27FC236}">
                <a16:creationId xmlns:a16="http://schemas.microsoft.com/office/drawing/2014/main" id="{5406C1C5-46D3-5662-C887-3DA2319E77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375" r="4376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347200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A6175-141F-2613-3D9A-5D247F754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A31559-162B-D5D5-28F7-5753EE99C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476" y="4750526"/>
            <a:ext cx="6216024" cy="10966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dirty="0"/>
              <a:t>Assignment Completion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3F646139-5E79-EB64-54B4-4C6E110517D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1786" b="1786"/>
          <a:stretch>
            <a:fillRect/>
          </a:stretch>
        </p:blipFill>
        <p:spPr>
          <a:xfrm>
            <a:off x="609600" y="609600"/>
            <a:ext cx="64008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26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38BDB-E256-8E83-48FF-054389FFE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41A8D80-F6DC-B33A-300A-6F2E65207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476" y="4750526"/>
            <a:ext cx="6216024" cy="10966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dirty="0"/>
              <a:t>Assignment Evidence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9BE0F423-31BD-5C45-7351-7AFE0C3D382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1786" b="1786"/>
          <a:stretch>
            <a:fillRect/>
          </a:stretch>
        </p:blipFill>
        <p:spPr>
          <a:xfrm>
            <a:off x="609600" y="609600"/>
            <a:ext cx="64008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094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E9555-1E16-8E8B-E548-105BA59C0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 dirty="0"/>
              <a:t>Lab 0n Success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FF21A-F8C1-15AA-C705-4530AE58A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Week 1 worked if your small programs run and you can explain them.</a:t>
            </a:r>
          </a:p>
          <a:p>
            <a:r>
              <a:rPr lang="en-US" dirty="0"/>
              <a:t>Understanding what the code is doing: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What values does (each) program use?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What output does it produce?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Where does a value change?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Could you explain this script line by line to someone else?</a:t>
            </a:r>
          </a:p>
          <a:p>
            <a:endParaRPr lang="en-US" dirty="0"/>
          </a:p>
        </p:txBody>
      </p:sp>
      <p:pic>
        <p:nvPicPr>
          <p:cNvPr id="5" name="Picture 4" descr="Beakers with solution on shelf in lab">
            <a:extLst>
              <a:ext uri="{FF2B5EF4-FFF2-40B4-BE49-F238E27FC236}">
                <a16:creationId xmlns:a16="http://schemas.microsoft.com/office/drawing/2014/main" id="{255A690D-4CB8-0C66-184B-33949F8D65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287" r="24330" b="-2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5131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09B7E24-271E-4A3A-9D65-EE95ED972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5C59434-03B2-4F06-8362-A01DD785E2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FDF3815-C9F7-4B9E-A371-DE71C4E9D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23">
              <a:extLst>
                <a:ext uri="{FF2B5EF4-FFF2-40B4-BE49-F238E27FC236}">
                  <a16:creationId xmlns:a16="http://schemas.microsoft.com/office/drawing/2014/main" id="{34C30A41-6D9F-42F2-BE4A-B6D2E4400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5">
              <a:extLst>
                <a:ext uri="{FF2B5EF4-FFF2-40B4-BE49-F238E27FC236}">
                  <a16:creationId xmlns:a16="http://schemas.microsoft.com/office/drawing/2014/main" id="{8577AE11-EC00-4E67-9DDD-624E9DA123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406A24DE-7A6F-4459-9A79-712243D200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7">
              <a:extLst>
                <a:ext uri="{FF2B5EF4-FFF2-40B4-BE49-F238E27FC236}">
                  <a16:creationId xmlns:a16="http://schemas.microsoft.com/office/drawing/2014/main" id="{BFEBE697-7D77-4AC8-8E68-0483B47DF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8">
              <a:extLst>
                <a:ext uri="{FF2B5EF4-FFF2-40B4-BE49-F238E27FC236}">
                  <a16:creationId xmlns:a16="http://schemas.microsoft.com/office/drawing/2014/main" id="{49FC7B15-C721-4A23-8F6A-2CFA77C614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ectangle 29">
              <a:extLst>
                <a:ext uri="{FF2B5EF4-FFF2-40B4-BE49-F238E27FC236}">
                  <a16:creationId xmlns:a16="http://schemas.microsoft.com/office/drawing/2014/main" id="{164E8ACB-FC50-451D-AF0A-879ABC6EA6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D5F354A0-F0C9-4254-A913-DD68E78161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9B01B525-8D81-44A3-BC1F-C711B89D23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B291DAF8-8CBA-95A1-BEA8-AAD0C09C5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752" y="1265314"/>
            <a:ext cx="3572668" cy="3249131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800" dirty="0"/>
              <a:t>Thank you!</a:t>
            </a:r>
            <a:br>
              <a:rPr lang="en-US" sz="4800" dirty="0"/>
            </a:br>
            <a:br>
              <a:rPr lang="en-US" sz="4800" dirty="0"/>
            </a:br>
            <a:r>
              <a:rPr lang="en-US" sz="4800" dirty="0"/>
              <a:t>Have Fun!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E61A93-6BD2-677B-DBB4-F66B15926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30752" y="4514446"/>
            <a:ext cx="3224749" cy="871042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1800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ADC5C86B-28CE-4597-97B7-4C09E20141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380" y="1270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Graphic 8" descr="Thumbs Up Sign">
            <a:extLst>
              <a:ext uri="{FF2B5EF4-FFF2-40B4-BE49-F238E27FC236}">
                <a16:creationId xmlns:a16="http://schemas.microsoft.com/office/drawing/2014/main" id="{CD1A5982-49F4-6629-1884-3B7061C5B5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6453" y="2020850"/>
            <a:ext cx="2824269" cy="282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68223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Southwest Tech">
      <a:dk1>
        <a:srgbClr val="0B4F8A"/>
      </a:dk1>
      <a:lt1>
        <a:sysClr val="window" lastClr="FFFFFF"/>
      </a:lt1>
      <a:dk2>
        <a:srgbClr val="6F6F6F"/>
      </a:dk2>
      <a:lt2>
        <a:srgbClr val="F4F6F8"/>
      </a:lt2>
      <a:accent1>
        <a:srgbClr val="0B4F8A"/>
      </a:accent1>
      <a:accent2>
        <a:srgbClr val="2E73B8"/>
      </a:accent2>
      <a:accent3>
        <a:srgbClr val="F2B705"/>
      </a:accent3>
      <a:accent4>
        <a:srgbClr val="6F6F6F"/>
      </a:accent4>
      <a:accent5>
        <a:srgbClr val="2E73B8"/>
      </a:accent5>
      <a:accent6>
        <a:srgbClr val="F2B705"/>
      </a:accent6>
      <a:hlink>
        <a:srgbClr val="2E73B8"/>
      </a:hlink>
      <a:folHlink>
        <a:srgbClr val="0B4F8A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9305</TotalTime>
  <Words>2309</Words>
  <Application>Microsoft Office PowerPoint</Application>
  <PresentationFormat>On-screen Show (4:3)</PresentationFormat>
  <Paragraphs>329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Aptos</vt:lpstr>
      <vt:lpstr>Arial</vt:lpstr>
      <vt:lpstr>Trebuchet MS</vt:lpstr>
      <vt:lpstr>Wingdings</vt:lpstr>
      <vt:lpstr>Wingdings 3</vt:lpstr>
      <vt:lpstr>Facet</vt:lpstr>
      <vt:lpstr>Python Programming Foundations</vt:lpstr>
      <vt:lpstr>Put The Pieces Together</vt:lpstr>
      <vt:lpstr>Quick Review</vt:lpstr>
      <vt:lpstr>What Counts as Success Today</vt:lpstr>
      <vt:lpstr>What We Will Use Today</vt:lpstr>
      <vt:lpstr>Working Set</vt:lpstr>
      <vt:lpstr>What to “Skip” for Now</vt:lpstr>
      <vt:lpstr>PowerPoint Presentation</vt:lpstr>
      <vt:lpstr>Combine Values Carefully</vt:lpstr>
      <vt:lpstr>Type Awareness Through Use</vt:lpstr>
      <vt:lpstr>Type Awareness</vt:lpstr>
      <vt:lpstr>Explain Every Main Line</vt:lpstr>
      <vt:lpstr>Demo #1</vt:lpstr>
      <vt:lpstr>What to watch for</vt:lpstr>
      <vt:lpstr>Type Demo</vt:lpstr>
      <vt:lpstr>Optional Demo #2</vt:lpstr>
      <vt:lpstr>Optional Demo:  Input And Number Conversion</vt:lpstr>
      <vt:lpstr>Typing vs. Copy-Paste</vt:lpstr>
      <vt:lpstr>Learning Move:  Type It When It Is New</vt:lpstr>
      <vt:lpstr>Typing it Out</vt:lpstr>
      <vt:lpstr>Copying and Pasting</vt:lpstr>
      <vt:lpstr>Connection to AI Prompting</vt:lpstr>
      <vt:lpstr>Typing vs Copy-Pasting</vt:lpstr>
      <vt:lpstr>Common Failure:  Too Much Is Too Much</vt:lpstr>
      <vt:lpstr>Common Failure:  Working But Unexplained</vt:lpstr>
      <vt:lpstr>From Demo to Lab</vt:lpstr>
      <vt:lpstr>Assignment Completion</vt:lpstr>
      <vt:lpstr>Assignment Evidence</vt:lpstr>
      <vt:lpstr>Lab 0n Success Check</vt:lpstr>
      <vt:lpstr>Thank you!  Have Fun!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Cash Myers</dc:creator>
  <cp:keywords/>
  <dc:description>generated using python-pptx</dc:description>
  <cp:lastModifiedBy>Cash Myers</cp:lastModifiedBy>
  <cp:revision>133</cp:revision>
  <cp:lastPrinted>2026-06-10T15:07:30Z</cp:lastPrinted>
  <dcterms:created xsi:type="dcterms:W3CDTF">2013-01-27T09:14:16Z</dcterms:created>
  <dcterms:modified xsi:type="dcterms:W3CDTF">2026-06-11T19:38:33Z</dcterms:modified>
  <cp:category/>
</cp:coreProperties>
</file>