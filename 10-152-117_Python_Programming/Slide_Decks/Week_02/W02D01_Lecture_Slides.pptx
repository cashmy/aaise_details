
<file path=[Content_Types].xml><?xml version="1.0" encoding="utf-8"?>
<Types xmlns="http://schemas.openxmlformats.org/package/2006/content-types">
  <Default Extension="1"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notesMasterIdLst>
    <p:notesMasterId r:id="rId35"/>
  </p:notesMasterIdLst>
  <p:handoutMasterIdLst>
    <p:handoutMasterId r:id="rId36"/>
  </p:handoutMasterIdLst>
  <p:sldIdLst>
    <p:sldId id="256" r:id="rId2"/>
    <p:sldId id="467" r:id="rId3"/>
    <p:sldId id="466" r:id="rId4"/>
    <p:sldId id="488" r:id="rId5"/>
    <p:sldId id="491" r:id="rId6"/>
    <p:sldId id="260" r:id="rId7"/>
    <p:sldId id="489" r:id="rId8"/>
    <p:sldId id="364" r:id="rId9"/>
    <p:sldId id="490" r:id="rId10"/>
    <p:sldId id="322" r:id="rId11"/>
    <p:sldId id="492" r:id="rId12"/>
    <p:sldId id="377" r:id="rId13"/>
    <p:sldId id="487" r:id="rId14"/>
    <p:sldId id="378" r:id="rId15"/>
    <p:sldId id="509" r:id="rId16"/>
    <p:sldId id="417" r:id="rId17"/>
    <p:sldId id="510" r:id="rId18"/>
    <p:sldId id="500" r:id="rId19"/>
    <p:sldId id="484" r:id="rId20"/>
    <p:sldId id="501" r:id="rId21"/>
    <p:sldId id="494" r:id="rId22"/>
    <p:sldId id="502" r:id="rId23"/>
    <p:sldId id="495" r:id="rId24"/>
    <p:sldId id="503" r:id="rId25"/>
    <p:sldId id="496" r:id="rId26"/>
    <p:sldId id="307" r:id="rId27"/>
    <p:sldId id="497" r:id="rId28"/>
    <p:sldId id="504" r:id="rId29"/>
    <p:sldId id="499" r:id="rId30"/>
    <p:sldId id="505" r:id="rId31"/>
    <p:sldId id="507" r:id="rId32"/>
    <p:sldId id="508" r:id="rId33"/>
    <p:sldId id="320" r:id="rId34"/>
  </p:sldIdLst>
  <p:sldSz cx="9144000" cy="6858000" type="screen4x3"/>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68900" autoAdjust="0"/>
  </p:normalViewPr>
  <p:slideViewPr>
    <p:cSldViewPr snapToGrid="0" snapToObjects="1">
      <p:cViewPr varScale="1">
        <p:scale>
          <a:sx n="73" d="100"/>
          <a:sy n="73" d="100"/>
        </p:scale>
        <p:origin x="2040" y="54"/>
      </p:cViewPr>
      <p:guideLst>
        <p:guide orient="horz" pos="2160"/>
        <p:guide pos="2880"/>
      </p:guideLst>
    </p:cSldViewPr>
  </p:slideViewPr>
  <p:outlineViewPr>
    <p:cViewPr>
      <p:scale>
        <a:sx n="33" d="100"/>
        <a:sy n="33" d="100"/>
      </p:scale>
      <p:origin x="0" y="-1152"/>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80" d="100"/>
          <a:sy n="80" d="100"/>
        </p:scale>
        <p:origin x="4002" y="11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967E09-9C24-411B-B60E-94008BA44487}" type="doc">
      <dgm:prSet loTypeId="urn:microsoft.com/office/officeart/2005/8/layout/process4" loCatId="process" qsTypeId="urn:microsoft.com/office/officeart/2005/8/quickstyle/simple1" qsCatId="simple" csTypeId="urn:microsoft.com/office/officeart/2005/8/colors/colorful1" csCatId="colorful" phldr="1"/>
      <dgm:spPr/>
      <dgm:t>
        <a:bodyPr/>
        <a:lstStyle/>
        <a:p>
          <a:endParaRPr lang="en-US"/>
        </a:p>
      </dgm:t>
    </dgm:pt>
    <dgm:pt modelId="{4FD87A05-8915-4FA1-8D2A-2D8D489A3082}">
      <dgm:prSet/>
      <dgm:spPr/>
      <dgm:t>
        <a:bodyPr/>
        <a:lstStyle/>
        <a:p>
          <a:r>
            <a:rPr lang="en-US" i="1"/>
            <a:t>Condition checked -&gt; branch selected -&gt; output shown.</a:t>
          </a:r>
          <a:endParaRPr lang="en-US"/>
        </a:p>
      </dgm:t>
    </dgm:pt>
    <dgm:pt modelId="{D14C4623-C04E-47C2-86EC-2F11AFE3FB99}" type="parTrans" cxnId="{4F482957-197C-442C-94E5-709C9DECA4C0}">
      <dgm:prSet/>
      <dgm:spPr/>
      <dgm:t>
        <a:bodyPr/>
        <a:lstStyle/>
        <a:p>
          <a:endParaRPr lang="en-US"/>
        </a:p>
      </dgm:t>
    </dgm:pt>
    <dgm:pt modelId="{7E45B935-D690-4886-ADF7-BB9407FE2AB1}" type="sibTrans" cxnId="{4F482957-197C-442C-94E5-709C9DECA4C0}">
      <dgm:prSet/>
      <dgm:spPr/>
      <dgm:t>
        <a:bodyPr/>
        <a:lstStyle/>
        <a:p>
          <a:endParaRPr lang="en-US"/>
        </a:p>
      </dgm:t>
    </dgm:pt>
    <dgm:pt modelId="{C207F662-73AF-4A15-B4B6-7ED3144EB32E}">
      <dgm:prSet/>
      <dgm:spPr/>
      <dgm:t>
        <a:bodyPr/>
        <a:lstStyle/>
        <a:p>
          <a:r>
            <a:rPr lang="en-US" dirty="0"/>
            <a:t>If you can predict that path,</a:t>
          </a:r>
          <a:br>
            <a:rPr lang="en-US" dirty="0"/>
          </a:br>
          <a:r>
            <a:rPr lang="en-US" dirty="0"/>
            <a:t>you understand the decision logic.</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9021A95C-3641-41E2-B29D-5B6DC0528B8C}" type="parTrans" cxnId="{0121CB12-C36C-4E1F-8A46-EE19AA71C9B5}">
      <dgm:prSet/>
      <dgm:spPr/>
      <dgm:t>
        <a:bodyPr/>
        <a:lstStyle/>
        <a:p>
          <a:endParaRPr lang="en-US"/>
        </a:p>
      </dgm:t>
    </dgm:pt>
    <dgm:pt modelId="{A66328E2-5123-438C-9B2D-B775225C3C40}" type="sibTrans" cxnId="{0121CB12-C36C-4E1F-8A46-EE19AA71C9B5}">
      <dgm:prSet/>
      <dgm:spPr/>
      <dgm:t>
        <a:bodyPr/>
        <a:lstStyle/>
        <a:p>
          <a:endParaRPr lang="en-US"/>
        </a:p>
      </dgm:t>
    </dgm:pt>
    <dgm:pt modelId="{4203C74E-94E9-4DBB-8DA6-5835DDAD8B88}">
      <dgm:prSet/>
      <dgm:spPr/>
      <dgm:t>
        <a:bodyPr/>
        <a:lstStyle/>
        <a:p>
          <a:r>
            <a:rPr lang="en-US"/>
            <a:t>For every decision program, practice asking:</a:t>
          </a:r>
        </a:p>
      </dgm:t>
    </dgm:pt>
    <dgm:pt modelId="{98231DBA-040B-4285-8305-2DAC0379630A}" type="parTrans" cxnId="{0DF3F14F-7B24-4F75-AF39-FEC47790B7BA}">
      <dgm:prSet/>
      <dgm:spPr/>
      <dgm:t>
        <a:bodyPr/>
        <a:lstStyle/>
        <a:p>
          <a:endParaRPr lang="en-US"/>
        </a:p>
      </dgm:t>
    </dgm:pt>
    <dgm:pt modelId="{3E0B42B1-2658-496E-87ED-D6753D4A9F36}" type="sibTrans" cxnId="{0DF3F14F-7B24-4F75-AF39-FEC47790B7BA}">
      <dgm:prSet/>
      <dgm:spPr/>
      <dgm:t>
        <a:bodyPr/>
        <a:lstStyle/>
        <a:p>
          <a:endParaRPr lang="en-US"/>
        </a:p>
      </dgm:t>
    </dgm:pt>
    <dgm:pt modelId="{8EA88138-92B1-4D1C-9155-EFDD3D67A019}">
      <dgm:prSet/>
      <dgm:spPr/>
      <dgm:t>
        <a:bodyPr/>
        <a:lstStyle/>
        <a:p>
          <a:r>
            <a:rPr lang="en-US"/>
            <a:t>- What condition is checked?</a:t>
          </a:r>
        </a:p>
      </dgm:t>
    </dgm:pt>
    <dgm:pt modelId="{1EE85542-A0C7-4437-8086-600D9DC6B4A0}" type="parTrans" cxnId="{0328C683-A417-4845-9145-2037538CC201}">
      <dgm:prSet/>
      <dgm:spPr/>
      <dgm:t>
        <a:bodyPr/>
        <a:lstStyle/>
        <a:p>
          <a:endParaRPr lang="en-US"/>
        </a:p>
      </dgm:t>
    </dgm:pt>
    <dgm:pt modelId="{C18E0EC9-79A2-4BA3-956A-DAAC052C8784}" type="sibTrans" cxnId="{0328C683-A417-4845-9145-2037538CC201}">
      <dgm:prSet/>
      <dgm:spPr/>
      <dgm:t>
        <a:bodyPr/>
        <a:lstStyle/>
        <a:p>
          <a:endParaRPr lang="en-US"/>
        </a:p>
      </dgm:t>
    </dgm:pt>
    <dgm:pt modelId="{0BAFB19B-7824-4632-AE2C-8FC5A666BAF3}">
      <dgm:prSet/>
      <dgm:spPr/>
      <dgm:t>
        <a:bodyPr/>
        <a:lstStyle/>
        <a:p>
          <a:r>
            <a:rPr lang="en-US"/>
            <a:t>- Is the condition `True` or `False`?</a:t>
          </a:r>
        </a:p>
      </dgm:t>
    </dgm:pt>
    <dgm:pt modelId="{47BCD450-A8B9-450F-B84F-303E2F4C0A2E}" type="parTrans" cxnId="{5582EBAB-5F21-4116-9C15-3E9A48C43EC8}">
      <dgm:prSet/>
      <dgm:spPr/>
      <dgm:t>
        <a:bodyPr/>
        <a:lstStyle/>
        <a:p>
          <a:endParaRPr lang="en-US"/>
        </a:p>
      </dgm:t>
    </dgm:pt>
    <dgm:pt modelId="{1A0C28DA-01D2-42D3-9BE5-C51F4602B770}" type="sibTrans" cxnId="{5582EBAB-5F21-4116-9C15-3E9A48C43EC8}">
      <dgm:prSet/>
      <dgm:spPr/>
      <dgm:t>
        <a:bodyPr/>
        <a:lstStyle/>
        <a:p>
          <a:endParaRPr lang="en-US"/>
        </a:p>
      </dgm:t>
    </dgm:pt>
    <dgm:pt modelId="{7E413502-7B74-4F8C-ACC2-199F8D8D084D}">
      <dgm:prSet/>
      <dgm:spPr/>
      <dgm:t>
        <a:bodyPr/>
        <a:lstStyle/>
        <a:p>
          <a:r>
            <a:rPr lang="en-US"/>
            <a:t>- Which branch runs?</a:t>
          </a:r>
        </a:p>
      </dgm:t>
    </dgm:pt>
    <dgm:pt modelId="{0F7EB678-158B-425F-B00D-CCC62D221881}" type="parTrans" cxnId="{0F248300-CAFF-426A-A8D9-BF5C88B593AC}">
      <dgm:prSet/>
      <dgm:spPr/>
      <dgm:t>
        <a:bodyPr/>
        <a:lstStyle/>
        <a:p>
          <a:endParaRPr lang="en-US"/>
        </a:p>
      </dgm:t>
    </dgm:pt>
    <dgm:pt modelId="{8CFB0C5A-15D9-42E2-B034-067EDB6DCD25}" type="sibTrans" cxnId="{0F248300-CAFF-426A-A8D9-BF5C88B593AC}">
      <dgm:prSet/>
      <dgm:spPr/>
      <dgm:t>
        <a:bodyPr/>
        <a:lstStyle/>
        <a:p>
          <a:endParaRPr lang="en-US"/>
        </a:p>
      </dgm:t>
    </dgm:pt>
    <dgm:pt modelId="{4030D6FA-6B68-4A5C-ACFA-2EF185B82F2E}">
      <dgm:prSet/>
      <dgm:spPr/>
      <dgm:t>
        <a:bodyPr/>
        <a:lstStyle/>
        <a:p>
          <a:r>
            <a:rPr lang="en-US"/>
            <a:t>- What output should appear?</a:t>
          </a:r>
        </a:p>
      </dgm:t>
    </dgm:pt>
    <dgm:pt modelId="{7DBFFD4A-D049-407E-BFEE-B84043B3D238}" type="parTrans" cxnId="{AA699FDF-2E80-4CBF-B45D-690F25DB4237}">
      <dgm:prSet/>
      <dgm:spPr/>
      <dgm:t>
        <a:bodyPr/>
        <a:lstStyle/>
        <a:p>
          <a:endParaRPr lang="en-US"/>
        </a:p>
      </dgm:t>
    </dgm:pt>
    <dgm:pt modelId="{7407B377-A421-452C-8565-0D5DF8D4C061}" type="sibTrans" cxnId="{AA699FDF-2E80-4CBF-B45D-690F25DB4237}">
      <dgm:prSet/>
      <dgm:spPr/>
      <dgm:t>
        <a:bodyPr/>
        <a:lstStyle/>
        <a:p>
          <a:endParaRPr lang="en-US"/>
        </a:p>
      </dgm:t>
    </dgm:pt>
    <dgm:pt modelId="{0CFB8C0E-9F0D-4EAD-8C94-0A64F1EA271A}" type="pres">
      <dgm:prSet presAssocID="{75967E09-9C24-411B-B60E-94008BA44487}" presName="Name0" presStyleCnt="0">
        <dgm:presLayoutVars>
          <dgm:dir/>
          <dgm:animLvl val="lvl"/>
          <dgm:resizeHandles val="exact"/>
        </dgm:presLayoutVars>
      </dgm:prSet>
      <dgm:spPr/>
    </dgm:pt>
    <dgm:pt modelId="{3A9B6CEC-6514-417B-82DD-3159CE8F7C0E}" type="pres">
      <dgm:prSet presAssocID="{4203C74E-94E9-4DBB-8DA6-5835DDAD8B88}" presName="boxAndChildren" presStyleCnt="0"/>
      <dgm:spPr/>
    </dgm:pt>
    <dgm:pt modelId="{9767B1D0-94C8-4897-9B8F-79FA7173631C}" type="pres">
      <dgm:prSet presAssocID="{4203C74E-94E9-4DBB-8DA6-5835DDAD8B88}" presName="parentTextBox" presStyleLbl="node1" presStyleIdx="0" presStyleCnt="3"/>
      <dgm:spPr/>
    </dgm:pt>
    <dgm:pt modelId="{F9FB3552-B3B1-47CC-BD63-FE26EEB1A3D8}" type="pres">
      <dgm:prSet presAssocID="{4203C74E-94E9-4DBB-8DA6-5835DDAD8B88}" presName="entireBox" presStyleLbl="node1" presStyleIdx="0" presStyleCnt="3"/>
      <dgm:spPr/>
    </dgm:pt>
    <dgm:pt modelId="{86ABBDF6-8D65-43EF-95C6-64496334E6CA}" type="pres">
      <dgm:prSet presAssocID="{4203C74E-94E9-4DBB-8DA6-5835DDAD8B88}" presName="descendantBox" presStyleCnt="0"/>
      <dgm:spPr/>
    </dgm:pt>
    <dgm:pt modelId="{1759F7EC-0E76-42FA-BFBE-0F015A004539}" type="pres">
      <dgm:prSet presAssocID="{8EA88138-92B1-4D1C-9155-EFDD3D67A019}" presName="childTextBox" presStyleLbl="fgAccFollowNode1" presStyleIdx="0" presStyleCnt="4">
        <dgm:presLayoutVars>
          <dgm:bulletEnabled val="1"/>
        </dgm:presLayoutVars>
      </dgm:prSet>
      <dgm:spPr/>
    </dgm:pt>
    <dgm:pt modelId="{8A8B1CF9-B514-4BFB-A957-A922192CE26B}" type="pres">
      <dgm:prSet presAssocID="{0BAFB19B-7824-4632-AE2C-8FC5A666BAF3}" presName="childTextBox" presStyleLbl="fgAccFollowNode1" presStyleIdx="1" presStyleCnt="4">
        <dgm:presLayoutVars>
          <dgm:bulletEnabled val="1"/>
        </dgm:presLayoutVars>
      </dgm:prSet>
      <dgm:spPr/>
    </dgm:pt>
    <dgm:pt modelId="{1FD6D738-CED6-42FC-BF8F-2530D0989DE5}" type="pres">
      <dgm:prSet presAssocID="{7E413502-7B74-4F8C-ACC2-199F8D8D084D}" presName="childTextBox" presStyleLbl="fgAccFollowNode1" presStyleIdx="2" presStyleCnt="4">
        <dgm:presLayoutVars>
          <dgm:bulletEnabled val="1"/>
        </dgm:presLayoutVars>
      </dgm:prSet>
      <dgm:spPr/>
    </dgm:pt>
    <dgm:pt modelId="{4DF9B5DD-AE57-416B-A0C7-227959D8B4DD}" type="pres">
      <dgm:prSet presAssocID="{4030D6FA-6B68-4A5C-ACFA-2EF185B82F2E}" presName="childTextBox" presStyleLbl="fgAccFollowNode1" presStyleIdx="3" presStyleCnt="4">
        <dgm:presLayoutVars>
          <dgm:bulletEnabled val="1"/>
        </dgm:presLayoutVars>
      </dgm:prSet>
      <dgm:spPr/>
    </dgm:pt>
    <dgm:pt modelId="{DE442732-F636-4F8E-9AD3-4A11D5C67D9B}" type="pres">
      <dgm:prSet presAssocID="{A66328E2-5123-438C-9B2D-B775225C3C40}" presName="sp" presStyleCnt="0"/>
      <dgm:spPr/>
    </dgm:pt>
    <dgm:pt modelId="{473E1F0B-A912-4341-9295-EF2261809F5C}" type="pres">
      <dgm:prSet presAssocID="{C207F662-73AF-4A15-B4B6-7ED3144EB32E}" presName="arrowAndChildren" presStyleCnt="0"/>
      <dgm:spPr/>
    </dgm:pt>
    <dgm:pt modelId="{35507D41-5AD4-4936-B2DB-29FA82F01297}" type="pres">
      <dgm:prSet presAssocID="{C207F662-73AF-4A15-B4B6-7ED3144EB32E}" presName="parentTextArrow" presStyleLbl="node1" presStyleIdx="1" presStyleCnt="3"/>
      <dgm:spPr/>
    </dgm:pt>
    <dgm:pt modelId="{FD5F4466-96CC-4D4E-92AB-32E9F29BC14B}" type="pres">
      <dgm:prSet presAssocID="{7E45B935-D690-4886-ADF7-BB9407FE2AB1}" presName="sp" presStyleCnt="0"/>
      <dgm:spPr/>
    </dgm:pt>
    <dgm:pt modelId="{BC3F124D-F875-4626-81DB-57BEB87F95DD}" type="pres">
      <dgm:prSet presAssocID="{4FD87A05-8915-4FA1-8D2A-2D8D489A3082}" presName="arrowAndChildren" presStyleCnt="0"/>
      <dgm:spPr/>
    </dgm:pt>
    <dgm:pt modelId="{FA43E46B-205F-438C-A64C-502CBE29CDBC}" type="pres">
      <dgm:prSet presAssocID="{4FD87A05-8915-4FA1-8D2A-2D8D489A3082}" presName="parentTextArrow" presStyleLbl="node1" presStyleIdx="2" presStyleCnt="3"/>
      <dgm:spPr/>
    </dgm:pt>
  </dgm:ptLst>
  <dgm:cxnLst>
    <dgm:cxn modelId="{0F248300-CAFF-426A-A8D9-BF5C88B593AC}" srcId="{4203C74E-94E9-4DBB-8DA6-5835DDAD8B88}" destId="{7E413502-7B74-4F8C-ACC2-199F8D8D084D}" srcOrd="2" destOrd="0" parTransId="{0F7EB678-158B-425F-B00D-CCC62D221881}" sibTransId="{8CFB0C5A-15D9-42E2-B034-067EDB6DCD25}"/>
    <dgm:cxn modelId="{9A1D5404-01C7-4A32-A7C3-3954959657ED}" type="presOf" srcId="{0BAFB19B-7824-4632-AE2C-8FC5A666BAF3}" destId="{8A8B1CF9-B514-4BFB-A957-A922192CE26B}" srcOrd="0" destOrd="0" presId="urn:microsoft.com/office/officeart/2005/8/layout/process4"/>
    <dgm:cxn modelId="{0121CB12-C36C-4E1F-8A46-EE19AA71C9B5}" srcId="{75967E09-9C24-411B-B60E-94008BA44487}" destId="{C207F662-73AF-4A15-B4B6-7ED3144EB32E}" srcOrd="1" destOrd="0" parTransId="{9021A95C-3641-41E2-B29D-5B6DC0528B8C}" sibTransId="{A66328E2-5123-438C-9B2D-B775225C3C40}"/>
    <dgm:cxn modelId="{8552693D-F4F7-4F4A-AB9D-DAF3FCDFF990}" type="presOf" srcId="{4030D6FA-6B68-4A5C-ACFA-2EF185B82F2E}" destId="{4DF9B5DD-AE57-416B-A0C7-227959D8B4DD}" srcOrd="0" destOrd="0" presId="urn:microsoft.com/office/officeart/2005/8/layout/process4"/>
    <dgm:cxn modelId="{B1AC6064-1924-4851-92F8-620E7D0B03FF}" type="presOf" srcId="{4203C74E-94E9-4DBB-8DA6-5835DDAD8B88}" destId="{F9FB3552-B3B1-47CC-BD63-FE26EEB1A3D8}" srcOrd="1" destOrd="0" presId="urn:microsoft.com/office/officeart/2005/8/layout/process4"/>
    <dgm:cxn modelId="{D792EC66-DB4F-43E3-89EC-508B82F4901B}" type="presOf" srcId="{C207F662-73AF-4A15-B4B6-7ED3144EB32E}" destId="{35507D41-5AD4-4936-B2DB-29FA82F01297}" srcOrd="0" destOrd="0" presId="urn:microsoft.com/office/officeart/2005/8/layout/process4"/>
    <dgm:cxn modelId="{FF2EEB4E-DB1E-4A57-BF54-11E024E07B0A}" type="presOf" srcId="{8EA88138-92B1-4D1C-9155-EFDD3D67A019}" destId="{1759F7EC-0E76-42FA-BFBE-0F015A004539}" srcOrd="0" destOrd="0" presId="urn:microsoft.com/office/officeart/2005/8/layout/process4"/>
    <dgm:cxn modelId="{0DF3F14F-7B24-4F75-AF39-FEC47790B7BA}" srcId="{75967E09-9C24-411B-B60E-94008BA44487}" destId="{4203C74E-94E9-4DBB-8DA6-5835DDAD8B88}" srcOrd="2" destOrd="0" parTransId="{98231DBA-040B-4285-8305-2DAC0379630A}" sibTransId="{3E0B42B1-2658-496E-87ED-D6753D4A9F36}"/>
    <dgm:cxn modelId="{E9904876-3965-4F67-A728-09E1D3725302}" type="presOf" srcId="{75967E09-9C24-411B-B60E-94008BA44487}" destId="{0CFB8C0E-9F0D-4EAD-8C94-0A64F1EA271A}" srcOrd="0" destOrd="0" presId="urn:microsoft.com/office/officeart/2005/8/layout/process4"/>
    <dgm:cxn modelId="{4F482957-197C-442C-94E5-709C9DECA4C0}" srcId="{75967E09-9C24-411B-B60E-94008BA44487}" destId="{4FD87A05-8915-4FA1-8D2A-2D8D489A3082}" srcOrd="0" destOrd="0" parTransId="{D14C4623-C04E-47C2-86EC-2F11AFE3FB99}" sibTransId="{7E45B935-D690-4886-ADF7-BB9407FE2AB1}"/>
    <dgm:cxn modelId="{0328C683-A417-4845-9145-2037538CC201}" srcId="{4203C74E-94E9-4DBB-8DA6-5835DDAD8B88}" destId="{8EA88138-92B1-4D1C-9155-EFDD3D67A019}" srcOrd="0" destOrd="0" parTransId="{1EE85542-A0C7-4437-8086-600D9DC6B4A0}" sibTransId="{C18E0EC9-79A2-4BA3-956A-DAAC052C8784}"/>
    <dgm:cxn modelId="{5582EBAB-5F21-4116-9C15-3E9A48C43EC8}" srcId="{4203C74E-94E9-4DBB-8DA6-5835DDAD8B88}" destId="{0BAFB19B-7824-4632-AE2C-8FC5A666BAF3}" srcOrd="1" destOrd="0" parTransId="{47BCD450-A8B9-450F-B84F-303E2F4C0A2E}" sibTransId="{1A0C28DA-01D2-42D3-9BE5-C51F4602B770}"/>
    <dgm:cxn modelId="{D1C398BF-D5A2-4E59-9D62-B410D39B5881}" type="presOf" srcId="{7E413502-7B74-4F8C-ACC2-199F8D8D084D}" destId="{1FD6D738-CED6-42FC-BF8F-2530D0989DE5}" srcOrd="0" destOrd="0" presId="urn:microsoft.com/office/officeart/2005/8/layout/process4"/>
    <dgm:cxn modelId="{AA699FDF-2E80-4CBF-B45D-690F25DB4237}" srcId="{4203C74E-94E9-4DBB-8DA6-5835DDAD8B88}" destId="{4030D6FA-6B68-4A5C-ACFA-2EF185B82F2E}" srcOrd="3" destOrd="0" parTransId="{7DBFFD4A-D049-407E-BFEE-B84043B3D238}" sibTransId="{7407B377-A421-452C-8565-0D5DF8D4C061}"/>
    <dgm:cxn modelId="{388237E3-2E5D-4899-99E5-8325071B6738}" type="presOf" srcId="{4203C74E-94E9-4DBB-8DA6-5835DDAD8B88}" destId="{9767B1D0-94C8-4897-9B8F-79FA7173631C}" srcOrd="0" destOrd="0" presId="urn:microsoft.com/office/officeart/2005/8/layout/process4"/>
    <dgm:cxn modelId="{30E184E8-032E-4F44-9FCC-074C74101AEB}" type="presOf" srcId="{4FD87A05-8915-4FA1-8D2A-2D8D489A3082}" destId="{FA43E46B-205F-438C-A64C-502CBE29CDBC}" srcOrd="0" destOrd="0" presId="urn:microsoft.com/office/officeart/2005/8/layout/process4"/>
    <dgm:cxn modelId="{CD2BAEAF-6FC7-41FB-8057-00B39DC91B5E}" type="presParOf" srcId="{0CFB8C0E-9F0D-4EAD-8C94-0A64F1EA271A}" destId="{3A9B6CEC-6514-417B-82DD-3159CE8F7C0E}" srcOrd="0" destOrd="0" presId="urn:microsoft.com/office/officeart/2005/8/layout/process4"/>
    <dgm:cxn modelId="{8208781A-1285-4751-A831-3B50D790F4E0}" type="presParOf" srcId="{3A9B6CEC-6514-417B-82DD-3159CE8F7C0E}" destId="{9767B1D0-94C8-4897-9B8F-79FA7173631C}" srcOrd="0" destOrd="0" presId="urn:microsoft.com/office/officeart/2005/8/layout/process4"/>
    <dgm:cxn modelId="{C884C0DD-F76C-406E-8575-A56F15AF311A}" type="presParOf" srcId="{3A9B6CEC-6514-417B-82DD-3159CE8F7C0E}" destId="{F9FB3552-B3B1-47CC-BD63-FE26EEB1A3D8}" srcOrd="1" destOrd="0" presId="urn:microsoft.com/office/officeart/2005/8/layout/process4"/>
    <dgm:cxn modelId="{D39A80AA-78DD-4AEB-AE11-9CE55384DC3D}" type="presParOf" srcId="{3A9B6CEC-6514-417B-82DD-3159CE8F7C0E}" destId="{86ABBDF6-8D65-43EF-95C6-64496334E6CA}" srcOrd="2" destOrd="0" presId="urn:microsoft.com/office/officeart/2005/8/layout/process4"/>
    <dgm:cxn modelId="{6D2EAB25-2409-4455-A905-10185ED0CCAB}" type="presParOf" srcId="{86ABBDF6-8D65-43EF-95C6-64496334E6CA}" destId="{1759F7EC-0E76-42FA-BFBE-0F015A004539}" srcOrd="0" destOrd="0" presId="urn:microsoft.com/office/officeart/2005/8/layout/process4"/>
    <dgm:cxn modelId="{7C24568F-861B-412E-AE80-7876E4D7BC81}" type="presParOf" srcId="{86ABBDF6-8D65-43EF-95C6-64496334E6CA}" destId="{8A8B1CF9-B514-4BFB-A957-A922192CE26B}" srcOrd="1" destOrd="0" presId="urn:microsoft.com/office/officeart/2005/8/layout/process4"/>
    <dgm:cxn modelId="{36BD6C0C-4000-4DA1-8ABD-C08BA983489B}" type="presParOf" srcId="{86ABBDF6-8D65-43EF-95C6-64496334E6CA}" destId="{1FD6D738-CED6-42FC-BF8F-2530D0989DE5}" srcOrd="2" destOrd="0" presId="urn:microsoft.com/office/officeart/2005/8/layout/process4"/>
    <dgm:cxn modelId="{998BBAB4-490D-48AD-9478-331A8C808D52}" type="presParOf" srcId="{86ABBDF6-8D65-43EF-95C6-64496334E6CA}" destId="{4DF9B5DD-AE57-416B-A0C7-227959D8B4DD}" srcOrd="3" destOrd="0" presId="urn:microsoft.com/office/officeart/2005/8/layout/process4"/>
    <dgm:cxn modelId="{0E0D8896-BAD7-44AA-91E9-153B68AA861A}" type="presParOf" srcId="{0CFB8C0E-9F0D-4EAD-8C94-0A64F1EA271A}" destId="{DE442732-F636-4F8E-9AD3-4A11D5C67D9B}" srcOrd="1" destOrd="0" presId="urn:microsoft.com/office/officeart/2005/8/layout/process4"/>
    <dgm:cxn modelId="{0706B13D-0B47-4C3A-AD74-EA249CB6F360}" type="presParOf" srcId="{0CFB8C0E-9F0D-4EAD-8C94-0A64F1EA271A}" destId="{473E1F0B-A912-4341-9295-EF2261809F5C}" srcOrd="2" destOrd="0" presId="urn:microsoft.com/office/officeart/2005/8/layout/process4"/>
    <dgm:cxn modelId="{6F3C7A1B-220F-4B16-9FDE-7DEA18070785}" type="presParOf" srcId="{473E1F0B-A912-4341-9295-EF2261809F5C}" destId="{35507D41-5AD4-4936-B2DB-29FA82F01297}" srcOrd="0" destOrd="0" presId="urn:microsoft.com/office/officeart/2005/8/layout/process4"/>
    <dgm:cxn modelId="{7ED27D5E-ED38-43EB-A6FC-5ED906F720D3}" type="presParOf" srcId="{0CFB8C0E-9F0D-4EAD-8C94-0A64F1EA271A}" destId="{FD5F4466-96CC-4D4E-92AB-32E9F29BC14B}" srcOrd="3" destOrd="0" presId="urn:microsoft.com/office/officeart/2005/8/layout/process4"/>
    <dgm:cxn modelId="{44495F8E-2187-412E-9449-F0F04F87892C}" type="presParOf" srcId="{0CFB8C0E-9F0D-4EAD-8C94-0A64F1EA271A}" destId="{BC3F124D-F875-4626-81DB-57BEB87F95DD}" srcOrd="4" destOrd="0" presId="urn:microsoft.com/office/officeart/2005/8/layout/process4"/>
    <dgm:cxn modelId="{F38A2E30-5DD1-4800-886A-36B4AC4507B6}" type="presParOf" srcId="{BC3F124D-F875-4626-81DB-57BEB87F95DD}" destId="{FA43E46B-205F-438C-A64C-502CBE29CDB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490B4D-515B-4CE2-946E-CBD79B242D38}"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A14FC224-3236-49CE-9CEF-7F04AA79C64D}">
      <dgm:prSet/>
      <dgm:spPr/>
      <dgm:t>
        <a:bodyPr/>
        <a:lstStyle/>
        <a:p>
          <a:r>
            <a:rPr lang="en-US"/>
            <a:t>Your submission should show at least two possible outcomes.</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D60CC94A-3EDB-4BD5-9E41-3C7B3A0A97CB}" type="parTrans" cxnId="{5C7A9C2B-90A6-4516-9563-95AAEF374F3C}">
      <dgm:prSet/>
      <dgm:spPr/>
      <dgm:t>
        <a:bodyPr/>
        <a:lstStyle/>
        <a:p>
          <a:endParaRPr lang="en-US"/>
        </a:p>
      </dgm:t>
    </dgm:pt>
    <dgm:pt modelId="{AD59470C-4FF1-4BBD-8795-D911A5C921A2}" type="sibTrans" cxnId="{5C7A9C2B-90A6-4516-9563-95AAEF374F3C}">
      <dgm:prSet/>
      <dgm:spPr/>
      <dgm:t>
        <a:bodyPr/>
        <a:lstStyle/>
        <a:p>
          <a:endParaRPr lang="en-US"/>
        </a:p>
      </dgm:t>
    </dgm:pt>
    <dgm:pt modelId="{30B569F9-79ED-4743-A411-B3B17BC3DD44}">
      <dgm:prSet/>
      <dgm:spPr/>
      <dgm:t>
        <a:bodyPr/>
        <a:lstStyle/>
        <a:p>
          <a:r>
            <a:rPr lang="en-US"/>
            <a:t>Be ready to explain what condition is checked and why each branch runs.</a:t>
          </a:r>
        </a:p>
      </dgm:t>
    </dgm:pt>
    <dgm:pt modelId="{178FA2A8-6ACB-4F81-B887-5153D10E0CC3}" type="parTrans" cxnId="{6F9A41B2-02C8-417B-A4B6-1D3C2C6DB872}">
      <dgm:prSet/>
      <dgm:spPr/>
      <dgm:t>
        <a:bodyPr/>
        <a:lstStyle/>
        <a:p>
          <a:endParaRPr lang="en-US"/>
        </a:p>
      </dgm:t>
    </dgm:pt>
    <dgm:pt modelId="{8E96F945-ABD8-4FE3-8CF2-720372202A9F}" type="sibTrans" cxnId="{6F9A41B2-02C8-417B-A4B6-1D3C2C6DB872}">
      <dgm:prSet/>
      <dgm:spPr/>
      <dgm:t>
        <a:bodyPr/>
        <a:lstStyle/>
        <a:p>
          <a:endParaRPr lang="en-US"/>
        </a:p>
      </dgm:t>
    </dgm:pt>
    <dgm:pt modelId="{9E7948D2-1B7D-4F24-8D1D-85B0CFDB40D5}">
      <dgm:prSet/>
      <dgm:spPr/>
      <dgm:t>
        <a:bodyPr/>
        <a:lstStyle/>
        <a:p>
          <a:r>
            <a:rPr lang="en-US"/>
            <a:t>Useful evidence includes:</a:t>
          </a:r>
        </a:p>
      </dgm:t>
    </dgm:pt>
    <dgm:pt modelId="{A77D3781-C281-4F28-A0E1-36AB2FE8C532}" type="parTrans" cxnId="{42F2C907-D9B2-4834-BF54-6D73DC652DF6}">
      <dgm:prSet/>
      <dgm:spPr/>
      <dgm:t>
        <a:bodyPr/>
        <a:lstStyle/>
        <a:p>
          <a:endParaRPr lang="en-US"/>
        </a:p>
      </dgm:t>
    </dgm:pt>
    <dgm:pt modelId="{BA2387F9-E90F-4359-A7F1-F5772233A500}" type="sibTrans" cxnId="{42F2C907-D9B2-4834-BF54-6D73DC652DF6}">
      <dgm:prSet/>
      <dgm:spPr/>
      <dgm:t>
        <a:bodyPr/>
        <a:lstStyle/>
        <a:p>
          <a:endParaRPr lang="en-US"/>
        </a:p>
      </dgm:t>
    </dgm:pt>
    <dgm:pt modelId="{D52C278C-FD84-46FD-9371-3EE84197EC39}">
      <dgm:prSet/>
      <dgm:spPr/>
      <dgm:t>
        <a:bodyPr/>
        <a:lstStyle/>
        <a:p>
          <a:r>
            <a:rPr lang="en-US"/>
            <a:t>a working `.py` file</a:t>
          </a:r>
        </a:p>
      </dgm:t>
    </dgm:pt>
    <dgm:pt modelId="{F1A671BE-75C4-4735-B465-F2D7E2726B98}" type="parTrans" cxnId="{3CD7B5FC-303D-43EE-AAC2-EE7EDF913539}">
      <dgm:prSet/>
      <dgm:spPr/>
      <dgm:t>
        <a:bodyPr/>
        <a:lstStyle/>
        <a:p>
          <a:endParaRPr lang="en-US"/>
        </a:p>
      </dgm:t>
    </dgm:pt>
    <dgm:pt modelId="{7D682918-14C5-4892-9A33-6737C726A0FF}" type="sibTrans" cxnId="{3CD7B5FC-303D-43EE-AAC2-EE7EDF913539}">
      <dgm:prSet/>
      <dgm:spPr/>
      <dgm:t>
        <a:bodyPr/>
        <a:lstStyle/>
        <a:p>
          <a:endParaRPr lang="en-US"/>
        </a:p>
      </dgm:t>
    </dgm:pt>
    <dgm:pt modelId="{422EE313-2B5B-48CE-AF3A-1D7F7C5B3330}">
      <dgm:prSet/>
      <dgm:spPr/>
      <dgm:t>
        <a:bodyPr/>
        <a:lstStyle/>
        <a:p>
          <a:r>
            <a:rPr lang="en-US"/>
            <a:t>sample values or scenarios</a:t>
          </a:r>
        </a:p>
      </dgm:t>
    </dgm:pt>
    <dgm:pt modelId="{71634887-B53D-48A3-BB7F-2B9FDF94D15A}" type="parTrans" cxnId="{8943E9E8-DB64-4DAE-9AF5-493931ABF791}">
      <dgm:prSet/>
      <dgm:spPr/>
      <dgm:t>
        <a:bodyPr/>
        <a:lstStyle/>
        <a:p>
          <a:endParaRPr lang="en-US"/>
        </a:p>
      </dgm:t>
    </dgm:pt>
    <dgm:pt modelId="{68550627-CC86-49DC-AE3D-CAEC43F448B0}" type="sibTrans" cxnId="{8943E9E8-DB64-4DAE-9AF5-493931ABF791}">
      <dgm:prSet/>
      <dgm:spPr/>
      <dgm:t>
        <a:bodyPr/>
        <a:lstStyle/>
        <a:p>
          <a:endParaRPr lang="en-US"/>
        </a:p>
      </dgm:t>
    </dgm:pt>
    <dgm:pt modelId="{AFCEEE1C-CA27-44EC-A97D-8FEF44C625CE}">
      <dgm:prSet/>
      <dgm:spPr/>
      <dgm:t>
        <a:bodyPr/>
        <a:lstStyle/>
        <a:p>
          <a:r>
            <a:rPr lang="en-US"/>
            <a:t>visible output</a:t>
          </a:r>
        </a:p>
      </dgm:t>
    </dgm:pt>
    <dgm:pt modelId="{47CAAFB7-EFAF-41BB-954D-207DFCA1112B}" type="parTrans" cxnId="{09FA3C75-93DB-47DD-8E85-49AA8B8A6FB9}">
      <dgm:prSet/>
      <dgm:spPr/>
      <dgm:t>
        <a:bodyPr/>
        <a:lstStyle/>
        <a:p>
          <a:endParaRPr lang="en-US"/>
        </a:p>
      </dgm:t>
    </dgm:pt>
    <dgm:pt modelId="{18598DF5-5860-407F-BBD9-C877A8D88226}" type="sibTrans" cxnId="{09FA3C75-93DB-47DD-8E85-49AA8B8A6FB9}">
      <dgm:prSet/>
      <dgm:spPr/>
      <dgm:t>
        <a:bodyPr/>
        <a:lstStyle/>
        <a:p>
          <a:endParaRPr lang="en-US"/>
        </a:p>
      </dgm:t>
    </dgm:pt>
    <dgm:pt modelId="{B173C431-7227-4033-9EEC-27FED4AA81D0}">
      <dgm:prSet/>
      <dgm:spPr/>
      <dgm:t>
        <a:bodyPr/>
        <a:lstStyle/>
        <a:p>
          <a:r>
            <a:rPr lang="en-US"/>
            <a:t>a short explanation of the decision</a:t>
          </a:r>
        </a:p>
      </dgm:t>
    </dgm:pt>
    <dgm:pt modelId="{287AA41A-81C0-4DD0-90BE-27B2BFF7F243}" type="parTrans" cxnId="{EAF6D4B8-85E3-4C5F-A95E-DC063B601869}">
      <dgm:prSet/>
      <dgm:spPr/>
      <dgm:t>
        <a:bodyPr/>
        <a:lstStyle/>
        <a:p>
          <a:endParaRPr lang="en-US"/>
        </a:p>
      </dgm:t>
    </dgm:pt>
    <dgm:pt modelId="{D5754E3F-C7C4-474B-8C8E-DDE844E8DF0A}" type="sibTrans" cxnId="{EAF6D4B8-85E3-4C5F-A95E-DC063B601869}">
      <dgm:prSet/>
      <dgm:spPr/>
      <dgm:t>
        <a:bodyPr/>
        <a:lstStyle/>
        <a:p>
          <a:endParaRPr lang="en-US"/>
        </a:p>
      </dgm:t>
    </dgm:pt>
    <dgm:pt modelId="{81DCD4B4-547F-44E2-85D5-3650B7D8FC7A}" type="pres">
      <dgm:prSet presAssocID="{E3490B4D-515B-4CE2-946E-CBD79B242D38}" presName="diagram" presStyleCnt="0">
        <dgm:presLayoutVars>
          <dgm:dir/>
          <dgm:resizeHandles val="exact"/>
        </dgm:presLayoutVars>
      </dgm:prSet>
      <dgm:spPr/>
    </dgm:pt>
    <dgm:pt modelId="{47EA0543-59C4-4194-8492-F15EA671039F}" type="pres">
      <dgm:prSet presAssocID="{A14FC224-3236-49CE-9CEF-7F04AA79C64D}" presName="node" presStyleLbl="node1" presStyleIdx="0" presStyleCnt="3">
        <dgm:presLayoutVars>
          <dgm:bulletEnabled val="1"/>
        </dgm:presLayoutVars>
      </dgm:prSet>
      <dgm:spPr/>
    </dgm:pt>
    <dgm:pt modelId="{EA475359-07B5-4027-8EF9-A0EF341E6E53}" type="pres">
      <dgm:prSet presAssocID="{AD59470C-4FF1-4BBD-8795-D911A5C921A2}" presName="sibTrans" presStyleCnt="0"/>
      <dgm:spPr/>
    </dgm:pt>
    <dgm:pt modelId="{6DF4EE2A-707C-4F7E-BF8E-28CB41DEFA32}" type="pres">
      <dgm:prSet presAssocID="{30B569F9-79ED-4743-A411-B3B17BC3DD44}" presName="node" presStyleLbl="node1" presStyleIdx="1" presStyleCnt="3">
        <dgm:presLayoutVars>
          <dgm:bulletEnabled val="1"/>
        </dgm:presLayoutVars>
      </dgm:prSet>
      <dgm:spPr/>
    </dgm:pt>
    <dgm:pt modelId="{891CC074-4702-4522-9DD9-35D05BA4FDB9}" type="pres">
      <dgm:prSet presAssocID="{8E96F945-ABD8-4FE3-8CF2-720372202A9F}" presName="sibTrans" presStyleCnt="0"/>
      <dgm:spPr/>
    </dgm:pt>
    <dgm:pt modelId="{0D8CBBB1-A1E4-4792-815A-84B87F0F1659}" type="pres">
      <dgm:prSet presAssocID="{9E7948D2-1B7D-4F24-8D1D-85B0CFDB40D5}" presName="node" presStyleLbl="node1" presStyleIdx="2" presStyleCnt="3">
        <dgm:presLayoutVars>
          <dgm:bulletEnabled val="1"/>
        </dgm:presLayoutVars>
      </dgm:prSet>
      <dgm:spPr/>
    </dgm:pt>
  </dgm:ptLst>
  <dgm:cxnLst>
    <dgm:cxn modelId="{42F2C907-D9B2-4834-BF54-6D73DC652DF6}" srcId="{E3490B4D-515B-4CE2-946E-CBD79B242D38}" destId="{9E7948D2-1B7D-4F24-8D1D-85B0CFDB40D5}" srcOrd="2" destOrd="0" parTransId="{A77D3781-C281-4F28-A0E1-36AB2FE8C532}" sibTransId="{BA2387F9-E90F-4359-A7F1-F5772233A500}"/>
    <dgm:cxn modelId="{47A39A0B-A622-4F27-B3C5-57BFC0D06B47}" type="presOf" srcId="{A14FC224-3236-49CE-9CEF-7F04AA79C64D}" destId="{47EA0543-59C4-4194-8492-F15EA671039F}" srcOrd="0" destOrd="0" presId="urn:microsoft.com/office/officeart/2005/8/layout/default"/>
    <dgm:cxn modelId="{3B802725-C402-42DC-81E6-D380F4699C7D}" type="presOf" srcId="{E3490B4D-515B-4CE2-946E-CBD79B242D38}" destId="{81DCD4B4-547F-44E2-85D5-3650B7D8FC7A}" srcOrd="0" destOrd="0" presId="urn:microsoft.com/office/officeart/2005/8/layout/default"/>
    <dgm:cxn modelId="{5C7A9C2B-90A6-4516-9563-95AAEF374F3C}" srcId="{E3490B4D-515B-4CE2-946E-CBD79B242D38}" destId="{A14FC224-3236-49CE-9CEF-7F04AA79C64D}" srcOrd="0" destOrd="0" parTransId="{D60CC94A-3EDB-4BD5-9E41-3C7B3A0A97CB}" sibTransId="{AD59470C-4FF1-4BBD-8795-D911A5C921A2}"/>
    <dgm:cxn modelId="{42690C2F-994F-4EE1-B27E-FF0D2720D1B8}" type="presOf" srcId="{30B569F9-79ED-4743-A411-B3B17BC3DD44}" destId="{6DF4EE2A-707C-4F7E-BF8E-28CB41DEFA32}" srcOrd="0" destOrd="0" presId="urn:microsoft.com/office/officeart/2005/8/layout/default"/>
    <dgm:cxn modelId="{A22D9838-910B-4C6C-8C9D-FA58D80AB345}" type="presOf" srcId="{AFCEEE1C-CA27-44EC-A97D-8FEF44C625CE}" destId="{0D8CBBB1-A1E4-4792-815A-84B87F0F1659}" srcOrd="0" destOrd="3" presId="urn:microsoft.com/office/officeart/2005/8/layout/default"/>
    <dgm:cxn modelId="{E0793D3C-7905-4375-A6B5-BD70A9423A9C}" type="presOf" srcId="{D52C278C-FD84-46FD-9371-3EE84197EC39}" destId="{0D8CBBB1-A1E4-4792-815A-84B87F0F1659}" srcOrd="0" destOrd="1" presId="urn:microsoft.com/office/officeart/2005/8/layout/default"/>
    <dgm:cxn modelId="{28097A49-9A18-426F-9D73-D34C25C38246}" type="presOf" srcId="{9E7948D2-1B7D-4F24-8D1D-85B0CFDB40D5}" destId="{0D8CBBB1-A1E4-4792-815A-84B87F0F1659}" srcOrd="0" destOrd="0" presId="urn:microsoft.com/office/officeart/2005/8/layout/default"/>
    <dgm:cxn modelId="{09FA3C75-93DB-47DD-8E85-49AA8B8A6FB9}" srcId="{9E7948D2-1B7D-4F24-8D1D-85B0CFDB40D5}" destId="{AFCEEE1C-CA27-44EC-A97D-8FEF44C625CE}" srcOrd="2" destOrd="0" parTransId="{47CAAFB7-EFAF-41BB-954D-207DFCA1112B}" sibTransId="{18598DF5-5860-407F-BBD9-C877A8D88226}"/>
    <dgm:cxn modelId="{AFB226B0-6150-477D-82D2-9F0022A1C95D}" type="presOf" srcId="{B173C431-7227-4033-9EEC-27FED4AA81D0}" destId="{0D8CBBB1-A1E4-4792-815A-84B87F0F1659}" srcOrd="0" destOrd="4" presId="urn:microsoft.com/office/officeart/2005/8/layout/default"/>
    <dgm:cxn modelId="{6F9A41B2-02C8-417B-A4B6-1D3C2C6DB872}" srcId="{E3490B4D-515B-4CE2-946E-CBD79B242D38}" destId="{30B569F9-79ED-4743-A411-B3B17BC3DD44}" srcOrd="1" destOrd="0" parTransId="{178FA2A8-6ACB-4F81-B887-5153D10E0CC3}" sibTransId="{8E96F945-ABD8-4FE3-8CF2-720372202A9F}"/>
    <dgm:cxn modelId="{EAF6D4B8-85E3-4C5F-A95E-DC063B601869}" srcId="{9E7948D2-1B7D-4F24-8D1D-85B0CFDB40D5}" destId="{B173C431-7227-4033-9EEC-27FED4AA81D0}" srcOrd="3" destOrd="0" parTransId="{287AA41A-81C0-4DD0-90BE-27B2BFF7F243}" sibTransId="{D5754E3F-C7C4-474B-8C8E-DDE844E8DF0A}"/>
    <dgm:cxn modelId="{962E8FE8-0AC0-43E6-B969-D7182D630275}" type="presOf" srcId="{422EE313-2B5B-48CE-AF3A-1D7F7C5B3330}" destId="{0D8CBBB1-A1E4-4792-815A-84B87F0F1659}" srcOrd="0" destOrd="2" presId="urn:microsoft.com/office/officeart/2005/8/layout/default"/>
    <dgm:cxn modelId="{8943E9E8-DB64-4DAE-9AF5-493931ABF791}" srcId="{9E7948D2-1B7D-4F24-8D1D-85B0CFDB40D5}" destId="{422EE313-2B5B-48CE-AF3A-1D7F7C5B3330}" srcOrd="1" destOrd="0" parTransId="{71634887-B53D-48A3-BB7F-2B9FDF94D15A}" sibTransId="{68550627-CC86-49DC-AE3D-CAEC43F448B0}"/>
    <dgm:cxn modelId="{3CD7B5FC-303D-43EE-AAC2-EE7EDF913539}" srcId="{9E7948D2-1B7D-4F24-8D1D-85B0CFDB40D5}" destId="{D52C278C-FD84-46FD-9371-3EE84197EC39}" srcOrd="0" destOrd="0" parTransId="{F1A671BE-75C4-4735-B465-F2D7E2726B98}" sibTransId="{7D682918-14C5-4892-9A33-6737C726A0FF}"/>
    <dgm:cxn modelId="{63ECE849-5FFC-4B69-8F17-2523BDCBB55B}" type="presParOf" srcId="{81DCD4B4-547F-44E2-85D5-3650B7D8FC7A}" destId="{47EA0543-59C4-4194-8492-F15EA671039F}" srcOrd="0" destOrd="0" presId="urn:microsoft.com/office/officeart/2005/8/layout/default"/>
    <dgm:cxn modelId="{650A3CE1-C78C-438E-8B3B-4CB3E8CA9458}" type="presParOf" srcId="{81DCD4B4-547F-44E2-85D5-3650B7D8FC7A}" destId="{EA475359-07B5-4027-8EF9-A0EF341E6E53}" srcOrd="1" destOrd="0" presId="urn:microsoft.com/office/officeart/2005/8/layout/default"/>
    <dgm:cxn modelId="{119334D0-32B6-4B7B-A6BE-39772A75C471}" type="presParOf" srcId="{81DCD4B4-547F-44E2-85D5-3650B7D8FC7A}" destId="{6DF4EE2A-707C-4F7E-BF8E-28CB41DEFA32}" srcOrd="2" destOrd="0" presId="urn:microsoft.com/office/officeart/2005/8/layout/default"/>
    <dgm:cxn modelId="{5989BE48-0F81-47F2-BE1B-3F499347C450}" type="presParOf" srcId="{81DCD4B4-547F-44E2-85D5-3650B7D8FC7A}" destId="{891CC074-4702-4522-9DD9-35D05BA4FDB9}" srcOrd="3" destOrd="0" presId="urn:microsoft.com/office/officeart/2005/8/layout/default"/>
    <dgm:cxn modelId="{4B2C017C-1274-483F-A896-C2026A9F347F}" type="presParOf" srcId="{81DCD4B4-547F-44E2-85D5-3650B7D8FC7A}" destId="{0D8CBBB1-A1E4-4792-815A-84B87F0F1659}"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FB3552-B3B1-47CC-BD63-FE26EEB1A3D8}">
      <dsp:nvSpPr>
        <dsp:cNvPr id="0" name=""/>
        <dsp:cNvSpPr/>
      </dsp:nvSpPr>
      <dsp:spPr>
        <a:xfrm>
          <a:off x="0" y="2921763"/>
          <a:ext cx="6447234" cy="958987"/>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a:t>For every decision program, practice asking:</a:t>
          </a:r>
        </a:p>
      </dsp:txBody>
      <dsp:txXfrm>
        <a:off x="0" y="2921763"/>
        <a:ext cx="6447234" cy="517853"/>
      </dsp:txXfrm>
    </dsp:sp>
    <dsp:sp modelId="{1759F7EC-0E76-42FA-BFBE-0F015A004539}">
      <dsp:nvSpPr>
        <dsp:cNvPr id="0" name=""/>
        <dsp:cNvSpPr/>
      </dsp:nvSpPr>
      <dsp:spPr>
        <a:xfrm>
          <a:off x="0" y="3420436"/>
          <a:ext cx="1611808" cy="441134"/>
        </a:xfrm>
        <a:prstGeom prst="rect">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a:t>- What condition is checked?</a:t>
          </a:r>
        </a:p>
      </dsp:txBody>
      <dsp:txXfrm>
        <a:off x="0" y="3420436"/>
        <a:ext cx="1611808" cy="441134"/>
      </dsp:txXfrm>
    </dsp:sp>
    <dsp:sp modelId="{8A8B1CF9-B514-4BFB-A957-A922192CE26B}">
      <dsp:nvSpPr>
        <dsp:cNvPr id="0" name=""/>
        <dsp:cNvSpPr/>
      </dsp:nvSpPr>
      <dsp:spPr>
        <a:xfrm>
          <a:off x="1611808" y="3420436"/>
          <a:ext cx="1611808" cy="441134"/>
        </a:xfrm>
        <a:prstGeom prst="rect">
          <a:avLst/>
        </a:prstGeom>
        <a:solidFill>
          <a:schemeClr val="accent3">
            <a:tint val="40000"/>
            <a:alpha val="90000"/>
            <a:hueOff val="0"/>
            <a:satOff val="0"/>
            <a:lumOff val="0"/>
            <a:alphaOff val="0"/>
          </a:schemeClr>
        </a:solidFill>
        <a:ln w="19050"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a:t>- Is the condition `True` or `False`?</a:t>
          </a:r>
        </a:p>
      </dsp:txBody>
      <dsp:txXfrm>
        <a:off x="1611808" y="3420436"/>
        <a:ext cx="1611808" cy="441134"/>
      </dsp:txXfrm>
    </dsp:sp>
    <dsp:sp modelId="{1FD6D738-CED6-42FC-BF8F-2530D0989DE5}">
      <dsp:nvSpPr>
        <dsp:cNvPr id="0" name=""/>
        <dsp:cNvSpPr/>
      </dsp:nvSpPr>
      <dsp:spPr>
        <a:xfrm>
          <a:off x="3223617" y="3420436"/>
          <a:ext cx="1611808" cy="441134"/>
        </a:xfrm>
        <a:prstGeom prst="rect">
          <a:avLst/>
        </a:prstGeom>
        <a:solidFill>
          <a:schemeClr val="accent4">
            <a:tint val="40000"/>
            <a:alpha val="90000"/>
            <a:hueOff val="0"/>
            <a:satOff val="0"/>
            <a:lumOff val="0"/>
            <a:alphaOff val="0"/>
          </a:schemeClr>
        </a:solidFill>
        <a:ln w="19050"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a:t>- Which branch runs?</a:t>
          </a:r>
        </a:p>
      </dsp:txBody>
      <dsp:txXfrm>
        <a:off x="3223617" y="3420436"/>
        <a:ext cx="1611808" cy="441134"/>
      </dsp:txXfrm>
    </dsp:sp>
    <dsp:sp modelId="{4DF9B5DD-AE57-416B-A0C7-227959D8B4DD}">
      <dsp:nvSpPr>
        <dsp:cNvPr id="0" name=""/>
        <dsp:cNvSpPr/>
      </dsp:nvSpPr>
      <dsp:spPr>
        <a:xfrm>
          <a:off x="4835425" y="3420436"/>
          <a:ext cx="1611808" cy="441134"/>
        </a:xfrm>
        <a:prstGeom prst="rect">
          <a:avLst/>
        </a:prstGeom>
        <a:solidFill>
          <a:schemeClr val="accent5">
            <a:tint val="40000"/>
            <a:alpha val="90000"/>
            <a:hueOff val="0"/>
            <a:satOff val="0"/>
            <a:lumOff val="0"/>
            <a:alphaOff val="0"/>
          </a:schemeClr>
        </a:solidFill>
        <a:ln w="19050" cap="rnd"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kern="1200"/>
            <a:t>- What output should appear?</a:t>
          </a:r>
        </a:p>
      </dsp:txBody>
      <dsp:txXfrm>
        <a:off x="4835425" y="3420436"/>
        <a:ext cx="1611808" cy="441134"/>
      </dsp:txXfrm>
    </dsp:sp>
    <dsp:sp modelId="{35507D41-5AD4-4936-B2DB-29FA82F01297}">
      <dsp:nvSpPr>
        <dsp:cNvPr id="0" name=""/>
        <dsp:cNvSpPr/>
      </dsp:nvSpPr>
      <dsp:spPr>
        <a:xfrm rot="10800000">
          <a:off x="0" y="1461224"/>
          <a:ext cx="6447234" cy="1474923"/>
        </a:xfrm>
        <a:prstGeom prst="upArrowCallou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If you can predict that path,</a:t>
          </a:r>
          <a:br>
            <a:rPr lang="en-US" sz="1800" kern="1200" dirty="0"/>
          </a:br>
          <a:r>
            <a:rPr lang="en-US" sz="1800" kern="1200" dirty="0"/>
            <a:t>you understand the decision logic.</a:t>
          </a:r>
        </a:p>
      </dsp:txBody>
      <dsp:txXfrm rot="10800000">
        <a:off x="0" y="1461224"/>
        <a:ext cx="6447234" cy="958361"/>
      </dsp:txXfrm>
    </dsp:sp>
    <dsp:sp modelId="{FA43E46B-205F-438C-A64C-502CBE29CDBC}">
      <dsp:nvSpPr>
        <dsp:cNvPr id="0" name=""/>
        <dsp:cNvSpPr/>
      </dsp:nvSpPr>
      <dsp:spPr>
        <a:xfrm rot="10800000">
          <a:off x="0" y="686"/>
          <a:ext cx="6447234" cy="1474923"/>
        </a:xfrm>
        <a:prstGeom prst="upArrowCallou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i="1" kern="1200"/>
            <a:t>Condition checked -&gt; branch selected -&gt; output shown.</a:t>
          </a:r>
          <a:endParaRPr lang="en-US" sz="1800" kern="1200"/>
        </a:p>
      </dsp:txBody>
      <dsp:txXfrm rot="10800000">
        <a:off x="0" y="686"/>
        <a:ext cx="6447234" cy="9583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EA0543-59C4-4194-8492-F15EA671039F}">
      <dsp:nvSpPr>
        <dsp:cNvPr id="0" name=""/>
        <dsp:cNvSpPr/>
      </dsp:nvSpPr>
      <dsp:spPr>
        <a:xfrm>
          <a:off x="304147" y="2241"/>
          <a:ext cx="3145383" cy="1887229"/>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Your submission should show at least two possible outcomes.</a:t>
          </a:r>
        </a:p>
      </dsp:txBody>
      <dsp:txXfrm>
        <a:off x="304147" y="2241"/>
        <a:ext cx="3145383" cy="1887229"/>
      </dsp:txXfrm>
    </dsp:sp>
    <dsp:sp modelId="{6DF4EE2A-707C-4F7E-BF8E-28CB41DEFA32}">
      <dsp:nvSpPr>
        <dsp:cNvPr id="0" name=""/>
        <dsp:cNvSpPr/>
      </dsp:nvSpPr>
      <dsp:spPr>
        <a:xfrm>
          <a:off x="3764069" y="2241"/>
          <a:ext cx="3145383" cy="1887229"/>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Be ready to explain what condition is checked and why each branch runs.</a:t>
          </a:r>
        </a:p>
      </dsp:txBody>
      <dsp:txXfrm>
        <a:off x="3764069" y="2241"/>
        <a:ext cx="3145383" cy="1887229"/>
      </dsp:txXfrm>
    </dsp:sp>
    <dsp:sp modelId="{0D8CBBB1-A1E4-4792-815A-84B87F0F1659}">
      <dsp:nvSpPr>
        <dsp:cNvPr id="0" name=""/>
        <dsp:cNvSpPr/>
      </dsp:nvSpPr>
      <dsp:spPr>
        <a:xfrm>
          <a:off x="2034108" y="2204010"/>
          <a:ext cx="3145383" cy="1887229"/>
        </a:xfrm>
        <a:prstGeom prst="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Useful evidence includes:</a:t>
          </a:r>
        </a:p>
        <a:p>
          <a:pPr marL="171450" lvl="1" indent="-171450" algn="l" defTabSz="711200">
            <a:lnSpc>
              <a:spcPct val="90000"/>
            </a:lnSpc>
            <a:spcBef>
              <a:spcPct val="0"/>
            </a:spcBef>
            <a:spcAft>
              <a:spcPct val="15000"/>
            </a:spcAft>
            <a:buChar char="•"/>
          </a:pPr>
          <a:r>
            <a:rPr lang="en-US" sz="1600" kern="1200"/>
            <a:t>a working `.py` file</a:t>
          </a:r>
        </a:p>
        <a:p>
          <a:pPr marL="171450" lvl="1" indent="-171450" algn="l" defTabSz="711200">
            <a:lnSpc>
              <a:spcPct val="90000"/>
            </a:lnSpc>
            <a:spcBef>
              <a:spcPct val="0"/>
            </a:spcBef>
            <a:spcAft>
              <a:spcPct val="15000"/>
            </a:spcAft>
            <a:buChar char="•"/>
          </a:pPr>
          <a:r>
            <a:rPr lang="en-US" sz="1600" kern="1200"/>
            <a:t>sample values or scenarios</a:t>
          </a:r>
        </a:p>
        <a:p>
          <a:pPr marL="171450" lvl="1" indent="-171450" algn="l" defTabSz="711200">
            <a:lnSpc>
              <a:spcPct val="90000"/>
            </a:lnSpc>
            <a:spcBef>
              <a:spcPct val="0"/>
            </a:spcBef>
            <a:spcAft>
              <a:spcPct val="15000"/>
            </a:spcAft>
            <a:buChar char="•"/>
          </a:pPr>
          <a:r>
            <a:rPr lang="en-US" sz="1600" kern="1200"/>
            <a:t>visible output</a:t>
          </a:r>
        </a:p>
        <a:p>
          <a:pPr marL="171450" lvl="1" indent="-171450" algn="l" defTabSz="711200">
            <a:lnSpc>
              <a:spcPct val="90000"/>
            </a:lnSpc>
            <a:spcBef>
              <a:spcPct val="0"/>
            </a:spcBef>
            <a:spcAft>
              <a:spcPct val="15000"/>
            </a:spcAft>
            <a:buChar char="•"/>
          </a:pPr>
          <a:r>
            <a:rPr lang="en-US" sz="1600" kern="1200"/>
            <a:t>a short explanation of the decision</a:t>
          </a:r>
        </a:p>
      </dsp:txBody>
      <dsp:txXfrm>
        <a:off x="2034108" y="2204010"/>
        <a:ext cx="3145383" cy="1887229"/>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759AF9F-1092-690D-006F-EBCE2C96B716}"/>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a:extLst>
              <a:ext uri="{FF2B5EF4-FFF2-40B4-BE49-F238E27FC236}">
                <a16:creationId xmlns:a16="http://schemas.microsoft.com/office/drawing/2014/main" id="{21FC0900-FCC2-2A2A-613C-A277F4B7120F}"/>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64943E5A-6629-4B53-8BAD-0FC37077EB14}" type="datetimeFigureOut">
              <a:rPr lang="en-US" smtClean="0"/>
              <a:t>6/16/2026</a:t>
            </a:fld>
            <a:endParaRPr lang="en-US"/>
          </a:p>
        </p:txBody>
      </p:sp>
      <p:sp>
        <p:nvSpPr>
          <p:cNvPr id="4" name="Footer Placeholder 3">
            <a:extLst>
              <a:ext uri="{FF2B5EF4-FFF2-40B4-BE49-F238E27FC236}">
                <a16:creationId xmlns:a16="http://schemas.microsoft.com/office/drawing/2014/main" id="{6A2D7F8D-A102-3CF3-78CD-2CA4C36115D1}"/>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a:extLst>
              <a:ext uri="{FF2B5EF4-FFF2-40B4-BE49-F238E27FC236}">
                <a16:creationId xmlns:a16="http://schemas.microsoft.com/office/drawing/2014/main" id="{4AD03618-FB8B-BA92-AF2F-43138FFAD960}"/>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9E905D54-93E9-4845-A874-0CB2F7E46362}" type="slidenum">
              <a:rPr lang="en-US" smtClean="0"/>
              <a:t>‹#›</a:t>
            </a:fld>
            <a:endParaRPr lang="en-US"/>
          </a:p>
        </p:txBody>
      </p:sp>
    </p:spTree>
    <p:extLst>
      <p:ext uri="{BB962C8B-B14F-4D97-AF65-F5344CB8AC3E}">
        <p14:creationId xmlns:p14="http://schemas.microsoft.com/office/powerpoint/2010/main" val="925368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E3382475-516A-409A-944E-F435F3DFCCF2}" type="datetimeFigureOut">
              <a:rPr lang="en-US" smtClean="0"/>
              <a:t>6/16/2026</a:t>
            </a:fld>
            <a:endParaRPr lang="en-US"/>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1916ACA2-47E6-42D2-BEC8-EDC49A1A9FA1}" type="slidenum">
              <a:rPr lang="en-US" smtClean="0"/>
              <a:t>‹#›</a:t>
            </a:fld>
            <a:endParaRPr lang="en-US"/>
          </a:p>
        </p:txBody>
      </p:sp>
    </p:spTree>
    <p:extLst>
      <p:ext uri="{BB962C8B-B14F-4D97-AF65-F5344CB8AC3E}">
        <p14:creationId xmlns:p14="http://schemas.microsoft.com/office/powerpoint/2010/main" val="3406224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16ACA2-47E6-42D2-BEC8-EDC49A1A9FA1}" type="slidenum">
              <a:rPr lang="en-US" smtClean="0"/>
              <a:t>1</a:t>
            </a:fld>
            <a:endParaRPr lang="en-US"/>
          </a:p>
        </p:txBody>
      </p:sp>
    </p:spTree>
    <p:extLst>
      <p:ext uri="{BB962C8B-B14F-4D97-AF65-F5344CB8AC3E}">
        <p14:creationId xmlns:p14="http://schemas.microsoft.com/office/powerpoint/2010/main" val="3005234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Use this as the conceptual jump from Week 1 to Week 2. </a:t>
            </a:r>
          </a:p>
          <a:p>
            <a:r>
              <a:rPr lang="en-US" sz="1300" dirty="0"/>
              <a:t>The point is not that students are starting over. </a:t>
            </a:r>
          </a:p>
          <a:p>
            <a:r>
              <a:rPr lang="en-US" sz="1300" dirty="0"/>
              <a:t>They are reusing values, expressions, and output, but now the program can decide which output should appear.</a:t>
            </a:r>
          </a:p>
          <a:p>
            <a:endParaRPr lang="en-US" sz="1300" dirty="0"/>
          </a:p>
          <a:p>
            <a:r>
              <a:rPr lang="en-US" sz="1300" b="1" dirty="0"/>
              <a:t>**Transition Cue:**</a:t>
            </a:r>
            <a:endParaRPr lang="en-US" sz="1300" dirty="0"/>
          </a:p>
          <a:p>
            <a:r>
              <a:rPr lang="en-US" sz="1300" dirty="0"/>
              <a:t>Before the program can choose, it needs a value to check.</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a:t>
            </a:fld>
            <a:endParaRPr lang="en-US"/>
          </a:p>
        </p:txBody>
      </p:sp>
    </p:spTree>
    <p:extLst>
      <p:ext uri="{BB962C8B-B14F-4D97-AF65-F5344CB8AC3E}">
        <p14:creationId xmlns:p14="http://schemas.microsoft.com/office/powerpoint/2010/main" val="225923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500" b="1" dirty="0"/>
              <a:t>**Instructor Notes:**</a:t>
            </a:r>
            <a:endParaRPr lang="en-US" sz="1500" dirty="0"/>
          </a:p>
          <a:p>
            <a:r>
              <a:rPr lang="en-US" sz="1500" dirty="0"/>
              <a:t>Ask students to name one Week 1 value example: score, price, age, temperature, or quantity. </a:t>
            </a:r>
          </a:p>
          <a:p>
            <a:r>
              <a:rPr lang="en-US" sz="1500" dirty="0"/>
              <a:t>Then ask what question a program might ask about that value.</a:t>
            </a:r>
          </a:p>
          <a:p>
            <a:endParaRPr lang="en-US" sz="1500" dirty="0"/>
          </a:p>
          <a:p>
            <a:r>
              <a:rPr lang="en-US" sz="1500" dirty="0"/>
              <a:t>Examples:</a:t>
            </a:r>
          </a:p>
          <a:p>
            <a:r>
              <a:rPr lang="en-US" sz="1500" dirty="0"/>
              <a:t>- Is the score passing?</a:t>
            </a:r>
          </a:p>
          <a:p>
            <a:r>
              <a:rPr lang="en-US" sz="1500" dirty="0"/>
              <a:t>- Is the purchase large enough for a discount?</a:t>
            </a:r>
          </a:p>
          <a:p>
            <a:r>
              <a:rPr lang="en-US" sz="1500" dirty="0"/>
              <a:t>- Is the age old enough?</a:t>
            </a:r>
          </a:p>
          <a:p>
            <a:endParaRPr lang="en-US" sz="1500" dirty="0"/>
          </a:p>
          <a:p>
            <a:r>
              <a:rPr lang="en-US" sz="1500" b="1" dirty="0"/>
              <a:t>**Transition Cue:**</a:t>
            </a:r>
            <a:endParaRPr lang="en-US" sz="1500" dirty="0"/>
          </a:p>
          <a:p>
            <a:r>
              <a:rPr lang="en-US" sz="1500" dirty="0"/>
              <a:t>Those questions become conditions.</a:t>
            </a:r>
          </a:p>
          <a:p>
            <a:endParaRPr lang="en-US" dirty="0"/>
          </a:p>
        </p:txBody>
      </p:sp>
      <p:sp>
        <p:nvSpPr>
          <p:cNvPr id="4" name="Slide Number Placeholder 3"/>
          <p:cNvSpPr>
            <a:spLocks noGrp="1"/>
          </p:cNvSpPr>
          <p:nvPr>
            <p:ph type="sldNum" sz="quarter" idx="5"/>
          </p:nvPr>
        </p:nvSpPr>
        <p:spPr/>
        <p:txBody>
          <a:bodyPr/>
          <a:lstStyle/>
          <a:p>
            <a:pPr defTabSz="510903">
              <a:defRPr/>
            </a:pPr>
            <a:fld id="{1916ACA2-47E6-42D2-BEC8-EDC49A1A9FA1}" type="slidenum">
              <a:rPr lang="en-US" sz="1500">
                <a:solidFill>
                  <a:prstClr val="black"/>
                </a:solidFill>
                <a:latin typeface="Aptos" panose="02110004020202020204"/>
              </a:rPr>
              <a:pPr defTabSz="510903">
                <a:defRPr/>
              </a:pPr>
              <a:t>3</a:t>
            </a:fld>
            <a:endParaRPr lang="en-US" sz="1500">
              <a:solidFill>
                <a:prstClr val="black"/>
              </a:solidFill>
              <a:latin typeface="Aptos" panose="02110004020202020204"/>
            </a:endParaRPr>
          </a:p>
        </p:txBody>
      </p:sp>
    </p:spTree>
    <p:extLst>
      <p:ext uri="{BB962C8B-B14F-4D97-AF65-F5344CB8AC3E}">
        <p14:creationId xmlns:p14="http://schemas.microsoft.com/office/powerpoint/2010/main" val="1598290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Install this pattern early and return to it all day. </a:t>
            </a:r>
          </a:p>
          <a:p>
            <a:r>
              <a:rPr lang="en-US" sz="1300" dirty="0"/>
              <a:t>It gives students a simple mental model for reading decision code.</a:t>
            </a:r>
          </a:p>
          <a:p>
            <a:endParaRPr lang="en-US" sz="1300" dirty="0"/>
          </a:p>
          <a:p>
            <a:r>
              <a:rPr lang="en-US" sz="1300" b="1" dirty="0"/>
              <a:t>**Transition Cue:**</a:t>
            </a:r>
            <a:endParaRPr lang="en-US" sz="1300" dirty="0"/>
          </a:p>
          <a:p>
            <a:r>
              <a:rPr lang="en-US" sz="1300" dirty="0"/>
              <a:t>Let's name the specific tools we will use today.</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4</a:t>
            </a:fld>
            <a:endParaRPr lang="en-US"/>
          </a:p>
        </p:txBody>
      </p:sp>
    </p:spTree>
    <p:extLst>
      <p:ext uri="{BB962C8B-B14F-4D97-AF65-F5344CB8AC3E}">
        <p14:creationId xmlns:p14="http://schemas.microsoft.com/office/powerpoint/2010/main" val="10511131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E3DF4-9018-54D7-AC32-B0CEABE138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259DBD-9CC0-BDFE-AAE2-92A678354CB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523A901-EC8D-2674-82CB-4F6151B3B2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13C00B-5DAB-BF7F-BBB7-C2ECD669C0B2}"/>
              </a:ext>
            </a:extLst>
          </p:cNvPr>
          <p:cNvSpPr>
            <a:spLocks noGrp="1"/>
          </p:cNvSpPr>
          <p:nvPr>
            <p:ph type="sldNum" sz="quarter" idx="5"/>
          </p:nvPr>
        </p:nvSpPr>
        <p:spPr/>
        <p:txBody>
          <a:bodyPr/>
          <a:lstStyle/>
          <a:p>
            <a:fld id="{1916ACA2-47E6-42D2-BEC8-EDC49A1A9FA1}" type="slidenum">
              <a:rPr lang="en-US" smtClean="0"/>
              <a:t>5</a:t>
            </a:fld>
            <a:endParaRPr lang="en-US"/>
          </a:p>
        </p:txBody>
      </p:sp>
    </p:spTree>
    <p:extLst>
      <p:ext uri="{BB962C8B-B14F-4D97-AF65-F5344CB8AC3E}">
        <p14:creationId xmlns:p14="http://schemas.microsoft.com/office/powerpoint/2010/main" val="33135793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Keep this as the working set. </a:t>
            </a:r>
          </a:p>
          <a:p>
            <a:r>
              <a:rPr lang="en-US" sz="1300" dirty="0"/>
              <a:t>Students will see that conditionals are built from a small group of pieces, not a giant new language.</a:t>
            </a:r>
          </a:p>
          <a:p>
            <a:endParaRPr lang="en-US" sz="1300" dirty="0"/>
          </a:p>
          <a:p>
            <a:r>
              <a:rPr lang="en-US" sz="1300" b="1" dirty="0"/>
              <a:t>**Transition Cue:**</a:t>
            </a:r>
            <a:endParaRPr lang="en-US" sz="1300" dirty="0"/>
          </a:p>
          <a:p>
            <a:r>
              <a:rPr lang="en-US" sz="1300" dirty="0"/>
              <a:t>Just as important, several topics can wait.</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6</a:t>
            </a:fld>
            <a:endParaRPr lang="en-US"/>
          </a:p>
        </p:txBody>
      </p:sp>
    </p:spTree>
    <p:extLst>
      <p:ext uri="{BB962C8B-B14F-4D97-AF65-F5344CB8AC3E}">
        <p14:creationId xmlns:p14="http://schemas.microsoft.com/office/powerpoint/2010/main" val="1229613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1E136-3710-82F5-92C5-E493D4E07D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073FA-91E0-B8D0-41CF-E276B64AA31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B1F0011-B64D-4530-9E98-AB4BE5B7A9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BD3460-0022-CB7B-C294-A66EFE02535B}"/>
              </a:ext>
            </a:extLst>
          </p:cNvPr>
          <p:cNvSpPr>
            <a:spLocks noGrp="1"/>
          </p:cNvSpPr>
          <p:nvPr>
            <p:ph type="sldNum" sz="quarter" idx="5"/>
          </p:nvPr>
        </p:nvSpPr>
        <p:spPr/>
        <p:txBody>
          <a:bodyPr/>
          <a:lstStyle/>
          <a:p>
            <a:fld id="{1916ACA2-47E6-42D2-BEC8-EDC49A1A9FA1}" type="slidenum">
              <a:rPr lang="en-US" smtClean="0"/>
              <a:t>7</a:t>
            </a:fld>
            <a:endParaRPr lang="en-US"/>
          </a:p>
        </p:txBody>
      </p:sp>
    </p:spTree>
    <p:extLst>
      <p:ext uri="{BB962C8B-B14F-4D97-AF65-F5344CB8AC3E}">
        <p14:creationId xmlns:p14="http://schemas.microsoft.com/office/powerpoint/2010/main" val="1887589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The reading may include more material than today's lecture needs. </a:t>
            </a:r>
          </a:p>
          <a:p>
            <a:r>
              <a:rPr lang="en-US" sz="1300" dirty="0"/>
              <a:t>This slide protects cognitive load. Loops arrive tomorrow, but they should not compete with first-contact branching.</a:t>
            </a:r>
          </a:p>
          <a:p>
            <a:endParaRPr lang="en-US" sz="1300" dirty="0"/>
          </a:p>
          <a:p>
            <a:r>
              <a:rPr lang="en-US" sz="1300" b="1" dirty="0"/>
              <a:t>**Transition Cue:**</a:t>
            </a:r>
            <a:endParaRPr lang="en-US" sz="1300" dirty="0"/>
          </a:p>
          <a:p>
            <a:r>
              <a:rPr lang="en-US" sz="1300" dirty="0"/>
              <a:t>The first decision tool is the boolean value.</a:t>
            </a:r>
          </a:p>
        </p:txBody>
      </p:sp>
      <p:sp>
        <p:nvSpPr>
          <p:cNvPr id="4" name="Slide Number Placeholder 3"/>
          <p:cNvSpPr>
            <a:spLocks noGrp="1"/>
          </p:cNvSpPr>
          <p:nvPr>
            <p:ph type="sldNum" sz="quarter" idx="5"/>
          </p:nvPr>
        </p:nvSpPr>
        <p:spPr/>
        <p:txBody>
          <a:bodyPr/>
          <a:lstStyle/>
          <a:p>
            <a:fld id="{1916ACA2-47E6-42D2-BEC8-EDC49A1A9FA1}" type="slidenum">
              <a:rPr lang="en-US" smtClean="0"/>
              <a:t>8</a:t>
            </a:fld>
            <a:endParaRPr lang="en-US"/>
          </a:p>
        </p:txBody>
      </p:sp>
    </p:spTree>
    <p:extLst>
      <p:ext uri="{BB962C8B-B14F-4D97-AF65-F5344CB8AC3E}">
        <p14:creationId xmlns:p14="http://schemas.microsoft.com/office/powerpoint/2010/main" val="12634355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1F9BE-9523-79C9-933A-ABC3B754F7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0D9386-8DEF-3DA9-3D5A-F4F15E97D15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1E467D7-62AF-324A-B85D-BF912C4060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9A96BC-2FBF-2964-1F23-02E9A91648C1}"/>
              </a:ext>
            </a:extLst>
          </p:cNvPr>
          <p:cNvSpPr>
            <a:spLocks noGrp="1"/>
          </p:cNvSpPr>
          <p:nvPr>
            <p:ph type="sldNum" sz="quarter" idx="5"/>
          </p:nvPr>
        </p:nvSpPr>
        <p:spPr/>
        <p:txBody>
          <a:bodyPr/>
          <a:lstStyle/>
          <a:p>
            <a:fld id="{1916ACA2-47E6-42D2-BEC8-EDC49A1A9FA1}" type="slidenum">
              <a:rPr lang="en-US" smtClean="0"/>
              <a:t>9</a:t>
            </a:fld>
            <a:endParaRPr lang="en-US"/>
          </a:p>
        </p:txBody>
      </p:sp>
    </p:spTree>
    <p:extLst>
      <p:ext uri="{BB962C8B-B14F-4D97-AF65-F5344CB8AC3E}">
        <p14:creationId xmlns:p14="http://schemas.microsoft.com/office/powerpoint/2010/main" val="36255252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dirty="0"/>
              <a:t>** Instructor Notes ** </a:t>
            </a:r>
          </a:p>
          <a:p>
            <a:r>
              <a:rPr lang="en-US" dirty="0"/>
              <a:t>Step through the coding solution(s) for the Lab.</a:t>
            </a:r>
            <a:br>
              <a:rPr lang="en-US" dirty="0"/>
            </a:br>
            <a:r>
              <a:rPr lang="en-US" dirty="0"/>
              <a:t>Be sure to state that this is only *one* solution of many. </a:t>
            </a:r>
            <a:br>
              <a:rPr lang="en-US" dirty="0"/>
            </a:br>
            <a:r>
              <a:rPr lang="en-US" dirty="0"/>
              <a:t>NOT the best or only solution.</a:t>
            </a:r>
          </a:p>
          <a:p>
            <a:endParaRPr lang="en-US" dirty="0"/>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10</a:t>
            </a:fld>
            <a:endParaRPr lang="en-US"/>
          </a:p>
        </p:txBody>
      </p:sp>
    </p:spTree>
    <p:extLst>
      <p:ext uri="{BB962C8B-B14F-4D97-AF65-F5344CB8AC3E}">
        <p14:creationId xmlns:p14="http://schemas.microsoft.com/office/powerpoint/2010/main" val="29916168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Translate comparisons into spoken questions:</a:t>
            </a:r>
          </a:p>
          <a:p>
            <a:r>
              <a:rPr lang="en-US" sz="1300" dirty="0"/>
              <a:t>- Is the score greater than or equal to 70?</a:t>
            </a:r>
          </a:p>
          <a:p>
            <a:r>
              <a:rPr lang="en-US" sz="1300" dirty="0"/>
              <a:t>- Is the age at least 16?</a:t>
            </a:r>
          </a:p>
          <a:p>
            <a:r>
              <a:rPr lang="en-US" sz="1300" dirty="0"/>
              <a:t>- Is the password attempt equal to the sample value?</a:t>
            </a:r>
          </a:p>
          <a:p>
            <a:endParaRPr lang="en-US" sz="1300" dirty="0"/>
          </a:p>
          <a:p>
            <a:r>
              <a:rPr lang="en-US" sz="1300" dirty="0"/>
              <a:t>The spoken question helps students see code as meaning, not symbols only.</a:t>
            </a:r>
          </a:p>
          <a:p>
            <a:endParaRPr lang="en-US" sz="1300" dirty="0"/>
          </a:p>
          <a:p>
            <a:r>
              <a:rPr lang="en-US" sz="1300" b="1" dirty="0"/>
              <a:t>**Transition Cue:**</a:t>
            </a:r>
            <a:endParaRPr lang="en-US" sz="1300" dirty="0"/>
          </a:p>
          <a:p>
            <a:r>
              <a:rPr lang="en-US" sz="1300" dirty="0"/>
              <a:t>Now we need the comparison symbols that create those answers.</a:t>
            </a:r>
          </a:p>
        </p:txBody>
      </p:sp>
      <p:sp>
        <p:nvSpPr>
          <p:cNvPr id="4" name="Slide Number Placeholder 3"/>
          <p:cNvSpPr>
            <a:spLocks noGrp="1"/>
          </p:cNvSpPr>
          <p:nvPr>
            <p:ph type="sldNum" sz="quarter" idx="5"/>
          </p:nvPr>
        </p:nvSpPr>
        <p:spPr/>
        <p:txBody>
          <a:bodyPr/>
          <a:lstStyle/>
          <a:p>
            <a:fld id="{1916ACA2-47E6-42D2-BEC8-EDC49A1A9FA1}" type="slidenum">
              <a:rPr lang="en-US" smtClean="0"/>
              <a:t>11</a:t>
            </a:fld>
            <a:endParaRPr lang="en-US"/>
          </a:p>
        </p:txBody>
      </p:sp>
    </p:spTree>
    <p:extLst>
      <p:ext uri="{BB962C8B-B14F-4D97-AF65-F5344CB8AC3E}">
        <p14:creationId xmlns:p14="http://schemas.microsoft.com/office/powerpoint/2010/main" val="36654804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Do not rush past `==` and `!=`. </a:t>
            </a:r>
          </a:p>
          <a:p>
            <a:r>
              <a:rPr lang="en-US" sz="1300" dirty="0"/>
              <a:t>Students will recognize some symbols from math, but `==` is a programming-specific adjustment for many beginners.</a:t>
            </a:r>
          </a:p>
          <a:p>
            <a:br>
              <a:rPr lang="en-US" sz="1300" dirty="0"/>
            </a:br>
            <a:r>
              <a:rPr lang="en-US" sz="1300" dirty="0"/>
              <a:t>Use two or three concrete examples:</a:t>
            </a:r>
          </a:p>
          <a:p>
            <a:r>
              <a:rPr lang="en-US" sz="1300" dirty="0"/>
              <a:t>```python</a:t>
            </a:r>
          </a:p>
          <a:p>
            <a:r>
              <a:rPr lang="en-US" sz="1300" dirty="0"/>
              <a:t>age &gt;= 16</a:t>
            </a:r>
          </a:p>
          <a:p>
            <a:r>
              <a:rPr lang="en-US" sz="1300" dirty="0"/>
              <a:t>score == 100</a:t>
            </a:r>
          </a:p>
          <a:p>
            <a:r>
              <a:rPr lang="en-US" sz="1300" dirty="0"/>
              <a:t>status != "closed"</a:t>
            </a:r>
          </a:p>
          <a:p>
            <a:r>
              <a:rPr lang="en-US" sz="1300" dirty="0"/>
              <a:t>```</a:t>
            </a:r>
          </a:p>
          <a:p>
            <a:endParaRPr lang="en-US" sz="1300" dirty="0"/>
          </a:p>
          <a:p>
            <a:r>
              <a:rPr lang="en-US" sz="1300" b="1" dirty="0"/>
              <a:t>**Transition Cue:**</a:t>
            </a:r>
            <a:endParaRPr lang="en-US" sz="1300" dirty="0"/>
          </a:p>
          <a:p>
            <a:r>
              <a:rPr lang="en-US" sz="1300" dirty="0"/>
              <a:t>Let's see comparisons produce visible `True` and `False` values.</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12</a:t>
            </a:fld>
            <a:endParaRPr lang="en-US"/>
          </a:p>
        </p:txBody>
      </p:sp>
    </p:spTree>
    <p:extLst>
      <p:ext uri="{BB962C8B-B14F-4D97-AF65-F5344CB8AC3E}">
        <p14:creationId xmlns:p14="http://schemas.microsoft.com/office/powerpoint/2010/main" val="82606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defTabSz="540076">
              <a:defRPr/>
            </a:pPr>
            <a:fld id="{1916ACA2-47E6-42D2-BEC8-EDC49A1A9FA1}" type="slidenum">
              <a:rPr lang="en-US" sz="1600">
                <a:solidFill>
                  <a:prstClr val="black"/>
                </a:solidFill>
                <a:latin typeface="Aptos" panose="02110004020202020204"/>
              </a:rPr>
              <a:pPr defTabSz="540076">
                <a:defRPr/>
              </a:pPr>
              <a:t>13</a:t>
            </a:fld>
            <a:endParaRPr lang="en-US" sz="1600">
              <a:solidFill>
                <a:prstClr val="black"/>
              </a:solidFill>
              <a:latin typeface="Aptos" panose="02110004020202020204"/>
            </a:endParaRPr>
          </a:p>
        </p:txBody>
      </p:sp>
    </p:spTree>
    <p:extLst>
      <p:ext uri="{BB962C8B-B14F-4D97-AF65-F5344CB8AC3E}">
        <p14:creationId xmlns:p14="http://schemas.microsoft.com/office/powerpoint/2010/main" val="31256578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Use:</a:t>
            </a:r>
          </a:p>
          <a:p>
            <a:r>
              <a:rPr lang="en-US" sz="1300" i="1" dirty="0"/>
              <a:t>`Demos/Week_02_Decision_Logic_and_Repetition/01_booleans_comparisons.py`</a:t>
            </a:r>
          </a:p>
          <a:p>
            <a:endParaRPr lang="en-US" sz="1300" dirty="0"/>
          </a:p>
          <a:p>
            <a:r>
              <a:rPr lang="en-US" sz="1300" dirty="0"/>
              <a:t>Run once as written. Then change one value at a time:</a:t>
            </a:r>
          </a:p>
          <a:p>
            <a:r>
              <a:rPr lang="en-US" sz="1300" dirty="0"/>
              <a:t>- `age`</a:t>
            </a:r>
          </a:p>
          <a:p>
            <a:r>
              <a:rPr lang="en-US" sz="1300" dirty="0"/>
              <a:t>- `</a:t>
            </a:r>
            <a:r>
              <a:rPr lang="en-US" sz="1300" dirty="0" err="1"/>
              <a:t>minimum_age</a:t>
            </a:r>
            <a:r>
              <a:rPr lang="en-US" sz="1300" dirty="0"/>
              <a:t>`</a:t>
            </a:r>
          </a:p>
          <a:p>
            <a:r>
              <a:rPr lang="en-US" sz="1300" dirty="0"/>
              <a:t>- `score`</a:t>
            </a:r>
          </a:p>
          <a:p>
            <a:r>
              <a:rPr lang="en-US" sz="1300" dirty="0"/>
              <a:t>- `</a:t>
            </a:r>
            <a:r>
              <a:rPr lang="en-US" sz="1300" dirty="0" err="1"/>
              <a:t>passing_score</a:t>
            </a:r>
            <a:r>
              <a:rPr lang="en-US" sz="1300" dirty="0"/>
              <a:t>`</a:t>
            </a:r>
          </a:p>
          <a:p>
            <a:br>
              <a:rPr lang="en-US" sz="1300" dirty="0"/>
            </a:br>
            <a:r>
              <a:rPr lang="en-US" sz="1300" dirty="0"/>
              <a:t>Ask students to predict the boolean result before running the file again.</a:t>
            </a:r>
          </a:p>
          <a:p>
            <a:endParaRPr lang="en-US" sz="1300" dirty="0"/>
          </a:p>
          <a:p>
            <a:r>
              <a:rPr lang="en-US" sz="1300" b="1" dirty="0"/>
              <a:t>**Transition Cue:**</a:t>
            </a:r>
            <a:endParaRPr lang="en-US" sz="1300" dirty="0"/>
          </a:p>
          <a:p>
            <a:r>
              <a:rPr lang="en-US" sz="1300" dirty="0"/>
              <a:t>A boolean result becomes more useful when it controls a branch.</a:t>
            </a:r>
          </a:p>
          <a:p>
            <a:endParaRPr lang="en-US" sz="1300" dirty="0"/>
          </a:p>
          <a:p>
            <a:r>
              <a:rPr lang="en-US" sz="1300" b="1" dirty="0"/>
              <a:t>**Demo Connection:**</a:t>
            </a:r>
            <a:endParaRPr lang="en-US" sz="1300" dirty="0"/>
          </a:p>
          <a:p>
            <a:r>
              <a:rPr lang="en-US" sz="1300" dirty="0"/>
              <a:t>Primary demo file: `01_booleans_comparisons.py`</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14</a:t>
            </a:fld>
            <a:endParaRPr lang="en-US"/>
          </a:p>
        </p:txBody>
      </p:sp>
    </p:spTree>
    <p:extLst>
      <p:ext uri="{BB962C8B-B14F-4D97-AF65-F5344CB8AC3E}">
        <p14:creationId xmlns:p14="http://schemas.microsoft.com/office/powerpoint/2010/main" val="3997303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Point directly at indentation. </a:t>
            </a:r>
          </a:p>
          <a:p>
            <a:r>
              <a:rPr lang="en-US" sz="1300" dirty="0"/>
              <a:t>Beginners often understand the condition but miss that indentation controls the branch body.</a:t>
            </a:r>
          </a:p>
          <a:p>
            <a:br>
              <a:rPr lang="en-US" sz="1300" dirty="0"/>
            </a:br>
            <a:r>
              <a:rPr lang="en-US" sz="1300" dirty="0"/>
              <a:t>Use a tiny structure:</a:t>
            </a:r>
          </a:p>
          <a:p>
            <a:r>
              <a:rPr lang="en-US" sz="1300" dirty="0"/>
              <a:t>```python</a:t>
            </a:r>
          </a:p>
          <a:p>
            <a:r>
              <a:rPr lang="en-US" sz="1300" dirty="0"/>
              <a:t>if score &gt;= 70:</a:t>
            </a:r>
          </a:p>
          <a:p>
            <a:r>
              <a:rPr lang="en-US" sz="1300" dirty="0"/>
              <a:t>    print("Passing")</a:t>
            </a:r>
          </a:p>
          <a:p>
            <a:r>
              <a:rPr lang="en-US" sz="1300" dirty="0"/>
              <a:t>```</a:t>
            </a:r>
          </a:p>
          <a:p>
            <a:endParaRPr lang="en-US" sz="1300" dirty="0"/>
          </a:p>
          <a:p>
            <a:r>
              <a:rPr lang="en-US" sz="1300" b="1" dirty="0"/>
              <a:t>**Transition Cue:**</a:t>
            </a:r>
            <a:endParaRPr lang="en-US" sz="1300" dirty="0"/>
          </a:p>
          <a:p>
            <a:r>
              <a:rPr lang="en-US" sz="1300" dirty="0"/>
              <a:t>When there are multiple possible outcomes, we can add more branches.</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15</a:t>
            </a:fld>
            <a:endParaRPr lang="en-US"/>
          </a:p>
        </p:txBody>
      </p:sp>
    </p:spTree>
    <p:extLst>
      <p:ext uri="{BB962C8B-B14F-4D97-AF65-F5344CB8AC3E}">
        <p14:creationId xmlns:p14="http://schemas.microsoft.com/office/powerpoint/2010/main" val="18958714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16</a:t>
            </a:fld>
            <a:endParaRPr lang="en-US"/>
          </a:p>
        </p:txBody>
      </p:sp>
    </p:spTree>
    <p:extLst>
      <p:ext uri="{BB962C8B-B14F-4D97-AF65-F5344CB8AC3E}">
        <p14:creationId xmlns:p14="http://schemas.microsoft.com/office/powerpoint/2010/main" val="20486248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Explain `</a:t>
            </a:r>
            <a:r>
              <a:rPr lang="en-US" sz="1300" dirty="0" err="1"/>
              <a:t>elif</a:t>
            </a:r>
            <a:r>
              <a:rPr lang="en-US" sz="1300" dirty="0"/>
              <a:t>` as "else if" in plain language. Keep `else` simple: it is the fallback branch.</a:t>
            </a:r>
          </a:p>
          <a:p>
            <a:r>
              <a:rPr lang="en-US" sz="1300" dirty="0"/>
              <a:t>Stress that Python checks from top to bottom and stops once a matching branch is selected in the chain.</a:t>
            </a:r>
          </a:p>
          <a:p>
            <a:endParaRPr lang="en-US" sz="1300" dirty="0"/>
          </a:p>
          <a:p>
            <a:r>
              <a:rPr lang="en-US" sz="1300" b="1" dirty="0"/>
              <a:t>**Transition Cue:**</a:t>
            </a:r>
            <a:endParaRPr lang="en-US" sz="1300" dirty="0"/>
          </a:p>
          <a:p>
            <a:r>
              <a:rPr lang="en-US" sz="1300" dirty="0"/>
              <a:t>The next demo shows why prediction matters before running the code.</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17</a:t>
            </a:fld>
            <a:endParaRPr lang="en-US"/>
          </a:p>
        </p:txBody>
      </p:sp>
    </p:spTree>
    <p:extLst>
      <p:ext uri="{BB962C8B-B14F-4D97-AF65-F5344CB8AC3E}">
        <p14:creationId xmlns:p14="http://schemas.microsoft.com/office/powerpoint/2010/main" val="28338152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18B71-6943-C924-7BBA-10253B9E0B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F88C8-0645-F18A-368C-0975C2F4F4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ABAB2E6-E5DA-6C66-EEDB-69F8102701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C1E54C-B04E-0727-1CD0-4E012BCAD535}"/>
              </a:ext>
            </a:extLst>
          </p:cNvPr>
          <p:cNvSpPr>
            <a:spLocks noGrp="1"/>
          </p:cNvSpPr>
          <p:nvPr>
            <p:ph type="sldNum" sz="quarter" idx="5"/>
          </p:nvPr>
        </p:nvSpPr>
        <p:spPr/>
        <p:txBody>
          <a:bodyPr/>
          <a:lstStyle/>
          <a:p>
            <a:pPr defTabSz="540076">
              <a:defRPr/>
            </a:pPr>
            <a:fld id="{1916ACA2-47E6-42D2-BEC8-EDC49A1A9FA1}" type="slidenum">
              <a:rPr lang="en-US" sz="1600">
                <a:solidFill>
                  <a:prstClr val="black"/>
                </a:solidFill>
                <a:latin typeface="Aptos" panose="02110004020202020204"/>
              </a:rPr>
              <a:pPr defTabSz="540076">
                <a:defRPr/>
              </a:pPr>
              <a:t>18</a:t>
            </a:fld>
            <a:endParaRPr lang="en-US" sz="1600">
              <a:solidFill>
                <a:prstClr val="black"/>
              </a:solidFill>
              <a:latin typeface="Aptos" panose="02110004020202020204"/>
            </a:endParaRPr>
          </a:p>
        </p:txBody>
      </p:sp>
    </p:spTree>
    <p:extLst>
      <p:ext uri="{BB962C8B-B14F-4D97-AF65-F5344CB8AC3E}">
        <p14:creationId xmlns:p14="http://schemas.microsoft.com/office/powerpoint/2010/main" val="18019024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Use:</a:t>
            </a:r>
          </a:p>
          <a:p>
            <a:r>
              <a:rPr lang="en-US" sz="1300" i="1" dirty="0"/>
              <a:t>`Demos/Week_02_Decision_Logic_and_Repetition/02_if_elif_else_grade_check.py`</a:t>
            </a:r>
          </a:p>
          <a:p>
            <a:br>
              <a:rPr lang="en-US" sz="1300" dirty="0"/>
            </a:br>
            <a:r>
              <a:rPr lang="en-US" sz="1300" dirty="0"/>
              <a:t>Suggested test values:</a:t>
            </a:r>
          </a:p>
          <a:p>
            <a:r>
              <a:rPr lang="en-US" sz="1300" dirty="0"/>
              <a:t>- `95`</a:t>
            </a:r>
          </a:p>
          <a:p>
            <a:r>
              <a:rPr lang="en-US" sz="1300" dirty="0"/>
              <a:t>- `84`</a:t>
            </a:r>
          </a:p>
          <a:p>
            <a:r>
              <a:rPr lang="en-US" sz="1300" dirty="0"/>
              <a:t>- `72`</a:t>
            </a:r>
          </a:p>
          <a:p>
            <a:r>
              <a:rPr lang="en-US" sz="1300" dirty="0"/>
              <a:t>- `59`</a:t>
            </a:r>
          </a:p>
          <a:p>
            <a:r>
              <a:rPr lang="en-US" sz="1300" dirty="0"/>
              <a:t>- boundary values such as `90`, `80`, `70`, and `60`</a:t>
            </a:r>
          </a:p>
          <a:p>
            <a:endParaRPr lang="en-US" sz="1300" dirty="0"/>
          </a:p>
          <a:p>
            <a:r>
              <a:rPr lang="en-US" sz="1300" dirty="0"/>
              <a:t>Pause before each run and ask: which branch should run, and why?</a:t>
            </a:r>
          </a:p>
          <a:p>
            <a:endParaRPr lang="en-US" sz="1300" dirty="0"/>
          </a:p>
          <a:p>
            <a:r>
              <a:rPr lang="en-US" sz="1300" b="1" dirty="0"/>
              <a:t>**Transition Cue:**</a:t>
            </a:r>
            <a:endParaRPr lang="en-US" sz="1300" dirty="0"/>
          </a:p>
          <a:p>
            <a:r>
              <a:rPr lang="en-US" sz="1300" dirty="0"/>
              <a:t>The order of the branches matters because Python reads the chain from top to bottom.</a:t>
            </a:r>
          </a:p>
          <a:p>
            <a:endParaRPr lang="en-US" sz="1300" dirty="0"/>
          </a:p>
          <a:p>
            <a:r>
              <a:rPr lang="en-US" sz="1300" b="1" dirty="0"/>
              <a:t>**Demo Connection:**</a:t>
            </a:r>
            <a:endParaRPr lang="en-US" sz="1300" dirty="0"/>
          </a:p>
          <a:p>
            <a:r>
              <a:rPr lang="en-US" sz="1300" dirty="0"/>
              <a:t>Primary demo file: `02_if_elif_else_grade_check.py`</a:t>
            </a:r>
          </a:p>
          <a:p>
            <a:endParaRPr lang="en-US" dirty="0"/>
          </a:p>
        </p:txBody>
      </p:sp>
      <p:sp>
        <p:nvSpPr>
          <p:cNvPr id="4" name="Slide Number Placeholder 3"/>
          <p:cNvSpPr>
            <a:spLocks noGrp="1"/>
          </p:cNvSpPr>
          <p:nvPr>
            <p:ph type="sldNum" sz="quarter" idx="5"/>
          </p:nvPr>
        </p:nvSpPr>
        <p:spPr/>
        <p:txBody>
          <a:bodyPr/>
          <a:lstStyle/>
          <a:p>
            <a:pPr defTabSz="540076"/>
            <a:fld id="{1916ACA2-47E6-42D2-BEC8-EDC49A1A9FA1}" type="slidenum">
              <a:rPr lang="en-US" sz="1600">
                <a:solidFill>
                  <a:prstClr val="black"/>
                </a:solidFill>
                <a:latin typeface="Aptos" panose="02110004020202020204"/>
              </a:rPr>
              <a:pPr defTabSz="540076"/>
              <a:t>19</a:t>
            </a:fld>
            <a:endParaRPr lang="en-US" sz="1600">
              <a:solidFill>
                <a:prstClr val="black"/>
              </a:solidFill>
              <a:latin typeface="Aptos" panose="02110004020202020204"/>
            </a:endParaRPr>
          </a:p>
        </p:txBody>
      </p:sp>
    </p:spTree>
    <p:extLst>
      <p:ext uri="{BB962C8B-B14F-4D97-AF65-F5344CB8AC3E}">
        <p14:creationId xmlns:p14="http://schemas.microsoft.com/office/powerpoint/2010/main" val="31977663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This prevents a major beginner mistake. </a:t>
            </a:r>
          </a:p>
          <a:p>
            <a:r>
              <a:rPr lang="en-US" sz="1300" dirty="0"/>
              <a:t>If a broad condition appears before a more specific one, the specific branch may never run.</a:t>
            </a:r>
          </a:p>
          <a:p>
            <a:endParaRPr lang="en-US" sz="1300" dirty="0"/>
          </a:p>
          <a:p>
            <a:r>
              <a:rPr lang="en-US" sz="1300" dirty="0"/>
              <a:t>Use a verbal example before code:</a:t>
            </a:r>
          </a:p>
          <a:p>
            <a:r>
              <a:rPr lang="en-US" sz="1300" dirty="0"/>
              <a:t>```text</a:t>
            </a:r>
          </a:p>
          <a:p>
            <a:r>
              <a:rPr lang="en-US" sz="1300" dirty="0"/>
              <a:t>If a score is at least 60, it is also at least 70? No.</a:t>
            </a:r>
          </a:p>
          <a:p>
            <a:r>
              <a:rPr lang="en-US" sz="1300" dirty="0"/>
              <a:t>If a score is at least 95, it is also at least 90? Yes.</a:t>
            </a:r>
          </a:p>
          <a:p>
            <a:r>
              <a:rPr lang="en-US" sz="1300" dirty="0"/>
              <a:t>So the order must match the intended logic.</a:t>
            </a:r>
          </a:p>
          <a:p>
            <a:r>
              <a:rPr lang="en-US" sz="1300" dirty="0"/>
              <a:t>```</a:t>
            </a:r>
            <a:br>
              <a:rPr lang="en-US" sz="1300" dirty="0"/>
            </a:br>
            <a:endParaRPr lang="en-US" sz="1300" dirty="0"/>
          </a:p>
          <a:p>
            <a:r>
              <a:rPr lang="en-US" sz="1300" b="1" dirty="0"/>
              <a:t>**Transition Cue:**</a:t>
            </a:r>
            <a:endParaRPr lang="en-US" sz="1300" dirty="0"/>
          </a:p>
          <a:p>
            <a:r>
              <a:rPr lang="en-US" sz="1300" dirty="0"/>
              <a:t>Two common syntax problems can hide this logic from students.</a:t>
            </a:r>
          </a:p>
        </p:txBody>
      </p:sp>
      <p:sp>
        <p:nvSpPr>
          <p:cNvPr id="4" name="Slide Number Placeholder 3"/>
          <p:cNvSpPr>
            <a:spLocks noGrp="1"/>
          </p:cNvSpPr>
          <p:nvPr>
            <p:ph type="sldNum" sz="quarter" idx="5"/>
          </p:nvPr>
        </p:nvSpPr>
        <p:spPr/>
        <p:txBody>
          <a:bodyPr/>
          <a:lstStyle/>
          <a:p>
            <a:fld id="{1916ACA2-47E6-42D2-BEC8-EDC49A1A9FA1}" type="slidenum">
              <a:rPr lang="en-US" smtClean="0"/>
              <a:t>20</a:t>
            </a:fld>
            <a:endParaRPr lang="en-US"/>
          </a:p>
        </p:txBody>
      </p:sp>
    </p:spTree>
    <p:extLst>
      <p:ext uri="{BB962C8B-B14F-4D97-AF65-F5344CB8AC3E}">
        <p14:creationId xmlns:p14="http://schemas.microsoft.com/office/powerpoint/2010/main" val="27195708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58CAC-D80A-1F7A-A423-240884484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08A946-52AF-5A79-6031-82E7B99F3AE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8E01932-0B40-C317-1AC7-B0489997D0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916D7A-A70D-427F-B2CC-240AA93808C0}"/>
              </a:ext>
            </a:extLst>
          </p:cNvPr>
          <p:cNvSpPr>
            <a:spLocks noGrp="1"/>
          </p:cNvSpPr>
          <p:nvPr>
            <p:ph type="sldNum" sz="quarter" idx="5"/>
          </p:nvPr>
        </p:nvSpPr>
        <p:spPr/>
        <p:txBody>
          <a:bodyPr/>
          <a:lstStyle/>
          <a:p>
            <a:fld id="{1916ACA2-47E6-42D2-BEC8-EDC49A1A9FA1}" type="slidenum">
              <a:rPr lang="en-US" smtClean="0"/>
              <a:t>21</a:t>
            </a:fld>
            <a:endParaRPr lang="en-US"/>
          </a:p>
        </p:txBody>
      </p:sp>
    </p:spTree>
    <p:extLst>
      <p:ext uri="{BB962C8B-B14F-4D97-AF65-F5344CB8AC3E}">
        <p14:creationId xmlns:p14="http://schemas.microsoft.com/office/powerpoint/2010/main" val="25889153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Keep this blunt and memorable. Connect it back to Week 1:</a:t>
            </a:r>
          </a:p>
          <a:p>
            <a:r>
              <a:rPr lang="en-US" sz="1300" dirty="0"/>
              <a:t>- `score = 84` stores a value.</a:t>
            </a:r>
          </a:p>
          <a:p>
            <a:r>
              <a:rPr lang="en-US" sz="1300" dirty="0"/>
              <a:t>- `score == 84` asks whether the value matches.</a:t>
            </a:r>
          </a:p>
          <a:p>
            <a:endParaRPr lang="en-US" sz="1300" dirty="0"/>
          </a:p>
          <a:p>
            <a:r>
              <a:rPr lang="en-US" sz="1300" dirty="0"/>
              <a:t>This is one of the highest-value beginner warnings for Week 2.</a:t>
            </a:r>
          </a:p>
          <a:p>
            <a:endParaRPr lang="en-US" sz="1300" dirty="0"/>
          </a:p>
          <a:p>
            <a:r>
              <a:rPr lang="en-US" sz="1300" b="1" dirty="0"/>
              <a:t>**Transition Cue:**</a:t>
            </a:r>
            <a:endParaRPr lang="en-US" sz="1300" dirty="0"/>
          </a:p>
          <a:p>
            <a:r>
              <a:rPr lang="en-US" sz="1300" dirty="0"/>
              <a:t>The second common failure is indentation.</a:t>
            </a:r>
          </a:p>
        </p:txBody>
      </p:sp>
      <p:sp>
        <p:nvSpPr>
          <p:cNvPr id="4" name="Slide Number Placeholder 3"/>
          <p:cNvSpPr>
            <a:spLocks noGrp="1"/>
          </p:cNvSpPr>
          <p:nvPr>
            <p:ph type="sldNum" sz="quarter" idx="5"/>
          </p:nvPr>
        </p:nvSpPr>
        <p:spPr/>
        <p:txBody>
          <a:bodyPr/>
          <a:lstStyle/>
          <a:p>
            <a:fld id="{1916ACA2-47E6-42D2-BEC8-EDC49A1A9FA1}" type="slidenum">
              <a:rPr lang="en-US" smtClean="0"/>
              <a:t>22</a:t>
            </a:fld>
            <a:endParaRPr lang="en-US"/>
          </a:p>
        </p:txBody>
      </p:sp>
    </p:spTree>
    <p:extLst>
      <p:ext uri="{BB962C8B-B14F-4D97-AF65-F5344CB8AC3E}">
        <p14:creationId xmlns:p14="http://schemas.microsoft.com/office/powerpoint/2010/main" val="25364046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F5990-CFC6-01F8-3187-B51623A2E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CBAD43-EAB6-CF1F-DCE8-F1C2AD9AF2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D1A865-82BE-9F3F-1182-204035D65E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DAD0FA-C34C-A14F-1255-5DFFCE8735E9}"/>
              </a:ext>
            </a:extLst>
          </p:cNvPr>
          <p:cNvSpPr>
            <a:spLocks noGrp="1"/>
          </p:cNvSpPr>
          <p:nvPr>
            <p:ph type="sldNum" sz="quarter" idx="5"/>
          </p:nvPr>
        </p:nvSpPr>
        <p:spPr/>
        <p:txBody>
          <a:bodyPr/>
          <a:lstStyle/>
          <a:p>
            <a:fld id="{1916ACA2-47E6-42D2-BEC8-EDC49A1A9FA1}" type="slidenum">
              <a:rPr lang="en-US" smtClean="0"/>
              <a:t>23</a:t>
            </a:fld>
            <a:endParaRPr lang="en-US"/>
          </a:p>
        </p:txBody>
      </p:sp>
    </p:spTree>
    <p:extLst>
      <p:ext uri="{BB962C8B-B14F-4D97-AF65-F5344CB8AC3E}">
        <p14:creationId xmlns:p14="http://schemas.microsoft.com/office/powerpoint/2010/main" val="26658802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Show a tiny before/after example if helpful. </a:t>
            </a:r>
          </a:p>
          <a:p>
            <a:r>
              <a:rPr lang="en-US" sz="1300" dirty="0"/>
              <a:t>Students may think indentation is only formatting. In Python, it defines structure.</a:t>
            </a:r>
          </a:p>
          <a:p>
            <a:br>
              <a:rPr lang="en-US" sz="1300" dirty="0"/>
            </a:br>
            <a:endParaRPr lang="en-US" sz="1300" dirty="0"/>
          </a:p>
          <a:p>
            <a:r>
              <a:rPr lang="en-US" sz="1300" dirty="0"/>
              <a:t>Recommended phrasing:</a:t>
            </a:r>
          </a:p>
          <a:p>
            <a:r>
              <a:rPr lang="en-US" sz="1300" dirty="0"/>
              <a:t>```text</a:t>
            </a:r>
          </a:p>
          <a:p>
            <a:r>
              <a:rPr lang="en-US" sz="1300" dirty="0"/>
              <a:t>Indentation is not decoration. It tells Python what belongs together.</a:t>
            </a:r>
          </a:p>
          <a:p>
            <a:r>
              <a:rPr lang="en-US" sz="1300" dirty="0"/>
              <a:t>```</a:t>
            </a:r>
          </a:p>
          <a:p>
            <a:endParaRPr lang="en-US" sz="1300" dirty="0"/>
          </a:p>
          <a:p>
            <a:r>
              <a:rPr lang="en-US" sz="1300" b="1" dirty="0"/>
              <a:t>**Transition Cue:**</a:t>
            </a:r>
            <a:endParaRPr lang="en-US" sz="1300" dirty="0"/>
          </a:p>
          <a:p>
            <a:r>
              <a:rPr lang="en-US" sz="1300" dirty="0"/>
              <a:t>Now we can connect the idea to Assignment 2.</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24</a:t>
            </a:fld>
            <a:endParaRPr lang="en-US"/>
          </a:p>
        </p:txBody>
      </p:sp>
    </p:spTree>
    <p:extLst>
      <p:ext uri="{BB962C8B-B14F-4D97-AF65-F5344CB8AC3E}">
        <p14:creationId xmlns:p14="http://schemas.microsoft.com/office/powerpoint/2010/main" val="4114280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E63A4-EC96-244D-6D9C-070EE32288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FD40F0-DC43-0287-0450-EFE497EA770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D8FD54D-6EB8-ADCA-6560-275D584E08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817811-14D7-A9B4-7ED2-62A8E87D8C3D}"/>
              </a:ext>
            </a:extLst>
          </p:cNvPr>
          <p:cNvSpPr>
            <a:spLocks noGrp="1"/>
          </p:cNvSpPr>
          <p:nvPr>
            <p:ph type="sldNum" sz="quarter" idx="5"/>
          </p:nvPr>
        </p:nvSpPr>
        <p:spPr/>
        <p:txBody>
          <a:bodyPr/>
          <a:lstStyle/>
          <a:p>
            <a:fld id="{1916ACA2-47E6-42D2-BEC8-EDC49A1A9FA1}" type="slidenum">
              <a:rPr lang="en-US" smtClean="0"/>
              <a:t>25</a:t>
            </a:fld>
            <a:endParaRPr lang="en-US"/>
          </a:p>
        </p:txBody>
      </p:sp>
    </p:spTree>
    <p:extLst>
      <p:ext uri="{BB962C8B-B14F-4D97-AF65-F5344CB8AC3E}">
        <p14:creationId xmlns:p14="http://schemas.microsoft.com/office/powerpoint/2010/main" val="15929532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Point students toward manageable options:</a:t>
            </a:r>
          </a:p>
          <a:p>
            <a:r>
              <a:rPr lang="en-US" sz="1300" dirty="0"/>
              <a:t>- grade checker</a:t>
            </a:r>
          </a:p>
          <a:p>
            <a:r>
              <a:rPr lang="en-US" sz="1300" dirty="0"/>
              <a:t>- eligibility checker</a:t>
            </a:r>
          </a:p>
          <a:p>
            <a:r>
              <a:rPr lang="en-US" sz="1300" dirty="0"/>
              <a:t>- temperature message</a:t>
            </a:r>
          </a:p>
          <a:p>
            <a:r>
              <a:rPr lang="en-US" sz="1300" dirty="0"/>
              <a:t>- simple recommendation</a:t>
            </a:r>
          </a:p>
          <a:p>
            <a:r>
              <a:rPr lang="en-US" sz="1300" dirty="0"/>
              <a:t>- sample login-style rule checker</a:t>
            </a:r>
          </a:p>
          <a:p>
            <a:br>
              <a:rPr lang="en-US" sz="1300" dirty="0"/>
            </a:br>
            <a:r>
              <a:rPr lang="en-US" sz="1300" dirty="0"/>
              <a:t>If using the discount checker demo, clarify that students should not simply submit the demo. </a:t>
            </a:r>
          </a:p>
          <a:p>
            <a:r>
              <a:rPr lang="en-US" sz="1300" dirty="0"/>
              <a:t>They should use the pattern in a different small decision problem or an approved variation.</a:t>
            </a:r>
          </a:p>
          <a:p>
            <a:endParaRPr lang="en-US" sz="1300" dirty="0"/>
          </a:p>
          <a:p>
            <a:r>
              <a:rPr lang="en-US" sz="1300" b="1" dirty="0"/>
              <a:t>**Transition Cue:**</a:t>
            </a:r>
            <a:endParaRPr lang="en-US" sz="1300" dirty="0"/>
          </a:p>
          <a:p>
            <a:r>
              <a:rPr lang="en-US" sz="1300" dirty="0"/>
              <a:t>A decision program is only clear if it can be tested with more than one value.</a:t>
            </a:r>
          </a:p>
          <a:p>
            <a:endParaRPr lang="en-US" sz="1300" dirty="0"/>
          </a:p>
          <a:p>
            <a:r>
              <a:rPr lang="en-US" sz="1300" b="1" dirty="0"/>
              <a:t>**Lab Connection:**</a:t>
            </a:r>
            <a:endParaRPr lang="en-US" sz="1300" dirty="0"/>
          </a:p>
          <a:p>
            <a:r>
              <a:rPr lang="en-US" sz="1300" dirty="0"/>
              <a:t>Supports Assignment 2 - Decisions in Code.</a:t>
            </a:r>
          </a:p>
          <a:p>
            <a:endParaRPr lang="en-US" sz="1300" dirty="0"/>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26</a:t>
            </a:fld>
            <a:endParaRPr lang="en-US"/>
          </a:p>
        </p:txBody>
      </p:sp>
    </p:spTree>
    <p:extLst>
      <p:ext uri="{BB962C8B-B14F-4D97-AF65-F5344CB8AC3E}">
        <p14:creationId xmlns:p14="http://schemas.microsoft.com/office/powerpoint/2010/main" val="8590686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A818F-CE39-B263-68CF-A486EB82A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845079-1122-2E22-1045-117B6829BB2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E538A2-6E42-79A2-BDC0-208FA2035E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C19F11-2968-4131-DA79-D869F64BEE9F}"/>
              </a:ext>
            </a:extLst>
          </p:cNvPr>
          <p:cNvSpPr>
            <a:spLocks noGrp="1"/>
          </p:cNvSpPr>
          <p:nvPr>
            <p:ph type="sldNum" sz="quarter" idx="5"/>
          </p:nvPr>
        </p:nvSpPr>
        <p:spPr/>
        <p:txBody>
          <a:bodyPr/>
          <a:lstStyle/>
          <a:p>
            <a:fld id="{1916ACA2-47E6-42D2-BEC8-EDC49A1A9FA1}" type="slidenum">
              <a:rPr lang="en-US" smtClean="0"/>
              <a:t>27</a:t>
            </a:fld>
            <a:endParaRPr lang="en-US"/>
          </a:p>
        </p:txBody>
      </p:sp>
    </p:spTree>
    <p:extLst>
      <p:ext uri="{BB962C8B-B14F-4D97-AF65-F5344CB8AC3E}">
        <p14:creationId xmlns:p14="http://schemas.microsoft.com/office/powerpoint/2010/main" val="8914725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b="1" dirty="0"/>
              <a:t>**Instructor Notes:**</a:t>
            </a:r>
            <a:endParaRPr lang="en-US" sz="1300" dirty="0"/>
          </a:p>
          <a:p>
            <a:r>
              <a:rPr lang="en-US" sz="1300" dirty="0"/>
              <a:t>Recommended evidence:</a:t>
            </a:r>
          </a:p>
          <a:p>
            <a:r>
              <a:rPr lang="en-US" sz="1300" dirty="0"/>
              <a:t>- one working `.</a:t>
            </a:r>
            <a:r>
              <a:rPr lang="en-US" sz="1300" dirty="0" err="1"/>
              <a:t>py</a:t>
            </a:r>
            <a:r>
              <a:rPr lang="en-US" sz="1300" dirty="0"/>
              <a:t>` file</a:t>
            </a:r>
          </a:p>
          <a:p>
            <a:r>
              <a:rPr lang="en-US" sz="1300" dirty="0"/>
              <a:t>- readable variable names</a:t>
            </a:r>
          </a:p>
          <a:p>
            <a:r>
              <a:rPr lang="en-US" sz="1300" dirty="0"/>
              <a:t>- visible output</a:t>
            </a:r>
          </a:p>
          <a:p>
            <a:r>
              <a:rPr lang="en-US" sz="1300" dirty="0"/>
              <a:t>- two or more test values or scenarios</a:t>
            </a:r>
          </a:p>
          <a:p>
            <a:r>
              <a:rPr lang="en-US" sz="1300" dirty="0"/>
              <a:t>- brief explanation of the checked condition and possible outcomes</a:t>
            </a:r>
          </a:p>
          <a:p>
            <a:br>
              <a:rPr lang="en-US" sz="1300" dirty="0"/>
            </a:br>
            <a:r>
              <a:rPr lang="en-US" sz="1300" dirty="0"/>
              <a:t>Keep README expectations light if this is still early in GitHub practice.</a:t>
            </a:r>
          </a:p>
          <a:p>
            <a:endParaRPr lang="en-US" sz="1300" dirty="0"/>
          </a:p>
          <a:p>
            <a:r>
              <a:rPr lang="en-US" sz="1300" b="1" dirty="0"/>
              <a:t>**Transition Cue:**</a:t>
            </a:r>
            <a:endParaRPr lang="en-US" sz="1300" dirty="0"/>
          </a:p>
          <a:p>
            <a:r>
              <a:rPr lang="en-US" sz="1300" dirty="0"/>
              <a:t>Before students begin, show one optional practical bridge if the class is ready.</a:t>
            </a:r>
          </a:p>
        </p:txBody>
      </p:sp>
      <p:sp>
        <p:nvSpPr>
          <p:cNvPr id="4" name="Slide Number Placeholder 3"/>
          <p:cNvSpPr>
            <a:spLocks noGrp="1"/>
          </p:cNvSpPr>
          <p:nvPr>
            <p:ph type="sldNum" sz="quarter" idx="5"/>
          </p:nvPr>
        </p:nvSpPr>
        <p:spPr/>
        <p:txBody>
          <a:bodyPr/>
          <a:lstStyle/>
          <a:p>
            <a:fld id="{1916ACA2-47E6-42D2-BEC8-EDC49A1A9FA1}" type="slidenum">
              <a:rPr lang="en-US" smtClean="0"/>
              <a:t>28</a:t>
            </a:fld>
            <a:endParaRPr lang="en-US"/>
          </a:p>
        </p:txBody>
      </p:sp>
    </p:spTree>
    <p:extLst>
      <p:ext uri="{BB962C8B-B14F-4D97-AF65-F5344CB8AC3E}">
        <p14:creationId xmlns:p14="http://schemas.microsoft.com/office/powerpoint/2010/main" val="13524986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F7557-40B5-3112-0E32-FF12804929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F9F889-C3F2-DB38-4F45-C11564D66B3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2066E1-6432-E8BF-DAA4-B9D68655C0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D753DA-9393-37C0-79E9-2695853F62CE}"/>
              </a:ext>
            </a:extLst>
          </p:cNvPr>
          <p:cNvSpPr>
            <a:spLocks noGrp="1"/>
          </p:cNvSpPr>
          <p:nvPr>
            <p:ph type="sldNum" sz="quarter" idx="5"/>
          </p:nvPr>
        </p:nvSpPr>
        <p:spPr/>
        <p:txBody>
          <a:bodyPr/>
          <a:lstStyle/>
          <a:p>
            <a:fld id="{1916ACA2-47E6-42D2-BEC8-EDC49A1A9FA1}" type="slidenum">
              <a:rPr lang="en-US" smtClean="0"/>
              <a:t>29</a:t>
            </a:fld>
            <a:endParaRPr lang="en-US"/>
          </a:p>
        </p:txBody>
      </p:sp>
    </p:spTree>
    <p:extLst>
      <p:ext uri="{BB962C8B-B14F-4D97-AF65-F5344CB8AC3E}">
        <p14:creationId xmlns:p14="http://schemas.microsoft.com/office/powerpoint/2010/main" val="4749330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7E62F-70F5-1BCE-0EFC-6D22016A1E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EC67FA-12F5-1920-E6DB-D94714BE0ED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140A091-016D-1D95-BEF5-084D904CFE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7E3F4A-9F79-C0B2-B20C-B84C523D64D8}"/>
              </a:ext>
            </a:extLst>
          </p:cNvPr>
          <p:cNvSpPr>
            <a:spLocks noGrp="1"/>
          </p:cNvSpPr>
          <p:nvPr>
            <p:ph type="sldNum" sz="quarter" idx="5"/>
          </p:nvPr>
        </p:nvSpPr>
        <p:spPr/>
        <p:txBody>
          <a:bodyPr/>
          <a:lstStyle/>
          <a:p>
            <a:pPr defTabSz="540076">
              <a:defRPr/>
            </a:pPr>
            <a:fld id="{1916ACA2-47E6-42D2-BEC8-EDC49A1A9FA1}" type="slidenum">
              <a:rPr lang="en-US" sz="1600">
                <a:solidFill>
                  <a:prstClr val="black"/>
                </a:solidFill>
                <a:latin typeface="Aptos" panose="02110004020202020204"/>
              </a:rPr>
              <a:pPr defTabSz="540076">
                <a:defRPr/>
              </a:pPr>
              <a:t>30</a:t>
            </a:fld>
            <a:endParaRPr lang="en-US" sz="1600">
              <a:solidFill>
                <a:prstClr val="black"/>
              </a:solidFill>
              <a:latin typeface="Aptos" panose="02110004020202020204"/>
            </a:endParaRPr>
          </a:p>
        </p:txBody>
      </p:sp>
    </p:spTree>
    <p:extLst>
      <p:ext uri="{BB962C8B-B14F-4D97-AF65-F5344CB8AC3E}">
        <p14:creationId xmlns:p14="http://schemas.microsoft.com/office/powerpoint/2010/main" val="18771698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6890C-F6C4-A64F-8A61-4867BDF691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D0320-FFC4-6F59-E1B0-FF1CCBFDDE5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FF7701-2D21-6E69-6D2E-92A0300F3DBD}"/>
              </a:ext>
            </a:extLst>
          </p:cNvPr>
          <p:cNvSpPr>
            <a:spLocks noGrp="1"/>
          </p:cNvSpPr>
          <p:nvPr>
            <p:ph type="body" idx="1"/>
          </p:nvPr>
        </p:nvSpPr>
        <p:spPr/>
        <p:txBody>
          <a:bodyPr/>
          <a:lstStyle/>
          <a:p>
            <a:r>
              <a:rPr lang="en-US" sz="1300" b="1" dirty="0"/>
              <a:t>**Instructor Notes:**</a:t>
            </a:r>
            <a:endParaRPr lang="en-US" sz="1300" dirty="0"/>
          </a:p>
          <a:p>
            <a:r>
              <a:rPr lang="en-US" sz="1300" dirty="0"/>
              <a:t>Use only if students are ready:</a:t>
            </a:r>
          </a:p>
          <a:p>
            <a:r>
              <a:rPr lang="en-US" sz="1300" i="1" dirty="0"/>
              <a:t>`Demos/Week_02_Decision_Logic_and_Repetition/03_discount_checker.py`</a:t>
            </a:r>
          </a:p>
          <a:p>
            <a:br>
              <a:rPr lang="en-US" sz="1300" dirty="0"/>
            </a:br>
            <a:r>
              <a:rPr lang="en-US" sz="1300" dirty="0"/>
              <a:t>This demo bridges toward A2, but it should not become the only model students can imagine. </a:t>
            </a:r>
          </a:p>
          <a:p>
            <a:r>
              <a:rPr lang="en-US" sz="1300" dirty="0"/>
              <a:t>Ask them to name other decision contexts after the demo.</a:t>
            </a:r>
          </a:p>
          <a:p>
            <a:endParaRPr lang="en-US" sz="1300" dirty="0"/>
          </a:p>
          <a:p>
            <a:r>
              <a:rPr lang="en-US" sz="1300" b="1" dirty="0"/>
              <a:t>**Transition Cue:**</a:t>
            </a:r>
            <a:endParaRPr lang="en-US" sz="1300" dirty="0"/>
          </a:p>
          <a:p>
            <a:r>
              <a:rPr lang="en-US" sz="1300" dirty="0"/>
              <a:t>The closing check is whether they can predict the branch before running code.</a:t>
            </a:r>
          </a:p>
          <a:p>
            <a:endParaRPr lang="en-US" sz="1300" dirty="0"/>
          </a:p>
          <a:p>
            <a:r>
              <a:rPr lang="en-US" sz="1300" b="1" dirty="0"/>
              <a:t>**Demo Connection:**</a:t>
            </a:r>
            <a:endParaRPr lang="en-US" sz="1300" dirty="0"/>
          </a:p>
          <a:p>
            <a:r>
              <a:rPr lang="en-US" sz="1300" dirty="0"/>
              <a:t>Optional demo file: `03_discount_checker.py`</a:t>
            </a:r>
          </a:p>
          <a:p>
            <a:endParaRPr lang="en-US" dirty="0"/>
          </a:p>
        </p:txBody>
      </p:sp>
      <p:sp>
        <p:nvSpPr>
          <p:cNvPr id="4" name="Slide Number Placeholder 3">
            <a:extLst>
              <a:ext uri="{FF2B5EF4-FFF2-40B4-BE49-F238E27FC236}">
                <a16:creationId xmlns:a16="http://schemas.microsoft.com/office/drawing/2014/main" id="{E33FBE98-30F7-186C-4E0A-D78FF0DC114F}"/>
              </a:ext>
            </a:extLst>
          </p:cNvPr>
          <p:cNvSpPr>
            <a:spLocks noGrp="1"/>
          </p:cNvSpPr>
          <p:nvPr>
            <p:ph type="sldNum" sz="quarter" idx="5"/>
          </p:nvPr>
        </p:nvSpPr>
        <p:spPr/>
        <p:txBody>
          <a:bodyPr/>
          <a:lstStyle/>
          <a:p>
            <a:pPr defTabSz="540076"/>
            <a:fld id="{1916ACA2-47E6-42D2-BEC8-EDC49A1A9FA1}" type="slidenum">
              <a:rPr lang="en-US" sz="1600">
                <a:solidFill>
                  <a:prstClr val="black"/>
                </a:solidFill>
                <a:latin typeface="Aptos" panose="02110004020202020204"/>
              </a:rPr>
              <a:pPr defTabSz="540076"/>
              <a:t>31</a:t>
            </a:fld>
            <a:endParaRPr lang="en-US" sz="1600">
              <a:solidFill>
                <a:prstClr val="black"/>
              </a:solidFill>
              <a:latin typeface="Aptos" panose="02110004020202020204"/>
            </a:endParaRPr>
          </a:p>
        </p:txBody>
      </p:sp>
    </p:spTree>
    <p:extLst>
      <p:ext uri="{BB962C8B-B14F-4D97-AF65-F5344CB8AC3E}">
        <p14:creationId xmlns:p14="http://schemas.microsoft.com/office/powerpoint/2010/main" val="1288043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400" b="1" dirty="0"/>
              <a:t>**Instructor Notes:**</a:t>
            </a:r>
            <a:endParaRPr lang="en-US" sz="1400" dirty="0"/>
          </a:p>
          <a:p>
            <a:r>
              <a:rPr lang="en-US" sz="1400" dirty="0"/>
              <a:t>Ask:</a:t>
            </a:r>
          </a:p>
          <a:p>
            <a:r>
              <a:rPr lang="en-US" sz="1400" dirty="0"/>
              <a:t>- What value started in this variable?</a:t>
            </a:r>
          </a:p>
          <a:p>
            <a:r>
              <a:rPr lang="en-US" sz="1400" dirty="0"/>
              <a:t>- What expression changed it?</a:t>
            </a:r>
          </a:p>
          <a:p>
            <a:r>
              <a:rPr lang="en-US" sz="1400" dirty="0"/>
              <a:t>- What was stored as the result?</a:t>
            </a:r>
          </a:p>
          <a:p>
            <a:r>
              <a:rPr lang="en-US" sz="1400" dirty="0"/>
              <a:t>- What printed at the end?</a:t>
            </a:r>
          </a:p>
          <a:p>
            <a:r>
              <a:rPr lang="en-US" sz="1400" dirty="0"/>
              <a:t>- If input was used, what did the user response become inside the program?</a:t>
            </a:r>
          </a:p>
          <a:p>
            <a:endParaRPr lang="en-US" sz="1400" dirty="0"/>
          </a:p>
          <a:p>
            <a:r>
              <a:rPr lang="en-US" sz="1400" dirty="0"/>
              <a:t>Name the next step: Day 3 will combine strings, numbers, and type awareness into clearer first programs.</a:t>
            </a:r>
          </a:p>
          <a:p>
            <a:br>
              <a:rPr lang="en-US" sz="1400" dirty="0"/>
            </a:br>
            <a:r>
              <a:rPr lang="en-US" sz="1400" b="1" dirty="0"/>
              <a:t>**Transition Cue:**</a:t>
            </a:r>
            <a:endParaRPr lang="en-US" sz="1400" dirty="0"/>
          </a:p>
          <a:p>
            <a:r>
              <a:rPr lang="en-US" sz="1400" dirty="0"/>
              <a:t>Next class, we combine these values more carefully and prepare to close Assignment 1.</a:t>
            </a:r>
          </a:p>
          <a:p>
            <a:endParaRPr lang="en-US" dirty="0"/>
          </a:p>
        </p:txBody>
      </p:sp>
      <p:sp>
        <p:nvSpPr>
          <p:cNvPr id="4" name="Slide Number Placeholder 3"/>
          <p:cNvSpPr>
            <a:spLocks noGrp="1"/>
          </p:cNvSpPr>
          <p:nvPr>
            <p:ph type="sldNum" sz="quarter" idx="5"/>
          </p:nvPr>
        </p:nvSpPr>
        <p:spPr/>
        <p:txBody>
          <a:bodyPr/>
          <a:lstStyle/>
          <a:p>
            <a:fld id="{1916ACA2-47E6-42D2-BEC8-EDC49A1A9FA1}" type="slidenum">
              <a:rPr lang="en-US" smtClean="0"/>
              <a:t>32</a:t>
            </a:fld>
            <a:endParaRPr lang="en-US"/>
          </a:p>
        </p:txBody>
      </p:sp>
    </p:spTree>
    <p:extLst>
      <p:ext uri="{BB962C8B-B14F-4D97-AF65-F5344CB8AC3E}">
        <p14:creationId xmlns:p14="http://schemas.microsoft.com/office/powerpoint/2010/main" val="2693333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916ACA2-47E6-42D2-BEC8-EDC49A1A9FA1}" type="slidenum">
              <a:rPr lang="en-US" smtClean="0"/>
              <a:t>33</a:t>
            </a:fld>
            <a:endParaRPr lang="en-US"/>
          </a:p>
        </p:txBody>
      </p:sp>
    </p:spTree>
    <p:extLst>
      <p:ext uri="{BB962C8B-B14F-4D97-AF65-F5344CB8AC3E}">
        <p14:creationId xmlns:p14="http://schemas.microsoft.com/office/powerpoint/2010/main" val="23841965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816E1E9-1B50-BC39-BE3A-AFDDF27CC4C7}"/>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128593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42DEB143-89C9-076B-466C-73BE156FD58B}"/>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15984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Picture 6">
            <a:extLst>
              <a:ext uri="{FF2B5EF4-FFF2-40B4-BE49-F238E27FC236}">
                <a16:creationId xmlns:a16="http://schemas.microsoft.com/office/drawing/2014/main" id="{3A015F4D-DE23-F2FC-1853-93512C13AB1B}"/>
              </a:ext>
            </a:extLst>
          </p:cNvPr>
          <p:cNvPicPr>
            <a:picLocks noChangeAspect="1"/>
          </p:cNvPicPr>
          <p:nvPr userDrawn="1"/>
        </p:nvPicPr>
        <p:blipFill>
          <a:blip r:embed="rId2"/>
          <a:stretch>
            <a:fillRect/>
          </a:stretch>
        </p:blipFill>
        <p:spPr>
          <a:xfrm>
            <a:off x="1130594" y="300327"/>
            <a:ext cx="1196045" cy="526260"/>
          </a:xfrm>
          <a:prstGeom prst="rect">
            <a:avLst/>
          </a:prstGeom>
        </p:spPr>
      </p:pic>
    </p:spTree>
    <p:extLst>
      <p:ext uri="{BB962C8B-B14F-4D97-AF65-F5344CB8AC3E}">
        <p14:creationId xmlns:p14="http://schemas.microsoft.com/office/powerpoint/2010/main" val="2557367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816E11E5-B722-B4E0-8233-E8E58F314BD6}"/>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1999211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pic>
        <p:nvPicPr>
          <p:cNvPr id="11" name="Picture 10">
            <a:extLst>
              <a:ext uri="{FF2B5EF4-FFF2-40B4-BE49-F238E27FC236}">
                <a16:creationId xmlns:a16="http://schemas.microsoft.com/office/drawing/2014/main" id="{2CADA43D-D69A-D7AE-81F9-ED5E4E7A18A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328912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5416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6" name="Picture 5">
            <a:extLst>
              <a:ext uri="{FF2B5EF4-FFF2-40B4-BE49-F238E27FC236}">
                <a16:creationId xmlns:a16="http://schemas.microsoft.com/office/drawing/2014/main" id="{4AA1305F-50C0-9117-EE66-5430C74994B7}"/>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914414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6914F403-DB38-13CA-CC40-CAE2A088327D}"/>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4241244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91B8750C-22DC-D652-EE9D-9D81650FC9D5}"/>
              </a:ext>
            </a:extLst>
          </p:cNvPr>
          <p:cNvPicPr>
            <a:picLocks noChangeAspect="1"/>
          </p:cNvPicPr>
          <p:nvPr userDrawn="1"/>
        </p:nvPicPr>
        <p:blipFill>
          <a:blip r:embed="rId2"/>
          <a:stretch>
            <a:fillRect/>
          </a:stretch>
        </p:blipFill>
        <p:spPr>
          <a:xfrm>
            <a:off x="6238240" y="185696"/>
            <a:ext cx="726014" cy="319446"/>
          </a:xfrm>
          <a:prstGeom prst="rect">
            <a:avLst/>
          </a:prstGeom>
        </p:spPr>
      </p:pic>
    </p:spTree>
    <p:extLst>
      <p:ext uri="{BB962C8B-B14F-4D97-AF65-F5344CB8AC3E}">
        <p14:creationId xmlns:p14="http://schemas.microsoft.com/office/powerpoint/2010/main" val="2316369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7419628F-1787-26D4-A797-33B210458050}"/>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9235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8" name="Picture 7">
            <a:extLst>
              <a:ext uri="{FF2B5EF4-FFF2-40B4-BE49-F238E27FC236}">
                <a16:creationId xmlns:a16="http://schemas.microsoft.com/office/drawing/2014/main" id="{8C05115D-2B3B-A0F2-8B96-FF372AE7620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586779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E69252F8-DFBE-EC79-0D43-E7702CC2845C}"/>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3119079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pic>
        <p:nvPicPr>
          <p:cNvPr id="7" name="Picture 6">
            <a:extLst>
              <a:ext uri="{FF2B5EF4-FFF2-40B4-BE49-F238E27FC236}">
                <a16:creationId xmlns:a16="http://schemas.microsoft.com/office/drawing/2014/main" id="{4A252413-6471-13E8-59E6-F7EEDC0F07B7}"/>
              </a:ext>
            </a:extLst>
          </p:cNvPr>
          <p:cNvPicPr>
            <a:picLocks noChangeAspect="1"/>
          </p:cNvPicPr>
          <p:nvPr userDrawn="1"/>
        </p:nvPicPr>
        <p:blipFill>
          <a:blip r:embed="rId2"/>
          <a:stretch>
            <a:fillRect/>
          </a:stretch>
        </p:blipFill>
        <p:spPr>
          <a:xfrm>
            <a:off x="586443" y="185696"/>
            <a:ext cx="917237" cy="403584"/>
          </a:xfrm>
          <a:prstGeom prst="rect">
            <a:avLst/>
          </a:prstGeom>
        </p:spPr>
      </p:pic>
    </p:spTree>
    <p:extLst>
      <p:ext uri="{BB962C8B-B14F-4D97-AF65-F5344CB8AC3E}">
        <p14:creationId xmlns:p14="http://schemas.microsoft.com/office/powerpoint/2010/main" val="777894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Picture 7">
            <a:extLst>
              <a:ext uri="{FF2B5EF4-FFF2-40B4-BE49-F238E27FC236}">
                <a16:creationId xmlns:a16="http://schemas.microsoft.com/office/drawing/2014/main" id="{10449300-3D10-A0CB-2DB5-98F274AC6632}"/>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7491223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9" name="Picture 8">
            <a:extLst>
              <a:ext uri="{FF2B5EF4-FFF2-40B4-BE49-F238E27FC236}">
                <a16:creationId xmlns:a16="http://schemas.microsoft.com/office/drawing/2014/main" id="{DBAFCF80-E27A-06C5-A850-78E5A5D2C2BD}"/>
              </a:ext>
            </a:extLst>
          </p:cNvPr>
          <p:cNvPicPr>
            <a:picLocks noChangeAspect="1"/>
          </p:cNvPicPr>
          <p:nvPr userDrawn="1"/>
        </p:nvPicPr>
        <p:blipFill>
          <a:blip r:embed="rId2"/>
          <a:stretch>
            <a:fillRect/>
          </a:stretch>
        </p:blipFill>
        <p:spPr>
          <a:xfrm>
            <a:off x="6047017" y="185696"/>
            <a:ext cx="917237" cy="403584"/>
          </a:xfrm>
          <a:prstGeom prst="rect">
            <a:avLst/>
          </a:prstGeom>
        </p:spPr>
      </p:pic>
    </p:spTree>
    <p:extLst>
      <p:ext uri="{BB962C8B-B14F-4D97-AF65-F5344CB8AC3E}">
        <p14:creationId xmlns:p14="http://schemas.microsoft.com/office/powerpoint/2010/main" val="20049507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1973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cxnSp>
          <p:nvCxnSpPr>
            <p:cNvPr id="7" name="Straight Connector 6"/>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Freeform 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50000"/>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6/16/2026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4359453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1"/><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www.rawpixel.com/image/65575/survey-feedback-accountant-aerial-view-business-calculator-check-checklist-choice-coffee-computation" TargetMode="Externa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97F88-6791-2CCC-FDDE-DEB157237E3D}"/>
              </a:ext>
            </a:extLst>
          </p:cNvPr>
          <p:cNvSpPr>
            <a:spLocks noGrp="1"/>
          </p:cNvSpPr>
          <p:nvPr>
            <p:ph type="ctrTitle"/>
          </p:nvPr>
        </p:nvSpPr>
        <p:spPr>
          <a:xfrm>
            <a:off x="1130595" y="1358537"/>
            <a:ext cx="5826719" cy="2692299"/>
          </a:xfrm>
        </p:spPr>
        <p:txBody>
          <a:bodyPr/>
          <a:lstStyle/>
          <a:p>
            <a:r>
              <a:rPr lang="en-US" dirty="0"/>
              <a:t>Python Programming Foundations</a:t>
            </a:r>
          </a:p>
        </p:txBody>
      </p:sp>
      <p:sp>
        <p:nvSpPr>
          <p:cNvPr id="3" name="Subtitle 2">
            <a:extLst>
              <a:ext uri="{FF2B5EF4-FFF2-40B4-BE49-F238E27FC236}">
                <a16:creationId xmlns:a16="http://schemas.microsoft.com/office/drawing/2014/main" id="{33F15B13-1D93-97F4-3DBC-B06CC6F12095}"/>
              </a:ext>
            </a:extLst>
          </p:cNvPr>
          <p:cNvSpPr>
            <a:spLocks noGrp="1"/>
          </p:cNvSpPr>
          <p:nvPr>
            <p:ph type="subTitle" idx="1"/>
          </p:nvPr>
        </p:nvSpPr>
        <p:spPr/>
        <p:txBody>
          <a:bodyPr/>
          <a:lstStyle/>
          <a:p>
            <a:r>
              <a:rPr lang="en-US" dirty="0"/>
              <a:t>Week 2 – Decision Logic and Repetition</a:t>
            </a:r>
          </a:p>
          <a:p>
            <a:r>
              <a:rPr lang="en-US" i="1"/>
              <a:t>Day 1: </a:t>
            </a:r>
            <a:r>
              <a:rPr lang="en-US" i="1" dirty="0"/>
              <a:t>“How Programs </a:t>
            </a:r>
            <a:r>
              <a:rPr lang="en-US" i="1"/>
              <a:t>Make Decisions”</a:t>
            </a:r>
            <a:endParaRPr lang="en-US" i="1" dirty="0"/>
          </a:p>
        </p:txBody>
      </p:sp>
    </p:spTree>
    <p:extLst>
      <p:ext uri="{BB962C8B-B14F-4D97-AF65-F5344CB8AC3E}">
        <p14:creationId xmlns:p14="http://schemas.microsoft.com/office/powerpoint/2010/main" val="3795026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A34B9-4282-4F69-6D75-152BF8906AA8}"/>
              </a:ext>
            </a:extLst>
          </p:cNvPr>
          <p:cNvSpPr>
            <a:spLocks noGrp="1"/>
          </p:cNvSpPr>
          <p:nvPr>
            <p:ph type="title"/>
          </p:nvPr>
        </p:nvSpPr>
        <p:spPr>
          <a:xfrm>
            <a:off x="507559" y="609600"/>
            <a:ext cx="2796807" cy="1320800"/>
          </a:xfrm>
        </p:spPr>
        <p:txBody>
          <a:bodyPr anchor="ctr">
            <a:normAutofit/>
          </a:bodyPr>
          <a:lstStyle/>
          <a:p>
            <a:r>
              <a:rPr lang="en-US" dirty="0"/>
              <a:t>Programs Can Choose</a:t>
            </a:r>
          </a:p>
        </p:txBody>
      </p:sp>
      <p:sp>
        <p:nvSpPr>
          <p:cNvPr id="3" name="Content Placeholder 2">
            <a:extLst>
              <a:ext uri="{FF2B5EF4-FFF2-40B4-BE49-F238E27FC236}">
                <a16:creationId xmlns:a16="http://schemas.microsoft.com/office/drawing/2014/main" id="{321FFBCD-3E25-CBB7-2E73-683DBF46A6D1}"/>
              </a:ext>
            </a:extLst>
          </p:cNvPr>
          <p:cNvSpPr>
            <a:spLocks noGrp="1"/>
          </p:cNvSpPr>
          <p:nvPr>
            <p:ph idx="1"/>
          </p:nvPr>
        </p:nvSpPr>
        <p:spPr>
          <a:xfrm>
            <a:off x="513875" y="2160589"/>
            <a:ext cx="2790687" cy="3560733"/>
          </a:xfrm>
        </p:spPr>
        <p:txBody>
          <a:bodyPr>
            <a:normAutofit/>
          </a:bodyPr>
          <a:lstStyle/>
          <a:p>
            <a:pPr marL="0" indent="0">
              <a:lnSpc>
                <a:spcPct val="90000"/>
              </a:lnSpc>
              <a:buNone/>
            </a:pPr>
            <a:r>
              <a:rPr lang="en-US" sz="1500"/>
              <a:t>Last week, most programs followed one path from top to bottom.</a:t>
            </a:r>
          </a:p>
          <a:p>
            <a:pPr marL="0" indent="0">
              <a:lnSpc>
                <a:spcPct val="90000"/>
              </a:lnSpc>
              <a:buNone/>
            </a:pPr>
            <a:r>
              <a:rPr lang="en-US" sz="1500"/>
              <a:t>This week, programs begin choosing between possible paths.</a:t>
            </a:r>
          </a:p>
          <a:p>
            <a:pPr marL="0" indent="0">
              <a:lnSpc>
                <a:spcPct val="90000"/>
              </a:lnSpc>
              <a:buNone/>
            </a:pPr>
            <a:r>
              <a:rPr lang="en-US" sz="1500"/>
              <a:t>Decision logic lets a program react to the data it has.</a:t>
            </a:r>
          </a:p>
          <a:p>
            <a:pPr marL="0" indent="0">
              <a:lnSpc>
                <a:spcPct val="90000"/>
              </a:lnSpc>
              <a:buNone/>
            </a:pPr>
            <a:r>
              <a:rPr lang="en-US" sz="1500"/>
              <a:t>Today, watch for:</a:t>
            </a:r>
          </a:p>
          <a:p>
            <a:pPr>
              <a:lnSpc>
                <a:spcPct val="90000"/>
              </a:lnSpc>
            </a:pPr>
            <a:r>
              <a:rPr lang="en-US" sz="1500"/>
              <a:t>the value being checked</a:t>
            </a:r>
          </a:p>
          <a:p>
            <a:pPr>
              <a:lnSpc>
                <a:spcPct val="90000"/>
              </a:lnSpc>
            </a:pPr>
            <a:r>
              <a:rPr lang="en-US" sz="1500"/>
              <a:t>the condition being tested</a:t>
            </a:r>
          </a:p>
          <a:p>
            <a:pPr>
              <a:lnSpc>
                <a:spcPct val="90000"/>
              </a:lnSpc>
            </a:pPr>
            <a:r>
              <a:rPr lang="en-US" sz="1500"/>
              <a:t>the output that happens because of the result</a:t>
            </a:r>
          </a:p>
        </p:txBody>
      </p:sp>
      <p:pic>
        <p:nvPicPr>
          <p:cNvPr id="4" name="Picture Placeholder 4" descr="Flowchart illustrating a simple Python program learning path starting with a Python file, progressing through Week 1 basics and Week 2 decision point. It splits into two paths, A and B, each with distinct actions and outputs, using color-coded boxes and arrows to show progression and choices.&#10;">
            <a:extLst>
              <a:ext uri="{FF2B5EF4-FFF2-40B4-BE49-F238E27FC236}">
                <a16:creationId xmlns:a16="http://schemas.microsoft.com/office/drawing/2014/main" id="{C5729602-24A8-D61F-5618-AB1C5A99C9EE}"/>
              </a:ext>
            </a:extLst>
          </p:cNvPr>
          <p:cNvPicPr>
            <a:picLocks noChangeAspect="1"/>
          </p:cNvPicPr>
          <p:nvPr/>
        </p:nvPicPr>
        <p:blipFill>
          <a:blip r:embed="rId3"/>
          <a:srcRect l="825" r="2068" b="-3"/>
          <a:stretch>
            <a:fillRect/>
          </a:stretch>
        </p:blipFill>
        <p:spPr>
          <a:xfrm>
            <a:off x="3567231" y="632145"/>
            <a:ext cx="3298650" cy="5089178"/>
          </a:xfrm>
          <a:prstGeom prst="rect">
            <a:avLst/>
          </a:prstGeom>
        </p:spPr>
      </p:pic>
    </p:spTree>
    <p:extLst>
      <p:ext uri="{BB962C8B-B14F-4D97-AF65-F5344CB8AC3E}">
        <p14:creationId xmlns:p14="http://schemas.microsoft.com/office/powerpoint/2010/main" val="3953162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7C0D926-DDB4-ABA2-F676-65368B8023E4}"/>
              </a:ext>
              <a:ext uri="{C183D7F6-B498-43B3-948B-1728B52AA6E4}">
                <adec:decorative xmlns:adec="http://schemas.microsoft.com/office/drawing/2017/decorative" val="1"/>
              </a:ext>
            </a:extLst>
          </p:cNvPr>
          <p:cNvPicPr>
            <a:picLocks noChangeAspect="1"/>
          </p:cNvPicPr>
          <p:nvPr/>
        </p:nvPicPr>
        <p:blipFill>
          <a:blip r:embed="rId3">
            <a:extLst>
              <a:ext uri="{837473B0-CC2E-450A-ABE3-18F120FF3D39}">
                <a1611:picAttrSrcUrl xmlns:a1611="http://schemas.microsoft.com/office/drawing/2016/11/main" r:id="rId4"/>
              </a:ext>
            </a:extLst>
          </a:blip>
          <a:srcRect l="18611" r="23342" b="2"/>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B44AE7D7-0CEB-F126-08CD-348C3A2A8808}"/>
              </a:ext>
            </a:extLst>
          </p:cNvPr>
          <p:cNvSpPr>
            <a:spLocks noGrp="1"/>
          </p:cNvSpPr>
          <p:nvPr>
            <p:ph type="title"/>
          </p:nvPr>
        </p:nvSpPr>
        <p:spPr>
          <a:xfrm>
            <a:off x="507999" y="609599"/>
            <a:ext cx="2888343" cy="1571897"/>
          </a:xfrm>
        </p:spPr>
        <p:txBody>
          <a:bodyPr>
            <a:normAutofit fontScale="90000"/>
          </a:bodyPr>
          <a:lstStyle/>
          <a:p>
            <a:r>
              <a:rPr lang="en-US" dirty="0"/>
              <a:t>Week 1 Becomes </a:t>
            </a:r>
            <a:br>
              <a:rPr lang="en-US" dirty="0"/>
            </a:br>
            <a:r>
              <a:rPr lang="en-US" dirty="0"/>
              <a:t>Week 2</a:t>
            </a:r>
          </a:p>
        </p:txBody>
      </p:sp>
      <p:sp>
        <p:nvSpPr>
          <p:cNvPr id="3" name="Content Placeholder 2">
            <a:extLst>
              <a:ext uri="{FF2B5EF4-FFF2-40B4-BE49-F238E27FC236}">
                <a16:creationId xmlns:a16="http://schemas.microsoft.com/office/drawing/2014/main" id="{27B93D39-026B-C61D-D6A3-14087848421B}"/>
              </a:ext>
            </a:extLst>
          </p:cNvPr>
          <p:cNvSpPr>
            <a:spLocks noGrp="1"/>
          </p:cNvSpPr>
          <p:nvPr>
            <p:ph idx="1"/>
          </p:nvPr>
        </p:nvSpPr>
        <p:spPr>
          <a:xfrm>
            <a:off x="524878" y="2367627"/>
            <a:ext cx="2888342" cy="3880773"/>
          </a:xfrm>
        </p:spPr>
        <p:txBody>
          <a:bodyPr>
            <a:normAutofit fontScale="92500" lnSpcReduction="20000"/>
          </a:bodyPr>
          <a:lstStyle/>
          <a:p>
            <a:pPr marL="0" indent="0">
              <a:buNone/>
            </a:pPr>
            <a:r>
              <a:rPr lang="en-US" dirty="0"/>
              <a:t>Week 1 gave us values and visible output.</a:t>
            </a:r>
          </a:p>
          <a:p>
            <a:pPr marL="0" indent="0">
              <a:buNone/>
            </a:pPr>
            <a:r>
              <a:rPr lang="en-US" dirty="0"/>
              <a:t>Week 2 adds questions that choose which output should happen.</a:t>
            </a:r>
          </a:p>
          <a:p>
            <a:pPr marL="0" indent="0">
              <a:buNone/>
            </a:pPr>
            <a:r>
              <a:rPr lang="en-US" dirty="0"/>
              <a:t>A decision program still uses the same basic pieces:</a:t>
            </a:r>
          </a:p>
          <a:p>
            <a:r>
              <a:rPr lang="en-US" dirty="0"/>
              <a:t>variables hold values</a:t>
            </a:r>
          </a:p>
          <a:p>
            <a:r>
              <a:rPr lang="en-US" dirty="0"/>
              <a:t>comparisons ask questions about those values</a:t>
            </a:r>
          </a:p>
          <a:p>
            <a:r>
              <a:rPr lang="en-US" dirty="0"/>
              <a:t>`print()` shows the result of the chosen path</a:t>
            </a:r>
          </a:p>
        </p:txBody>
      </p:sp>
      <p:cxnSp>
        <p:nvCxnSpPr>
          <p:cNvPr id="19" name="Straight Connector 18">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3"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5"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7"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9"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3"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5"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2203766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614CF-B4A3-CD23-7758-1DCEB5E1100C}"/>
              </a:ext>
            </a:extLst>
          </p:cNvPr>
          <p:cNvSpPr>
            <a:spLocks noGrp="1"/>
          </p:cNvSpPr>
          <p:nvPr>
            <p:ph type="title"/>
          </p:nvPr>
        </p:nvSpPr>
        <p:spPr>
          <a:xfrm>
            <a:off x="508000" y="609600"/>
            <a:ext cx="6447501" cy="1320800"/>
          </a:xfrm>
        </p:spPr>
        <p:txBody>
          <a:bodyPr>
            <a:normAutofit/>
          </a:bodyPr>
          <a:lstStyle/>
          <a:p>
            <a:r>
              <a:rPr lang="en-US"/>
              <a:t>What Counts as Success Today</a:t>
            </a:r>
          </a:p>
        </p:txBody>
      </p:sp>
      <p:graphicFrame>
        <p:nvGraphicFramePr>
          <p:cNvPr id="5" name="Content Placeholder 2">
            <a:extLst>
              <a:ext uri="{FF2B5EF4-FFF2-40B4-BE49-F238E27FC236}">
                <a16:creationId xmlns:a16="http://schemas.microsoft.com/office/drawing/2014/main" id="{E9CA85E0-965C-50C5-E7FF-C7A932CF157F}"/>
              </a:ext>
            </a:extLst>
          </p:cNvPr>
          <p:cNvGraphicFramePr>
            <a:graphicFrameLocks noGrp="1"/>
          </p:cNvGraphicFramePr>
          <p:nvPr>
            <p:ph idx="1"/>
            <p:extLst>
              <p:ext uri="{D42A27DB-BD31-4B8C-83A1-F6EECF244321}">
                <p14:modId xmlns:p14="http://schemas.microsoft.com/office/powerpoint/2010/main" val="916268906"/>
              </p:ext>
            </p:extLst>
          </p:nvPr>
        </p:nvGraphicFramePr>
        <p:xfrm>
          <a:off x="508397" y="2160588"/>
          <a:ext cx="6447234" cy="38814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03570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114BA-B99B-FCCB-3C99-B5320E3C06C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1069EA3-5539-7377-11A8-92F14296A1EA}"/>
              </a:ext>
            </a:extLst>
          </p:cNvPr>
          <p:cNvSpPr>
            <a:spLocks noGrp="1"/>
          </p:cNvSpPr>
          <p:nvPr>
            <p:ph type="title"/>
          </p:nvPr>
        </p:nvSpPr>
        <p:spPr>
          <a:xfrm>
            <a:off x="739476" y="4473227"/>
            <a:ext cx="6216024" cy="1096648"/>
          </a:xfrm>
        </p:spPr>
        <p:txBody>
          <a:bodyPr vert="horz" lIns="91440" tIns="45720" rIns="91440" bIns="45720" rtlCol="0" anchor="b">
            <a:normAutofit/>
          </a:bodyPr>
          <a:lstStyle/>
          <a:p>
            <a:r>
              <a:rPr lang="en-US" sz="4200" dirty="0"/>
              <a:t>Success “Flow”</a:t>
            </a:r>
          </a:p>
        </p:txBody>
      </p:sp>
      <p:pic>
        <p:nvPicPr>
          <p:cNvPr id="5" name="Picture Placeholder 4" descr="Flowchart diagram illustrating a three-step decision process in a program. It uses numbered colored boxes—blue for &quot;condition checked,&quot; yellow for &quot;branch selected,&quot; and green for &quot;output shown&quot;—with arrows indicating progression from condition verification to path selection and final result display.">
            <a:extLst>
              <a:ext uri="{FF2B5EF4-FFF2-40B4-BE49-F238E27FC236}">
                <a16:creationId xmlns:a16="http://schemas.microsoft.com/office/drawing/2014/main" id="{9392AEB8-2D23-B13F-2BF7-A4FCB86166F9}"/>
              </a:ext>
            </a:extLst>
          </p:cNvPr>
          <p:cNvPicPr>
            <a:picLocks noGrp="1" noChangeAspect="1"/>
          </p:cNvPicPr>
          <p:nvPr>
            <p:ph type="pic" idx="1"/>
          </p:nvPr>
        </p:nvPicPr>
        <p:blipFill>
          <a:blip r:embed="rId3"/>
          <a:srcRect t="-25000" b="-25000"/>
          <a:stretch>
            <a:fillRect/>
          </a:stretch>
        </p:blipFill>
        <p:spPr>
          <a:xfrm>
            <a:off x="609599" y="609600"/>
            <a:ext cx="6627223" cy="4260358"/>
          </a:xfrm>
          <a:prstGeom prst="rect">
            <a:avLst/>
          </a:prstGeom>
        </p:spPr>
      </p:pic>
    </p:spTree>
    <p:extLst>
      <p:ext uri="{BB962C8B-B14F-4D97-AF65-F5344CB8AC3E}">
        <p14:creationId xmlns:p14="http://schemas.microsoft.com/office/powerpoint/2010/main" val="62493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C1AD2-E72F-7796-291A-36CD1216022D}"/>
              </a:ext>
            </a:extLst>
          </p:cNvPr>
          <p:cNvSpPr>
            <a:spLocks noGrp="1"/>
          </p:cNvSpPr>
          <p:nvPr>
            <p:ph type="title"/>
          </p:nvPr>
        </p:nvSpPr>
        <p:spPr>
          <a:xfrm>
            <a:off x="4152550" y="609600"/>
            <a:ext cx="2802951" cy="1320800"/>
          </a:xfrm>
        </p:spPr>
        <p:txBody>
          <a:bodyPr>
            <a:normAutofit/>
          </a:bodyPr>
          <a:lstStyle/>
          <a:p>
            <a:r>
              <a:rPr lang="en-US" sz="3300" dirty="0"/>
              <a:t>What We Will Use Today</a:t>
            </a:r>
          </a:p>
        </p:txBody>
      </p:sp>
      <p:sp>
        <p:nvSpPr>
          <p:cNvPr id="3" name="Content Placeholder 2">
            <a:extLst>
              <a:ext uri="{FF2B5EF4-FFF2-40B4-BE49-F238E27FC236}">
                <a16:creationId xmlns:a16="http://schemas.microsoft.com/office/drawing/2014/main" id="{186EEC5C-1292-A4A2-1E2D-A19D199A8749}"/>
              </a:ext>
            </a:extLst>
          </p:cNvPr>
          <p:cNvSpPr>
            <a:spLocks noGrp="1"/>
          </p:cNvSpPr>
          <p:nvPr>
            <p:ph idx="1"/>
          </p:nvPr>
        </p:nvSpPr>
        <p:spPr>
          <a:xfrm>
            <a:off x="3907172" y="2160589"/>
            <a:ext cx="3048329" cy="3880773"/>
          </a:xfrm>
        </p:spPr>
        <p:txBody>
          <a:bodyPr>
            <a:normAutofit/>
          </a:bodyPr>
          <a:lstStyle/>
          <a:p>
            <a:pPr marL="0" indent="0">
              <a:buNone/>
            </a:pPr>
            <a:r>
              <a:rPr lang="en-US" dirty="0"/>
              <a:t>Today we will use:</a:t>
            </a:r>
          </a:p>
          <a:p>
            <a:r>
              <a:rPr lang="en-US" dirty="0"/>
              <a:t>`True` and `False`</a:t>
            </a:r>
          </a:p>
          <a:p>
            <a:r>
              <a:rPr lang="en-US" dirty="0"/>
              <a:t>comparisons such as `&gt;=`, `==`, and `!=`</a:t>
            </a:r>
          </a:p>
          <a:p>
            <a:r>
              <a:rPr lang="en-US" dirty="0"/>
              <a:t>`if`, `</a:t>
            </a:r>
            <a:r>
              <a:rPr lang="en-US" dirty="0" err="1"/>
              <a:t>elif</a:t>
            </a:r>
            <a:r>
              <a:rPr lang="en-US" dirty="0"/>
              <a:t>`, and `else`</a:t>
            </a:r>
          </a:p>
          <a:p>
            <a:r>
              <a:rPr lang="en-US" dirty="0"/>
              <a:t>branch prediction before running the code</a:t>
            </a:r>
          </a:p>
          <a:p>
            <a:pPr marL="0" indent="0">
              <a:buNone/>
            </a:pPr>
            <a:r>
              <a:rPr lang="en-US" dirty="0"/>
              <a:t>These tools are enough to build a small decision program.</a:t>
            </a:r>
          </a:p>
        </p:txBody>
      </p:sp>
      <p:pic>
        <p:nvPicPr>
          <p:cNvPr id="28" name="Picture 27">
            <a:extLst>
              <a:ext uri="{FF2B5EF4-FFF2-40B4-BE49-F238E27FC236}">
                <a16:creationId xmlns:a16="http://schemas.microsoft.com/office/drawing/2014/main" id="{38D50984-DDEB-A743-533E-89C11F357B8D}"/>
              </a:ext>
              <a:ext uri="{C183D7F6-B498-43B3-948B-1728B52AA6E4}">
                <adec:decorative xmlns:adec="http://schemas.microsoft.com/office/drawing/2017/decorative" val="1"/>
              </a:ext>
            </a:extLst>
          </p:cNvPr>
          <p:cNvPicPr>
            <a:picLocks noChangeAspect="1"/>
          </p:cNvPicPr>
          <p:nvPr/>
        </p:nvPicPr>
        <p:blipFill>
          <a:blip r:embed="rId3"/>
          <a:srcRect l="10423" r="50195"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33" name="Isosceles Triangle 32">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957642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50CC5-AA9B-DD7D-21F9-715007645A5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C2DDB25-81E8-BC72-7C03-454AD93AEB54}"/>
              </a:ext>
            </a:extLst>
          </p:cNvPr>
          <p:cNvSpPr>
            <a:spLocks noGrp="1"/>
          </p:cNvSpPr>
          <p:nvPr>
            <p:ph type="title"/>
          </p:nvPr>
        </p:nvSpPr>
        <p:spPr>
          <a:xfrm>
            <a:off x="739476" y="4473227"/>
            <a:ext cx="6216024" cy="1096648"/>
          </a:xfrm>
        </p:spPr>
        <p:txBody>
          <a:bodyPr vert="horz" lIns="91440" tIns="45720" rIns="91440" bIns="45720" rtlCol="0" anchor="b">
            <a:normAutofit/>
          </a:bodyPr>
          <a:lstStyle/>
          <a:p>
            <a:r>
              <a:rPr lang="en-US" sz="4200" dirty="0"/>
              <a:t>Today’s Toolbox</a:t>
            </a:r>
          </a:p>
        </p:txBody>
      </p:sp>
      <p:pic>
        <p:nvPicPr>
          <p:cNvPr id="5" name="Picture Placeholder 4" descr="Diagram of a Python decision logic toolbox illustrating essential programming building blocks for making decisions. It features labeled sections with symbols and colors for True (green check), False (red cross), comparisons (blue operators), if (yellow signpost), elif (purple arrows), else (blue arrow), and branch prediction (green dashed arrows).">
            <a:extLst>
              <a:ext uri="{FF2B5EF4-FFF2-40B4-BE49-F238E27FC236}">
                <a16:creationId xmlns:a16="http://schemas.microsoft.com/office/drawing/2014/main" id="{38D2B014-7421-A2DF-37E3-EFF304CE3C51}"/>
              </a:ext>
            </a:extLst>
          </p:cNvPr>
          <p:cNvPicPr>
            <a:picLocks noGrp="1" noChangeAspect="1"/>
          </p:cNvPicPr>
          <p:nvPr>
            <p:ph type="pic" idx="1"/>
          </p:nvPr>
        </p:nvPicPr>
        <p:blipFill>
          <a:blip r:embed="rId3"/>
          <a:srcRect t="1786" b="1786"/>
          <a:stretch/>
        </p:blipFill>
        <p:spPr>
          <a:xfrm>
            <a:off x="609600" y="609600"/>
            <a:ext cx="6400800" cy="4114800"/>
          </a:xfrm>
          <a:prstGeom prst="rect">
            <a:avLst/>
          </a:prstGeom>
        </p:spPr>
      </p:pic>
    </p:spTree>
    <p:extLst>
      <p:ext uri="{BB962C8B-B14F-4D97-AF65-F5344CB8AC3E}">
        <p14:creationId xmlns:p14="http://schemas.microsoft.com/office/powerpoint/2010/main" val="819104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E6D73-36C1-785B-BF1E-F70A56E45447}"/>
              </a:ext>
            </a:extLst>
          </p:cNvPr>
          <p:cNvSpPr>
            <a:spLocks noGrp="1"/>
          </p:cNvSpPr>
          <p:nvPr>
            <p:ph type="title"/>
          </p:nvPr>
        </p:nvSpPr>
        <p:spPr>
          <a:xfrm>
            <a:off x="508000" y="609600"/>
            <a:ext cx="6447501" cy="1320800"/>
          </a:xfrm>
        </p:spPr>
        <p:txBody>
          <a:bodyPr anchor="t">
            <a:normAutofit/>
          </a:bodyPr>
          <a:lstStyle/>
          <a:p>
            <a:r>
              <a:rPr lang="en-US" dirty="0"/>
              <a:t>What We Will “Skip” For Now</a:t>
            </a:r>
          </a:p>
        </p:txBody>
      </p:sp>
      <p:sp>
        <p:nvSpPr>
          <p:cNvPr id="24" name="Content Placeholder 2">
            <a:extLst>
              <a:ext uri="{FF2B5EF4-FFF2-40B4-BE49-F238E27FC236}">
                <a16:creationId xmlns:a16="http://schemas.microsoft.com/office/drawing/2014/main" id="{A8A78D41-48A5-98C1-1F53-FB08BC3F6B1D}"/>
              </a:ext>
            </a:extLst>
          </p:cNvPr>
          <p:cNvSpPr>
            <a:spLocks noGrp="1"/>
          </p:cNvSpPr>
          <p:nvPr>
            <p:ph idx="1"/>
          </p:nvPr>
        </p:nvSpPr>
        <p:spPr>
          <a:xfrm>
            <a:off x="508000" y="2160590"/>
            <a:ext cx="3915323" cy="3701270"/>
          </a:xfrm>
        </p:spPr>
        <p:txBody>
          <a:bodyPr>
            <a:normAutofit fontScale="85000" lnSpcReduction="10000"/>
          </a:bodyPr>
          <a:lstStyle/>
          <a:p>
            <a:pPr marL="0" indent="0">
              <a:buNone/>
            </a:pPr>
            <a:r>
              <a:rPr lang="en-US" dirty="0"/>
              <a:t>We will skip loops, repeated input, pattern matching, and compact one-line</a:t>
            </a:r>
          </a:p>
          <a:p>
            <a:pPr marL="0" indent="0">
              <a:buNone/>
            </a:pPr>
            <a:r>
              <a:rPr lang="en-US" dirty="0"/>
              <a:t>conditionals for now.</a:t>
            </a:r>
          </a:p>
          <a:p>
            <a:pPr marL="0" indent="0">
              <a:buNone/>
            </a:pPr>
            <a:endParaRPr lang="en-US" dirty="0"/>
          </a:p>
          <a:p>
            <a:pPr marL="0" indent="0">
              <a:buNone/>
            </a:pPr>
            <a:r>
              <a:rPr lang="en-US" dirty="0"/>
              <a:t>Today's job is to understand one decision path clearly.</a:t>
            </a:r>
          </a:p>
          <a:p>
            <a:pPr marL="0" indent="0">
              <a:buNone/>
            </a:pPr>
            <a:r>
              <a:rPr lang="en-US" dirty="0"/>
              <a:t>That means the program should be small enough that you can trace:</a:t>
            </a:r>
          </a:p>
          <a:p>
            <a:r>
              <a:rPr lang="en-US" dirty="0"/>
              <a:t>the starting value</a:t>
            </a:r>
          </a:p>
          <a:p>
            <a:r>
              <a:rPr lang="en-US" dirty="0"/>
              <a:t>the condition</a:t>
            </a:r>
          </a:p>
          <a:p>
            <a:r>
              <a:rPr lang="en-US" dirty="0"/>
              <a:t>the branch</a:t>
            </a:r>
          </a:p>
          <a:p>
            <a:r>
              <a:rPr lang="en-US" dirty="0"/>
              <a:t>the final output</a:t>
            </a:r>
          </a:p>
        </p:txBody>
      </p:sp>
      <p:pic>
        <p:nvPicPr>
          <p:cNvPr id="7" name="Graphic 6" descr="Disconnected">
            <a:extLst>
              <a:ext uri="{FF2B5EF4-FFF2-40B4-BE49-F238E27FC236}">
                <a16:creationId xmlns:a16="http://schemas.microsoft.com/office/drawing/2014/main" id="{634669AE-52A5-F086-9BDE-17982042AD8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562" y="2159000"/>
            <a:ext cx="2359152" cy="2359152"/>
          </a:xfrm>
          <a:prstGeom prst="rect">
            <a:avLst/>
          </a:prstGeom>
        </p:spPr>
      </p:pic>
    </p:spTree>
    <p:extLst>
      <p:ext uri="{BB962C8B-B14F-4D97-AF65-F5344CB8AC3E}">
        <p14:creationId xmlns:p14="http://schemas.microsoft.com/office/powerpoint/2010/main" val="672713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78E6B-27E1-393C-F50E-9672FC3BCDF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ED0DE29-BEC4-DAF1-3242-A3F13215EC7A}"/>
              </a:ext>
            </a:extLst>
          </p:cNvPr>
          <p:cNvSpPr>
            <a:spLocks noGrp="1"/>
          </p:cNvSpPr>
          <p:nvPr>
            <p:ph type="title"/>
          </p:nvPr>
        </p:nvSpPr>
        <p:spPr>
          <a:xfrm>
            <a:off x="419905" y="5165243"/>
            <a:ext cx="6748196" cy="699980"/>
          </a:xfrm>
        </p:spPr>
        <p:txBody>
          <a:bodyPr vert="horz" lIns="91440" tIns="45720" rIns="91440" bIns="45720" rtlCol="0" anchor="b">
            <a:normAutofit fontScale="90000"/>
          </a:bodyPr>
          <a:lstStyle/>
          <a:p>
            <a:pPr algn="ctr"/>
            <a:r>
              <a:rPr lang="en-US" sz="4200" dirty="0"/>
              <a:t>Parked Concepts</a:t>
            </a:r>
          </a:p>
        </p:txBody>
      </p:sp>
      <p:pic>
        <p:nvPicPr>
          <p:cNvPr id="5" name="Picture Placeholder 4" descr="Illustration of a parking sign labeled &quot;Parked for Later&quot; presenting four programming concepts: Loops, Repeated Input, Pattern Matching, and One-Line Conditionals, each in colored boxes with icons and brief descriptions. The design uses blue, green, purple, and orange colors, with visual elements like a bench, lamp post, and clouds, emphasizing key coding ideas for future review.">
            <a:extLst>
              <a:ext uri="{FF2B5EF4-FFF2-40B4-BE49-F238E27FC236}">
                <a16:creationId xmlns:a16="http://schemas.microsoft.com/office/drawing/2014/main" id="{889C4CD4-A37D-C33D-97EE-9BA693F7EA31}"/>
              </a:ext>
            </a:extLst>
          </p:cNvPr>
          <p:cNvPicPr>
            <a:picLocks noGrp="1" noChangeAspect="1"/>
          </p:cNvPicPr>
          <p:nvPr>
            <p:ph type="pic" idx="1"/>
          </p:nvPr>
        </p:nvPicPr>
        <p:blipFill>
          <a:blip r:embed="rId3"/>
          <a:srcRect t="1786" b="1786"/>
          <a:stretch/>
        </p:blipFill>
        <p:spPr>
          <a:xfrm>
            <a:off x="492033" y="609599"/>
            <a:ext cx="6522720" cy="4193177"/>
          </a:xfrm>
          <a:prstGeom prst="rect">
            <a:avLst/>
          </a:prstGeom>
        </p:spPr>
      </p:pic>
    </p:spTree>
    <p:extLst>
      <p:ext uri="{BB962C8B-B14F-4D97-AF65-F5344CB8AC3E}">
        <p14:creationId xmlns:p14="http://schemas.microsoft.com/office/powerpoint/2010/main" val="3599784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25" name="Straight Connector 24">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7"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Isosceles Triangle 32">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4" name="Isosceles Triangle 33">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58CC1AB3-4E10-DC1D-19E9-262AA9AD4807}"/>
              </a:ext>
            </a:extLst>
          </p:cNvPr>
          <p:cNvSpPr>
            <a:spLocks noGrp="1"/>
          </p:cNvSpPr>
          <p:nvPr>
            <p:ph type="title"/>
          </p:nvPr>
        </p:nvSpPr>
        <p:spPr>
          <a:xfrm>
            <a:off x="739476" y="4473227"/>
            <a:ext cx="6216024" cy="1096648"/>
          </a:xfrm>
        </p:spPr>
        <p:txBody>
          <a:bodyPr vert="horz" lIns="91440" tIns="45720" rIns="91440" bIns="45720" rtlCol="0" anchor="b">
            <a:normAutofit/>
          </a:bodyPr>
          <a:lstStyle/>
          <a:p>
            <a:r>
              <a:rPr lang="en-US" sz="4200"/>
              <a:t>Review Coding Lab</a:t>
            </a:r>
          </a:p>
        </p:txBody>
      </p:sp>
      <p:pic>
        <p:nvPicPr>
          <p:cNvPr id="5" name="Picture 4">
            <a:extLst>
              <a:ext uri="{FF2B5EF4-FFF2-40B4-BE49-F238E27FC236}">
                <a16:creationId xmlns:a16="http://schemas.microsoft.com/office/drawing/2014/main" id="{9DC68C51-4C04-4FB3-8831-97CAFAF56E58}"/>
              </a:ext>
              <a:ext uri="{C183D7F6-B498-43B3-948B-1728B52AA6E4}">
                <adec:decorative xmlns:adec="http://schemas.microsoft.com/office/drawing/2017/decorative" val="1"/>
              </a:ext>
            </a:extLst>
          </p:cNvPr>
          <p:cNvPicPr>
            <a:picLocks noChangeAspect="1"/>
          </p:cNvPicPr>
          <p:nvPr/>
        </p:nvPicPr>
        <p:blipFill>
          <a:blip r:embed="rId3"/>
          <a:srcRect t="5843" b="6549"/>
          <a:stretch>
            <a:fillRect/>
          </a:stretch>
        </p:blipFill>
        <p:spPr>
          <a:xfrm>
            <a:off x="739476" y="609600"/>
            <a:ext cx="6216024" cy="3635025"/>
          </a:xfrm>
          <a:prstGeom prst="rect">
            <a:avLst/>
          </a:prstGeom>
        </p:spPr>
      </p:pic>
    </p:spTree>
    <p:extLst>
      <p:ext uri="{BB962C8B-B14F-4D97-AF65-F5344CB8AC3E}">
        <p14:creationId xmlns:p14="http://schemas.microsoft.com/office/powerpoint/2010/main" val="4175274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AEF9C6-0A12-8A6E-A151-A69A793752B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33AD451-2CCF-799A-D699-C7FF3F3840DE}"/>
              </a:ext>
            </a:extLst>
          </p:cNvPr>
          <p:cNvSpPr>
            <a:spLocks noGrp="1"/>
          </p:cNvSpPr>
          <p:nvPr>
            <p:ph type="title"/>
          </p:nvPr>
        </p:nvSpPr>
        <p:spPr>
          <a:xfrm>
            <a:off x="508000" y="609600"/>
            <a:ext cx="6447501" cy="1320800"/>
          </a:xfrm>
        </p:spPr>
        <p:txBody>
          <a:bodyPr anchor="t">
            <a:normAutofit/>
          </a:bodyPr>
          <a:lstStyle/>
          <a:p>
            <a:r>
              <a:rPr lang="en-US" dirty="0"/>
              <a:t>Conditions Ask Questions</a:t>
            </a:r>
          </a:p>
        </p:txBody>
      </p:sp>
      <p:pic>
        <p:nvPicPr>
          <p:cNvPr id="2" name="Picture Placeholder 4" descr="Flowchart diagram illustrating a conditional statement that checks if a score is 70 or higher. It features a blue question box with &quot;Is score &gt;= 70?&quot; branching into a green &quot;True&quot; box confirming score is 70 or higher and a red &quot;False&quot; box indicating score is lower than 70, with a lightbulb note explaining conditions ask yes/no questions.">
            <a:extLst>
              <a:ext uri="{FF2B5EF4-FFF2-40B4-BE49-F238E27FC236}">
                <a16:creationId xmlns:a16="http://schemas.microsoft.com/office/drawing/2014/main" id="{7903636C-7B0B-2F92-B7F4-7475A6964AFF}"/>
              </a:ext>
            </a:extLst>
          </p:cNvPr>
          <p:cNvPicPr>
            <a:picLocks noChangeAspect="1"/>
          </p:cNvPicPr>
          <p:nvPr/>
        </p:nvPicPr>
        <p:blipFill>
          <a:blip r:embed="rId3"/>
          <a:srcRect t="1786" b="1786"/>
          <a:stretch>
            <a:fillRect/>
          </a:stretch>
        </p:blipFill>
        <p:spPr>
          <a:xfrm>
            <a:off x="152331" y="2028701"/>
            <a:ext cx="4659698" cy="2999247"/>
          </a:xfrm>
          <a:prstGeom prst="rect">
            <a:avLst/>
          </a:prstGeom>
        </p:spPr>
      </p:pic>
      <p:sp>
        <p:nvSpPr>
          <p:cNvPr id="5" name="Content Placeholder 4">
            <a:extLst>
              <a:ext uri="{FF2B5EF4-FFF2-40B4-BE49-F238E27FC236}">
                <a16:creationId xmlns:a16="http://schemas.microsoft.com/office/drawing/2014/main" id="{08EBF282-6B41-EFF2-2CA3-B2017B40DE16}"/>
              </a:ext>
            </a:extLst>
          </p:cNvPr>
          <p:cNvSpPr>
            <a:spLocks noGrp="1"/>
          </p:cNvSpPr>
          <p:nvPr>
            <p:ph idx="1"/>
          </p:nvPr>
        </p:nvSpPr>
        <p:spPr>
          <a:xfrm>
            <a:off x="4812029" y="2160589"/>
            <a:ext cx="2712177" cy="3880773"/>
          </a:xfrm>
        </p:spPr>
        <p:txBody>
          <a:bodyPr>
            <a:normAutofit/>
          </a:bodyPr>
          <a:lstStyle/>
          <a:p>
            <a:pPr marL="0" indent="0">
              <a:buNone/>
            </a:pPr>
            <a:r>
              <a:rPr lang="en-US" sz="1600" dirty="0"/>
              <a:t>A condition is a question the program can answer as `True` or `False`.</a:t>
            </a:r>
          </a:p>
          <a:p>
            <a:pPr marL="0" indent="0">
              <a:buNone/>
            </a:pPr>
            <a:r>
              <a:rPr lang="en-US" sz="1600" dirty="0"/>
              <a:t>Example: `score &gt;= 70`</a:t>
            </a:r>
          </a:p>
          <a:p>
            <a:pPr marL="0" indent="0">
              <a:buNone/>
            </a:pPr>
            <a:r>
              <a:rPr lang="en-US" sz="1600" dirty="0"/>
              <a:t>Read the condition in plain language:</a:t>
            </a:r>
          </a:p>
          <a:p>
            <a:r>
              <a:rPr lang="en-US" sz="1600" dirty="0"/>
              <a:t>Is the score greater than or equal to 70?</a:t>
            </a:r>
          </a:p>
          <a:p>
            <a:r>
              <a:rPr lang="en-US" sz="1600" dirty="0"/>
              <a:t>If yes, the result is `True`.</a:t>
            </a:r>
          </a:p>
          <a:p>
            <a:r>
              <a:rPr lang="en-US" sz="1600" dirty="0"/>
              <a:t>If no, the result is `False`.</a:t>
            </a:r>
          </a:p>
        </p:txBody>
      </p:sp>
    </p:spTree>
    <p:extLst>
      <p:ext uri="{BB962C8B-B14F-4D97-AF65-F5344CB8AC3E}">
        <p14:creationId xmlns:p14="http://schemas.microsoft.com/office/powerpoint/2010/main" val="807468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FD963D-986F-1524-594C-94C6FC56FAA6}"/>
              </a:ext>
            </a:extLst>
          </p:cNvPr>
          <p:cNvSpPr>
            <a:spLocks noGrp="1"/>
          </p:cNvSpPr>
          <p:nvPr>
            <p:ph type="title"/>
          </p:nvPr>
        </p:nvSpPr>
        <p:spPr>
          <a:xfrm>
            <a:off x="508000" y="609600"/>
            <a:ext cx="6447501" cy="1320800"/>
          </a:xfrm>
        </p:spPr>
        <p:txBody>
          <a:bodyPr anchor="t">
            <a:normAutofit/>
          </a:bodyPr>
          <a:lstStyle/>
          <a:p>
            <a:r>
              <a:rPr lang="en-US"/>
              <a:t>Comparison Operators</a:t>
            </a:r>
          </a:p>
        </p:txBody>
      </p:sp>
      <p:pic>
        <p:nvPicPr>
          <p:cNvPr id="2" name="Picture Placeholder 4" descr="Diagram showing six comparison operators used in programming or mathematics, each in a colored box with symbol and label. Operators include greater than (green), less than (blue), greater than or equal to (purple), less than or equal to (orange), equal to (teal), and not equal (red with exclamation mark).">
            <a:extLst>
              <a:ext uri="{FF2B5EF4-FFF2-40B4-BE49-F238E27FC236}">
                <a16:creationId xmlns:a16="http://schemas.microsoft.com/office/drawing/2014/main" id="{A45537BA-1968-345D-924E-F146738E87B4}"/>
              </a:ext>
            </a:extLst>
          </p:cNvPr>
          <p:cNvPicPr>
            <a:picLocks noChangeAspect="1"/>
          </p:cNvPicPr>
          <p:nvPr/>
        </p:nvPicPr>
        <p:blipFill>
          <a:blip r:embed="rId3"/>
          <a:srcRect t="1786" b="1786"/>
          <a:stretch>
            <a:fillRect/>
          </a:stretch>
        </p:blipFill>
        <p:spPr>
          <a:xfrm>
            <a:off x="613105" y="2159331"/>
            <a:ext cx="3962467" cy="2550469"/>
          </a:xfrm>
          <a:prstGeom prst="rect">
            <a:avLst/>
          </a:prstGeom>
        </p:spPr>
      </p:pic>
      <p:sp>
        <p:nvSpPr>
          <p:cNvPr id="5" name="Content Placeholder 4">
            <a:extLst>
              <a:ext uri="{FF2B5EF4-FFF2-40B4-BE49-F238E27FC236}">
                <a16:creationId xmlns:a16="http://schemas.microsoft.com/office/drawing/2014/main" id="{3601FA2D-2385-DABD-516E-8A2F33DC13D1}"/>
              </a:ext>
            </a:extLst>
          </p:cNvPr>
          <p:cNvSpPr>
            <a:spLocks noGrp="1"/>
          </p:cNvSpPr>
          <p:nvPr>
            <p:ph idx="1"/>
          </p:nvPr>
        </p:nvSpPr>
        <p:spPr>
          <a:xfrm>
            <a:off x="4812029" y="2160589"/>
            <a:ext cx="2725240" cy="3880773"/>
          </a:xfrm>
        </p:spPr>
        <p:txBody>
          <a:bodyPr>
            <a:normAutofit/>
          </a:bodyPr>
          <a:lstStyle/>
          <a:p>
            <a:pPr marL="0" indent="0">
              <a:buNone/>
            </a:pPr>
            <a:r>
              <a:rPr lang="en-US" dirty="0"/>
              <a:t>Comparisons create boolean results.</a:t>
            </a:r>
          </a:p>
          <a:p>
            <a:pPr marL="0" indent="0">
              <a:buNone/>
            </a:pPr>
            <a:endParaRPr lang="en-US" dirty="0"/>
          </a:p>
          <a:p>
            <a:pPr marL="0" indent="0">
              <a:buNone/>
            </a:pPr>
            <a:r>
              <a:rPr lang="en-US" dirty="0"/>
              <a:t>`&gt;`, `&lt;`, `&gt;=`, `&lt;=`, `==`, and `!=`</a:t>
            </a:r>
          </a:p>
          <a:p>
            <a:pPr marL="0" indent="0">
              <a:buNone/>
            </a:pPr>
            <a:endParaRPr lang="en-US" i="1" dirty="0"/>
          </a:p>
          <a:p>
            <a:pPr marL="0" indent="0">
              <a:buNone/>
            </a:pPr>
            <a:r>
              <a:rPr lang="en-US" i="1" dirty="0"/>
              <a:t>These do not print by themselves unless you ask Python to show the result.</a:t>
            </a:r>
          </a:p>
        </p:txBody>
      </p:sp>
    </p:spTree>
    <p:extLst>
      <p:ext uri="{BB962C8B-B14F-4D97-AF65-F5344CB8AC3E}">
        <p14:creationId xmlns:p14="http://schemas.microsoft.com/office/powerpoint/2010/main" val="2276312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9AE27B9D-0F04-458B-A718-F84902C79F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3" name="Straight Connector 12">
              <a:extLst>
                <a:ext uri="{FF2B5EF4-FFF2-40B4-BE49-F238E27FC236}">
                  <a16:creationId xmlns:a16="http://schemas.microsoft.com/office/drawing/2014/main" id="{47AB6435-428E-44C8-A107-8435183F65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9658D-9AE1-44D3-B002-2BA204AB9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2083C874-CFCD-47ED-9F98-DDB125C9C0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6" name="Rectangle 25">
              <a:extLst>
                <a:ext uri="{FF2B5EF4-FFF2-40B4-BE49-F238E27FC236}">
                  <a16:creationId xmlns:a16="http://schemas.microsoft.com/office/drawing/2014/main" id="{605E9946-A240-42E3-B6CD-E6691BF46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7" name="Isosceles Triangle 16">
              <a:extLst>
                <a:ext uri="{FF2B5EF4-FFF2-40B4-BE49-F238E27FC236}">
                  <a16:creationId xmlns:a16="http://schemas.microsoft.com/office/drawing/2014/main" id="{315B1B45-25C3-4C58-8EB8-41BCFA02A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8" name="Rectangle 27">
              <a:extLst>
                <a:ext uri="{FF2B5EF4-FFF2-40B4-BE49-F238E27FC236}">
                  <a16:creationId xmlns:a16="http://schemas.microsoft.com/office/drawing/2014/main" id="{87983A9A-7A69-406F-AFEA-AD2AE87E1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9" name="Rectangle 28">
              <a:extLst>
                <a:ext uri="{FF2B5EF4-FFF2-40B4-BE49-F238E27FC236}">
                  <a16:creationId xmlns:a16="http://schemas.microsoft.com/office/drawing/2014/main" id="{FFCBC4EF-C03E-4EED-9E9A-3097DECC0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0" name="Rectangle 29">
              <a:extLst>
                <a:ext uri="{FF2B5EF4-FFF2-40B4-BE49-F238E27FC236}">
                  <a16:creationId xmlns:a16="http://schemas.microsoft.com/office/drawing/2014/main" id="{F56545EE-F94F-4B4C-AA43-9D6745664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1" name="Isosceles Triangle 20">
              <a:extLst>
                <a:ext uri="{FF2B5EF4-FFF2-40B4-BE49-F238E27FC236}">
                  <a16:creationId xmlns:a16="http://schemas.microsoft.com/office/drawing/2014/main" id="{2FE2A6B2-D45B-484C-BAFD-3F4508266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2" name="Isosceles Triangle 21">
              <a:extLst>
                <a:ext uri="{FF2B5EF4-FFF2-40B4-BE49-F238E27FC236}">
                  <a16:creationId xmlns:a16="http://schemas.microsoft.com/office/drawing/2014/main" id="{EC2132BF-207E-4FB2-B0FE-E6FD0A1D1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grpSp>
      <p:pic>
        <p:nvPicPr>
          <p:cNvPr id="7" name="Picture 6">
            <a:extLst>
              <a:ext uri="{FF2B5EF4-FFF2-40B4-BE49-F238E27FC236}">
                <a16:creationId xmlns:a16="http://schemas.microsoft.com/office/drawing/2014/main" id="{3F92D707-4F6F-1707-563F-DAA7E83D0FDA}"/>
              </a:ext>
              <a:ext uri="{C183D7F6-B498-43B3-948B-1728B52AA6E4}">
                <adec:decorative xmlns:adec="http://schemas.microsoft.com/office/drawing/2017/decorative" val="1"/>
              </a:ext>
            </a:extLst>
          </p:cNvPr>
          <p:cNvPicPr>
            <a:picLocks noChangeAspect="1"/>
          </p:cNvPicPr>
          <p:nvPr/>
        </p:nvPicPr>
        <p:blipFill>
          <a:blip r:embed="rId3"/>
          <a:srcRect l="19091" t="9091"/>
          <a:stretch>
            <a:fillRect/>
          </a:stretch>
        </p:blipFill>
        <p:spPr>
          <a:xfrm>
            <a:off x="20" y="10"/>
            <a:ext cx="9143980" cy="6857990"/>
          </a:xfrm>
          <a:prstGeom prst="rect">
            <a:avLst/>
          </a:prstGeom>
        </p:spPr>
      </p:pic>
      <p:sp>
        <p:nvSpPr>
          <p:cNvPr id="24" name="Isosceles Triangle 23">
            <a:extLst>
              <a:ext uri="{FF2B5EF4-FFF2-40B4-BE49-F238E27FC236}">
                <a16:creationId xmlns:a16="http://schemas.microsoft.com/office/drawing/2014/main" id="{34257526-B660-46EC-83FB-51CCCEF4D5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6" name="Parallelogram 25">
            <a:extLst>
              <a:ext uri="{FF2B5EF4-FFF2-40B4-BE49-F238E27FC236}">
                <a16:creationId xmlns:a16="http://schemas.microsoft.com/office/drawing/2014/main" id="{5E54613B-CC3A-459D-97E1-23B891DE93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3405" y="0"/>
            <a:ext cx="5486400" cy="6858000"/>
          </a:xfrm>
          <a:prstGeom prst="parallelogram">
            <a:avLst>
              <a:gd name="adj" fmla="val 14937"/>
            </a:avLst>
          </a:prstGeom>
          <a:solidFill>
            <a:schemeClr val="bg1">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cxnSp>
        <p:nvCxnSpPr>
          <p:cNvPr id="28" name="Straight Connector 27">
            <a:extLst>
              <a:ext uri="{FF2B5EF4-FFF2-40B4-BE49-F238E27FC236}">
                <a16:creationId xmlns:a16="http://schemas.microsoft.com/office/drawing/2014/main" id="{0B21385D-063D-42D0-BD60-907E9F826D4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921B275-E6A3-4146-9F5F-5CD28092A3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2" name="Rectangle 23">
            <a:extLst>
              <a:ext uri="{FF2B5EF4-FFF2-40B4-BE49-F238E27FC236}">
                <a16:creationId xmlns:a16="http://schemas.microsoft.com/office/drawing/2014/main" id="{28E190A5-6423-4EE2-AF46-8B82F34BCD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4" name="Rectangle 25">
            <a:extLst>
              <a:ext uri="{FF2B5EF4-FFF2-40B4-BE49-F238E27FC236}">
                <a16:creationId xmlns:a16="http://schemas.microsoft.com/office/drawing/2014/main" id="{4A97AE97-5706-400B-8F09-602A25EA14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6" name="Isosceles Triangle 35">
            <a:extLst>
              <a:ext uri="{FF2B5EF4-FFF2-40B4-BE49-F238E27FC236}">
                <a16:creationId xmlns:a16="http://schemas.microsoft.com/office/drawing/2014/main" id="{0860785A-BE10-40E0-8A0F-805CD3F59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 name="Title 3">
            <a:extLst>
              <a:ext uri="{FF2B5EF4-FFF2-40B4-BE49-F238E27FC236}">
                <a16:creationId xmlns:a16="http://schemas.microsoft.com/office/drawing/2014/main" id="{2FC93F9C-2692-8651-EDC7-6D41F5D66139}"/>
              </a:ext>
            </a:extLst>
          </p:cNvPr>
          <p:cNvSpPr>
            <a:spLocks noGrp="1"/>
          </p:cNvSpPr>
          <p:nvPr>
            <p:ph type="title"/>
          </p:nvPr>
        </p:nvSpPr>
        <p:spPr>
          <a:xfrm>
            <a:off x="3528150" y="1678665"/>
            <a:ext cx="3427352" cy="2369131"/>
          </a:xfrm>
        </p:spPr>
        <p:txBody>
          <a:bodyPr vert="horz" lIns="91440" tIns="45720" rIns="91440" bIns="45720" rtlCol="0" anchor="b">
            <a:normAutofit/>
          </a:bodyPr>
          <a:lstStyle/>
          <a:p>
            <a:pPr algn="r"/>
            <a:r>
              <a:rPr lang="en-US" sz="5400" dirty="0"/>
              <a:t>Demo #1</a:t>
            </a:r>
          </a:p>
        </p:txBody>
      </p:sp>
      <p:sp>
        <p:nvSpPr>
          <p:cNvPr id="38" name="Rectangle 27">
            <a:extLst>
              <a:ext uri="{FF2B5EF4-FFF2-40B4-BE49-F238E27FC236}">
                <a16:creationId xmlns:a16="http://schemas.microsoft.com/office/drawing/2014/main" id="{2CD66695-C096-4E32-9AC2-19B4EFD66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0" name="Rectangle 28">
            <a:extLst>
              <a:ext uri="{FF2B5EF4-FFF2-40B4-BE49-F238E27FC236}">
                <a16:creationId xmlns:a16="http://schemas.microsoft.com/office/drawing/2014/main" id="{A97E83CA-07FA-4B94-A213-9E6DA6FAC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2" name="Rectangle 29">
            <a:extLst>
              <a:ext uri="{FF2B5EF4-FFF2-40B4-BE49-F238E27FC236}">
                <a16:creationId xmlns:a16="http://schemas.microsoft.com/office/drawing/2014/main" id="{A531E02F-6391-4B0C-B1E1-D67E8EFC40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4" name="Isosceles Triangle 43">
            <a:extLst>
              <a:ext uri="{FF2B5EF4-FFF2-40B4-BE49-F238E27FC236}">
                <a16:creationId xmlns:a16="http://schemas.microsoft.com/office/drawing/2014/main" id="{568558EC-35CA-4EC8-BB31-75AB78ACA6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 name="TextBox 1">
            <a:extLst>
              <a:ext uri="{FF2B5EF4-FFF2-40B4-BE49-F238E27FC236}">
                <a16:creationId xmlns:a16="http://schemas.microsoft.com/office/drawing/2014/main" id="{1C8DFD8B-5C86-3290-9577-EDD61563B509}"/>
              </a:ext>
            </a:extLst>
          </p:cNvPr>
          <p:cNvSpPr txBox="1"/>
          <p:nvPr/>
        </p:nvSpPr>
        <p:spPr>
          <a:xfrm>
            <a:off x="3879669" y="4558937"/>
            <a:ext cx="3320533" cy="36933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B4F8A"/>
                </a:solidFill>
                <a:effectLst/>
                <a:uLnTx/>
                <a:uFillTx/>
                <a:latin typeface="Trebuchet MS" panose="020B0603020202020204"/>
                <a:ea typeface="+mn-ea"/>
                <a:cs typeface="+mn-cs"/>
              </a:rPr>
              <a:t>“Boolean Comparisons”</a:t>
            </a:r>
          </a:p>
        </p:txBody>
      </p:sp>
    </p:spTree>
    <p:extLst>
      <p:ext uri="{BB962C8B-B14F-4D97-AF65-F5344CB8AC3E}">
        <p14:creationId xmlns:p14="http://schemas.microsoft.com/office/powerpoint/2010/main" val="858767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D85B7-E617-7232-3D45-118C5B1AF291}"/>
              </a:ext>
            </a:extLst>
          </p:cNvPr>
          <p:cNvSpPr>
            <a:spLocks noGrp="1"/>
          </p:cNvSpPr>
          <p:nvPr>
            <p:ph type="title"/>
          </p:nvPr>
        </p:nvSpPr>
        <p:spPr/>
        <p:txBody>
          <a:bodyPr/>
          <a:lstStyle/>
          <a:p>
            <a:r>
              <a:rPr lang="en-US" dirty="0"/>
              <a:t>Boolean Comparisons</a:t>
            </a:r>
          </a:p>
        </p:txBody>
      </p:sp>
      <p:sp>
        <p:nvSpPr>
          <p:cNvPr id="3" name="Content Placeholder 2">
            <a:extLst>
              <a:ext uri="{FF2B5EF4-FFF2-40B4-BE49-F238E27FC236}">
                <a16:creationId xmlns:a16="http://schemas.microsoft.com/office/drawing/2014/main" id="{D4623AC4-941F-5169-DAA0-DF23E55C8058}"/>
              </a:ext>
            </a:extLst>
          </p:cNvPr>
          <p:cNvSpPr>
            <a:spLocks noGrp="1"/>
          </p:cNvSpPr>
          <p:nvPr>
            <p:ph idx="1"/>
          </p:nvPr>
        </p:nvSpPr>
        <p:spPr/>
        <p:txBody>
          <a:bodyPr>
            <a:normAutofit/>
          </a:bodyPr>
          <a:lstStyle/>
          <a:p>
            <a:pPr marL="0" indent="0">
              <a:buNone/>
            </a:pPr>
            <a:r>
              <a:rPr lang="en-US" dirty="0"/>
              <a:t>Before running each comparison, predict the result.</a:t>
            </a:r>
          </a:p>
          <a:p>
            <a:pPr marL="0" indent="0">
              <a:buNone/>
            </a:pPr>
            <a:r>
              <a:rPr lang="en-US" dirty="0"/>
              <a:t>Will Python answer `True` or `False`?</a:t>
            </a:r>
          </a:p>
          <a:p>
            <a:pPr marL="0" indent="0">
              <a:buNone/>
            </a:pPr>
            <a:endParaRPr lang="en-US" dirty="0"/>
          </a:p>
          <a:p>
            <a:pPr marL="0" indent="0">
              <a:buNone/>
            </a:pPr>
            <a:r>
              <a:rPr lang="en-US" dirty="0"/>
              <a:t>For each line, identify:</a:t>
            </a:r>
          </a:p>
          <a:p>
            <a:r>
              <a:rPr lang="en-US" dirty="0"/>
              <a:t>the value being checked</a:t>
            </a:r>
          </a:p>
          <a:p>
            <a:r>
              <a:rPr lang="en-US" dirty="0"/>
              <a:t>the comparison operator</a:t>
            </a:r>
          </a:p>
          <a:p>
            <a:r>
              <a:rPr lang="en-US" dirty="0"/>
              <a:t>the expected boolean result</a:t>
            </a:r>
          </a:p>
          <a:p>
            <a:pPr marL="0" indent="0">
              <a:buNone/>
            </a:pPr>
            <a:endParaRPr lang="en-US" dirty="0"/>
          </a:p>
          <a:p>
            <a:pPr marL="0" indent="0">
              <a:buNone/>
            </a:pPr>
            <a:r>
              <a:rPr lang="en-US" dirty="0"/>
              <a:t>Then run the program to confirm your prediction.</a:t>
            </a:r>
          </a:p>
        </p:txBody>
      </p:sp>
    </p:spTree>
    <p:extLst>
      <p:ext uri="{BB962C8B-B14F-4D97-AF65-F5344CB8AC3E}">
        <p14:creationId xmlns:p14="http://schemas.microsoft.com/office/powerpoint/2010/main" val="1802641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CD40-75AD-8923-445D-5B8FE94D05E7}"/>
              </a:ext>
            </a:extLst>
          </p:cNvPr>
          <p:cNvSpPr>
            <a:spLocks noGrp="1"/>
          </p:cNvSpPr>
          <p:nvPr>
            <p:ph type="title"/>
          </p:nvPr>
        </p:nvSpPr>
        <p:spPr/>
        <p:txBody>
          <a:bodyPr/>
          <a:lstStyle/>
          <a:p>
            <a:r>
              <a:rPr lang="en-US" dirty="0"/>
              <a:t>The `if` Statement</a:t>
            </a:r>
          </a:p>
        </p:txBody>
      </p:sp>
      <p:sp>
        <p:nvSpPr>
          <p:cNvPr id="3" name="Content Placeholder 2">
            <a:extLst>
              <a:ext uri="{FF2B5EF4-FFF2-40B4-BE49-F238E27FC236}">
                <a16:creationId xmlns:a16="http://schemas.microsoft.com/office/drawing/2014/main" id="{F72B4696-200F-61D0-6F14-11D703A61DD3}"/>
              </a:ext>
            </a:extLst>
          </p:cNvPr>
          <p:cNvSpPr>
            <a:spLocks noGrp="1"/>
          </p:cNvSpPr>
          <p:nvPr>
            <p:ph idx="1"/>
          </p:nvPr>
        </p:nvSpPr>
        <p:spPr/>
        <p:txBody>
          <a:bodyPr>
            <a:normAutofit/>
          </a:bodyPr>
          <a:lstStyle/>
          <a:p>
            <a:pPr marL="0" indent="0">
              <a:buNone/>
            </a:pPr>
            <a:r>
              <a:rPr lang="en-US" dirty="0"/>
              <a:t>`if` means: run this block only when the condition is `True`.</a:t>
            </a:r>
          </a:p>
          <a:p>
            <a:pPr marL="0" indent="0">
              <a:buNone/>
            </a:pPr>
            <a:endParaRPr lang="en-US" dirty="0"/>
          </a:p>
          <a:p>
            <a:pPr marL="0" indent="0">
              <a:buNone/>
            </a:pPr>
            <a:r>
              <a:rPr lang="en-US" dirty="0"/>
              <a:t>The condition decides whether the indented code runs.</a:t>
            </a:r>
          </a:p>
          <a:p>
            <a:pPr marL="0" indent="0">
              <a:buNone/>
            </a:pPr>
            <a:r>
              <a:rPr lang="en-US" dirty="0"/>
              <a:t>Basic shape:</a:t>
            </a:r>
          </a:p>
          <a:p>
            <a:pPr marL="0" indent="0">
              <a:buNone/>
            </a:pPr>
            <a:endParaRPr lang="en-US" dirty="0"/>
          </a:p>
          <a:p>
            <a:pPr marL="0" indent="0">
              <a:buNone/>
            </a:pPr>
            <a:endParaRPr lang="en-US" dirty="0"/>
          </a:p>
          <a:p>
            <a:pPr marL="0" indent="0">
              <a:buNone/>
            </a:pPr>
            <a:endParaRPr lang="en-US" dirty="0"/>
          </a:p>
          <a:p>
            <a:pPr marL="0" indent="0">
              <a:buNone/>
            </a:pPr>
            <a:r>
              <a:rPr lang="en-US" dirty="0"/>
              <a:t>The indented line belongs to the branch.</a:t>
            </a:r>
          </a:p>
        </p:txBody>
      </p:sp>
      <p:sp>
        <p:nvSpPr>
          <p:cNvPr id="4" name="TextBox 3">
            <a:extLst>
              <a:ext uri="{FF2B5EF4-FFF2-40B4-BE49-F238E27FC236}">
                <a16:creationId xmlns:a16="http://schemas.microsoft.com/office/drawing/2014/main" id="{E8DF5372-B8DC-5E47-7323-4BBD5A54D950}"/>
              </a:ext>
            </a:extLst>
          </p:cNvPr>
          <p:cNvSpPr txBox="1"/>
          <p:nvPr/>
        </p:nvSpPr>
        <p:spPr>
          <a:xfrm>
            <a:off x="2701416" y="3661230"/>
            <a:ext cx="2164077" cy="1200329"/>
          </a:xfrm>
          <a:prstGeom prst="rect">
            <a:avLst/>
          </a:prstGeom>
          <a:solidFill>
            <a:schemeClr val="bg2">
              <a:lumMod val="50000"/>
            </a:schemeClr>
          </a:solidFill>
          <a:ln>
            <a:solidFill>
              <a:schemeClr val="accent1"/>
            </a:solidFill>
          </a:ln>
        </p:spPr>
        <p:txBody>
          <a:bodyPr wrap="square" rtlCol="0">
            <a:spAutoFit/>
          </a:bodyPr>
          <a:lstStyle/>
          <a:p>
            <a:endParaRPr lang="en-US" dirty="0">
              <a:solidFill>
                <a:schemeClr val="bg1"/>
              </a:solidFill>
            </a:endParaRPr>
          </a:p>
          <a:p>
            <a:r>
              <a:rPr lang="en-US" dirty="0">
                <a:solidFill>
                  <a:schemeClr val="bg1"/>
                </a:solidFill>
              </a:rPr>
              <a:t>  if condition:</a:t>
            </a:r>
          </a:p>
          <a:p>
            <a:r>
              <a:rPr lang="en-US" dirty="0">
                <a:solidFill>
                  <a:schemeClr val="bg1"/>
                </a:solidFill>
              </a:rPr>
              <a:t>      </a:t>
            </a:r>
            <a:r>
              <a:rPr lang="en-US" dirty="0" err="1">
                <a:solidFill>
                  <a:schemeClr val="bg1"/>
                </a:solidFill>
              </a:rPr>
              <a:t>do_this</a:t>
            </a:r>
            <a:r>
              <a:rPr lang="en-US" dirty="0">
                <a:solidFill>
                  <a:schemeClr val="bg1"/>
                </a:solidFill>
              </a:rPr>
              <a:t>()</a:t>
            </a:r>
          </a:p>
          <a:p>
            <a:endParaRPr lang="en-US" dirty="0"/>
          </a:p>
        </p:txBody>
      </p:sp>
    </p:spTree>
    <p:extLst>
      <p:ext uri="{BB962C8B-B14F-4D97-AF65-F5344CB8AC3E}">
        <p14:creationId xmlns:p14="http://schemas.microsoft.com/office/powerpoint/2010/main" val="1562509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D410D77-E7C1-DDF5-0FD1-14A5194BF474}"/>
              </a:ext>
            </a:extLst>
          </p:cNvPr>
          <p:cNvSpPr>
            <a:spLocks noGrp="1"/>
          </p:cNvSpPr>
          <p:nvPr>
            <p:ph type="title"/>
          </p:nvPr>
        </p:nvSpPr>
        <p:spPr>
          <a:xfrm>
            <a:off x="739476" y="4782381"/>
            <a:ext cx="6216024" cy="1096648"/>
          </a:xfrm>
        </p:spPr>
        <p:txBody>
          <a:bodyPr vert="horz" lIns="91440" tIns="45720" rIns="91440" bIns="45720" rtlCol="0" anchor="b">
            <a:normAutofit fontScale="90000"/>
          </a:bodyPr>
          <a:lstStyle/>
          <a:p>
            <a:r>
              <a:rPr lang="en-US" sz="4200" dirty="0"/>
              <a:t>Indention Block of the “If”</a:t>
            </a:r>
          </a:p>
        </p:txBody>
      </p:sp>
      <p:pic>
        <p:nvPicPr>
          <p:cNvPr id="5" name="Picture Placeholder 4" descr="Diagram explaining an if statement in programming, showing a code snippet where a score greater than or equal to 70 sets status to &quot;Pass&quot; and prints &quot;Great job!&quot;. Key components include a highlighted indented block indicating code runs only if condition is true, with labels pointing to condition and block purpose.">
            <a:extLst>
              <a:ext uri="{FF2B5EF4-FFF2-40B4-BE49-F238E27FC236}">
                <a16:creationId xmlns:a16="http://schemas.microsoft.com/office/drawing/2014/main" id="{DE4BAABD-366B-8D83-9458-DA89F5FFB253}"/>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1783001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81353"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FF09C57F-5D69-9CE4-1B51-05464F8A03A0}"/>
              </a:ext>
            </a:extLst>
          </p:cNvPr>
          <p:cNvSpPr>
            <a:spLocks noGrp="1"/>
          </p:cNvSpPr>
          <p:nvPr>
            <p:ph type="title"/>
          </p:nvPr>
        </p:nvSpPr>
        <p:spPr>
          <a:xfrm>
            <a:off x="482600" y="816638"/>
            <a:ext cx="2525519" cy="5224724"/>
          </a:xfrm>
        </p:spPr>
        <p:txBody>
          <a:bodyPr anchor="ctr">
            <a:normAutofit/>
          </a:bodyPr>
          <a:lstStyle/>
          <a:p>
            <a:r>
              <a:rPr lang="en-US" dirty="0"/>
              <a:t>`</a:t>
            </a:r>
            <a:r>
              <a:rPr lang="en-US" dirty="0" err="1"/>
              <a:t>elif</a:t>
            </a:r>
            <a:r>
              <a:rPr lang="en-US" dirty="0"/>
              <a:t>` and `else`</a:t>
            </a:r>
          </a:p>
        </p:txBody>
      </p:sp>
      <p:sp>
        <p:nvSpPr>
          <p:cNvPr id="6" name="Content Placeholder 5">
            <a:extLst>
              <a:ext uri="{FF2B5EF4-FFF2-40B4-BE49-F238E27FC236}">
                <a16:creationId xmlns:a16="http://schemas.microsoft.com/office/drawing/2014/main" id="{9A089A20-616D-77FE-4B92-42F5080F5CDF}"/>
              </a:ext>
            </a:extLst>
          </p:cNvPr>
          <p:cNvSpPr>
            <a:spLocks noGrp="1"/>
          </p:cNvSpPr>
          <p:nvPr>
            <p:ph idx="1"/>
          </p:nvPr>
        </p:nvSpPr>
        <p:spPr>
          <a:xfrm>
            <a:off x="3490721" y="816638"/>
            <a:ext cx="3464779" cy="5224724"/>
          </a:xfrm>
        </p:spPr>
        <p:txBody>
          <a:bodyPr anchor="ctr">
            <a:normAutofit/>
          </a:bodyPr>
          <a:lstStyle/>
          <a:p>
            <a:pPr marL="0" indent="0">
              <a:buNone/>
            </a:pPr>
            <a:r>
              <a:rPr lang="en-US" dirty="0"/>
              <a:t>`</a:t>
            </a:r>
            <a:r>
              <a:rPr lang="en-US" b="1" dirty="0" err="1">
                <a:solidFill>
                  <a:srgbClr val="00B050"/>
                </a:solidFill>
              </a:rPr>
              <a:t>elif</a:t>
            </a:r>
            <a:r>
              <a:rPr lang="en-US" dirty="0"/>
              <a:t>` checks another condition.</a:t>
            </a:r>
          </a:p>
          <a:p>
            <a:pPr marL="0" indent="0">
              <a:buNone/>
            </a:pPr>
            <a:r>
              <a:rPr lang="en-US" dirty="0"/>
              <a:t>`</a:t>
            </a:r>
            <a:r>
              <a:rPr lang="en-US" b="1" dirty="0">
                <a:solidFill>
                  <a:srgbClr val="00B050"/>
                </a:solidFill>
              </a:rPr>
              <a:t>else</a:t>
            </a:r>
            <a:r>
              <a:rPr lang="en-US" dirty="0"/>
              <a:t>` handles what is left when earlier conditions did not run.</a:t>
            </a:r>
          </a:p>
          <a:p>
            <a:pPr marL="0" indent="0">
              <a:buNone/>
            </a:pPr>
            <a:endParaRPr lang="en-US" dirty="0"/>
          </a:p>
          <a:p>
            <a:pPr marL="0" indent="0">
              <a:buNone/>
            </a:pPr>
            <a:r>
              <a:rPr lang="en-US" dirty="0"/>
              <a:t>Use this structure when there are multiple possible outcomes:</a:t>
            </a:r>
          </a:p>
          <a:p>
            <a:r>
              <a:rPr lang="en-US" dirty="0"/>
              <a:t>`if` starts the decision</a:t>
            </a:r>
          </a:p>
          <a:p>
            <a:r>
              <a:rPr lang="en-US" dirty="0"/>
              <a:t>`</a:t>
            </a:r>
            <a:r>
              <a:rPr lang="en-US" dirty="0" err="1"/>
              <a:t>elif</a:t>
            </a:r>
            <a:r>
              <a:rPr lang="en-US" dirty="0"/>
              <a:t>` adds another possible condition</a:t>
            </a:r>
          </a:p>
          <a:p>
            <a:r>
              <a:rPr lang="en-US" dirty="0"/>
              <a:t>`else` catches the remaining case</a:t>
            </a:r>
          </a:p>
          <a:p>
            <a:pPr marL="0" indent="0">
              <a:buNone/>
            </a:pPr>
            <a:endParaRPr lang="en-US" dirty="0"/>
          </a:p>
        </p:txBody>
      </p:sp>
    </p:spTree>
    <p:extLst>
      <p:ext uri="{BB962C8B-B14F-4D97-AF65-F5344CB8AC3E}">
        <p14:creationId xmlns:p14="http://schemas.microsoft.com/office/powerpoint/2010/main" val="3512014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708C59-DB29-D57E-DBD7-03FF4416B193}"/>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66EDBE6F-29C0-6B63-B148-2505D35834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3" name="Straight Connector 12">
              <a:extLst>
                <a:ext uri="{FF2B5EF4-FFF2-40B4-BE49-F238E27FC236}">
                  <a16:creationId xmlns:a16="http://schemas.microsoft.com/office/drawing/2014/main" id="{408B1FC9-0E2C-5E42-4EEE-1A1004C415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0C3C44C-7BD5-3590-D16D-11116DCE0A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F6C0E2C6-F920-127B-8310-500B9983F0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6" name="Rectangle 25">
              <a:extLst>
                <a:ext uri="{FF2B5EF4-FFF2-40B4-BE49-F238E27FC236}">
                  <a16:creationId xmlns:a16="http://schemas.microsoft.com/office/drawing/2014/main" id="{EBE67878-5B9C-EC0D-831D-7B8C48BD62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7" name="Isosceles Triangle 16">
              <a:extLst>
                <a:ext uri="{FF2B5EF4-FFF2-40B4-BE49-F238E27FC236}">
                  <a16:creationId xmlns:a16="http://schemas.microsoft.com/office/drawing/2014/main" id="{E317A761-F960-4170-2BEC-BDDC174E13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8" name="Rectangle 27">
              <a:extLst>
                <a:ext uri="{FF2B5EF4-FFF2-40B4-BE49-F238E27FC236}">
                  <a16:creationId xmlns:a16="http://schemas.microsoft.com/office/drawing/2014/main" id="{EEA29732-3BAE-74BD-C4E7-A006B03295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9" name="Rectangle 28">
              <a:extLst>
                <a:ext uri="{FF2B5EF4-FFF2-40B4-BE49-F238E27FC236}">
                  <a16:creationId xmlns:a16="http://schemas.microsoft.com/office/drawing/2014/main" id="{A4A72D34-FFF1-E8F3-04BF-21B58D78F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0" name="Rectangle 29">
              <a:extLst>
                <a:ext uri="{FF2B5EF4-FFF2-40B4-BE49-F238E27FC236}">
                  <a16:creationId xmlns:a16="http://schemas.microsoft.com/office/drawing/2014/main" id="{A560513F-7C7F-A0F6-FDE5-7756C8BA2F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1" name="Isosceles Triangle 20">
              <a:extLst>
                <a:ext uri="{FF2B5EF4-FFF2-40B4-BE49-F238E27FC236}">
                  <a16:creationId xmlns:a16="http://schemas.microsoft.com/office/drawing/2014/main" id="{3AD16A99-254B-41BF-87BA-90590D0FA7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2" name="Isosceles Triangle 21">
              <a:extLst>
                <a:ext uri="{FF2B5EF4-FFF2-40B4-BE49-F238E27FC236}">
                  <a16:creationId xmlns:a16="http://schemas.microsoft.com/office/drawing/2014/main" id="{06280142-0DCB-0E2D-3DC9-F8D41C699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grpSp>
      <p:pic>
        <p:nvPicPr>
          <p:cNvPr id="7" name="Picture 6">
            <a:extLst>
              <a:ext uri="{FF2B5EF4-FFF2-40B4-BE49-F238E27FC236}">
                <a16:creationId xmlns:a16="http://schemas.microsoft.com/office/drawing/2014/main" id="{B752CD2D-5733-2B8E-9286-B79D1F3DF4E7}"/>
              </a:ext>
              <a:ext uri="{C183D7F6-B498-43B3-948B-1728B52AA6E4}">
                <adec:decorative xmlns:adec="http://schemas.microsoft.com/office/drawing/2017/decorative" val="1"/>
              </a:ext>
            </a:extLst>
          </p:cNvPr>
          <p:cNvPicPr>
            <a:picLocks noChangeAspect="1"/>
          </p:cNvPicPr>
          <p:nvPr/>
        </p:nvPicPr>
        <p:blipFill>
          <a:blip r:embed="rId3"/>
          <a:srcRect l="19091" t="9091"/>
          <a:stretch>
            <a:fillRect/>
          </a:stretch>
        </p:blipFill>
        <p:spPr>
          <a:xfrm>
            <a:off x="20" y="10"/>
            <a:ext cx="9143980" cy="6857990"/>
          </a:xfrm>
          <a:prstGeom prst="rect">
            <a:avLst/>
          </a:prstGeom>
        </p:spPr>
      </p:pic>
      <p:sp>
        <p:nvSpPr>
          <p:cNvPr id="24" name="Isosceles Triangle 23">
            <a:extLst>
              <a:ext uri="{FF2B5EF4-FFF2-40B4-BE49-F238E27FC236}">
                <a16:creationId xmlns:a16="http://schemas.microsoft.com/office/drawing/2014/main" id="{84C24198-C594-1319-A35C-BAD2F280A1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6" name="Parallelogram 25">
            <a:extLst>
              <a:ext uri="{FF2B5EF4-FFF2-40B4-BE49-F238E27FC236}">
                <a16:creationId xmlns:a16="http://schemas.microsoft.com/office/drawing/2014/main" id="{6A4F2D18-3987-396B-E7A0-C7FF73ECC9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3405" y="0"/>
            <a:ext cx="5486400" cy="6858000"/>
          </a:xfrm>
          <a:prstGeom prst="parallelogram">
            <a:avLst>
              <a:gd name="adj" fmla="val 14937"/>
            </a:avLst>
          </a:prstGeom>
          <a:solidFill>
            <a:schemeClr val="bg1">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cxnSp>
        <p:nvCxnSpPr>
          <p:cNvPr id="28" name="Straight Connector 27">
            <a:extLst>
              <a:ext uri="{FF2B5EF4-FFF2-40B4-BE49-F238E27FC236}">
                <a16:creationId xmlns:a16="http://schemas.microsoft.com/office/drawing/2014/main" id="{FEB03C99-18A8-335C-32D3-01A48DA8DC9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F1BD33BD-4CF4-BEF0-EC0E-DD7F173C09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2" name="Rectangle 23">
            <a:extLst>
              <a:ext uri="{FF2B5EF4-FFF2-40B4-BE49-F238E27FC236}">
                <a16:creationId xmlns:a16="http://schemas.microsoft.com/office/drawing/2014/main" id="{FCE1A829-3A4A-9F2D-2E04-886562412F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4" name="Rectangle 25">
            <a:extLst>
              <a:ext uri="{FF2B5EF4-FFF2-40B4-BE49-F238E27FC236}">
                <a16:creationId xmlns:a16="http://schemas.microsoft.com/office/drawing/2014/main" id="{2B2B1685-3752-95B4-4F78-1328766DA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6" name="Isosceles Triangle 35">
            <a:extLst>
              <a:ext uri="{FF2B5EF4-FFF2-40B4-BE49-F238E27FC236}">
                <a16:creationId xmlns:a16="http://schemas.microsoft.com/office/drawing/2014/main" id="{BCFD940B-3302-4973-5D0C-7D9BF76424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 name="Title 3">
            <a:extLst>
              <a:ext uri="{FF2B5EF4-FFF2-40B4-BE49-F238E27FC236}">
                <a16:creationId xmlns:a16="http://schemas.microsoft.com/office/drawing/2014/main" id="{B29028F6-869B-4EA3-7247-2CF3F3CB04B6}"/>
              </a:ext>
            </a:extLst>
          </p:cNvPr>
          <p:cNvSpPr>
            <a:spLocks noGrp="1"/>
          </p:cNvSpPr>
          <p:nvPr>
            <p:ph type="title"/>
          </p:nvPr>
        </p:nvSpPr>
        <p:spPr>
          <a:xfrm>
            <a:off x="3528150" y="1678665"/>
            <a:ext cx="3427352" cy="2369131"/>
          </a:xfrm>
        </p:spPr>
        <p:txBody>
          <a:bodyPr vert="horz" lIns="91440" tIns="45720" rIns="91440" bIns="45720" rtlCol="0" anchor="b">
            <a:normAutofit/>
          </a:bodyPr>
          <a:lstStyle/>
          <a:p>
            <a:pPr algn="r"/>
            <a:r>
              <a:rPr lang="en-US" sz="5400" dirty="0"/>
              <a:t>Demo #2</a:t>
            </a:r>
          </a:p>
        </p:txBody>
      </p:sp>
      <p:sp>
        <p:nvSpPr>
          <p:cNvPr id="38" name="Rectangle 27">
            <a:extLst>
              <a:ext uri="{FF2B5EF4-FFF2-40B4-BE49-F238E27FC236}">
                <a16:creationId xmlns:a16="http://schemas.microsoft.com/office/drawing/2014/main" id="{8BF2565E-BB87-E82D-9BFA-CC213F582D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0" name="Rectangle 28">
            <a:extLst>
              <a:ext uri="{FF2B5EF4-FFF2-40B4-BE49-F238E27FC236}">
                <a16:creationId xmlns:a16="http://schemas.microsoft.com/office/drawing/2014/main" id="{09443D5F-672A-4E1E-0938-BDF685D1C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2" name="Rectangle 29">
            <a:extLst>
              <a:ext uri="{FF2B5EF4-FFF2-40B4-BE49-F238E27FC236}">
                <a16:creationId xmlns:a16="http://schemas.microsoft.com/office/drawing/2014/main" id="{2CF0CC90-E60F-E59A-3E8F-783E64BCD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4" name="Isosceles Triangle 43">
            <a:extLst>
              <a:ext uri="{FF2B5EF4-FFF2-40B4-BE49-F238E27FC236}">
                <a16:creationId xmlns:a16="http://schemas.microsoft.com/office/drawing/2014/main" id="{221EC232-4383-BB31-90AE-8C71078DAD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 name="TextBox 1">
            <a:extLst>
              <a:ext uri="{FF2B5EF4-FFF2-40B4-BE49-F238E27FC236}">
                <a16:creationId xmlns:a16="http://schemas.microsoft.com/office/drawing/2014/main" id="{8E2A1C9B-ABD1-E279-BD37-70809EB12AC0}"/>
              </a:ext>
            </a:extLst>
          </p:cNvPr>
          <p:cNvSpPr txBox="1"/>
          <p:nvPr/>
        </p:nvSpPr>
        <p:spPr>
          <a:xfrm>
            <a:off x="3879669" y="4558937"/>
            <a:ext cx="3320533" cy="36933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B4F8A"/>
                </a:solidFill>
                <a:effectLst/>
                <a:uLnTx/>
                <a:uFillTx/>
                <a:latin typeface="Trebuchet MS" panose="020B0603020202020204"/>
                <a:ea typeface="+mn-ea"/>
                <a:cs typeface="+mn-cs"/>
              </a:rPr>
              <a:t>“Grade Checker”</a:t>
            </a:r>
          </a:p>
        </p:txBody>
      </p:sp>
    </p:spTree>
    <p:extLst>
      <p:ext uri="{BB962C8B-B14F-4D97-AF65-F5344CB8AC3E}">
        <p14:creationId xmlns:p14="http://schemas.microsoft.com/office/powerpoint/2010/main" val="643411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312A9D-A900-39EC-1EFA-AD548E92ACA6}"/>
              </a:ext>
            </a:extLst>
          </p:cNvPr>
          <p:cNvSpPr>
            <a:spLocks noGrp="1"/>
          </p:cNvSpPr>
          <p:nvPr>
            <p:ph type="title"/>
          </p:nvPr>
        </p:nvSpPr>
        <p:spPr>
          <a:xfrm>
            <a:off x="4152550" y="609600"/>
            <a:ext cx="2802951" cy="1320800"/>
          </a:xfrm>
        </p:spPr>
        <p:txBody>
          <a:bodyPr>
            <a:normAutofit/>
          </a:bodyPr>
          <a:lstStyle/>
          <a:p>
            <a:r>
              <a:rPr lang="en-US" dirty="0"/>
              <a:t>What to watch for</a:t>
            </a:r>
          </a:p>
        </p:txBody>
      </p:sp>
      <p:sp>
        <p:nvSpPr>
          <p:cNvPr id="5" name="Content Placeholder 4">
            <a:extLst>
              <a:ext uri="{FF2B5EF4-FFF2-40B4-BE49-F238E27FC236}">
                <a16:creationId xmlns:a16="http://schemas.microsoft.com/office/drawing/2014/main" id="{B7981869-44BD-6366-C29A-B2CB8A8C432E}"/>
              </a:ext>
            </a:extLst>
          </p:cNvPr>
          <p:cNvSpPr>
            <a:spLocks noGrp="1"/>
          </p:cNvSpPr>
          <p:nvPr>
            <p:ph idx="1"/>
          </p:nvPr>
        </p:nvSpPr>
        <p:spPr>
          <a:xfrm>
            <a:off x="3907172" y="2160589"/>
            <a:ext cx="3048329" cy="3880773"/>
          </a:xfrm>
        </p:spPr>
        <p:txBody>
          <a:bodyPr>
            <a:normAutofit/>
          </a:bodyPr>
          <a:lstStyle/>
          <a:p>
            <a:pPr marL="0" indent="0">
              <a:lnSpc>
                <a:spcPct val="90000"/>
              </a:lnSpc>
              <a:buNone/>
            </a:pPr>
            <a:r>
              <a:rPr lang="en-US" dirty="0"/>
              <a:t>Change the score.</a:t>
            </a:r>
            <a:endParaRPr lang="en-US"/>
          </a:p>
          <a:p>
            <a:pPr marL="0" indent="0">
              <a:lnSpc>
                <a:spcPct val="90000"/>
              </a:lnSpc>
              <a:buNone/>
            </a:pPr>
            <a:r>
              <a:rPr lang="en-US" dirty="0"/>
              <a:t>Predict the grade branch before running the program.</a:t>
            </a:r>
            <a:endParaRPr lang="en-US"/>
          </a:p>
          <a:p>
            <a:pPr marL="0" indent="0">
              <a:lnSpc>
                <a:spcPct val="90000"/>
              </a:lnSpc>
              <a:buNone/>
            </a:pPr>
            <a:r>
              <a:rPr lang="en-US" dirty="0"/>
              <a:t>For each score, explain:</a:t>
            </a:r>
            <a:endParaRPr lang="en-US"/>
          </a:p>
          <a:p>
            <a:pPr>
              <a:lnSpc>
                <a:spcPct val="90000"/>
              </a:lnSpc>
            </a:pPr>
            <a:r>
              <a:rPr lang="en-US" dirty="0"/>
              <a:t>which condition is checked first</a:t>
            </a:r>
            <a:endParaRPr lang="en-US"/>
          </a:p>
          <a:p>
            <a:pPr>
              <a:lnSpc>
                <a:spcPct val="90000"/>
              </a:lnSpc>
            </a:pPr>
            <a:r>
              <a:rPr lang="en-US" dirty="0"/>
              <a:t>which condition becomes true</a:t>
            </a:r>
            <a:endParaRPr lang="en-US"/>
          </a:p>
          <a:p>
            <a:pPr>
              <a:lnSpc>
                <a:spcPct val="90000"/>
              </a:lnSpc>
            </a:pPr>
            <a:r>
              <a:rPr lang="en-US" dirty="0"/>
              <a:t>which grade is printed</a:t>
            </a:r>
            <a:endParaRPr lang="en-US"/>
          </a:p>
          <a:p>
            <a:pPr>
              <a:lnSpc>
                <a:spcPct val="90000"/>
              </a:lnSpc>
            </a:pPr>
            <a:r>
              <a:rPr lang="en-US" dirty="0"/>
              <a:t>why later branches do or do not run</a:t>
            </a:r>
            <a:endParaRPr lang="en-US"/>
          </a:p>
        </p:txBody>
      </p:sp>
      <p:pic>
        <p:nvPicPr>
          <p:cNvPr id="7" name="Picture 6">
            <a:extLst>
              <a:ext uri="{FF2B5EF4-FFF2-40B4-BE49-F238E27FC236}">
                <a16:creationId xmlns:a16="http://schemas.microsoft.com/office/drawing/2014/main" id="{76347893-85AD-4451-AC62-62B0694C3551}"/>
              </a:ext>
              <a:ext uri="{C183D7F6-B498-43B3-948B-1728B52AA6E4}">
                <adec:decorative xmlns:adec="http://schemas.microsoft.com/office/drawing/2017/decorative" val="1"/>
              </a:ext>
            </a:extLst>
          </p:cNvPr>
          <p:cNvPicPr>
            <a:picLocks noChangeAspect="1"/>
          </p:cNvPicPr>
          <p:nvPr/>
        </p:nvPicPr>
        <p:blipFill>
          <a:blip r:embed="rId3"/>
          <a:srcRect l="23476" r="37289"/>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2" name="Isosceles Triangle 11">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491595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82D91-1DD8-3221-A91A-963F6276CF7D}"/>
              </a:ext>
            </a:extLst>
          </p:cNvPr>
          <p:cNvSpPr>
            <a:spLocks noGrp="1"/>
          </p:cNvSpPr>
          <p:nvPr>
            <p:ph type="title"/>
          </p:nvPr>
        </p:nvSpPr>
        <p:spPr>
          <a:xfrm>
            <a:off x="3747981" y="609600"/>
            <a:ext cx="3207519" cy="1320800"/>
          </a:xfrm>
        </p:spPr>
        <p:txBody>
          <a:bodyPr anchor="ctr">
            <a:normAutofit/>
          </a:bodyPr>
          <a:lstStyle/>
          <a:p>
            <a:r>
              <a:rPr lang="en-US" dirty="0"/>
              <a:t>Branch Order Matters</a:t>
            </a:r>
          </a:p>
        </p:txBody>
      </p:sp>
      <p:pic>
        <p:nvPicPr>
          <p:cNvPr id="7" name="Graphic 6" descr="Decision chart with solid fill">
            <a:extLst>
              <a:ext uri="{FF2B5EF4-FFF2-40B4-BE49-F238E27FC236}">
                <a16:creationId xmlns:a16="http://schemas.microsoft.com/office/drawing/2014/main" id="{E8F0B3AD-F0E9-E877-B88F-D0586B5322CD}"/>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02908" y="1899262"/>
            <a:ext cx="2896429" cy="2896429"/>
          </a:xfrm>
          <a:prstGeom prst="rect">
            <a:avLst/>
          </a:prstGeom>
        </p:spPr>
      </p:pic>
      <p:sp>
        <p:nvSpPr>
          <p:cNvPr id="3" name="Content Placeholder 2">
            <a:extLst>
              <a:ext uri="{FF2B5EF4-FFF2-40B4-BE49-F238E27FC236}">
                <a16:creationId xmlns:a16="http://schemas.microsoft.com/office/drawing/2014/main" id="{3BF3F545-6B8A-6871-36A2-9F231FE290B5}"/>
              </a:ext>
            </a:extLst>
          </p:cNvPr>
          <p:cNvSpPr>
            <a:spLocks noGrp="1"/>
          </p:cNvSpPr>
          <p:nvPr>
            <p:ph idx="1"/>
          </p:nvPr>
        </p:nvSpPr>
        <p:spPr>
          <a:xfrm>
            <a:off x="3739367" y="2160589"/>
            <a:ext cx="3213882" cy="3768573"/>
          </a:xfrm>
        </p:spPr>
        <p:txBody>
          <a:bodyPr>
            <a:normAutofit/>
          </a:bodyPr>
          <a:lstStyle/>
          <a:p>
            <a:pPr marL="0" indent="0">
              <a:buNone/>
            </a:pPr>
            <a:r>
              <a:rPr lang="en-US" dirty="0"/>
              <a:t>Python checks a branch chain from top to bottom.</a:t>
            </a:r>
          </a:p>
          <a:p>
            <a:pPr marL="0" indent="0">
              <a:buNone/>
            </a:pPr>
            <a:r>
              <a:rPr lang="en-US" dirty="0"/>
              <a:t>The first matching branch wins.</a:t>
            </a:r>
          </a:p>
          <a:p>
            <a:pPr marL="0" indent="0">
              <a:buNone/>
            </a:pPr>
            <a:r>
              <a:rPr lang="en-US" dirty="0"/>
              <a:t>Order matters when more than one condition could be true.</a:t>
            </a:r>
          </a:p>
          <a:p>
            <a:pPr marL="0" indent="0">
              <a:buNone/>
            </a:pPr>
            <a:r>
              <a:rPr lang="en-US" dirty="0"/>
              <a:t>Place the most specific or highest-priority checks where they belong in the chain.</a:t>
            </a:r>
          </a:p>
        </p:txBody>
      </p:sp>
    </p:spTree>
    <p:extLst>
      <p:ext uri="{BB962C8B-B14F-4D97-AF65-F5344CB8AC3E}">
        <p14:creationId xmlns:p14="http://schemas.microsoft.com/office/powerpoint/2010/main" val="38671148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5C894-54F1-573F-F554-E757FAE7802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8AE241B-D32D-C33E-1CBB-AFF4B8AF4F9C}"/>
              </a:ext>
            </a:extLst>
          </p:cNvPr>
          <p:cNvSpPr>
            <a:spLocks noGrp="1"/>
          </p:cNvSpPr>
          <p:nvPr>
            <p:ph type="title"/>
          </p:nvPr>
        </p:nvSpPr>
        <p:spPr>
          <a:xfrm>
            <a:off x="739476" y="4782381"/>
            <a:ext cx="6216024" cy="1096648"/>
          </a:xfrm>
        </p:spPr>
        <p:txBody>
          <a:bodyPr vert="horz" lIns="91440" tIns="45720" rIns="91440" bIns="45720" rtlCol="0" anchor="b">
            <a:normAutofit fontScale="90000"/>
          </a:bodyPr>
          <a:lstStyle/>
          <a:p>
            <a:pPr algn="ctr"/>
            <a:r>
              <a:rPr lang="en-US" sz="4200" dirty="0"/>
              <a:t>Demo 2: </a:t>
            </a:r>
            <a:br>
              <a:rPr lang="en-US" sz="4200" dirty="0"/>
            </a:br>
            <a:r>
              <a:rPr lang="en-US" sz="4200" dirty="0"/>
              <a:t>Grade Check Branches</a:t>
            </a:r>
          </a:p>
        </p:txBody>
      </p:sp>
      <p:pic>
        <p:nvPicPr>
          <p:cNvPr id="5" name="Picture Placeholder 4" descr="Flowchart illustrating a grade checker that predicts letter grades based on score ranges. It highlights a selected path for a score of 84, which meets the condition score &gt;= 80, resulting in a Grade B, with other grade thresholds and outcomes shown in gray.">
            <a:extLst>
              <a:ext uri="{FF2B5EF4-FFF2-40B4-BE49-F238E27FC236}">
                <a16:creationId xmlns:a16="http://schemas.microsoft.com/office/drawing/2014/main" id="{03F26EBD-88A9-B2AE-DE05-DF558B1EB09C}"/>
              </a:ext>
            </a:extLst>
          </p:cNvPr>
          <p:cNvPicPr>
            <a:picLocks noGrp="1" noChangeAspect="1"/>
          </p:cNvPicPr>
          <p:nvPr>
            <p:ph type="pic" idx="1"/>
          </p:nvPr>
        </p:nvPicPr>
        <p:blipFill>
          <a:blip r:embed="rId3"/>
          <a:srcRect t="28571" b="28571"/>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3979908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63144F4-0FE5-F17F-73D2-3BD4A553716D}"/>
              </a:ext>
            </a:extLst>
          </p:cNvPr>
          <p:cNvSpPr>
            <a:spLocks noGrp="1"/>
          </p:cNvSpPr>
          <p:nvPr>
            <p:ph type="title"/>
          </p:nvPr>
        </p:nvSpPr>
        <p:spPr/>
        <p:txBody>
          <a:bodyPr>
            <a:normAutofit fontScale="90000"/>
          </a:bodyPr>
          <a:lstStyle/>
          <a:p>
            <a:r>
              <a:rPr lang="en-US" b="1" dirty="0"/>
              <a:t>Common Failure:</a:t>
            </a:r>
            <a:br>
              <a:rPr lang="en-US" b="1" dirty="0"/>
            </a:br>
            <a:r>
              <a:rPr lang="en-US" b="1" dirty="0"/>
              <a:t>`=` Is Not `==`</a:t>
            </a:r>
            <a:br>
              <a:rPr lang="en-US" dirty="0"/>
            </a:br>
            <a:endParaRPr lang="en-US" dirty="0"/>
          </a:p>
        </p:txBody>
      </p:sp>
      <p:sp>
        <p:nvSpPr>
          <p:cNvPr id="6" name="Content Placeholder 5">
            <a:extLst>
              <a:ext uri="{FF2B5EF4-FFF2-40B4-BE49-F238E27FC236}">
                <a16:creationId xmlns:a16="http://schemas.microsoft.com/office/drawing/2014/main" id="{33C2691A-6BEA-7DA6-E969-B2E858AD24D8}"/>
              </a:ext>
            </a:extLst>
          </p:cNvPr>
          <p:cNvSpPr>
            <a:spLocks noGrp="1"/>
          </p:cNvSpPr>
          <p:nvPr>
            <p:ph idx="1"/>
          </p:nvPr>
        </p:nvSpPr>
        <p:spPr/>
        <p:txBody>
          <a:bodyPr>
            <a:normAutofit/>
          </a:bodyPr>
          <a:lstStyle/>
          <a:p>
            <a:r>
              <a:rPr lang="en-US" dirty="0"/>
              <a:t>`=` stores a value.</a:t>
            </a:r>
          </a:p>
          <a:p>
            <a:r>
              <a:rPr lang="en-US" dirty="0"/>
              <a:t>`==` compares two values.</a:t>
            </a:r>
          </a:p>
          <a:p>
            <a:pPr marL="0" indent="0">
              <a:buNone/>
            </a:pPr>
            <a:endParaRPr lang="en-US" dirty="0"/>
          </a:p>
          <a:p>
            <a:pPr marL="0" indent="0">
              <a:buNone/>
            </a:pPr>
            <a:r>
              <a:rPr lang="en-US" dirty="0"/>
              <a:t>Example:</a:t>
            </a:r>
          </a:p>
          <a:p>
            <a:pPr marL="0" indent="0">
              <a:buNone/>
            </a:pPr>
            <a:r>
              <a:rPr lang="en-US" dirty="0"/>
              <a:t>	score = 84     # store the value</a:t>
            </a:r>
          </a:p>
          <a:p>
            <a:pPr marL="0" indent="0">
              <a:buNone/>
            </a:pPr>
            <a:r>
              <a:rPr lang="en-US" dirty="0"/>
              <a:t>	score == 84    # ask if the value matches</a:t>
            </a:r>
          </a:p>
          <a:p>
            <a:pPr marL="0" indent="0">
              <a:buNone/>
            </a:pPr>
            <a:endParaRPr lang="en-US" dirty="0"/>
          </a:p>
          <a:p>
            <a:pPr marL="0" indent="0">
              <a:buNone/>
            </a:pPr>
            <a:r>
              <a:rPr lang="en-US" dirty="0"/>
              <a:t>Mixing these up changes the meaning of the program.</a:t>
            </a:r>
          </a:p>
        </p:txBody>
      </p:sp>
    </p:spTree>
    <p:extLst>
      <p:ext uri="{BB962C8B-B14F-4D97-AF65-F5344CB8AC3E}">
        <p14:creationId xmlns:p14="http://schemas.microsoft.com/office/powerpoint/2010/main" val="17640492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A489A-1892-ECF6-B6C8-22154FC5BA8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AE598AE-D03D-8CA4-C79D-F96E95F0A965}"/>
              </a:ext>
            </a:extLst>
          </p:cNvPr>
          <p:cNvSpPr>
            <a:spLocks noGrp="1"/>
          </p:cNvSpPr>
          <p:nvPr>
            <p:ph type="title"/>
          </p:nvPr>
        </p:nvSpPr>
        <p:spPr>
          <a:xfrm>
            <a:off x="701988" y="4978324"/>
            <a:ext cx="6216024" cy="1096648"/>
          </a:xfrm>
        </p:spPr>
        <p:txBody>
          <a:bodyPr vert="horz" lIns="91440" tIns="45720" rIns="91440" bIns="45720" rtlCol="0" anchor="b">
            <a:normAutofit fontScale="90000"/>
          </a:bodyPr>
          <a:lstStyle/>
          <a:p>
            <a:pPr algn="ctr"/>
            <a:r>
              <a:rPr lang="en-US" sz="4200" dirty="0"/>
              <a:t>Common Failure: </a:t>
            </a:r>
            <a:br>
              <a:rPr lang="en-US" sz="4200" dirty="0"/>
            </a:br>
            <a:r>
              <a:rPr lang="en-US" sz="4200" dirty="0"/>
              <a:t>Equal sign</a:t>
            </a:r>
          </a:p>
        </p:txBody>
      </p:sp>
      <p:pic>
        <p:nvPicPr>
          <p:cNvPr id="5" name="Picture Placeholder 4" descr="A side-by-side infographic explains programming concepts of storing and comparing values using the variable &quot;score&quot; with the number 84. The left panel uses green tones to illustrate assigning 84 to &quot;score,&quot; while the right panel uses blue tones to show checking if &quot;score&quot; equals 84, featuring a balance scale symbolizing comparison.">
            <a:extLst>
              <a:ext uri="{FF2B5EF4-FFF2-40B4-BE49-F238E27FC236}">
                <a16:creationId xmlns:a16="http://schemas.microsoft.com/office/drawing/2014/main" id="{8A8FD654-DD66-C95D-E638-29D41CA54E96}"/>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3111410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5579E6D-5E0B-3FF5-D12C-42EA33E84EAB}"/>
              </a:ext>
            </a:extLst>
          </p:cNvPr>
          <p:cNvSpPr>
            <a:spLocks noGrp="1"/>
          </p:cNvSpPr>
          <p:nvPr>
            <p:ph type="title"/>
          </p:nvPr>
        </p:nvSpPr>
        <p:spPr/>
        <p:txBody>
          <a:bodyPr/>
          <a:lstStyle/>
          <a:p>
            <a:r>
              <a:rPr lang="en-US" dirty="0"/>
              <a:t>Common Failure: </a:t>
            </a:r>
            <a:br>
              <a:rPr lang="en-US" dirty="0"/>
            </a:br>
            <a:r>
              <a:rPr lang="en-US" dirty="0"/>
              <a:t>Indentation Changes Meaning</a:t>
            </a:r>
          </a:p>
        </p:txBody>
      </p:sp>
      <p:sp>
        <p:nvSpPr>
          <p:cNvPr id="6" name="Content Placeholder 5">
            <a:extLst>
              <a:ext uri="{FF2B5EF4-FFF2-40B4-BE49-F238E27FC236}">
                <a16:creationId xmlns:a16="http://schemas.microsoft.com/office/drawing/2014/main" id="{6286F244-8663-B5D2-A37E-0E5ABA34D737}"/>
              </a:ext>
            </a:extLst>
          </p:cNvPr>
          <p:cNvSpPr>
            <a:spLocks noGrp="1"/>
          </p:cNvSpPr>
          <p:nvPr>
            <p:ph idx="1"/>
          </p:nvPr>
        </p:nvSpPr>
        <p:spPr/>
        <p:txBody>
          <a:bodyPr>
            <a:normAutofit/>
          </a:bodyPr>
          <a:lstStyle/>
          <a:p>
            <a:pPr marL="0" indent="0">
              <a:buNone/>
            </a:pPr>
            <a:r>
              <a:rPr lang="en-US" dirty="0"/>
              <a:t>Indented lines belong to the branch.</a:t>
            </a:r>
          </a:p>
          <a:p>
            <a:pPr marL="0" indent="0">
              <a:buNone/>
            </a:pPr>
            <a:r>
              <a:rPr lang="en-US" dirty="0"/>
              <a:t>Unindented lines run after the branch is finished.</a:t>
            </a:r>
          </a:p>
          <a:p>
            <a:pPr marL="0" indent="0">
              <a:buNone/>
            </a:pPr>
            <a:endParaRPr lang="en-US" dirty="0"/>
          </a:p>
          <a:p>
            <a:pPr marL="0" indent="0">
              <a:buNone/>
            </a:pPr>
            <a:r>
              <a:rPr lang="en-US" dirty="0"/>
              <a:t>In Python, indentation is structure. (aka: “scope”)</a:t>
            </a:r>
          </a:p>
          <a:p>
            <a:pPr marL="0" indent="0">
              <a:buNone/>
            </a:pPr>
            <a:r>
              <a:rPr lang="en-US" dirty="0"/>
              <a:t>When reading a branch, ask:</a:t>
            </a:r>
          </a:p>
          <a:p>
            <a:r>
              <a:rPr lang="en-US" dirty="0"/>
              <a:t>Which lines are inside the branch?</a:t>
            </a:r>
          </a:p>
          <a:p>
            <a:r>
              <a:rPr lang="en-US" dirty="0"/>
              <a:t>Which lines run no matter what?</a:t>
            </a:r>
          </a:p>
          <a:p>
            <a:pPr marL="0" indent="0">
              <a:buNone/>
            </a:pPr>
            <a:endParaRPr lang="en-US" dirty="0"/>
          </a:p>
        </p:txBody>
      </p:sp>
    </p:spTree>
    <p:extLst>
      <p:ext uri="{BB962C8B-B14F-4D97-AF65-F5344CB8AC3E}">
        <p14:creationId xmlns:p14="http://schemas.microsoft.com/office/powerpoint/2010/main" val="2184877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1B470-FFE1-3592-6358-37436B4F7B7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2F22F17-9C86-4D1D-E216-404F46784BFC}"/>
              </a:ext>
            </a:extLst>
          </p:cNvPr>
          <p:cNvSpPr>
            <a:spLocks noGrp="1"/>
          </p:cNvSpPr>
          <p:nvPr>
            <p:ph type="title"/>
          </p:nvPr>
        </p:nvSpPr>
        <p:spPr>
          <a:xfrm>
            <a:off x="739476" y="5474712"/>
            <a:ext cx="6216024" cy="1096648"/>
          </a:xfrm>
        </p:spPr>
        <p:txBody>
          <a:bodyPr vert="horz" lIns="91440" tIns="45720" rIns="91440" bIns="45720" rtlCol="0" anchor="b">
            <a:normAutofit fontScale="90000"/>
          </a:bodyPr>
          <a:lstStyle/>
          <a:p>
            <a:r>
              <a:rPr lang="en-US" sz="4200" dirty="0"/>
              <a:t>Indentation is about “scope” (in Python)</a:t>
            </a:r>
          </a:p>
        </p:txBody>
      </p:sp>
      <p:pic>
        <p:nvPicPr>
          <p:cNvPr id="5" name="Picture Placeholder 4">
            <a:extLst>
              <a:ext uri="{FF2B5EF4-FFF2-40B4-BE49-F238E27FC236}">
                <a16:creationId xmlns:a16="http://schemas.microsoft.com/office/drawing/2014/main" id="{AE23A254-8935-E971-DC0D-A19D75658182}"/>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1510411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AF827-0A5A-D6D9-6C73-5ACE22424AF2}"/>
              </a:ext>
            </a:extLst>
          </p:cNvPr>
          <p:cNvSpPr>
            <a:spLocks noGrp="1"/>
          </p:cNvSpPr>
          <p:nvPr>
            <p:ph type="title"/>
          </p:nvPr>
        </p:nvSpPr>
        <p:spPr>
          <a:xfrm>
            <a:off x="4152550" y="609600"/>
            <a:ext cx="2802951" cy="1320800"/>
          </a:xfrm>
        </p:spPr>
        <p:txBody>
          <a:bodyPr>
            <a:normAutofit/>
          </a:bodyPr>
          <a:lstStyle/>
          <a:p>
            <a:r>
              <a:rPr lang="en-US" dirty="0"/>
              <a:t>From Demo to Lab</a:t>
            </a:r>
          </a:p>
        </p:txBody>
      </p:sp>
      <p:sp>
        <p:nvSpPr>
          <p:cNvPr id="3" name="Content Placeholder 2">
            <a:extLst>
              <a:ext uri="{FF2B5EF4-FFF2-40B4-BE49-F238E27FC236}">
                <a16:creationId xmlns:a16="http://schemas.microsoft.com/office/drawing/2014/main" id="{B08E31B9-CEED-D579-BC3C-E6F2B784D1BE}"/>
              </a:ext>
            </a:extLst>
          </p:cNvPr>
          <p:cNvSpPr>
            <a:spLocks noGrp="1"/>
          </p:cNvSpPr>
          <p:nvPr>
            <p:ph idx="1"/>
          </p:nvPr>
        </p:nvSpPr>
        <p:spPr>
          <a:xfrm>
            <a:off x="3907172" y="2160589"/>
            <a:ext cx="3048329" cy="3880773"/>
          </a:xfrm>
        </p:spPr>
        <p:txBody>
          <a:bodyPr>
            <a:normAutofit/>
          </a:bodyPr>
          <a:lstStyle/>
          <a:p>
            <a:pPr marL="0" indent="0">
              <a:lnSpc>
                <a:spcPct val="90000"/>
              </a:lnSpc>
              <a:buNone/>
            </a:pPr>
            <a:r>
              <a:rPr lang="en-US" sz="1500"/>
              <a:t>In Lab For Assignment 2:</a:t>
            </a:r>
          </a:p>
          <a:p>
            <a:pPr>
              <a:lnSpc>
                <a:spcPct val="90000"/>
              </a:lnSpc>
              <a:buFont typeface="+mj-lt"/>
              <a:buAutoNum type="arabicPeriod"/>
            </a:pPr>
            <a:r>
              <a:rPr lang="en-US" sz="1500"/>
              <a:t>Build one small program that makes a clear decision.</a:t>
            </a:r>
          </a:p>
          <a:p>
            <a:pPr>
              <a:lnSpc>
                <a:spcPct val="90000"/>
              </a:lnSpc>
              <a:buFont typeface="+mj-lt"/>
              <a:buAutoNum type="arabicPeriod"/>
            </a:pPr>
            <a:r>
              <a:rPr lang="en-US" sz="1500"/>
              <a:t>Start with two or three test values before adding more features.</a:t>
            </a:r>
          </a:p>
          <a:p>
            <a:pPr>
              <a:lnSpc>
                <a:spcPct val="90000"/>
              </a:lnSpc>
              <a:buFont typeface="+mj-lt"/>
              <a:buAutoNum type="arabicPeriod"/>
            </a:pPr>
            <a:r>
              <a:rPr lang="en-US" sz="1500"/>
              <a:t>A good first version should include:</a:t>
            </a:r>
          </a:p>
          <a:p>
            <a:pPr lvl="1">
              <a:lnSpc>
                <a:spcPct val="90000"/>
              </a:lnSpc>
            </a:pPr>
            <a:r>
              <a:rPr lang="en-US" sz="1500"/>
              <a:t>one main value to check</a:t>
            </a:r>
          </a:p>
          <a:p>
            <a:pPr lvl="1">
              <a:lnSpc>
                <a:spcPct val="90000"/>
              </a:lnSpc>
            </a:pPr>
            <a:r>
              <a:rPr lang="en-US" sz="1500"/>
              <a:t>at least one comparison</a:t>
            </a:r>
          </a:p>
          <a:p>
            <a:pPr lvl="1">
              <a:lnSpc>
                <a:spcPct val="90000"/>
              </a:lnSpc>
            </a:pPr>
            <a:r>
              <a:rPr lang="en-US" sz="1500"/>
              <a:t>at least two possible outputs</a:t>
            </a:r>
          </a:p>
          <a:p>
            <a:pPr lvl="1">
              <a:lnSpc>
                <a:spcPct val="90000"/>
              </a:lnSpc>
            </a:pPr>
            <a:r>
              <a:rPr lang="en-US" sz="1500"/>
              <a:t>readable variable names</a:t>
            </a:r>
          </a:p>
        </p:txBody>
      </p:sp>
      <p:pic>
        <p:nvPicPr>
          <p:cNvPr id="5" name="Picture 4">
            <a:extLst>
              <a:ext uri="{FF2B5EF4-FFF2-40B4-BE49-F238E27FC236}">
                <a16:creationId xmlns:a16="http://schemas.microsoft.com/office/drawing/2014/main" id="{5406C1C5-46D3-5662-C887-3DA2319E776C}"/>
              </a:ext>
              <a:ext uri="{C183D7F6-B498-43B3-948B-1728B52AA6E4}">
                <adec:decorative xmlns:adec="http://schemas.microsoft.com/office/drawing/2017/decorative" val="1"/>
              </a:ext>
            </a:extLst>
          </p:cNvPr>
          <p:cNvPicPr>
            <a:picLocks noChangeAspect="1"/>
          </p:cNvPicPr>
          <p:nvPr/>
        </p:nvPicPr>
        <p:blipFill>
          <a:blip r:embed="rId3"/>
          <a:srcRect l="51361" r="4389"/>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347200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4F755-AE1C-4C45-0943-64A30B15A16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8CC39E0-1929-8A7B-EEDF-1D245114AE48}"/>
              </a:ext>
            </a:extLst>
          </p:cNvPr>
          <p:cNvSpPr>
            <a:spLocks noGrp="1"/>
          </p:cNvSpPr>
          <p:nvPr>
            <p:ph type="title"/>
          </p:nvPr>
        </p:nvSpPr>
        <p:spPr>
          <a:xfrm>
            <a:off x="739476" y="4782381"/>
            <a:ext cx="6216024" cy="1096648"/>
          </a:xfrm>
        </p:spPr>
        <p:txBody>
          <a:bodyPr vert="horz" lIns="91440" tIns="45720" rIns="91440" bIns="45720" rtlCol="0" anchor="b">
            <a:normAutofit/>
          </a:bodyPr>
          <a:lstStyle/>
          <a:p>
            <a:r>
              <a:rPr lang="en-US" sz="4200" dirty="0"/>
              <a:t>Assignment 2</a:t>
            </a:r>
          </a:p>
        </p:txBody>
      </p:sp>
      <p:pic>
        <p:nvPicPr>
          <p:cNvPr id="5" name="Picture Placeholder 4" descr="Diagram showing four decision programs for assignments, each with input, condition, and output components. Programs include Grade Checker (score ≥ 70 for pass/fail), Eligibility Checker (age ≥ 18 for eligible/not eligible), Weather Message (temperature ≥ 75 for warm/cool), and Simple Recommendation (study hours ≥ 5 for keep it up/study more), with color-coded sections and icons.">
            <a:extLst>
              <a:ext uri="{FF2B5EF4-FFF2-40B4-BE49-F238E27FC236}">
                <a16:creationId xmlns:a16="http://schemas.microsoft.com/office/drawing/2014/main" id="{B18E8D11-49F0-4BAE-0DD7-9E3A79245A2E}"/>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1550878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D7B8F8F-4528-4480-AFA3-A006195F5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ED618D6E-3F7B-457E-B2F5-7F854344647E}"/>
              </a:ext>
            </a:extLst>
          </p:cNvPr>
          <p:cNvSpPr>
            <a:spLocks noGrp="1"/>
          </p:cNvSpPr>
          <p:nvPr>
            <p:ph type="title"/>
          </p:nvPr>
        </p:nvSpPr>
        <p:spPr>
          <a:xfrm>
            <a:off x="965199" y="609600"/>
            <a:ext cx="7648121" cy="1099457"/>
          </a:xfrm>
        </p:spPr>
        <p:txBody>
          <a:bodyPr>
            <a:normAutofit/>
          </a:bodyPr>
          <a:lstStyle/>
          <a:p>
            <a:r>
              <a:rPr lang="en-US" dirty="0"/>
              <a:t>Lab/Assignment Evidence</a:t>
            </a:r>
          </a:p>
        </p:txBody>
      </p:sp>
      <p:sp>
        <p:nvSpPr>
          <p:cNvPr id="14" name="Isosceles Triangle 13">
            <a:extLst>
              <a:ext uri="{FF2B5EF4-FFF2-40B4-BE49-F238E27FC236}">
                <a16:creationId xmlns:a16="http://schemas.microsoft.com/office/drawing/2014/main" id="{4F8B2185-AE38-43EA-9FA9-E5378AD7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Isosceles Triangle 15">
            <a:extLst>
              <a:ext uri="{FF2B5EF4-FFF2-40B4-BE49-F238E27FC236}">
                <a16:creationId xmlns:a16="http://schemas.microsoft.com/office/drawing/2014/main" id="{0D36BD5A-BF22-48CD-8A55-28B19177CE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8" name="Content Placeholder 5">
            <a:extLst>
              <a:ext uri="{FF2B5EF4-FFF2-40B4-BE49-F238E27FC236}">
                <a16:creationId xmlns:a16="http://schemas.microsoft.com/office/drawing/2014/main" id="{2C37A1C3-E3B5-6B5E-1FEA-6B5BA1BFD54F}"/>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2096585800"/>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083270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255E0-5BC0-7E61-69B7-0AE874133E1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50BD88C-A2BA-E21D-01AB-20AECD6AEFF3}"/>
              </a:ext>
            </a:extLst>
          </p:cNvPr>
          <p:cNvSpPr>
            <a:spLocks noGrp="1"/>
          </p:cNvSpPr>
          <p:nvPr>
            <p:ph type="title"/>
          </p:nvPr>
        </p:nvSpPr>
        <p:spPr>
          <a:xfrm>
            <a:off x="739476" y="4782381"/>
            <a:ext cx="6216024" cy="1096648"/>
          </a:xfrm>
        </p:spPr>
        <p:txBody>
          <a:bodyPr vert="horz" lIns="91440" tIns="45720" rIns="91440" bIns="45720" rtlCol="0" anchor="b">
            <a:normAutofit/>
          </a:bodyPr>
          <a:lstStyle/>
          <a:p>
            <a:r>
              <a:rPr lang="en-US" sz="4200" dirty="0"/>
              <a:t>Evidence Example</a:t>
            </a:r>
          </a:p>
        </p:txBody>
      </p:sp>
      <p:pic>
        <p:nvPicPr>
          <p:cNvPr id="5" name="Picture Placeholder 4" descr="Screenshot of a Python code snippet named &quot;grade_checker.py&quot; that determines pass or fail based on a score input, accompanied by test values and outputs for scores 85 and 62. The layout includes code on the left, test inputs and condition checks in the center, program outputs below, and an explanation on the right, highlighting the condition &quot;score &gt;= 70&quot; as the key decision point.">
            <a:extLst>
              <a:ext uri="{FF2B5EF4-FFF2-40B4-BE49-F238E27FC236}">
                <a16:creationId xmlns:a16="http://schemas.microsoft.com/office/drawing/2014/main" id="{761B7BF0-96FF-CFEF-1765-3D9E5568428D}"/>
              </a:ext>
            </a:extLst>
          </p:cNvPr>
          <p:cNvPicPr>
            <a:picLocks noGrp="1" noChangeAspect="1"/>
          </p:cNvPicPr>
          <p:nvPr>
            <p:ph type="pic" idx="1"/>
          </p:nvPr>
        </p:nvPicPr>
        <p:blipFill>
          <a:blip r:embed="rId3"/>
          <a:srcRect t="1786" b="1786"/>
          <a:stretch>
            <a:fillRect/>
          </a:stretch>
        </p:blipFill>
        <p:spPr>
          <a:xfrm>
            <a:off x="609600" y="609600"/>
            <a:ext cx="6400800" cy="4114800"/>
          </a:xfrm>
          <a:prstGeom prst="rect">
            <a:avLst/>
          </a:prstGeom>
        </p:spPr>
      </p:pic>
    </p:spTree>
    <p:extLst>
      <p:ext uri="{BB962C8B-B14F-4D97-AF65-F5344CB8AC3E}">
        <p14:creationId xmlns:p14="http://schemas.microsoft.com/office/powerpoint/2010/main" val="1108130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B0620F-5061-58EF-A99D-0EC500E01715}"/>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C9BB6C1-4280-FE86-43E4-0C8D489A04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3" name="Straight Connector 12">
              <a:extLst>
                <a:ext uri="{FF2B5EF4-FFF2-40B4-BE49-F238E27FC236}">
                  <a16:creationId xmlns:a16="http://schemas.microsoft.com/office/drawing/2014/main" id="{50FA810B-10A5-B330-40FD-EE6940D63E5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24066F6-9F97-162A-58EC-E79EA4BF52D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F0E7B78B-3396-674A-7E80-D7FFAD1C0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6" name="Rectangle 25">
              <a:extLst>
                <a:ext uri="{FF2B5EF4-FFF2-40B4-BE49-F238E27FC236}">
                  <a16:creationId xmlns:a16="http://schemas.microsoft.com/office/drawing/2014/main" id="{D364C627-9CBA-6DD6-9458-E7BF743023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7" name="Isosceles Triangle 16">
              <a:extLst>
                <a:ext uri="{FF2B5EF4-FFF2-40B4-BE49-F238E27FC236}">
                  <a16:creationId xmlns:a16="http://schemas.microsoft.com/office/drawing/2014/main" id="{0993A6EE-EBF8-BDCB-2120-64FC12EDE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8" name="Rectangle 27">
              <a:extLst>
                <a:ext uri="{FF2B5EF4-FFF2-40B4-BE49-F238E27FC236}">
                  <a16:creationId xmlns:a16="http://schemas.microsoft.com/office/drawing/2014/main" id="{31EAEF47-B4AD-1026-F197-12A6FDD97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19" name="Rectangle 28">
              <a:extLst>
                <a:ext uri="{FF2B5EF4-FFF2-40B4-BE49-F238E27FC236}">
                  <a16:creationId xmlns:a16="http://schemas.microsoft.com/office/drawing/2014/main" id="{73BFF5F8-ECCA-4902-5299-78FFC5D6F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0" name="Rectangle 29">
              <a:extLst>
                <a:ext uri="{FF2B5EF4-FFF2-40B4-BE49-F238E27FC236}">
                  <a16:creationId xmlns:a16="http://schemas.microsoft.com/office/drawing/2014/main" id="{D8E42CDA-5A7C-AB52-0040-FAC7305043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1" name="Isosceles Triangle 20">
              <a:extLst>
                <a:ext uri="{FF2B5EF4-FFF2-40B4-BE49-F238E27FC236}">
                  <a16:creationId xmlns:a16="http://schemas.microsoft.com/office/drawing/2014/main" id="{8C3DA10C-1509-FF1F-6398-E74481D4E6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2" name="Isosceles Triangle 21">
              <a:extLst>
                <a:ext uri="{FF2B5EF4-FFF2-40B4-BE49-F238E27FC236}">
                  <a16:creationId xmlns:a16="http://schemas.microsoft.com/office/drawing/2014/main" id="{5210DD0A-9D58-49FB-44E6-4C0633FBD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grpSp>
      <p:pic>
        <p:nvPicPr>
          <p:cNvPr id="7" name="Picture 6">
            <a:extLst>
              <a:ext uri="{FF2B5EF4-FFF2-40B4-BE49-F238E27FC236}">
                <a16:creationId xmlns:a16="http://schemas.microsoft.com/office/drawing/2014/main" id="{91A2280D-8749-64A0-7F23-FE5BCE62C9FB}"/>
              </a:ext>
              <a:ext uri="{C183D7F6-B498-43B3-948B-1728B52AA6E4}">
                <adec:decorative xmlns:adec="http://schemas.microsoft.com/office/drawing/2017/decorative" val="1"/>
              </a:ext>
            </a:extLst>
          </p:cNvPr>
          <p:cNvPicPr>
            <a:picLocks noChangeAspect="1"/>
          </p:cNvPicPr>
          <p:nvPr/>
        </p:nvPicPr>
        <p:blipFill>
          <a:blip r:embed="rId3"/>
          <a:srcRect l="19091" t="9091"/>
          <a:stretch>
            <a:fillRect/>
          </a:stretch>
        </p:blipFill>
        <p:spPr>
          <a:xfrm>
            <a:off x="20" y="10"/>
            <a:ext cx="9143980" cy="6857990"/>
          </a:xfrm>
          <a:prstGeom prst="rect">
            <a:avLst/>
          </a:prstGeom>
        </p:spPr>
      </p:pic>
      <p:sp>
        <p:nvSpPr>
          <p:cNvPr id="24" name="Isosceles Triangle 23">
            <a:extLst>
              <a:ext uri="{FF2B5EF4-FFF2-40B4-BE49-F238E27FC236}">
                <a16:creationId xmlns:a16="http://schemas.microsoft.com/office/drawing/2014/main" id="{6794D9A5-6B14-61FF-28E9-6849B45925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6" name="Parallelogram 25">
            <a:extLst>
              <a:ext uri="{FF2B5EF4-FFF2-40B4-BE49-F238E27FC236}">
                <a16:creationId xmlns:a16="http://schemas.microsoft.com/office/drawing/2014/main" id="{20640394-01D4-15F9-AE3C-014E60EAB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3405" y="0"/>
            <a:ext cx="5486400" cy="6858000"/>
          </a:xfrm>
          <a:prstGeom prst="parallelogram">
            <a:avLst>
              <a:gd name="adj" fmla="val 14937"/>
            </a:avLst>
          </a:prstGeom>
          <a:solidFill>
            <a:schemeClr val="bg1">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cxnSp>
        <p:nvCxnSpPr>
          <p:cNvPr id="28" name="Straight Connector 27">
            <a:extLst>
              <a:ext uri="{FF2B5EF4-FFF2-40B4-BE49-F238E27FC236}">
                <a16:creationId xmlns:a16="http://schemas.microsoft.com/office/drawing/2014/main" id="{0CCE0479-6623-C558-0D41-1B8BDE8BCC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A8E4B1FE-388B-D3DF-8266-098B414582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2" name="Rectangle 23">
            <a:extLst>
              <a:ext uri="{FF2B5EF4-FFF2-40B4-BE49-F238E27FC236}">
                <a16:creationId xmlns:a16="http://schemas.microsoft.com/office/drawing/2014/main" id="{EEBF0814-FDA5-9348-73FD-96B699AA2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4" name="Rectangle 25">
            <a:extLst>
              <a:ext uri="{FF2B5EF4-FFF2-40B4-BE49-F238E27FC236}">
                <a16:creationId xmlns:a16="http://schemas.microsoft.com/office/drawing/2014/main" id="{76CA1D36-8345-51E9-5B9E-380B3D0611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36" name="Isosceles Triangle 35">
            <a:extLst>
              <a:ext uri="{FF2B5EF4-FFF2-40B4-BE49-F238E27FC236}">
                <a16:creationId xmlns:a16="http://schemas.microsoft.com/office/drawing/2014/main" id="{5475FAD1-010F-3C5E-50C7-71C6EF6E07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 name="Title 3">
            <a:extLst>
              <a:ext uri="{FF2B5EF4-FFF2-40B4-BE49-F238E27FC236}">
                <a16:creationId xmlns:a16="http://schemas.microsoft.com/office/drawing/2014/main" id="{0222A657-13C7-C782-2B9D-DF87E5E551FF}"/>
              </a:ext>
            </a:extLst>
          </p:cNvPr>
          <p:cNvSpPr>
            <a:spLocks noGrp="1"/>
          </p:cNvSpPr>
          <p:nvPr>
            <p:ph type="title"/>
          </p:nvPr>
        </p:nvSpPr>
        <p:spPr>
          <a:xfrm>
            <a:off x="3528150" y="1678665"/>
            <a:ext cx="3427352" cy="2369131"/>
          </a:xfrm>
        </p:spPr>
        <p:txBody>
          <a:bodyPr vert="horz" lIns="91440" tIns="45720" rIns="91440" bIns="45720" rtlCol="0" anchor="b">
            <a:normAutofit/>
          </a:bodyPr>
          <a:lstStyle/>
          <a:p>
            <a:pPr algn="r"/>
            <a:r>
              <a:rPr lang="en-US" sz="5400" dirty="0"/>
              <a:t>Optional</a:t>
            </a:r>
            <a:br>
              <a:rPr lang="en-US" sz="5400" dirty="0"/>
            </a:br>
            <a:r>
              <a:rPr lang="en-US" sz="5400" dirty="0"/>
              <a:t>Demo #3</a:t>
            </a:r>
          </a:p>
        </p:txBody>
      </p:sp>
      <p:sp>
        <p:nvSpPr>
          <p:cNvPr id="38" name="Rectangle 27">
            <a:extLst>
              <a:ext uri="{FF2B5EF4-FFF2-40B4-BE49-F238E27FC236}">
                <a16:creationId xmlns:a16="http://schemas.microsoft.com/office/drawing/2014/main" id="{C1C58ECD-C122-2EDD-112C-26DEB70391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0" name="Rectangle 28">
            <a:extLst>
              <a:ext uri="{FF2B5EF4-FFF2-40B4-BE49-F238E27FC236}">
                <a16:creationId xmlns:a16="http://schemas.microsoft.com/office/drawing/2014/main" id="{8A7E6B4C-1B6F-5638-84E1-6DD01A6245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2" name="Rectangle 29">
            <a:extLst>
              <a:ext uri="{FF2B5EF4-FFF2-40B4-BE49-F238E27FC236}">
                <a16:creationId xmlns:a16="http://schemas.microsoft.com/office/drawing/2014/main" id="{87E857FF-672C-7978-8963-145BD42C00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44" name="Isosceles Triangle 43">
            <a:extLst>
              <a:ext uri="{FF2B5EF4-FFF2-40B4-BE49-F238E27FC236}">
                <a16:creationId xmlns:a16="http://schemas.microsoft.com/office/drawing/2014/main" id="{75267029-C52F-84AD-D3E1-A85AB1E62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rebuchet MS" panose="020B0603020202020204"/>
              <a:ea typeface="+mn-ea"/>
              <a:cs typeface="+mn-cs"/>
            </a:endParaRPr>
          </a:p>
        </p:txBody>
      </p:sp>
      <p:sp>
        <p:nvSpPr>
          <p:cNvPr id="2" name="TextBox 1">
            <a:extLst>
              <a:ext uri="{FF2B5EF4-FFF2-40B4-BE49-F238E27FC236}">
                <a16:creationId xmlns:a16="http://schemas.microsoft.com/office/drawing/2014/main" id="{057EA491-3C58-6A6D-4A99-581FD383AA43}"/>
              </a:ext>
            </a:extLst>
          </p:cNvPr>
          <p:cNvSpPr txBox="1"/>
          <p:nvPr/>
        </p:nvSpPr>
        <p:spPr>
          <a:xfrm>
            <a:off x="3879669" y="4558937"/>
            <a:ext cx="3320533" cy="36933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B4F8A"/>
                </a:solidFill>
                <a:effectLst/>
                <a:uLnTx/>
                <a:uFillTx/>
                <a:latin typeface="Trebuchet MS" panose="020B0603020202020204"/>
                <a:ea typeface="+mn-ea"/>
                <a:cs typeface="+mn-cs"/>
              </a:rPr>
              <a:t>“Discount Checker”</a:t>
            </a:r>
          </a:p>
        </p:txBody>
      </p:sp>
    </p:spTree>
    <p:extLst>
      <p:ext uri="{BB962C8B-B14F-4D97-AF65-F5344CB8AC3E}">
        <p14:creationId xmlns:p14="http://schemas.microsoft.com/office/powerpoint/2010/main" val="40451359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EAA86A-F9BA-E24B-0210-388370471F3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BC14CB7-C722-810D-823C-52E5C1A5BF6F}"/>
              </a:ext>
            </a:extLst>
          </p:cNvPr>
          <p:cNvSpPr>
            <a:spLocks noGrp="1"/>
          </p:cNvSpPr>
          <p:nvPr>
            <p:ph type="title"/>
          </p:nvPr>
        </p:nvSpPr>
        <p:spPr>
          <a:xfrm>
            <a:off x="4152550" y="609600"/>
            <a:ext cx="2802951" cy="1320800"/>
          </a:xfrm>
        </p:spPr>
        <p:txBody>
          <a:bodyPr>
            <a:normAutofit/>
          </a:bodyPr>
          <a:lstStyle/>
          <a:p>
            <a:r>
              <a:rPr lang="en-US" dirty="0"/>
              <a:t>What to watch for</a:t>
            </a:r>
          </a:p>
        </p:txBody>
      </p:sp>
      <p:sp>
        <p:nvSpPr>
          <p:cNvPr id="5" name="Content Placeholder 4">
            <a:extLst>
              <a:ext uri="{FF2B5EF4-FFF2-40B4-BE49-F238E27FC236}">
                <a16:creationId xmlns:a16="http://schemas.microsoft.com/office/drawing/2014/main" id="{87D351B1-6C38-7273-A89C-57F3A513C476}"/>
              </a:ext>
            </a:extLst>
          </p:cNvPr>
          <p:cNvSpPr>
            <a:spLocks noGrp="1"/>
          </p:cNvSpPr>
          <p:nvPr>
            <p:ph idx="1"/>
          </p:nvPr>
        </p:nvSpPr>
        <p:spPr>
          <a:xfrm>
            <a:off x="3907172" y="2160589"/>
            <a:ext cx="3048329" cy="3880773"/>
          </a:xfrm>
        </p:spPr>
        <p:txBody>
          <a:bodyPr>
            <a:normAutofit/>
          </a:bodyPr>
          <a:lstStyle/>
          <a:p>
            <a:pPr marL="0" indent="0">
              <a:lnSpc>
                <a:spcPct val="90000"/>
              </a:lnSpc>
              <a:buNone/>
            </a:pPr>
            <a:r>
              <a:rPr lang="en-US" sz="1500" dirty="0"/>
              <a:t>A practical decision program still follows the same pattern:</a:t>
            </a:r>
          </a:p>
          <a:p>
            <a:pPr marL="400050" lvl="1" indent="0">
              <a:lnSpc>
                <a:spcPct val="90000"/>
              </a:lnSpc>
              <a:buNone/>
            </a:pPr>
            <a:r>
              <a:rPr lang="en-US" sz="1500" i="1" dirty="0"/>
              <a:t>check a condition -&gt; choose a branch -&gt; show the result.</a:t>
            </a:r>
          </a:p>
          <a:p>
            <a:pPr marL="0" indent="0">
              <a:lnSpc>
                <a:spcPct val="90000"/>
              </a:lnSpc>
              <a:buNone/>
            </a:pPr>
            <a:r>
              <a:rPr lang="en-US" sz="1500" dirty="0"/>
              <a:t>In the demo, watch how the program:</a:t>
            </a:r>
          </a:p>
          <a:p>
            <a:pPr>
              <a:lnSpc>
                <a:spcPct val="90000"/>
              </a:lnSpc>
            </a:pPr>
            <a:r>
              <a:rPr lang="en-US" sz="1500" dirty="0"/>
              <a:t>checks the purchase total</a:t>
            </a:r>
          </a:p>
          <a:p>
            <a:pPr>
              <a:lnSpc>
                <a:spcPct val="90000"/>
              </a:lnSpc>
            </a:pPr>
            <a:r>
              <a:rPr lang="en-US" sz="1500" dirty="0"/>
              <a:t>decides whether a discount applies</a:t>
            </a:r>
          </a:p>
          <a:p>
            <a:pPr>
              <a:lnSpc>
                <a:spcPct val="90000"/>
              </a:lnSpc>
            </a:pPr>
            <a:r>
              <a:rPr lang="en-US" sz="1500" dirty="0"/>
              <a:t>calculates the final total only when needed</a:t>
            </a:r>
          </a:p>
          <a:p>
            <a:pPr>
              <a:lnSpc>
                <a:spcPct val="90000"/>
              </a:lnSpc>
            </a:pPr>
            <a:r>
              <a:rPr lang="en-US" sz="1500" dirty="0"/>
              <a:t>prints a result that matches the decision</a:t>
            </a:r>
          </a:p>
        </p:txBody>
      </p:sp>
      <p:pic>
        <p:nvPicPr>
          <p:cNvPr id="7" name="Picture 6">
            <a:extLst>
              <a:ext uri="{FF2B5EF4-FFF2-40B4-BE49-F238E27FC236}">
                <a16:creationId xmlns:a16="http://schemas.microsoft.com/office/drawing/2014/main" id="{9B414A4B-3CD3-D3DC-C951-4069B9E29A8F}"/>
              </a:ext>
              <a:ext uri="{C183D7F6-B498-43B3-948B-1728B52AA6E4}">
                <adec:decorative xmlns:adec="http://schemas.microsoft.com/office/drawing/2017/decorative" val="1"/>
              </a:ext>
            </a:extLst>
          </p:cNvPr>
          <p:cNvPicPr>
            <a:picLocks noChangeAspect="1"/>
          </p:cNvPicPr>
          <p:nvPr/>
        </p:nvPicPr>
        <p:blipFill>
          <a:blip r:embed="rId3"/>
          <a:srcRect l="23476" r="37289"/>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2" name="Isosceles Triangle 11">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037921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E9555-1E16-8E8B-E548-105BA59C0BD8}"/>
              </a:ext>
            </a:extLst>
          </p:cNvPr>
          <p:cNvSpPr>
            <a:spLocks noGrp="1"/>
          </p:cNvSpPr>
          <p:nvPr>
            <p:ph type="title"/>
          </p:nvPr>
        </p:nvSpPr>
        <p:spPr>
          <a:xfrm>
            <a:off x="4152550" y="609600"/>
            <a:ext cx="2802951" cy="1320800"/>
          </a:xfrm>
        </p:spPr>
        <p:txBody>
          <a:bodyPr>
            <a:normAutofit/>
          </a:bodyPr>
          <a:lstStyle/>
          <a:p>
            <a:pPr>
              <a:lnSpc>
                <a:spcPct val="90000"/>
              </a:lnSpc>
            </a:pPr>
            <a:r>
              <a:rPr lang="en-US" sz="3100" dirty="0"/>
              <a:t>Closing Success Check</a:t>
            </a:r>
          </a:p>
        </p:txBody>
      </p:sp>
      <p:sp>
        <p:nvSpPr>
          <p:cNvPr id="3" name="Content Placeholder 2">
            <a:extLst>
              <a:ext uri="{FF2B5EF4-FFF2-40B4-BE49-F238E27FC236}">
                <a16:creationId xmlns:a16="http://schemas.microsoft.com/office/drawing/2014/main" id="{77AFF21A-F8C1-15AA-C705-4530AE58A074}"/>
              </a:ext>
            </a:extLst>
          </p:cNvPr>
          <p:cNvSpPr>
            <a:spLocks noGrp="1"/>
          </p:cNvSpPr>
          <p:nvPr>
            <p:ph idx="1"/>
          </p:nvPr>
        </p:nvSpPr>
        <p:spPr>
          <a:xfrm>
            <a:off x="3907172" y="2160589"/>
            <a:ext cx="3048329" cy="3880773"/>
          </a:xfrm>
        </p:spPr>
        <p:txBody>
          <a:bodyPr>
            <a:normAutofit fontScale="92500" lnSpcReduction="20000"/>
          </a:bodyPr>
          <a:lstStyle/>
          <a:p>
            <a:pPr marL="0" indent="0">
              <a:buNone/>
            </a:pPr>
            <a:r>
              <a:rPr lang="en-US" dirty="0"/>
              <a:t>If you can predict the branch and explain the output, you understand the logic.</a:t>
            </a:r>
          </a:p>
          <a:p>
            <a:pPr marL="0" indent="0">
              <a:buNone/>
            </a:pPr>
            <a:r>
              <a:rPr lang="en-US" dirty="0"/>
              <a:t>Run the code to confirm your reasoning, not to replace it.</a:t>
            </a:r>
          </a:p>
          <a:p>
            <a:pPr marL="0" indent="0">
              <a:buNone/>
            </a:pPr>
            <a:r>
              <a:rPr lang="en-US" dirty="0"/>
              <a:t>Before submitting Assignment 2, test your program with:</a:t>
            </a:r>
          </a:p>
          <a:p>
            <a:r>
              <a:rPr lang="en-US" dirty="0"/>
              <a:t>one value that should trigger the first branch</a:t>
            </a:r>
          </a:p>
          <a:p>
            <a:r>
              <a:rPr lang="en-US" dirty="0"/>
              <a:t>one value that should trigger another branch</a:t>
            </a:r>
          </a:p>
          <a:p>
            <a:r>
              <a:rPr lang="en-US" dirty="0"/>
              <a:t>one boundary value if your decision has a cutoff</a:t>
            </a:r>
          </a:p>
        </p:txBody>
      </p:sp>
      <p:pic>
        <p:nvPicPr>
          <p:cNvPr id="5" name="Picture 4">
            <a:extLst>
              <a:ext uri="{FF2B5EF4-FFF2-40B4-BE49-F238E27FC236}">
                <a16:creationId xmlns:a16="http://schemas.microsoft.com/office/drawing/2014/main" id="{255A690D-4CB8-0C66-184B-33949F8D651C}"/>
              </a:ext>
              <a:ext uri="{C183D7F6-B498-43B3-948B-1728B52AA6E4}">
                <adec:decorative xmlns:adec="http://schemas.microsoft.com/office/drawing/2017/decorative" val="1"/>
              </a:ext>
            </a:extLst>
          </p:cNvPr>
          <p:cNvPicPr>
            <a:picLocks noChangeAspect="1"/>
          </p:cNvPicPr>
          <p:nvPr/>
        </p:nvPicPr>
        <p:blipFill>
          <a:blip r:embed="rId3"/>
          <a:srcRect l="36105" r="24512" b="-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9176188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09B7E24-271E-4A3A-9D65-EE95ED9723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3" name="Straight Connector 12">
              <a:extLst>
                <a:ext uri="{FF2B5EF4-FFF2-40B4-BE49-F238E27FC236}">
                  <a16:creationId xmlns:a16="http://schemas.microsoft.com/office/drawing/2014/main" id="{45C59434-03B2-4F06-8362-A01DD785E2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FDF3815-C9F7-4B9E-A371-DE71C4E9D1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5" name="Rectangle 23">
              <a:extLst>
                <a:ext uri="{FF2B5EF4-FFF2-40B4-BE49-F238E27FC236}">
                  <a16:creationId xmlns:a16="http://schemas.microsoft.com/office/drawing/2014/main" id="{34C30A41-6D9F-42F2-BE4A-B6D2E4400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5">
              <a:extLst>
                <a:ext uri="{FF2B5EF4-FFF2-40B4-BE49-F238E27FC236}">
                  <a16:creationId xmlns:a16="http://schemas.microsoft.com/office/drawing/2014/main" id="{8577AE11-EC00-4E67-9DDD-624E9DA12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16">
              <a:extLst>
                <a:ext uri="{FF2B5EF4-FFF2-40B4-BE49-F238E27FC236}">
                  <a16:creationId xmlns:a16="http://schemas.microsoft.com/office/drawing/2014/main" id="{406A24DE-7A6F-4459-9A79-712243D200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7">
              <a:extLst>
                <a:ext uri="{FF2B5EF4-FFF2-40B4-BE49-F238E27FC236}">
                  <a16:creationId xmlns:a16="http://schemas.microsoft.com/office/drawing/2014/main" id="{BFEBE697-7D77-4AC8-8E68-0483B47DFB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8">
              <a:extLst>
                <a:ext uri="{FF2B5EF4-FFF2-40B4-BE49-F238E27FC236}">
                  <a16:creationId xmlns:a16="http://schemas.microsoft.com/office/drawing/2014/main" id="{49FC7B15-C721-4A23-8F6A-2CFA77C614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9">
              <a:extLst>
                <a:ext uri="{FF2B5EF4-FFF2-40B4-BE49-F238E27FC236}">
                  <a16:creationId xmlns:a16="http://schemas.microsoft.com/office/drawing/2014/main" id="{164E8ACB-FC50-451D-AF0A-879ABC6EA6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Isosceles Triangle 20">
              <a:extLst>
                <a:ext uri="{FF2B5EF4-FFF2-40B4-BE49-F238E27FC236}">
                  <a16:creationId xmlns:a16="http://schemas.microsoft.com/office/drawing/2014/main" id="{D5F354A0-F0C9-4254-A913-DD68E7816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9B01B525-8D81-44A3-BC1F-C711B89D23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4" name="Title 3">
            <a:extLst>
              <a:ext uri="{FF2B5EF4-FFF2-40B4-BE49-F238E27FC236}">
                <a16:creationId xmlns:a16="http://schemas.microsoft.com/office/drawing/2014/main" id="{B291DAF8-8CBA-95A1-BEA8-AAD0C09C5642}"/>
              </a:ext>
            </a:extLst>
          </p:cNvPr>
          <p:cNvSpPr>
            <a:spLocks noGrp="1"/>
          </p:cNvSpPr>
          <p:nvPr>
            <p:ph type="title"/>
          </p:nvPr>
        </p:nvSpPr>
        <p:spPr>
          <a:xfrm>
            <a:off x="3730752" y="1265314"/>
            <a:ext cx="3572668" cy="3249131"/>
          </a:xfrm>
        </p:spPr>
        <p:txBody>
          <a:bodyPr vert="horz" lIns="91440" tIns="45720" rIns="91440" bIns="45720" rtlCol="0" anchor="b">
            <a:normAutofit/>
          </a:bodyPr>
          <a:lstStyle/>
          <a:p>
            <a:pPr>
              <a:lnSpc>
                <a:spcPct val="90000"/>
              </a:lnSpc>
            </a:pPr>
            <a:r>
              <a:rPr lang="en-US" sz="4800" dirty="0"/>
              <a:t>Thank you!</a:t>
            </a:r>
            <a:br>
              <a:rPr lang="en-US" sz="4800" dirty="0"/>
            </a:br>
            <a:br>
              <a:rPr lang="en-US" sz="4800" dirty="0"/>
            </a:br>
            <a:r>
              <a:rPr lang="en-US" sz="4800" dirty="0"/>
              <a:t>Have Fun!</a:t>
            </a:r>
          </a:p>
        </p:txBody>
      </p:sp>
      <p:sp>
        <p:nvSpPr>
          <p:cNvPr id="5" name="Text Placeholder 4">
            <a:extLst>
              <a:ext uri="{FF2B5EF4-FFF2-40B4-BE49-F238E27FC236}">
                <a16:creationId xmlns:a16="http://schemas.microsoft.com/office/drawing/2014/main" id="{8FE61A93-6BD2-677B-DBB4-F66B15926039}"/>
              </a:ext>
            </a:extLst>
          </p:cNvPr>
          <p:cNvSpPr>
            <a:spLocks noGrp="1"/>
          </p:cNvSpPr>
          <p:nvPr>
            <p:ph type="body" idx="1"/>
          </p:nvPr>
        </p:nvSpPr>
        <p:spPr>
          <a:xfrm>
            <a:off x="3730752" y="4514446"/>
            <a:ext cx="3224749" cy="871042"/>
          </a:xfrm>
        </p:spPr>
        <p:txBody>
          <a:bodyPr vert="horz" lIns="91440" tIns="45720" rIns="91440" bIns="45720" rtlCol="0" anchor="t">
            <a:normAutofit/>
          </a:bodyPr>
          <a:lstStyle/>
          <a:p>
            <a:endParaRPr lang="en-US" sz="1800"/>
          </a:p>
        </p:txBody>
      </p:sp>
      <p:sp>
        <p:nvSpPr>
          <p:cNvPr id="24" name="Isosceles Triangle 23">
            <a:extLst>
              <a:ext uri="{FF2B5EF4-FFF2-40B4-BE49-F238E27FC236}">
                <a16:creationId xmlns:a16="http://schemas.microsoft.com/office/drawing/2014/main" id="{ADC5C86B-28CE-4597-97B7-4C09E2014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80" y="1270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Graphic 8" descr="Thumbs Up Sign">
            <a:extLst>
              <a:ext uri="{FF2B5EF4-FFF2-40B4-BE49-F238E27FC236}">
                <a16:creationId xmlns:a16="http://schemas.microsoft.com/office/drawing/2014/main" id="{CD1A5982-49F4-6629-1884-3B7061C5B5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6453" y="2020850"/>
            <a:ext cx="2824269" cy="2824269"/>
          </a:xfrm>
          <a:prstGeom prst="rect">
            <a:avLst/>
          </a:prstGeom>
        </p:spPr>
      </p:pic>
    </p:spTree>
    <p:extLst>
      <p:ext uri="{BB962C8B-B14F-4D97-AF65-F5344CB8AC3E}">
        <p14:creationId xmlns:p14="http://schemas.microsoft.com/office/powerpoint/2010/main" val="842682234"/>
      </p:ext>
    </p:extLst>
  </p:cSld>
  <p:clrMapOvr>
    <a:masterClrMapping/>
  </p:clrMapOvr>
</p:sld>
</file>

<file path=ppt/theme/theme1.xml><?xml version="1.0" encoding="utf-8"?>
<a:theme xmlns:a="http://schemas.openxmlformats.org/drawingml/2006/main" name="Facet">
  <a:themeElements>
    <a:clrScheme name="Southwest Tech">
      <a:dk1>
        <a:srgbClr val="0B4F8A"/>
      </a:dk1>
      <a:lt1>
        <a:sysClr val="window" lastClr="FFFFFF"/>
      </a:lt1>
      <a:dk2>
        <a:srgbClr val="6F6F6F"/>
      </a:dk2>
      <a:lt2>
        <a:srgbClr val="F4F6F8"/>
      </a:lt2>
      <a:accent1>
        <a:srgbClr val="0B4F8A"/>
      </a:accent1>
      <a:accent2>
        <a:srgbClr val="2E73B8"/>
      </a:accent2>
      <a:accent3>
        <a:srgbClr val="F2B705"/>
      </a:accent3>
      <a:accent4>
        <a:srgbClr val="6F6F6F"/>
      </a:accent4>
      <a:accent5>
        <a:srgbClr val="2E73B8"/>
      </a:accent5>
      <a:accent6>
        <a:srgbClr val="F2B705"/>
      </a:accent6>
      <a:hlink>
        <a:srgbClr val="2E73B8"/>
      </a:hlink>
      <a:folHlink>
        <a:srgbClr val="0B4F8A"/>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TM02900688[[fn=Facet]]</Template>
  <TotalTime>10967</TotalTime>
  <Words>2477</Words>
  <Application>Microsoft Office PowerPoint</Application>
  <PresentationFormat>On-screen Show (4:3)</PresentationFormat>
  <Paragraphs>388</Paragraphs>
  <Slides>33</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Arial</vt:lpstr>
      <vt:lpstr>Trebuchet MS</vt:lpstr>
      <vt:lpstr>Wingdings 3</vt:lpstr>
      <vt:lpstr>Facet</vt:lpstr>
      <vt:lpstr>Python Programming Foundations</vt:lpstr>
      <vt:lpstr>Programs Can Choose</vt:lpstr>
      <vt:lpstr>Week 1 Becomes  Week 2</vt:lpstr>
      <vt:lpstr>What Counts as Success Today</vt:lpstr>
      <vt:lpstr>Success “Flow”</vt:lpstr>
      <vt:lpstr>What We Will Use Today</vt:lpstr>
      <vt:lpstr>Today’s Toolbox</vt:lpstr>
      <vt:lpstr>What We Will “Skip” For Now</vt:lpstr>
      <vt:lpstr>Parked Concepts</vt:lpstr>
      <vt:lpstr>Review Coding Lab</vt:lpstr>
      <vt:lpstr>Conditions Ask Questions</vt:lpstr>
      <vt:lpstr>Comparison Operators</vt:lpstr>
      <vt:lpstr>Demo #1</vt:lpstr>
      <vt:lpstr>Boolean Comparisons</vt:lpstr>
      <vt:lpstr>The `if` Statement</vt:lpstr>
      <vt:lpstr>Indention Block of the “If”</vt:lpstr>
      <vt:lpstr>`elif` and `else`</vt:lpstr>
      <vt:lpstr>Demo #2</vt:lpstr>
      <vt:lpstr>What to watch for</vt:lpstr>
      <vt:lpstr>Branch Order Matters</vt:lpstr>
      <vt:lpstr>Demo 2:  Grade Check Branches</vt:lpstr>
      <vt:lpstr>Common Failure: `=` Is Not `==` </vt:lpstr>
      <vt:lpstr>Common Failure:  Equal sign</vt:lpstr>
      <vt:lpstr>Common Failure:  Indentation Changes Meaning</vt:lpstr>
      <vt:lpstr>Indentation is about “scope” (in Python)</vt:lpstr>
      <vt:lpstr>From Demo to Lab</vt:lpstr>
      <vt:lpstr>Assignment 2</vt:lpstr>
      <vt:lpstr>Lab/Assignment Evidence</vt:lpstr>
      <vt:lpstr>Evidence Example</vt:lpstr>
      <vt:lpstr>Optional Demo #3</vt:lpstr>
      <vt:lpstr>What to watch for</vt:lpstr>
      <vt:lpstr>Closing Success Check</vt:lpstr>
      <vt:lpstr>Thank you!  Have Fun!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Cash Myers</dc:creator>
  <cp:keywords/>
  <dc:description>generated using python-pptx</dc:description>
  <cp:lastModifiedBy>Cash Myers</cp:lastModifiedBy>
  <cp:revision>135</cp:revision>
  <cp:lastPrinted>2026-06-11T19:55:58Z</cp:lastPrinted>
  <dcterms:created xsi:type="dcterms:W3CDTF">2013-01-27T09:14:16Z</dcterms:created>
  <dcterms:modified xsi:type="dcterms:W3CDTF">2026-06-16T14:39:24Z</dcterms:modified>
  <cp:category/>
</cp:coreProperties>
</file>