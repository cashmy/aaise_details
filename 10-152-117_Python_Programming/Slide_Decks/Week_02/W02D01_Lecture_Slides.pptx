
<file path=[Content_Types].xml><?xml version="1.0" encoding="utf-8"?>
<Types xmlns="http://schemas.openxmlformats.org/package/2006/content-types">
  <Default Extension="1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35"/>
  </p:notesMasterIdLst>
  <p:handoutMasterIdLst>
    <p:handoutMasterId r:id="rId36"/>
  </p:handoutMasterIdLst>
  <p:sldIdLst>
    <p:sldId id="256" r:id="rId2"/>
    <p:sldId id="467" r:id="rId3"/>
    <p:sldId id="466" r:id="rId4"/>
    <p:sldId id="488" r:id="rId5"/>
    <p:sldId id="491" r:id="rId6"/>
    <p:sldId id="260" r:id="rId7"/>
    <p:sldId id="489" r:id="rId8"/>
    <p:sldId id="364" r:id="rId9"/>
    <p:sldId id="490" r:id="rId10"/>
    <p:sldId id="322" r:id="rId11"/>
    <p:sldId id="492" r:id="rId12"/>
    <p:sldId id="377" r:id="rId13"/>
    <p:sldId id="487" r:id="rId14"/>
    <p:sldId id="378" r:id="rId15"/>
    <p:sldId id="509" r:id="rId16"/>
    <p:sldId id="417" r:id="rId17"/>
    <p:sldId id="510" r:id="rId18"/>
    <p:sldId id="500" r:id="rId19"/>
    <p:sldId id="484" r:id="rId20"/>
    <p:sldId id="501" r:id="rId21"/>
    <p:sldId id="494" r:id="rId22"/>
    <p:sldId id="502" r:id="rId23"/>
    <p:sldId id="495" r:id="rId24"/>
    <p:sldId id="503" r:id="rId25"/>
    <p:sldId id="496" r:id="rId26"/>
    <p:sldId id="307" r:id="rId27"/>
    <p:sldId id="497" r:id="rId28"/>
    <p:sldId id="504" r:id="rId29"/>
    <p:sldId id="499" r:id="rId30"/>
    <p:sldId id="505" r:id="rId31"/>
    <p:sldId id="507" r:id="rId32"/>
    <p:sldId id="508" r:id="rId33"/>
    <p:sldId id="320" r:id="rId34"/>
  </p:sldIdLst>
  <p:sldSz cx="9144000" cy="6858000" type="screen4x3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68900" autoAdjust="0"/>
  </p:normalViewPr>
  <p:slideViewPr>
    <p:cSldViewPr snapToGrid="0" snapToObjects="1">
      <p:cViewPr varScale="1">
        <p:scale>
          <a:sx n="73" d="100"/>
          <a:sy n="73" d="100"/>
        </p:scale>
        <p:origin x="1812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0" d="100"/>
          <a:sy n="80" d="100"/>
        </p:scale>
        <p:origin x="4002" y="11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5967E09-9C24-411B-B60E-94008BA44487}" type="doc">
      <dgm:prSet loTypeId="urn:microsoft.com/office/officeart/2005/8/layout/process4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4FD87A05-8915-4FA1-8D2A-2D8D489A3082}">
      <dgm:prSet/>
      <dgm:spPr/>
      <dgm:t>
        <a:bodyPr/>
        <a:lstStyle/>
        <a:p>
          <a:r>
            <a:rPr lang="en-US" i="1"/>
            <a:t>Condition checked -&gt; branch selected -&gt; output shown.</a:t>
          </a:r>
          <a:endParaRPr lang="en-US"/>
        </a:p>
      </dgm:t>
    </dgm:pt>
    <dgm:pt modelId="{D14C4623-C04E-47C2-86EC-2F11AFE3FB99}" type="parTrans" cxnId="{4F482957-197C-442C-94E5-709C9DECA4C0}">
      <dgm:prSet/>
      <dgm:spPr/>
      <dgm:t>
        <a:bodyPr/>
        <a:lstStyle/>
        <a:p>
          <a:endParaRPr lang="en-US"/>
        </a:p>
      </dgm:t>
    </dgm:pt>
    <dgm:pt modelId="{7E45B935-D690-4886-ADF7-BB9407FE2AB1}" type="sibTrans" cxnId="{4F482957-197C-442C-94E5-709C9DECA4C0}">
      <dgm:prSet/>
      <dgm:spPr/>
      <dgm:t>
        <a:bodyPr/>
        <a:lstStyle/>
        <a:p>
          <a:endParaRPr lang="en-US"/>
        </a:p>
      </dgm:t>
    </dgm:pt>
    <dgm:pt modelId="{C207F662-73AF-4A15-B4B6-7ED3144EB32E}">
      <dgm:prSet/>
      <dgm:spPr/>
      <dgm:t>
        <a:bodyPr/>
        <a:lstStyle/>
        <a:p>
          <a:r>
            <a:rPr lang="en-US" dirty="0"/>
            <a:t>If you can predict that path,</a:t>
          </a:r>
          <a:br>
            <a:rPr lang="en-US" dirty="0"/>
          </a:br>
          <a:r>
            <a:rPr lang="en-US" dirty="0"/>
            <a:t>you understand the decision logic.</a:t>
          </a:r>
        </a:p>
      </dgm:t>
    </dgm:pt>
    <dgm:pt modelId="{9021A95C-3641-41E2-B29D-5B6DC0528B8C}" type="parTrans" cxnId="{0121CB12-C36C-4E1F-8A46-EE19AA71C9B5}">
      <dgm:prSet/>
      <dgm:spPr/>
      <dgm:t>
        <a:bodyPr/>
        <a:lstStyle/>
        <a:p>
          <a:endParaRPr lang="en-US"/>
        </a:p>
      </dgm:t>
    </dgm:pt>
    <dgm:pt modelId="{A66328E2-5123-438C-9B2D-B775225C3C40}" type="sibTrans" cxnId="{0121CB12-C36C-4E1F-8A46-EE19AA71C9B5}">
      <dgm:prSet/>
      <dgm:spPr/>
      <dgm:t>
        <a:bodyPr/>
        <a:lstStyle/>
        <a:p>
          <a:endParaRPr lang="en-US"/>
        </a:p>
      </dgm:t>
    </dgm:pt>
    <dgm:pt modelId="{4203C74E-94E9-4DBB-8DA6-5835DDAD8B88}">
      <dgm:prSet/>
      <dgm:spPr/>
      <dgm:t>
        <a:bodyPr/>
        <a:lstStyle/>
        <a:p>
          <a:r>
            <a:rPr lang="en-US"/>
            <a:t>For every decision program, practice asking:</a:t>
          </a:r>
        </a:p>
      </dgm:t>
    </dgm:pt>
    <dgm:pt modelId="{98231DBA-040B-4285-8305-2DAC0379630A}" type="parTrans" cxnId="{0DF3F14F-7B24-4F75-AF39-FEC47790B7BA}">
      <dgm:prSet/>
      <dgm:spPr/>
      <dgm:t>
        <a:bodyPr/>
        <a:lstStyle/>
        <a:p>
          <a:endParaRPr lang="en-US"/>
        </a:p>
      </dgm:t>
    </dgm:pt>
    <dgm:pt modelId="{3E0B42B1-2658-496E-87ED-D6753D4A9F36}" type="sibTrans" cxnId="{0DF3F14F-7B24-4F75-AF39-FEC47790B7BA}">
      <dgm:prSet/>
      <dgm:spPr/>
      <dgm:t>
        <a:bodyPr/>
        <a:lstStyle/>
        <a:p>
          <a:endParaRPr lang="en-US"/>
        </a:p>
      </dgm:t>
    </dgm:pt>
    <dgm:pt modelId="{8EA88138-92B1-4D1C-9155-EFDD3D67A019}">
      <dgm:prSet/>
      <dgm:spPr/>
      <dgm:t>
        <a:bodyPr/>
        <a:lstStyle/>
        <a:p>
          <a:r>
            <a:rPr lang="en-US"/>
            <a:t>- What condition is checked?</a:t>
          </a:r>
        </a:p>
      </dgm:t>
    </dgm:pt>
    <dgm:pt modelId="{1EE85542-A0C7-4437-8086-600D9DC6B4A0}" type="parTrans" cxnId="{0328C683-A417-4845-9145-2037538CC201}">
      <dgm:prSet/>
      <dgm:spPr/>
      <dgm:t>
        <a:bodyPr/>
        <a:lstStyle/>
        <a:p>
          <a:endParaRPr lang="en-US"/>
        </a:p>
      </dgm:t>
    </dgm:pt>
    <dgm:pt modelId="{C18E0EC9-79A2-4BA3-956A-DAAC052C8784}" type="sibTrans" cxnId="{0328C683-A417-4845-9145-2037538CC201}">
      <dgm:prSet/>
      <dgm:spPr/>
      <dgm:t>
        <a:bodyPr/>
        <a:lstStyle/>
        <a:p>
          <a:endParaRPr lang="en-US"/>
        </a:p>
      </dgm:t>
    </dgm:pt>
    <dgm:pt modelId="{0BAFB19B-7824-4632-AE2C-8FC5A666BAF3}">
      <dgm:prSet/>
      <dgm:spPr/>
      <dgm:t>
        <a:bodyPr/>
        <a:lstStyle/>
        <a:p>
          <a:r>
            <a:rPr lang="en-US"/>
            <a:t>- Is the condition `True` or `False`?</a:t>
          </a:r>
        </a:p>
      </dgm:t>
    </dgm:pt>
    <dgm:pt modelId="{47BCD450-A8B9-450F-B84F-303E2F4C0A2E}" type="parTrans" cxnId="{5582EBAB-5F21-4116-9C15-3E9A48C43EC8}">
      <dgm:prSet/>
      <dgm:spPr/>
      <dgm:t>
        <a:bodyPr/>
        <a:lstStyle/>
        <a:p>
          <a:endParaRPr lang="en-US"/>
        </a:p>
      </dgm:t>
    </dgm:pt>
    <dgm:pt modelId="{1A0C28DA-01D2-42D3-9BE5-C51F4602B770}" type="sibTrans" cxnId="{5582EBAB-5F21-4116-9C15-3E9A48C43EC8}">
      <dgm:prSet/>
      <dgm:spPr/>
      <dgm:t>
        <a:bodyPr/>
        <a:lstStyle/>
        <a:p>
          <a:endParaRPr lang="en-US"/>
        </a:p>
      </dgm:t>
    </dgm:pt>
    <dgm:pt modelId="{7E413502-7B74-4F8C-ACC2-199F8D8D084D}">
      <dgm:prSet/>
      <dgm:spPr/>
      <dgm:t>
        <a:bodyPr/>
        <a:lstStyle/>
        <a:p>
          <a:r>
            <a:rPr lang="en-US"/>
            <a:t>- Which branch runs?</a:t>
          </a:r>
        </a:p>
      </dgm:t>
    </dgm:pt>
    <dgm:pt modelId="{0F7EB678-158B-425F-B00D-CCC62D221881}" type="parTrans" cxnId="{0F248300-CAFF-426A-A8D9-BF5C88B593AC}">
      <dgm:prSet/>
      <dgm:spPr/>
      <dgm:t>
        <a:bodyPr/>
        <a:lstStyle/>
        <a:p>
          <a:endParaRPr lang="en-US"/>
        </a:p>
      </dgm:t>
    </dgm:pt>
    <dgm:pt modelId="{8CFB0C5A-15D9-42E2-B034-067EDB6DCD25}" type="sibTrans" cxnId="{0F248300-CAFF-426A-A8D9-BF5C88B593AC}">
      <dgm:prSet/>
      <dgm:spPr/>
      <dgm:t>
        <a:bodyPr/>
        <a:lstStyle/>
        <a:p>
          <a:endParaRPr lang="en-US"/>
        </a:p>
      </dgm:t>
    </dgm:pt>
    <dgm:pt modelId="{4030D6FA-6B68-4A5C-ACFA-2EF185B82F2E}">
      <dgm:prSet/>
      <dgm:spPr/>
      <dgm:t>
        <a:bodyPr/>
        <a:lstStyle/>
        <a:p>
          <a:r>
            <a:rPr lang="en-US"/>
            <a:t>- What output should appear?</a:t>
          </a:r>
        </a:p>
      </dgm:t>
    </dgm:pt>
    <dgm:pt modelId="{7DBFFD4A-D049-407E-BFEE-B84043B3D238}" type="parTrans" cxnId="{AA699FDF-2E80-4CBF-B45D-690F25DB4237}">
      <dgm:prSet/>
      <dgm:spPr/>
      <dgm:t>
        <a:bodyPr/>
        <a:lstStyle/>
        <a:p>
          <a:endParaRPr lang="en-US"/>
        </a:p>
      </dgm:t>
    </dgm:pt>
    <dgm:pt modelId="{7407B377-A421-452C-8565-0D5DF8D4C061}" type="sibTrans" cxnId="{AA699FDF-2E80-4CBF-B45D-690F25DB4237}">
      <dgm:prSet/>
      <dgm:spPr/>
      <dgm:t>
        <a:bodyPr/>
        <a:lstStyle/>
        <a:p>
          <a:endParaRPr lang="en-US"/>
        </a:p>
      </dgm:t>
    </dgm:pt>
    <dgm:pt modelId="{0CFB8C0E-9F0D-4EAD-8C94-0A64F1EA271A}" type="pres">
      <dgm:prSet presAssocID="{75967E09-9C24-411B-B60E-94008BA44487}" presName="Name0" presStyleCnt="0">
        <dgm:presLayoutVars>
          <dgm:dir/>
          <dgm:animLvl val="lvl"/>
          <dgm:resizeHandles val="exact"/>
        </dgm:presLayoutVars>
      </dgm:prSet>
      <dgm:spPr/>
    </dgm:pt>
    <dgm:pt modelId="{3A9B6CEC-6514-417B-82DD-3159CE8F7C0E}" type="pres">
      <dgm:prSet presAssocID="{4203C74E-94E9-4DBB-8DA6-5835DDAD8B88}" presName="boxAndChildren" presStyleCnt="0"/>
      <dgm:spPr/>
    </dgm:pt>
    <dgm:pt modelId="{9767B1D0-94C8-4897-9B8F-79FA7173631C}" type="pres">
      <dgm:prSet presAssocID="{4203C74E-94E9-4DBB-8DA6-5835DDAD8B88}" presName="parentTextBox" presStyleLbl="node1" presStyleIdx="0" presStyleCnt="3"/>
      <dgm:spPr/>
    </dgm:pt>
    <dgm:pt modelId="{F9FB3552-B3B1-47CC-BD63-FE26EEB1A3D8}" type="pres">
      <dgm:prSet presAssocID="{4203C74E-94E9-4DBB-8DA6-5835DDAD8B88}" presName="entireBox" presStyleLbl="node1" presStyleIdx="0" presStyleCnt="3"/>
      <dgm:spPr/>
    </dgm:pt>
    <dgm:pt modelId="{86ABBDF6-8D65-43EF-95C6-64496334E6CA}" type="pres">
      <dgm:prSet presAssocID="{4203C74E-94E9-4DBB-8DA6-5835DDAD8B88}" presName="descendantBox" presStyleCnt="0"/>
      <dgm:spPr/>
    </dgm:pt>
    <dgm:pt modelId="{1759F7EC-0E76-42FA-BFBE-0F015A004539}" type="pres">
      <dgm:prSet presAssocID="{8EA88138-92B1-4D1C-9155-EFDD3D67A019}" presName="childTextBox" presStyleLbl="fgAccFollowNode1" presStyleIdx="0" presStyleCnt="4">
        <dgm:presLayoutVars>
          <dgm:bulletEnabled val="1"/>
        </dgm:presLayoutVars>
      </dgm:prSet>
      <dgm:spPr/>
    </dgm:pt>
    <dgm:pt modelId="{8A8B1CF9-B514-4BFB-A957-A922192CE26B}" type="pres">
      <dgm:prSet presAssocID="{0BAFB19B-7824-4632-AE2C-8FC5A666BAF3}" presName="childTextBox" presStyleLbl="fgAccFollowNode1" presStyleIdx="1" presStyleCnt="4">
        <dgm:presLayoutVars>
          <dgm:bulletEnabled val="1"/>
        </dgm:presLayoutVars>
      </dgm:prSet>
      <dgm:spPr/>
    </dgm:pt>
    <dgm:pt modelId="{1FD6D738-CED6-42FC-BF8F-2530D0989DE5}" type="pres">
      <dgm:prSet presAssocID="{7E413502-7B74-4F8C-ACC2-199F8D8D084D}" presName="childTextBox" presStyleLbl="fgAccFollowNode1" presStyleIdx="2" presStyleCnt="4">
        <dgm:presLayoutVars>
          <dgm:bulletEnabled val="1"/>
        </dgm:presLayoutVars>
      </dgm:prSet>
      <dgm:spPr/>
    </dgm:pt>
    <dgm:pt modelId="{4DF9B5DD-AE57-416B-A0C7-227959D8B4DD}" type="pres">
      <dgm:prSet presAssocID="{4030D6FA-6B68-4A5C-ACFA-2EF185B82F2E}" presName="childTextBox" presStyleLbl="fgAccFollowNode1" presStyleIdx="3" presStyleCnt="4">
        <dgm:presLayoutVars>
          <dgm:bulletEnabled val="1"/>
        </dgm:presLayoutVars>
      </dgm:prSet>
      <dgm:spPr/>
    </dgm:pt>
    <dgm:pt modelId="{DE442732-F636-4F8E-9AD3-4A11D5C67D9B}" type="pres">
      <dgm:prSet presAssocID="{A66328E2-5123-438C-9B2D-B775225C3C40}" presName="sp" presStyleCnt="0"/>
      <dgm:spPr/>
    </dgm:pt>
    <dgm:pt modelId="{473E1F0B-A912-4341-9295-EF2261809F5C}" type="pres">
      <dgm:prSet presAssocID="{C207F662-73AF-4A15-B4B6-7ED3144EB32E}" presName="arrowAndChildren" presStyleCnt="0"/>
      <dgm:spPr/>
    </dgm:pt>
    <dgm:pt modelId="{35507D41-5AD4-4936-B2DB-29FA82F01297}" type="pres">
      <dgm:prSet presAssocID="{C207F662-73AF-4A15-B4B6-7ED3144EB32E}" presName="parentTextArrow" presStyleLbl="node1" presStyleIdx="1" presStyleCnt="3"/>
      <dgm:spPr/>
    </dgm:pt>
    <dgm:pt modelId="{FD5F4466-96CC-4D4E-92AB-32E9F29BC14B}" type="pres">
      <dgm:prSet presAssocID="{7E45B935-D690-4886-ADF7-BB9407FE2AB1}" presName="sp" presStyleCnt="0"/>
      <dgm:spPr/>
    </dgm:pt>
    <dgm:pt modelId="{BC3F124D-F875-4626-81DB-57BEB87F95DD}" type="pres">
      <dgm:prSet presAssocID="{4FD87A05-8915-4FA1-8D2A-2D8D489A3082}" presName="arrowAndChildren" presStyleCnt="0"/>
      <dgm:spPr/>
    </dgm:pt>
    <dgm:pt modelId="{FA43E46B-205F-438C-A64C-502CBE29CDBC}" type="pres">
      <dgm:prSet presAssocID="{4FD87A05-8915-4FA1-8D2A-2D8D489A3082}" presName="parentTextArrow" presStyleLbl="node1" presStyleIdx="2" presStyleCnt="3"/>
      <dgm:spPr/>
    </dgm:pt>
  </dgm:ptLst>
  <dgm:cxnLst>
    <dgm:cxn modelId="{0F248300-CAFF-426A-A8D9-BF5C88B593AC}" srcId="{4203C74E-94E9-4DBB-8DA6-5835DDAD8B88}" destId="{7E413502-7B74-4F8C-ACC2-199F8D8D084D}" srcOrd="2" destOrd="0" parTransId="{0F7EB678-158B-425F-B00D-CCC62D221881}" sibTransId="{8CFB0C5A-15D9-42E2-B034-067EDB6DCD25}"/>
    <dgm:cxn modelId="{9A1D5404-01C7-4A32-A7C3-3954959657ED}" type="presOf" srcId="{0BAFB19B-7824-4632-AE2C-8FC5A666BAF3}" destId="{8A8B1CF9-B514-4BFB-A957-A922192CE26B}" srcOrd="0" destOrd="0" presId="urn:microsoft.com/office/officeart/2005/8/layout/process4"/>
    <dgm:cxn modelId="{0121CB12-C36C-4E1F-8A46-EE19AA71C9B5}" srcId="{75967E09-9C24-411B-B60E-94008BA44487}" destId="{C207F662-73AF-4A15-B4B6-7ED3144EB32E}" srcOrd="1" destOrd="0" parTransId="{9021A95C-3641-41E2-B29D-5B6DC0528B8C}" sibTransId="{A66328E2-5123-438C-9B2D-B775225C3C40}"/>
    <dgm:cxn modelId="{8552693D-F4F7-4F4A-AB9D-DAF3FCDFF990}" type="presOf" srcId="{4030D6FA-6B68-4A5C-ACFA-2EF185B82F2E}" destId="{4DF9B5DD-AE57-416B-A0C7-227959D8B4DD}" srcOrd="0" destOrd="0" presId="urn:microsoft.com/office/officeart/2005/8/layout/process4"/>
    <dgm:cxn modelId="{B1AC6064-1924-4851-92F8-620E7D0B03FF}" type="presOf" srcId="{4203C74E-94E9-4DBB-8DA6-5835DDAD8B88}" destId="{F9FB3552-B3B1-47CC-BD63-FE26EEB1A3D8}" srcOrd="1" destOrd="0" presId="urn:microsoft.com/office/officeart/2005/8/layout/process4"/>
    <dgm:cxn modelId="{D792EC66-DB4F-43E3-89EC-508B82F4901B}" type="presOf" srcId="{C207F662-73AF-4A15-B4B6-7ED3144EB32E}" destId="{35507D41-5AD4-4936-B2DB-29FA82F01297}" srcOrd="0" destOrd="0" presId="urn:microsoft.com/office/officeart/2005/8/layout/process4"/>
    <dgm:cxn modelId="{FF2EEB4E-DB1E-4A57-BF54-11E024E07B0A}" type="presOf" srcId="{8EA88138-92B1-4D1C-9155-EFDD3D67A019}" destId="{1759F7EC-0E76-42FA-BFBE-0F015A004539}" srcOrd="0" destOrd="0" presId="urn:microsoft.com/office/officeart/2005/8/layout/process4"/>
    <dgm:cxn modelId="{0DF3F14F-7B24-4F75-AF39-FEC47790B7BA}" srcId="{75967E09-9C24-411B-B60E-94008BA44487}" destId="{4203C74E-94E9-4DBB-8DA6-5835DDAD8B88}" srcOrd="2" destOrd="0" parTransId="{98231DBA-040B-4285-8305-2DAC0379630A}" sibTransId="{3E0B42B1-2658-496E-87ED-D6753D4A9F36}"/>
    <dgm:cxn modelId="{E9904876-3965-4F67-A728-09E1D3725302}" type="presOf" srcId="{75967E09-9C24-411B-B60E-94008BA44487}" destId="{0CFB8C0E-9F0D-4EAD-8C94-0A64F1EA271A}" srcOrd="0" destOrd="0" presId="urn:microsoft.com/office/officeart/2005/8/layout/process4"/>
    <dgm:cxn modelId="{4F482957-197C-442C-94E5-709C9DECA4C0}" srcId="{75967E09-9C24-411B-B60E-94008BA44487}" destId="{4FD87A05-8915-4FA1-8D2A-2D8D489A3082}" srcOrd="0" destOrd="0" parTransId="{D14C4623-C04E-47C2-86EC-2F11AFE3FB99}" sibTransId="{7E45B935-D690-4886-ADF7-BB9407FE2AB1}"/>
    <dgm:cxn modelId="{0328C683-A417-4845-9145-2037538CC201}" srcId="{4203C74E-94E9-4DBB-8DA6-5835DDAD8B88}" destId="{8EA88138-92B1-4D1C-9155-EFDD3D67A019}" srcOrd="0" destOrd="0" parTransId="{1EE85542-A0C7-4437-8086-600D9DC6B4A0}" sibTransId="{C18E0EC9-79A2-4BA3-956A-DAAC052C8784}"/>
    <dgm:cxn modelId="{5582EBAB-5F21-4116-9C15-3E9A48C43EC8}" srcId="{4203C74E-94E9-4DBB-8DA6-5835DDAD8B88}" destId="{0BAFB19B-7824-4632-AE2C-8FC5A666BAF3}" srcOrd="1" destOrd="0" parTransId="{47BCD450-A8B9-450F-B84F-303E2F4C0A2E}" sibTransId="{1A0C28DA-01D2-42D3-9BE5-C51F4602B770}"/>
    <dgm:cxn modelId="{D1C398BF-D5A2-4E59-9D62-B410D39B5881}" type="presOf" srcId="{7E413502-7B74-4F8C-ACC2-199F8D8D084D}" destId="{1FD6D738-CED6-42FC-BF8F-2530D0989DE5}" srcOrd="0" destOrd="0" presId="urn:microsoft.com/office/officeart/2005/8/layout/process4"/>
    <dgm:cxn modelId="{AA699FDF-2E80-4CBF-B45D-690F25DB4237}" srcId="{4203C74E-94E9-4DBB-8DA6-5835DDAD8B88}" destId="{4030D6FA-6B68-4A5C-ACFA-2EF185B82F2E}" srcOrd="3" destOrd="0" parTransId="{7DBFFD4A-D049-407E-BFEE-B84043B3D238}" sibTransId="{7407B377-A421-452C-8565-0D5DF8D4C061}"/>
    <dgm:cxn modelId="{388237E3-2E5D-4899-99E5-8325071B6738}" type="presOf" srcId="{4203C74E-94E9-4DBB-8DA6-5835DDAD8B88}" destId="{9767B1D0-94C8-4897-9B8F-79FA7173631C}" srcOrd="0" destOrd="0" presId="urn:microsoft.com/office/officeart/2005/8/layout/process4"/>
    <dgm:cxn modelId="{30E184E8-032E-4F44-9FCC-074C74101AEB}" type="presOf" srcId="{4FD87A05-8915-4FA1-8D2A-2D8D489A3082}" destId="{FA43E46B-205F-438C-A64C-502CBE29CDBC}" srcOrd="0" destOrd="0" presId="urn:microsoft.com/office/officeart/2005/8/layout/process4"/>
    <dgm:cxn modelId="{CD2BAEAF-6FC7-41FB-8057-00B39DC91B5E}" type="presParOf" srcId="{0CFB8C0E-9F0D-4EAD-8C94-0A64F1EA271A}" destId="{3A9B6CEC-6514-417B-82DD-3159CE8F7C0E}" srcOrd="0" destOrd="0" presId="urn:microsoft.com/office/officeart/2005/8/layout/process4"/>
    <dgm:cxn modelId="{8208781A-1285-4751-A831-3B50D790F4E0}" type="presParOf" srcId="{3A9B6CEC-6514-417B-82DD-3159CE8F7C0E}" destId="{9767B1D0-94C8-4897-9B8F-79FA7173631C}" srcOrd="0" destOrd="0" presId="urn:microsoft.com/office/officeart/2005/8/layout/process4"/>
    <dgm:cxn modelId="{C884C0DD-F76C-406E-8575-A56F15AF311A}" type="presParOf" srcId="{3A9B6CEC-6514-417B-82DD-3159CE8F7C0E}" destId="{F9FB3552-B3B1-47CC-BD63-FE26EEB1A3D8}" srcOrd="1" destOrd="0" presId="urn:microsoft.com/office/officeart/2005/8/layout/process4"/>
    <dgm:cxn modelId="{D39A80AA-78DD-4AEB-AE11-9CE55384DC3D}" type="presParOf" srcId="{3A9B6CEC-6514-417B-82DD-3159CE8F7C0E}" destId="{86ABBDF6-8D65-43EF-95C6-64496334E6CA}" srcOrd="2" destOrd="0" presId="urn:microsoft.com/office/officeart/2005/8/layout/process4"/>
    <dgm:cxn modelId="{6D2EAB25-2409-4455-A905-10185ED0CCAB}" type="presParOf" srcId="{86ABBDF6-8D65-43EF-95C6-64496334E6CA}" destId="{1759F7EC-0E76-42FA-BFBE-0F015A004539}" srcOrd="0" destOrd="0" presId="urn:microsoft.com/office/officeart/2005/8/layout/process4"/>
    <dgm:cxn modelId="{7C24568F-861B-412E-AE80-7876E4D7BC81}" type="presParOf" srcId="{86ABBDF6-8D65-43EF-95C6-64496334E6CA}" destId="{8A8B1CF9-B514-4BFB-A957-A922192CE26B}" srcOrd="1" destOrd="0" presId="urn:microsoft.com/office/officeart/2005/8/layout/process4"/>
    <dgm:cxn modelId="{36BD6C0C-4000-4DA1-8ABD-C08BA983489B}" type="presParOf" srcId="{86ABBDF6-8D65-43EF-95C6-64496334E6CA}" destId="{1FD6D738-CED6-42FC-BF8F-2530D0989DE5}" srcOrd="2" destOrd="0" presId="urn:microsoft.com/office/officeart/2005/8/layout/process4"/>
    <dgm:cxn modelId="{998BBAB4-490D-48AD-9478-331A8C808D52}" type="presParOf" srcId="{86ABBDF6-8D65-43EF-95C6-64496334E6CA}" destId="{4DF9B5DD-AE57-416B-A0C7-227959D8B4DD}" srcOrd="3" destOrd="0" presId="urn:microsoft.com/office/officeart/2005/8/layout/process4"/>
    <dgm:cxn modelId="{0E0D8896-BAD7-44AA-91E9-153B68AA861A}" type="presParOf" srcId="{0CFB8C0E-9F0D-4EAD-8C94-0A64F1EA271A}" destId="{DE442732-F636-4F8E-9AD3-4A11D5C67D9B}" srcOrd="1" destOrd="0" presId="urn:microsoft.com/office/officeart/2005/8/layout/process4"/>
    <dgm:cxn modelId="{0706B13D-0B47-4C3A-AD74-EA249CB6F360}" type="presParOf" srcId="{0CFB8C0E-9F0D-4EAD-8C94-0A64F1EA271A}" destId="{473E1F0B-A912-4341-9295-EF2261809F5C}" srcOrd="2" destOrd="0" presId="urn:microsoft.com/office/officeart/2005/8/layout/process4"/>
    <dgm:cxn modelId="{6F3C7A1B-220F-4B16-9FDE-7DEA18070785}" type="presParOf" srcId="{473E1F0B-A912-4341-9295-EF2261809F5C}" destId="{35507D41-5AD4-4936-B2DB-29FA82F01297}" srcOrd="0" destOrd="0" presId="urn:microsoft.com/office/officeart/2005/8/layout/process4"/>
    <dgm:cxn modelId="{7ED27D5E-ED38-43EB-A6FC-5ED906F720D3}" type="presParOf" srcId="{0CFB8C0E-9F0D-4EAD-8C94-0A64F1EA271A}" destId="{FD5F4466-96CC-4D4E-92AB-32E9F29BC14B}" srcOrd="3" destOrd="0" presId="urn:microsoft.com/office/officeart/2005/8/layout/process4"/>
    <dgm:cxn modelId="{44495F8E-2187-412E-9449-F0F04F87892C}" type="presParOf" srcId="{0CFB8C0E-9F0D-4EAD-8C94-0A64F1EA271A}" destId="{BC3F124D-F875-4626-81DB-57BEB87F95DD}" srcOrd="4" destOrd="0" presId="urn:microsoft.com/office/officeart/2005/8/layout/process4"/>
    <dgm:cxn modelId="{F38A2E30-5DD1-4800-886A-36B4AC4507B6}" type="presParOf" srcId="{BC3F124D-F875-4626-81DB-57BEB87F95DD}" destId="{FA43E46B-205F-438C-A64C-502CBE29CDBC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3490B4D-515B-4CE2-946E-CBD79B242D38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14FC224-3236-49CE-9CEF-7F04AA79C64D}">
      <dgm:prSet/>
      <dgm:spPr/>
      <dgm:t>
        <a:bodyPr/>
        <a:lstStyle/>
        <a:p>
          <a:r>
            <a:rPr lang="en-US"/>
            <a:t>Your submission should show at least two possible outcomes.</a:t>
          </a:r>
        </a:p>
      </dgm:t>
    </dgm:pt>
    <dgm:pt modelId="{D60CC94A-3EDB-4BD5-9E41-3C7B3A0A97CB}" type="parTrans" cxnId="{5C7A9C2B-90A6-4516-9563-95AAEF374F3C}">
      <dgm:prSet/>
      <dgm:spPr/>
      <dgm:t>
        <a:bodyPr/>
        <a:lstStyle/>
        <a:p>
          <a:endParaRPr lang="en-US"/>
        </a:p>
      </dgm:t>
    </dgm:pt>
    <dgm:pt modelId="{AD59470C-4FF1-4BBD-8795-D911A5C921A2}" type="sibTrans" cxnId="{5C7A9C2B-90A6-4516-9563-95AAEF374F3C}">
      <dgm:prSet/>
      <dgm:spPr/>
      <dgm:t>
        <a:bodyPr/>
        <a:lstStyle/>
        <a:p>
          <a:endParaRPr lang="en-US"/>
        </a:p>
      </dgm:t>
    </dgm:pt>
    <dgm:pt modelId="{30B569F9-79ED-4743-A411-B3B17BC3DD44}">
      <dgm:prSet/>
      <dgm:spPr/>
      <dgm:t>
        <a:bodyPr/>
        <a:lstStyle/>
        <a:p>
          <a:r>
            <a:rPr lang="en-US"/>
            <a:t>Be ready to explain what condition is checked and why each branch runs.</a:t>
          </a:r>
        </a:p>
      </dgm:t>
    </dgm:pt>
    <dgm:pt modelId="{178FA2A8-6ACB-4F81-B887-5153D10E0CC3}" type="parTrans" cxnId="{6F9A41B2-02C8-417B-A4B6-1D3C2C6DB872}">
      <dgm:prSet/>
      <dgm:spPr/>
      <dgm:t>
        <a:bodyPr/>
        <a:lstStyle/>
        <a:p>
          <a:endParaRPr lang="en-US"/>
        </a:p>
      </dgm:t>
    </dgm:pt>
    <dgm:pt modelId="{8E96F945-ABD8-4FE3-8CF2-720372202A9F}" type="sibTrans" cxnId="{6F9A41B2-02C8-417B-A4B6-1D3C2C6DB872}">
      <dgm:prSet/>
      <dgm:spPr/>
      <dgm:t>
        <a:bodyPr/>
        <a:lstStyle/>
        <a:p>
          <a:endParaRPr lang="en-US"/>
        </a:p>
      </dgm:t>
    </dgm:pt>
    <dgm:pt modelId="{9E7948D2-1B7D-4F24-8D1D-85B0CFDB40D5}">
      <dgm:prSet/>
      <dgm:spPr/>
      <dgm:t>
        <a:bodyPr/>
        <a:lstStyle/>
        <a:p>
          <a:r>
            <a:rPr lang="en-US"/>
            <a:t>Useful evidence includes:</a:t>
          </a:r>
        </a:p>
      </dgm:t>
    </dgm:pt>
    <dgm:pt modelId="{A77D3781-C281-4F28-A0E1-36AB2FE8C532}" type="parTrans" cxnId="{42F2C907-D9B2-4834-BF54-6D73DC652DF6}">
      <dgm:prSet/>
      <dgm:spPr/>
      <dgm:t>
        <a:bodyPr/>
        <a:lstStyle/>
        <a:p>
          <a:endParaRPr lang="en-US"/>
        </a:p>
      </dgm:t>
    </dgm:pt>
    <dgm:pt modelId="{BA2387F9-E90F-4359-A7F1-F5772233A500}" type="sibTrans" cxnId="{42F2C907-D9B2-4834-BF54-6D73DC652DF6}">
      <dgm:prSet/>
      <dgm:spPr/>
      <dgm:t>
        <a:bodyPr/>
        <a:lstStyle/>
        <a:p>
          <a:endParaRPr lang="en-US"/>
        </a:p>
      </dgm:t>
    </dgm:pt>
    <dgm:pt modelId="{D52C278C-FD84-46FD-9371-3EE84197EC39}">
      <dgm:prSet/>
      <dgm:spPr/>
      <dgm:t>
        <a:bodyPr/>
        <a:lstStyle/>
        <a:p>
          <a:r>
            <a:rPr lang="en-US"/>
            <a:t>a working `.py` file</a:t>
          </a:r>
        </a:p>
      </dgm:t>
    </dgm:pt>
    <dgm:pt modelId="{F1A671BE-75C4-4735-B465-F2D7E2726B98}" type="parTrans" cxnId="{3CD7B5FC-303D-43EE-AAC2-EE7EDF913539}">
      <dgm:prSet/>
      <dgm:spPr/>
      <dgm:t>
        <a:bodyPr/>
        <a:lstStyle/>
        <a:p>
          <a:endParaRPr lang="en-US"/>
        </a:p>
      </dgm:t>
    </dgm:pt>
    <dgm:pt modelId="{7D682918-14C5-4892-9A33-6737C726A0FF}" type="sibTrans" cxnId="{3CD7B5FC-303D-43EE-AAC2-EE7EDF913539}">
      <dgm:prSet/>
      <dgm:spPr/>
      <dgm:t>
        <a:bodyPr/>
        <a:lstStyle/>
        <a:p>
          <a:endParaRPr lang="en-US"/>
        </a:p>
      </dgm:t>
    </dgm:pt>
    <dgm:pt modelId="{422EE313-2B5B-48CE-AF3A-1D7F7C5B3330}">
      <dgm:prSet/>
      <dgm:spPr/>
      <dgm:t>
        <a:bodyPr/>
        <a:lstStyle/>
        <a:p>
          <a:r>
            <a:rPr lang="en-US"/>
            <a:t>sample values or scenarios</a:t>
          </a:r>
        </a:p>
      </dgm:t>
    </dgm:pt>
    <dgm:pt modelId="{71634887-B53D-48A3-BB7F-2B9FDF94D15A}" type="parTrans" cxnId="{8943E9E8-DB64-4DAE-9AF5-493931ABF791}">
      <dgm:prSet/>
      <dgm:spPr/>
      <dgm:t>
        <a:bodyPr/>
        <a:lstStyle/>
        <a:p>
          <a:endParaRPr lang="en-US"/>
        </a:p>
      </dgm:t>
    </dgm:pt>
    <dgm:pt modelId="{68550627-CC86-49DC-AE3D-CAEC43F448B0}" type="sibTrans" cxnId="{8943E9E8-DB64-4DAE-9AF5-493931ABF791}">
      <dgm:prSet/>
      <dgm:spPr/>
      <dgm:t>
        <a:bodyPr/>
        <a:lstStyle/>
        <a:p>
          <a:endParaRPr lang="en-US"/>
        </a:p>
      </dgm:t>
    </dgm:pt>
    <dgm:pt modelId="{AFCEEE1C-CA27-44EC-A97D-8FEF44C625CE}">
      <dgm:prSet/>
      <dgm:spPr/>
      <dgm:t>
        <a:bodyPr/>
        <a:lstStyle/>
        <a:p>
          <a:r>
            <a:rPr lang="en-US"/>
            <a:t>visible output</a:t>
          </a:r>
        </a:p>
      </dgm:t>
    </dgm:pt>
    <dgm:pt modelId="{47CAAFB7-EFAF-41BB-954D-207DFCA1112B}" type="parTrans" cxnId="{09FA3C75-93DB-47DD-8E85-49AA8B8A6FB9}">
      <dgm:prSet/>
      <dgm:spPr/>
      <dgm:t>
        <a:bodyPr/>
        <a:lstStyle/>
        <a:p>
          <a:endParaRPr lang="en-US"/>
        </a:p>
      </dgm:t>
    </dgm:pt>
    <dgm:pt modelId="{18598DF5-5860-407F-BBD9-C877A8D88226}" type="sibTrans" cxnId="{09FA3C75-93DB-47DD-8E85-49AA8B8A6FB9}">
      <dgm:prSet/>
      <dgm:spPr/>
      <dgm:t>
        <a:bodyPr/>
        <a:lstStyle/>
        <a:p>
          <a:endParaRPr lang="en-US"/>
        </a:p>
      </dgm:t>
    </dgm:pt>
    <dgm:pt modelId="{B173C431-7227-4033-9EEC-27FED4AA81D0}">
      <dgm:prSet/>
      <dgm:spPr/>
      <dgm:t>
        <a:bodyPr/>
        <a:lstStyle/>
        <a:p>
          <a:r>
            <a:rPr lang="en-US"/>
            <a:t>a short explanation of the decision</a:t>
          </a:r>
        </a:p>
      </dgm:t>
    </dgm:pt>
    <dgm:pt modelId="{287AA41A-81C0-4DD0-90BE-27B2BFF7F243}" type="parTrans" cxnId="{EAF6D4B8-85E3-4C5F-A95E-DC063B601869}">
      <dgm:prSet/>
      <dgm:spPr/>
      <dgm:t>
        <a:bodyPr/>
        <a:lstStyle/>
        <a:p>
          <a:endParaRPr lang="en-US"/>
        </a:p>
      </dgm:t>
    </dgm:pt>
    <dgm:pt modelId="{D5754E3F-C7C4-474B-8C8E-DDE844E8DF0A}" type="sibTrans" cxnId="{EAF6D4B8-85E3-4C5F-A95E-DC063B601869}">
      <dgm:prSet/>
      <dgm:spPr/>
      <dgm:t>
        <a:bodyPr/>
        <a:lstStyle/>
        <a:p>
          <a:endParaRPr lang="en-US"/>
        </a:p>
      </dgm:t>
    </dgm:pt>
    <dgm:pt modelId="{81DCD4B4-547F-44E2-85D5-3650B7D8FC7A}" type="pres">
      <dgm:prSet presAssocID="{E3490B4D-515B-4CE2-946E-CBD79B242D38}" presName="diagram" presStyleCnt="0">
        <dgm:presLayoutVars>
          <dgm:dir/>
          <dgm:resizeHandles val="exact"/>
        </dgm:presLayoutVars>
      </dgm:prSet>
      <dgm:spPr/>
    </dgm:pt>
    <dgm:pt modelId="{47EA0543-59C4-4194-8492-F15EA671039F}" type="pres">
      <dgm:prSet presAssocID="{A14FC224-3236-49CE-9CEF-7F04AA79C64D}" presName="node" presStyleLbl="node1" presStyleIdx="0" presStyleCnt="3">
        <dgm:presLayoutVars>
          <dgm:bulletEnabled val="1"/>
        </dgm:presLayoutVars>
      </dgm:prSet>
      <dgm:spPr/>
    </dgm:pt>
    <dgm:pt modelId="{EA475359-07B5-4027-8EF9-A0EF341E6E53}" type="pres">
      <dgm:prSet presAssocID="{AD59470C-4FF1-4BBD-8795-D911A5C921A2}" presName="sibTrans" presStyleCnt="0"/>
      <dgm:spPr/>
    </dgm:pt>
    <dgm:pt modelId="{6DF4EE2A-707C-4F7E-BF8E-28CB41DEFA32}" type="pres">
      <dgm:prSet presAssocID="{30B569F9-79ED-4743-A411-B3B17BC3DD44}" presName="node" presStyleLbl="node1" presStyleIdx="1" presStyleCnt="3">
        <dgm:presLayoutVars>
          <dgm:bulletEnabled val="1"/>
        </dgm:presLayoutVars>
      </dgm:prSet>
      <dgm:spPr/>
    </dgm:pt>
    <dgm:pt modelId="{891CC074-4702-4522-9DD9-35D05BA4FDB9}" type="pres">
      <dgm:prSet presAssocID="{8E96F945-ABD8-4FE3-8CF2-720372202A9F}" presName="sibTrans" presStyleCnt="0"/>
      <dgm:spPr/>
    </dgm:pt>
    <dgm:pt modelId="{0D8CBBB1-A1E4-4792-815A-84B87F0F1659}" type="pres">
      <dgm:prSet presAssocID="{9E7948D2-1B7D-4F24-8D1D-85B0CFDB40D5}" presName="node" presStyleLbl="node1" presStyleIdx="2" presStyleCnt="3">
        <dgm:presLayoutVars>
          <dgm:bulletEnabled val="1"/>
        </dgm:presLayoutVars>
      </dgm:prSet>
      <dgm:spPr/>
    </dgm:pt>
  </dgm:ptLst>
  <dgm:cxnLst>
    <dgm:cxn modelId="{42F2C907-D9B2-4834-BF54-6D73DC652DF6}" srcId="{E3490B4D-515B-4CE2-946E-CBD79B242D38}" destId="{9E7948D2-1B7D-4F24-8D1D-85B0CFDB40D5}" srcOrd="2" destOrd="0" parTransId="{A77D3781-C281-4F28-A0E1-36AB2FE8C532}" sibTransId="{BA2387F9-E90F-4359-A7F1-F5772233A500}"/>
    <dgm:cxn modelId="{47A39A0B-A622-4F27-B3C5-57BFC0D06B47}" type="presOf" srcId="{A14FC224-3236-49CE-9CEF-7F04AA79C64D}" destId="{47EA0543-59C4-4194-8492-F15EA671039F}" srcOrd="0" destOrd="0" presId="urn:microsoft.com/office/officeart/2005/8/layout/default"/>
    <dgm:cxn modelId="{3B802725-C402-42DC-81E6-D380F4699C7D}" type="presOf" srcId="{E3490B4D-515B-4CE2-946E-CBD79B242D38}" destId="{81DCD4B4-547F-44E2-85D5-3650B7D8FC7A}" srcOrd="0" destOrd="0" presId="urn:microsoft.com/office/officeart/2005/8/layout/default"/>
    <dgm:cxn modelId="{5C7A9C2B-90A6-4516-9563-95AAEF374F3C}" srcId="{E3490B4D-515B-4CE2-946E-CBD79B242D38}" destId="{A14FC224-3236-49CE-9CEF-7F04AA79C64D}" srcOrd="0" destOrd="0" parTransId="{D60CC94A-3EDB-4BD5-9E41-3C7B3A0A97CB}" sibTransId="{AD59470C-4FF1-4BBD-8795-D911A5C921A2}"/>
    <dgm:cxn modelId="{42690C2F-994F-4EE1-B27E-FF0D2720D1B8}" type="presOf" srcId="{30B569F9-79ED-4743-A411-B3B17BC3DD44}" destId="{6DF4EE2A-707C-4F7E-BF8E-28CB41DEFA32}" srcOrd="0" destOrd="0" presId="urn:microsoft.com/office/officeart/2005/8/layout/default"/>
    <dgm:cxn modelId="{A22D9838-910B-4C6C-8C9D-FA58D80AB345}" type="presOf" srcId="{AFCEEE1C-CA27-44EC-A97D-8FEF44C625CE}" destId="{0D8CBBB1-A1E4-4792-815A-84B87F0F1659}" srcOrd="0" destOrd="3" presId="urn:microsoft.com/office/officeart/2005/8/layout/default"/>
    <dgm:cxn modelId="{E0793D3C-7905-4375-A6B5-BD70A9423A9C}" type="presOf" srcId="{D52C278C-FD84-46FD-9371-3EE84197EC39}" destId="{0D8CBBB1-A1E4-4792-815A-84B87F0F1659}" srcOrd="0" destOrd="1" presId="urn:microsoft.com/office/officeart/2005/8/layout/default"/>
    <dgm:cxn modelId="{28097A49-9A18-426F-9D73-D34C25C38246}" type="presOf" srcId="{9E7948D2-1B7D-4F24-8D1D-85B0CFDB40D5}" destId="{0D8CBBB1-A1E4-4792-815A-84B87F0F1659}" srcOrd="0" destOrd="0" presId="urn:microsoft.com/office/officeart/2005/8/layout/default"/>
    <dgm:cxn modelId="{09FA3C75-93DB-47DD-8E85-49AA8B8A6FB9}" srcId="{9E7948D2-1B7D-4F24-8D1D-85B0CFDB40D5}" destId="{AFCEEE1C-CA27-44EC-A97D-8FEF44C625CE}" srcOrd="2" destOrd="0" parTransId="{47CAAFB7-EFAF-41BB-954D-207DFCA1112B}" sibTransId="{18598DF5-5860-407F-BBD9-C877A8D88226}"/>
    <dgm:cxn modelId="{AFB226B0-6150-477D-82D2-9F0022A1C95D}" type="presOf" srcId="{B173C431-7227-4033-9EEC-27FED4AA81D0}" destId="{0D8CBBB1-A1E4-4792-815A-84B87F0F1659}" srcOrd="0" destOrd="4" presId="urn:microsoft.com/office/officeart/2005/8/layout/default"/>
    <dgm:cxn modelId="{6F9A41B2-02C8-417B-A4B6-1D3C2C6DB872}" srcId="{E3490B4D-515B-4CE2-946E-CBD79B242D38}" destId="{30B569F9-79ED-4743-A411-B3B17BC3DD44}" srcOrd="1" destOrd="0" parTransId="{178FA2A8-6ACB-4F81-B887-5153D10E0CC3}" sibTransId="{8E96F945-ABD8-4FE3-8CF2-720372202A9F}"/>
    <dgm:cxn modelId="{EAF6D4B8-85E3-4C5F-A95E-DC063B601869}" srcId="{9E7948D2-1B7D-4F24-8D1D-85B0CFDB40D5}" destId="{B173C431-7227-4033-9EEC-27FED4AA81D0}" srcOrd="3" destOrd="0" parTransId="{287AA41A-81C0-4DD0-90BE-27B2BFF7F243}" sibTransId="{D5754E3F-C7C4-474B-8C8E-DDE844E8DF0A}"/>
    <dgm:cxn modelId="{962E8FE8-0AC0-43E6-B969-D7182D630275}" type="presOf" srcId="{422EE313-2B5B-48CE-AF3A-1D7F7C5B3330}" destId="{0D8CBBB1-A1E4-4792-815A-84B87F0F1659}" srcOrd="0" destOrd="2" presId="urn:microsoft.com/office/officeart/2005/8/layout/default"/>
    <dgm:cxn modelId="{8943E9E8-DB64-4DAE-9AF5-493931ABF791}" srcId="{9E7948D2-1B7D-4F24-8D1D-85B0CFDB40D5}" destId="{422EE313-2B5B-48CE-AF3A-1D7F7C5B3330}" srcOrd="1" destOrd="0" parTransId="{71634887-B53D-48A3-BB7F-2B9FDF94D15A}" sibTransId="{68550627-CC86-49DC-AE3D-CAEC43F448B0}"/>
    <dgm:cxn modelId="{3CD7B5FC-303D-43EE-AAC2-EE7EDF913539}" srcId="{9E7948D2-1B7D-4F24-8D1D-85B0CFDB40D5}" destId="{D52C278C-FD84-46FD-9371-3EE84197EC39}" srcOrd="0" destOrd="0" parTransId="{F1A671BE-75C4-4735-B465-F2D7E2726B98}" sibTransId="{7D682918-14C5-4892-9A33-6737C726A0FF}"/>
    <dgm:cxn modelId="{63ECE849-5FFC-4B69-8F17-2523BDCBB55B}" type="presParOf" srcId="{81DCD4B4-547F-44E2-85D5-3650B7D8FC7A}" destId="{47EA0543-59C4-4194-8492-F15EA671039F}" srcOrd="0" destOrd="0" presId="urn:microsoft.com/office/officeart/2005/8/layout/default"/>
    <dgm:cxn modelId="{650A3CE1-C78C-438E-8B3B-4CB3E8CA9458}" type="presParOf" srcId="{81DCD4B4-547F-44E2-85D5-3650B7D8FC7A}" destId="{EA475359-07B5-4027-8EF9-A0EF341E6E53}" srcOrd="1" destOrd="0" presId="urn:microsoft.com/office/officeart/2005/8/layout/default"/>
    <dgm:cxn modelId="{119334D0-32B6-4B7B-A6BE-39772A75C471}" type="presParOf" srcId="{81DCD4B4-547F-44E2-85D5-3650B7D8FC7A}" destId="{6DF4EE2A-707C-4F7E-BF8E-28CB41DEFA32}" srcOrd="2" destOrd="0" presId="urn:microsoft.com/office/officeart/2005/8/layout/default"/>
    <dgm:cxn modelId="{5989BE48-0F81-47F2-BE1B-3F499347C450}" type="presParOf" srcId="{81DCD4B4-547F-44E2-85D5-3650B7D8FC7A}" destId="{891CC074-4702-4522-9DD9-35D05BA4FDB9}" srcOrd="3" destOrd="0" presId="urn:microsoft.com/office/officeart/2005/8/layout/default"/>
    <dgm:cxn modelId="{4B2C017C-1274-483F-A896-C2026A9F347F}" type="presParOf" srcId="{81DCD4B4-547F-44E2-85D5-3650B7D8FC7A}" destId="{0D8CBBB1-A1E4-4792-815A-84B87F0F1659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FB3552-B3B1-47CC-BD63-FE26EEB1A3D8}">
      <dsp:nvSpPr>
        <dsp:cNvPr id="0" name=""/>
        <dsp:cNvSpPr/>
      </dsp:nvSpPr>
      <dsp:spPr>
        <a:xfrm>
          <a:off x="0" y="2921763"/>
          <a:ext cx="6447234" cy="95898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For every decision program, practice asking:</a:t>
          </a:r>
        </a:p>
      </dsp:txBody>
      <dsp:txXfrm>
        <a:off x="0" y="2921763"/>
        <a:ext cx="6447234" cy="517853"/>
      </dsp:txXfrm>
    </dsp:sp>
    <dsp:sp modelId="{1759F7EC-0E76-42FA-BFBE-0F015A004539}">
      <dsp:nvSpPr>
        <dsp:cNvPr id="0" name=""/>
        <dsp:cNvSpPr/>
      </dsp:nvSpPr>
      <dsp:spPr>
        <a:xfrm>
          <a:off x="0" y="3420436"/>
          <a:ext cx="1611808" cy="441134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16510" rIns="92456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- What condition is checked?</a:t>
          </a:r>
        </a:p>
      </dsp:txBody>
      <dsp:txXfrm>
        <a:off x="0" y="3420436"/>
        <a:ext cx="1611808" cy="441134"/>
      </dsp:txXfrm>
    </dsp:sp>
    <dsp:sp modelId="{8A8B1CF9-B514-4BFB-A957-A922192CE26B}">
      <dsp:nvSpPr>
        <dsp:cNvPr id="0" name=""/>
        <dsp:cNvSpPr/>
      </dsp:nvSpPr>
      <dsp:spPr>
        <a:xfrm>
          <a:off x="1611808" y="3420436"/>
          <a:ext cx="1611808" cy="441134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16510" rIns="92456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- Is the condition `True` or `False`?</a:t>
          </a:r>
        </a:p>
      </dsp:txBody>
      <dsp:txXfrm>
        <a:off x="1611808" y="3420436"/>
        <a:ext cx="1611808" cy="441134"/>
      </dsp:txXfrm>
    </dsp:sp>
    <dsp:sp modelId="{1FD6D738-CED6-42FC-BF8F-2530D0989DE5}">
      <dsp:nvSpPr>
        <dsp:cNvPr id="0" name=""/>
        <dsp:cNvSpPr/>
      </dsp:nvSpPr>
      <dsp:spPr>
        <a:xfrm>
          <a:off x="3223617" y="3420436"/>
          <a:ext cx="1611808" cy="441134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16510" rIns="92456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- Which branch runs?</a:t>
          </a:r>
        </a:p>
      </dsp:txBody>
      <dsp:txXfrm>
        <a:off x="3223617" y="3420436"/>
        <a:ext cx="1611808" cy="441134"/>
      </dsp:txXfrm>
    </dsp:sp>
    <dsp:sp modelId="{4DF9B5DD-AE57-416B-A0C7-227959D8B4DD}">
      <dsp:nvSpPr>
        <dsp:cNvPr id="0" name=""/>
        <dsp:cNvSpPr/>
      </dsp:nvSpPr>
      <dsp:spPr>
        <a:xfrm>
          <a:off x="4835425" y="3420436"/>
          <a:ext cx="1611808" cy="441134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16510" rIns="92456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- What output should appear?</a:t>
          </a:r>
        </a:p>
      </dsp:txBody>
      <dsp:txXfrm>
        <a:off x="4835425" y="3420436"/>
        <a:ext cx="1611808" cy="441134"/>
      </dsp:txXfrm>
    </dsp:sp>
    <dsp:sp modelId="{35507D41-5AD4-4936-B2DB-29FA82F01297}">
      <dsp:nvSpPr>
        <dsp:cNvPr id="0" name=""/>
        <dsp:cNvSpPr/>
      </dsp:nvSpPr>
      <dsp:spPr>
        <a:xfrm rot="10800000">
          <a:off x="0" y="1461224"/>
          <a:ext cx="6447234" cy="1474923"/>
        </a:xfrm>
        <a:prstGeom prst="upArrowCallou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If you can predict that path,</a:t>
          </a:r>
          <a:br>
            <a:rPr lang="en-US" sz="1800" kern="1200" dirty="0"/>
          </a:br>
          <a:r>
            <a:rPr lang="en-US" sz="1800" kern="1200" dirty="0"/>
            <a:t>you understand the decision logic.</a:t>
          </a:r>
        </a:p>
      </dsp:txBody>
      <dsp:txXfrm rot="10800000">
        <a:off x="0" y="1461224"/>
        <a:ext cx="6447234" cy="958361"/>
      </dsp:txXfrm>
    </dsp:sp>
    <dsp:sp modelId="{FA43E46B-205F-438C-A64C-502CBE29CDBC}">
      <dsp:nvSpPr>
        <dsp:cNvPr id="0" name=""/>
        <dsp:cNvSpPr/>
      </dsp:nvSpPr>
      <dsp:spPr>
        <a:xfrm rot="10800000">
          <a:off x="0" y="686"/>
          <a:ext cx="6447234" cy="1474923"/>
        </a:xfrm>
        <a:prstGeom prst="upArrowCallou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i="1" kern="1200"/>
            <a:t>Condition checked -&gt; branch selected -&gt; output shown.</a:t>
          </a:r>
          <a:endParaRPr lang="en-US" sz="1800" kern="1200"/>
        </a:p>
      </dsp:txBody>
      <dsp:txXfrm rot="10800000">
        <a:off x="0" y="686"/>
        <a:ext cx="6447234" cy="95836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EA0543-59C4-4194-8492-F15EA671039F}">
      <dsp:nvSpPr>
        <dsp:cNvPr id="0" name=""/>
        <dsp:cNvSpPr/>
      </dsp:nvSpPr>
      <dsp:spPr>
        <a:xfrm>
          <a:off x="304147" y="2241"/>
          <a:ext cx="3145383" cy="188722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Your submission should show at least two possible outcomes.</a:t>
          </a:r>
        </a:p>
      </dsp:txBody>
      <dsp:txXfrm>
        <a:off x="304147" y="2241"/>
        <a:ext cx="3145383" cy="1887229"/>
      </dsp:txXfrm>
    </dsp:sp>
    <dsp:sp modelId="{6DF4EE2A-707C-4F7E-BF8E-28CB41DEFA32}">
      <dsp:nvSpPr>
        <dsp:cNvPr id="0" name=""/>
        <dsp:cNvSpPr/>
      </dsp:nvSpPr>
      <dsp:spPr>
        <a:xfrm>
          <a:off x="3764069" y="2241"/>
          <a:ext cx="3145383" cy="188722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Be ready to explain what condition is checked and why each branch runs.</a:t>
          </a:r>
        </a:p>
      </dsp:txBody>
      <dsp:txXfrm>
        <a:off x="3764069" y="2241"/>
        <a:ext cx="3145383" cy="1887229"/>
      </dsp:txXfrm>
    </dsp:sp>
    <dsp:sp modelId="{0D8CBBB1-A1E4-4792-815A-84B87F0F1659}">
      <dsp:nvSpPr>
        <dsp:cNvPr id="0" name=""/>
        <dsp:cNvSpPr/>
      </dsp:nvSpPr>
      <dsp:spPr>
        <a:xfrm>
          <a:off x="2034108" y="2204010"/>
          <a:ext cx="3145383" cy="188722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Useful evidence includes: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a working `.py` file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sample values or scenarios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visible output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a short explanation of the decision</a:t>
          </a:r>
        </a:p>
      </dsp:txBody>
      <dsp:txXfrm>
        <a:off x="2034108" y="2204010"/>
        <a:ext cx="3145383" cy="18872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759AF9F-1092-690D-006F-EBCE2C96B7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C0900-FCC2-2A2A-613C-A277F4B712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64943E5A-6629-4B53-8BAD-0FC37077EB1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2D7F8D-A102-3CF3-78CD-2CA4C36115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D03618-FB8B-BA92-AF2F-43138FFAD9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9E905D54-93E9-4845-A874-0CB2F7E46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3681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E3382475-516A-409A-944E-F435F3DFCCF2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970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1916ACA2-47E6-42D2-BEC8-EDC49A1A9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24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2349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Use this as the conceptual jump from Week 1 to Week 2. </a:t>
            </a:r>
          </a:p>
          <a:p>
            <a:r>
              <a:rPr lang="en-US" sz="1300" dirty="0"/>
              <a:t>The point is not that students are starting over. </a:t>
            </a:r>
          </a:p>
          <a:p>
            <a:r>
              <a:rPr lang="en-US" sz="1300" dirty="0"/>
              <a:t>They are reusing values, expressions, and output, but now the program can decide which output should appear.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Before the program can choose, it needs a value to check.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238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500" b="1" dirty="0"/>
              <a:t>**Instructor Notes:**</a:t>
            </a:r>
            <a:endParaRPr lang="en-US" sz="1500" dirty="0"/>
          </a:p>
          <a:p>
            <a:r>
              <a:rPr lang="en-US" sz="1500" dirty="0"/>
              <a:t>Ask students to name one Week 1 value example: score, price, age, temperature, or quantity. </a:t>
            </a:r>
          </a:p>
          <a:p>
            <a:r>
              <a:rPr lang="en-US" sz="1500" dirty="0"/>
              <a:t>Then ask what question a program might ask about that value.</a:t>
            </a:r>
          </a:p>
          <a:p>
            <a:endParaRPr lang="en-US" sz="1500" dirty="0"/>
          </a:p>
          <a:p>
            <a:r>
              <a:rPr lang="en-US" sz="1500" dirty="0"/>
              <a:t>Examples:</a:t>
            </a:r>
          </a:p>
          <a:p>
            <a:r>
              <a:rPr lang="en-US" sz="1500" dirty="0"/>
              <a:t>- Is the score passing?</a:t>
            </a:r>
          </a:p>
          <a:p>
            <a:r>
              <a:rPr lang="en-US" sz="1500" dirty="0"/>
              <a:t>- Is the purchase large enough for a discount?</a:t>
            </a:r>
          </a:p>
          <a:p>
            <a:r>
              <a:rPr lang="en-US" sz="1500" dirty="0"/>
              <a:t>- Is the age old enough?</a:t>
            </a:r>
          </a:p>
          <a:p>
            <a:endParaRPr lang="en-US" sz="1500" dirty="0"/>
          </a:p>
          <a:p>
            <a:r>
              <a:rPr lang="en-US" sz="1500" b="1" dirty="0"/>
              <a:t>**Transition Cue:**</a:t>
            </a:r>
            <a:endParaRPr lang="en-US" sz="1500" dirty="0"/>
          </a:p>
          <a:p>
            <a:r>
              <a:rPr lang="en-US" sz="1500" dirty="0"/>
              <a:t>Those questions become conditions.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510903">
              <a:defRPr/>
            </a:pPr>
            <a:fld id="{1916ACA2-47E6-42D2-BEC8-EDC49A1A9FA1}" type="slidenum">
              <a:rPr lang="en-US" sz="1500">
                <a:solidFill>
                  <a:prstClr val="black"/>
                </a:solidFill>
                <a:latin typeface="Aptos" panose="02110004020202020204"/>
              </a:rPr>
              <a:pPr defTabSz="510903">
                <a:defRPr/>
              </a:pPr>
              <a:t>3</a:t>
            </a:fld>
            <a:endParaRPr lang="en-US" sz="15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5982901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Install this pattern early and return to it all day. </a:t>
            </a:r>
          </a:p>
          <a:p>
            <a:r>
              <a:rPr lang="en-US" sz="1300" dirty="0"/>
              <a:t>It gives students a simple mental model for reading decision code.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Let's name the specific tools we will use today.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1131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E3DF4-9018-54D7-AC32-B0CEABE13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259DBD-9CC0-BDFE-AAE2-92A678354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3A901-EC8D-2674-82CB-4F6151B3B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3C00B-5DAB-BF7F-BBB7-C2ECD669C0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793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Keep this as the working set. </a:t>
            </a:r>
          </a:p>
          <a:p>
            <a:r>
              <a:rPr lang="en-US" sz="1300" dirty="0"/>
              <a:t>Students will see that conditionals are built from a small group of pieces, not a giant new language.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Just as important, several topics can wait.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135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1E136-3710-82F5-92C5-E493D4E0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073FA-91E0-B8D0-41CF-E276B64AA3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1F0011-B64D-4530-9E98-AB4BE5B7A9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D3460-0022-CB7B-C294-A66EFE025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589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The reading may include more material than today's lecture needs. </a:t>
            </a:r>
          </a:p>
          <a:p>
            <a:r>
              <a:rPr lang="en-US" sz="1300" dirty="0"/>
              <a:t>This slide protects cognitive load. Loops arrive tomorrow, but they should not compete with first-contact branching.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The first decision tool is the boolean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35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1F9BE-9523-79C9-933A-ABC3B754F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D9386-8DEF-3DA9-3D5A-F4F15E97D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E467D7-62AF-324A-B85D-BF912C406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9A96BC-2FBF-2964-1F23-02E9A9164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5252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** Instructor Notes ** </a:t>
            </a:r>
          </a:p>
          <a:p>
            <a:r>
              <a:rPr lang="en-US" dirty="0"/>
              <a:t>Step through the coding solution(s) for the Lab.</a:t>
            </a:r>
            <a:br>
              <a:rPr lang="en-US" dirty="0"/>
            </a:br>
            <a:r>
              <a:rPr lang="en-US" dirty="0"/>
              <a:t>Be sure to state that this is only *one* solution of many. </a:t>
            </a:r>
            <a:br>
              <a:rPr lang="en-US" dirty="0"/>
            </a:br>
            <a:r>
              <a:rPr lang="en-US" dirty="0"/>
              <a:t>NOT the best or only solution.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168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Translate comparisons into spoken questions:</a:t>
            </a:r>
          </a:p>
          <a:p>
            <a:r>
              <a:rPr lang="en-US" sz="1300" dirty="0"/>
              <a:t>- Is the score greater than or equal to 70?</a:t>
            </a:r>
          </a:p>
          <a:p>
            <a:r>
              <a:rPr lang="en-US" sz="1300" dirty="0"/>
              <a:t>- Is the age at least 16?</a:t>
            </a:r>
          </a:p>
          <a:p>
            <a:r>
              <a:rPr lang="en-US" sz="1300" dirty="0"/>
              <a:t>- Is the password attempt equal to the sample value?</a:t>
            </a:r>
          </a:p>
          <a:p>
            <a:endParaRPr lang="en-US" sz="1300" dirty="0"/>
          </a:p>
          <a:p>
            <a:r>
              <a:rPr lang="en-US" sz="1300" dirty="0"/>
              <a:t>The spoken question helps students see code as meaning, not symbols only.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Now we need the comparison symbols that create those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804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Do not rush past `==` and `!=`. </a:t>
            </a:r>
          </a:p>
          <a:p>
            <a:r>
              <a:rPr lang="en-US" sz="1300" dirty="0"/>
              <a:t>Students will recognize some symbols from math, but `==` is a programming-specific adjustment for many beginners.</a:t>
            </a:r>
          </a:p>
          <a:p>
            <a:br>
              <a:rPr lang="en-US" sz="1300" dirty="0"/>
            </a:br>
            <a:r>
              <a:rPr lang="en-US" sz="1300" dirty="0"/>
              <a:t>Use two or three concrete examples:</a:t>
            </a:r>
          </a:p>
          <a:p>
            <a:r>
              <a:rPr lang="en-US" sz="1300" dirty="0"/>
              <a:t>```python</a:t>
            </a:r>
          </a:p>
          <a:p>
            <a:r>
              <a:rPr lang="en-US" sz="1300" dirty="0"/>
              <a:t>age &gt;= 16</a:t>
            </a:r>
          </a:p>
          <a:p>
            <a:r>
              <a:rPr lang="en-US" sz="1300" dirty="0"/>
              <a:t>score == 100</a:t>
            </a:r>
          </a:p>
          <a:p>
            <a:r>
              <a:rPr lang="en-US" sz="1300" dirty="0"/>
              <a:t>status != "closed"</a:t>
            </a:r>
          </a:p>
          <a:p>
            <a:r>
              <a:rPr lang="en-US" sz="1300" dirty="0"/>
              <a:t>```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Let's see comparisons produce visible `True` and `False` values.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6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540076">
              <a:defRPr/>
            </a:pPr>
            <a:fld id="{1916ACA2-47E6-42D2-BEC8-EDC49A1A9FA1}" type="slidenum">
              <a:rPr lang="en-US" sz="1600">
                <a:solidFill>
                  <a:prstClr val="black"/>
                </a:solidFill>
                <a:latin typeface="Aptos" panose="02110004020202020204"/>
              </a:rPr>
              <a:pPr defTabSz="540076">
                <a:defRPr/>
              </a:pPr>
              <a:t>13</a:t>
            </a:fld>
            <a:endParaRPr lang="en-US" sz="16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1256578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Use:</a:t>
            </a:r>
          </a:p>
          <a:p>
            <a:r>
              <a:rPr lang="en-US" sz="1300" i="1" dirty="0"/>
              <a:t>`Demos/Week_02_Decision_Logic_and_Repetition/01_booleans_comparisons.py`</a:t>
            </a:r>
          </a:p>
          <a:p>
            <a:endParaRPr lang="en-US" sz="1300" dirty="0"/>
          </a:p>
          <a:p>
            <a:r>
              <a:rPr lang="en-US" sz="1300" dirty="0"/>
              <a:t>Run once as written. Then change one value at a time:</a:t>
            </a:r>
          </a:p>
          <a:p>
            <a:r>
              <a:rPr lang="en-US" sz="1300" dirty="0"/>
              <a:t>- `age`</a:t>
            </a:r>
          </a:p>
          <a:p>
            <a:r>
              <a:rPr lang="en-US" sz="1300" dirty="0"/>
              <a:t>- `</a:t>
            </a:r>
            <a:r>
              <a:rPr lang="en-US" sz="1300" dirty="0" err="1"/>
              <a:t>minimum_age</a:t>
            </a:r>
            <a:r>
              <a:rPr lang="en-US" sz="1300" dirty="0"/>
              <a:t>`</a:t>
            </a:r>
          </a:p>
          <a:p>
            <a:r>
              <a:rPr lang="en-US" sz="1300" dirty="0"/>
              <a:t>- `score`</a:t>
            </a:r>
          </a:p>
          <a:p>
            <a:r>
              <a:rPr lang="en-US" sz="1300" dirty="0"/>
              <a:t>- `</a:t>
            </a:r>
            <a:r>
              <a:rPr lang="en-US" sz="1300" dirty="0" err="1"/>
              <a:t>passing_score</a:t>
            </a:r>
            <a:r>
              <a:rPr lang="en-US" sz="1300" dirty="0"/>
              <a:t>`</a:t>
            </a:r>
          </a:p>
          <a:p>
            <a:br>
              <a:rPr lang="en-US" sz="1300" dirty="0"/>
            </a:br>
            <a:r>
              <a:rPr lang="en-US" sz="1300" dirty="0"/>
              <a:t>Ask students to predict the boolean result before running the file again.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A boolean result becomes more useful when it controls a branch.</a:t>
            </a:r>
          </a:p>
          <a:p>
            <a:endParaRPr lang="en-US" sz="1300" dirty="0"/>
          </a:p>
          <a:p>
            <a:r>
              <a:rPr lang="en-US" sz="1300" b="1" dirty="0"/>
              <a:t>**Demo Connection:**</a:t>
            </a:r>
            <a:endParaRPr lang="en-US" sz="1300" dirty="0"/>
          </a:p>
          <a:p>
            <a:r>
              <a:rPr lang="en-US" sz="1300" dirty="0"/>
              <a:t>Primary demo file: `01_booleans_comparisons.py`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3032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Point directly at indentation. </a:t>
            </a:r>
          </a:p>
          <a:p>
            <a:r>
              <a:rPr lang="en-US" sz="1300" dirty="0"/>
              <a:t>Beginners often understand the condition but miss that indentation controls the branch body.</a:t>
            </a:r>
          </a:p>
          <a:p>
            <a:br>
              <a:rPr lang="en-US" sz="1300" dirty="0"/>
            </a:br>
            <a:r>
              <a:rPr lang="en-US" sz="1300" dirty="0"/>
              <a:t>Use a tiny structure:</a:t>
            </a:r>
          </a:p>
          <a:p>
            <a:r>
              <a:rPr lang="en-US" sz="1300" dirty="0"/>
              <a:t>```python</a:t>
            </a:r>
          </a:p>
          <a:p>
            <a:r>
              <a:rPr lang="en-US" sz="1300" dirty="0"/>
              <a:t>if score &gt;= 70:</a:t>
            </a:r>
          </a:p>
          <a:p>
            <a:r>
              <a:rPr lang="en-US" sz="1300" dirty="0"/>
              <a:t>    print("Passing")</a:t>
            </a:r>
          </a:p>
          <a:p>
            <a:r>
              <a:rPr lang="en-US" sz="1300" dirty="0"/>
              <a:t>```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When there are multiple possible outcomes, we can add more branches.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8714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248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Explain `</a:t>
            </a:r>
            <a:r>
              <a:rPr lang="en-US" sz="1300" dirty="0" err="1"/>
              <a:t>elif</a:t>
            </a:r>
            <a:r>
              <a:rPr lang="en-US" sz="1300" dirty="0"/>
              <a:t>` as "else if" in plain language. Keep `else` simple: it is the fallback branch.</a:t>
            </a:r>
          </a:p>
          <a:p>
            <a:r>
              <a:rPr lang="en-US" sz="1300" dirty="0"/>
              <a:t>Stress that Python checks from top to bottom and stops once a matching branch is selected in the chain.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The next demo shows why prediction matters before running the code.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8152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18B71-6943-C924-7BBA-10253B9E0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F88C8-0645-F18A-368C-0975C2F4F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BAB2E6-E5DA-6C66-EEDB-69F810270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C1E54C-B04E-0727-1CD0-4E012BCAD5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540076">
              <a:defRPr/>
            </a:pPr>
            <a:fld id="{1916ACA2-47E6-42D2-BEC8-EDC49A1A9FA1}" type="slidenum">
              <a:rPr lang="en-US" sz="1600">
                <a:solidFill>
                  <a:prstClr val="black"/>
                </a:solidFill>
                <a:latin typeface="Aptos" panose="02110004020202020204"/>
              </a:rPr>
              <a:pPr defTabSz="540076">
                <a:defRPr/>
              </a:pPr>
              <a:t>18</a:t>
            </a:fld>
            <a:endParaRPr lang="en-US" sz="16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801902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Use:</a:t>
            </a:r>
          </a:p>
          <a:p>
            <a:r>
              <a:rPr lang="en-US" sz="1300" i="1" dirty="0"/>
              <a:t>`Demos/Week_02_Decision_Logic_and_Repetition/02_if_elif_else_grade_check.py`</a:t>
            </a:r>
          </a:p>
          <a:p>
            <a:br>
              <a:rPr lang="en-US" sz="1300" dirty="0"/>
            </a:br>
            <a:r>
              <a:rPr lang="en-US" sz="1300" dirty="0"/>
              <a:t>Suggested test values:</a:t>
            </a:r>
          </a:p>
          <a:p>
            <a:r>
              <a:rPr lang="en-US" sz="1300" dirty="0"/>
              <a:t>- `95`</a:t>
            </a:r>
          </a:p>
          <a:p>
            <a:r>
              <a:rPr lang="en-US" sz="1300" dirty="0"/>
              <a:t>- `84`</a:t>
            </a:r>
          </a:p>
          <a:p>
            <a:r>
              <a:rPr lang="en-US" sz="1300" dirty="0"/>
              <a:t>- `72`</a:t>
            </a:r>
          </a:p>
          <a:p>
            <a:r>
              <a:rPr lang="en-US" sz="1300" dirty="0"/>
              <a:t>- `59`</a:t>
            </a:r>
          </a:p>
          <a:p>
            <a:r>
              <a:rPr lang="en-US" sz="1300" dirty="0"/>
              <a:t>- boundary values such as `90`, `80`, `70`, and `60`</a:t>
            </a:r>
          </a:p>
          <a:p>
            <a:endParaRPr lang="en-US" sz="1300" dirty="0"/>
          </a:p>
          <a:p>
            <a:r>
              <a:rPr lang="en-US" sz="1300" dirty="0"/>
              <a:t>Pause before each run and ask: which branch should run, and why?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The order of the branches matters because Python reads the chain from top to bottom.</a:t>
            </a:r>
          </a:p>
          <a:p>
            <a:endParaRPr lang="en-US" sz="1300" dirty="0"/>
          </a:p>
          <a:p>
            <a:r>
              <a:rPr lang="en-US" sz="1300" b="1" dirty="0"/>
              <a:t>**Demo Connection:**</a:t>
            </a:r>
            <a:endParaRPr lang="en-US" sz="1300" dirty="0"/>
          </a:p>
          <a:p>
            <a:r>
              <a:rPr lang="en-US" sz="1300" dirty="0"/>
              <a:t>Primary demo file: `02_if_elif_else_grade_check.py`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540076"/>
            <a:fld id="{1916ACA2-47E6-42D2-BEC8-EDC49A1A9FA1}" type="slidenum">
              <a:rPr lang="en-US" sz="1600">
                <a:solidFill>
                  <a:prstClr val="black"/>
                </a:solidFill>
                <a:latin typeface="Aptos" panose="02110004020202020204"/>
              </a:rPr>
              <a:pPr defTabSz="540076"/>
              <a:t>19</a:t>
            </a:fld>
            <a:endParaRPr lang="en-US" sz="16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1977663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This prevents a major beginner mistake. </a:t>
            </a:r>
          </a:p>
          <a:p>
            <a:r>
              <a:rPr lang="en-US" sz="1300" dirty="0"/>
              <a:t>If a broad condition appears before a more specific one, the specific branch may never run.</a:t>
            </a:r>
          </a:p>
          <a:p>
            <a:endParaRPr lang="en-US" sz="1300" dirty="0"/>
          </a:p>
          <a:p>
            <a:r>
              <a:rPr lang="en-US" sz="1300" dirty="0"/>
              <a:t>Use a verbal example before code:</a:t>
            </a:r>
          </a:p>
          <a:p>
            <a:r>
              <a:rPr lang="en-US" sz="1300" dirty="0"/>
              <a:t>```text</a:t>
            </a:r>
          </a:p>
          <a:p>
            <a:r>
              <a:rPr lang="en-US" sz="1300" dirty="0"/>
              <a:t>If a score is at least 60, it is also at least 70? No.</a:t>
            </a:r>
          </a:p>
          <a:p>
            <a:r>
              <a:rPr lang="en-US" sz="1300" dirty="0"/>
              <a:t>If a score is at least 95, it is also at least 90? Yes.</a:t>
            </a:r>
          </a:p>
          <a:p>
            <a:r>
              <a:rPr lang="en-US" sz="1300" dirty="0"/>
              <a:t>So the order must match the intended logic.</a:t>
            </a:r>
          </a:p>
          <a:p>
            <a:r>
              <a:rPr lang="en-US" sz="1300" dirty="0"/>
              <a:t>```</a:t>
            </a:r>
            <a:br>
              <a:rPr lang="en-US" sz="1300" dirty="0"/>
            </a:br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Two common syntax problems can hide this logic from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5708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58CAC-D80A-1F7A-A423-240884484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08A946-52AF-5A79-6031-82E7B99F3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01932-0B40-C317-1AC7-B0489997D0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16D7A-A70D-427F-B2CC-240AA9380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9153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Keep this blunt and memorable. Connect it back to Week 1:</a:t>
            </a:r>
          </a:p>
          <a:p>
            <a:r>
              <a:rPr lang="en-US" sz="1300" dirty="0"/>
              <a:t>- `score = 84` stores a value.</a:t>
            </a:r>
          </a:p>
          <a:p>
            <a:r>
              <a:rPr lang="en-US" sz="1300" dirty="0"/>
              <a:t>- `score == 84` asks whether the value matches.</a:t>
            </a:r>
          </a:p>
          <a:p>
            <a:endParaRPr lang="en-US" sz="1300" dirty="0"/>
          </a:p>
          <a:p>
            <a:r>
              <a:rPr lang="en-US" sz="1300" dirty="0"/>
              <a:t>This is one of the highest-value beginner warnings for Week 2.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The second common failure is indentation.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404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F5990-CFC6-01F8-3187-B51623A2E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BAD43-EAB6-CF1F-DCE8-F1C2AD9AF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D1A865-82BE-9F3F-1182-204035D65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DAD0FA-C34C-A14F-1255-5DFFCE8735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88022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Show a tiny before/after example if helpful. </a:t>
            </a:r>
          </a:p>
          <a:p>
            <a:r>
              <a:rPr lang="en-US" sz="1300" dirty="0"/>
              <a:t>Students may think indentation is only formatting. In Python, it defines structure.</a:t>
            </a:r>
          </a:p>
          <a:p>
            <a:br>
              <a:rPr lang="en-US" sz="1300" dirty="0"/>
            </a:br>
            <a:endParaRPr lang="en-US" sz="1300" dirty="0"/>
          </a:p>
          <a:p>
            <a:r>
              <a:rPr lang="en-US" sz="1300" dirty="0"/>
              <a:t>Recommended phrasing:</a:t>
            </a:r>
          </a:p>
          <a:p>
            <a:r>
              <a:rPr lang="en-US" sz="1300" dirty="0"/>
              <a:t>```text</a:t>
            </a:r>
          </a:p>
          <a:p>
            <a:r>
              <a:rPr lang="en-US" sz="1300" dirty="0"/>
              <a:t>Indentation is not decoration. It tells Python what belongs together.</a:t>
            </a:r>
          </a:p>
          <a:p>
            <a:r>
              <a:rPr lang="en-US" sz="1300" dirty="0"/>
              <a:t>```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Now we can connect the idea to Assignment 2.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28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E63A4-EC96-244D-6D9C-070EE3228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FD40F0-DC43-0287-0450-EFE497EA77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8FD54D-6EB8-ADCA-6560-275D584E08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17811-14D7-A9B4-7ED2-62A8E87D8C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5324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Point students toward manageable options:</a:t>
            </a:r>
          </a:p>
          <a:p>
            <a:r>
              <a:rPr lang="en-US" sz="1300" dirty="0"/>
              <a:t>- grade checker</a:t>
            </a:r>
          </a:p>
          <a:p>
            <a:r>
              <a:rPr lang="en-US" sz="1300" dirty="0"/>
              <a:t>- eligibility checker</a:t>
            </a:r>
          </a:p>
          <a:p>
            <a:r>
              <a:rPr lang="en-US" sz="1300" dirty="0"/>
              <a:t>- temperature message</a:t>
            </a:r>
          </a:p>
          <a:p>
            <a:r>
              <a:rPr lang="en-US" sz="1300" dirty="0"/>
              <a:t>- simple recommendation</a:t>
            </a:r>
          </a:p>
          <a:p>
            <a:r>
              <a:rPr lang="en-US" sz="1300" dirty="0"/>
              <a:t>- sample login-style rule checker</a:t>
            </a:r>
          </a:p>
          <a:p>
            <a:br>
              <a:rPr lang="en-US" sz="1300" dirty="0"/>
            </a:br>
            <a:r>
              <a:rPr lang="en-US" sz="1300" dirty="0"/>
              <a:t>If using the discount checker demo, clarify that students should not simply submit the demo. </a:t>
            </a:r>
          </a:p>
          <a:p>
            <a:r>
              <a:rPr lang="en-US" sz="1300" dirty="0"/>
              <a:t>They should use the pattern in a different small decision problem or an approved variation.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A decision program is only clear if it can be tested with more than one value.</a:t>
            </a:r>
          </a:p>
          <a:p>
            <a:endParaRPr lang="en-US" sz="1300" dirty="0"/>
          </a:p>
          <a:p>
            <a:r>
              <a:rPr lang="en-US" sz="1300" b="1" dirty="0"/>
              <a:t>**Lab Connection:**</a:t>
            </a:r>
            <a:endParaRPr lang="en-US" sz="1300" dirty="0"/>
          </a:p>
          <a:p>
            <a:r>
              <a:rPr lang="en-US" sz="1300" dirty="0"/>
              <a:t>Supports Assignment 2 - Decisions in Code.</a:t>
            </a:r>
          </a:p>
          <a:p>
            <a:endParaRPr lang="en-US" sz="13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06866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A818F-CE39-B263-68CF-A486EB82A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45079-1122-2E22-1045-117B6829B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538A2-6E42-79A2-BDC0-208FA2035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19F11-2968-4131-DA79-D869F64BE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4725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Recommended evidence:</a:t>
            </a:r>
          </a:p>
          <a:p>
            <a:r>
              <a:rPr lang="en-US" sz="1300" dirty="0"/>
              <a:t>- one working `.</a:t>
            </a:r>
            <a:r>
              <a:rPr lang="en-US" sz="1300" dirty="0" err="1"/>
              <a:t>py</a:t>
            </a:r>
            <a:r>
              <a:rPr lang="en-US" sz="1300" dirty="0"/>
              <a:t>` file</a:t>
            </a:r>
          </a:p>
          <a:p>
            <a:r>
              <a:rPr lang="en-US" sz="1300" dirty="0"/>
              <a:t>- readable variable names</a:t>
            </a:r>
          </a:p>
          <a:p>
            <a:r>
              <a:rPr lang="en-US" sz="1300" dirty="0"/>
              <a:t>- visible output</a:t>
            </a:r>
          </a:p>
          <a:p>
            <a:r>
              <a:rPr lang="en-US" sz="1300" dirty="0"/>
              <a:t>- two or more test values or scenarios</a:t>
            </a:r>
          </a:p>
          <a:p>
            <a:r>
              <a:rPr lang="en-US" sz="1300" dirty="0"/>
              <a:t>- brief explanation of the checked condition and possible outcomes</a:t>
            </a:r>
          </a:p>
          <a:p>
            <a:br>
              <a:rPr lang="en-US" sz="1300" dirty="0"/>
            </a:br>
            <a:r>
              <a:rPr lang="en-US" sz="1300" dirty="0"/>
              <a:t>Keep README expectations light if this is still early in GitHub practice.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Before students begin, show one optional practical bridge if the class is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986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F7557-40B5-3112-0E32-FF1280492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9F889-C3F2-DB38-4F45-C11564D66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2066E1-6432-E8BF-DAA4-B9D68655C0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753DA-9393-37C0-79E9-2695853F62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3307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7E62F-70F5-1BCE-0EFC-6D22016A1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EC67FA-12F5-1920-E6DB-D94714BE0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40A091-016D-1D95-BEF5-084D904CF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E3F4A-9F79-C0B2-B20C-B84C523D64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540076">
              <a:defRPr/>
            </a:pPr>
            <a:fld id="{1916ACA2-47E6-42D2-BEC8-EDC49A1A9FA1}" type="slidenum">
              <a:rPr lang="en-US" sz="1600">
                <a:solidFill>
                  <a:prstClr val="black"/>
                </a:solidFill>
                <a:latin typeface="Aptos" panose="02110004020202020204"/>
              </a:rPr>
              <a:pPr defTabSz="540076">
                <a:defRPr/>
              </a:pPr>
              <a:t>30</a:t>
            </a:fld>
            <a:endParaRPr lang="en-US" sz="16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8771698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6890C-F6C4-A64F-8A61-4867BDF69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2D0320-FFC4-6F59-E1B0-FF1CCBFDD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F7701-2D21-6E69-6D2E-92A0300F3D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Use only if students are ready:</a:t>
            </a:r>
          </a:p>
          <a:p>
            <a:r>
              <a:rPr lang="en-US" sz="1300" i="1" dirty="0"/>
              <a:t>`Demos/Week_02_Decision_Logic_and_Repetition/03_discount_checker.py`</a:t>
            </a:r>
          </a:p>
          <a:p>
            <a:br>
              <a:rPr lang="en-US" sz="1300" dirty="0"/>
            </a:br>
            <a:r>
              <a:rPr lang="en-US" sz="1300" dirty="0"/>
              <a:t>This demo bridges toward A2, but it should not become the only model students can imagine. </a:t>
            </a:r>
          </a:p>
          <a:p>
            <a:r>
              <a:rPr lang="en-US" sz="1300" dirty="0"/>
              <a:t>Ask them to name other decision contexts after the demo.</a:t>
            </a:r>
          </a:p>
          <a:p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The closing check is whether they can predict the branch before running code.</a:t>
            </a:r>
          </a:p>
          <a:p>
            <a:endParaRPr lang="en-US" sz="1300" dirty="0"/>
          </a:p>
          <a:p>
            <a:r>
              <a:rPr lang="en-US" sz="1300" b="1" dirty="0"/>
              <a:t>**Demo Connection:**</a:t>
            </a:r>
            <a:endParaRPr lang="en-US" sz="1300" dirty="0"/>
          </a:p>
          <a:p>
            <a:r>
              <a:rPr lang="en-US" sz="1300" dirty="0"/>
              <a:t>Optional demo file: `03_discount_checker.py`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FBE98-30F7-186C-4E0A-D78FF0DC11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540076"/>
            <a:fld id="{1916ACA2-47E6-42D2-BEC8-EDC49A1A9FA1}" type="slidenum">
              <a:rPr lang="en-US" sz="1600">
                <a:solidFill>
                  <a:prstClr val="black"/>
                </a:solidFill>
                <a:latin typeface="Aptos" panose="02110004020202020204"/>
              </a:rPr>
              <a:pPr defTabSz="540076"/>
              <a:t>31</a:t>
            </a:fld>
            <a:endParaRPr lang="en-US" sz="16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288043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400" b="1" dirty="0"/>
              <a:t>**Instructor Notes:**</a:t>
            </a:r>
            <a:endParaRPr lang="en-US" sz="1400" dirty="0"/>
          </a:p>
          <a:p>
            <a:r>
              <a:rPr lang="en-US" sz="1400" dirty="0"/>
              <a:t>Ask:</a:t>
            </a:r>
          </a:p>
          <a:p>
            <a:r>
              <a:rPr lang="en-US" sz="1400" dirty="0"/>
              <a:t>- What value started in this variable?</a:t>
            </a:r>
          </a:p>
          <a:p>
            <a:r>
              <a:rPr lang="en-US" sz="1400" dirty="0"/>
              <a:t>- What expression changed it?</a:t>
            </a:r>
          </a:p>
          <a:p>
            <a:r>
              <a:rPr lang="en-US" sz="1400" dirty="0"/>
              <a:t>- What was stored as the result?</a:t>
            </a:r>
          </a:p>
          <a:p>
            <a:r>
              <a:rPr lang="en-US" sz="1400" dirty="0"/>
              <a:t>- What printed at the end?</a:t>
            </a:r>
          </a:p>
          <a:p>
            <a:r>
              <a:rPr lang="en-US" sz="1400" dirty="0"/>
              <a:t>- If input was used, what did the user response become inside the program?</a:t>
            </a:r>
          </a:p>
          <a:p>
            <a:endParaRPr lang="en-US" sz="1400" dirty="0"/>
          </a:p>
          <a:p>
            <a:r>
              <a:rPr lang="en-US" sz="1400" dirty="0"/>
              <a:t>Name the next step: Day 3 will combine strings, numbers, and type awareness into clearer first programs.</a:t>
            </a:r>
          </a:p>
          <a:p>
            <a:br>
              <a:rPr lang="en-US" sz="1400" dirty="0"/>
            </a:br>
            <a:r>
              <a:rPr lang="en-US" sz="1400" b="1" dirty="0"/>
              <a:t>**Transition Cue:**</a:t>
            </a:r>
            <a:endParaRPr lang="en-US" sz="1400" dirty="0"/>
          </a:p>
          <a:p>
            <a:r>
              <a:rPr lang="en-US" sz="1400" dirty="0"/>
              <a:t>Next class, we combine these values more carefully and prepare to close Assignment 1.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335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196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71316" cy="6874935"/>
            <a:chOff x="-8466" y="-8468"/>
            <a:chExt cx="9171316" cy="6874935"/>
          </a:xfrm>
        </p:grpSpPr>
        <p:cxnSp>
          <p:nvCxnSpPr>
            <p:cNvPr id="28" name="Straight Connector 2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Freeform 2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Freeform 3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16E1E9-1B50-BC39-BE3A-AFDDF27CC4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939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DEB143-89C9-076B-466C-73BE156FD5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84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015F4D-DE23-F2FC-1853-93512C13AB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367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6E11E5-B722-B4E0-8233-E8E58F314B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21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ADA43D-D69A-D7AE-81F9-ED5E4E7A1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912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41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A1305F-50C0-9117-EE66-5430C74994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414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14F403-DB38-13CA-CC40-CAE2A08832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244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B8750C-22DC-D652-EE9D-9D81650FC9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8240" y="185696"/>
            <a:ext cx="726014" cy="31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369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9628F-1787-26D4-A797-33B2104580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3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05115D-2B3B-A0F2-8B96-FF372AE76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79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9252F8-DFBE-EC79-0D43-E7702CC284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0797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252413-6471-13E8-59E6-F7EEDC0F0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894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449300-3D10-A0CB-2DB5-98F274AC66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22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AFCF80-E27A-06C5-A850-78E5A5D2C2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9507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73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71317" cy="6874935"/>
            <a:chOff x="-8467" y="-8468"/>
            <a:chExt cx="9171317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594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1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awpixel.com/image/65575/survey-feedback-accountant-aerial-view-business-calculator-check-checklist-choice-coffee-computation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97F88-6791-2CCC-FDDE-DEB157237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0595" y="1358537"/>
            <a:ext cx="5826719" cy="2692299"/>
          </a:xfrm>
        </p:spPr>
        <p:txBody>
          <a:bodyPr/>
          <a:lstStyle/>
          <a:p>
            <a:r>
              <a:rPr lang="en-US" dirty="0"/>
              <a:t>Python Programming Foundations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F15B13-1D93-97F4-3DBC-B06CC6F120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Week 2 – Decision Logic and Repetition</a:t>
            </a:r>
          </a:p>
          <a:p>
            <a:r>
              <a:rPr lang="en-US" i="1"/>
              <a:t>Day 1: </a:t>
            </a:r>
            <a:r>
              <a:rPr lang="en-US" i="1" dirty="0"/>
              <a:t>“How Programs </a:t>
            </a:r>
            <a:r>
              <a:rPr lang="en-US" i="1"/>
              <a:t>Make Decisions”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795026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A34B9-4282-4F69-6D75-152BF8906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559" y="609600"/>
            <a:ext cx="2796807" cy="1320800"/>
          </a:xfrm>
        </p:spPr>
        <p:txBody>
          <a:bodyPr anchor="ctr">
            <a:normAutofit/>
          </a:bodyPr>
          <a:lstStyle/>
          <a:p>
            <a:r>
              <a:rPr lang="en-US" dirty="0"/>
              <a:t>Programs Can Choose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FFBCD-3E25-CBB7-2E73-683DBF46A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75" y="2160589"/>
            <a:ext cx="2790687" cy="3560733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500"/>
              <a:t>Last week, most programs followed one path from top to bottom.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500"/>
              <a:t>This week, programs begin choosing between possible paths.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500"/>
              <a:t>Decision logic lets a program react to the data it has.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500"/>
              <a:t>Today, watch for:</a:t>
            </a:r>
          </a:p>
          <a:p>
            <a:pPr>
              <a:lnSpc>
                <a:spcPct val="90000"/>
              </a:lnSpc>
            </a:pPr>
            <a:r>
              <a:rPr lang="en-US" sz="1500"/>
              <a:t>the value being checked</a:t>
            </a:r>
          </a:p>
          <a:p>
            <a:pPr>
              <a:lnSpc>
                <a:spcPct val="90000"/>
              </a:lnSpc>
            </a:pPr>
            <a:r>
              <a:rPr lang="en-US" sz="1500"/>
              <a:t>the condition being tested</a:t>
            </a:r>
          </a:p>
          <a:p>
            <a:pPr>
              <a:lnSpc>
                <a:spcPct val="90000"/>
              </a:lnSpc>
            </a:pPr>
            <a:r>
              <a:rPr lang="en-US" sz="1500"/>
              <a:t>the output that happens because of the result</a:t>
            </a:r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C5729602-24A8-D61F-5618-AB1C5A99C9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25" r="2068" b="-3"/>
          <a:stretch>
            <a:fillRect/>
          </a:stretch>
        </p:blipFill>
        <p:spPr>
          <a:xfrm>
            <a:off x="3567231" y="632145"/>
            <a:ext cx="3298650" cy="5089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162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C0D926-DDB4-ABA2-F676-65368B8023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8611" r="23342" b="2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44AE7D7-0CEB-F126-08CD-348C3A2A8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999" y="609599"/>
            <a:ext cx="2888343" cy="1571897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Becomes </a:t>
            </a:r>
            <a:br>
              <a:rPr lang="en-US" dirty="0"/>
            </a:br>
            <a:r>
              <a:rPr lang="en-US" dirty="0"/>
              <a:t>Week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93D39-026B-C61D-D6A3-140878484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78" y="2367627"/>
            <a:ext cx="2888342" cy="38807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Week 1 gave us values and visible output.</a:t>
            </a:r>
          </a:p>
          <a:p>
            <a:pPr marL="0" indent="0">
              <a:buNone/>
            </a:pPr>
            <a:r>
              <a:rPr lang="en-US" dirty="0"/>
              <a:t>Week 2 adds questions that choose which output should happen.</a:t>
            </a:r>
          </a:p>
          <a:p>
            <a:pPr marL="0" indent="0">
              <a:buNone/>
            </a:pPr>
            <a:r>
              <a:rPr lang="en-US" dirty="0"/>
              <a:t>A decision program still uses the same basic pieces:</a:t>
            </a:r>
          </a:p>
          <a:p>
            <a:r>
              <a:rPr lang="en-US" dirty="0"/>
              <a:t>variables hold values</a:t>
            </a:r>
          </a:p>
          <a:p>
            <a:r>
              <a:rPr lang="en-US" dirty="0"/>
              <a:t>comparisons ask questions about those values</a:t>
            </a:r>
          </a:p>
          <a:p>
            <a:r>
              <a:rPr lang="en-US" dirty="0"/>
              <a:t>`print()` shows the result of the chosen path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5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7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9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1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3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5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37663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614CF-B4A3-CD23-7758-1DCEB5E11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>
            <a:normAutofit/>
          </a:bodyPr>
          <a:lstStyle/>
          <a:p>
            <a:r>
              <a:rPr lang="en-US"/>
              <a:t>What Counts as Success Today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9CA85E0-965C-50C5-E7FF-C7A932CF15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09704274"/>
              </p:ext>
            </p:extLst>
          </p:nvPr>
        </p:nvGraphicFramePr>
        <p:xfrm>
          <a:off x="508397" y="2160588"/>
          <a:ext cx="6447234" cy="3881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035702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114BA-B99B-FCCB-3C99-B5320E3C0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069EA3-5539-7377-11A8-92F14296A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Success “Flow”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9392AEB8-2D23-B13F-2BF7-A4FCB86166F9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-25000" b="-25000"/>
          <a:stretch>
            <a:fillRect/>
          </a:stretch>
        </p:blipFill>
        <p:spPr>
          <a:xfrm>
            <a:off x="609599" y="609600"/>
            <a:ext cx="6627223" cy="4260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93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C1AD2-E72F-7796-291A-36CD12160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sz="3300" dirty="0"/>
              <a:t>What We Will Use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EEC5C-1292-A4A2-1E2D-A19D199A8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Today we will use:</a:t>
            </a:r>
          </a:p>
          <a:p>
            <a:r>
              <a:rPr lang="en-US" dirty="0"/>
              <a:t>`True` and `False`</a:t>
            </a:r>
          </a:p>
          <a:p>
            <a:r>
              <a:rPr lang="en-US" dirty="0"/>
              <a:t>comparisons such as `&gt;=`, `==`, and `!=`</a:t>
            </a:r>
          </a:p>
          <a:p>
            <a:r>
              <a:rPr lang="en-US" dirty="0"/>
              <a:t>`if`, `</a:t>
            </a:r>
            <a:r>
              <a:rPr lang="en-US" dirty="0" err="1"/>
              <a:t>elif</a:t>
            </a:r>
            <a:r>
              <a:rPr lang="en-US" dirty="0"/>
              <a:t>`, and `else`</a:t>
            </a:r>
          </a:p>
          <a:p>
            <a:r>
              <a:rPr lang="en-US" dirty="0"/>
              <a:t>branch prediction before running the code</a:t>
            </a:r>
          </a:p>
          <a:p>
            <a:pPr marL="0" indent="0">
              <a:buNone/>
            </a:pPr>
            <a:r>
              <a:rPr lang="en-US" dirty="0"/>
              <a:t>These tools are enough to build a small decision program.</a:t>
            </a:r>
          </a:p>
        </p:txBody>
      </p:sp>
      <p:pic>
        <p:nvPicPr>
          <p:cNvPr id="28" name="Picture 27" descr="Computer script on a screen">
            <a:extLst>
              <a:ext uri="{FF2B5EF4-FFF2-40B4-BE49-F238E27FC236}">
                <a16:creationId xmlns:a16="http://schemas.microsoft.com/office/drawing/2014/main" id="{38D50984-DDEB-A743-533E-89C11F357B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423" r="50195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42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50CC5-AA9B-DD7D-21F9-715007645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2DDB25-81E8-BC72-7C03-454AD93AE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Today’s Toolbox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38D2B014-7421-A2DF-37E3-EFF304CE3C51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/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104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E6D73-36C1-785B-BF1E-F70A56E45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What We Will “Skip” For Now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8A78D41-48A5-98C1-1F53-FB08BC3F6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90"/>
            <a:ext cx="3915323" cy="3701270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We will skip loops, repeated input, pattern matching, and compact one-line</a:t>
            </a:r>
          </a:p>
          <a:p>
            <a:pPr marL="0" indent="0">
              <a:buNone/>
            </a:pPr>
            <a:r>
              <a:rPr lang="en-US" dirty="0"/>
              <a:t>conditionals for now.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Today's job is to understand one decision path clearly.</a:t>
            </a:r>
          </a:p>
          <a:p>
            <a:pPr marL="0" indent="0">
              <a:buNone/>
            </a:pPr>
            <a:r>
              <a:rPr lang="en-US" dirty="0"/>
              <a:t>That means the program should be small enough that you can trace:</a:t>
            </a:r>
          </a:p>
          <a:p>
            <a:r>
              <a:rPr lang="en-US" dirty="0"/>
              <a:t>the starting value</a:t>
            </a:r>
          </a:p>
          <a:p>
            <a:r>
              <a:rPr lang="en-US" dirty="0"/>
              <a:t>the condition</a:t>
            </a:r>
          </a:p>
          <a:p>
            <a:r>
              <a:rPr lang="en-US" dirty="0"/>
              <a:t>the branch</a:t>
            </a:r>
          </a:p>
          <a:p>
            <a:r>
              <a:rPr lang="en-US" dirty="0"/>
              <a:t>the final output</a:t>
            </a:r>
          </a:p>
        </p:txBody>
      </p:sp>
      <p:pic>
        <p:nvPicPr>
          <p:cNvPr id="7" name="Graphic 6" descr="Disconnected">
            <a:extLst>
              <a:ext uri="{FF2B5EF4-FFF2-40B4-BE49-F238E27FC236}">
                <a16:creationId xmlns:a16="http://schemas.microsoft.com/office/drawing/2014/main" id="{634669AE-52A5-F086-9BDE-17982042AD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5562" y="2159000"/>
            <a:ext cx="2359152" cy="235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713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78E6B-27E1-393C-F50E-9672FC3BC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ED0DE29-BEC4-DAF1-3242-A3F13215E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905" y="5165243"/>
            <a:ext cx="6748196" cy="69998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4200" dirty="0"/>
              <a:t>Parked Concepts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89C4CD4-A37D-C33D-97EE-9BA693F7EA31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/>
        </p:blipFill>
        <p:spPr>
          <a:xfrm>
            <a:off x="492033" y="609599"/>
            <a:ext cx="6522720" cy="4193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78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Isosceles Triangle 33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8CC1AB3-4E10-DC1D-19E9-262AA9AD4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/>
              <a:t>Review Coding Lab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9DC68C51-4C04-4FB3-8831-97CAFAF56E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43" b="6549"/>
          <a:stretch>
            <a:fillRect/>
          </a:stretch>
        </p:blipFill>
        <p:spPr>
          <a:xfrm>
            <a:off x="739476" y="609600"/>
            <a:ext cx="6216024" cy="363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274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AEF9C6-0A12-8A6E-A151-A69A79375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3AD451-2CCF-799A-D699-C7FF3F384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Conditions Ask Questions</a:t>
            </a:r>
          </a:p>
        </p:txBody>
      </p:sp>
      <p:pic>
        <p:nvPicPr>
          <p:cNvPr id="2" name="Picture Placeholder 4">
            <a:extLst>
              <a:ext uri="{FF2B5EF4-FFF2-40B4-BE49-F238E27FC236}">
                <a16:creationId xmlns:a16="http://schemas.microsoft.com/office/drawing/2014/main" id="{7903636C-7B0B-2F92-B7F4-7475A6964A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86" b="1786"/>
          <a:stretch>
            <a:fillRect/>
          </a:stretch>
        </p:blipFill>
        <p:spPr>
          <a:xfrm>
            <a:off x="152331" y="2028701"/>
            <a:ext cx="4659698" cy="2999247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EBF282-6B41-EFF2-2CA3-B2017B40D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029" y="2160589"/>
            <a:ext cx="2712177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A condition is a question the program can answer as `True` or `False`.</a:t>
            </a:r>
          </a:p>
          <a:p>
            <a:pPr marL="0" indent="0">
              <a:buNone/>
            </a:pPr>
            <a:r>
              <a:rPr lang="en-US" sz="1600" dirty="0"/>
              <a:t>Example: `score &gt;= 70`</a:t>
            </a:r>
          </a:p>
          <a:p>
            <a:pPr marL="0" indent="0">
              <a:buNone/>
            </a:pPr>
            <a:r>
              <a:rPr lang="en-US" sz="1600" dirty="0"/>
              <a:t>Read the condition in plain language:</a:t>
            </a:r>
          </a:p>
          <a:p>
            <a:r>
              <a:rPr lang="en-US" sz="1600" dirty="0"/>
              <a:t>Is the score greater than or equal to 70?</a:t>
            </a:r>
          </a:p>
          <a:p>
            <a:r>
              <a:rPr lang="en-US" sz="1600" dirty="0"/>
              <a:t>If yes, the result is `True`.</a:t>
            </a:r>
          </a:p>
          <a:p>
            <a:r>
              <a:rPr lang="en-US" sz="1600" dirty="0"/>
              <a:t>If no, the result is `False`.</a:t>
            </a:r>
          </a:p>
        </p:txBody>
      </p:sp>
    </p:spTree>
    <p:extLst>
      <p:ext uri="{BB962C8B-B14F-4D97-AF65-F5344CB8AC3E}">
        <p14:creationId xmlns:p14="http://schemas.microsoft.com/office/powerpoint/2010/main" val="807468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FD963D-986F-1524-594C-94C6FC56F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/>
              <a:t>Comparison Operators</a:t>
            </a:r>
          </a:p>
        </p:txBody>
      </p:sp>
      <p:pic>
        <p:nvPicPr>
          <p:cNvPr id="2" name="Picture Placeholder 4">
            <a:extLst>
              <a:ext uri="{FF2B5EF4-FFF2-40B4-BE49-F238E27FC236}">
                <a16:creationId xmlns:a16="http://schemas.microsoft.com/office/drawing/2014/main" id="{A45537BA-1968-345D-924E-F146738E87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86" b="1786"/>
          <a:stretch>
            <a:fillRect/>
          </a:stretch>
        </p:blipFill>
        <p:spPr>
          <a:xfrm>
            <a:off x="613105" y="2159331"/>
            <a:ext cx="3962467" cy="2550469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01FA2D-2385-DABD-516E-8A2F33DC1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029" y="2160589"/>
            <a:ext cx="2725240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Comparisons create boolean results.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`&gt;`, `&lt;`, `&gt;=`, `&lt;=`, `==`, and `!=`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i="1" dirty="0"/>
              <a:t>These do not print by themselves unless you ask Python to show the result.</a:t>
            </a:r>
          </a:p>
        </p:txBody>
      </p:sp>
    </p:spTree>
    <p:extLst>
      <p:ext uri="{BB962C8B-B14F-4D97-AF65-F5344CB8AC3E}">
        <p14:creationId xmlns:p14="http://schemas.microsoft.com/office/powerpoint/2010/main" val="22763126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pic>
        <p:nvPicPr>
          <p:cNvPr id="7" name="Picture 6" descr="Camera lens close up">
            <a:extLst>
              <a:ext uri="{FF2B5EF4-FFF2-40B4-BE49-F238E27FC236}">
                <a16:creationId xmlns:a16="http://schemas.microsoft.com/office/drawing/2014/main" id="{3F92D707-4F6F-1707-563F-DAA7E83D0F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1" t="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34257526-B660-46EC-83FB-51CCCEF4D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5E54613B-CC3A-459D-97E1-23B891DE9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3405" y="0"/>
            <a:ext cx="54864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B21385D-063D-42D0-BD60-907E9F826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921B275-E6A3-4146-9F5F-5CD28092A3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23">
            <a:extLst>
              <a:ext uri="{FF2B5EF4-FFF2-40B4-BE49-F238E27FC236}">
                <a16:creationId xmlns:a16="http://schemas.microsoft.com/office/drawing/2014/main" id="{28E190A5-6423-4EE2-AF46-8B82F34BC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4A97AE97-5706-400B-8F09-602A25EA1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0860785A-BE10-40E0-8A0F-805CD3F59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C93F9C-2692-8651-EDC7-6D41F5D6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8150" y="1678665"/>
            <a:ext cx="3427352" cy="236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/>
              <a:t>Demo #1</a:t>
            </a: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2CD66695-C096-4E32-9AC2-19B4EFD66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A97E83CA-07FA-4B94-A213-9E6DA6FAC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2" name="Rectangle 29">
            <a:extLst>
              <a:ext uri="{FF2B5EF4-FFF2-40B4-BE49-F238E27FC236}">
                <a16:creationId xmlns:a16="http://schemas.microsoft.com/office/drawing/2014/main" id="{A531E02F-6391-4B0C-B1E1-D67E8EFC4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568558EC-35CA-4EC8-BB31-75AB78ACA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8DFD8B-5C86-3290-9577-EDD61563B509}"/>
              </a:ext>
            </a:extLst>
          </p:cNvPr>
          <p:cNvSpPr txBox="1"/>
          <p:nvPr/>
        </p:nvSpPr>
        <p:spPr>
          <a:xfrm>
            <a:off x="3879669" y="4558937"/>
            <a:ext cx="3320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B4F8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“Boolean Comparisons”</a:t>
            </a:r>
          </a:p>
        </p:txBody>
      </p:sp>
    </p:spTree>
    <p:extLst>
      <p:ext uri="{BB962C8B-B14F-4D97-AF65-F5344CB8AC3E}">
        <p14:creationId xmlns:p14="http://schemas.microsoft.com/office/powerpoint/2010/main" val="858767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Comparisons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running each comparison, predict the result.</a:t>
            </a:r>
          </a:p>
          <a:p>
            <a:pPr marL="0" indent="0">
              <a:buNone/>
            </a:pPr>
            <a:r>
              <a:rPr lang="en-US" dirty="0"/>
              <a:t>Will Python answer `True` or `False`?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For each line, identify:</a:t>
            </a:r>
          </a:p>
          <a:p>
            <a:r>
              <a:rPr lang="en-US" dirty="0"/>
              <a:t>the value being checked</a:t>
            </a:r>
          </a:p>
          <a:p>
            <a:r>
              <a:rPr lang="en-US" dirty="0"/>
              <a:t>the comparison operator</a:t>
            </a:r>
          </a:p>
          <a:p>
            <a:r>
              <a:rPr lang="en-US" dirty="0"/>
              <a:t>the expected boolean result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Then run the program to confirm your prediction.</a:t>
            </a:r>
          </a:p>
        </p:txBody>
      </p:sp>
    </p:spTree>
    <p:extLst>
      <p:ext uri="{BB962C8B-B14F-4D97-AF65-F5344CB8AC3E}">
        <p14:creationId xmlns:p14="http://schemas.microsoft.com/office/powerpoint/2010/main" val="1802641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1CD40-75AD-8923-445D-5B8FE94D0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`if`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2B4696-200F-61D0-6F14-11D703A61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`if` means: run this block only when the condition is `True`.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condition decides whether the indented code runs.</a:t>
            </a:r>
          </a:p>
          <a:p>
            <a:pPr marL="0" indent="0">
              <a:buNone/>
            </a:pPr>
            <a:r>
              <a:rPr lang="en-US" dirty="0"/>
              <a:t>Basic shape: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indented line belongs to the branch.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F5372-B8DC-5E47-7323-4BBD5A54D950}"/>
              </a:ext>
            </a:extLst>
          </p:cNvPr>
          <p:cNvSpPr txBox="1"/>
          <p:nvPr/>
        </p:nvSpPr>
        <p:spPr>
          <a:xfrm>
            <a:off x="2701416" y="3661230"/>
            <a:ext cx="2164077" cy="1200329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  if condition:</a:t>
            </a:r>
          </a:p>
          <a:p>
            <a:r>
              <a:rPr lang="en-US" dirty="0">
                <a:solidFill>
                  <a:schemeClr val="bg1"/>
                </a:solidFill>
              </a:rPr>
              <a:t>      </a:t>
            </a:r>
            <a:r>
              <a:rPr lang="en-US" dirty="0" err="1">
                <a:solidFill>
                  <a:schemeClr val="bg1"/>
                </a:solidFill>
              </a:rPr>
              <a:t>do_this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2509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410D77-E7C1-DDF5-0FD1-14A5194BF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782381"/>
            <a:ext cx="6216024" cy="109664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200" dirty="0"/>
              <a:t>Indention Block of the “If”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DE4BAABD-366B-8D83-9458-DA89F5FFB25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001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181353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4">
            <a:extLst>
              <a:ext uri="{FF2B5EF4-FFF2-40B4-BE49-F238E27FC236}">
                <a16:creationId xmlns:a16="http://schemas.microsoft.com/office/drawing/2014/main" id="{FF09C57F-5D69-9CE4-1B51-05464F8A0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0" y="816638"/>
            <a:ext cx="2525519" cy="5224724"/>
          </a:xfrm>
        </p:spPr>
        <p:txBody>
          <a:bodyPr anchor="ctr">
            <a:normAutofit/>
          </a:bodyPr>
          <a:lstStyle/>
          <a:p>
            <a:r>
              <a:rPr lang="en-US" dirty="0"/>
              <a:t>`</a:t>
            </a:r>
            <a:r>
              <a:rPr lang="en-US" dirty="0" err="1"/>
              <a:t>elif</a:t>
            </a:r>
            <a:r>
              <a:rPr lang="en-US" dirty="0"/>
              <a:t>` and `else`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089A20-616D-77FE-4B92-42F5080F5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0721" y="816638"/>
            <a:ext cx="3464779" cy="522472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`</a:t>
            </a:r>
            <a:r>
              <a:rPr lang="en-US" b="1" dirty="0" err="1">
                <a:solidFill>
                  <a:srgbClr val="00B050"/>
                </a:solidFill>
              </a:rPr>
              <a:t>elif</a:t>
            </a:r>
            <a:r>
              <a:rPr lang="en-US" dirty="0"/>
              <a:t>` checks another condition.</a:t>
            </a:r>
          </a:p>
          <a:p>
            <a:pPr marL="0" indent="0">
              <a:buNone/>
            </a:pPr>
            <a:r>
              <a:rPr lang="en-US" dirty="0"/>
              <a:t>`</a:t>
            </a:r>
            <a:r>
              <a:rPr lang="en-US" b="1" dirty="0">
                <a:solidFill>
                  <a:srgbClr val="00B050"/>
                </a:solidFill>
              </a:rPr>
              <a:t>else</a:t>
            </a:r>
            <a:r>
              <a:rPr lang="en-US" dirty="0"/>
              <a:t>` handles what is left when earlier conditions did not run.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Use this structure when there are multiple possible outcomes:</a:t>
            </a:r>
          </a:p>
          <a:p>
            <a:r>
              <a:rPr lang="en-US" dirty="0"/>
              <a:t>`if` starts the decision</a:t>
            </a:r>
          </a:p>
          <a:p>
            <a:r>
              <a:rPr lang="en-US" dirty="0"/>
              <a:t>`</a:t>
            </a:r>
            <a:r>
              <a:rPr lang="en-US" dirty="0" err="1"/>
              <a:t>elif</a:t>
            </a:r>
            <a:r>
              <a:rPr lang="en-US" dirty="0"/>
              <a:t>` adds another possible condition</a:t>
            </a:r>
          </a:p>
          <a:p>
            <a:r>
              <a:rPr lang="en-US" dirty="0"/>
              <a:t>`else` catches the remaining case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20147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708C59-DB29-D57E-DBD7-03FF4416B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66EDBE6F-29C0-6B63-B148-2505D35834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08B1FC9-0E2C-5E42-4EEE-1A1004C415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0C3C44C-7BD5-3590-D16D-11116DCE0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F6C0E2C6-F920-127B-8310-500B9983F0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EBE67878-5B9C-EC0D-831D-7B8C48BD62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E317A761-F960-4170-2BEC-BDDC174E13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EEA29732-3BAE-74BD-C4E7-A006B03295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A4A72D34-FFF1-E8F3-04BF-21B58D78F1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A560513F-7C7F-A0F6-FDE5-7756C8BA2F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3AD16A99-254B-41BF-87BA-90590D0FA7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06280142-0DCB-0E2D-3DC9-F8D41C6990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pic>
        <p:nvPicPr>
          <p:cNvPr id="7" name="Picture 6" descr="Camera lens close up">
            <a:extLst>
              <a:ext uri="{FF2B5EF4-FFF2-40B4-BE49-F238E27FC236}">
                <a16:creationId xmlns:a16="http://schemas.microsoft.com/office/drawing/2014/main" id="{B752CD2D-5733-2B8E-9286-B79D1F3DF4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1" t="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84C24198-C594-1319-A35C-BAD2F280A1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6A4F2D18-3987-396B-E7A0-C7FF73ECC9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3405" y="0"/>
            <a:ext cx="54864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B03C99-18A8-335C-32D3-01A48DA8D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BD33BD-4CF4-BEF0-EC0E-DD7F173C0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23">
            <a:extLst>
              <a:ext uri="{FF2B5EF4-FFF2-40B4-BE49-F238E27FC236}">
                <a16:creationId xmlns:a16="http://schemas.microsoft.com/office/drawing/2014/main" id="{FCE1A829-3A4A-9F2D-2E04-886562412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2B2B1685-3752-95B4-4F78-1328766DA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BCFD940B-3302-4973-5D0C-7D9BF76424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9028F6-869B-4EA3-7247-2CF3F3CB0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8150" y="1678665"/>
            <a:ext cx="3427352" cy="236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/>
              <a:t>Demo #2</a:t>
            </a: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8BF2565E-BB87-E82D-9BFA-CC213F582D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09443D5F-672A-4E1E-0938-BDF685D1C7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2" name="Rectangle 29">
            <a:extLst>
              <a:ext uri="{FF2B5EF4-FFF2-40B4-BE49-F238E27FC236}">
                <a16:creationId xmlns:a16="http://schemas.microsoft.com/office/drawing/2014/main" id="{2CF0CC90-E60F-E59A-3E8F-783E64BCDF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221EC232-4383-BB31-90AE-8C71078DA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E2A1C9B-ABD1-E279-BD37-70809EB12AC0}"/>
              </a:ext>
            </a:extLst>
          </p:cNvPr>
          <p:cNvSpPr txBox="1"/>
          <p:nvPr/>
        </p:nvSpPr>
        <p:spPr>
          <a:xfrm>
            <a:off x="3879669" y="4558937"/>
            <a:ext cx="3320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B4F8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“Grade Checker”</a:t>
            </a:r>
          </a:p>
        </p:txBody>
      </p:sp>
    </p:spTree>
    <p:extLst>
      <p:ext uri="{BB962C8B-B14F-4D97-AF65-F5344CB8AC3E}">
        <p14:creationId xmlns:p14="http://schemas.microsoft.com/office/powerpoint/2010/main" val="6434113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312A9D-A900-39EC-1EFA-AD548E92A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What to watch for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981869-44BD-6366-C29A-B2CB8A8C4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dirty="0"/>
              <a:t>Change the score.</a:t>
            </a:r>
            <a:endParaRPr lang="en-US"/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Predict the grade branch before running the program.</a:t>
            </a:r>
            <a:endParaRPr lang="en-US"/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For each score, explain:</a:t>
            </a: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which condition is checked first</a:t>
            </a: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which condition becomes true</a:t>
            </a: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which grade is printed</a:t>
            </a:r>
            <a:endParaRPr lang="en-US"/>
          </a:p>
          <a:p>
            <a:pPr>
              <a:lnSpc>
                <a:spcPct val="90000"/>
              </a:lnSpc>
            </a:pPr>
            <a:r>
              <a:rPr lang="en-US" dirty="0"/>
              <a:t>why later branches do or do not run</a:t>
            </a:r>
            <a:endParaRPr lang="en-US"/>
          </a:p>
        </p:txBody>
      </p:sp>
      <p:pic>
        <p:nvPicPr>
          <p:cNvPr id="7" name="Picture 6" descr="Analogue wall clock">
            <a:extLst>
              <a:ext uri="{FF2B5EF4-FFF2-40B4-BE49-F238E27FC236}">
                <a16:creationId xmlns:a16="http://schemas.microsoft.com/office/drawing/2014/main" id="{76347893-85AD-4451-AC62-62B0694C35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476" r="37289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958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82D91-1DD8-3221-A91A-963F6276C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7981" y="609600"/>
            <a:ext cx="3207519" cy="1320800"/>
          </a:xfrm>
        </p:spPr>
        <p:txBody>
          <a:bodyPr anchor="ctr">
            <a:normAutofit/>
          </a:bodyPr>
          <a:lstStyle/>
          <a:p>
            <a:r>
              <a:rPr lang="en-US" dirty="0"/>
              <a:t>Branch Order Matters</a:t>
            </a:r>
          </a:p>
        </p:txBody>
      </p:sp>
      <p:pic>
        <p:nvPicPr>
          <p:cNvPr id="7" name="Graphic 6" descr="Decision chart with solid fill">
            <a:extLst>
              <a:ext uri="{FF2B5EF4-FFF2-40B4-BE49-F238E27FC236}">
                <a16:creationId xmlns:a16="http://schemas.microsoft.com/office/drawing/2014/main" id="{E8F0B3AD-F0E9-E877-B88F-D0586B5322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02908" y="1899262"/>
            <a:ext cx="2896429" cy="289642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3F545-6B8A-6871-36A2-9F231FE290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9367" y="2160589"/>
            <a:ext cx="3213882" cy="37685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Python checks a branch chain from top to bottom.</a:t>
            </a:r>
          </a:p>
          <a:p>
            <a:pPr marL="0" indent="0">
              <a:buNone/>
            </a:pPr>
            <a:r>
              <a:rPr lang="en-US" dirty="0"/>
              <a:t>The first matching branch wins.</a:t>
            </a:r>
          </a:p>
          <a:p>
            <a:pPr marL="0" indent="0">
              <a:buNone/>
            </a:pPr>
            <a:r>
              <a:rPr lang="en-US" dirty="0"/>
              <a:t>Order matters when more than one condition could be true.</a:t>
            </a:r>
          </a:p>
          <a:p>
            <a:pPr marL="0" indent="0">
              <a:buNone/>
            </a:pPr>
            <a:r>
              <a:rPr lang="en-US" dirty="0"/>
              <a:t>Place the most specific or highest-priority checks where they belong in the chain.</a:t>
            </a:r>
          </a:p>
        </p:txBody>
      </p:sp>
    </p:spTree>
    <p:extLst>
      <p:ext uri="{BB962C8B-B14F-4D97-AF65-F5344CB8AC3E}">
        <p14:creationId xmlns:p14="http://schemas.microsoft.com/office/powerpoint/2010/main" val="3867114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5C894-54F1-573F-F554-E757FAE78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AE241B-D32D-C33E-1CBB-AFF4B8AF4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782381"/>
            <a:ext cx="6216024" cy="109664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200" dirty="0"/>
              <a:t>Demo 2: </a:t>
            </a:r>
            <a:br>
              <a:rPr lang="en-US" sz="4200" dirty="0"/>
            </a:br>
            <a:r>
              <a:rPr lang="en-US" sz="4200" dirty="0"/>
              <a:t>Grade Check Branches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03F26EBD-88A9-B2AE-DE05-DF558B1EB09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28571" b="28571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908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63144F4-0FE5-F17F-73D2-3BD4A5537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Common Failure:</a:t>
            </a:r>
            <a:br>
              <a:rPr lang="en-US" b="1" dirty="0"/>
            </a:br>
            <a:r>
              <a:rPr lang="en-US" b="1" dirty="0"/>
              <a:t>`=` Is Not `==`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C2691A-6BEA-7DA6-E969-B2E858AD2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`=` stores a value.</a:t>
            </a:r>
          </a:p>
          <a:p>
            <a:r>
              <a:rPr lang="en-US" dirty="0"/>
              <a:t>`==` compares two values.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	score = 84     # store the value</a:t>
            </a:r>
          </a:p>
          <a:p>
            <a:pPr marL="0" indent="0">
              <a:buNone/>
            </a:pPr>
            <a:r>
              <a:rPr lang="en-US" dirty="0"/>
              <a:t>	score == 84    # ask if the value matches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Mixing these up changes the meaning of the program.</a:t>
            </a:r>
          </a:p>
        </p:txBody>
      </p:sp>
    </p:spTree>
    <p:extLst>
      <p:ext uri="{BB962C8B-B14F-4D97-AF65-F5344CB8AC3E}">
        <p14:creationId xmlns:p14="http://schemas.microsoft.com/office/powerpoint/2010/main" val="17640492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A489A-1892-ECF6-B6C8-22154FC5B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E598AE-D03D-8CA4-C79D-F96E95F0A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988" y="4978324"/>
            <a:ext cx="6216024" cy="109664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200" dirty="0"/>
              <a:t>Common Failure: </a:t>
            </a:r>
            <a:br>
              <a:rPr lang="en-US" sz="4200" dirty="0"/>
            </a:br>
            <a:r>
              <a:rPr lang="en-US" sz="4200" dirty="0"/>
              <a:t>Equal sign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A8FD654-DD66-C95D-E638-29D41CA54E96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410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5579E6D-5E0B-3FF5-D12C-42EA33E84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Failure: </a:t>
            </a:r>
            <a:br>
              <a:rPr lang="en-US" dirty="0"/>
            </a:br>
            <a:r>
              <a:rPr lang="en-US" dirty="0"/>
              <a:t>Indentation Changes Meaning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86F244-8663-B5D2-A37E-0E5ABA34D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Indented lines belong to the branch.</a:t>
            </a:r>
          </a:p>
          <a:p>
            <a:pPr marL="0" indent="0">
              <a:buNone/>
            </a:pPr>
            <a:r>
              <a:rPr lang="en-US" dirty="0"/>
              <a:t>Unindented lines run after the branch is finished.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Python, indentation is structure. (aka: “scope”)</a:t>
            </a:r>
          </a:p>
          <a:p>
            <a:pPr marL="0" indent="0">
              <a:buNone/>
            </a:pPr>
            <a:r>
              <a:rPr lang="en-US" dirty="0"/>
              <a:t>When reading a branch, ask:</a:t>
            </a:r>
          </a:p>
          <a:p>
            <a:r>
              <a:rPr lang="en-US" dirty="0"/>
              <a:t>Which lines are inside the branch?</a:t>
            </a:r>
          </a:p>
          <a:p>
            <a:r>
              <a:rPr lang="en-US" dirty="0"/>
              <a:t>Which lines run no matter what?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8773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1B470-FFE1-3592-6358-37436B4F7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F22F17-9C86-4D1D-E216-404F46784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5474712"/>
            <a:ext cx="6216024" cy="109664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4200" dirty="0"/>
              <a:t>Indentation is about “scope” (in Python)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AE23A254-8935-E971-DC0D-A19D7565818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1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F827-0A5A-D6D9-6C73-5ACE22424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From Demo to 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E31B9-CEED-D579-BC3C-E6F2B784D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656222" cy="388077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In Lab For Assignment 2:</a:t>
            </a:r>
          </a:p>
          <a:p>
            <a:pPr>
              <a:buFont typeface="+mj-lt"/>
              <a:buAutoNum type="arabicPeriod"/>
            </a:pPr>
            <a:r>
              <a:rPr lang="en-US" dirty="0"/>
              <a:t>Build one small program that makes a clear decision.</a:t>
            </a:r>
          </a:p>
          <a:p>
            <a:pPr>
              <a:buFont typeface="+mj-lt"/>
              <a:buAutoNum type="arabicPeriod"/>
            </a:pPr>
            <a:r>
              <a:rPr lang="en-US" dirty="0"/>
              <a:t>Start with two or three test values before adding more features.</a:t>
            </a:r>
          </a:p>
          <a:p>
            <a:pPr>
              <a:buFont typeface="+mj-lt"/>
              <a:buAutoNum type="arabicPeriod"/>
            </a:pPr>
            <a:r>
              <a:rPr lang="en-US" dirty="0"/>
              <a:t>A good first version should include:</a:t>
            </a:r>
          </a:p>
          <a:p>
            <a:pPr lvl="1"/>
            <a:r>
              <a:rPr lang="en-US" dirty="0"/>
              <a:t>one main value to check</a:t>
            </a:r>
          </a:p>
          <a:p>
            <a:pPr lvl="1"/>
            <a:r>
              <a:rPr lang="en-US" dirty="0"/>
              <a:t>at least one comparison</a:t>
            </a:r>
          </a:p>
          <a:p>
            <a:pPr lvl="1"/>
            <a:r>
              <a:rPr lang="en-US" dirty="0"/>
              <a:t>at least two possible outputs</a:t>
            </a:r>
          </a:p>
          <a:p>
            <a:pPr lvl="1"/>
            <a:r>
              <a:rPr lang="en-US" dirty="0"/>
              <a:t>readable variable names</a:t>
            </a:r>
          </a:p>
        </p:txBody>
      </p:sp>
      <p:pic>
        <p:nvPicPr>
          <p:cNvPr id="5" name="Picture 4" descr="A row of samples for medical testing">
            <a:extLst>
              <a:ext uri="{FF2B5EF4-FFF2-40B4-BE49-F238E27FC236}">
                <a16:creationId xmlns:a16="http://schemas.microsoft.com/office/drawing/2014/main" id="{5406C1C5-46D3-5662-C887-3DA2319E77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75" r="4376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347200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4F755-AE1C-4C45-0943-64A30B15A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CC39E0-1929-8A7B-EEDF-1D245114A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782381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Assignment 2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B18E8D11-49F0-4BAE-0DD7-9E3A79245A2E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878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D7B8F8F-4528-4480-AFA3-A006195F5A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D618D6E-3F7B-457E-B2F5-7F8543446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199" y="609600"/>
            <a:ext cx="7648121" cy="1099457"/>
          </a:xfrm>
        </p:spPr>
        <p:txBody>
          <a:bodyPr>
            <a:normAutofit/>
          </a:bodyPr>
          <a:lstStyle/>
          <a:p>
            <a:r>
              <a:rPr lang="en-US" dirty="0"/>
              <a:t>Lab/Assignment Evidence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4F8B2185-AE38-43EA-9FA9-E5378AD730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0D36BD5A-BF22-48CD-8A55-28B19177CE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807450" y="4013200"/>
            <a:ext cx="336550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2C37A1C3-E3B5-6B5E-1FEA-6B5BA1BFD5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248888"/>
              </p:ext>
            </p:extLst>
          </p:nvPr>
        </p:nvGraphicFramePr>
        <p:xfrm>
          <a:off x="965199" y="1948543"/>
          <a:ext cx="7213600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08327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255E0-5BC0-7E61-69B7-0AE874133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BD88C-A2BA-E21D-01AB-20AECD6AE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782381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 dirty="0"/>
              <a:t>Evidence Example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761B7BF0-96FF-CFEF-1765-3D9E5568428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786" b="1786"/>
          <a:stretch>
            <a:fillRect/>
          </a:stretch>
        </p:blipFill>
        <p:spPr>
          <a:xfrm>
            <a:off x="609600" y="609600"/>
            <a:ext cx="6400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130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B0620F-5061-58EF-A99D-0EC500E01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CC9BB6C1-4280-FE86-43E4-0C8D489A04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FA810B-10A5-B330-40FD-EE6940D63E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24066F6-9F97-162A-58EC-E79EA4BF5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F0E7B78B-3396-674A-7E80-D7FFAD1C01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D364C627-9CBA-6DD6-9458-E7BF743023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0993A6EE-EBF8-BDCB-2120-64FC12EDE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31EAEF47-B4AD-1026-F197-12A6FDD97A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73BFF5F8-ECCA-4902-5299-78FFC5D6F2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D8E42CDA-5A7C-AB52-0040-FAC7305043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C3DA10C-1509-FF1F-6398-E74481D4E6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5210DD0A-9D58-49FB-44E6-4C0633FBDD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pic>
        <p:nvPicPr>
          <p:cNvPr id="7" name="Picture 6" descr="Camera lens close up">
            <a:extLst>
              <a:ext uri="{FF2B5EF4-FFF2-40B4-BE49-F238E27FC236}">
                <a16:creationId xmlns:a16="http://schemas.microsoft.com/office/drawing/2014/main" id="{91A2280D-8749-64A0-7F23-FE5BCE62C9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1" t="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6794D9A5-6B14-61FF-28E9-6849B4592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20640394-01D4-15F9-AE3C-014E60EAB5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3405" y="0"/>
            <a:ext cx="54864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CCE0479-6623-C558-0D41-1B8BDE8BCC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8E4B1FE-388B-D3DF-8266-098B41458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23">
            <a:extLst>
              <a:ext uri="{FF2B5EF4-FFF2-40B4-BE49-F238E27FC236}">
                <a16:creationId xmlns:a16="http://schemas.microsoft.com/office/drawing/2014/main" id="{EEBF0814-FDA5-9348-73FD-96B699AA2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76CA1D36-8345-51E9-5B9E-380B3D061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75FAD1-010F-3C5E-50C7-71C6EF6E07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22A657-13C7-C782-2B9D-DF87E5E55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8150" y="1678665"/>
            <a:ext cx="3427352" cy="236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/>
              <a:t>Optional</a:t>
            </a:r>
            <a:br>
              <a:rPr lang="en-US" sz="5400" dirty="0"/>
            </a:br>
            <a:r>
              <a:rPr lang="en-US" sz="5400" dirty="0"/>
              <a:t>Demo #3</a:t>
            </a: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C1C58ECD-C122-2EDD-112C-26DEB70391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8A7E6B4C-1B6F-5638-84E1-6DD01A624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2" name="Rectangle 29">
            <a:extLst>
              <a:ext uri="{FF2B5EF4-FFF2-40B4-BE49-F238E27FC236}">
                <a16:creationId xmlns:a16="http://schemas.microsoft.com/office/drawing/2014/main" id="{87E857FF-672C-7978-8963-145BD42C0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5267029-C52F-84AD-D3E1-A85AB1E62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7EA491-3C58-6A6D-4A99-581FD383AA43}"/>
              </a:ext>
            </a:extLst>
          </p:cNvPr>
          <p:cNvSpPr txBox="1"/>
          <p:nvPr/>
        </p:nvSpPr>
        <p:spPr>
          <a:xfrm>
            <a:off x="3879669" y="4558937"/>
            <a:ext cx="3320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B4F8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“Discount Checker”</a:t>
            </a:r>
          </a:p>
        </p:txBody>
      </p:sp>
    </p:spTree>
    <p:extLst>
      <p:ext uri="{BB962C8B-B14F-4D97-AF65-F5344CB8AC3E}">
        <p14:creationId xmlns:p14="http://schemas.microsoft.com/office/powerpoint/2010/main" val="4045135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EAA86A-F9BA-E24B-0210-388370471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C14CB7-C722-810D-823C-52E5C1A5B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What to watch for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7D351B1-6C38-7273-A89C-57F3A513C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500" dirty="0"/>
              <a:t>A practical decision program still follows the same pattern:</a:t>
            </a:r>
          </a:p>
          <a:p>
            <a:pPr marL="400050" lvl="1" indent="0">
              <a:lnSpc>
                <a:spcPct val="90000"/>
              </a:lnSpc>
              <a:buNone/>
            </a:pPr>
            <a:r>
              <a:rPr lang="en-US" sz="1500" i="1" dirty="0"/>
              <a:t>check a condition -&gt; choose a branch -&gt; show the result.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500" dirty="0"/>
              <a:t>In the demo, watch how the program:</a:t>
            </a:r>
          </a:p>
          <a:p>
            <a:pPr>
              <a:lnSpc>
                <a:spcPct val="90000"/>
              </a:lnSpc>
            </a:pPr>
            <a:r>
              <a:rPr lang="en-US" sz="1500" dirty="0"/>
              <a:t>checks the purchase total</a:t>
            </a:r>
          </a:p>
          <a:p>
            <a:pPr>
              <a:lnSpc>
                <a:spcPct val="90000"/>
              </a:lnSpc>
            </a:pPr>
            <a:r>
              <a:rPr lang="en-US" sz="1500" dirty="0"/>
              <a:t>decides whether a discount applies</a:t>
            </a:r>
          </a:p>
          <a:p>
            <a:pPr>
              <a:lnSpc>
                <a:spcPct val="90000"/>
              </a:lnSpc>
            </a:pPr>
            <a:r>
              <a:rPr lang="en-US" sz="1500" dirty="0"/>
              <a:t>calculates the final total only when needed</a:t>
            </a:r>
          </a:p>
          <a:p>
            <a:pPr>
              <a:lnSpc>
                <a:spcPct val="90000"/>
              </a:lnSpc>
            </a:pPr>
            <a:r>
              <a:rPr lang="en-US" sz="1500" dirty="0"/>
              <a:t>prints a result that matches the decision</a:t>
            </a:r>
          </a:p>
        </p:txBody>
      </p:sp>
      <p:pic>
        <p:nvPicPr>
          <p:cNvPr id="7" name="Picture 6" descr="Analogue wall clock">
            <a:extLst>
              <a:ext uri="{FF2B5EF4-FFF2-40B4-BE49-F238E27FC236}">
                <a16:creationId xmlns:a16="http://schemas.microsoft.com/office/drawing/2014/main" id="{9B414A4B-3CD3-D3DC-C951-4069B9E29A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476" r="37289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921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9555-1E16-8E8B-E548-105BA59C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dirty="0"/>
              <a:t>Closing Success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FF21A-F8C1-15AA-C705-4530AE58A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If you can predict the branch and explain the output, you understand the logic.</a:t>
            </a:r>
          </a:p>
          <a:p>
            <a:pPr marL="0" indent="0">
              <a:buNone/>
            </a:pPr>
            <a:r>
              <a:rPr lang="en-US" dirty="0"/>
              <a:t>Run the code to confirm your reasoning, not to replace it.</a:t>
            </a:r>
          </a:p>
          <a:p>
            <a:pPr marL="0" indent="0">
              <a:buNone/>
            </a:pPr>
            <a:r>
              <a:rPr lang="en-US" dirty="0"/>
              <a:t>Before submitting Assignment 2, test your program with:</a:t>
            </a:r>
          </a:p>
          <a:p>
            <a:r>
              <a:rPr lang="en-US" dirty="0"/>
              <a:t>one value that should trigger the first branch</a:t>
            </a:r>
          </a:p>
          <a:p>
            <a:r>
              <a:rPr lang="en-US" dirty="0"/>
              <a:t>one value that should trigger another branch</a:t>
            </a:r>
          </a:p>
          <a:p>
            <a:r>
              <a:rPr lang="en-US" dirty="0"/>
              <a:t>one boundary value if your decision has a cutoff</a:t>
            </a:r>
          </a:p>
        </p:txBody>
      </p:sp>
      <p:pic>
        <p:nvPicPr>
          <p:cNvPr id="5" name="Picture 4" descr="Beakers with solution on shelf in lab">
            <a:extLst>
              <a:ext uri="{FF2B5EF4-FFF2-40B4-BE49-F238E27FC236}">
                <a16:creationId xmlns:a16="http://schemas.microsoft.com/office/drawing/2014/main" id="{255A690D-4CB8-0C66-184B-33949F8D65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105" r="24512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88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291DAF8-8CBA-95A1-BEA8-AAD0C09C5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752" y="1265314"/>
            <a:ext cx="3572668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800" dirty="0"/>
              <a:t>Thank you!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/>
              <a:t>Have Fun!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E61A93-6BD2-677B-DBB4-F66B15926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30752" y="4514446"/>
            <a:ext cx="3224749" cy="871042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1800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2380" y="1270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Graphic 8" descr="Thumbs Up Sign">
            <a:extLst>
              <a:ext uri="{FF2B5EF4-FFF2-40B4-BE49-F238E27FC236}">
                <a16:creationId xmlns:a16="http://schemas.microsoft.com/office/drawing/2014/main" id="{CD1A5982-49F4-6629-1884-3B7061C5B5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6453" y="2020850"/>
            <a:ext cx="2824269" cy="28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68223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Southwest Tech">
      <a:dk1>
        <a:srgbClr val="0B4F8A"/>
      </a:dk1>
      <a:lt1>
        <a:sysClr val="window" lastClr="FFFFFF"/>
      </a:lt1>
      <a:dk2>
        <a:srgbClr val="6F6F6F"/>
      </a:dk2>
      <a:lt2>
        <a:srgbClr val="F4F6F8"/>
      </a:lt2>
      <a:accent1>
        <a:srgbClr val="0B4F8A"/>
      </a:accent1>
      <a:accent2>
        <a:srgbClr val="2E73B8"/>
      </a:accent2>
      <a:accent3>
        <a:srgbClr val="F2B705"/>
      </a:accent3>
      <a:accent4>
        <a:srgbClr val="6F6F6F"/>
      </a:accent4>
      <a:accent5>
        <a:srgbClr val="2E73B8"/>
      </a:accent5>
      <a:accent6>
        <a:srgbClr val="F2B705"/>
      </a:accent6>
      <a:hlink>
        <a:srgbClr val="2E73B8"/>
      </a:hlink>
      <a:folHlink>
        <a:srgbClr val="0B4F8A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10959</TotalTime>
  <Words>2477</Words>
  <Application>Microsoft Office PowerPoint</Application>
  <PresentationFormat>On-screen Show (4:3)</PresentationFormat>
  <Paragraphs>388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Aptos</vt:lpstr>
      <vt:lpstr>Arial</vt:lpstr>
      <vt:lpstr>Trebuchet MS</vt:lpstr>
      <vt:lpstr>Wingdings 3</vt:lpstr>
      <vt:lpstr>Facet</vt:lpstr>
      <vt:lpstr>Python Programming Foundations</vt:lpstr>
      <vt:lpstr>Programs Can Choose</vt:lpstr>
      <vt:lpstr>Week 1 Becomes  Week 2</vt:lpstr>
      <vt:lpstr>What Counts as Success Today</vt:lpstr>
      <vt:lpstr>Success “Flow”</vt:lpstr>
      <vt:lpstr>What We Will Use Today</vt:lpstr>
      <vt:lpstr>Today’s Toolbox</vt:lpstr>
      <vt:lpstr>What We Will “Skip” For Now</vt:lpstr>
      <vt:lpstr>Parked Concepts</vt:lpstr>
      <vt:lpstr>Review Coding Lab</vt:lpstr>
      <vt:lpstr>Conditions Ask Questions</vt:lpstr>
      <vt:lpstr>Comparison Operators</vt:lpstr>
      <vt:lpstr>Demo #1</vt:lpstr>
      <vt:lpstr>Boolean Comparisons</vt:lpstr>
      <vt:lpstr>The `if` Statement</vt:lpstr>
      <vt:lpstr>Indention Block of the “If”</vt:lpstr>
      <vt:lpstr>`elif` and `else`</vt:lpstr>
      <vt:lpstr>Demo #2</vt:lpstr>
      <vt:lpstr>What to watch for</vt:lpstr>
      <vt:lpstr>Branch Order Matters</vt:lpstr>
      <vt:lpstr>Demo 2:  Grade Check Branches</vt:lpstr>
      <vt:lpstr>Common Failure: `=` Is Not `==` </vt:lpstr>
      <vt:lpstr>Common Failure:  Equal sign</vt:lpstr>
      <vt:lpstr>Common Failure:  Indentation Changes Meaning</vt:lpstr>
      <vt:lpstr>Indentation is about “scope” (in Python)</vt:lpstr>
      <vt:lpstr>From Demo to Lab</vt:lpstr>
      <vt:lpstr>Assignment 2</vt:lpstr>
      <vt:lpstr>Lab/Assignment Evidence</vt:lpstr>
      <vt:lpstr>Evidence Example</vt:lpstr>
      <vt:lpstr>Optional Demo #3</vt:lpstr>
      <vt:lpstr>What to watch for</vt:lpstr>
      <vt:lpstr>Closing Success Check</vt:lpstr>
      <vt:lpstr>Thank you!  Have Fun!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Cash Myers</dc:creator>
  <cp:keywords/>
  <dc:description>generated using python-pptx</dc:description>
  <cp:lastModifiedBy>Cash Myers</cp:lastModifiedBy>
  <cp:revision>133</cp:revision>
  <cp:lastPrinted>2026-06-11T19:55:58Z</cp:lastPrinted>
  <dcterms:created xsi:type="dcterms:W3CDTF">2013-01-27T09:14:16Z</dcterms:created>
  <dcterms:modified xsi:type="dcterms:W3CDTF">2026-06-11T20:11:43Z</dcterms:modified>
  <cp:category/>
</cp:coreProperties>
</file>