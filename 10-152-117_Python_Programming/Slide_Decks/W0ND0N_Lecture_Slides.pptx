
<file path=[Content_Types].xml><?xml version="1.0" encoding="utf-8"?>
<Types xmlns="http://schemas.openxmlformats.org/package/2006/content-types">
  <Default Extension="1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7" r:id="rId1"/>
  </p:sldMasterIdLst>
  <p:notesMasterIdLst>
    <p:notesMasterId r:id="rId23"/>
  </p:notesMasterIdLst>
  <p:handoutMasterIdLst>
    <p:handoutMasterId r:id="rId24"/>
  </p:handoutMasterIdLst>
  <p:sldIdLst>
    <p:sldId id="256" r:id="rId2"/>
    <p:sldId id="467" r:id="rId3"/>
    <p:sldId id="466" r:id="rId4"/>
    <p:sldId id="260" r:id="rId5"/>
    <p:sldId id="364" r:id="rId6"/>
    <p:sldId id="322" r:id="rId7"/>
    <p:sldId id="488" r:id="rId8"/>
    <p:sldId id="269" r:id="rId9"/>
    <p:sldId id="376" r:id="rId10"/>
    <p:sldId id="377" r:id="rId11"/>
    <p:sldId id="487" r:id="rId12"/>
    <p:sldId id="418" r:id="rId13"/>
    <p:sldId id="378" r:id="rId14"/>
    <p:sldId id="369" r:id="rId15"/>
    <p:sldId id="307" r:id="rId16"/>
    <p:sldId id="309" r:id="rId17"/>
    <p:sldId id="374" r:id="rId18"/>
    <p:sldId id="375" r:id="rId19"/>
    <p:sldId id="320" r:id="rId20"/>
    <p:sldId id="373" r:id="rId21"/>
    <p:sldId id="417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68900" autoAdjust="0"/>
  </p:normalViewPr>
  <p:slideViewPr>
    <p:cSldViewPr snapToGrid="0" snapToObjects="1">
      <p:cViewPr varScale="1">
        <p:scale>
          <a:sx n="73" d="100"/>
          <a:sy n="73" d="100"/>
        </p:scale>
        <p:origin x="2694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15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80" d="100"/>
          <a:sy n="80" d="100"/>
        </p:scale>
        <p:origin x="4002" y="11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8972B69-4B4F-436A-B547-1FADC4FB29B4}" type="doc">
      <dgm:prSet loTypeId="urn:microsoft.com/office/officeart/2005/8/layout/process4" loCatId="process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A75A4D4B-BFE9-4B6F-9A81-9F9C96F5DA38}">
      <dgm:prSet/>
      <dgm:spPr/>
      <dgm:t>
        <a:bodyPr/>
        <a:lstStyle/>
        <a:p>
          <a:r>
            <a:rPr lang="en-US" dirty="0"/>
            <a:t>Working baseline -&gt;</a:t>
          </a:r>
          <a:br>
            <a:rPr lang="en-US" dirty="0"/>
          </a:br>
          <a:r>
            <a:rPr lang="en-US" dirty="0"/>
            <a:t>compare structure -&gt;</a:t>
          </a:r>
          <a:br>
            <a:rPr lang="en-US" dirty="0"/>
          </a:br>
          <a:r>
            <a:rPr lang="en-US" dirty="0"/>
            <a:t>revise one meaningful thing -&gt; explain the improvement.</a:t>
          </a:r>
        </a:p>
      </dgm:t>
      <dgm:extLst>
        <a:ext uri="{E40237B7-FDA0-4F09-8148-C483321AD2D9}">
          <dgm14:cNvPr xmlns:dgm14="http://schemas.microsoft.com/office/drawing/2010/diagram" id="0" name="">
            <a:extLst>
              <a:ext uri="{C183D7F6-B498-43B3-948B-1728B52AA6E4}">
                <adec:decorative xmlns:adec="http://schemas.microsoft.com/office/drawing/2017/decorative" val="1"/>
              </a:ext>
            </a:extLst>
          </dgm14:cNvPr>
        </a:ext>
      </dgm:extLst>
    </dgm:pt>
    <dgm:pt modelId="{4FAABBF4-AB55-44FE-B6F0-B4BF829D004F}" type="parTrans" cxnId="{7F9DA8A4-8191-4121-8DA1-F0552EB3E440}">
      <dgm:prSet/>
      <dgm:spPr/>
      <dgm:t>
        <a:bodyPr/>
        <a:lstStyle/>
        <a:p>
          <a:endParaRPr lang="en-US"/>
        </a:p>
      </dgm:t>
    </dgm:pt>
    <dgm:pt modelId="{7E1354BB-EC61-4A45-99C9-75C6202CC56A}" type="sibTrans" cxnId="{7F9DA8A4-8191-4121-8DA1-F0552EB3E440}">
      <dgm:prSet/>
      <dgm:spPr/>
      <dgm:t>
        <a:bodyPr/>
        <a:lstStyle/>
        <a:p>
          <a:endParaRPr lang="en-US"/>
        </a:p>
      </dgm:t>
    </dgm:pt>
    <dgm:pt modelId="{EB5121E5-32EC-4CC1-8D66-D95323571777}">
      <dgm:prSet/>
      <dgm:spPr/>
      <dgm:t>
        <a:bodyPr/>
        <a:lstStyle/>
        <a:p>
          <a:r>
            <a:rPr lang="en-US" dirty="0"/>
            <a:t>A useful revision should make the program:</a:t>
          </a:r>
        </a:p>
      </dgm:t>
      <dgm:extLst>
        <a:ext uri="{E40237B7-FDA0-4F09-8148-C483321AD2D9}">
          <dgm14:cNvPr xmlns:dgm14="http://schemas.microsoft.com/office/drawing/2010/diagram" id="0" name="">
            <a:extLst>
              <a:ext uri="{C183D7F6-B498-43B3-948B-1728B52AA6E4}">
                <adec:decorative xmlns:adec="http://schemas.microsoft.com/office/drawing/2017/decorative" val="1"/>
              </a:ext>
            </a:extLst>
          </dgm14:cNvPr>
        </a:ext>
      </dgm:extLst>
    </dgm:pt>
    <dgm:pt modelId="{688F2547-1224-41BA-B5A3-11ACD36BDE10}" type="parTrans" cxnId="{6128F5AF-C1A9-41F0-B2F1-8F28816F04E7}">
      <dgm:prSet/>
      <dgm:spPr/>
      <dgm:t>
        <a:bodyPr/>
        <a:lstStyle/>
        <a:p>
          <a:endParaRPr lang="en-US"/>
        </a:p>
      </dgm:t>
    </dgm:pt>
    <dgm:pt modelId="{D6AD86F4-A6C8-4FE0-AF15-A11786D5D5A7}" type="sibTrans" cxnId="{6128F5AF-C1A9-41F0-B2F1-8F28816F04E7}">
      <dgm:prSet/>
      <dgm:spPr/>
      <dgm:t>
        <a:bodyPr/>
        <a:lstStyle/>
        <a:p>
          <a:endParaRPr lang="en-US"/>
        </a:p>
      </dgm:t>
    </dgm:pt>
    <dgm:pt modelId="{9182D038-504A-4BAB-926D-C43E3569DBBF}">
      <dgm:prSet/>
      <dgm:spPr/>
      <dgm:t>
        <a:bodyPr/>
        <a:lstStyle/>
        <a:p>
          <a:r>
            <a:rPr lang="en-US" dirty="0"/>
            <a:t>clearer</a:t>
          </a:r>
        </a:p>
      </dgm:t>
    </dgm:pt>
    <dgm:pt modelId="{00F85236-5344-4DED-89C4-7F145D94A221}" type="parTrans" cxnId="{C670E53E-9704-4E9D-9DD5-43CBCDDB40CF}">
      <dgm:prSet/>
      <dgm:spPr/>
      <dgm:t>
        <a:bodyPr/>
        <a:lstStyle/>
        <a:p>
          <a:endParaRPr lang="en-US"/>
        </a:p>
      </dgm:t>
    </dgm:pt>
    <dgm:pt modelId="{AF0FFC48-338E-4ACC-9B88-42F7B229AF6E}" type="sibTrans" cxnId="{C670E53E-9704-4E9D-9DD5-43CBCDDB40CF}">
      <dgm:prSet/>
      <dgm:spPr/>
      <dgm:t>
        <a:bodyPr/>
        <a:lstStyle/>
        <a:p>
          <a:endParaRPr lang="en-US"/>
        </a:p>
      </dgm:t>
    </dgm:pt>
    <dgm:pt modelId="{803D0F37-C69D-433A-8B5B-D4CF3107BCE9}">
      <dgm:prSet/>
      <dgm:spPr/>
      <dgm:t>
        <a:bodyPr/>
        <a:lstStyle/>
        <a:p>
          <a:r>
            <a:rPr lang="en-US" dirty="0"/>
            <a:t>easier to test</a:t>
          </a:r>
        </a:p>
      </dgm:t>
    </dgm:pt>
    <dgm:pt modelId="{0F8742D7-FE16-4859-8C1B-1BE78247EC74}" type="parTrans" cxnId="{96BD682A-FC68-4A7C-9512-924B325842BF}">
      <dgm:prSet/>
      <dgm:spPr/>
      <dgm:t>
        <a:bodyPr/>
        <a:lstStyle/>
        <a:p>
          <a:endParaRPr lang="en-US"/>
        </a:p>
      </dgm:t>
    </dgm:pt>
    <dgm:pt modelId="{0E35261A-B537-4AFB-863E-A615EE915685}" type="sibTrans" cxnId="{96BD682A-FC68-4A7C-9512-924B325842BF}">
      <dgm:prSet/>
      <dgm:spPr/>
      <dgm:t>
        <a:bodyPr/>
        <a:lstStyle/>
        <a:p>
          <a:endParaRPr lang="en-US"/>
        </a:p>
      </dgm:t>
    </dgm:pt>
    <dgm:pt modelId="{E7728A9D-D3DD-4591-9C7C-7E316C5C312A}">
      <dgm:prSet/>
      <dgm:spPr/>
      <dgm:t>
        <a:bodyPr/>
        <a:lstStyle/>
        <a:p>
          <a:r>
            <a:rPr lang="en-US" dirty="0"/>
            <a:t>easier to change</a:t>
          </a:r>
        </a:p>
      </dgm:t>
    </dgm:pt>
    <dgm:pt modelId="{BFC6AE8E-AD4A-4D3E-8207-F17AF33DBF15}" type="parTrans" cxnId="{65A72186-C2FC-4687-92E8-A27D6DD132EC}">
      <dgm:prSet/>
      <dgm:spPr/>
      <dgm:t>
        <a:bodyPr/>
        <a:lstStyle/>
        <a:p>
          <a:endParaRPr lang="en-US"/>
        </a:p>
      </dgm:t>
    </dgm:pt>
    <dgm:pt modelId="{A0B2B5BB-C1F7-46A1-94E8-3258A056C71B}" type="sibTrans" cxnId="{65A72186-C2FC-4687-92E8-A27D6DD132EC}">
      <dgm:prSet/>
      <dgm:spPr/>
      <dgm:t>
        <a:bodyPr/>
        <a:lstStyle/>
        <a:p>
          <a:endParaRPr lang="en-US"/>
        </a:p>
      </dgm:t>
    </dgm:pt>
    <dgm:pt modelId="{EFA31A2A-5CD7-4982-8FD7-0A79E8DF64F4}">
      <dgm:prSet/>
      <dgm:spPr/>
      <dgm:t>
        <a:bodyPr/>
        <a:lstStyle/>
        <a:p>
          <a:r>
            <a:rPr lang="en-US" dirty="0"/>
            <a:t>easier to explain</a:t>
          </a:r>
        </a:p>
      </dgm:t>
    </dgm:pt>
    <dgm:pt modelId="{607DAFC8-6764-4FFC-8726-E6F514E61ACC}" type="parTrans" cxnId="{AD071327-7821-4960-BDDB-E10EFF1F1E09}">
      <dgm:prSet/>
      <dgm:spPr/>
      <dgm:t>
        <a:bodyPr/>
        <a:lstStyle/>
        <a:p>
          <a:endParaRPr lang="en-US"/>
        </a:p>
      </dgm:t>
    </dgm:pt>
    <dgm:pt modelId="{74496212-F00F-40A5-91D1-4E6C3AEF82E9}" type="sibTrans" cxnId="{AD071327-7821-4960-BDDB-E10EFF1F1E09}">
      <dgm:prSet/>
      <dgm:spPr/>
      <dgm:t>
        <a:bodyPr/>
        <a:lstStyle/>
        <a:p>
          <a:endParaRPr lang="en-US"/>
        </a:p>
      </dgm:t>
    </dgm:pt>
    <dgm:pt modelId="{C02D4931-3D53-44B6-8786-4F33D4438E16}" type="pres">
      <dgm:prSet presAssocID="{A8972B69-4B4F-436A-B547-1FADC4FB29B4}" presName="Name0" presStyleCnt="0">
        <dgm:presLayoutVars>
          <dgm:dir/>
          <dgm:animLvl val="lvl"/>
          <dgm:resizeHandles val="exact"/>
        </dgm:presLayoutVars>
      </dgm:prSet>
      <dgm:spPr/>
    </dgm:pt>
    <dgm:pt modelId="{2F9D52CB-4845-4677-B495-47244B0A6919}" type="pres">
      <dgm:prSet presAssocID="{EB5121E5-32EC-4CC1-8D66-D95323571777}" presName="boxAndChildren" presStyleCnt="0"/>
      <dgm:spPr/>
    </dgm:pt>
    <dgm:pt modelId="{F94D21B4-717D-44F3-A5A2-7786D04B0D36}" type="pres">
      <dgm:prSet presAssocID="{EB5121E5-32EC-4CC1-8D66-D95323571777}" presName="parentTextBox" presStyleLbl="node1" presStyleIdx="0" presStyleCnt="2"/>
      <dgm:spPr/>
    </dgm:pt>
    <dgm:pt modelId="{461B57AD-775D-46BC-AF21-BF741DE08030}" type="pres">
      <dgm:prSet presAssocID="{EB5121E5-32EC-4CC1-8D66-D95323571777}" presName="entireBox" presStyleLbl="node1" presStyleIdx="0" presStyleCnt="2"/>
      <dgm:spPr/>
    </dgm:pt>
    <dgm:pt modelId="{83951E30-0CAF-40F5-A939-932BE4AB7938}" type="pres">
      <dgm:prSet presAssocID="{EB5121E5-32EC-4CC1-8D66-D95323571777}" presName="descendantBox" presStyleCnt="0"/>
      <dgm:spPr/>
    </dgm:pt>
    <dgm:pt modelId="{DFEB7707-965B-4E91-8967-EA2DDFBF218E}" type="pres">
      <dgm:prSet presAssocID="{9182D038-504A-4BAB-926D-C43E3569DBBF}" presName="childTextBox" presStyleLbl="fgAccFollowNode1" presStyleIdx="0" presStyleCnt="4">
        <dgm:presLayoutVars>
          <dgm:bulletEnabled val="1"/>
        </dgm:presLayoutVars>
      </dgm:prSet>
      <dgm:spPr/>
    </dgm:pt>
    <dgm:pt modelId="{B73B748A-13E7-4DEF-98B7-3EA10A235998}" type="pres">
      <dgm:prSet presAssocID="{803D0F37-C69D-433A-8B5B-D4CF3107BCE9}" presName="childTextBox" presStyleLbl="fgAccFollowNode1" presStyleIdx="1" presStyleCnt="4">
        <dgm:presLayoutVars>
          <dgm:bulletEnabled val="1"/>
        </dgm:presLayoutVars>
      </dgm:prSet>
      <dgm:spPr/>
    </dgm:pt>
    <dgm:pt modelId="{AF879534-F1EC-4012-93E0-D6A87B0DF1D2}" type="pres">
      <dgm:prSet presAssocID="{E7728A9D-D3DD-4591-9C7C-7E316C5C312A}" presName="childTextBox" presStyleLbl="fgAccFollowNode1" presStyleIdx="2" presStyleCnt="4">
        <dgm:presLayoutVars>
          <dgm:bulletEnabled val="1"/>
        </dgm:presLayoutVars>
      </dgm:prSet>
      <dgm:spPr/>
    </dgm:pt>
    <dgm:pt modelId="{0F565987-2C71-4DCF-A1C1-E0601B2C4C10}" type="pres">
      <dgm:prSet presAssocID="{EFA31A2A-5CD7-4982-8FD7-0A79E8DF64F4}" presName="childTextBox" presStyleLbl="fgAccFollowNode1" presStyleIdx="3" presStyleCnt="4">
        <dgm:presLayoutVars>
          <dgm:bulletEnabled val="1"/>
        </dgm:presLayoutVars>
      </dgm:prSet>
      <dgm:spPr/>
    </dgm:pt>
    <dgm:pt modelId="{9D5C837F-8017-4AB9-8994-F8CB0FDCE4BB}" type="pres">
      <dgm:prSet presAssocID="{7E1354BB-EC61-4A45-99C9-75C6202CC56A}" presName="sp" presStyleCnt="0"/>
      <dgm:spPr/>
    </dgm:pt>
    <dgm:pt modelId="{8A5E0D36-7A12-4198-A6F1-EA719691EE02}" type="pres">
      <dgm:prSet presAssocID="{A75A4D4B-BFE9-4B6F-9A81-9F9C96F5DA38}" presName="arrowAndChildren" presStyleCnt="0"/>
      <dgm:spPr/>
    </dgm:pt>
    <dgm:pt modelId="{882C4059-4D1A-489A-A4F8-99823542DCD9}" type="pres">
      <dgm:prSet presAssocID="{A75A4D4B-BFE9-4B6F-9A81-9F9C96F5DA38}" presName="parentTextArrow" presStyleLbl="node1" presStyleIdx="1" presStyleCnt="2"/>
      <dgm:spPr/>
    </dgm:pt>
  </dgm:ptLst>
  <dgm:cxnLst>
    <dgm:cxn modelId="{6C177617-F56F-4B49-AFF7-5A0268F91B6B}" type="presOf" srcId="{EFA31A2A-5CD7-4982-8FD7-0A79E8DF64F4}" destId="{0F565987-2C71-4DCF-A1C1-E0601B2C4C10}" srcOrd="0" destOrd="0" presId="urn:microsoft.com/office/officeart/2005/8/layout/process4"/>
    <dgm:cxn modelId="{69FB5222-4348-4978-B408-A352A515FB8C}" type="presOf" srcId="{A75A4D4B-BFE9-4B6F-9A81-9F9C96F5DA38}" destId="{882C4059-4D1A-489A-A4F8-99823542DCD9}" srcOrd="0" destOrd="0" presId="urn:microsoft.com/office/officeart/2005/8/layout/process4"/>
    <dgm:cxn modelId="{AD071327-7821-4960-BDDB-E10EFF1F1E09}" srcId="{EB5121E5-32EC-4CC1-8D66-D95323571777}" destId="{EFA31A2A-5CD7-4982-8FD7-0A79E8DF64F4}" srcOrd="3" destOrd="0" parTransId="{607DAFC8-6764-4FFC-8726-E6F514E61ACC}" sibTransId="{74496212-F00F-40A5-91D1-4E6C3AEF82E9}"/>
    <dgm:cxn modelId="{96BD682A-FC68-4A7C-9512-924B325842BF}" srcId="{EB5121E5-32EC-4CC1-8D66-D95323571777}" destId="{803D0F37-C69D-433A-8B5B-D4CF3107BCE9}" srcOrd="1" destOrd="0" parTransId="{0F8742D7-FE16-4859-8C1B-1BE78247EC74}" sibTransId="{0E35261A-B537-4AFB-863E-A615EE915685}"/>
    <dgm:cxn modelId="{C670E53E-9704-4E9D-9DD5-43CBCDDB40CF}" srcId="{EB5121E5-32EC-4CC1-8D66-D95323571777}" destId="{9182D038-504A-4BAB-926D-C43E3569DBBF}" srcOrd="0" destOrd="0" parTransId="{00F85236-5344-4DED-89C4-7F145D94A221}" sibTransId="{AF0FFC48-338E-4ACC-9B88-42F7B229AF6E}"/>
    <dgm:cxn modelId="{65304746-C94F-4A87-836B-B25C4460EDFE}" type="presOf" srcId="{A8972B69-4B4F-436A-B547-1FADC4FB29B4}" destId="{C02D4931-3D53-44B6-8786-4F33D4438E16}" srcOrd="0" destOrd="0" presId="urn:microsoft.com/office/officeart/2005/8/layout/process4"/>
    <dgm:cxn modelId="{86FA586D-A309-4F89-BEBC-8E25BE20F502}" type="presOf" srcId="{E7728A9D-D3DD-4591-9C7C-7E316C5C312A}" destId="{AF879534-F1EC-4012-93E0-D6A87B0DF1D2}" srcOrd="0" destOrd="0" presId="urn:microsoft.com/office/officeart/2005/8/layout/process4"/>
    <dgm:cxn modelId="{65A72186-C2FC-4687-92E8-A27D6DD132EC}" srcId="{EB5121E5-32EC-4CC1-8D66-D95323571777}" destId="{E7728A9D-D3DD-4591-9C7C-7E316C5C312A}" srcOrd="2" destOrd="0" parTransId="{BFC6AE8E-AD4A-4D3E-8207-F17AF33DBF15}" sibTransId="{A0B2B5BB-C1F7-46A1-94E8-3258A056C71B}"/>
    <dgm:cxn modelId="{7F9DA8A4-8191-4121-8DA1-F0552EB3E440}" srcId="{A8972B69-4B4F-436A-B547-1FADC4FB29B4}" destId="{A75A4D4B-BFE9-4B6F-9A81-9F9C96F5DA38}" srcOrd="0" destOrd="0" parTransId="{4FAABBF4-AB55-44FE-B6F0-B4BF829D004F}" sibTransId="{7E1354BB-EC61-4A45-99C9-75C6202CC56A}"/>
    <dgm:cxn modelId="{6128F5AF-C1A9-41F0-B2F1-8F28816F04E7}" srcId="{A8972B69-4B4F-436A-B547-1FADC4FB29B4}" destId="{EB5121E5-32EC-4CC1-8D66-D95323571777}" srcOrd="1" destOrd="0" parTransId="{688F2547-1224-41BA-B5A3-11ACD36BDE10}" sibTransId="{D6AD86F4-A6C8-4FE0-AF15-A11786D5D5A7}"/>
    <dgm:cxn modelId="{26A444C0-0B38-4634-AD5F-1C186FFB9DD9}" type="presOf" srcId="{EB5121E5-32EC-4CC1-8D66-D95323571777}" destId="{F94D21B4-717D-44F3-A5A2-7786D04B0D36}" srcOrd="0" destOrd="0" presId="urn:microsoft.com/office/officeart/2005/8/layout/process4"/>
    <dgm:cxn modelId="{AA7A9CC2-389C-483C-833A-85BA2F7F71E3}" type="presOf" srcId="{EB5121E5-32EC-4CC1-8D66-D95323571777}" destId="{461B57AD-775D-46BC-AF21-BF741DE08030}" srcOrd="1" destOrd="0" presId="urn:microsoft.com/office/officeart/2005/8/layout/process4"/>
    <dgm:cxn modelId="{C3B22DCE-5D0E-437E-8154-E79603D00EB0}" type="presOf" srcId="{803D0F37-C69D-433A-8B5B-D4CF3107BCE9}" destId="{B73B748A-13E7-4DEF-98B7-3EA10A235998}" srcOrd="0" destOrd="0" presId="urn:microsoft.com/office/officeart/2005/8/layout/process4"/>
    <dgm:cxn modelId="{30533CF7-A5A0-4A3A-8965-00558F955E74}" type="presOf" srcId="{9182D038-504A-4BAB-926D-C43E3569DBBF}" destId="{DFEB7707-965B-4E91-8967-EA2DDFBF218E}" srcOrd="0" destOrd="0" presId="urn:microsoft.com/office/officeart/2005/8/layout/process4"/>
    <dgm:cxn modelId="{585D769B-BC63-443D-9FA0-53C8DAB66774}" type="presParOf" srcId="{C02D4931-3D53-44B6-8786-4F33D4438E16}" destId="{2F9D52CB-4845-4677-B495-47244B0A6919}" srcOrd="0" destOrd="0" presId="urn:microsoft.com/office/officeart/2005/8/layout/process4"/>
    <dgm:cxn modelId="{E97CFB66-FF70-4107-B30F-A57E6B6A8384}" type="presParOf" srcId="{2F9D52CB-4845-4677-B495-47244B0A6919}" destId="{F94D21B4-717D-44F3-A5A2-7786D04B0D36}" srcOrd="0" destOrd="0" presId="urn:microsoft.com/office/officeart/2005/8/layout/process4"/>
    <dgm:cxn modelId="{EE78CE6C-8BD5-4A8D-B505-A0567AADA1A0}" type="presParOf" srcId="{2F9D52CB-4845-4677-B495-47244B0A6919}" destId="{461B57AD-775D-46BC-AF21-BF741DE08030}" srcOrd="1" destOrd="0" presId="urn:microsoft.com/office/officeart/2005/8/layout/process4"/>
    <dgm:cxn modelId="{E7D39302-13F5-4A10-A512-128E0F7A971C}" type="presParOf" srcId="{2F9D52CB-4845-4677-B495-47244B0A6919}" destId="{83951E30-0CAF-40F5-A939-932BE4AB7938}" srcOrd="2" destOrd="0" presId="urn:microsoft.com/office/officeart/2005/8/layout/process4"/>
    <dgm:cxn modelId="{E3D32C8D-9443-4048-821F-5B1B6697B3D5}" type="presParOf" srcId="{83951E30-0CAF-40F5-A939-932BE4AB7938}" destId="{DFEB7707-965B-4E91-8967-EA2DDFBF218E}" srcOrd="0" destOrd="0" presId="urn:microsoft.com/office/officeart/2005/8/layout/process4"/>
    <dgm:cxn modelId="{3BCE72BC-8051-4103-9A78-F725F8E4CCE6}" type="presParOf" srcId="{83951E30-0CAF-40F5-A939-932BE4AB7938}" destId="{B73B748A-13E7-4DEF-98B7-3EA10A235998}" srcOrd="1" destOrd="0" presId="urn:microsoft.com/office/officeart/2005/8/layout/process4"/>
    <dgm:cxn modelId="{BF6079DC-B224-4217-8BB5-B3D0569542A7}" type="presParOf" srcId="{83951E30-0CAF-40F5-A939-932BE4AB7938}" destId="{AF879534-F1EC-4012-93E0-D6A87B0DF1D2}" srcOrd="2" destOrd="0" presId="urn:microsoft.com/office/officeart/2005/8/layout/process4"/>
    <dgm:cxn modelId="{0195C394-B69D-4A68-A009-93074C77C183}" type="presParOf" srcId="{83951E30-0CAF-40F5-A939-932BE4AB7938}" destId="{0F565987-2C71-4DCF-A1C1-E0601B2C4C10}" srcOrd="3" destOrd="0" presId="urn:microsoft.com/office/officeart/2005/8/layout/process4"/>
    <dgm:cxn modelId="{A9721079-1872-4B55-871A-045E8D59C442}" type="presParOf" srcId="{C02D4931-3D53-44B6-8786-4F33D4438E16}" destId="{9D5C837F-8017-4AB9-8994-F8CB0FDCE4BB}" srcOrd="1" destOrd="0" presId="urn:microsoft.com/office/officeart/2005/8/layout/process4"/>
    <dgm:cxn modelId="{6D892BAF-62E3-4B31-A661-30BEE1A06D60}" type="presParOf" srcId="{C02D4931-3D53-44B6-8786-4F33D4438E16}" destId="{8A5E0D36-7A12-4198-A6F1-EA719691EE02}" srcOrd="2" destOrd="0" presId="urn:microsoft.com/office/officeart/2005/8/layout/process4"/>
    <dgm:cxn modelId="{BC255D68-898C-49C5-84DF-ECA8561F177F}" type="presParOf" srcId="{8A5E0D36-7A12-4198-A6F1-EA719691EE02}" destId="{882C4059-4D1A-489A-A4F8-99823542DCD9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61B57AD-775D-46BC-AF21-BF741DE08030}">
      <dsp:nvSpPr>
        <dsp:cNvPr id="0" name=""/>
        <dsp:cNvSpPr/>
      </dsp:nvSpPr>
      <dsp:spPr>
        <a:xfrm>
          <a:off x="0" y="2911050"/>
          <a:ext cx="5019610" cy="1909964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7800" tIns="177800" rIns="177800" bIns="17780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A useful revision should make the program:</a:t>
          </a:r>
        </a:p>
      </dsp:txBody>
      <dsp:txXfrm>
        <a:off x="0" y="2911050"/>
        <a:ext cx="5019610" cy="1031380"/>
      </dsp:txXfrm>
    </dsp:sp>
    <dsp:sp modelId="{DFEB7707-965B-4E91-8967-EA2DDFBF218E}">
      <dsp:nvSpPr>
        <dsp:cNvPr id="0" name=""/>
        <dsp:cNvSpPr/>
      </dsp:nvSpPr>
      <dsp:spPr>
        <a:xfrm>
          <a:off x="0" y="3904232"/>
          <a:ext cx="1254902" cy="878583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25400" rIns="14224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clearer</a:t>
          </a:r>
        </a:p>
      </dsp:txBody>
      <dsp:txXfrm>
        <a:off x="0" y="3904232"/>
        <a:ext cx="1254902" cy="878583"/>
      </dsp:txXfrm>
    </dsp:sp>
    <dsp:sp modelId="{B73B748A-13E7-4DEF-98B7-3EA10A235998}">
      <dsp:nvSpPr>
        <dsp:cNvPr id="0" name=""/>
        <dsp:cNvSpPr/>
      </dsp:nvSpPr>
      <dsp:spPr>
        <a:xfrm>
          <a:off x="1254902" y="3904232"/>
          <a:ext cx="1254902" cy="878583"/>
        </a:xfrm>
        <a:prstGeom prst="rect">
          <a:avLst/>
        </a:prstGeom>
        <a:solidFill>
          <a:schemeClr val="accent2">
            <a:tint val="40000"/>
            <a:alpha val="90000"/>
            <a:hueOff val="-3718424"/>
            <a:satOff val="16208"/>
            <a:lumOff val="1196"/>
            <a:alphaOff val="0"/>
          </a:schemeClr>
        </a:solidFill>
        <a:ln w="12700" cap="rnd" cmpd="sng" algn="ctr">
          <a:solidFill>
            <a:schemeClr val="accent2">
              <a:tint val="40000"/>
              <a:alpha val="90000"/>
              <a:hueOff val="-3718424"/>
              <a:satOff val="16208"/>
              <a:lumOff val="1196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25400" rIns="14224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easier to test</a:t>
          </a:r>
        </a:p>
      </dsp:txBody>
      <dsp:txXfrm>
        <a:off x="1254902" y="3904232"/>
        <a:ext cx="1254902" cy="878583"/>
      </dsp:txXfrm>
    </dsp:sp>
    <dsp:sp modelId="{AF879534-F1EC-4012-93E0-D6A87B0DF1D2}">
      <dsp:nvSpPr>
        <dsp:cNvPr id="0" name=""/>
        <dsp:cNvSpPr/>
      </dsp:nvSpPr>
      <dsp:spPr>
        <a:xfrm>
          <a:off x="2509805" y="3904232"/>
          <a:ext cx="1254902" cy="878583"/>
        </a:xfrm>
        <a:prstGeom prst="rect">
          <a:avLst/>
        </a:prstGeom>
        <a:solidFill>
          <a:schemeClr val="accent2">
            <a:tint val="40000"/>
            <a:alpha val="90000"/>
            <a:hueOff val="-7436848"/>
            <a:satOff val="32416"/>
            <a:lumOff val="2392"/>
            <a:alphaOff val="0"/>
          </a:schemeClr>
        </a:solidFill>
        <a:ln w="12700" cap="rnd" cmpd="sng" algn="ctr">
          <a:solidFill>
            <a:schemeClr val="accent2">
              <a:tint val="40000"/>
              <a:alpha val="90000"/>
              <a:hueOff val="-7436848"/>
              <a:satOff val="32416"/>
              <a:lumOff val="2392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25400" rIns="14224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easier to change</a:t>
          </a:r>
        </a:p>
      </dsp:txBody>
      <dsp:txXfrm>
        <a:off x="2509805" y="3904232"/>
        <a:ext cx="1254902" cy="878583"/>
      </dsp:txXfrm>
    </dsp:sp>
    <dsp:sp modelId="{0F565987-2C71-4DCF-A1C1-E0601B2C4C10}">
      <dsp:nvSpPr>
        <dsp:cNvPr id="0" name=""/>
        <dsp:cNvSpPr/>
      </dsp:nvSpPr>
      <dsp:spPr>
        <a:xfrm>
          <a:off x="3764707" y="3904232"/>
          <a:ext cx="1254902" cy="878583"/>
        </a:xfrm>
        <a:prstGeom prst="rect">
          <a:avLst/>
        </a:prstGeom>
        <a:solidFill>
          <a:schemeClr val="accent2">
            <a:tint val="40000"/>
            <a:alpha val="90000"/>
            <a:hueOff val="-11155272"/>
            <a:satOff val="48624"/>
            <a:lumOff val="3588"/>
            <a:alphaOff val="0"/>
          </a:schemeClr>
        </a:solidFill>
        <a:ln w="12700" cap="rnd" cmpd="sng" algn="ctr">
          <a:solidFill>
            <a:schemeClr val="accent2">
              <a:tint val="40000"/>
              <a:alpha val="90000"/>
              <a:hueOff val="-11155272"/>
              <a:satOff val="48624"/>
              <a:lumOff val="3588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25400" rIns="14224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easier to explain</a:t>
          </a:r>
        </a:p>
      </dsp:txBody>
      <dsp:txXfrm>
        <a:off x="3764707" y="3904232"/>
        <a:ext cx="1254902" cy="878583"/>
      </dsp:txXfrm>
    </dsp:sp>
    <dsp:sp modelId="{882C4059-4D1A-489A-A4F8-99823542DCD9}">
      <dsp:nvSpPr>
        <dsp:cNvPr id="0" name=""/>
        <dsp:cNvSpPr/>
      </dsp:nvSpPr>
      <dsp:spPr>
        <a:xfrm rot="10800000">
          <a:off x="0" y="2174"/>
          <a:ext cx="5019610" cy="2937525"/>
        </a:xfrm>
        <a:prstGeom prst="upArrowCallout">
          <a:avLst/>
        </a:prstGeom>
        <a:gradFill rotWithShape="0">
          <a:gsLst>
            <a:gs pos="0">
              <a:schemeClr val="accent2">
                <a:hueOff val="-9896230"/>
                <a:satOff val="35944"/>
                <a:lumOff val="3335"/>
                <a:alphaOff val="0"/>
                <a:tint val="96000"/>
                <a:lumMod val="100000"/>
              </a:schemeClr>
            </a:gs>
            <a:gs pos="78000">
              <a:schemeClr val="accent2">
                <a:hueOff val="-9896230"/>
                <a:satOff val="35944"/>
                <a:lumOff val="3335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7800" tIns="177800" rIns="177800" bIns="17780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Working baseline -&gt;</a:t>
          </a:r>
          <a:br>
            <a:rPr lang="en-US" sz="2500" kern="1200" dirty="0"/>
          </a:br>
          <a:r>
            <a:rPr lang="en-US" sz="2500" kern="1200" dirty="0"/>
            <a:t>compare structure -&gt;</a:t>
          </a:r>
          <a:br>
            <a:rPr lang="en-US" sz="2500" kern="1200" dirty="0"/>
          </a:br>
          <a:r>
            <a:rPr lang="en-US" sz="2500" kern="1200" dirty="0"/>
            <a:t>revise one meaningful thing -&gt; explain the improvement.</a:t>
          </a:r>
        </a:p>
      </dsp:txBody>
      <dsp:txXfrm rot="10800000">
        <a:off x="0" y="2174"/>
        <a:ext cx="5019610" cy="190871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759AF9F-1092-690D-006F-EBCE2C96B71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FC0900-FCC2-2A2A-613C-A277F4B7120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943E5A-6629-4B53-8BAD-0FC37077EB1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2D7F8D-A102-3CF3-78CD-2CA4C36115D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D03618-FB8B-BA92-AF2F-43138FFAD96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905D54-93E9-4845-A874-0CB2F7E463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53681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382475-516A-409A-944E-F435F3DFCCF2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16ACA2-47E6-42D2-BEC8-EDC49A1A9F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2245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2349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Ask students to recall one idea from each day:</a:t>
            </a:r>
          </a:p>
          <a:p>
            <a:r>
              <a:rPr lang="en-US" sz="1300" dirty="0"/>
              <a:t>- Monday: What does `print()` do?</a:t>
            </a:r>
          </a:p>
          <a:p>
            <a:r>
              <a:rPr lang="en-US" sz="1300" dirty="0"/>
              <a:t>- Tuesday: What does an expression create?</a:t>
            </a:r>
          </a:p>
          <a:p>
            <a:endParaRPr lang="en-US" sz="1300" dirty="0"/>
          </a:p>
          <a:p>
            <a:r>
              <a:rPr lang="en-US" sz="1300" dirty="0"/>
              <a:t>Keep this short. The point is to bridge into integration.</a:t>
            </a:r>
          </a:p>
          <a:p>
            <a:br>
              <a:rPr lang="en-US" sz="1300" dirty="0"/>
            </a:br>
            <a:endParaRPr lang="en-US" sz="1300" dirty="0"/>
          </a:p>
          <a:p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Now we focus on completing small programs, not collecting more topics.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83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916ACA2-47E6-42D2-BEC8-EDC49A1A9FA1}" type="slidenum"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83306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982901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6135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4355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** Instructor Notes ** </a:t>
            </a:r>
          </a:p>
          <a:p>
            <a:r>
              <a:rPr lang="en-US" dirty="0"/>
              <a:t>Step through the coding solution(s) for the Lab.</a:t>
            </a:r>
            <a:br>
              <a:rPr lang="en-US" dirty="0"/>
            </a:br>
            <a:r>
              <a:rPr lang="en-US" dirty="0"/>
              <a:t>Be sure to state that this is only *one* solution of many. </a:t>
            </a:r>
            <a:br>
              <a:rPr lang="en-US" dirty="0"/>
            </a:br>
            <a:r>
              <a:rPr lang="en-US" dirty="0"/>
              <a:t>NOT the best or only solution.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6168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300" b="1" dirty="0"/>
              <a:t>**Instructor Notes:**</a:t>
            </a:r>
            <a:endParaRPr lang="en-US" sz="1300" dirty="0"/>
          </a:p>
          <a:p>
            <a:r>
              <a:rPr lang="en-US" sz="1300" dirty="0"/>
              <a:t>This protects against both overbuilding and aimless polishing. </a:t>
            </a:r>
          </a:p>
          <a:p>
            <a:r>
              <a:rPr lang="en-US" sz="1300" dirty="0"/>
              <a:t>One meaningful improvement is enough.</a:t>
            </a:r>
          </a:p>
          <a:p>
            <a:br>
              <a:rPr lang="en-US" sz="1300" dirty="0"/>
            </a:br>
            <a:endParaRPr lang="en-US" sz="1300" dirty="0"/>
          </a:p>
          <a:p>
            <a:r>
              <a:rPr lang="en-US" sz="1300" b="1" dirty="0"/>
              <a:t>**Transition Cue:**</a:t>
            </a:r>
            <a:endParaRPr lang="en-US" sz="1300" dirty="0"/>
          </a:p>
          <a:p>
            <a:r>
              <a:rPr lang="en-US" sz="1300" dirty="0"/>
              <a:t>Let's name what we will use today.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3700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0200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51090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916ACA2-47E6-42D2-BEC8-EDC49A1A9FA1}" type="slidenum">
              <a:rPr kumimoji="0" lang="en-US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51090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256578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 not rush the trace.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 students what low, high, and mid mean before running the binary search explanation.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point is not that binary search "fails every time" on unsorted data.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point is that it is not trustworthy because its reasoning no longer holds.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Watch the decisions, not just the final result.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1171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6746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0686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**Instructor Notes:**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Explain that the “timing limitation” note is not an apology.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is part of responsible technical communication. 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good limitation note shows that the student understands what the evidence can and cannot claim.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**Transition Cue:**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End by restating the difference between evidence and overclaiming.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2131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65421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333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1965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1441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16ACA2-47E6-42D2-BEC8-EDC49A1A9FA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6248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71316" cy="6874935"/>
            <a:chOff x="-8466" y="-8468"/>
            <a:chExt cx="9171316" cy="6874935"/>
          </a:xfrm>
        </p:grpSpPr>
        <p:cxnSp>
          <p:nvCxnSpPr>
            <p:cNvPr id="28" name="Straight Connector 27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Freeform 2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Freeform 3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Freeform 3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Freeform 3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4" name="Freeform 3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5" name="Freeform 34"/>
            <p:cNvSpPr/>
            <p:nvPr/>
          </p:nvSpPr>
          <p:spPr>
            <a:xfrm>
              <a:off x="8094165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6" name="Freeform 35"/>
            <p:cNvSpPr/>
            <p:nvPr/>
          </p:nvSpPr>
          <p:spPr>
            <a:xfrm>
              <a:off x="8068764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lumMod val="50000"/>
                <a:alpha val="7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Freeform 17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lumMod val="75000"/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16E1E9-1B50-BC39-BE3A-AFDDF27CC4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0594" y="300327"/>
            <a:ext cx="1196045" cy="526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939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2DEB143-89C9-076B-466C-73BE156FD58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84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015F4D-DE23-F2FC-1853-93512C13AB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0594" y="300327"/>
            <a:ext cx="1196045" cy="526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73673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16E11E5-B722-B4E0-8233-E8E58F314BD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2119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ADA43D-D69A-D7AE-81F9-ED5E4E7A1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8912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41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A1305F-50C0-9117-EE66-5430C74994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4144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914F403-DB38-13CA-CC40-CAE2A088327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6443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2446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1B8750C-22DC-D652-EE9D-9D81650FC9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38240" y="185696"/>
            <a:ext cx="726014" cy="319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369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19628F-1787-26D4-A797-33B21045805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3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C05115D-2B3B-A0F2-8B96-FF372AE762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7795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69252F8-DFBE-EC79-0D43-E7702CC2845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0797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252413-6471-13E8-59E6-F7EEDC0F0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6443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894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0449300-3D10-A0CB-2DB5-98F274AC66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1223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BAFCF80-E27A-06C5-A850-78E5A5D2C2B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47017" y="185696"/>
            <a:ext cx="917237" cy="40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95074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9730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71317" cy="6874935"/>
            <a:chOff x="-8467" y="-8468"/>
            <a:chExt cx="9171317" cy="6874935"/>
          </a:xfrm>
        </p:grpSpPr>
        <p:cxnSp>
          <p:nvCxnSpPr>
            <p:cNvPr id="7" name="Straight Connector 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Freeform 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Freeform 1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Freeform 13"/>
            <p:cNvSpPr/>
            <p:nvPr/>
          </p:nvSpPr>
          <p:spPr>
            <a:xfrm>
              <a:off x="8094165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Freeform 14"/>
            <p:cNvSpPr/>
            <p:nvPr/>
          </p:nvSpPr>
          <p:spPr>
            <a:xfrm>
              <a:off x="8068764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lumMod val="50000"/>
                <a:alpha val="7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Freeform 15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5945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75000"/>
          </a:schemeClr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1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awpixel.com/image/65575/survey-feedback-accountant-aerial-view-business-calculator-check-checklist-choice-coffee-computation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97F88-6791-2CCC-FDDE-DEB157237E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0595" y="1358537"/>
            <a:ext cx="5826719" cy="2692299"/>
          </a:xfrm>
        </p:spPr>
        <p:txBody>
          <a:bodyPr/>
          <a:lstStyle/>
          <a:p>
            <a:r>
              <a:rPr lang="en-US" dirty="0"/>
              <a:t>Python Programming Foundations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F15B13-1D93-97F4-3DBC-B06CC6F1209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Week n – Topic</a:t>
            </a:r>
          </a:p>
          <a:p>
            <a:r>
              <a:rPr lang="en-US" i="1" dirty="0"/>
              <a:t>Day n: “Subtitle”</a:t>
            </a:r>
          </a:p>
        </p:txBody>
      </p:sp>
    </p:spTree>
    <p:extLst>
      <p:ext uri="{BB962C8B-B14F-4D97-AF65-F5344CB8AC3E}">
        <p14:creationId xmlns:p14="http://schemas.microsoft.com/office/powerpoint/2010/main" val="3795026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A34B9-4282-4F69-6D75-152BF8906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FFBCD-3E25-CBB7-2E73-683DBF46A6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1624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7C0D926-DDB4-ABA2-F676-65368B8023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rcRect l="18611" r="23342" b="2"/>
          <a:stretch>
            <a:fillRect/>
          </a:stretch>
        </p:blipFill>
        <p:spPr>
          <a:xfrm>
            <a:off x="3202390" y="-1"/>
            <a:ext cx="5941610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44AE7D7-0CEB-F126-08CD-348C3A2A8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999" y="609600"/>
            <a:ext cx="2888343" cy="1320800"/>
          </a:xfrm>
        </p:spPr>
        <p:txBody>
          <a:bodyPr>
            <a:normAutofit/>
          </a:bodyPr>
          <a:lstStyle/>
          <a:p>
            <a:r>
              <a:rPr lang="en-US" dirty="0"/>
              <a:t>Quick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93D39-026B-C61D-D6A3-140878484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2160589"/>
            <a:ext cx="2888342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Monday made output visible.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Tuesday made numeric value flow visible.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4FA5DFF-7FE6-4855-84E6-DFA78EE978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028259" y="0"/>
            <a:ext cx="9144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AFD8CBA-54A3-4363-991B-B9C631BBF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568950" y="3681413"/>
            <a:ext cx="357266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86107" y="-8467"/>
            <a:ext cx="2255511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25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02581" y="-8467"/>
            <a:ext cx="1941419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27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9249" y="3048000"/>
            <a:ext cx="2444751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29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00875" y="-8467"/>
            <a:ext cx="2140744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1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74047" y="-8467"/>
            <a:ext cx="967571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3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04249" y="-8467"/>
            <a:ext cx="937369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5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78749" y="3589867"/>
            <a:ext cx="136286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37663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C1AD2-E72F-7796-291A-36CD12160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r>
              <a:rPr lang="en-US" sz="3300" dirty="0"/>
              <a:t>What We Will Use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6EEC5C-1292-A4A2-1E2D-A19D199A87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r>
              <a:rPr lang="en-US" dirty="0"/>
              <a:t>a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8D50984-DDEB-A743-533E-89C11F357B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423" r="50195" b="-2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642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E6D73-36C1-785B-BF1E-F70A56E45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609600"/>
            <a:ext cx="6447501" cy="1320800"/>
          </a:xfrm>
        </p:spPr>
        <p:txBody>
          <a:bodyPr anchor="t">
            <a:normAutofit/>
          </a:bodyPr>
          <a:lstStyle/>
          <a:p>
            <a:r>
              <a:rPr lang="en-US" dirty="0"/>
              <a:t>What We Will “Skip” For Now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A8A78D41-48A5-98C1-1F53-FB08BC3F6B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2160590"/>
            <a:ext cx="3915323" cy="370127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</a:t>
            </a:r>
          </a:p>
        </p:txBody>
      </p:sp>
      <p:pic>
        <p:nvPicPr>
          <p:cNvPr id="7" name="Graphic 6" descr="Disconnected">
            <a:extLst>
              <a:ext uri="{FF2B5EF4-FFF2-40B4-BE49-F238E27FC236}">
                <a16:creationId xmlns:a16="http://schemas.microsoft.com/office/drawing/2014/main" id="{634669AE-52A5-F086-9BDE-17982042AD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5562" y="2159000"/>
            <a:ext cx="2359152" cy="2359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27138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9AE27B9D-0F04-458B-A718-F84902C79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47AB6435-428E-44C8-A107-8435183F6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659658D-9AE1-44D3-B002-2BA204AB90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ectangle 23">
              <a:extLst>
                <a:ext uri="{FF2B5EF4-FFF2-40B4-BE49-F238E27FC236}">
                  <a16:creationId xmlns:a16="http://schemas.microsoft.com/office/drawing/2014/main" id="{2083C874-CFCD-47ED-9F98-DDB125C9C0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Rectangle 25">
              <a:extLst>
                <a:ext uri="{FF2B5EF4-FFF2-40B4-BE49-F238E27FC236}">
                  <a16:creationId xmlns:a16="http://schemas.microsoft.com/office/drawing/2014/main" id="{605E9946-A240-42E3-B6CD-E6691BF4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Isosceles Triangle 28">
              <a:extLst>
                <a:ext uri="{FF2B5EF4-FFF2-40B4-BE49-F238E27FC236}">
                  <a16:creationId xmlns:a16="http://schemas.microsoft.com/office/drawing/2014/main" id="{315B1B45-25C3-4C58-8EB8-41BCFA02A6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7">
              <a:extLst>
                <a:ext uri="{FF2B5EF4-FFF2-40B4-BE49-F238E27FC236}">
                  <a16:creationId xmlns:a16="http://schemas.microsoft.com/office/drawing/2014/main" id="{87983A9A-7A69-406F-AFEA-AD2AE87E1F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Rectangle 28">
              <a:extLst>
                <a:ext uri="{FF2B5EF4-FFF2-40B4-BE49-F238E27FC236}">
                  <a16:creationId xmlns:a16="http://schemas.microsoft.com/office/drawing/2014/main" id="{FFCBC4EF-C03E-4EED-9E9A-3097DECC00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Rectangle 29">
              <a:extLst>
                <a:ext uri="{FF2B5EF4-FFF2-40B4-BE49-F238E27FC236}">
                  <a16:creationId xmlns:a16="http://schemas.microsoft.com/office/drawing/2014/main" id="{F56545EE-F94F-4B4C-AA43-9D67456645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Isosceles Triangle 32">
              <a:extLst>
                <a:ext uri="{FF2B5EF4-FFF2-40B4-BE49-F238E27FC236}">
                  <a16:creationId xmlns:a16="http://schemas.microsoft.com/office/drawing/2014/main" id="{2FE2A6B2-D45B-484C-BAFD-3F45082664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4" name="Isosceles Triangle 33">
              <a:extLst>
                <a:ext uri="{FF2B5EF4-FFF2-40B4-BE49-F238E27FC236}">
                  <a16:creationId xmlns:a16="http://schemas.microsoft.com/office/drawing/2014/main" id="{EC2132BF-207E-4FB2-B0FE-E6FD0A1D18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8CC1AB3-4E10-DC1D-19E9-262AA9AD4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9476" y="4473227"/>
            <a:ext cx="6216024" cy="109664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200"/>
              <a:t>Review Coding Lab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C68C51-4C04-4FB3-8831-97CAFAF56E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843" b="6549"/>
          <a:stretch>
            <a:fillRect/>
          </a:stretch>
        </p:blipFill>
        <p:spPr>
          <a:xfrm>
            <a:off x="739476" y="609600"/>
            <a:ext cx="6216024" cy="3635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2744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B2258-2A42-7358-855B-3C842DFCA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360" y="1382486"/>
            <a:ext cx="2660686" cy="4093028"/>
          </a:xfrm>
        </p:spPr>
        <p:txBody>
          <a:bodyPr anchor="ctr">
            <a:normAutofit/>
          </a:bodyPr>
          <a:lstStyle/>
          <a:p>
            <a:r>
              <a:rPr lang="en-US" sz="3800"/>
              <a:t>What Counts as Success Today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E8FB340-C6CC-FE68-2C30-7F4BB19196C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3639407" y="944564"/>
          <a:ext cx="5019610" cy="48231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8414560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8413C-E473-7BB1-5818-2D164CEF8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30655-1F44-A7A1-AD87-667B47681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9535" y="1189369"/>
            <a:ext cx="4865966" cy="745462"/>
          </a:xfrm>
        </p:spPr>
        <p:txBody>
          <a:bodyPr>
            <a:normAutofit/>
          </a:bodyPr>
          <a:lstStyle/>
          <a:p>
            <a:r>
              <a:rPr lang="en-US" dirty="0"/>
              <a:t>Topic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1B117B-7548-ADF5-1699-217128A65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</a:blip>
          <a:srcRect l="17145" r="17145"/>
          <a:stretch/>
        </p:blipFill>
        <p:spPr>
          <a:xfrm>
            <a:off x="20" y="10"/>
            <a:ext cx="2050522" cy="6876278"/>
          </a:xfrm>
          <a:custGeom>
            <a:avLst/>
            <a:gdLst/>
            <a:ahLst/>
            <a:cxnLst/>
            <a:rect l="l" t="t" r="r" b="b"/>
            <a:pathLst>
              <a:path w="2734056" h="6858000">
                <a:moveTo>
                  <a:pt x="0" y="0"/>
                </a:moveTo>
                <a:lnTo>
                  <a:pt x="1674254" y="0"/>
                </a:lnTo>
                <a:lnTo>
                  <a:pt x="2734056" y="6850199"/>
                </a:lnTo>
                <a:lnTo>
                  <a:pt x="2734056" y="6858000"/>
                </a:lnTo>
                <a:lnTo>
                  <a:pt x="842596" y="6858000"/>
                </a:lnTo>
                <a:lnTo>
                  <a:pt x="0" y="1191846"/>
                </a:lnTo>
                <a:close/>
              </a:path>
            </a:pathLst>
          </a:cu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29E677-A23F-A29E-45EE-905BCE0D8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89535" y="2160589"/>
            <a:ext cx="4865966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?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F85F1924-E7B7-D63D-AEF2-560B04790698}"/>
              </a:ext>
            </a:extLst>
          </p:cNvPr>
          <p:cNvSpPr txBox="1">
            <a:spLocks/>
          </p:cNvSpPr>
          <p:nvPr/>
        </p:nvSpPr>
        <p:spPr>
          <a:xfrm>
            <a:off x="1835960" y="213080"/>
            <a:ext cx="2686558" cy="500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i="1" dirty="0"/>
              <a:t>Textbook Review</a:t>
            </a:r>
            <a:endParaRPr lang="en-US" sz="2000" i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62412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FF8A41-8161-7F2E-C384-3F6C3C17B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Secton</a:t>
            </a:r>
            <a:r>
              <a:rPr lang="en-US" dirty="0"/>
              <a:t>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F6F88-2E44-45BE-5E41-154C8AD99F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3714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CFD963D-986F-1524-594C-94C6FC56F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601FA2D-2385-DABD-516E-8A2F33DC13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3126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9AE27B9D-0F04-458B-A718-F84902C79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7AB6435-428E-44C8-A107-8435183F6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659658D-9AE1-44D3-B002-2BA204AB90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23">
              <a:extLst>
                <a:ext uri="{FF2B5EF4-FFF2-40B4-BE49-F238E27FC236}">
                  <a16:creationId xmlns:a16="http://schemas.microsoft.com/office/drawing/2014/main" id="{2083C874-CFCD-47ED-9F98-DDB125C9C0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6" name="Rectangle 25">
              <a:extLst>
                <a:ext uri="{FF2B5EF4-FFF2-40B4-BE49-F238E27FC236}">
                  <a16:creationId xmlns:a16="http://schemas.microsoft.com/office/drawing/2014/main" id="{605E9946-A240-42E3-B6CD-E6691BF4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315B1B45-25C3-4C58-8EB8-41BCFA02A6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8" name="Rectangle 27">
              <a:extLst>
                <a:ext uri="{FF2B5EF4-FFF2-40B4-BE49-F238E27FC236}">
                  <a16:creationId xmlns:a16="http://schemas.microsoft.com/office/drawing/2014/main" id="{87983A9A-7A69-406F-AFEA-AD2AE87E1F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19" name="Rectangle 28">
              <a:extLst>
                <a:ext uri="{FF2B5EF4-FFF2-40B4-BE49-F238E27FC236}">
                  <a16:creationId xmlns:a16="http://schemas.microsoft.com/office/drawing/2014/main" id="{FFCBC4EF-C03E-4EED-9E9A-3097DECC00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20" name="Rectangle 29">
              <a:extLst>
                <a:ext uri="{FF2B5EF4-FFF2-40B4-BE49-F238E27FC236}">
                  <a16:creationId xmlns:a16="http://schemas.microsoft.com/office/drawing/2014/main" id="{F56545EE-F94F-4B4C-AA43-9D67456645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2FE2A6B2-D45B-484C-BAFD-3F45082664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EC2132BF-207E-4FB2-B0FE-E6FD0A1D18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endParaRP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3F92D707-4F6F-1707-563F-DAA7E83D0F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091" t="9091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34257526-B660-46EC-83FB-51CCCEF4D5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26" name="Parallelogram 25">
            <a:extLst>
              <a:ext uri="{FF2B5EF4-FFF2-40B4-BE49-F238E27FC236}">
                <a16:creationId xmlns:a16="http://schemas.microsoft.com/office/drawing/2014/main" id="{5E54613B-CC3A-459D-97E1-23B891DE93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63405" y="0"/>
            <a:ext cx="5486400" cy="6858000"/>
          </a:xfrm>
          <a:prstGeom prst="parallelogram">
            <a:avLst>
              <a:gd name="adj" fmla="val 14937"/>
            </a:avLst>
          </a:prstGeom>
          <a:solidFill>
            <a:schemeClr val="bg1">
              <a:alpha val="9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B21385D-063D-42D0-BD60-907E9F826D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028259" y="0"/>
            <a:ext cx="9144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921B275-E6A3-4146-9F5F-5CD28092A3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568950" y="3681413"/>
            <a:ext cx="357266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23">
            <a:extLst>
              <a:ext uri="{FF2B5EF4-FFF2-40B4-BE49-F238E27FC236}">
                <a16:creationId xmlns:a16="http://schemas.microsoft.com/office/drawing/2014/main" id="{28E190A5-6423-4EE2-AF46-8B82F34BCD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86107" y="-8467"/>
            <a:ext cx="2255511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4" name="Rectangle 25">
            <a:extLst>
              <a:ext uri="{FF2B5EF4-FFF2-40B4-BE49-F238E27FC236}">
                <a16:creationId xmlns:a16="http://schemas.microsoft.com/office/drawing/2014/main" id="{4A97AE97-5706-400B-8F09-602A25EA14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02581" y="-8467"/>
            <a:ext cx="1941419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0860785A-BE10-40E0-8A0F-805CD3F592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9249" y="3048000"/>
            <a:ext cx="2444751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FC93F9C-2692-8651-EDC7-6D41F5D66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8150" y="1678665"/>
            <a:ext cx="3427352" cy="236913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5400" dirty="0"/>
              <a:t>Demo #1</a:t>
            </a:r>
          </a:p>
        </p:txBody>
      </p:sp>
      <p:sp>
        <p:nvSpPr>
          <p:cNvPr id="38" name="Rectangle 27">
            <a:extLst>
              <a:ext uri="{FF2B5EF4-FFF2-40B4-BE49-F238E27FC236}">
                <a16:creationId xmlns:a16="http://schemas.microsoft.com/office/drawing/2014/main" id="{2CD66695-C096-4E32-9AC2-19B4EFD660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00875" y="-8467"/>
            <a:ext cx="2140744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0" name="Rectangle 28">
            <a:extLst>
              <a:ext uri="{FF2B5EF4-FFF2-40B4-BE49-F238E27FC236}">
                <a16:creationId xmlns:a16="http://schemas.microsoft.com/office/drawing/2014/main" id="{A97E83CA-07FA-4B94-A213-9E6DA6FAC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74047" y="-8467"/>
            <a:ext cx="967571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2" name="Rectangle 29">
            <a:extLst>
              <a:ext uri="{FF2B5EF4-FFF2-40B4-BE49-F238E27FC236}">
                <a16:creationId xmlns:a16="http://schemas.microsoft.com/office/drawing/2014/main" id="{A531E02F-6391-4B0C-B1E1-D67E8EFC40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04249" y="-8467"/>
            <a:ext cx="937369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568558EC-35CA-4EC8-BB31-75AB78ACA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778749" y="3589867"/>
            <a:ext cx="136286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8DFD8B-5C86-3290-9577-EDD61563B509}"/>
              </a:ext>
            </a:extLst>
          </p:cNvPr>
          <p:cNvSpPr txBox="1"/>
          <p:nvPr/>
        </p:nvSpPr>
        <p:spPr>
          <a:xfrm>
            <a:off x="3879669" y="4558937"/>
            <a:ext cx="33205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B4F8A"/>
                </a:solidFill>
                <a:effectLst/>
                <a:uLnTx/>
                <a:uFillTx/>
                <a:latin typeface="Trebuchet MS" panose="020B0603020202020204"/>
                <a:ea typeface="+mn-ea"/>
                <a:cs typeface="+mn-cs"/>
              </a:rPr>
              <a:t>“Basic Type Awareness”</a:t>
            </a:r>
          </a:p>
        </p:txBody>
      </p:sp>
    </p:spTree>
    <p:extLst>
      <p:ext uri="{BB962C8B-B14F-4D97-AF65-F5344CB8AC3E}">
        <p14:creationId xmlns:p14="http://schemas.microsoft.com/office/powerpoint/2010/main" val="858767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D85B7-E617-7232-3D45-118C5B1AF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r>
              <a:rPr lang="en-US" dirty="0"/>
              <a:t>What to Watch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623AC4-941F-5169-DAA0-DF23E55C80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8CDE13-EC6E-831B-0134-AE933CD2D1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430" r="39188" b="-2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23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D85B7-E617-7232-3D45-118C5B1AF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623AC4-941F-5169-DAA0-DF23E55C80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6417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0D0E5-C82A-2821-F372-34D79453A8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9535" y="609600"/>
            <a:ext cx="4865966" cy="1320800"/>
          </a:xfrm>
        </p:spPr>
        <p:txBody>
          <a:bodyPr>
            <a:normAutofit/>
          </a:bodyPr>
          <a:lstStyle/>
          <a:p>
            <a:r>
              <a:rPr lang="en-US" dirty="0"/>
              <a:t>Demo Explanation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7F6D4D-BE10-60D9-4BD4-003EB5B6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</a:blip>
          <a:srcRect l="72987" r="10239" b="-1"/>
          <a:stretch>
            <a:fillRect/>
          </a:stretch>
        </p:blipFill>
        <p:spPr>
          <a:xfrm>
            <a:off x="20" y="10"/>
            <a:ext cx="2050522" cy="6876278"/>
          </a:xfrm>
          <a:custGeom>
            <a:avLst/>
            <a:gdLst/>
            <a:ahLst/>
            <a:cxnLst/>
            <a:rect l="l" t="t" r="r" b="b"/>
            <a:pathLst>
              <a:path w="2734056" h="6858000">
                <a:moveTo>
                  <a:pt x="0" y="0"/>
                </a:moveTo>
                <a:lnTo>
                  <a:pt x="1674254" y="0"/>
                </a:lnTo>
                <a:lnTo>
                  <a:pt x="2734056" y="6850199"/>
                </a:lnTo>
                <a:lnTo>
                  <a:pt x="2734056" y="6858000"/>
                </a:lnTo>
                <a:lnTo>
                  <a:pt x="842596" y="6858000"/>
                </a:lnTo>
                <a:lnTo>
                  <a:pt x="0" y="1191846"/>
                </a:lnTo>
                <a:close/>
              </a:path>
            </a:pathLst>
          </a:custGeom>
        </p:spPr>
      </p:pic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58CB4BA4-5207-43FB-9FA5-62223EF715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1191846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613BE1-56FB-86D8-D85E-F894C535F8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89535" y="2160589"/>
            <a:ext cx="4865966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9782299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AF827-0A5A-D6D9-6C73-5ACE22424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r>
              <a:rPr lang="en-US" dirty="0"/>
              <a:t>From Demo to Lab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8E31B9-CEED-D579-BC3C-E6F2B784D1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In Lab 0n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06C1C5-46D3-5662-C887-3DA2319E77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361" r="4389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7200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FD9D7-DC22-67B7-C127-E213A7D7E5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7981" y="609600"/>
            <a:ext cx="3207519" cy="1320800"/>
          </a:xfrm>
        </p:spPr>
        <p:txBody>
          <a:bodyPr anchor="ctr">
            <a:normAutofit/>
          </a:bodyPr>
          <a:lstStyle/>
          <a:p>
            <a:r>
              <a:rPr lang="en-US" b="1" dirty="0"/>
              <a:t>README Evidence</a:t>
            </a:r>
            <a:endParaRPr lang="en-US" dirty="0"/>
          </a:p>
        </p:txBody>
      </p:sp>
      <p:pic>
        <p:nvPicPr>
          <p:cNvPr id="7" name="Graphic 6" descr="Check List">
            <a:extLst>
              <a:ext uri="{FF2B5EF4-FFF2-40B4-BE49-F238E27FC236}">
                <a16:creationId xmlns:a16="http://schemas.microsoft.com/office/drawing/2014/main" id="{ECC9DEAD-0143-BEB6-CDDF-ECA972867E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2908" y="1899262"/>
            <a:ext cx="2896429" cy="289642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70A1EC-C9C7-D8BC-8C60-91337D1A5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39367" y="2160589"/>
            <a:ext cx="3213882" cy="37685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Your README should show:</a:t>
            </a:r>
          </a:p>
          <a:p>
            <a:r>
              <a:rPr lang="en-US" dirty="0" err="1"/>
              <a:t>aaa</a:t>
            </a:r>
            <a:endParaRPr lang="en-US" dirty="0"/>
          </a:p>
          <a:p>
            <a:r>
              <a:rPr lang="en-US" dirty="0"/>
              <a:t>AI-use note, if applicable</a:t>
            </a:r>
          </a:p>
        </p:txBody>
      </p:sp>
    </p:spTree>
    <p:extLst>
      <p:ext uri="{BB962C8B-B14F-4D97-AF65-F5344CB8AC3E}">
        <p14:creationId xmlns:p14="http://schemas.microsoft.com/office/powerpoint/2010/main" val="19239636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CFEC8-C36E-8138-AFF9-1BCB8E92E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AI Use In Lab 0n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5F7C5D-76E8-1B83-C806-C3C7939961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8035A6-8F2B-CFAB-F2A0-C40F7D534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618" r="25100" b="1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5854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E9555-1E16-8E8B-E548-105BA59C0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100" dirty="0"/>
              <a:t>Closing Success Check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FF21A-F8C1-15AA-C705-4530AE58A0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r>
              <a:rPr lang="en-US" dirty="0"/>
              <a:t>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5A690D-4CB8-0C66-184B-33949F8D65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287" r="24330" b="-2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5131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E09B7E24-271E-4A3A-9D65-EE95ED9723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5C59434-03B2-4F06-8362-A01DD785E2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FDF3815-C9F7-4B9E-A371-DE71C4E9D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23">
              <a:extLst>
                <a:ext uri="{FF2B5EF4-FFF2-40B4-BE49-F238E27FC236}">
                  <a16:creationId xmlns:a16="http://schemas.microsoft.com/office/drawing/2014/main" id="{34C30A41-6D9F-42F2-BE4A-B6D2E4400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Rectangle 25">
              <a:extLst>
                <a:ext uri="{FF2B5EF4-FFF2-40B4-BE49-F238E27FC236}">
                  <a16:creationId xmlns:a16="http://schemas.microsoft.com/office/drawing/2014/main" id="{8577AE11-EC00-4E67-9DDD-624E9DA123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406A24DE-7A6F-4459-9A79-712243D200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Rectangle 27">
              <a:extLst>
                <a:ext uri="{FF2B5EF4-FFF2-40B4-BE49-F238E27FC236}">
                  <a16:creationId xmlns:a16="http://schemas.microsoft.com/office/drawing/2014/main" id="{BFEBE697-7D77-4AC8-8E68-0483B47DFB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Rectangle 28">
              <a:extLst>
                <a:ext uri="{FF2B5EF4-FFF2-40B4-BE49-F238E27FC236}">
                  <a16:creationId xmlns:a16="http://schemas.microsoft.com/office/drawing/2014/main" id="{49FC7B15-C721-4A23-8F6A-2CFA77C614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Rectangle 29">
              <a:extLst>
                <a:ext uri="{FF2B5EF4-FFF2-40B4-BE49-F238E27FC236}">
                  <a16:creationId xmlns:a16="http://schemas.microsoft.com/office/drawing/2014/main" id="{164E8ACB-FC50-451D-AF0A-879ABC6EA6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D5F354A0-F0C9-4254-A913-DD68E78161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50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9B01B525-8D81-44A3-BC1F-C711B89D23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B291DAF8-8CBA-95A1-BEA8-AAD0C09C5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0752" y="1265314"/>
            <a:ext cx="3572668" cy="3249131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800" dirty="0"/>
              <a:t>Thank you!</a:t>
            </a:r>
            <a:br>
              <a:rPr lang="en-US" sz="4800" dirty="0"/>
            </a:br>
            <a:br>
              <a:rPr lang="en-US" sz="4800" dirty="0"/>
            </a:br>
            <a:r>
              <a:rPr lang="en-US" sz="4800" dirty="0"/>
              <a:t>Have Fun!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E61A93-6BD2-677B-DBB4-F66B15926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30752" y="4514446"/>
            <a:ext cx="3224749" cy="871042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US" sz="1800"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ADC5C86B-28CE-4597-97B7-4C09E20141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2380" y="1270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Graphic 8" descr="Thumbs Up Sign">
            <a:extLst>
              <a:ext uri="{FF2B5EF4-FFF2-40B4-BE49-F238E27FC236}">
                <a16:creationId xmlns:a16="http://schemas.microsoft.com/office/drawing/2014/main" id="{CD1A5982-49F4-6629-1884-3B7061C5B5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6453" y="2020850"/>
            <a:ext cx="2824269" cy="2824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6822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C0622-6194-2CC7-4489-A2CB9355E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2550" y="609600"/>
            <a:ext cx="2802951" cy="13208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/>
              <a:t>Useful AI Prompt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B4359E-464A-DA30-EFD5-4AAB4A198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07172" y="2160589"/>
            <a:ext cx="3048329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i="1" dirty="0"/>
              <a:t>“Prompt goes here …”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A728018-283E-379A-70A7-867E4A3D7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9524" r="27436"/>
          <a:stretch>
            <a:fillRect/>
          </a:stretch>
        </p:blipFill>
        <p:spPr>
          <a:xfrm>
            <a:off x="20" y="-1"/>
            <a:ext cx="404620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631947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725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D410D77-E7C1-DDF5-0FD1-14A5194BF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9476" y="5021551"/>
            <a:ext cx="6216024" cy="109664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200" dirty="0"/>
              <a:t>Image Slide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85C1AE-67D2-9312-4902-A1548DA137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599" y="609600"/>
            <a:ext cx="6400800" cy="41148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001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Facet">
  <a:themeElements>
    <a:clrScheme name="Southwest Tech">
      <a:dk1>
        <a:srgbClr val="0B4F8A"/>
      </a:dk1>
      <a:lt1>
        <a:sysClr val="window" lastClr="FFFFFF"/>
      </a:lt1>
      <a:dk2>
        <a:srgbClr val="6F6F6F"/>
      </a:dk2>
      <a:lt2>
        <a:srgbClr val="F4F6F8"/>
      </a:lt2>
      <a:accent1>
        <a:srgbClr val="0B4F8A"/>
      </a:accent1>
      <a:accent2>
        <a:srgbClr val="2E73B8"/>
      </a:accent2>
      <a:accent3>
        <a:srgbClr val="F2B705"/>
      </a:accent3>
      <a:accent4>
        <a:srgbClr val="6F6F6F"/>
      </a:accent4>
      <a:accent5>
        <a:srgbClr val="2E73B8"/>
      </a:accent5>
      <a:accent6>
        <a:srgbClr val="F2B705"/>
      </a:accent6>
      <a:hlink>
        <a:srgbClr val="2E73B8"/>
      </a:hlink>
      <a:folHlink>
        <a:srgbClr val="0B4F8A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23659B44-6E34-4CE8-8F0D-387DA79968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TM02900688[[fn=Facet]]</Template>
  <TotalTime>10590</TotalTime>
  <Words>439</Words>
  <Application>Microsoft Office PowerPoint</Application>
  <PresentationFormat>On-screen Show (4:3)</PresentationFormat>
  <Paragraphs>94</Paragraphs>
  <Slides>21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Arial</vt:lpstr>
      <vt:lpstr>Trebuchet MS</vt:lpstr>
      <vt:lpstr>Wingdings 3</vt:lpstr>
      <vt:lpstr>Facet</vt:lpstr>
      <vt:lpstr>Python Programming Foundations</vt:lpstr>
      <vt:lpstr>PowerPoint Presentation</vt:lpstr>
      <vt:lpstr>Quick Review</vt:lpstr>
      <vt:lpstr>What We Will Use Today</vt:lpstr>
      <vt:lpstr>What We Will “Skip” For Now</vt:lpstr>
      <vt:lpstr>Review Coding Lab</vt:lpstr>
      <vt:lpstr>What Counts as Success Today</vt:lpstr>
      <vt:lpstr>Topic</vt:lpstr>
      <vt:lpstr>Secton?</vt:lpstr>
      <vt:lpstr>Topic</vt:lpstr>
      <vt:lpstr>Demo #1</vt:lpstr>
      <vt:lpstr>What to Watch For</vt:lpstr>
      <vt:lpstr>PowerPoint Presentation</vt:lpstr>
      <vt:lpstr>Demo Explanation</vt:lpstr>
      <vt:lpstr>From Demo to Lab</vt:lpstr>
      <vt:lpstr>README Evidence</vt:lpstr>
      <vt:lpstr>AI Use In Lab 0n</vt:lpstr>
      <vt:lpstr>Closing Success Check</vt:lpstr>
      <vt:lpstr>Thank you!  Have Fun!</vt:lpstr>
      <vt:lpstr>Useful AI Prompt Pattern</vt:lpstr>
      <vt:lpstr>Image Slide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Cash Myers</dc:creator>
  <cp:keywords/>
  <dc:description>generated using python-pptx</dc:description>
  <cp:lastModifiedBy>Cash Myers</cp:lastModifiedBy>
  <cp:revision>124</cp:revision>
  <dcterms:created xsi:type="dcterms:W3CDTF">2013-01-27T09:14:16Z</dcterms:created>
  <dcterms:modified xsi:type="dcterms:W3CDTF">2026-06-18T14:22:35Z</dcterms:modified>
  <cp:category/>
</cp:coreProperties>
</file>