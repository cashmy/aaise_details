
<file path=[Content_Types].xml><?xml version="1.0" encoding="utf-8"?>
<Types xmlns="http://schemas.openxmlformats.org/package/2006/content-types">
  <Default Extension="1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23"/>
  </p:notesMasterIdLst>
  <p:handoutMasterIdLst>
    <p:handoutMasterId r:id="rId24"/>
  </p:handoutMasterIdLst>
  <p:sldIdLst>
    <p:sldId id="256" r:id="rId2"/>
    <p:sldId id="467" r:id="rId3"/>
    <p:sldId id="466" r:id="rId4"/>
    <p:sldId id="260" r:id="rId5"/>
    <p:sldId id="364" r:id="rId6"/>
    <p:sldId id="322" r:id="rId7"/>
    <p:sldId id="323" r:id="rId8"/>
    <p:sldId id="269" r:id="rId9"/>
    <p:sldId id="376" r:id="rId10"/>
    <p:sldId id="377" r:id="rId11"/>
    <p:sldId id="487" r:id="rId12"/>
    <p:sldId id="378" r:id="rId13"/>
    <p:sldId id="418" r:id="rId14"/>
    <p:sldId id="369" r:id="rId15"/>
    <p:sldId id="307" r:id="rId16"/>
    <p:sldId id="309" r:id="rId17"/>
    <p:sldId id="374" r:id="rId18"/>
    <p:sldId id="375" r:id="rId19"/>
    <p:sldId id="320" r:id="rId20"/>
    <p:sldId id="373" r:id="rId21"/>
    <p:sldId id="417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1812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972B69-4B4F-436A-B547-1FADC4FB29B4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75A4D4B-BFE9-4B6F-9A81-9F9C96F5DA38}">
      <dgm:prSet/>
      <dgm:spPr/>
      <dgm:t>
        <a:bodyPr/>
        <a:lstStyle/>
        <a:p>
          <a:r>
            <a:rPr lang="en-US"/>
            <a:t>compare two approaches</a:t>
          </a:r>
        </a:p>
      </dgm:t>
    </dgm:pt>
    <dgm:pt modelId="{4FAABBF4-AB55-44FE-B6F0-B4BF829D004F}" type="parTrans" cxnId="{7F9DA8A4-8191-4121-8DA1-F0552EB3E440}">
      <dgm:prSet/>
      <dgm:spPr/>
      <dgm:t>
        <a:bodyPr/>
        <a:lstStyle/>
        <a:p>
          <a:endParaRPr lang="en-US"/>
        </a:p>
      </dgm:t>
    </dgm:pt>
    <dgm:pt modelId="{7E1354BB-EC61-4A45-99C9-75C6202CC56A}" type="sibTrans" cxnId="{7F9DA8A4-8191-4121-8DA1-F0552EB3E440}">
      <dgm:prSet/>
      <dgm:spPr/>
      <dgm:t>
        <a:bodyPr/>
        <a:lstStyle/>
        <a:p>
          <a:endParaRPr lang="en-US"/>
        </a:p>
      </dgm:t>
    </dgm:pt>
    <dgm:pt modelId="{96935FEB-D109-4185-8EE9-E323C3602104}">
      <dgm:prSet/>
      <dgm:spPr/>
      <dgm:t>
        <a:bodyPr/>
        <a:lstStyle/>
        <a:p>
          <a:r>
            <a:rPr lang="en-US"/>
            <a:t>collect timing evidence</a:t>
          </a:r>
        </a:p>
      </dgm:t>
    </dgm:pt>
    <dgm:pt modelId="{6DF3CCD5-B5C9-4831-9066-7DBDEBE0525B}" type="parTrans" cxnId="{0DDA5CB6-9147-4ADF-A2D0-E56811CCA430}">
      <dgm:prSet/>
      <dgm:spPr/>
      <dgm:t>
        <a:bodyPr/>
        <a:lstStyle/>
        <a:p>
          <a:endParaRPr lang="en-US"/>
        </a:p>
      </dgm:t>
    </dgm:pt>
    <dgm:pt modelId="{415E7A3D-A483-4CB9-A3DB-D79D75E8607A}" type="sibTrans" cxnId="{0DDA5CB6-9147-4ADF-A2D0-E56811CCA430}">
      <dgm:prSet/>
      <dgm:spPr/>
      <dgm:t>
        <a:bodyPr/>
        <a:lstStyle/>
        <a:p>
          <a:endParaRPr lang="en-US"/>
        </a:p>
      </dgm:t>
    </dgm:pt>
    <dgm:pt modelId="{41719C92-45D5-47D0-862D-1113EE6CB002}">
      <dgm:prSet/>
      <dgm:spPr/>
      <dgm:t>
        <a:bodyPr/>
        <a:lstStyle/>
        <a:p>
          <a:r>
            <a:rPr lang="en-US"/>
            <a:t>describe growth cautiously</a:t>
          </a:r>
        </a:p>
      </dgm:t>
    </dgm:pt>
    <dgm:pt modelId="{F821EB8B-B4FE-47E8-A0AC-2E1BB8667246}" type="parTrans" cxnId="{0287DCE1-186E-457F-9F74-863BDD6200E5}">
      <dgm:prSet/>
      <dgm:spPr/>
      <dgm:t>
        <a:bodyPr/>
        <a:lstStyle/>
        <a:p>
          <a:endParaRPr lang="en-US"/>
        </a:p>
      </dgm:t>
    </dgm:pt>
    <dgm:pt modelId="{F4A4A704-B603-4EC7-A6B1-941D75CEC658}" type="sibTrans" cxnId="{0287DCE1-186E-457F-9F74-863BDD6200E5}">
      <dgm:prSet/>
      <dgm:spPr/>
      <dgm:t>
        <a:bodyPr/>
        <a:lstStyle/>
        <a:p>
          <a:endParaRPr lang="en-US"/>
        </a:p>
      </dgm:t>
    </dgm:pt>
    <dgm:pt modelId="{55671D6C-E249-4CFD-8437-8240375FBD60}">
      <dgm:prSet/>
      <dgm:spPr/>
      <dgm:t>
        <a:bodyPr/>
        <a:lstStyle/>
        <a:p>
          <a:r>
            <a:rPr lang="en-US"/>
            <a:t>use basic Big-O vocabulary</a:t>
          </a:r>
        </a:p>
      </dgm:t>
    </dgm:pt>
    <dgm:pt modelId="{52A2D6EE-1D41-4E91-B8BB-D0D496786FA7}" type="parTrans" cxnId="{2EDB6E80-F13E-4D7C-8D0B-7CC664220615}">
      <dgm:prSet/>
      <dgm:spPr/>
      <dgm:t>
        <a:bodyPr/>
        <a:lstStyle/>
        <a:p>
          <a:endParaRPr lang="en-US"/>
        </a:p>
      </dgm:t>
    </dgm:pt>
    <dgm:pt modelId="{E4C16C4D-0335-44B5-8F0C-8D1112AA08C1}" type="sibTrans" cxnId="{2EDB6E80-F13E-4D7C-8D0B-7CC664220615}">
      <dgm:prSet/>
      <dgm:spPr/>
      <dgm:t>
        <a:bodyPr/>
        <a:lstStyle/>
        <a:p>
          <a:endParaRPr lang="en-US"/>
        </a:p>
      </dgm:t>
    </dgm:pt>
    <dgm:pt modelId="{BDB4EDFC-503D-452F-A66C-73D4CE737F54}">
      <dgm:prSet/>
      <dgm:spPr/>
      <dgm:t>
        <a:bodyPr/>
        <a:lstStyle/>
        <a:p>
          <a:r>
            <a:rPr lang="en-US"/>
            <a:t>identify a limitation of your evidence</a:t>
          </a:r>
        </a:p>
      </dgm:t>
    </dgm:pt>
    <dgm:pt modelId="{CF37DD21-1A1B-4AA0-A79A-17692B432E00}" type="parTrans" cxnId="{B19E6DF9-C0E2-4872-A269-F5BC6BD8F9E1}">
      <dgm:prSet/>
      <dgm:spPr/>
      <dgm:t>
        <a:bodyPr/>
        <a:lstStyle/>
        <a:p>
          <a:endParaRPr lang="en-US"/>
        </a:p>
      </dgm:t>
    </dgm:pt>
    <dgm:pt modelId="{654411A5-B8B9-45FE-A6E9-1A0DB1FE3570}" type="sibTrans" cxnId="{B19E6DF9-C0E2-4872-A269-F5BC6BD8F9E1}">
      <dgm:prSet/>
      <dgm:spPr/>
      <dgm:t>
        <a:bodyPr/>
        <a:lstStyle/>
        <a:p>
          <a:endParaRPr lang="en-US"/>
        </a:p>
      </dgm:t>
    </dgm:pt>
    <dgm:pt modelId="{C74AEAA8-95AA-4DD2-B5BF-AF2613DDA678}" type="pres">
      <dgm:prSet presAssocID="{A8972B69-4B4F-436A-B547-1FADC4FB29B4}" presName="linear" presStyleCnt="0">
        <dgm:presLayoutVars>
          <dgm:animLvl val="lvl"/>
          <dgm:resizeHandles val="exact"/>
        </dgm:presLayoutVars>
      </dgm:prSet>
      <dgm:spPr/>
    </dgm:pt>
    <dgm:pt modelId="{C717DEE2-2529-4048-A027-0347422F7B4B}" type="pres">
      <dgm:prSet presAssocID="{A75A4D4B-BFE9-4B6F-9A81-9F9C96F5DA3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287A08D-B1A3-4BC4-BB02-712CE914270A}" type="pres">
      <dgm:prSet presAssocID="{7E1354BB-EC61-4A45-99C9-75C6202CC56A}" presName="spacer" presStyleCnt="0"/>
      <dgm:spPr/>
    </dgm:pt>
    <dgm:pt modelId="{953729D8-D97F-44F2-81C8-913FF1732DF0}" type="pres">
      <dgm:prSet presAssocID="{96935FEB-D109-4185-8EE9-E323C3602104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CFA41472-2BE5-47B1-9CB3-237F433878BD}" type="pres">
      <dgm:prSet presAssocID="{415E7A3D-A483-4CB9-A3DB-D79D75E8607A}" presName="spacer" presStyleCnt="0"/>
      <dgm:spPr/>
    </dgm:pt>
    <dgm:pt modelId="{A8D91054-8DD9-448A-904B-04704F91BE5B}" type="pres">
      <dgm:prSet presAssocID="{41719C92-45D5-47D0-862D-1113EE6CB002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F6E42A2-4884-4DE6-9E60-C6274C59628F}" type="pres">
      <dgm:prSet presAssocID="{F4A4A704-B603-4EC7-A6B1-941D75CEC658}" presName="spacer" presStyleCnt="0"/>
      <dgm:spPr/>
    </dgm:pt>
    <dgm:pt modelId="{757879D0-74B4-423F-8DF0-7031701AE794}" type="pres">
      <dgm:prSet presAssocID="{55671D6C-E249-4CFD-8437-8240375FBD60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B1B62F95-136D-4EA2-B1D2-CCDC609FA9EF}" type="pres">
      <dgm:prSet presAssocID="{E4C16C4D-0335-44B5-8F0C-8D1112AA08C1}" presName="spacer" presStyleCnt="0"/>
      <dgm:spPr/>
    </dgm:pt>
    <dgm:pt modelId="{2E76E2E3-35EA-48C7-A45C-F0395CE090B2}" type="pres">
      <dgm:prSet presAssocID="{BDB4EDFC-503D-452F-A66C-73D4CE737F54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A366F3D-BA56-4F02-96A4-ED9F01BBCA6F}" type="presOf" srcId="{BDB4EDFC-503D-452F-A66C-73D4CE737F54}" destId="{2E76E2E3-35EA-48C7-A45C-F0395CE090B2}" srcOrd="0" destOrd="0" presId="urn:microsoft.com/office/officeart/2005/8/layout/vList2"/>
    <dgm:cxn modelId="{179BE43D-81D3-4FA7-81A7-787E007871DA}" type="presOf" srcId="{96935FEB-D109-4185-8EE9-E323C3602104}" destId="{953729D8-D97F-44F2-81C8-913FF1732DF0}" srcOrd="0" destOrd="0" presId="urn:microsoft.com/office/officeart/2005/8/layout/vList2"/>
    <dgm:cxn modelId="{BB3A044D-0DD2-4AA1-8EE8-A3585DAF10B1}" type="presOf" srcId="{55671D6C-E249-4CFD-8437-8240375FBD60}" destId="{757879D0-74B4-423F-8DF0-7031701AE794}" srcOrd="0" destOrd="0" presId="urn:microsoft.com/office/officeart/2005/8/layout/vList2"/>
    <dgm:cxn modelId="{2EDB6E80-F13E-4D7C-8D0B-7CC664220615}" srcId="{A8972B69-4B4F-436A-B547-1FADC4FB29B4}" destId="{55671D6C-E249-4CFD-8437-8240375FBD60}" srcOrd="3" destOrd="0" parTransId="{52A2D6EE-1D41-4E91-B8BB-D0D496786FA7}" sibTransId="{E4C16C4D-0335-44B5-8F0C-8D1112AA08C1}"/>
    <dgm:cxn modelId="{7F9DA8A4-8191-4121-8DA1-F0552EB3E440}" srcId="{A8972B69-4B4F-436A-B547-1FADC4FB29B4}" destId="{A75A4D4B-BFE9-4B6F-9A81-9F9C96F5DA38}" srcOrd="0" destOrd="0" parTransId="{4FAABBF4-AB55-44FE-B6F0-B4BF829D004F}" sibTransId="{7E1354BB-EC61-4A45-99C9-75C6202CC56A}"/>
    <dgm:cxn modelId="{F3DDD4B0-98F6-48B6-ACA5-ADB06939BE37}" type="presOf" srcId="{A8972B69-4B4F-436A-B547-1FADC4FB29B4}" destId="{C74AEAA8-95AA-4DD2-B5BF-AF2613DDA678}" srcOrd="0" destOrd="0" presId="urn:microsoft.com/office/officeart/2005/8/layout/vList2"/>
    <dgm:cxn modelId="{0DDA5CB6-9147-4ADF-A2D0-E56811CCA430}" srcId="{A8972B69-4B4F-436A-B547-1FADC4FB29B4}" destId="{96935FEB-D109-4185-8EE9-E323C3602104}" srcOrd="1" destOrd="0" parTransId="{6DF3CCD5-B5C9-4831-9066-7DBDEBE0525B}" sibTransId="{415E7A3D-A483-4CB9-A3DB-D79D75E8607A}"/>
    <dgm:cxn modelId="{414326CC-859F-45A0-BFF5-899BC45891B2}" type="presOf" srcId="{A75A4D4B-BFE9-4B6F-9A81-9F9C96F5DA38}" destId="{C717DEE2-2529-4048-A027-0347422F7B4B}" srcOrd="0" destOrd="0" presId="urn:microsoft.com/office/officeart/2005/8/layout/vList2"/>
    <dgm:cxn modelId="{0287DCE1-186E-457F-9F74-863BDD6200E5}" srcId="{A8972B69-4B4F-436A-B547-1FADC4FB29B4}" destId="{41719C92-45D5-47D0-862D-1113EE6CB002}" srcOrd="2" destOrd="0" parTransId="{F821EB8B-B4FE-47E8-A0AC-2E1BB8667246}" sibTransId="{F4A4A704-B603-4EC7-A6B1-941D75CEC658}"/>
    <dgm:cxn modelId="{B19E6DF9-C0E2-4872-A269-F5BC6BD8F9E1}" srcId="{A8972B69-4B4F-436A-B547-1FADC4FB29B4}" destId="{BDB4EDFC-503D-452F-A66C-73D4CE737F54}" srcOrd="4" destOrd="0" parTransId="{CF37DD21-1A1B-4AA0-A79A-17692B432E00}" sibTransId="{654411A5-B8B9-45FE-A6E9-1A0DB1FE3570}"/>
    <dgm:cxn modelId="{BB78F2FA-3401-4393-97FB-D0AEF2460779}" type="presOf" srcId="{41719C92-45D5-47D0-862D-1113EE6CB002}" destId="{A8D91054-8DD9-448A-904B-04704F91BE5B}" srcOrd="0" destOrd="0" presId="urn:microsoft.com/office/officeart/2005/8/layout/vList2"/>
    <dgm:cxn modelId="{44C282F8-026D-4D0E-88F8-71C8338D4947}" type="presParOf" srcId="{C74AEAA8-95AA-4DD2-B5BF-AF2613DDA678}" destId="{C717DEE2-2529-4048-A027-0347422F7B4B}" srcOrd="0" destOrd="0" presId="urn:microsoft.com/office/officeart/2005/8/layout/vList2"/>
    <dgm:cxn modelId="{A2FC0041-DBBC-4347-B284-15C177BA5CBB}" type="presParOf" srcId="{C74AEAA8-95AA-4DD2-B5BF-AF2613DDA678}" destId="{4287A08D-B1A3-4BC4-BB02-712CE914270A}" srcOrd="1" destOrd="0" presId="urn:microsoft.com/office/officeart/2005/8/layout/vList2"/>
    <dgm:cxn modelId="{1F231710-9268-456D-BB41-5EF6C3FF22EA}" type="presParOf" srcId="{C74AEAA8-95AA-4DD2-B5BF-AF2613DDA678}" destId="{953729D8-D97F-44F2-81C8-913FF1732DF0}" srcOrd="2" destOrd="0" presId="urn:microsoft.com/office/officeart/2005/8/layout/vList2"/>
    <dgm:cxn modelId="{88954878-3A0B-42C4-9F81-BDE6EECAC6BB}" type="presParOf" srcId="{C74AEAA8-95AA-4DD2-B5BF-AF2613DDA678}" destId="{CFA41472-2BE5-47B1-9CB3-237F433878BD}" srcOrd="3" destOrd="0" presId="urn:microsoft.com/office/officeart/2005/8/layout/vList2"/>
    <dgm:cxn modelId="{1D2739EB-BB59-4910-9975-95AA0CD333E3}" type="presParOf" srcId="{C74AEAA8-95AA-4DD2-B5BF-AF2613DDA678}" destId="{A8D91054-8DD9-448A-904B-04704F91BE5B}" srcOrd="4" destOrd="0" presId="urn:microsoft.com/office/officeart/2005/8/layout/vList2"/>
    <dgm:cxn modelId="{6C79349A-7A82-495D-85CF-6DEA3A975944}" type="presParOf" srcId="{C74AEAA8-95AA-4DD2-B5BF-AF2613DDA678}" destId="{2F6E42A2-4884-4DE6-9E60-C6274C59628F}" srcOrd="5" destOrd="0" presId="urn:microsoft.com/office/officeart/2005/8/layout/vList2"/>
    <dgm:cxn modelId="{03D2328F-7F51-477C-B02C-5D2B0B7B3522}" type="presParOf" srcId="{C74AEAA8-95AA-4DD2-B5BF-AF2613DDA678}" destId="{757879D0-74B4-423F-8DF0-7031701AE794}" srcOrd="6" destOrd="0" presId="urn:microsoft.com/office/officeart/2005/8/layout/vList2"/>
    <dgm:cxn modelId="{E220FFE8-B560-4D87-9701-9FED24A7D28A}" type="presParOf" srcId="{C74AEAA8-95AA-4DD2-B5BF-AF2613DDA678}" destId="{B1B62F95-136D-4EA2-B1D2-CCDC609FA9EF}" srcOrd="7" destOrd="0" presId="urn:microsoft.com/office/officeart/2005/8/layout/vList2"/>
    <dgm:cxn modelId="{6C57751A-1A6F-4AAA-B75D-272F1359EA35}" type="presParOf" srcId="{C74AEAA8-95AA-4DD2-B5BF-AF2613DDA678}" destId="{2E76E2E3-35EA-48C7-A45C-F0395CE090B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17DEE2-2529-4048-A027-0347422F7B4B}">
      <dsp:nvSpPr>
        <dsp:cNvPr id="0" name=""/>
        <dsp:cNvSpPr/>
      </dsp:nvSpPr>
      <dsp:spPr>
        <a:xfrm>
          <a:off x="0" y="9267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compare two approaches</a:t>
          </a:r>
        </a:p>
      </dsp:txBody>
      <dsp:txXfrm>
        <a:off x="42693" y="135370"/>
        <a:ext cx="4934224" cy="789189"/>
      </dsp:txXfrm>
    </dsp:sp>
    <dsp:sp modelId="{953729D8-D97F-44F2-81C8-913FF1732DF0}">
      <dsp:nvSpPr>
        <dsp:cNvPr id="0" name=""/>
        <dsp:cNvSpPr/>
      </dsp:nvSpPr>
      <dsp:spPr>
        <a:xfrm>
          <a:off x="0" y="1033492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2474057"/>
                <a:satOff val="8986"/>
                <a:lumOff val="834"/>
                <a:alphaOff val="0"/>
                <a:tint val="96000"/>
                <a:lumMod val="100000"/>
              </a:schemeClr>
            </a:gs>
            <a:gs pos="78000">
              <a:schemeClr val="accent2">
                <a:hueOff val="-2474057"/>
                <a:satOff val="8986"/>
                <a:lumOff val="834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collect timing evidence</a:t>
          </a:r>
        </a:p>
      </dsp:txBody>
      <dsp:txXfrm>
        <a:off x="42693" y="1076185"/>
        <a:ext cx="4934224" cy="789189"/>
      </dsp:txXfrm>
    </dsp:sp>
    <dsp:sp modelId="{A8D91054-8DD9-448A-904B-04704F91BE5B}">
      <dsp:nvSpPr>
        <dsp:cNvPr id="0" name=""/>
        <dsp:cNvSpPr/>
      </dsp:nvSpPr>
      <dsp:spPr>
        <a:xfrm>
          <a:off x="0" y="197430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4948115"/>
                <a:satOff val="17972"/>
                <a:lumOff val="1667"/>
                <a:alphaOff val="0"/>
                <a:tint val="96000"/>
                <a:lumMod val="100000"/>
              </a:schemeClr>
            </a:gs>
            <a:gs pos="78000">
              <a:schemeClr val="accent2">
                <a:hueOff val="-4948115"/>
                <a:satOff val="17972"/>
                <a:lumOff val="1667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describe growth cautiously</a:t>
          </a:r>
        </a:p>
      </dsp:txBody>
      <dsp:txXfrm>
        <a:off x="42693" y="2017000"/>
        <a:ext cx="4934224" cy="789189"/>
      </dsp:txXfrm>
    </dsp:sp>
    <dsp:sp modelId="{757879D0-74B4-423F-8DF0-7031701AE794}">
      <dsp:nvSpPr>
        <dsp:cNvPr id="0" name=""/>
        <dsp:cNvSpPr/>
      </dsp:nvSpPr>
      <dsp:spPr>
        <a:xfrm>
          <a:off x="0" y="2915122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7422172"/>
                <a:satOff val="26958"/>
                <a:lumOff val="2501"/>
                <a:alphaOff val="0"/>
                <a:tint val="96000"/>
                <a:lumMod val="100000"/>
              </a:schemeClr>
            </a:gs>
            <a:gs pos="78000">
              <a:schemeClr val="accent2">
                <a:hueOff val="-7422172"/>
                <a:satOff val="26958"/>
                <a:lumOff val="2501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use basic Big-O vocabulary</a:t>
          </a:r>
        </a:p>
      </dsp:txBody>
      <dsp:txXfrm>
        <a:off x="42693" y="2957815"/>
        <a:ext cx="4934224" cy="789189"/>
      </dsp:txXfrm>
    </dsp:sp>
    <dsp:sp modelId="{2E76E2E3-35EA-48C7-A45C-F0395CE090B2}">
      <dsp:nvSpPr>
        <dsp:cNvPr id="0" name=""/>
        <dsp:cNvSpPr/>
      </dsp:nvSpPr>
      <dsp:spPr>
        <a:xfrm>
          <a:off x="0" y="385593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identify a limitation of your evidence</a:t>
          </a:r>
        </a:p>
      </dsp:txBody>
      <dsp:txXfrm>
        <a:off x="42693" y="3898630"/>
        <a:ext cx="4934224" cy="7891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943E5A-6629-4B53-8BAD-0FC37077EB1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82475-516A-409A-944E-F435F3DFCCF2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Ask students to recall one idea from each day:</a:t>
            </a:r>
          </a:p>
          <a:p>
            <a:r>
              <a:rPr lang="en-US" sz="1300" dirty="0"/>
              <a:t>- Monday: What does `print()` do?</a:t>
            </a:r>
          </a:p>
          <a:p>
            <a:r>
              <a:rPr lang="en-US" sz="1300" dirty="0"/>
              <a:t>- Tuesday: What does an expression create?</a:t>
            </a:r>
          </a:p>
          <a:p>
            <a:endParaRPr lang="en-US" sz="1300" dirty="0"/>
          </a:p>
          <a:p>
            <a:r>
              <a:rPr lang="en-US" sz="1300" dirty="0"/>
              <a:t>Keep this short. The point is to bridge into integration.</a:t>
            </a:r>
          </a:p>
          <a:p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we focus on completing small programs, not collecting more topics.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83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833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290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35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** Instructor Notes ** </a:t>
            </a:r>
          </a:p>
          <a:p>
            <a:r>
              <a:rPr lang="en-US" dirty="0"/>
              <a:t>Step through the coding solution(s) for the Lab.</a:t>
            </a:r>
            <a:br>
              <a:rPr lang="en-US" dirty="0"/>
            </a:br>
            <a:r>
              <a:rPr lang="en-US" dirty="0"/>
              <a:t>Be sure to state that this is only *one* solution of many. </a:t>
            </a:r>
            <a:br>
              <a:rPr lang="en-US" dirty="0"/>
            </a:br>
            <a:r>
              <a:rPr lang="en-US" dirty="0"/>
              <a:t>NOT the best or only solution.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16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370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20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5109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51090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rush the trace.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low, high, and mid mean before running the binary search explanation.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not that binary search "fails every time" on unsorted data.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that it is not trustworthy because its reasoning no longer holds.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 the decisions, not just the final result.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171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6746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 that the “timing limitation” note is not an apology.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is part of responsible technical communication.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good limitation note shows that the student understands what the evidence can and cannot claim.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 by restating the difference between evidence and overclaiming.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131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542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33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1441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1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awpixel.com/image/65575/survey-feedback-accountant-aerial-view-business-calculator-check-checklist-choice-coffee-computation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0595" y="1358537"/>
            <a:ext cx="5826719" cy="2692299"/>
          </a:xfrm>
        </p:spPr>
        <p:txBody>
          <a:bodyPr/>
          <a:lstStyle/>
          <a:p>
            <a:r>
              <a:rPr lang="en-US" dirty="0"/>
              <a:t>Python Programming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Week n – Topic</a:t>
            </a:r>
          </a:p>
          <a:p>
            <a:r>
              <a:rPr lang="en-US" i="1" dirty="0"/>
              <a:t>Day n: “Subtitle”</a:t>
            </a:r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A34B9-4282-4F69-6D75-152BF8906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FFBCD-3E25-CBB7-2E73-683DBF46A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62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C0D926-DDB4-ABA2-F676-65368B8023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8611" r="23342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4AE7D7-0CEB-F126-08CD-348C3A2A8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>
            <a:normAutofit/>
          </a:bodyPr>
          <a:lstStyle/>
          <a:p>
            <a:r>
              <a:rPr lang="en-US" dirty="0"/>
              <a:t>Quick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93D39-026B-C61D-D6A3-140878484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89"/>
            <a:ext cx="2888342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Monday made output visible.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Tuesday made numeric value flow visible.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3766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28" name="Picture 27" descr="Computer script on a screen">
            <a:extLst>
              <a:ext uri="{FF2B5EF4-FFF2-40B4-BE49-F238E27FC236}">
                <a16:creationId xmlns:a16="http://schemas.microsoft.com/office/drawing/2014/main" id="{38D50984-DDEB-A743-533E-89C11F357B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E6D73-36C1-785B-BF1E-F70A56E4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What We Will “Skip” For Now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A78D41-48A5-98C1-1F53-FB08BC3F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90"/>
            <a:ext cx="3915323" cy="3701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634669AE-52A5-F086-9BDE-17982042A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5562" y="2159000"/>
            <a:ext cx="2359152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13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8CC1AB3-4E10-DC1D-19E9-262AA9AD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/>
              <a:t>Review Coding Lab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9DC68C51-4C04-4FB3-8831-97CAFAF56E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43" b="6549"/>
          <a:stretch>
            <a:fillRect/>
          </a:stretch>
        </p:blipFill>
        <p:spPr>
          <a:xfrm>
            <a:off x="739476" y="609600"/>
            <a:ext cx="6216024" cy="363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274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5BB2258-2A42-7358-855B-3C842DFCA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What Counts as Success Today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E8FB340-C6CC-FE68-2C30-7F4BB19196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7880109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82066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8413C-E473-7BB1-5818-2D164CEF8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30655-1F44-A7A1-AD87-667B4768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535" y="1189369"/>
            <a:ext cx="4865966" cy="745462"/>
          </a:xfrm>
        </p:spPr>
        <p:txBody>
          <a:bodyPr>
            <a:normAutofit/>
          </a:bodyPr>
          <a:lstStyle/>
          <a:p>
            <a:r>
              <a:rPr lang="en-US" dirty="0"/>
              <a:t>Topic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1B117B-7548-ADF5-1699-217128A6553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 l="17145" r="17145"/>
          <a:stretch/>
        </p:blipFill>
        <p:spPr>
          <a:xfrm>
            <a:off x="20" y="10"/>
            <a:ext cx="2050522" cy="6876278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842596" y="6858000"/>
                </a:lnTo>
                <a:lnTo>
                  <a:pt x="0" y="1191846"/>
                </a:lnTo>
                <a:close/>
              </a:path>
            </a:pathLst>
          </a:cu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29E677-A23F-A29E-45EE-905BCE0D8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9535" y="2160589"/>
            <a:ext cx="486596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?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85F1924-E7B7-D63D-AEF2-560B04790698}"/>
              </a:ext>
            </a:extLst>
          </p:cNvPr>
          <p:cNvSpPr txBox="1">
            <a:spLocks/>
          </p:cNvSpPr>
          <p:nvPr/>
        </p:nvSpPr>
        <p:spPr>
          <a:xfrm>
            <a:off x="1835960" y="213080"/>
            <a:ext cx="2686558" cy="50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dirty="0"/>
              <a:t>Textbook Review</a:t>
            </a:r>
            <a:endParaRPr lang="en-US" sz="2000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241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F8A41-8161-7F2E-C384-3F6C3C17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Secton</a:t>
            </a:r>
            <a:r>
              <a:rPr lang="en-US" dirty="0"/>
              <a:t>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F6F88-2E44-45BE-5E41-154C8AD99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371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01FA2D-2385-DABD-516E-8A2F33DC1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 descr="Camera lens close up">
            <a:extLst>
              <a:ext uri="{FF2B5EF4-FFF2-40B4-BE49-F238E27FC236}">
                <a16:creationId xmlns:a16="http://schemas.microsoft.com/office/drawing/2014/main" id="{3F92D707-4F6F-1707-563F-DAA7E83D0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Demo #1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8DFD8B-5C86-3290-9577-EDD61563B509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“Basic Type Awareness”</a:t>
            </a:r>
          </a:p>
        </p:txBody>
      </p:sp>
    </p:spTree>
    <p:extLst>
      <p:ext uri="{BB962C8B-B14F-4D97-AF65-F5344CB8AC3E}">
        <p14:creationId xmlns:p14="http://schemas.microsoft.com/office/powerpoint/2010/main" val="858767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Demo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0A8CDE13-EC6E-831B-0134-AE933CD2D1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30" r="39188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0D0E5-C82A-2821-F372-34D79453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535" y="609600"/>
            <a:ext cx="4865966" cy="1320800"/>
          </a:xfrm>
        </p:spPr>
        <p:txBody>
          <a:bodyPr>
            <a:normAutofit/>
          </a:bodyPr>
          <a:lstStyle/>
          <a:p>
            <a:r>
              <a:rPr lang="en-US" dirty="0"/>
              <a:t>Demo Explanation</a:t>
            </a:r>
          </a:p>
        </p:txBody>
      </p:sp>
      <p:pic>
        <p:nvPicPr>
          <p:cNvPr id="5" name="Picture 4" descr="Dark blue shattered geometric chain">
            <a:extLst>
              <a:ext uri="{FF2B5EF4-FFF2-40B4-BE49-F238E27FC236}">
                <a16:creationId xmlns:a16="http://schemas.microsoft.com/office/drawing/2014/main" id="{377F6D4D-BE10-60D9-4BD4-003EB5B6667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 l="72987" r="10239" b="-1"/>
          <a:stretch>
            <a:fillRect/>
          </a:stretch>
        </p:blipFill>
        <p:spPr>
          <a:xfrm>
            <a:off x="20" y="10"/>
            <a:ext cx="2050522" cy="6876278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842596" y="6858000"/>
                </a:lnTo>
                <a:lnTo>
                  <a:pt x="0" y="1191846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58CB4BA4-5207-43FB-9FA5-62223EF71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1191846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13BE1-56FB-86D8-D85E-F894C535F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9535" y="2160589"/>
            <a:ext cx="486596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7822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From Demo to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Lab 0n</a:t>
            </a:r>
          </a:p>
        </p:txBody>
      </p:sp>
      <p:pic>
        <p:nvPicPr>
          <p:cNvPr id="5" name="Picture 4" descr="A row of samples for medical testing">
            <a:extLst>
              <a:ext uri="{FF2B5EF4-FFF2-40B4-BE49-F238E27FC236}">
                <a16:creationId xmlns:a16="http://schemas.microsoft.com/office/drawing/2014/main" id="{5406C1C5-46D3-5662-C887-3DA2319E77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75" r="437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D9D7-DC22-67B7-C127-E213A7D7E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7981" y="609600"/>
            <a:ext cx="3207519" cy="1320800"/>
          </a:xfrm>
        </p:spPr>
        <p:txBody>
          <a:bodyPr anchor="ctr">
            <a:normAutofit/>
          </a:bodyPr>
          <a:lstStyle/>
          <a:p>
            <a:r>
              <a:rPr lang="en-US" b="1" dirty="0"/>
              <a:t>README Evidence</a:t>
            </a:r>
            <a:endParaRPr lang="en-US" dirty="0"/>
          </a:p>
        </p:txBody>
      </p:sp>
      <p:pic>
        <p:nvPicPr>
          <p:cNvPr id="7" name="Graphic 6" descr="Check List">
            <a:extLst>
              <a:ext uri="{FF2B5EF4-FFF2-40B4-BE49-F238E27FC236}">
                <a16:creationId xmlns:a16="http://schemas.microsoft.com/office/drawing/2014/main" id="{ECC9DEAD-0143-BEB6-CDDF-ECA972867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908" y="1899262"/>
            <a:ext cx="2896429" cy="289642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0A1EC-C9C7-D8BC-8C60-91337D1A5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9367" y="2160589"/>
            <a:ext cx="3213882" cy="3768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README should show:</a:t>
            </a:r>
          </a:p>
          <a:p>
            <a:r>
              <a:rPr lang="en-US" dirty="0" err="1"/>
              <a:t>aaa</a:t>
            </a:r>
            <a:endParaRPr lang="en-US" dirty="0"/>
          </a:p>
          <a:p>
            <a:r>
              <a:rPr lang="en-US" dirty="0"/>
              <a:t>AI-use note, if applicable</a:t>
            </a:r>
          </a:p>
        </p:txBody>
      </p:sp>
    </p:spTree>
    <p:extLst>
      <p:ext uri="{BB962C8B-B14F-4D97-AF65-F5344CB8AC3E}">
        <p14:creationId xmlns:p14="http://schemas.microsoft.com/office/powerpoint/2010/main" val="1923963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FEC8-C36E-8138-AFF9-1BCB8E92E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AI Use In Lab 0n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F7C5D-76E8-1B83-C806-C3C793996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 descr="Robot operating a machine">
            <a:extLst>
              <a:ext uri="{FF2B5EF4-FFF2-40B4-BE49-F238E27FC236}">
                <a16:creationId xmlns:a16="http://schemas.microsoft.com/office/drawing/2014/main" id="{638035A6-8F2B-CFAB-F2A0-C40F7D534C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618" r="25100" b="1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85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9555-1E16-8E8B-E548-105BA59C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Lab 0n Success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21A-F8C1-15AA-C705-4530AE58A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5" name="Picture 4" descr="Beakers with solution on shelf in lab">
            <a:extLst>
              <a:ext uri="{FF2B5EF4-FFF2-40B4-BE49-F238E27FC236}">
                <a16:creationId xmlns:a16="http://schemas.microsoft.com/office/drawing/2014/main" id="{255A690D-4CB8-0C66-184B-33949F8D65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87" r="24330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513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Thank you!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Have Fun!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E61A93-6BD2-677B-DBB4-F66B15926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752" y="4514446"/>
            <a:ext cx="3224749" cy="87104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1800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0622-6194-2CC7-4489-A2CB9355E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Useful AI Prompt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4359E-464A-DA30-EFD5-4AAB4A198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“Prompt goes here …”</a:t>
            </a:r>
          </a:p>
        </p:txBody>
      </p:sp>
      <p:pic>
        <p:nvPicPr>
          <p:cNvPr id="21" name="Picture 20" descr="Computer code representation.">
            <a:extLst>
              <a:ext uri="{FF2B5EF4-FFF2-40B4-BE49-F238E27FC236}">
                <a16:creationId xmlns:a16="http://schemas.microsoft.com/office/drawing/2014/main" id="{8A728018-283E-379A-70A7-867E4A3D72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524" r="2743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2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410D77-E7C1-DDF5-0FD1-14A5194BF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Image Slide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5C1AE-67D2-9312-4902-A1548DA137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599" y="609600"/>
            <a:ext cx="6400800" cy="41148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0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10587</TotalTime>
  <Words>390</Words>
  <Application>Microsoft Office PowerPoint</Application>
  <PresentationFormat>On-screen Show (4:3)</PresentationFormat>
  <Paragraphs>87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Trebuchet MS</vt:lpstr>
      <vt:lpstr>Wingdings 3</vt:lpstr>
      <vt:lpstr>Facet</vt:lpstr>
      <vt:lpstr>Python Programming Foundations</vt:lpstr>
      <vt:lpstr>PowerPoint Presentation</vt:lpstr>
      <vt:lpstr>Quick Review</vt:lpstr>
      <vt:lpstr>What We Will Use Today</vt:lpstr>
      <vt:lpstr>What We Will “Skip” For Now</vt:lpstr>
      <vt:lpstr>Review Coding Lab</vt:lpstr>
      <vt:lpstr>What Counts as Success Today</vt:lpstr>
      <vt:lpstr>Topic</vt:lpstr>
      <vt:lpstr>Secton?</vt:lpstr>
      <vt:lpstr>Topic</vt:lpstr>
      <vt:lpstr>Demo #1</vt:lpstr>
      <vt:lpstr>PowerPoint Presentation</vt:lpstr>
      <vt:lpstr>Demo Evidence</vt:lpstr>
      <vt:lpstr>Demo Explanation</vt:lpstr>
      <vt:lpstr>From Demo to Lab</vt:lpstr>
      <vt:lpstr>README Evidence</vt:lpstr>
      <vt:lpstr>AI Use In Lab 0n</vt:lpstr>
      <vt:lpstr>Lab 0n Success Check</vt:lpstr>
      <vt:lpstr>Thank you!  Have Fun!</vt:lpstr>
      <vt:lpstr>Useful AI Prompt Pattern</vt:lpstr>
      <vt:lpstr>Image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122</cp:revision>
  <dcterms:created xsi:type="dcterms:W3CDTF">2013-01-27T09:14:16Z</dcterms:created>
  <dcterms:modified xsi:type="dcterms:W3CDTF">2026-06-11T13:44:50Z</dcterms:modified>
  <cp:category/>
</cp:coreProperties>
</file>