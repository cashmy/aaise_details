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27"/>
  </p:notesMasterIdLst>
  <p:handoutMasterIdLst>
    <p:handoutMasterId r:id="rId28"/>
  </p:handoutMasterIdLst>
  <p:sldIdLst>
    <p:sldId id="256" r:id="rId2"/>
    <p:sldId id="489" r:id="rId3"/>
    <p:sldId id="417" r:id="rId4"/>
    <p:sldId id="527" r:id="rId5"/>
    <p:sldId id="495" r:id="rId6"/>
    <p:sldId id="323" r:id="rId7"/>
    <p:sldId id="496" r:id="rId8"/>
    <p:sldId id="376" r:id="rId9"/>
    <p:sldId id="377" r:id="rId10"/>
    <p:sldId id="497" r:id="rId11"/>
    <p:sldId id="490" r:id="rId12"/>
    <p:sldId id="498" r:id="rId13"/>
    <p:sldId id="491" r:id="rId14"/>
    <p:sldId id="499" r:id="rId15"/>
    <p:sldId id="487" r:id="rId16"/>
    <p:sldId id="418" r:id="rId17"/>
    <p:sldId id="500" r:id="rId18"/>
    <p:sldId id="494" r:id="rId19"/>
    <p:sldId id="501" r:id="rId20"/>
    <p:sldId id="378" r:id="rId21"/>
    <p:sldId id="528" r:id="rId22"/>
    <p:sldId id="503" r:id="rId23"/>
    <p:sldId id="375" r:id="rId24"/>
    <p:sldId id="504" r:id="rId25"/>
    <p:sldId id="320" r:id="rId26"/>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8900" autoAdjust="0"/>
  </p:normalViewPr>
  <p:slideViewPr>
    <p:cSldViewPr snapToGrid="0" snapToObjects="1">
      <p:cViewPr varScale="1">
        <p:scale>
          <a:sx n="73" d="100"/>
          <a:sy n="73" d="100"/>
        </p:scale>
        <p:origin x="1710" y="54"/>
      </p:cViewPr>
      <p:guideLst>
        <p:guide orient="horz" pos="2160"/>
        <p:guide pos="2880"/>
      </p:guideLst>
    </p:cSldViewPr>
  </p:slideViewPr>
  <p:outlineViewPr>
    <p:cViewPr>
      <p:scale>
        <a:sx n="33" d="100"/>
        <a:sy n="33" d="100"/>
      </p:scale>
      <p:origin x="0" y="-11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0" d="100"/>
          <a:sy n="80" d="100"/>
        </p:scale>
        <p:origin x="4002" y="1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ata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A42785-DC80-44C4-9F54-7BCBB4911AD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603E9C6-5117-4CA8-BEA2-991DB58FB01A}">
      <dgm:prSet/>
      <dgm:spPr/>
      <dgm:t>
        <a:bodyPr/>
        <a:lstStyle/>
        <a:p>
          <a:pPr>
            <a:lnSpc>
              <a:spcPct val="100000"/>
            </a:lnSpc>
          </a:pPr>
          <a:r>
            <a:rPr lang="en-US"/>
            <a:t>A capstone is not finished just because the code runs once.</a:t>
          </a:r>
        </a:p>
      </dgm:t>
    </dgm:pt>
    <dgm:pt modelId="{F98B1DE6-9E7C-43E6-8C40-45CDAFDB5474}" type="parTrans" cxnId="{69666822-80E8-419C-B2D8-38E6F46A4463}">
      <dgm:prSet/>
      <dgm:spPr/>
      <dgm:t>
        <a:bodyPr/>
        <a:lstStyle/>
        <a:p>
          <a:endParaRPr lang="en-US"/>
        </a:p>
      </dgm:t>
    </dgm:pt>
    <dgm:pt modelId="{6D4177C1-D223-411A-A801-888D20216DCC}" type="sibTrans" cxnId="{69666822-80E8-419C-B2D8-38E6F46A4463}">
      <dgm:prSet/>
      <dgm:spPr/>
      <dgm:t>
        <a:bodyPr/>
        <a:lstStyle/>
        <a:p>
          <a:endParaRPr lang="en-US"/>
        </a:p>
      </dgm:t>
    </dgm:pt>
    <dgm:pt modelId="{456139BA-1D9F-447C-8DA4-14EF3260DB3C}">
      <dgm:prSet/>
      <dgm:spPr/>
      <dgm:t>
        <a:bodyPr/>
        <a:lstStyle/>
        <a:p>
          <a:pPr>
            <a:lnSpc>
              <a:spcPct val="100000"/>
            </a:lnSpc>
          </a:pPr>
          <a:r>
            <a:rPr lang="en-US"/>
            <a:t>It should run inside approved scope, produce meaningful behavior, and include evidence that important behavior was checked.</a:t>
          </a:r>
        </a:p>
      </dgm:t>
    </dgm:pt>
    <dgm:pt modelId="{E569AD7A-CEB5-4CA4-98FB-F9265DDB9F50}" type="parTrans" cxnId="{E7829F21-8CDF-4B78-A803-415C06C22006}">
      <dgm:prSet/>
      <dgm:spPr/>
      <dgm:t>
        <a:bodyPr/>
        <a:lstStyle/>
        <a:p>
          <a:endParaRPr lang="en-US"/>
        </a:p>
      </dgm:t>
    </dgm:pt>
    <dgm:pt modelId="{A26648A1-F684-4910-88E6-3DCDB472737A}" type="sibTrans" cxnId="{E7829F21-8CDF-4B78-A803-415C06C22006}">
      <dgm:prSet/>
      <dgm:spPr/>
      <dgm:t>
        <a:bodyPr/>
        <a:lstStyle/>
        <a:p>
          <a:endParaRPr lang="en-US"/>
        </a:p>
      </dgm:t>
    </dgm:pt>
    <dgm:pt modelId="{D71362B5-9CE4-45E2-A517-1AD75F489337}" type="pres">
      <dgm:prSet presAssocID="{54A42785-DC80-44C4-9F54-7BCBB4911ADC}" presName="root" presStyleCnt="0">
        <dgm:presLayoutVars>
          <dgm:dir/>
          <dgm:resizeHandles val="exact"/>
        </dgm:presLayoutVars>
      </dgm:prSet>
      <dgm:spPr/>
    </dgm:pt>
    <dgm:pt modelId="{3678F075-7171-4DF7-8CFB-5DA86B850410}" type="pres">
      <dgm:prSet presAssocID="{8603E9C6-5117-4CA8-BEA2-991DB58FB01A}" presName="compNode" presStyleCnt="0"/>
      <dgm:spPr/>
    </dgm:pt>
    <dgm:pt modelId="{EE260C8E-41B8-49E5-B638-73C546611AD8}" type="pres">
      <dgm:prSet presAssocID="{8603E9C6-5117-4CA8-BEA2-991DB58FB01A}" presName="bgRect" presStyleLbl="bgShp" presStyleIdx="0" presStyleCnt="2"/>
      <dgm:spPr/>
    </dgm:pt>
    <dgm:pt modelId="{FFB900BC-7AB5-44D6-8C27-26D4D89A9AC2}" type="pres">
      <dgm:prSet presAssocID="{8603E9C6-5117-4CA8-BEA2-991DB58FB01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Gravestone"/>
        </a:ext>
      </dgm:extLst>
    </dgm:pt>
    <dgm:pt modelId="{10CE25E6-EDB8-4C06-B66C-ED7AC14B040C}" type="pres">
      <dgm:prSet presAssocID="{8603E9C6-5117-4CA8-BEA2-991DB58FB01A}" presName="spaceRect" presStyleCnt="0"/>
      <dgm:spPr/>
    </dgm:pt>
    <dgm:pt modelId="{ED0E8ED0-083D-4644-BBF3-F80A6A7404B0}" type="pres">
      <dgm:prSet presAssocID="{8603E9C6-5117-4CA8-BEA2-991DB58FB01A}" presName="parTx" presStyleLbl="revTx" presStyleIdx="0" presStyleCnt="2">
        <dgm:presLayoutVars>
          <dgm:chMax val="0"/>
          <dgm:chPref val="0"/>
        </dgm:presLayoutVars>
      </dgm:prSet>
      <dgm:spPr/>
    </dgm:pt>
    <dgm:pt modelId="{87263BC1-470E-420C-9FCB-7FF7702952BF}" type="pres">
      <dgm:prSet presAssocID="{6D4177C1-D223-411A-A801-888D20216DCC}" presName="sibTrans" presStyleCnt="0"/>
      <dgm:spPr/>
    </dgm:pt>
    <dgm:pt modelId="{254AC350-261C-4E4E-B26C-6C45F38DE170}" type="pres">
      <dgm:prSet presAssocID="{456139BA-1D9F-447C-8DA4-14EF3260DB3C}" presName="compNode" presStyleCnt="0"/>
      <dgm:spPr/>
    </dgm:pt>
    <dgm:pt modelId="{C59100EE-D5AE-4F1D-A30A-C2C3AB98FC90}" type="pres">
      <dgm:prSet presAssocID="{456139BA-1D9F-447C-8DA4-14EF3260DB3C}" presName="bgRect" presStyleLbl="bgShp" presStyleIdx="1" presStyleCnt="2"/>
      <dgm:spPr/>
    </dgm:pt>
    <dgm:pt modelId="{7B719C96-3162-4A53-BC3A-7B5A1B5BBD25}" type="pres">
      <dgm:prSet presAssocID="{456139BA-1D9F-447C-8DA4-14EF3260DB3C}"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Checklist"/>
        </a:ext>
      </dgm:extLst>
    </dgm:pt>
    <dgm:pt modelId="{63A65A07-1AF7-4408-BDC2-C1251CE73CF4}" type="pres">
      <dgm:prSet presAssocID="{456139BA-1D9F-447C-8DA4-14EF3260DB3C}" presName="spaceRect" presStyleCnt="0"/>
      <dgm:spPr/>
    </dgm:pt>
    <dgm:pt modelId="{03284324-E599-4294-AF42-DBC80A69D1AD}" type="pres">
      <dgm:prSet presAssocID="{456139BA-1D9F-447C-8DA4-14EF3260DB3C}" presName="parTx" presStyleLbl="revTx" presStyleIdx="1" presStyleCnt="2">
        <dgm:presLayoutVars>
          <dgm:chMax val="0"/>
          <dgm:chPref val="0"/>
        </dgm:presLayoutVars>
      </dgm:prSet>
      <dgm:spPr/>
    </dgm:pt>
  </dgm:ptLst>
  <dgm:cxnLst>
    <dgm:cxn modelId="{E7829F21-8CDF-4B78-A803-415C06C22006}" srcId="{54A42785-DC80-44C4-9F54-7BCBB4911ADC}" destId="{456139BA-1D9F-447C-8DA4-14EF3260DB3C}" srcOrd="1" destOrd="0" parTransId="{E569AD7A-CEB5-4CA4-98FB-F9265DDB9F50}" sibTransId="{A26648A1-F684-4910-88E6-3DCDB472737A}"/>
    <dgm:cxn modelId="{69666822-80E8-419C-B2D8-38E6F46A4463}" srcId="{54A42785-DC80-44C4-9F54-7BCBB4911ADC}" destId="{8603E9C6-5117-4CA8-BEA2-991DB58FB01A}" srcOrd="0" destOrd="0" parTransId="{F98B1DE6-9E7C-43E6-8C40-45CDAFDB5474}" sibTransId="{6D4177C1-D223-411A-A801-888D20216DCC}"/>
    <dgm:cxn modelId="{947AB13D-4500-46F3-89DF-5661888687F6}" type="presOf" srcId="{54A42785-DC80-44C4-9F54-7BCBB4911ADC}" destId="{D71362B5-9CE4-45E2-A517-1AD75F489337}" srcOrd="0" destOrd="0" presId="urn:microsoft.com/office/officeart/2018/2/layout/IconVerticalSolidList"/>
    <dgm:cxn modelId="{2C7BEE6D-95A7-404A-960C-AF86C18D5AA5}" type="presOf" srcId="{456139BA-1D9F-447C-8DA4-14EF3260DB3C}" destId="{03284324-E599-4294-AF42-DBC80A69D1AD}" srcOrd="0" destOrd="0" presId="urn:microsoft.com/office/officeart/2018/2/layout/IconVerticalSolidList"/>
    <dgm:cxn modelId="{D074B9E9-34A2-4A83-BCC6-742F24E299C2}" type="presOf" srcId="{8603E9C6-5117-4CA8-BEA2-991DB58FB01A}" destId="{ED0E8ED0-083D-4644-BBF3-F80A6A7404B0}" srcOrd="0" destOrd="0" presId="urn:microsoft.com/office/officeart/2018/2/layout/IconVerticalSolidList"/>
    <dgm:cxn modelId="{52155877-38CE-40C8-9C47-59EB4B073C52}" type="presParOf" srcId="{D71362B5-9CE4-45E2-A517-1AD75F489337}" destId="{3678F075-7171-4DF7-8CFB-5DA86B850410}" srcOrd="0" destOrd="0" presId="urn:microsoft.com/office/officeart/2018/2/layout/IconVerticalSolidList"/>
    <dgm:cxn modelId="{3E8660B3-9E78-4CE7-B881-4C2DB0585668}" type="presParOf" srcId="{3678F075-7171-4DF7-8CFB-5DA86B850410}" destId="{EE260C8E-41B8-49E5-B638-73C546611AD8}" srcOrd="0" destOrd="0" presId="urn:microsoft.com/office/officeart/2018/2/layout/IconVerticalSolidList"/>
    <dgm:cxn modelId="{1F60A8F0-E9C7-43E2-8ED2-B59FA426D752}" type="presParOf" srcId="{3678F075-7171-4DF7-8CFB-5DA86B850410}" destId="{FFB900BC-7AB5-44D6-8C27-26D4D89A9AC2}" srcOrd="1" destOrd="0" presId="urn:microsoft.com/office/officeart/2018/2/layout/IconVerticalSolidList"/>
    <dgm:cxn modelId="{F854D1AA-056D-43CF-8888-67536D278F1F}" type="presParOf" srcId="{3678F075-7171-4DF7-8CFB-5DA86B850410}" destId="{10CE25E6-EDB8-4C06-B66C-ED7AC14B040C}" srcOrd="2" destOrd="0" presId="urn:microsoft.com/office/officeart/2018/2/layout/IconVerticalSolidList"/>
    <dgm:cxn modelId="{67595143-158E-48EE-A1AA-6F4FD038519C}" type="presParOf" srcId="{3678F075-7171-4DF7-8CFB-5DA86B850410}" destId="{ED0E8ED0-083D-4644-BBF3-F80A6A7404B0}" srcOrd="3" destOrd="0" presId="urn:microsoft.com/office/officeart/2018/2/layout/IconVerticalSolidList"/>
    <dgm:cxn modelId="{2D9C40AB-D607-4971-95A1-F0C62DC2C063}" type="presParOf" srcId="{D71362B5-9CE4-45E2-A517-1AD75F489337}" destId="{87263BC1-470E-420C-9FCB-7FF7702952BF}" srcOrd="1" destOrd="0" presId="urn:microsoft.com/office/officeart/2018/2/layout/IconVerticalSolidList"/>
    <dgm:cxn modelId="{B396CD3E-27AE-4FF1-A8C7-C8F4F0134F25}" type="presParOf" srcId="{D71362B5-9CE4-45E2-A517-1AD75F489337}" destId="{254AC350-261C-4E4E-B26C-6C45F38DE170}" srcOrd="2" destOrd="0" presId="urn:microsoft.com/office/officeart/2018/2/layout/IconVerticalSolidList"/>
    <dgm:cxn modelId="{AB17D55A-AB46-4400-8472-8CD42320A87C}" type="presParOf" srcId="{254AC350-261C-4E4E-B26C-6C45F38DE170}" destId="{C59100EE-D5AE-4F1D-A30A-C2C3AB98FC90}" srcOrd="0" destOrd="0" presId="urn:microsoft.com/office/officeart/2018/2/layout/IconVerticalSolidList"/>
    <dgm:cxn modelId="{0BB609F6-E71D-4718-98CE-06A3487BBC7C}" type="presParOf" srcId="{254AC350-261C-4E4E-B26C-6C45F38DE170}" destId="{7B719C96-3162-4A53-BC3A-7B5A1B5BBD25}" srcOrd="1" destOrd="0" presId="urn:microsoft.com/office/officeart/2018/2/layout/IconVerticalSolidList"/>
    <dgm:cxn modelId="{5EB003A6-433C-4080-B6DA-4FE097D95D51}" type="presParOf" srcId="{254AC350-261C-4E4E-B26C-6C45F38DE170}" destId="{63A65A07-1AF7-4408-BDC2-C1251CE73CF4}" srcOrd="2" destOrd="0" presId="urn:microsoft.com/office/officeart/2018/2/layout/IconVerticalSolidList"/>
    <dgm:cxn modelId="{8CF746BA-E6FC-453C-B92A-81996C5B046B}" type="presParOf" srcId="{254AC350-261C-4E4E-B26C-6C45F38DE170}" destId="{03284324-E599-4294-AF42-DBC80A69D1A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972B69-4B4F-436A-B547-1FADC4FB29B4}"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A75A4D4B-BFE9-4B6F-9A81-9F9C96F5DA38}">
      <dgm:prSet/>
      <dgm:spPr/>
      <dgm:t>
        <a:bodyPr/>
        <a:lstStyle/>
        <a:p>
          <a:r>
            <a:rPr lang="en-US" b="0" dirty="0"/>
            <a:t>Stay inside approved scope</a:t>
          </a:r>
          <a:endParaRPr lang="en-US" dirty="0"/>
        </a:p>
      </dgm:t>
    </dgm:pt>
    <dgm:pt modelId="{4FAABBF4-AB55-44FE-B6F0-B4BF829D004F}" type="parTrans" cxnId="{7F9DA8A4-8191-4121-8DA1-F0552EB3E440}">
      <dgm:prSet/>
      <dgm:spPr/>
      <dgm:t>
        <a:bodyPr/>
        <a:lstStyle/>
        <a:p>
          <a:endParaRPr lang="en-US"/>
        </a:p>
      </dgm:t>
    </dgm:pt>
    <dgm:pt modelId="{7E1354BB-EC61-4A45-99C9-75C6202CC56A}" type="sibTrans" cxnId="{7F9DA8A4-8191-4121-8DA1-F0552EB3E440}">
      <dgm:prSet/>
      <dgm:spPr/>
      <dgm:t>
        <a:bodyPr/>
        <a:lstStyle/>
        <a:p>
          <a:endParaRPr lang="en-US"/>
        </a:p>
      </dgm:t>
    </dgm:pt>
    <dgm:pt modelId="{E4C84139-94E1-4D3B-ADED-948F30ABDAA1}">
      <dgm:prSet/>
      <dgm:spPr/>
      <dgm:t>
        <a:bodyPr/>
        <a:lstStyle/>
        <a:p>
          <a:pPr>
            <a:buNone/>
          </a:pPr>
          <a:r>
            <a:rPr lang="en-US" b="0" dirty="0"/>
            <a:t>Identify the most important behavior</a:t>
          </a:r>
        </a:p>
      </dgm:t>
    </dgm:pt>
    <dgm:pt modelId="{53690045-8A0C-4534-A608-F239BDB7E20C}" type="parTrans" cxnId="{91CC82C4-925E-41CD-911F-B8DDDA7C6430}">
      <dgm:prSet/>
      <dgm:spPr/>
      <dgm:t>
        <a:bodyPr/>
        <a:lstStyle/>
        <a:p>
          <a:endParaRPr lang="en-US"/>
        </a:p>
      </dgm:t>
    </dgm:pt>
    <dgm:pt modelId="{AECB7320-F870-4447-BAC8-41BA477CBB56}" type="sibTrans" cxnId="{91CC82C4-925E-41CD-911F-B8DDDA7C6430}">
      <dgm:prSet/>
      <dgm:spPr/>
      <dgm:t>
        <a:bodyPr/>
        <a:lstStyle/>
        <a:p>
          <a:endParaRPr lang="en-US"/>
        </a:p>
      </dgm:t>
    </dgm:pt>
    <dgm:pt modelId="{F5D896FA-002D-4842-99A1-3D821BB5A974}">
      <dgm:prSet/>
      <dgm:spPr/>
      <dgm:t>
        <a:bodyPr/>
        <a:lstStyle/>
        <a:p>
          <a:pPr>
            <a:buNone/>
          </a:pPr>
          <a:r>
            <a:rPr lang="en-US" b="0" dirty="0"/>
            <a:t>Validate that behavior with real evidence</a:t>
          </a:r>
        </a:p>
      </dgm:t>
    </dgm:pt>
    <dgm:pt modelId="{3BA9DACE-AA2E-4E93-87F3-5628C9130A4A}" type="parTrans" cxnId="{E4FB20C2-878F-4BF8-B0C0-5C525076D940}">
      <dgm:prSet/>
      <dgm:spPr/>
      <dgm:t>
        <a:bodyPr/>
        <a:lstStyle/>
        <a:p>
          <a:endParaRPr lang="en-US"/>
        </a:p>
      </dgm:t>
    </dgm:pt>
    <dgm:pt modelId="{10D53C26-D797-4358-8B7F-C2C0983A4BE8}" type="sibTrans" cxnId="{E4FB20C2-878F-4BF8-B0C0-5C525076D940}">
      <dgm:prSet/>
      <dgm:spPr/>
      <dgm:t>
        <a:bodyPr/>
        <a:lstStyle/>
        <a:p>
          <a:endParaRPr lang="en-US"/>
        </a:p>
      </dgm:t>
    </dgm:pt>
    <dgm:pt modelId="{3333116B-1BB1-4CD0-8274-E51E7064B1C7}">
      <dgm:prSet/>
      <dgm:spPr/>
      <dgm:t>
        <a:bodyPr/>
        <a:lstStyle/>
        <a:p>
          <a:pPr>
            <a:buNone/>
          </a:pPr>
          <a:r>
            <a:rPr lang="en-US" b="0" dirty="0"/>
            <a:t>Preserve run instructions</a:t>
          </a:r>
        </a:p>
      </dgm:t>
    </dgm:pt>
    <dgm:pt modelId="{85AC693B-9A5D-4E3B-A10A-89E9EFF081A4}" type="parTrans" cxnId="{8563AF03-6C2D-4134-81E0-8830ACC06A8E}">
      <dgm:prSet/>
      <dgm:spPr/>
      <dgm:t>
        <a:bodyPr/>
        <a:lstStyle/>
        <a:p>
          <a:endParaRPr lang="en-US"/>
        </a:p>
      </dgm:t>
    </dgm:pt>
    <dgm:pt modelId="{B03AA410-B013-4763-8356-EC2259C59FE4}" type="sibTrans" cxnId="{8563AF03-6C2D-4134-81E0-8830ACC06A8E}">
      <dgm:prSet/>
      <dgm:spPr/>
      <dgm:t>
        <a:bodyPr/>
        <a:lstStyle/>
        <a:p>
          <a:endParaRPr lang="en-US"/>
        </a:p>
      </dgm:t>
    </dgm:pt>
    <dgm:pt modelId="{C2473523-6EBD-4BE2-9EBF-B9D9548E7D18}">
      <dgm:prSet/>
      <dgm:spPr/>
      <dgm:t>
        <a:bodyPr/>
        <a:lstStyle/>
        <a:p>
          <a:pPr>
            <a:buNone/>
          </a:pPr>
          <a:r>
            <a:rPr lang="en-US" b="0" dirty="0"/>
            <a:t>Record meaningful AI help if used</a:t>
          </a:r>
        </a:p>
      </dgm:t>
    </dgm:pt>
    <dgm:pt modelId="{AEB1BB62-F560-4A2D-BBF7-B1570AF7A20E}" type="parTrans" cxnId="{3CC18B46-7C2F-43F9-9361-9226366E4AC6}">
      <dgm:prSet/>
      <dgm:spPr/>
      <dgm:t>
        <a:bodyPr/>
        <a:lstStyle/>
        <a:p>
          <a:endParaRPr lang="en-US"/>
        </a:p>
      </dgm:t>
    </dgm:pt>
    <dgm:pt modelId="{3449EFD7-2404-4A04-870A-60327D36E95E}" type="sibTrans" cxnId="{3CC18B46-7C2F-43F9-9361-9226366E4AC6}">
      <dgm:prSet/>
      <dgm:spPr/>
      <dgm:t>
        <a:bodyPr/>
        <a:lstStyle/>
        <a:p>
          <a:endParaRPr lang="en-US"/>
        </a:p>
      </dgm:t>
    </dgm:pt>
    <dgm:pt modelId="{0298A754-9A66-453A-953E-396084B8FA4B}">
      <dgm:prSet/>
      <dgm:spPr/>
      <dgm:t>
        <a:bodyPr/>
        <a:lstStyle/>
        <a:p>
          <a:pPr>
            <a:buNone/>
          </a:pPr>
          <a:r>
            <a:rPr lang="en-US" b="0" dirty="0"/>
            <a:t>Prepare to explain the work in Assignment 16</a:t>
          </a:r>
        </a:p>
      </dgm:t>
    </dgm:pt>
    <dgm:pt modelId="{0F92AB4B-2A39-41E2-B04B-8A819E0430DB}" type="parTrans" cxnId="{504FA33E-5B40-4708-A74A-373621B3F504}">
      <dgm:prSet/>
      <dgm:spPr/>
      <dgm:t>
        <a:bodyPr/>
        <a:lstStyle/>
        <a:p>
          <a:endParaRPr lang="en-US"/>
        </a:p>
      </dgm:t>
    </dgm:pt>
    <dgm:pt modelId="{D865EC11-2456-48EB-801E-9805B9ABAD11}" type="sibTrans" cxnId="{504FA33E-5B40-4708-A74A-373621B3F504}">
      <dgm:prSet/>
      <dgm:spPr/>
      <dgm:t>
        <a:bodyPr/>
        <a:lstStyle/>
        <a:p>
          <a:endParaRPr lang="en-US"/>
        </a:p>
      </dgm:t>
    </dgm:pt>
    <dgm:pt modelId="{C74AEAA8-95AA-4DD2-B5BF-AF2613DDA678}" type="pres">
      <dgm:prSet presAssocID="{A8972B69-4B4F-436A-B547-1FADC4FB29B4}" presName="linear" presStyleCnt="0">
        <dgm:presLayoutVars>
          <dgm:animLvl val="lvl"/>
          <dgm:resizeHandles val="exact"/>
        </dgm:presLayoutVars>
      </dgm:prSet>
      <dgm:spPr/>
    </dgm:pt>
    <dgm:pt modelId="{C717DEE2-2529-4048-A027-0347422F7B4B}" type="pres">
      <dgm:prSet presAssocID="{A75A4D4B-BFE9-4B6F-9A81-9F9C96F5DA38}" presName="parentText" presStyleLbl="node1" presStyleIdx="0" presStyleCnt="6">
        <dgm:presLayoutVars>
          <dgm:chMax val="0"/>
          <dgm:bulletEnabled val="1"/>
        </dgm:presLayoutVars>
      </dgm:prSet>
      <dgm:spPr/>
    </dgm:pt>
    <dgm:pt modelId="{4287A08D-B1A3-4BC4-BB02-712CE914270A}" type="pres">
      <dgm:prSet presAssocID="{7E1354BB-EC61-4A45-99C9-75C6202CC56A}" presName="spacer" presStyleCnt="0"/>
      <dgm:spPr/>
    </dgm:pt>
    <dgm:pt modelId="{2C419AF9-F2B2-44A2-8F81-7400D924D17A}" type="pres">
      <dgm:prSet presAssocID="{E4C84139-94E1-4D3B-ADED-948F30ABDAA1}" presName="parentText" presStyleLbl="node1" presStyleIdx="1" presStyleCnt="6">
        <dgm:presLayoutVars>
          <dgm:chMax val="0"/>
          <dgm:bulletEnabled val="1"/>
        </dgm:presLayoutVars>
      </dgm:prSet>
      <dgm:spPr/>
    </dgm:pt>
    <dgm:pt modelId="{8B8D3E54-47F5-4B48-95DA-D063AB0F3ABA}" type="pres">
      <dgm:prSet presAssocID="{AECB7320-F870-4447-BAC8-41BA477CBB56}" presName="spacer" presStyleCnt="0"/>
      <dgm:spPr/>
    </dgm:pt>
    <dgm:pt modelId="{F1B9EE5C-A398-4A7D-9554-34DD81FF8EE4}" type="pres">
      <dgm:prSet presAssocID="{F5D896FA-002D-4842-99A1-3D821BB5A974}" presName="parentText" presStyleLbl="node1" presStyleIdx="2" presStyleCnt="6">
        <dgm:presLayoutVars>
          <dgm:chMax val="0"/>
          <dgm:bulletEnabled val="1"/>
        </dgm:presLayoutVars>
      </dgm:prSet>
      <dgm:spPr/>
    </dgm:pt>
    <dgm:pt modelId="{40A432EB-D6F0-4B56-952F-D3670F9BC0F8}" type="pres">
      <dgm:prSet presAssocID="{10D53C26-D797-4358-8B7F-C2C0983A4BE8}" presName="spacer" presStyleCnt="0"/>
      <dgm:spPr/>
    </dgm:pt>
    <dgm:pt modelId="{81768C6E-9F9E-472A-AB44-78DD5DCAC86D}" type="pres">
      <dgm:prSet presAssocID="{3333116B-1BB1-4CD0-8274-E51E7064B1C7}" presName="parentText" presStyleLbl="node1" presStyleIdx="3" presStyleCnt="6">
        <dgm:presLayoutVars>
          <dgm:chMax val="0"/>
          <dgm:bulletEnabled val="1"/>
        </dgm:presLayoutVars>
      </dgm:prSet>
      <dgm:spPr/>
    </dgm:pt>
    <dgm:pt modelId="{78C3D0DF-7A4E-4AF9-AEBE-19BE29425E6F}" type="pres">
      <dgm:prSet presAssocID="{B03AA410-B013-4763-8356-EC2259C59FE4}" presName="spacer" presStyleCnt="0"/>
      <dgm:spPr/>
    </dgm:pt>
    <dgm:pt modelId="{8904362E-9AB5-41BB-A8EC-7F5FB7A61130}" type="pres">
      <dgm:prSet presAssocID="{C2473523-6EBD-4BE2-9EBF-B9D9548E7D18}" presName="parentText" presStyleLbl="node1" presStyleIdx="4" presStyleCnt="6">
        <dgm:presLayoutVars>
          <dgm:chMax val="0"/>
          <dgm:bulletEnabled val="1"/>
        </dgm:presLayoutVars>
      </dgm:prSet>
      <dgm:spPr/>
    </dgm:pt>
    <dgm:pt modelId="{820082B3-9F69-4F4E-A5E1-25EAE0F5EC40}" type="pres">
      <dgm:prSet presAssocID="{3449EFD7-2404-4A04-870A-60327D36E95E}" presName="spacer" presStyleCnt="0"/>
      <dgm:spPr/>
    </dgm:pt>
    <dgm:pt modelId="{C96474A5-7A73-4603-972F-E3B694BB408E}" type="pres">
      <dgm:prSet presAssocID="{0298A754-9A66-453A-953E-396084B8FA4B}" presName="parentText" presStyleLbl="node1" presStyleIdx="5" presStyleCnt="6">
        <dgm:presLayoutVars>
          <dgm:chMax val="0"/>
          <dgm:bulletEnabled val="1"/>
        </dgm:presLayoutVars>
      </dgm:prSet>
      <dgm:spPr/>
    </dgm:pt>
  </dgm:ptLst>
  <dgm:cxnLst>
    <dgm:cxn modelId="{7A629503-B0C9-4EAC-8371-6B993A83890B}" type="presOf" srcId="{0298A754-9A66-453A-953E-396084B8FA4B}" destId="{C96474A5-7A73-4603-972F-E3B694BB408E}" srcOrd="0" destOrd="0" presId="urn:microsoft.com/office/officeart/2005/8/layout/vList2"/>
    <dgm:cxn modelId="{8563AF03-6C2D-4134-81E0-8830ACC06A8E}" srcId="{A8972B69-4B4F-436A-B547-1FADC4FB29B4}" destId="{3333116B-1BB1-4CD0-8274-E51E7064B1C7}" srcOrd="3" destOrd="0" parTransId="{85AC693B-9A5D-4E3B-A10A-89E9EFF081A4}" sibTransId="{B03AA410-B013-4763-8356-EC2259C59FE4}"/>
    <dgm:cxn modelId="{504FA33E-5B40-4708-A74A-373621B3F504}" srcId="{A8972B69-4B4F-436A-B547-1FADC4FB29B4}" destId="{0298A754-9A66-453A-953E-396084B8FA4B}" srcOrd="5" destOrd="0" parTransId="{0F92AB4B-2A39-41E2-B04B-8A819E0430DB}" sibTransId="{D865EC11-2456-48EB-801E-9805B9ABAD11}"/>
    <dgm:cxn modelId="{3CC18B46-7C2F-43F9-9361-9226366E4AC6}" srcId="{A8972B69-4B4F-436A-B547-1FADC4FB29B4}" destId="{C2473523-6EBD-4BE2-9EBF-B9D9548E7D18}" srcOrd="4" destOrd="0" parTransId="{AEB1BB62-F560-4A2D-BBF7-B1570AF7A20E}" sibTransId="{3449EFD7-2404-4A04-870A-60327D36E95E}"/>
    <dgm:cxn modelId="{9642725A-4EB1-4656-973E-0EC71061DEE8}" type="presOf" srcId="{3333116B-1BB1-4CD0-8274-E51E7064B1C7}" destId="{81768C6E-9F9E-472A-AB44-78DD5DCAC86D}" srcOrd="0" destOrd="0" presId="urn:microsoft.com/office/officeart/2005/8/layout/vList2"/>
    <dgm:cxn modelId="{7F9DA8A4-8191-4121-8DA1-F0552EB3E440}" srcId="{A8972B69-4B4F-436A-B547-1FADC4FB29B4}" destId="{A75A4D4B-BFE9-4B6F-9A81-9F9C96F5DA38}" srcOrd="0" destOrd="0" parTransId="{4FAABBF4-AB55-44FE-B6F0-B4BF829D004F}" sibTransId="{7E1354BB-EC61-4A45-99C9-75C6202CC56A}"/>
    <dgm:cxn modelId="{F3DDD4B0-98F6-48B6-ACA5-ADB06939BE37}" type="presOf" srcId="{A8972B69-4B4F-436A-B547-1FADC4FB29B4}" destId="{C74AEAA8-95AA-4DD2-B5BF-AF2613DDA678}" srcOrd="0" destOrd="0" presId="urn:microsoft.com/office/officeart/2005/8/layout/vList2"/>
    <dgm:cxn modelId="{4AF63EB4-1D75-4179-BD66-134535D1CD96}" type="presOf" srcId="{F5D896FA-002D-4842-99A1-3D821BB5A974}" destId="{F1B9EE5C-A398-4A7D-9554-34DD81FF8EE4}" srcOrd="0" destOrd="0" presId="urn:microsoft.com/office/officeart/2005/8/layout/vList2"/>
    <dgm:cxn modelId="{E4FB20C2-878F-4BF8-B0C0-5C525076D940}" srcId="{A8972B69-4B4F-436A-B547-1FADC4FB29B4}" destId="{F5D896FA-002D-4842-99A1-3D821BB5A974}" srcOrd="2" destOrd="0" parTransId="{3BA9DACE-AA2E-4E93-87F3-5628C9130A4A}" sibTransId="{10D53C26-D797-4358-8B7F-C2C0983A4BE8}"/>
    <dgm:cxn modelId="{91CC82C4-925E-41CD-911F-B8DDDA7C6430}" srcId="{A8972B69-4B4F-436A-B547-1FADC4FB29B4}" destId="{E4C84139-94E1-4D3B-ADED-948F30ABDAA1}" srcOrd="1" destOrd="0" parTransId="{53690045-8A0C-4534-A608-F239BDB7E20C}" sibTransId="{AECB7320-F870-4447-BAC8-41BA477CBB56}"/>
    <dgm:cxn modelId="{414326CC-859F-45A0-BFF5-899BC45891B2}" type="presOf" srcId="{A75A4D4B-BFE9-4B6F-9A81-9F9C96F5DA38}" destId="{C717DEE2-2529-4048-A027-0347422F7B4B}" srcOrd="0" destOrd="0" presId="urn:microsoft.com/office/officeart/2005/8/layout/vList2"/>
    <dgm:cxn modelId="{944CFBF4-B833-42C6-A4B7-35A49C74BF91}" type="presOf" srcId="{C2473523-6EBD-4BE2-9EBF-B9D9548E7D18}" destId="{8904362E-9AB5-41BB-A8EC-7F5FB7A61130}" srcOrd="0" destOrd="0" presId="urn:microsoft.com/office/officeart/2005/8/layout/vList2"/>
    <dgm:cxn modelId="{0AA6F8F7-2014-4989-9BFC-91981B3DBDDD}" type="presOf" srcId="{E4C84139-94E1-4D3B-ADED-948F30ABDAA1}" destId="{2C419AF9-F2B2-44A2-8F81-7400D924D17A}" srcOrd="0" destOrd="0" presId="urn:microsoft.com/office/officeart/2005/8/layout/vList2"/>
    <dgm:cxn modelId="{44C282F8-026D-4D0E-88F8-71C8338D4947}" type="presParOf" srcId="{C74AEAA8-95AA-4DD2-B5BF-AF2613DDA678}" destId="{C717DEE2-2529-4048-A027-0347422F7B4B}" srcOrd="0" destOrd="0" presId="urn:microsoft.com/office/officeart/2005/8/layout/vList2"/>
    <dgm:cxn modelId="{A2FC0041-DBBC-4347-B284-15C177BA5CBB}" type="presParOf" srcId="{C74AEAA8-95AA-4DD2-B5BF-AF2613DDA678}" destId="{4287A08D-B1A3-4BC4-BB02-712CE914270A}" srcOrd="1" destOrd="0" presId="urn:microsoft.com/office/officeart/2005/8/layout/vList2"/>
    <dgm:cxn modelId="{0913A646-4798-4734-BDE8-E2E628E1BA20}" type="presParOf" srcId="{C74AEAA8-95AA-4DD2-B5BF-AF2613DDA678}" destId="{2C419AF9-F2B2-44A2-8F81-7400D924D17A}" srcOrd="2" destOrd="0" presId="urn:microsoft.com/office/officeart/2005/8/layout/vList2"/>
    <dgm:cxn modelId="{117943CF-B874-460D-B93D-A73FB57FB10A}" type="presParOf" srcId="{C74AEAA8-95AA-4DD2-B5BF-AF2613DDA678}" destId="{8B8D3E54-47F5-4B48-95DA-D063AB0F3ABA}" srcOrd="3" destOrd="0" presId="urn:microsoft.com/office/officeart/2005/8/layout/vList2"/>
    <dgm:cxn modelId="{9D9EFD96-E8C5-4609-8F47-8B706767AD09}" type="presParOf" srcId="{C74AEAA8-95AA-4DD2-B5BF-AF2613DDA678}" destId="{F1B9EE5C-A398-4A7D-9554-34DD81FF8EE4}" srcOrd="4" destOrd="0" presId="urn:microsoft.com/office/officeart/2005/8/layout/vList2"/>
    <dgm:cxn modelId="{D0A72C19-D7EC-43D0-95D2-9313B091A091}" type="presParOf" srcId="{C74AEAA8-95AA-4DD2-B5BF-AF2613DDA678}" destId="{40A432EB-D6F0-4B56-952F-D3670F9BC0F8}" srcOrd="5" destOrd="0" presId="urn:microsoft.com/office/officeart/2005/8/layout/vList2"/>
    <dgm:cxn modelId="{F317C787-A796-44A6-8588-460D07AE57EC}" type="presParOf" srcId="{C74AEAA8-95AA-4DD2-B5BF-AF2613DDA678}" destId="{81768C6E-9F9E-472A-AB44-78DD5DCAC86D}" srcOrd="6" destOrd="0" presId="urn:microsoft.com/office/officeart/2005/8/layout/vList2"/>
    <dgm:cxn modelId="{FB48539E-C9B2-4C60-8FC8-A1C93245304E}" type="presParOf" srcId="{C74AEAA8-95AA-4DD2-B5BF-AF2613DDA678}" destId="{78C3D0DF-7A4E-4AF9-AEBE-19BE29425E6F}" srcOrd="7" destOrd="0" presId="urn:microsoft.com/office/officeart/2005/8/layout/vList2"/>
    <dgm:cxn modelId="{EFD8396A-C742-4F25-AF33-D946138D4999}" type="presParOf" srcId="{C74AEAA8-95AA-4DD2-B5BF-AF2613DDA678}" destId="{8904362E-9AB5-41BB-A8EC-7F5FB7A61130}" srcOrd="8" destOrd="0" presId="urn:microsoft.com/office/officeart/2005/8/layout/vList2"/>
    <dgm:cxn modelId="{C9A281E4-9963-4C72-AA33-E48D4968986B}" type="presParOf" srcId="{C74AEAA8-95AA-4DD2-B5BF-AF2613DDA678}" destId="{820082B3-9F69-4F4E-A5E1-25EAE0F5EC40}" srcOrd="9" destOrd="0" presId="urn:microsoft.com/office/officeart/2005/8/layout/vList2"/>
    <dgm:cxn modelId="{9FBFFDD6-3218-4602-9DE9-82FBAA0A332D}" type="presParOf" srcId="{C74AEAA8-95AA-4DD2-B5BF-AF2613DDA678}" destId="{C96474A5-7A73-4603-972F-E3B694BB408E}"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AF49D16-4357-4B98-80CC-B8CBB8C60A6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338D635-B21C-45D3-BA1C-DF8F499F3F66}">
      <dgm:prSet/>
      <dgm:spPr/>
      <dgm:t>
        <a:bodyPr/>
        <a:lstStyle/>
        <a:p>
          <a:r>
            <a:rPr lang="en-US"/>
            <a:t>If AI helped during the build, record it while the work is fresh.</a:t>
          </a:r>
        </a:p>
      </dgm:t>
    </dgm:pt>
    <dgm:pt modelId="{E82E2C62-E7E1-4963-906A-7117B98DF135}" type="parTrans" cxnId="{20A2BA4C-0B32-4C4F-B398-C71FF928B444}">
      <dgm:prSet/>
      <dgm:spPr/>
      <dgm:t>
        <a:bodyPr/>
        <a:lstStyle/>
        <a:p>
          <a:endParaRPr lang="en-US"/>
        </a:p>
      </dgm:t>
    </dgm:pt>
    <dgm:pt modelId="{E521FFC0-B865-42AC-8967-B34A7D8B3074}" type="sibTrans" cxnId="{20A2BA4C-0B32-4C4F-B398-C71FF928B444}">
      <dgm:prSet/>
      <dgm:spPr/>
      <dgm:t>
        <a:bodyPr/>
        <a:lstStyle/>
        <a:p>
          <a:endParaRPr lang="en-US"/>
        </a:p>
      </dgm:t>
    </dgm:pt>
    <dgm:pt modelId="{D11302B0-24A3-4D52-B6BB-0AB64AEA53CE}">
      <dgm:prSet/>
      <dgm:spPr/>
      <dgm:t>
        <a:bodyPr/>
        <a:lstStyle/>
        <a:p>
          <a:r>
            <a:rPr lang="en-US"/>
            <a:t>Useful notes include what AI suggested, what you accepted, what you changed, and how you verified the result.</a:t>
          </a:r>
        </a:p>
      </dgm:t>
    </dgm:pt>
    <dgm:pt modelId="{0B12BF19-4A86-4C72-8C3E-062090FA3648}" type="parTrans" cxnId="{02E9C68C-7C4B-459F-8FD8-35EFC8767CCE}">
      <dgm:prSet/>
      <dgm:spPr/>
      <dgm:t>
        <a:bodyPr/>
        <a:lstStyle/>
        <a:p>
          <a:endParaRPr lang="en-US"/>
        </a:p>
      </dgm:t>
    </dgm:pt>
    <dgm:pt modelId="{96659CB3-5D9A-405B-9D5D-4B8BFC6ED755}" type="sibTrans" cxnId="{02E9C68C-7C4B-459F-8FD8-35EFC8767CCE}">
      <dgm:prSet/>
      <dgm:spPr/>
      <dgm:t>
        <a:bodyPr/>
        <a:lstStyle/>
        <a:p>
          <a:endParaRPr lang="en-US"/>
        </a:p>
      </dgm:t>
    </dgm:pt>
    <dgm:pt modelId="{F99247D1-3AC8-4AAB-939B-3DAE9AFBA7B4}" type="pres">
      <dgm:prSet presAssocID="{9AF49D16-4357-4B98-80CC-B8CBB8C60A6D}" presName="root" presStyleCnt="0">
        <dgm:presLayoutVars>
          <dgm:dir/>
          <dgm:resizeHandles val="exact"/>
        </dgm:presLayoutVars>
      </dgm:prSet>
      <dgm:spPr/>
    </dgm:pt>
    <dgm:pt modelId="{BEC8C660-1839-40B4-9630-596F4F508EAD}" type="pres">
      <dgm:prSet presAssocID="{8338D635-B21C-45D3-BA1C-DF8F499F3F66}" presName="compNode" presStyleCnt="0"/>
      <dgm:spPr/>
    </dgm:pt>
    <dgm:pt modelId="{0070DF8F-7B8A-45A8-B74C-646393554B3B}" type="pres">
      <dgm:prSet presAssocID="{8338D635-B21C-45D3-BA1C-DF8F499F3F66}" presName="bgRect" presStyleLbl="bgShp" presStyleIdx="0" presStyleCnt="2"/>
      <dgm:spPr/>
    </dgm:pt>
    <dgm:pt modelId="{0A89C653-D8E0-44D2-9291-BDD357DD084D}" type="pres">
      <dgm:prSet presAssocID="{8338D635-B21C-45D3-BA1C-DF8F499F3F66}"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obot"/>
        </a:ext>
      </dgm:extLst>
    </dgm:pt>
    <dgm:pt modelId="{E69F32EF-B991-4FFC-A9AF-CFE86CCA694B}" type="pres">
      <dgm:prSet presAssocID="{8338D635-B21C-45D3-BA1C-DF8F499F3F66}" presName="spaceRect" presStyleCnt="0"/>
      <dgm:spPr/>
    </dgm:pt>
    <dgm:pt modelId="{AEB2690A-29DB-4672-9070-320CF6527724}" type="pres">
      <dgm:prSet presAssocID="{8338D635-B21C-45D3-BA1C-DF8F499F3F66}" presName="parTx" presStyleLbl="revTx" presStyleIdx="0" presStyleCnt="2">
        <dgm:presLayoutVars>
          <dgm:chMax val="0"/>
          <dgm:chPref val="0"/>
        </dgm:presLayoutVars>
      </dgm:prSet>
      <dgm:spPr/>
    </dgm:pt>
    <dgm:pt modelId="{10B5FF06-EF20-4148-A6AD-AB13521D6C8A}" type="pres">
      <dgm:prSet presAssocID="{E521FFC0-B865-42AC-8967-B34A7D8B3074}" presName="sibTrans" presStyleCnt="0"/>
      <dgm:spPr/>
    </dgm:pt>
    <dgm:pt modelId="{46B9646B-BE76-4B30-A17A-912FAD177F22}" type="pres">
      <dgm:prSet presAssocID="{D11302B0-24A3-4D52-B6BB-0AB64AEA53CE}" presName="compNode" presStyleCnt="0"/>
      <dgm:spPr/>
    </dgm:pt>
    <dgm:pt modelId="{E1E5DCC7-617E-4AF6-9C41-EA0CE8F1C57E}" type="pres">
      <dgm:prSet presAssocID="{D11302B0-24A3-4D52-B6BB-0AB64AEA53CE}" presName="bgRect" presStyleLbl="bgShp" presStyleIdx="1" presStyleCnt="2"/>
      <dgm:spPr/>
    </dgm:pt>
    <dgm:pt modelId="{5661A31B-47B9-43AA-9120-590D98037C44}" type="pres">
      <dgm:prSet presAssocID="{D11302B0-24A3-4D52-B6BB-0AB64AEA53C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Idea"/>
        </a:ext>
      </dgm:extLst>
    </dgm:pt>
    <dgm:pt modelId="{8CC7315F-9320-423E-8225-1728E67A08EA}" type="pres">
      <dgm:prSet presAssocID="{D11302B0-24A3-4D52-B6BB-0AB64AEA53CE}" presName="spaceRect" presStyleCnt="0"/>
      <dgm:spPr/>
    </dgm:pt>
    <dgm:pt modelId="{A01A9CC9-FEAC-4A5F-A9E9-7AA1C441D5AB}" type="pres">
      <dgm:prSet presAssocID="{D11302B0-24A3-4D52-B6BB-0AB64AEA53CE}" presName="parTx" presStyleLbl="revTx" presStyleIdx="1" presStyleCnt="2">
        <dgm:presLayoutVars>
          <dgm:chMax val="0"/>
          <dgm:chPref val="0"/>
        </dgm:presLayoutVars>
      </dgm:prSet>
      <dgm:spPr/>
    </dgm:pt>
  </dgm:ptLst>
  <dgm:cxnLst>
    <dgm:cxn modelId="{494C780E-A0B1-4716-8904-91BFDC58D618}" type="presOf" srcId="{8338D635-B21C-45D3-BA1C-DF8F499F3F66}" destId="{AEB2690A-29DB-4672-9070-320CF6527724}" srcOrd="0" destOrd="0" presId="urn:microsoft.com/office/officeart/2018/2/layout/IconVerticalSolidList"/>
    <dgm:cxn modelId="{F4AC0413-C8B0-4462-84CD-21E04DC6B453}" type="presOf" srcId="{9AF49D16-4357-4B98-80CC-B8CBB8C60A6D}" destId="{F99247D1-3AC8-4AAB-939B-3DAE9AFBA7B4}" srcOrd="0" destOrd="0" presId="urn:microsoft.com/office/officeart/2018/2/layout/IconVerticalSolidList"/>
    <dgm:cxn modelId="{20A2BA4C-0B32-4C4F-B398-C71FF928B444}" srcId="{9AF49D16-4357-4B98-80CC-B8CBB8C60A6D}" destId="{8338D635-B21C-45D3-BA1C-DF8F499F3F66}" srcOrd="0" destOrd="0" parTransId="{E82E2C62-E7E1-4963-906A-7117B98DF135}" sibTransId="{E521FFC0-B865-42AC-8967-B34A7D8B3074}"/>
    <dgm:cxn modelId="{02E9C68C-7C4B-459F-8FD8-35EFC8767CCE}" srcId="{9AF49D16-4357-4B98-80CC-B8CBB8C60A6D}" destId="{D11302B0-24A3-4D52-B6BB-0AB64AEA53CE}" srcOrd="1" destOrd="0" parTransId="{0B12BF19-4A86-4C72-8C3E-062090FA3648}" sibTransId="{96659CB3-5D9A-405B-9D5D-4B8BFC6ED755}"/>
    <dgm:cxn modelId="{4F42899C-8878-4E39-945C-1F1A648C0A0E}" type="presOf" srcId="{D11302B0-24A3-4D52-B6BB-0AB64AEA53CE}" destId="{A01A9CC9-FEAC-4A5F-A9E9-7AA1C441D5AB}" srcOrd="0" destOrd="0" presId="urn:microsoft.com/office/officeart/2018/2/layout/IconVerticalSolidList"/>
    <dgm:cxn modelId="{B952C3A4-F7F0-4388-B4A6-201335C98A3B}" type="presParOf" srcId="{F99247D1-3AC8-4AAB-939B-3DAE9AFBA7B4}" destId="{BEC8C660-1839-40B4-9630-596F4F508EAD}" srcOrd="0" destOrd="0" presId="urn:microsoft.com/office/officeart/2018/2/layout/IconVerticalSolidList"/>
    <dgm:cxn modelId="{25F13105-22A6-4540-BC6A-045038868F45}" type="presParOf" srcId="{BEC8C660-1839-40B4-9630-596F4F508EAD}" destId="{0070DF8F-7B8A-45A8-B74C-646393554B3B}" srcOrd="0" destOrd="0" presId="urn:microsoft.com/office/officeart/2018/2/layout/IconVerticalSolidList"/>
    <dgm:cxn modelId="{A373572A-6CA1-4A27-A7BB-3959CF6EC41B}" type="presParOf" srcId="{BEC8C660-1839-40B4-9630-596F4F508EAD}" destId="{0A89C653-D8E0-44D2-9291-BDD357DD084D}" srcOrd="1" destOrd="0" presId="urn:microsoft.com/office/officeart/2018/2/layout/IconVerticalSolidList"/>
    <dgm:cxn modelId="{B0BA0A84-45C7-40E4-BE89-EB5C9FE163D9}" type="presParOf" srcId="{BEC8C660-1839-40B4-9630-596F4F508EAD}" destId="{E69F32EF-B991-4FFC-A9AF-CFE86CCA694B}" srcOrd="2" destOrd="0" presId="urn:microsoft.com/office/officeart/2018/2/layout/IconVerticalSolidList"/>
    <dgm:cxn modelId="{17EF05E6-DAD6-435C-BB53-FAD3D30DF695}" type="presParOf" srcId="{BEC8C660-1839-40B4-9630-596F4F508EAD}" destId="{AEB2690A-29DB-4672-9070-320CF6527724}" srcOrd="3" destOrd="0" presId="urn:microsoft.com/office/officeart/2018/2/layout/IconVerticalSolidList"/>
    <dgm:cxn modelId="{5495F105-9440-40DC-8165-6A79677CBBEA}" type="presParOf" srcId="{F99247D1-3AC8-4AAB-939B-3DAE9AFBA7B4}" destId="{10B5FF06-EF20-4148-A6AD-AB13521D6C8A}" srcOrd="1" destOrd="0" presId="urn:microsoft.com/office/officeart/2018/2/layout/IconVerticalSolidList"/>
    <dgm:cxn modelId="{03EE6823-3E61-48A0-8CC1-4A2CB76C12ED}" type="presParOf" srcId="{F99247D1-3AC8-4AAB-939B-3DAE9AFBA7B4}" destId="{46B9646B-BE76-4B30-A17A-912FAD177F22}" srcOrd="2" destOrd="0" presId="urn:microsoft.com/office/officeart/2018/2/layout/IconVerticalSolidList"/>
    <dgm:cxn modelId="{C5F9ADFD-00CD-435A-BF4C-5AA36AE806A0}" type="presParOf" srcId="{46B9646B-BE76-4B30-A17A-912FAD177F22}" destId="{E1E5DCC7-617E-4AF6-9C41-EA0CE8F1C57E}" srcOrd="0" destOrd="0" presId="urn:microsoft.com/office/officeart/2018/2/layout/IconVerticalSolidList"/>
    <dgm:cxn modelId="{C36A1767-981D-4140-BF66-1DC492167E62}" type="presParOf" srcId="{46B9646B-BE76-4B30-A17A-912FAD177F22}" destId="{5661A31B-47B9-43AA-9120-590D98037C44}" srcOrd="1" destOrd="0" presId="urn:microsoft.com/office/officeart/2018/2/layout/IconVerticalSolidList"/>
    <dgm:cxn modelId="{5F3B862A-400A-4038-9348-2AB5A2B3F466}" type="presParOf" srcId="{46B9646B-BE76-4B30-A17A-912FAD177F22}" destId="{8CC7315F-9320-423E-8225-1728E67A08EA}" srcOrd="2" destOrd="0" presId="urn:microsoft.com/office/officeart/2018/2/layout/IconVerticalSolidList"/>
    <dgm:cxn modelId="{26080FFB-BD7A-4268-B75E-60F14593F8CA}" type="presParOf" srcId="{46B9646B-BE76-4B30-A17A-912FAD177F22}" destId="{A01A9CC9-FEAC-4A5F-A9E9-7AA1C441D5A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2C74F4-4114-4BAB-BDFE-251A0A49105E}"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BBD6FCED-EED1-451A-BFF3-46444EF8EDE0}">
      <dgm:prSet/>
      <dgm:spPr/>
      <dgm:t>
        <a:bodyPr/>
        <a:lstStyle/>
        <a:p>
          <a:r>
            <a:rPr lang="en-US"/>
            <a:t>Before class ends, try to have:</a:t>
          </a:r>
        </a:p>
      </dgm:t>
    </dgm:pt>
    <dgm:pt modelId="{D1FA05C7-E838-45E5-A606-4155F6E482A7}" type="parTrans" cxnId="{6E85A6AA-80F5-4700-A7D4-6A3F18979E05}">
      <dgm:prSet/>
      <dgm:spPr/>
      <dgm:t>
        <a:bodyPr/>
        <a:lstStyle/>
        <a:p>
          <a:endParaRPr lang="en-US"/>
        </a:p>
      </dgm:t>
    </dgm:pt>
    <dgm:pt modelId="{ED761418-56B0-481A-9336-606513219FAD}" type="sibTrans" cxnId="{6E85A6AA-80F5-4700-A7D4-6A3F18979E05}">
      <dgm:prSet/>
      <dgm:spPr/>
      <dgm:t>
        <a:bodyPr/>
        <a:lstStyle/>
        <a:p>
          <a:endParaRPr lang="en-US"/>
        </a:p>
      </dgm:t>
    </dgm:pt>
    <dgm:pt modelId="{5A9F1580-F57D-4C36-B774-DEA958E3C874}">
      <dgm:prSet/>
      <dgm:spPr/>
      <dgm:t>
        <a:bodyPr/>
        <a:lstStyle/>
        <a:p>
          <a:r>
            <a:rPr lang="en-US" dirty="0"/>
            <a:t>-&gt; One important behavior working or clearly attempted</a:t>
          </a:r>
        </a:p>
      </dgm:t>
    </dgm:pt>
    <dgm:pt modelId="{F8586F5A-AC91-44EE-A4B5-DF7D1D10E0B7}" type="parTrans" cxnId="{290B63B3-64BB-4009-A92F-EE1A1731DBC8}">
      <dgm:prSet/>
      <dgm:spPr/>
      <dgm:t>
        <a:bodyPr/>
        <a:lstStyle/>
        <a:p>
          <a:endParaRPr lang="en-US"/>
        </a:p>
      </dgm:t>
    </dgm:pt>
    <dgm:pt modelId="{55170295-8A5E-4850-BA21-70AF5E667A00}" type="sibTrans" cxnId="{290B63B3-64BB-4009-A92F-EE1A1731DBC8}">
      <dgm:prSet/>
      <dgm:spPr/>
      <dgm:t>
        <a:bodyPr/>
        <a:lstStyle/>
        <a:p>
          <a:endParaRPr lang="en-US"/>
        </a:p>
      </dgm:t>
    </dgm:pt>
    <dgm:pt modelId="{A68A4E40-C608-45DB-BE4F-3E78E6FACDE5}">
      <dgm:prSet/>
      <dgm:spPr/>
      <dgm:t>
        <a:bodyPr/>
        <a:lstStyle/>
        <a:p>
          <a:r>
            <a:rPr lang="en-US" dirty="0"/>
            <a:t>-&gt; One validation note started</a:t>
          </a:r>
        </a:p>
      </dgm:t>
    </dgm:pt>
    <dgm:pt modelId="{2AD67DAE-04E3-4F5F-9D39-928B72D5CED4}" type="parTrans" cxnId="{AAD96350-3341-4533-8977-819C94334437}">
      <dgm:prSet/>
      <dgm:spPr/>
      <dgm:t>
        <a:bodyPr/>
        <a:lstStyle/>
        <a:p>
          <a:endParaRPr lang="en-US"/>
        </a:p>
      </dgm:t>
    </dgm:pt>
    <dgm:pt modelId="{7C0939A9-C31F-45D9-873E-323C23C6FE50}" type="sibTrans" cxnId="{AAD96350-3341-4533-8977-819C94334437}">
      <dgm:prSet/>
      <dgm:spPr/>
      <dgm:t>
        <a:bodyPr/>
        <a:lstStyle/>
        <a:p>
          <a:endParaRPr lang="en-US"/>
        </a:p>
      </dgm:t>
    </dgm:pt>
    <dgm:pt modelId="{F99E6592-C7BC-45A2-8B65-AA77A9835E0B}">
      <dgm:prSet/>
      <dgm:spPr/>
      <dgm:t>
        <a:bodyPr/>
        <a:lstStyle/>
        <a:p>
          <a:r>
            <a:rPr lang="en-US" dirty="0"/>
            <a:t>-&gt; README/run instructions started</a:t>
          </a:r>
        </a:p>
      </dgm:t>
    </dgm:pt>
    <dgm:pt modelId="{E57D2548-973E-45F0-BFF9-9F7A6D9CB54A}" type="parTrans" cxnId="{F249684C-1E5F-48E1-A1CF-85283D51843B}">
      <dgm:prSet/>
      <dgm:spPr/>
      <dgm:t>
        <a:bodyPr/>
        <a:lstStyle/>
        <a:p>
          <a:endParaRPr lang="en-US"/>
        </a:p>
      </dgm:t>
    </dgm:pt>
    <dgm:pt modelId="{6208F87D-6D65-4A07-9BDC-08BABF748367}" type="sibTrans" cxnId="{F249684C-1E5F-48E1-A1CF-85283D51843B}">
      <dgm:prSet/>
      <dgm:spPr/>
      <dgm:t>
        <a:bodyPr/>
        <a:lstStyle/>
        <a:p>
          <a:endParaRPr lang="en-US"/>
        </a:p>
      </dgm:t>
    </dgm:pt>
    <dgm:pt modelId="{A04169C5-20E4-4E2A-B99A-F4D94279C75A}">
      <dgm:prSet/>
      <dgm:spPr/>
      <dgm:t>
        <a:bodyPr/>
        <a:lstStyle/>
        <a:p>
          <a:r>
            <a:rPr lang="en-US" dirty="0"/>
            <a:t>-&gt; One next-step decision identified</a:t>
          </a:r>
        </a:p>
      </dgm:t>
    </dgm:pt>
    <dgm:pt modelId="{0AADFB73-D88A-4E75-8E11-353DE6DB566A}" type="parTrans" cxnId="{E36347F4-09B1-4F7B-863A-4F2BCC231EC1}">
      <dgm:prSet/>
      <dgm:spPr/>
      <dgm:t>
        <a:bodyPr/>
        <a:lstStyle/>
        <a:p>
          <a:endParaRPr lang="en-US"/>
        </a:p>
      </dgm:t>
    </dgm:pt>
    <dgm:pt modelId="{859FF256-FC09-494C-BF05-2884406EB5D2}" type="sibTrans" cxnId="{E36347F4-09B1-4F7B-863A-4F2BCC231EC1}">
      <dgm:prSet/>
      <dgm:spPr/>
      <dgm:t>
        <a:bodyPr/>
        <a:lstStyle/>
        <a:p>
          <a:endParaRPr lang="en-US"/>
        </a:p>
      </dgm:t>
    </dgm:pt>
    <dgm:pt modelId="{50BEF9AA-C043-46D6-8D15-657C4130D63E}" type="pres">
      <dgm:prSet presAssocID="{9B2C74F4-4114-4BAB-BDFE-251A0A49105E}" presName="outerComposite" presStyleCnt="0">
        <dgm:presLayoutVars>
          <dgm:chMax val="5"/>
          <dgm:dir/>
          <dgm:resizeHandles val="exact"/>
        </dgm:presLayoutVars>
      </dgm:prSet>
      <dgm:spPr/>
    </dgm:pt>
    <dgm:pt modelId="{5108F021-1310-411B-BB72-686F2DC96C34}" type="pres">
      <dgm:prSet presAssocID="{9B2C74F4-4114-4BAB-BDFE-251A0A49105E}" presName="dummyMaxCanvas" presStyleCnt="0">
        <dgm:presLayoutVars/>
      </dgm:prSet>
      <dgm:spPr/>
    </dgm:pt>
    <dgm:pt modelId="{ACBB42F3-C8B2-45AE-94A1-A085AB0CE3BB}" type="pres">
      <dgm:prSet presAssocID="{9B2C74F4-4114-4BAB-BDFE-251A0A49105E}" presName="FiveNodes_1" presStyleLbl="node1" presStyleIdx="0" presStyleCnt="5">
        <dgm:presLayoutVars>
          <dgm:bulletEnabled val="1"/>
        </dgm:presLayoutVars>
      </dgm:prSet>
      <dgm:spPr/>
    </dgm:pt>
    <dgm:pt modelId="{0A8EEA23-0439-4E07-9905-A45770BA8C4E}" type="pres">
      <dgm:prSet presAssocID="{9B2C74F4-4114-4BAB-BDFE-251A0A49105E}" presName="FiveNodes_2" presStyleLbl="node1" presStyleIdx="1" presStyleCnt="5">
        <dgm:presLayoutVars>
          <dgm:bulletEnabled val="1"/>
        </dgm:presLayoutVars>
      </dgm:prSet>
      <dgm:spPr/>
    </dgm:pt>
    <dgm:pt modelId="{78D53C4D-D09E-4CF1-BF94-F004BC1F331B}" type="pres">
      <dgm:prSet presAssocID="{9B2C74F4-4114-4BAB-BDFE-251A0A49105E}" presName="FiveNodes_3" presStyleLbl="node1" presStyleIdx="2" presStyleCnt="5">
        <dgm:presLayoutVars>
          <dgm:bulletEnabled val="1"/>
        </dgm:presLayoutVars>
      </dgm:prSet>
      <dgm:spPr/>
    </dgm:pt>
    <dgm:pt modelId="{79DC4C25-86BF-4617-93E7-FECFD53CE952}" type="pres">
      <dgm:prSet presAssocID="{9B2C74F4-4114-4BAB-BDFE-251A0A49105E}" presName="FiveNodes_4" presStyleLbl="node1" presStyleIdx="3" presStyleCnt="5">
        <dgm:presLayoutVars>
          <dgm:bulletEnabled val="1"/>
        </dgm:presLayoutVars>
      </dgm:prSet>
      <dgm:spPr/>
    </dgm:pt>
    <dgm:pt modelId="{A64457D8-F717-4894-A24E-768094C9C338}" type="pres">
      <dgm:prSet presAssocID="{9B2C74F4-4114-4BAB-BDFE-251A0A49105E}" presName="FiveNodes_5" presStyleLbl="node1" presStyleIdx="4" presStyleCnt="5">
        <dgm:presLayoutVars>
          <dgm:bulletEnabled val="1"/>
        </dgm:presLayoutVars>
      </dgm:prSet>
      <dgm:spPr/>
    </dgm:pt>
    <dgm:pt modelId="{02201ADC-F554-4366-8936-6AEBAD116094}" type="pres">
      <dgm:prSet presAssocID="{9B2C74F4-4114-4BAB-BDFE-251A0A49105E}" presName="FiveConn_1-2" presStyleLbl="fgAccFollowNode1" presStyleIdx="0" presStyleCnt="4">
        <dgm:presLayoutVars>
          <dgm:bulletEnabled val="1"/>
        </dgm:presLayoutVars>
      </dgm:prSet>
      <dgm:spPr/>
    </dgm:pt>
    <dgm:pt modelId="{EF03FFBB-2116-4F7A-BBD1-DD55D9E39FB5}" type="pres">
      <dgm:prSet presAssocID="{9B2C74F4-4114-4BAB-BDFE-251A0A49105E}" presName="FiveConn_2-3" presStyleLbl="fgAccFollowNode1" presStyleIdx="1" presStyleCnt="4">
        <dgm:presLayoutVars>
          <dgm:bulletEnabled val="1"/>
        </dgm:presLayoutVars>
      </dgm:prSet>
      <dgm:spPr/>
    </dgm:pt>
    <dgm:pt modelId="{5B52E18E-BBE2-4289-8208-6302067DB8EC}" type="pres">
      <dgm:prSet presAssocID="{9B2C74F4-4114-4BAB-BDFE-251A0A49105E}" presName="FiveConn_3-4" presStyleLbl="fgAccFollowNode1" presStyleIdx="2" presStyleCnt="4">
        <dgm:presLayoutVars>
          <dgm:bulletEnabled val="1"/>
        </dgm:presLayoutVars>
      </dgm:prSet>
      <dgm:spPr/>
    </dgm:pt>
    <dgm:pt modelId="{6F83896D-6B34-4361-846D-90605F322BE7}" type="pres">
      <dgm:prSet presAssocID="{9B2C74F4-4114-4BAB-BDFE-251A0A49105E}" presName="FiveConn_4-5" presStyleLbl="fgAccFollowNode1" presStyleIdx="3" presStyleCnt="4">
        <dgm:presLayoutVars>
          <dgm:bulletEnabled val="1"/>
        </dgm:presLayoutVars>
      </dgm:prSet>
      <dgm:spPr/>
    </dgm:pt>
    <dgm:pt modelId="{C60E3AD9-2D78-4B4D-AFCA-6E0369E60A5F}" type="pres">
      <dgm:prSet presAssocID="{9B2C74F4-4114-4BAB-BDFE-251A0A49105E}" presName="FiveNodes_1_text" presStyleLbl="node1" presStyleIdx="4" presStyleCnt="5">
        <dgm:presLayoutVars>
          <dgm:bulletEnabled val="1"/>
        </dgm:presLayoutVars>
      </dgm:prSet>
      <dgm:spPr/>
    </dgm:pt>
    <dgm:pt modelId="{39360CCF-A872-4F5E-BD92-84F2A9CB33DF}" type="pres">
      <dgm:prSet presAssocID="{9B2C74F4-4114-4BAB-BDFE-251A0A49105E}" presName="FiveNodes_2_text" presStyleLbl="node1" presStyleIdx="4" presStyleCnt="5">
        <dgm:presLayoutVars>
          <dgm:bulletEnabled val="1"/>
        </dgm:presLayoutVars>
      </dgm:prSet>
      <dgm:spPr/>
    </dgm:pt>
    <dgm:pt modelId="{063AD370-391C-44C9-B6EE-D253864FA237}" type="pres">
      <dgm:prSet presAssocID="{9B2C74F4-4114-4BAB-BDFE-251A0A49105E}" presName="FiveNodes_3_text" presStyleLbl="node1" presStyleIdx="4" presStyleCnt="5">
        <dgm:presLayoutVars>
          <dgm:bulletEnabled val="1"/>
        </dgm:presLayoutVars>
      </dgm:prSet>
      <dgm:spPr/>
    </dgm:pt>
    <dgm:pt modelId="{11833946-CA11-4D1A-A516-D8D90D811F8B}" type="pres">
      <dgm:prSet presAssocID="{9B2C74F4-4114-4BAB-BDFE-251A0A49105E}" presName="FiveNodes_4_text" presStyleLbl="node1" presStyleIdx="4" presStyleCnt="5">
        <dgm:presLayoutVars>
          <dgm:bulletEnabled val="1"/>
        </dgm:presLayoutVars>
      </dgm:prSet>
      <dgm:spPr/>
    </dgm:pt>
    <dgm:pt modelId="{E2EFF2FE-F229-43AD-AF2E-5816B374CB88}" type="pres">
      <dgm:prSet presAssocID="{9B2C74F4-4114-4BAB-BDFE-251A0A49105E}" presName="FiveNodes_5_text" presStyleLbl="node1" presStyleIdx="4" presStyleCnt="5">
        <dgm:presLayoutVars>
          <dgm:bulletEnabled val="1"/>
        </dgm:presLayoutVars>
      </dgm:prSet>
      <dgm:spPr/>
    </dgm:pt>
  </dgm:ptLst>
  <dgm:cxnLst>
    <dgm:cxn modelId="{5BA7D303-A315-45AB-8D48-B96ABC750311}" type="presOf" srcId="{A04169C5-20E4-4E2A-B99A-F4D94279C75A}" destId="{A64457D8-F717-4894-A24E-768094C9C338}" srcOrd="0" destOrd="0" presId="urn:microsoft.com/office/officeart/2005/8/layout/vProcess5"/>
    <dgm:cxn modelId="{D6B7AF1E-DFD0-4A67-A548-A71A7684E4B3}" type="presOf" srcId="{A04169C5-20E4-4E2A-B99A-F4D94279C75A}" destId="{E2EFF2FE-F229-43AD-AF2E-5816B374CB88}" srcOrd="1" destOrd="0" presId="urn:microsoft.com/office/officeart/2005/8/layout/vProcess5"/>
    <dgm:cxn modelId="{716BDB23-32C5-4126-920A-304C49EC5DB5}" type="presOf" srcId="{A68A4E40-C608-45DB-BE4F-3E78E6FACDE5}" destId="{063AD370-391C-44C9-B6EE-D253864FA237}" srcOrd="1" destOrd="0" presId="urn:microsoft.com/office/officeart/2005/8/layout/vProcess5"/>
    <dgm:cxn modelId="{020FE02A-817C-4FC8-B623-A467E75BF139}" type="presOf" srcId="{F99E6592-C7BC-45A2-8B65-AA77A9835E0B}" destId="{11833946-CA11-4D1A-A516-D8D90D811F8B}" srcOrd="1" destOrd="0" presId="urn:microsoft.com/office/officeart/2005/8/layout/vProcess5"/>
    <dgm:cxn modelId="{09A90A6A-FAD8-4189-89DA-97AC89149753}" type="presOf" srcId="{5A9F1580-F57D-4C36-B774-DEA958E3C874}" destId="{0A8EEA23-0439-4E07-9905-A45770BA8C4E}" srcOrd="0" destOrd="0" presId="urn:microsoft.com/office/officeart/2005/8/layout/vProcess5"/>
    <dgm:cxn modelId="{F249684C-1E5F-48E1-A1CF-85283D51843B}" srcId="{9B2C74F4-4114-4BAB-BDFE-251A0A49105E}" destId="{F99E6592-C7BC-45A2-8B65-AA77A9835E0B}" srcOrd="3" destOrd="0" parTransId="{E57D2548-973E-45F0-BFF9-9F7A6D9CB54A}" sibTransId="{6208F87D-6D65-4A07-9BDC-08BABF748367}"/>
    <dgm:cxn modelId="{6ACB8E4D-FB7D-484C-8A2E-710872CFCF5A}" type="presOf" srcId="{5A9F1580-F57D-4C36-B774-DEA958E3C874}" destId="{39360CCF-A872-4F5E-BD92-84F2A9CB33DF}" srcOrd="1" destOrd="0" presId="urn:microsoft.com/office/officeart/2005/8/layout/vProcess5"/>
    <dgm:cxn modelId="{AAD96350-3341-4533-8977-819C94334437}" srcId="{9B2C74F4-4114-4BAB-BDFE-251A0A49105E}" destId="{A68A4E40-C608-45DB-BE4F-3E78E6FACDE5}" srcOrd="2" destOrd="0" parTransId="{2AD67DAE-04E3-4F5F-9D39-928B72D5CED4}" sibTransId="{7C0939A9-C31F-45D9-873E-323C23C6FE50}"/>
    <dgm:cxn modelId="{5F720975-B963-4E63-8F67-3BF19DDDA8C6}" type="presOf" srcId="{BBD6FCED-EED1-451A-BFF3-46444EF8EDE0}" destId="{ACBB42F3-C8B2-45AE-94A1-A085AB0CE3BB}" srcOrd="0" destOrd="0" presId="urn:microsoft.com/office/officeart/2005/8/layout/vProcess5"/>
    <dgm:cxn modelId="{29BCE575-2DA4-4769-88D5-D074AF682A42}" type="presOf" srcId="{6208F87D-6D65-4A07-9BDC-08BABF748367}" destId="{6F83896D-6B34-4361-846D-90605F322BE7}" srcOrd="0" destOrd="0" presId="urn:microsoft.com/office/officeart/2005/8/layout/vProcess5"/>
    <dgm:cxn modelId="{116CA17C-1F34-4B48-9870-8A5D409FA406}" type="presOf" srcId="{9B2C74F4-4114-4BAB-BDFE-251A0A49105E}" destId="{50BEF9AA-C043-46D6-8D15-657C4130D63E}" srcOrd="0" destOrd="0" presId="urn:microsoft.com/office/officeart/2005/8/layout/vProcess5"/>
    <dgm:cxn modelId="{C57E8A88-24E8-4C89-9BF0-2FA6D5319A29}" type="presOf" srcId="{F99E6592-C7BC-45A2-8B65-AA77A9835E0B}" destId="{79DC4C25-86BF-4617-93E7-FECFD53CE952}" srcOrd="0" destOrd="0" presId="urn:microsoft.com/office/officeart/2005/8/layout/vProcess5"/>
    <dgm:cxn modelId="{313BA69E-FB23-45CE-AA27-85AAFCBFB8D7}" type="presOf" srcId="{BBD6FCED-EED1-451A-BFF3-46444EF8EDE0}" destId="{C60E3AD9-2D78-4B4D-AFCA-6E0369E60A5F}" srcOrd="1" destOrd="0" presId="urn:microsoft.com/office/officeart/2005/8/layout/vProcess5"/>
    <dgm:cxn modelId="{6E85A6AA-80F5-4700-A7D4-6A3F18979E05}" srcId="{9B2C74F4-4114-4BAB-BDFE-251A0A49105E}" destId="{BBD6FCED-EED1-451A-BFF3-46444EF8EDE0}" srcOrd="0" destOrd="0" parTransId="{D1FA05C7-E838-45E5-A606-4155F6E482A7}" sibTransId="{ED761418-56B0-481A-9336-606513219FAD}"/>
    <dgm:cxn modelId="{290B63B3-64BB-4009-A92F-EE1A1731DBC8}" srcId="{9B2C74F4-4114-4BAB-BDFE-251A0A49105E}" destId="{5A9F1580-F57D-4C36-B774-DEA958E3C874}" srcOrd="1" destOrd="0" parTransId="{F8586F5A-AC91-44EE-A4B5-DF7D1D10E0B7}" sibTransId="{55170295-8A5E-4850-BA21-70AF5E667A00}"/>
    <dgm:cxn modelId="{0343CFB8-3132-4116-89E2-7BB71A3F67B0}" type="presOf" srcId="{55170295-8A5E-4850-BA21-70AF5E667A00}" destId="{EF03FFBB-2116-4F7A-BBD1-DD55D9E39FB5}" srcOrd="0" destOrd="0" presId="urn:microsoft.com/office/officeart/2005/8/layout/vProcess5"/>
    <dgm:cxn modelId="{D05613CD-69F7-406F-84B0-B4349732C44B}" type="presOf" srcId="{A68A4E40-C608-45DB-BE4F-3E78E6FACDE5}" destId="{78D53C4D-D09E-4CF1-BF94-F004BC1F331B}" srcOrd="0" destOrd="0" presId="urn:microsoft.com/office/officeart/2005/8/layout/vProcess5"/>
    <dgm:cxn modelId="{E100DBDF-F57E-4A6A-B382-531D57CE66DA}" type="presOf" srcId="{7C0939A9-C31F-45D9-873E-323C23C6FE50}" destId="{5B52E18E-BBE2-4289-8208-6302067DB8EC}" srcOrd="0" destOrd="0" presId="urn:microsoft.com/office/officeart/2005/8/layout/vProcess5"/>
    <dgm:cxn modelId="{533FE4F1-9F63-4FBA-BA0A-714479F1A3BE}" type="presOf" srcId="{ED761418-56B0-481A-9336-606513219FAD}" destId="{02201ADC-F554-4366-8936-6AEBAD116094}" srcOrd="0" destOrd="0" presId="urn:microsoft.com/office/officeart/2005/8/layout/vProcess5"/>
    <dgm:cxn modelId="{E36347F4-09B1-4F7B-863A-4F2BCC231EC1}" srcId="{9B2C74F4-4114-4BAB-BDFE-251A0A49105E}" destId="{A04169C5-20E4-4E2A-B99A-F4D94279C75A}" srcOrd="4" destOrd="0" parTransId="{0AADFB73-D88A-4E75-8E11-353DE6DB566A}" sibTransId="{859FF256-FC09-494C-BF05-2884406EB5D2}"/>
    <dgm:cxn modelId="{65588635-CB45-4DC6-B38F-A005AA6552FF}" type="presParOf" srcId="{50BEF9AA-C043-46D6-8D15-657C4130D63E}" destId="{5108F021-1310-411B-BB72-686F2DC96C34}" srcOrd="0" destOrd="0" presId="urn:microsoft.com/office/officeart/2005/8/layout/vProcess5"/>
    <dgm:cxn modelId="{08381E15-4A2F-4A66-B9E6-F7247B2BDED9}" type="presParOf" srcId="{50BEF9AA-C043-46D6-8D15-657C4130D63E}" destId="{ACBB42F3-C8B2-45AE-94A1-A085AB0CE3BB}" srcOrd="1" destOrd="0" presId="urn:microsoft.com/office/officeart/2005/8/layout/vProcess5"/>
    <dgm:cxn modelId="{0459FCD2-77E0-4BA1-95A3-A2775BEE4F42}" type="presParOf" srcId="{50BEF9AA-C043-46D6-8D15-657C4130D63E}" destId="{0A8EEA23-0439-4E07-9905-A45770BA8C4E}" srcOrd="2" destOrd="0" presId="urn:microsoft.com/office/officeart/2005/8/layout/vProcess5"/>
    <dgm:cxn modelId="{C7A43798-F13C-4D15-8242-6A241EA0432D}" type="presParOf" srcId="{50BEF9AA-C043-46D6-8D15-657C4130D63E}" destId="{78D53C4D-D09E-4CF1-BF94-F004BC1F331B}" srcOrd="3" destOrd="0" presId="urn:microsoft.com/office/officeart/2005/8/layout/vProcess5"/>
    <dgm:cxn modelId="{855623F8-F207-4EAC-842B-B6856EE7D613}" type="presParOf" srcId="{50BEF9AA-C043-46D6-8D15-657C4130D63E}" destId="{79DC4C25-86BF-4617-93E7-FECFD53CE952}" srcOrd="4" destOrd="0" presId="urn:microsoft.com/office/officeart/2005/8/layout/vProcess5"/>
    <dgm:cxn modelId="{75563F1E-BE5F-43BA-A5EA-C146E66F6C13}" type="presParOf" srcId="{50BEF9AA-C043-46D6-8D15-657C4130D63E}" destId="{A64457D8-F717-4894-A24E-768094C9C338}" srcOrd="5" destOrd="0" presId="urn:microsoft.com/office/officeart/2005/8/layout/vProcess5"/>
    <dgm:cxn modelId="{79ABBC9D-5A34-44F4-AB95-FB643E8D9160}" type="presParOf" srcId="{50BEF9AA-C043-46D6-8D15-657C4130D63E}" destId="{02201ADC-F554-4366-8936-6AEBAD116094}" srcOrd="6" destOrd="0" presId="urn:microsoft.com/office/officeart/2005/8/layout/vProcess5"/>
    <dgm:cxn modelId="{BB576770-8CAE-4863-AD9B-08F1C82AF79F}" type="presParOf" srcId="{50BEF9AA-C043-46D6-8D15-657C4130D63E}" destId="{EF03FFBB-2116-4F7A-BBD1-DD55D9E39FB5}" srcOrd="7" destOrd="0" presId="urn:microsoft.com/office/officeart/2005/8/layout/vProcess5"/>
    <dgm:cxn modelId="{79E3A186-29DC-4E75-A21C-F099C368D3CE}" type="presParOf" srcId="{50BEF9AA-C043-46D6-8D15-657C4130D63E}" destId="{5B52E18E-BBE2-4289-8208-6302067DB8EC}" srcOrd="8" destOrd="0" presId="urn:microsoft.com/office/officeart/2005/8/layout/vProcess5"/>
    <dgm:cxn modelId="{51EB5D7D-6948-4902-92F6-6E0415C55CC8}" type="presParOf" srcId="{50BEF9AA-C043-46D6-8D15-657C4130D63E}" destId="{6F83896D-6B34-4361-846D-90605F322BE7}" srcOrd="9" destOrd="0" presId="urn:microsoft.com/office/officeart/2005/8/layout/vProcess5"/>
    <dgm:cxn modelId="{FD5B08F3-F58D-4664-AC8D-921C7C908E58}" type="presParOf" srcId="{50BEF9AA-C043-46D6-8D15-657C4130D63E}" destId="{C60E3AD9-2D78-4B4D-AFCA-6E0369E60A5F}" srcOrd="10" destOrd="0" presId="urn:microsoft.com/office/officeart/2005/8/layout/vProcess5"/>
    <dgm:cxn modelId="{56BC7123-4375-49D8-8818-47886EBC967A}" type="presParOf" srcId="{50BEF9AA-C043-46D6-8D15-657C4130D63E}" destId="{39360CCF-A872-4F5E-BD92-84F2A9CB33DF}" srcOrd="11" destOrd="0" presId="urn:microsoft.com/office/officeart/2005/8/layout/vProcess5"/>
    <dgm:cxn modelId="{174FF1D5-A793-4D67-AD16-0C2A6E3F885F}" type="presParOf" srcId="{50BEF9AA-C043-46D6-8D15-657C4130D63E}" destId="{063AD370-391C-44C9-B6EE-D253864FA237}" srcOrd="12" destOrd="0" presId="urn:microsoft.com/office/officeart/2005/8/layout/vProcess5"/>
    <dgm:cxn modelId="{EE539693-570A-4B7C-A4E4-356C1C376C3B}" type="presParOf" srcId="{50BEF9AA-C043-46D6-8D15-657C4130D63E}" destId="{11833946-CA11-4D1A-A516-D8D90D811F8B}" srcOrd="13" destOrd="0" presId="urn:microsoft.com/office/officeart/2005/8/layout/vProcess5"/>
    <dgm:cxn modelId="{6549152D-A0E3-4C46-AC84-22168A9D3957}" type="presParOf" srcId="{50BEF9AA-C043-46D6-8D15-657C4130D63E}" destId="{E2EFF2FE-F229-43AD-AF2E-5816B374CB88}"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260C8E-41B8-49E5-B638-73C546611AD8}">
      <dsp:nvSpPr>
        <dsp:cNvPr id="0" name=""/>
        <dsp:cNvSpPr/>
      </dsp:nvSpPr>
      <dsp:spPr>
        <a:xfrm>
          <a:off x="0" y="630625"/>
          <a:ext cx="6347714" cy="11642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B900BC-7AB5-44D6-8C27-26D4D89A9AC2}">
      <dsp:nvSpPr>
        <dsp:cNvPr id="0" name=""/>
        <dsp:cNvSpPr/>
      </dsp:nvSpPr>
      <dsp:spPr>
        <a:xfrm>
          <a:off x="352180" y="892577"/>
          <a:ext cx="640327" cy="64032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0E8ED0-083D-4644-BBF3-F80A6A7404B0}">
      <dsp:nvSpPr>
        <dsp:cNvPr id="0" name=""/>
        <dsp:cNvSpPr/>
      </dsp:nvSpPr>
      <dsp:spPr>
        <a:xfrm>
          <a:off x="1344687" y="630625"/>
          <a:ext cx="5003026" cy="1164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15" tIns="123215" rIns="123215" bIns="123215" numCol="1" spcCol="1270" anchor="ctr" anchorCtr="0">
          <a:noAutofit/>
        </a:bodyPr>
        <a:lstStyle/>
        <a:p>
          <a:pPr marL="0" lvl="0" indent="0" algn="l" defTabSz="800100">
            <a:lnSpc>
              <a:spcPct val="100000"/>
            </a:lnSpc>
            <a:spcBef>
              <a:spcPct val="0"/>
            </a:spcBef>
            <a:spcAft>
              <a:spcPct val="35000"/>
            </a:spcAft>
            <a:buNone/>
          </a:pPr>
          <a:r>
            <a:rPr lang="en-US" sz="1800" kern="1200"/>
            <a:t>A capstone is not finished just because the code runs once.</a:t>
          </a:r>
        </a:p>
      </dsp:txBody>
      <dsp:txXfrm>
        <a:off x="1344687" y="630625"/>
        <a:ext cx="5003026" cy="1164231"/>
      </dsp:txXfrm>
    </dsp:sp>
    <dsp:sp modelId="{C59100EE-D5AE-4F1D-A30A-C2C3AB98FC90}">
      <dsp:nvSpPr>
        <dsp:cNvPr id="0" name=""/>
        <dsp:cNvSpPr/>
      </dsp:nvSpPr>
      <dsp:spPr>
        <a:xfrm>
          <a:off x="0" y="2085915"/>
          <a:ext cx="6347714" cy="11642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719C96-3162-4A53-BC3A-7B5A1B5BBD25}">
      <dsp:nvSpPr>
        <dsp:cNvPr id="0" name=""/>
        <dsp:cNvSpPr/>
      </dsp:nvSpPr>
      <dsp:spPr>
        <a:xfrm>
          <a:off x="352180" y="2347867"/>
          <a:ext cx="640327" cy="64032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284324-E599-4294-AF42-DBC80A69D1AD}">
      <dsp:nvSpPr>
        <dsp:cNvPr id="0" name=""/>
        <dsp:cNvSpPr/>
      </dsp:nvSpPr>
      <dsp:spPr>
        <a:xfrm>
          <a:off x="1344687" y="2085915"/>
          <a:ext cx="5003026" cy="1164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15" tIns="123215" rIns="123215" bIns="123215" numCol="1" spcCol="1270" anchor="ctr" anchorCtr="0">
          <a:noAutofit/>
        </a:bodyPr>
        <a:lstStyle/>
        <a:p>
          <a:pPr marL="0" lvl="0" indent="0" algn="l" defTabSz="800100">
            <a:lnSpc>
              <a:spcPct val="100000"/>
            </a:lnSpc>
            <a:spcBef>
              <a:spcPct val="0"/>
            </a:spcBef>
            <a:spcAft>
              <a:spcPct val="35000"/>
            </a:spcAft>
            <a:buNone/>
          </a:pPr>
          <a:r>
            <a:rPr lang="en-US" sz="1800" kern="1200"/>
            <a:t>It should run inside approved scope, produce meaningful behavior, and include evidence that important behavior was checked.</a:t>
          </a:r>
        </a:p>
      </dsp:txBody>
      <dsp:txXfrm>
        <a:off x="1344687" y="2085915"/>
        <a:ext cx="5003026" cy="11642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7DEE2-2529-4048-A027-0347422F7B4B}">
      <dsp:nvSpPr>
        <dsp:cNvPr id="0" name=""/>
        <dsp:cNvSpPr/>
      </dsp:nvSpPr>
      <dsp:spPr>
        <a:xfrm>
          <a:off x="0" y="107370"/>
          <a:ext cx="5019610" cy="722474"/>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Stay inside approved scope</a:t>
          </a:r>
          <a:endParaRPr lang="en-US" sz="1900" kern="1200" dirty="0"/>
        </a:p>
      </dsp:txBody>
      <dsp:txXfrm>
        <a:off x="35268" y="142638"/>
        <a:ext cx="4949074" cy="651938"/>
      </dsp:txXfrm>
    </dsp:sp>
    <dsp:sp modelId="{2C419AF9-F2B2-44A2-8F81-7400D924D17A}">
      <dsp:nvSpPr>
        <dsp:cNvPr id="0" name=""/>
        <dsp:cNvSpPr/>
      </dsp:nvSpPr>
      <dsp:spPr>
        <a:xfrm>
          <a:off x="0" y="884565"/>
          <a:ext cx="5019610" cy="722474"/>
        </a:xfrm>
        <a:prstGeom prst="roundRect">
          <a:avLst/>
        </a:prstGeom>
        <a:gradFill rotWithShape="0">
          <a:gsLst>
            <a:gs pos="0">
              <a:schemeClr val="accent2">
                <a:hueOff val="-1979246"/>
                <a:satOff val="7189"/>
                <a:lumOff val="667"/>
                <a:alphaOff val="0"/>
                <a:tint val="96000"/>
                <a:lumMod val="100000"/>
              </a:schemeClr>
            </a:gs>
            <a:gs pos="78000">
              <a:schemeClr val="accent2">
                <a:hueOff val="-1979246"/>
                <a:satOff val="7189"/>
                <a:lumOff val="66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Identify the most important behavior</a:t>
          </a:r>
        </a:p>
      </dsp:txBody>
      <dsp:txXfrm>
        <a:off x="35268" y="919833"/>
        <a:ext cx="4949074" cy="651938"/>
      </dsp:txXfrm>
    </dsp:sp>
    <dsp:sp modelId="{F1B9EE5C-A398-4A7D-9554-34DD81FF8EE4}">
      <dsp:nvSpPr>
        <dsp:cNvPr id="0" name=""/>
        <dsp:cNvSpPr/>
      </dsp:nvSpPr>
      <dsp:spPr>
        <a:xfrm>
          <a:off x="0" y="1661760"/>
          <a:ext cx="5019610" cy="722474"/>
        </a:xfrm>
        <a:prstGeom prst="roundRect">
          <a:avLst/>
        </a:prstGeom>
        <a:gradFill rotWithShape="0">
          <a:gsLst>
            <a:gs pos="0">
              <a:schemeClr val="accent2">
                <a:hueOff val="-3958492"/>
                <a:satOff val="14378"/>
                <a:lumOff val="1334"/>
                <a:alphaOff val="0"/>
                <a:tint val="96000"/>
                <a:lumMod val="100000"/>
              </a:schemeClr>
            </a:gs>
            <a:gs pos="78000">
              <a:schemeClr val="accent2">
                <a:hueOff val="-3958492"/>
                <a:satOff val="14378"/>
                <a:lumOff val="133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Validate that behavior with real evidence</a:t>
          </a:r>
        </a:p>
      </dsp:txBody>
      <dsp:txXfrm>
        <a:off x="35268" y="1697028"/>
        <a:ext cx="4949074" cy="651938"/>
      </dsp:txXfrm>
    </dsp:sp>
    <dsp:sp modelId="{81768C6E-9F9E-472A-AB44-78DD5DCAC86D}">
      <dsp:nvSpPr>
        <dsp:cNvPr id="0" name=""/>
        <dsp:cNvSpPr/>
      </dsp:nvSpPr>
      <dsp:spPr>
        <a:xfrm>
          <a:off x="0" y="2438955"/>
          <a:ext cx="5019610" cy="722474"/>
        </a:xfrm>
        <a:prstGeom prst="roundRect">
          <a:avLst/>
        </a:prstGeom>
        <a:gradFill rotWithShape="0">
          <a:gsLst>
            <a:gs pos="0">
              <a:schemeClr val="accent2">
                <a:hueOff val="-5937738"/>
                <a:satOff val="21566"/>
                <a:lumOff val="2001"/>
                <a:alphaOff val="0"/>
                <a:tint val="96000"/>
                <a:lumMod val="100000"/>
              </a:schemeClr>
            </a:gs>
            <a:gs pos="78000">
              <a:schemeClr val="accent2">
                <a:hueOff val="-5937738"/>
                <a:satOff val="21566"/>
                <a:lumOff val="200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Preserve run instructions</a:t>
          </a:r>
        </a:p>
      </dsp:txBody>
      <dsp:txXfrm>
        <a:off x="35268" y="2474223"/>
        <a:ext cx="4949074" cy="651938"/>
      </dsp:txXfrm>
    </dsp:sp>
    <dsp:sp modelId="{8904362E-9AB5-41BB-A8EC-7F5FB7A61130}">
      <dsp:nvSpPr>
        <dsp:cNvPr id="0" name=""/>
        <dsp:cNvSpPr/>
      </dsp:nvSpPr>
      <dsp:spPr>
        <a:xfrm>
          <a:off x="0" y="3216149"/>
          <a:ext cx="5019610" cy="722474"/>
        </a:xfrm>
        <a:prstGeom prst="roundRect">
          <a:avLst/>
        </a:prstGeom>
        <a:gradFill rotWithShape="0">
          <a:gsLst>
            <a:gs pos="0">
              <a:schemeClr val="accent2">
                <a:hueOff val="-7916984"/>
                <a:satOff val="28755"/>
                <a:lumOff val="2668"/>
                <a:alphaOff val="0"/>
                <a:tint val="96000"/>
                <a:lumMod val="100000"/>
              </a:schemeClr>
            </a:gs>
            <a:gs pos="78000">
              <a:schemeClr val="accent2">
                <a:hueOff val="-7916984"/>
                <a:satOff val="28755"/>
                <a:lumOff val="266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Record meaningful AI help if used</a:t>
          </a:r>
        </a:p>
      </dsp:txBody>
      <dsp:txXfrm>
        <a:off x="35268" y="3251417"/>
        <a:ext cx="4949074" cy="651938"/>
      </dsp:txXfrm>
    </dsp:sp>
    <dsp:sp modelId="{C96474A5-7A73-4603-972F-E3B694BB408E}">
      <dsp:nvSpPr>
        <dsp:cNvPr id="0" name=""/>
        <dsp:cNvSpPr/>
      </dsp:nvSpPr>
      <dsp:spPr>
        <a:xfrm>
          <a:off x="0" y="3993344"/>
          <a:ext cx="5019610" cy="722474"/>
        </a:xfrm>
        <a:prstGeom prst="roundRect">
          <a:avLst/>
        </a:prstGeom>
        <a:gradFill rotWithShape="0">
          <a:gsLst>
            <a:gs pos="0">
              <a:schemeClr val="accent2">
                <a:hueOff val="-9896230"/>
                <a:satOff val="35944"/>
                <a:lumOff val="3335"/>
                <a:alphaOff val="0"/>
                <a:tint val="96000"/>
                <a:lumMod val="100000"/>
              </a:schemeClr>
            </a:gs>
            <a:gs pos="78000">
              <a:schemeClr val="accent2">
                <a:hueOff val="-9896230"/>
                <a:satOff val="35944"/>
                <a:lumOff val="33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kern="1200" dirty="0"/>
            <a:t>Prepare to explain the work in Assignment 16</a:t>
          </a:r>
        </a:p>
      </dsp:txBody>
      <dsp:txXfrm>
        <a:off x="35268" y="4028612"/>
        <a:ext cx="4949074" cy="6519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70DF8F-7B8A-45A8-B74C-646393554B3B}">
      <dsp:nvSpPr>
        <dsp:cNvPr id="0" name=""/>
        <dsp:cNvSpPr/>
      </dsp:nvSpPr>
      <dsp:spPr>
        <a:xfrm>
          <a:off x="0" y="665190"/>
          <a:ext cx="7213600" cy="122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89C653-D8E0-44D2-9291-BDD357DD084D}">
      <dsp:nvSpPr>
        <dsp:cNvPr id="0" name=""/>
        <dsp:cNvSpPr/>
      </dsp:nvSpPr>
      <dsp:spPr>
        <a:xfrm>
          <a:off x="371483" y="941500"/>
          <a:ext cx="675424" cy="6754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EB2690A-29DB-4672-9070-320CF6527724}">
      <dsp:nvSpPr>
        <dsp:cNvPr id="0" name=""/>
        <dsp:cNvSpPr/>
      </dsp:nvSpPr>
      <dsp:spPr>
        <a:xfrm>
          <a:off x="1418391" y="665190"/>
          <a:ext cx="5795208"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1066800">
            <a:lnSpc>
              <a:spcPct val="90000"/>
            </a:lnSpc>
            <a:spcBef>
              <a:spcPct val="0"/>
            </a:spcBef>
            <a:spcAft>
              <a:spcPct val="35000"/>
            </a:spcAft>
            <a:buNone/>
          </a:pPr>
          <a:r>
            <a:rPr lang="en-US" sz="2400" kern="1200"/>
            <a:t>If AI helped during the build, record it while the work is fresh.</a:t>
          </a:r>
        </a:p>
      </dsp:txBody>
      <dsp:txXfrm>
        <a:off x="1418391" y="665190"/>
        <a:ext cx="5795208" cy="1228044"/>
      </dsp:txXfrm>
    </dsp:sp>
    <dsp:sp modelId="{E1E5DCC7-617E-4AF6-9C41-EA0CE8F1C57E}">
      <dsp:nvSpPr>
        <dsp:cNvPr id="0" name=""/>
        <dsp:cNvSpPr/>
      </dsp:nvSpPr>
      <dsp:spPr>
        <a:xfrm>
          <a:off x="0" y="2200246"/>
          <a:ext cx="7213600" cy="122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61A31B-47B9-43AA-9120-590D98037C44}">
      <dsp:nvSpPr>
        <dsp:cNvPr id="0" name=""/>
        <dsp:cNvSpPr/>
      </dsp:nvSpPr>
      <dsp:spPr>
        <a:xfrm>
          <a:off x="371483" y="2476556"/>
          <a:ext cx="675424" cy="6754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01A9CC9-FEAC-4A5F-A9E9-7AA1C441D5AB}">
      <dsp:nvSpPr>
        <dsp:cNvPr id="0" name=""/>
        <dsp:cNvSpPr/>
      </dsp:nvSpPr>
      <dsp:spPr>
        <a:xfrm>
          <a:off x="1418391" y="2200246"/>
          <a:ext cx="5795208"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1066800">
            <a:lnSpc>
              <a:spcPct val="90000"/>
            </a:lnSpc>
            <a:spcBef>
              <a:spcPct val="0"/>
            </a:spcBef>
            <a:spcAft>
              <a:spcPct val="35000"/>
            </a:spcAft>
            <a:buNone/>
          </a:pPr>
          <a:r>
            <a:rPr lang="en-US" sz="2400" kern="1200"/>
            <a:t>Useful notes include what AI suggested, what you accepted, what you changed, and how you verified the result.</a:t>
          </a:r>
        </a:p>
      </dsp:txBody>
      <dsp:txXfrm>
        <a:off x="1418391" y="2200246"/>
        <a:ext cx="5795208" cy="12280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B42F3-C8B2-45AE-94A1-A085AB0CE3BB}">
      <dsp:nvSpPr>
        <dsp:cNvPr id="0" name=""/>
        <dsp:cNvSpPr/>
      </dsp:nvSpPr>
      <dsp:spPr>
        <a:xfrm>
          <a:off x="0" y="0"/>
          <a:ext cx="5554471" cy="73682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Before class ends, try to have:</a:t>
          </a:r>
        </a:p>
      </dsp:txBody>
      <dsp:txXfrm>
        <a:off x="21581" y="21581"/>
        <a:ext cx="4673169" cy="693664"/>
      </dsp:txXfrm>
    </dsp:sp>
    <dsp:sp modelId="{0A8EEA23-0439-4E07-9905-A45770BA8C4E}">
      <dsp:nvSpPr>
        <dsp:cNvPr id="0" name=""/>
        <dsp:cNvSpPr/>
      </dsp:nvSpPr>
      <dsp:spPr>
        <a:xfrm>
          <a:off x="414782" y="839163"/>
          <a:ext cx="5554471" cy="736826"/>
        </a:xfrm>
        <a:prstGeom prst="roundRect">
          <a:avLst>
            <a:gd name="adj" fmla="val 10000"/>
          </a:avLst>
        </a:prstGeom>
        <a:solidFill>
          <a:schemeClr val="accent2">
            <a:hueOff val="-2474057"/>
            <a:satOff val="8986"/>
            <a:lumOff val="83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-&gt; One important behavior working or clearly attempted</a:t>
          </a:r>
        </a:p>
      </dsp:txBody>
      <dsp:txXfrm>
        <a:off x="436363" y="860744"/>
        <a:ext cx="4617590" cy="693664"/>
      </dsp:txXfrm>
    </dsp:sp>
    <dsp:sp modelId="{78D53C4D-D09E-4CF1-BF94-F004BC1F331B}">
      <dsp:nvSpPr>
        <dsp:cNvPr id="0" name=""/>
        <dsp:cNvSpPr/>
      </dsp:nvSpPr>
      <dsp:spPr>
        <a:xfrm>
          <a:off x="829564" y="1678327"/>
          <a:ext cx="5554471" cy="736826"/>
        </a:xfrm>
        <a:prstGeom prst="roundRect">
          <a:avLst>
            <a:gd name="adj" fmla="val 10000"/>
          </a:avLst>
        </a:prstGeom>
        <a:solidFill>
          <a:schemeClr val="accent2">
            <a:hueOff val="-4948115"/>
            <a:satOff val="17972"/>
            <a:lumOff val="166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-&gt; One validation note started</a:t>
          </a:r>
        </a:p>
      </dsp:txBody>
      <dsp:txXfrm>
        <a:off x="851145" y="1699908"/>
        <a:ext cx="4617590" cy="693664"/>
      </dsp:txXfrm>
    </dsp:sp>
    <dsp:sp modelId="{79DC4C25-86BF-4617-93E7-FECFD53CE952}">
      <dsp:nvSpPr>
        <dsp:cNvPr id="0" name=""/>
        <dsp:cNvSpPr/>
      </dsp:nvSpPr>
      <dsp:spPr>
        <a:xfrm>
          <a:off x="1244346" y="2517491"/>
          <a:ext cx="5554471" cy="736826"/>
        </a:xfrm>
        <a:prstGeom prst="roundRect">
          <a:avLst>
            <a:gd name="adj" fmla="val 10000"/>
          </a:avLst>
        </a:prstGeom>
        <a:solidFill>
          <a:schemeClr val="accent2">
            <a:hueOff val="-7422172"/>
            <a:satOff val="26958"/>
            <a:lumOff val="250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-&gt; README/run instructions started</a:t>
          </a:r>
        </a:p>
      </dsp:txBody>
      <dsp:txXfrm>
        <a:off x="1265927" y="2539072"/>
        <a:ext cx="4617590" cy="693664"/>
      </dsp:txXfrm>
    </dsp:sp>
    <dsp:sp modelId="{A64457D8-F717-4894-A24E-768094C9C338}">
      <dsp:nvSpPr>
        <dsp:cNvPr id="0" name=""/>
        <dsp:cNvSpPr/>
      </dsp:nvSpPr>
      <dsp:spPr>
        <a:xfrm>
          <a:off x="1659128" y="3356655"/>
          <a:ext cx="5554471" cy="736826"/>
        </a:xfrm>
        <a:prstGeom prst="roundRect">
          <a:avLst>
            <a:gd name="adj" fmla="val 10000"/>
          </a:avLst>
        </a:prstGeom>
        <a:solidFill>
          <a:schemeClr val="accent2">
            <a:hueOff val="-9896230"/>
            <a:satOff val="35944"/>
            <a:lumOff val="33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-&gt; One next-step decision identified</a:t>
          </a:r>
        </a:p>
      </dsp:txBody>
      <dsp:txXfrm>
        <a:off x="1680709" y="3378236"/>
        <a:ext cx="4617590" cy="693664"/>
      </dsp:txXfrm>
    </dsp:sp>
    <dsp:sp modelId="{02201ADC-F554-4366-8936-6AEBAD116094}">
      <dsp:nvSpPr>
        <dsp:cNvPr id="0" name=""/>
        <dsp:cNvSpPr/>
      </dsp:nvSpPr>
      <dsp:spPr>
        <a:xfrm>
          <a:off x="5075534" y="538292"/>
          <a:ext cx="478937" cy="47893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183295" y="538292"/>
        <a:ext cx="263415" cy="360400"/>
      </dsp:txXfrm>
    </dsp:sp>
    <dsp:sp modelId="{EF03FFBB-2116-4F7A-BBD1-DD55D9E39FB5}">
      <dsp:nvSpPr>
        <dsp:cNvPr id="0" name=""/>
        <dsp:cNvSpPr/>
      </dsp:nvSpPr>
      <dsp:spPr>
        <a:xfrm>
          <a:off x="5490316" y="1377456"/>
          <a:ext cx="478937" cy="478937"/>
        </a:xfrm>
        <a:prstGeom prst="downArrow">
          <a:avLst>
            <a:gd name="adj1" fmla="val 55000"/>
            <a:gd name="adj2" fmla="val 45000"/>
          </a:avLst>
        </a:prstGeom>
        <a:solidFill>
          <a:schemeClr val="accent2">
            <a:tint val="40000"/>
            <a:alpha val="90000"/>
            <a:hueOff val="-3718424"/>
            <a:satOff val="16208"/>
            <a:lumOff val="1196"/>
            <a:alphaOff val="0"/>
          </a:schemeClr>
        </a:solidFill>
        <a:ln w="19050" cap="rnd" cmpd="sng" algn="ctr">
          <a:solidFill>
            <a:schemeClr val="accent2">
              <a:tint val="40000"/>
              <a:alpha val="90000"/>
              <a:hueOff val="-3718424"/>
              <a:satOff val="16208"/>
              <a:lumOff val="11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598077" y="1377456"/>
        <a:ext cx="263415" cy="360400"/>
      </dsp:txXfrm>
    </dsp:sp>
    <dsp:sp modelId="{5B52E18E-BBE2-4289-8208-6302067DB8EC}">
      <dsp:nvSpPr>
        <dsp:cNvPr id="0" name=""/>
        <dsp:cNvSpPr/>
      </dsp:nvSpPr>
      <dsp:spPr>
        <a:xfrm>
          <a:off x="5905098" y="2204340"/>
          <a:ext cx="478937" cy="478937"/>
        </a:xfrm>
        <a:prstGeom prst="downArrow">
          <a:avLst>
            <a:gd name="adj1" fmla="val 55000"/>
            <a:gd name="adj2" fmla="val 45000"/>
          </a:avLst>
        </a:prstGeom>
        <a:solidFill>
          <a:schemeClr val="accent2">
            <a:tint val="40000"/>
            <a:alpha val="90000"/>
            <a:hueOff val="-7436848"/>
            <a:satOff val="32416"/>
            <a:lumOff val="2392"/>
            <a:alphaOff val="0"/>
          </a:schemeClr>
        </a:solidFill>
        <a:ln w="19050" cap="rnd" cmpd="sng" algn="ctr">
          <a:solidFill>
            <a:schemeClr val="accent2">
              <a:tint val="40000"/>
              <a:alpha val="90000"/>
              <a:hueOff val="-7436848"/>
              <a:satOff val="32416"/>
              <a:lumOff val="239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012859" y="2204340"/>
        <a:ext cx="263415" cy="360400"/>
      </dsp:txXfrm>
    </dsp:sp>
    <dsp:sp modelId="{6F83896D-6B34-4361-846D-90605F322BE7}">
      <dsp:nvSpPr>
        <dsp:cNvPr id="0" name=""/>
        <dsp:cNvSpPr/>
      </dsp:nvSpPr>
      <dsp:spPr>
        <a:xfrm>
          <a:off x="6319880" y="3051690"/>
          <a:ext cx="478937" cy="478937"/>
        </a:xfrm>
        <a:prstGeom prst="downArrow">
          <a:avLst>
            <a:gd name="adj1" fmla="val 55000"/>
            <a:gd name="adj2" fmla="val 45000"/>
          </a:avLst>
        </a:prstGeom>
        <a:solidFill>
          <a:schemeClr val="accent2">
            <a:tint val="40000"/>
            <a:alpha val="90000"/>
            <a:hueOff val="-11155272"/>
            <a:satOff val="48624"/>
            <a:lumOff val="3588"/>
            <a:alphaOff val="0"/>
          </a:schemeClr>
        </a:solidFill>
        <a:ln w="19050" cap="rnd" cmpd="sng" algn="ctr">
          <a:solidFill>
            <a:schemeClr val="accent2">
              <a:tint val="40000"/>
              <a:alpha val="90000"/>
              <a:hueOff val="-11155272"/>
              <a:satOff val="48624"/>
              <a:lumOff val="358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427641" y="3051690"/>
        <a:ext cx="263415" cy="3604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9AF9F-1092-690D-006F-EBCE2C96B716}"/>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a:extLst>
              <a:ext uri="{FF2B5EF4-FFF2-40B4-BE49-F238E27FC236}">
                <a16:creationId xmlns:a16="http://schemas.microsoft.com/office/drawing/2014/main" id="{21FC0900-FCC2-2A2A-613C-A277F4B7120F}"/>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64943E5A-6629-4B53-8BAD-0FC37077EB14}" type="datetimeFigureOut">
              <a:rPr lang="en-US" smtClean="0"/>
              <a:t>6/21/2026</a:t>
            </a:fld>
            <a:endParaRPr lang="en-US"/>
          </a:p>
        </p:txBody>
      </p:sp>
      <p:sp>
        <p:nvSpPr>
          <p:cNvPr id="4" name="Footer Placeholder 3">
            <a:extLst>
              <a:ext uri="{FF2B5EF4-FFF2-40B4-BE49-F238E27FC236}">
                <a16:creationId xmlns:a16="http://schemas.microsoft.com/office/drawing/2014/main" id="{6A2D7F8D-A102-3CF3-78CD-2CA4C36115D1}"/>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4AD03618-FB8B-BA92-AF2F-43138FFAD960}"/>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9E905D54-93E9-4845-A874-0CB2F7E46362}" type="slidenum">
              <a:rPr lang="en-US" smtClean="0"/>
              <a:t>‹#›</a:t>
            </a:fld>
            <a:endParaRPr lang="en-US"/>
          </a:p>
        </p:txBody>
      </p:sp>
    </p:spTree>
    <p:extLst>
      <p:ext uri="{BB962C8B-B14F-4D97-AF65-F5344CB8AC3E}">
        <p14:creationId xmlns:p14="http://schemas.microsoft.com/office/powerpoint/2010/main" val="92536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E3382475-516A-409A-944E-F435F3DFCCF2}" type="datetimeFigureOut">
              <a:rPr lang="en-US" smtClean="0"/>
              <a:t>6/21/2026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a:t>
            </a:fld>
            <a:endParaRPr lang="en-US"/>
          </a:p>
        </p:txBody>
      </p:sp>
    </p:spTree>
    <p:extLst>
      <p:ext uri="{BB962C8B-B14F-4D97-AF65-F5344CB8AC3E}">
        <p14:creationId xmlns:p14="http://schemas.microsoft.com/office/powerpoint/2010/main" val="300523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Open on quality and explainability. </a:t>
            </a:r>
          </a:p>
          <a:p>
            <a:r>
              <a:rPr lang="en-US" sz="1300" dirty="0"/>
              <a:t>This should not sound like extra paperwork; it is part of finishing well.</a:t>
            </a:r>
          </a:p>
          <a:p>
            <a:endParaRPr lang="en-US" sz="1300" dirty="0"/>
          </a:p>
          <a:p>
            <a:r>
              <a:rPr lang="en-US" sz="1300" b="1" dirty="0"/>
              <a:t>**Transition Cue:**</a:t>
            </a:r>
            <a:endParaRPr lang="en-US" sz="1300" dirty="0"/>
          </a:p>
          <a:p>
            <a:r>
              <a:rPr lang="en-US" sz="1300" dirty="0"/>
              <a:t>Connect this immediately to the Week 7 approval process: approved scope is only useful if the final build can be defended.</a:t>
            </a:r>
          </a:p>
        </p:txBody>
      </p:sp>
      <p:sp>
        <p:nvSpPr>
          <p:cNvPr id="4" name="Slide Number Placeholder 3"/>
          <p:cNvSpPr>
            <a:spLocks noGrp="1"/>
          </p:cNvSpPr>
          <p:nvPr>
            <p:ph type="sldNum" sz="quarter" idx="5"/>
          </p:nvPr>
        </p:nvSpPr>
        <p:spPr/>
        <p:txBody>
          <a:bodyPr/>
          <a:lstStyle/>
          <a:p>
            <a:fld id="{1916ACA2-47E6-42D2-BEC8-EDC49A1A9FA1}" type="slidenum">
              <a:rPr lang="en-US" smtClean="0"/>
              <a:t>2</a:t>
            </a:fld>
            <a:endParaRPr lang="en-US"/>
          </a:p>
        </p:txBody>
      </p:sp>
    </p:spTree>
    <p:extLst>
      <p:ext uri="{BB962C8B-B14F-4D97-AF65-F5344CB8AC3E}">
        <p14:creationId xmlns:p14="http://schemas.microsoft.com/office/powerpoint/2010/main" val="4150285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a:t>
            </a:fld>
            <a:endParaRPr lang="en-US"/>
          </a:p>
        </p:txBody>
      </p:sp>
    </p:spTree>
    <p:extLst>
      <p:ext uri="{BB962C8B-B14F-4D97-AF65-F5344CB8AC3E}">
        <p14:creationId xmlns:p14="http://schemas.microsoft.com/office/powerpoint/2010/main" val="2048624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500" b="1" dirty="0"/>
              <a:t>**Instructor Notes:**</a:t>
            </a:r>
            <a:endParaRPr lang="en-US" sz="1500" dirty="0"/>
          </a:p>
          <a:p>
            <a:r>
              <a:rPr lang="en-US" sz="1500" dirty="0"/>
              <a:t>Tie A14 directly into A15.</a:t>
            </a:r>
          </a:p>
          <a:p>
            <a:br>
              <a:rPr lang="en-US" sz="1500" dirty="0"/>
            </a:br>
            <a:r>
              <a:rPr lang="en-US" sz="1500" b="1" dirty="0"/>
              <a:t>**Transition Cue:**</a:t>
            </a:r>
            <a:endParaRPr lang="en-US" sz="1500" dirty="0"/>
          </a:p>
          <a:p>
            <a:r>
              <a:rPr lang="en-US" sz="1500" dirty="0"/>
              <a:t>Now name the success pattern for today's build work so students know what to prioritize during lab time.</a:t>
            </a:r>
          </a:p>
        </p:txBody>
      </p:sp>
      <p:sp>
        <p:nvSpPr>
          <p:cNvPr id="4" name="Slide Number Placeholder 3"/>
          <p:cNvSpPr>
            <a:spLocks noGrp="1"/>
          </p:cNvSpPr>
          <p:nvPr>
            <p:ph type="sldNum" sz="quarter" idx="5"/>
          </p:nvPr>
        </p:nvSpPr>
        <p:spPr/>
        <p:txBody>
          <a:bodyPr/>
          <a:lstStyle/>
          <a:p>
            <a:pPr defTabSz="637974">
              <a:defRPr/>
            </a:pPr>
            <a:fld id="{1916ACA2-47E6-42D2-BEC8-EDC49A1A9FA1}" type="slidenum">
              <a:rPr lang="en-US" sz="1900">
                <a:solidFill>
                  <a:prstClr val="black"/>
                </a:solidFill>
                <a:latin typeface="Aptos" panose="02110004020202020204"/>
              </a:rPr>
              <a:pPr defTabSz="637974">
                <a:defRPr/>
              </a:pPr>
              <a:t>4</a:t>
            </a:fld>
            <a:endParaRPr lang="en-US" sz="1900">
              <a:solidFill>
                <a:prstClr val="black"/>
              </a:solidFill>
              <a:latin typeface="Aptos" panose="02110004020202020204"/>
            </a:endParaRPr>
          </a:p>
        </p:txBody>
      </p:sp>
    </p:spTree>
    <p:extLst>
      <p:ext uri="{BB962C8B-B14F-4D97-AF65-F5344CB8AC3E}">
        <p14:creationId xmlns:p14="http://schemas.microsoft.com/office/powerpoint/2010/main" val="1598290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02CF9-2E92-738D-0C7F-FEB11A510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027E7-AB62-4B41-3080-A0AC05906D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A36B4-7922-57E5-1689-961EC8A068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3941D7-06FF-85B0-B1DD-CE1F82661E72}"/>
              </a:ext>
            </a:extLst>
          </p:cNvPr>
          <p:cNvSpPr>
            <a:spLocks noGrp="1"/>
          </p:cNvSpPr>
          <p:nvPr>
            <p:ph type="sldNum" sz="quarter" idx="5"/>
          </p:nvPr>
        </p:nvSpPr>
        <p:spPr/>
        <p:txBody>
          <a:bodyPr/>
          <a:lstStyle/>
          <a:p>
            <a:fld id="{1916ACA2-47E6-42D2-BEC8-EDC49A1A9FA1}" type="slidenum">
              <a:rPr lang="en-US" smtClean="0"/>
              <a:t>5</a:t>
            </a:fld>
            <a:endParaRPr lang="en-US"/>
          </a:p>
        </p:txBody>
      </p:sp>
    </p:spTree>
    <p:extLst>
      <p:ext uri="{BB962C8B-B14F-4D97-AF65-F5344CB8AC3E}">
        <p14:creationId xmlns:p14="http://schemas.microsoft.com/office/powerpoint/2010/main" val="379924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Ask students to write down the most important behavior for their own capstone.</a:t>
            </a:r>
          </a:p>
          <a:p>
            <a:r>
              <a:rPr lang="en-US" sz="1300" dirty="0"/>
              <a:t>That behavior becomes the anchor for validation, run instructions, and presentation explanation.</a:t>
            </a:r>
          </a:p>
          <a:p>
            <a:endParaRPr lang="en-US" sz="1300" dirty="0"/>
          </a:p>
          <a:p>
            <a:r>
              <a:rPr lang="en-US" sz="1300" b="1" dirty="0"/>
              <a:t>**Transition Cue:**</a:t>
            </a:r>
            <a:endParaRPr lang="en-US" sz="1300" dirty="0"/>
          </a:p>
          <a:p>
            <a:r>
              <a:rPr lang="en-US" sz="1300" dirty="0"/>
              <a:t>Once the important behavior is named, show that evidence can be small and still valid.</a:t>
            </a:r>
          </a:p>
          <a:p>
            <a:br>
              <a:rPr lang="en-US" sz="1300" dirty="0"/>
            </a:br>
            <a:endParaRPr lang="en-US" sz="1300" dirty="0"/>
          </a:p>
          <a:p>
            <a:endParaRPr lang="en-US" sz="1400" dirty="0"/>
          </a:p>
        </p:txBody>
      </p:sp>
      <p:sp>
        <p:nvSpPr>
          <p:cNvPr id="4" name="Slide Number Placeholder 3"/>
          <p:cNvSpPr>
            <a:spLocks noGrp="1"/>
          </p:cNvSpPr>
          <p:nvPr>
            <p:ph type="sldNum" sz="quarter" idx="5"/>
          </p:nvPr>
        </p:nvSpPr>
        <p:spPr/>
        <p:txBody>
          <a:bodyPr/>
          <a:lstStyle/>
          <a:p>
            <a:pPr defTabSz="540076"/>
            <a:fld id="{1916ACA2-47E6-42D2-BEC8-EDC49A1A9FA1}" type="slidenum">
              <a:rPr lang="en-US" sz="1600">
                <a:solidFill>
                  <a:prstClr val="black"/>
                </a:solidFill>
                <a:latin typeface="Aptos" panose="02110004020202020204"/>
              </a:rPr>
              <a:pPr defTabSz="540076"/>
              <a:t>6</a:t>
            </a:fld>
            <a:endParaRPr lang="en-US" sz="1600">
              <a:solidFill>
                <a:prstClr val="black"/>
              </a:solidFill>
              <a:latin typeface="Aptos" panose="02110004020202020204"/>
            </a:endParaRPr>
          </a:p>
        </p:txBody>
      </p:sp>
    </p:spTree>
    <p:extLst>
      <p:ext uri="{BB962C8B-B14F-4D97-AF65-F5344CB8AC3E}">
        <p14:creationId xmlns:p14="http://schemas.microsoft.com/office/powerpoint/2010/main" val="2292370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CA97B-4C78-FD84-DF2F-CE5F49BDDF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41541-C381-58A4-EB2F-047F7E840D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EA2F5F-04AF-C326-6E9F-A3B02F2496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AFA927-70EA-16E8-3347-225114C0B6C0}"/>
              </a:ext>
            </a:extLst>
          </p:cNvPr>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3151563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This demystifies validation. Do not turn it into a full testing lecture.</a:t>
            </a:r>
          </a:p>
          <a:p>
            <a:endParaRPr lang="en-US" sz="1300" dirty="0"/>
          </a:p>
          <a:p>
            <a:r>
              <a:rPr lang="en-US" sz="1300" b="1" dirty="0"/>
              <a:t>**Transition Cue:**</a:t>
            </a:r>
            <a:endParaRPr lang="en-US" sz="1300" dirty="0"/>
          </a:p>
          <a:p>
            <a:r>
              <a:rPr lang="en-US" sz="1300" dirty="0"/>
              <a:t>Evidence is useful to the instructor, but run instructions are what make the project understandable to another person.</a:t>
            </a:r>
          </a:p>
        </p:txBody>
      </p:sp>
      <p:sp>
        <p:nvSpPr>
          <p:cNvPr id="4" name="Slide Number Placeholder 3"/>
          <p:cNvSpPr>
            <a:spLocks noGrp="1"/>
          </p:cNvSpPr>
          <p:nvPr>
            <p:ph type="sldNum" sz="quarter" idx="5"/>
          </p:nvPr>
        </p:nvSpPr>
        <p:spPr/>
        <p:txBody>
          <a:bodyPr/>
          <a:lstStyle/>
          <a:p>
            <a:fld id="{1916ACA2-47E6-42D2-BEC8-EDC49A1A9FA1}" type="slidenum">
              <a:rPr lang="en-US" smtClean="0"/>
              <a:t>9</a:t>
            </a:fld>
            <a:endParaRPr lang="en-US"/>
          </a:p>
        </p:txBody>
      </p:sp>
    </p:spTree>
    <p:extLst>
      <p:ext uri="{BB962C8B-B14F-4D97-AF65-F5344CB8AC3E}">
        <p14:creationId xmlns:p14="http://schemas.microsoft.com/office/powerpoint/2010/main" val="3477266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8D0D9-4E53-A83C-0A5A-0A2FDE885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50C9A-885D-A402-1A1A-803D164F4F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B27C0-15CA-373D-0605-06E26D43D2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088546-FA25-E4E3-E161-B7248678D16C}"/>
              </a:ext>
            </a:extLst>
          </p:cNvPr>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59488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This prepares A16 and helps grading.</a:t>
            </a:r>
          </a:p>
          <a:p>
            <a:endParaRPr lang="en-US" sz="1300" dirty="0"/>
          </a:p>
          <a:p>
            <a:r>
              <a:rPr lang="en-US" sz="1300" b="1" dirty="0"/>
              <a:t>**Transition Cue:**</a:t>
            </a:r>
            <a:endParaRPr lang="en-US" sz="1300" dirty="0"/>
          </a:p>
          <a:p>
            <a:r>
              <a:rPr lang="en-US" sz="1300" dirty="0"/>
              <a:t>If AI helped during the build, the notes should be collected now while the decisions are still fresh.</a:t>
            </a:r>
          </a:p>
        </p:txBody>
      </p:sp>
      <p:sp>
        <p:nvSpPr>
          <p:cNvPr id="4" name="Slide Number Placeholder 3"/>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290010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29A7B-38B3-DB74-D478-DA3D398F8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963A2-EC08-EE37-D810-2FC0C909B6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98297-2C4E-0EC9-959D-7C1B078689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ECF133-DD48-E563-2E6E-377996A7E36F}"/>
              </a:ext>
            </a:extLst>
          </p:cNvPr>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787384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This prevents weak after-the-fact AI justification.</a:t>
            </a:r>
          </a:p>
          <a:p>
            <a:br>
              <a:rPr lang="en-US" sz="1300" dirty="0"/>
            </a:br>
            <a:r>
              <a:rPr lang="en-US" sz="1300" b="1" dirty="0"/>
              <a:t>**Transition Cue:**</a:t>
            </a:r>
            <a:endParaRPr lang="en-US" sz="1300" dirty="0"/>
          </a:p>
          <a:p>
            <a:r>
              <a:rPr lang="en-US" sz="1300" dirty="0"/>
              <a:t>Now model the relationship between behavior and validation evidence.</a:t>
            </a:r>
          </a:p>
        </p:txBody>
      </p:sp>
      <p:sp>
        <p:nvSpPr>
          <p:cNvPr id="4" name="Slide Number Placeholder 3"/>
          <p:cNvSpPr>
            <a:spLocks noGrp="1"/>
          </p:cNvSpPr>
          <p:nvPr>
            <p:ph type="sldNum" sz="quarter" idx="5"/>
          </p:nvPr>
        </p:nvSpPr>
        <p:spPr/>
        <p:txBody>
          <a:bodyPr/>
          <a:lstStyle/>
          <a:p>
            <a:fld id="{1916ACA2-47E6-42D2-BEC8-EDC49A1A9FA1}" type="slidenum">
              <a:rPr lang="en-US" smtClean="0"/>
              <a:t>13</a:t>
            </a:fld>
            <a:endParaRPr lang="en-US"/>
          </a:p>
        </p:txBody>
      </p:sp>
    </p:spTree>
    <p:extLst>
      <p:ext uri="{BB962C8B-B14F-4D97-AF65-F5344CB8AC3E}">
        <p14:creationId xmlns:p14="http://schemas.microsoft.com/office/powerpoint/2010/main" val="1150537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20BF6-F893-3F19-3C97-16CE40A7B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C5A7D-DCBD-896C-1BD6-64C49C27FB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4FC80-869F-D7D3-B6B1-4B589C6695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C7EE80-7CC6-29FC-17E5-EEEED771A902}"/>
              </a:ext>
            </a:extLst>
          </p:cNvPr>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3523887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540076">
              <a:defRPr/>
            </a:pPr>
            <a:fld id="{1916ACA2-47E6-42D2-BEC8-EDC49A1A9FA1}" type="slidenum">
              <a:rPr lang="en-US" sz="1600">
                <a:solidFill>
                  <a:prstClr val="black"/>
                </a:solidFill>
                <a:latin typeface="Aptos" panose="02110004020202020204"/>
              </a:rPr>
              <a:pPr defTabSz="540076">
                <a:defRPr/>
              </a:pPr>
              <a:t>15</a:t>
            </a:fld>
            <a:endParaRPr lang="en-US" sz="1600">
              <a:solidFill>
                <a:prstClr val="black"/>
              </a:solidFill>
              <a:latin typeface="Aptos" panose="02110004020202020204"/>
            </a:endParaRPr>
          </a:p>
        </p:txBody>
      </p:sp>
    </p:spTree>
    <p:extLst>
      <p:ext uri="{BB962C8B-B14F-4D97-AF65-F5344CB8AC3E}">
        <p14:creationId xmlns:p14="http://schemas.microsoft.com/office/powerpoint/2010/main" val="3125657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Use with:</a:t>
            </a:r>
          </a:p>
          <a:p>
            <a:r>
              <a:rPr lang="en-US" sz="1300" i="1" dirty="0"/>
              <a:t>`\Demos\Week_08_Capstone_Build_Justification_and_Presentation\01_capstone_validation_example.py`</a:t>
            </a:r>
          </a:p>
          <a:p>
            <a:endParaRPr lang="en-US" sz="1300" i="1" dirty="0"/>
          </a:p>
          <a:p>
            <a:r>
              <a:rPr lang="en-US" sz="1300" dirty="0"/>
              <a:t>Then use with </a:t>
            </a:r>
            <a:r>
              <a:rPr lang="en-US" sz="1300" b="1" dirty="0"/>
              <a:t>(markdown artifact):</a:t>
            </a:r>
          </a:p>
          <a:p>
            <a:r>
              <a:rPr lang="en-US" sz="1300" i="1" dirty="0"/>
              <a:t>`\Demos\Week_08_Capstone_Build_Justification_and_Presentation\02_capstone_validation_notes.md`</a:t>
            </a:r>
          </a:p>
          <a:p>
            <a:br>
              <a:rPr lang="en-US" sz="1300" dirty="0"/>
            </a:br>
            <a:r>
              <a:rPr lang="en-US" sz="1300" dirty="0"/>
              <a:t>Run the validation example and connect it to `02_capstone_validation_notes.md`.</a:t>
            </a:r>
          </a:p>
          <a:p>
            <a:br>
              <a:rPr lang="en-US" sz="1300" dirty="0"/>
            </a:br>
            <a:r>
              <a:rPr lang="en-US" sz="1300" b="1" dirty="0"/>
              <a:t>**Demo Connection:**</a:t>
            </a:r>
            <a:endParaRPr lang="en-US" sz="1300" dirty="0"/>
          </a:p>
          <a:p>
            <a:r>
              <a:rPr lang="en-US" sz="1300" dirty="0"/>
              <a:t>Primary demo files: </a:t>
            </a:r>
          </a:p>
          <a:p>
            <a:pPr marL="181240" indent="-181240">
              <a:buFontTx/>
              <a:buChar char="-"/>
            </a:pPr>
            <a:r>
              <a:rPr lang="en-US" sz="1300" dirty="0"/>
              <a:t>`01_capstone_validation_example.py`,</a:t>
            </a:r>
          </a:p>
          <a:p>
            <a:pPr marL="181240" indent="-181240">
              <a:buFontTx/>
              <a:buChar char="-"/>
            </a:pPr>
            <a:r>
              <a:rPr lang="en-US" sz="1300" dirty="0"/>
              <a:t>`02_capstone_validation_notes.md`</a:t>
            </a:r>
          </a:p>
          <a:p>
            <a:endParaRPr lang="en-US" sz="1300" dirty="0"/>
          </a:p>
          <a:p>
            <a:r>
              <a:rPr lang="en-US" sz="1300" b="1" dirty="0"/>
              <a:t>**Transition Cue:**</a:t>
            </a:r>
            <a:endParaRPr lang="en-US" sz="1300" dirty="0"/>
          </a:p>
          <a:p>
            <a:r>
              <a:rPr lang="en-US" sz="1300" dirty="0"/>
              <a:t>After showing evidence, show the support artifact that helps someone else run the project.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16</a:t>
            </a:fld>
            <a:endParaRPr lang="en-US"/>
          </a:p>
        </p:txBody>
      </p:sp>
    </p:spTree>
    <p:extLst>
      <p:ext uri="{BB962C8B-B14F-4D97-AF65-F5344CB8AC3E}">
        <p14:creationId xmlns:p14="http://schemas.microsoft.com/office/powerpoint/2010/main" val="2535117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09DD7-529A-2442-6DB7-42873100D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3DCCD-9EC1-D8AE-B585-767543C63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7DCB8-6C92-3EA0-1A1B-110F17813A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96D003-A3CA-0595-AA9C-D4F6E1D4CC37}"/>
              </a:ext>
            </a:extLst>
          </p:cNvPr>
          <p:cNvSpPr>
            <a:spLocks noGrp="1"/>
          </p:cNvSpPr>
          <p:nvPr>
            <p:ph type="sldNum" sz="quarter" idx="5"/>
          </p:nvPr>
        </p:nvSpPr>
        <p:spPr/>
        <p:txBody>
          <a:bodyPr/>
          <a:lstStyle/>
          <a:p>
            <a:fld id="{1916ACA2-47E6-42D2-BEC8-EDC49A1A9FA1}" type="slidenum">
              <a:rPr lang="en-US" smtClean="0"/>
              <a:t>17</a:t>
            </a:fld>
            <a:endParaRPr lang="en-US"/>
          </a:p>
        </p:txBody>
      </p:sp>
    </p:spTree>
    <p:extLst>
      <p:ext uri="{BB962C8B-B14F-4D97-AF65-F5344CB8AC3E}">
        <p14:creationId xmlns:p14="http://schemas.microsoft.com/office/powerpoint/2010/main" val="3314957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Use with </a:t>
            </a:r>
            <a:r>
              <a:rPr lang="en-US" sz="1300" b="1" dirty="0"/>
              <a:t>(markdown artifact):</a:t>
            </a:r>
          </a:p>
          <a:p>
            <a:r>
              <a:rPr lang="en-US" sz="1300" i="1" dirty="0"/>
              <a:t>`\Demos\Week_08_Capstone_Build_Justification_and_Presentation\06_run_instructions_example.md`</a:t>
            </a:r>
          </a:p>
          <a:p>
            <a:br>
              <a:rPr lang="en-US" sz="1300" dirty="0"/>
            </a:br>
            <a:r>
              <a:rPr lang="en-US" sz="1300" dirty="0"/>
              <a:t>Show `06_run_instructions_example.md`.</a:t>
            </a:r>
          </a:p>
          <a:p>
            <a:endParaRPr lang="en-US" sz="1300" dirty="0"/>
          </a:p>
          <a:p>
            <a:r>
              <a:rPr lang="en-US" sz="1300" dirty="0"/>
              <a:t>Optional preview if useful </a:t>
            </a:r>
            <a:r>
              <a:rPr lang="en-US" sz="1300" b="1" dirty="0"/>
              <a:t>(markdown artifact):</a:t>
            </a:r>
          </a:p>
          <a:p>
            <a:r>
              <a:rPr lang="en-US" sz="1300" i="1" dirty="0"/>
              <a:t>`\Demos\Week_08_Capstone_Build_Justification_and_Presentation\03_ai_use_justification_example.md`</a:t>
            </a:r>
          </a:p>
          <a:p>
            <a:br>
              <a:rPr lang="en-US" sz="1300" dirty="0"/>
            </a:br>
            <a:r>
              <a:rPr lang="en-US" sz="1300" b="1" dirty="0"/>
              <a:t>**Demo Connection:**</a:t>
            </a:r>
            <a:endParaRPr lang="en-US" sz="1300" dirty="0"/>
          </a:p>
          <a:p>
            <a:r>
              <a:rPr lang="en-US" sz="1300" dirty="0"/>
              <a:t>Primary demo artifact: `06_run_instructions_example.md`</a:t>
            </a:r>
          </a:p>
          <a:p>
            <a:endParaRPr lang="en-US" sz="1300" dirty="0"/>
          </a:p>
          <a:p>
            <a:r>
              <a:rPr lang="en-US" sz="1300" b="1" dirty="0"/>
              <a:t>**Transition Cue:**</a:t>
            </a:r>
            <a:endParaRPr lang="en-US" sz="1300" dirty="0"/>
          </a:p>
          <a:p>
            <a:r>
              <a:rPr lang="en-US" sz="1300" dirty="0"/>
              <a:t>Now convert the examples into the A15 build checklist students should use during work time.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18</a:t>
            </a:fld>
            <a:endParaRPr lang="en-US"/>
          </a:p>
        </p:txBody>
      </p:sp>
    </p:spTree>
    <p:extLst>
      <p:ext uri="{BB962C8B-B14F-4D97-AF65-F5344CB8AC3E}">
        <p14:creationId xmlns:p14="http://schemas.microsoft.com/office/powerpoint/2010/main" val="3946725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94AED-DC28-A056-D041-8B1FA1949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30E3E-0694-1928-87AF-204547E37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34A07-F271-D0AC-07DB-275E95D7AA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3A3C1B-A8AD-FF5B-46DB-704E781B19B4}"/>
              </a:ext>
            </a:extLst>
          </p:cNvPr>
          <p:cNvSpPr>
            <a:spLocks noGrp="1"/>
          </p:cNvSpPr>
          <p:nvPr>
            <p:ph type="sldNum" sz="quarter" idx="5"/>
          </p:nvPr>
        </p:nvSpPr>
        <p:spPr/>
        <p:txBody>
          <a:bodyPr/>
          <a:lstStyle/>
          <a:p>
            <a:fld id="{1916ACA2-47E6-42D2-BEC8-EDC49A1A9FA1}" type="slidenum">
              <a:rPr lang="en-US" smtClean="0"/>
              <a:t>19</a:t>
            </a:fld>
            <a:endParaRPr lang="en-US"/>
          </a:p>
        </p:txBody>
      </p:sp>
    </p:spTree>
    <p:extLst>
      <p:ext uri="{BB962C8B-B14F-4D97-AF65-F5344CB8AC3E}">
        <p14:creationId xmlns:p14="http://schemas.microsoft.com/office/powerpoint/2010/main" val="1226529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This is the transition into work time.</a:t>
            </a:r>
          </a:p>
          <a:p>
            <a:endParaRPr lang="en-US" sz="1300" dirty="0"/>
          </a:p>
          <a:p>
            <a:r>
              <a:rPr lang="en-US" sz="1300" b="1" dirty="0"/>
              <a:t>**Transition Cue:**</a:t>
            </a:r>
            <a:endParaRPr lang="en-US" sz="1300" dirty="0"/>
          </a:p>
          <a:p>
            <a:r>
              <a:rPr lang="en-US" sz="1300" dirty="0"/>
              <a:t>Make the immediate target small enough that students can act on it before class ends.</a:t>
            </a:r>
          </a:p>
        </p:txBody>
      </p:sp>
      <p:sp>
        <p:nvSpPr>
          <p:cNvPr id="4" name="Slide Number Placeholder 3"/>
          <p:cNvSpPr>
            <a:spLocks noGrp="1"/>
          </p:cNvSpPr>
          <p:nvPr>
            <p:ph type="sldNum" sz="quarter" idx="5"/>
          </p:nvPr>
        </p:nvSpPr>
        <p:spPr/>
        <p:txBody>
          <a:bodyPr/>
          <a:lstStyle/>
          <a:p>
            <a:fld id="{1916ACA2-47E6-42D2-BEC8-EDC49A1A9FA1}" type="slidenum">
              <a:rPr lang="en-US" smtClean="0"/>
              <a:t>20</a:t>
            </a:fld>
            <a:endParaRPr lang="en-US"/>
          </a:p>
        </p:txBody>
      </p:sp>
    </p:spTree>
    <p:extLst>
      <p:ext uri="{BB962C8B-B14F-4D97-AF65-F5344CB8AC3E}">
        <p14:creationId xmlns:p14="http://schemas.microsoft.com/office/powerpoint/2010/main" val="3086166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This gives a realistic day-one finish line.</a:t>
            </a:r>
          </a:p>
          <a:p>
            <a:endParaRPr lang="en-US" sz="1300" dirty="0"/>
          </a:p>
          <a:p>
            <a:r>
              <a:rPr lang="en-US" sz="1300" b="1" dirty="0"/>
              <a:t>**Transition Cue:**</a:t>
            </a:r>
            <a:endParaRPr lang="en-US" sz="1300" dirty="0"/>
          </a:p>
          <a:p>
            <a:r>
              <a:rPr lang="en-US" sz="1300" dirty="0"/>
              <a:t>Close quickly so students can move into build work with a concrete target.</a:t>
            </a:r>
          </a:p>
        </p:txBody>
      </p:sp>
      <p:sp>
        <p:nvSpPr>
          <p:cNvPr id="4" name="Slide Number Placeholder 3"/>
          <p:cNvSpPr>
            <a:spLocks noGrp="1"/>
          </p:cNvSpPr>
          <p:nvPr>
            <p:ph type="sldNum" sz="quarter" idx="5"/>
          </p:nvPr>
        </p:nvSpPr>
        <p:spPr/>
        <p:txBody>
          <a:bodyPr/>
          <a:lstStyle/>
          <a:p>
            <a:fld id="{1916ACA2-47E6-42D2-BEC8-EDC49A1A9FA1}" type="slidenum">
              <a:rPr lang="en-US" smtClean="0"/>
              <a:t>21</a:t>
            </a:fld>
            <a:endParaRPr lang="en-US"/>
          </a:p>
        </p:txBody>
      </p:sp>
    </p:spTree>
    <p:extLst>
      <p:ext uri="{BB962C8B-B14F-4D97-AF65-F5344CB8AC3E}">
        <p14:creationId xmlns:p14="http://schemas.microsoft.com/office/powerpoint/2010/main" val="226912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2C1C-D581-E9ED-19BA-0AAD6DA34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3CF52-5A76-1088-502B-D2E73ABA6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DF764-47B4-CF1B-5C61-38DA447424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D7B81C-F2B5-07A2-AD3B-5246F3BD6D48}"/>
              </a:ext>
            </a:extLst>
          </p:cNvPr>
          <p:cNvSpPr>
            <a:spLocks noGrp="1"/>
          </p:cNvSpPr>
          <p:nvPr>
            <p:ph type="sldNum" sz="quarter" idx="5"/>
          </p:nvPr>
        </p:nvSpPr>
        <p:spPr/>
        <p:txBody>
          <a:bodyPr/>
          <a:lstStyle/>
          <a:p>
            <a:fld id="{1916ACA2-47E6-42D2-BEC8-EDC49A1A9FA1}" type="slidenum">
              <a:rPr lang="en-US" smtClean="0"/>
              <a:t>22</a:t>
            </a:fld>
            <a:endParaRPr lang="en-US"/>
          </a:p>
        </p:txBody>
      </p:sp>
    </p:spTree>
    <p:extLst>
      <p:ext uri="{BB962C8B-B14F-4D97-AF65-F5344CB8AC3E}">
        <p14:creationId xmlns:p14="http://schemas.microsoft.com/office/powerpoint/2010/main" val="104948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Close quickly and move to build support.</a:t>
            </a:r>
          </a:p>
        </p:txBody>
      </p:sp>
      <p:sp>
        <p:nvSpPr>
          <p:cNvPr id="4" name="Slide Number Placeholder 3"/>
          <p:cNvSpPr>
            <a:spLocks noGrp="1"/>
          </p:cNvSpPr>
          <p:nvPr>
            <p:ph type="sldNum" sz="quarter" idx="5"/>
          </p:nvPr>
        </p:nvSpPr>
        <p:spPr/>
        <p:txBody>
          <a:bodyPr/>
          <a:lstStyle/>
          <a:p>
            <a:fld id="{1916ACA2-47E6-42D2-BEC8-EDC49A1A9FA1}" type="slidenum">
              <a:rPr lang="en-US" smtClean="0"/>
              <a:t>23</a:t>
            </a:fld>
            <a:endParaRPr lang="en-US"/>
          </a:p>
        </p:txBody>
      </p:sp>
    </p:spTree>
    <p:extLst>
      <p:ext uri="{BB962C8B-B14F-4D97-AF65-F5344CB8AC3E}">
        <p14:creationId xmlns:p14="http://schemas.microsoft.com/office/powerpoint/2010/main" val="269333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B1184-3C9C-078A-D7D8-FE5C69D12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9797-48FB-68E7-98B2-21B839291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F3EB6-D4AC-46DE-D9E9-4AFC9D60E8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FC965-8658-638A-9AB3-31CAB8B640E0}"/>
              </a:ext>
            </a:extLst>
          </p:cNvPr>
          <p:cNvSpPr>
            <a:spLocks noGrp="1"/>
          </p:cNvSpPr>
          <p:nvPr>
            <p:ph type="sldNum" sz="quarter" idx="5"/>
          </p:nvPr>
        </p:nvSpPr>
        <p:spPr/>
        <p:txBody>
          <a:bodyPr/>
          <a:lstStyle/>
          <a:p>
            <a:fld id="{1916ACA2-47E6-42D2-BEC8-EDC49A1A9FA1}" type="slidenum">
              <a:rPr lang="en-US" smtClean="0"/>
              <a:t>24</a:t>
            </a:fld>
            <a:endParaRPr lang="en-US"/>
          </a:p>
        </p:txBody>
      </p:sp>
    </p:spTree>
    <p:extLst>
      <p:ext uri="{BB962C8B-B14F-4D97-AF65-F5344CB8AC3E}">
        <p14:creationId xmlns:p14="http://schemas.microsoft.com/office/powerpoint/2010/main" val="35600324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25</a:t>
            </a:fld>
            <a:endParaRPr lang="en-US"/>
          </a:p>
        </p:txBody>
      </p:sp>
    </p:spTree>
    <p:extLst>
      <p:ext uri="{BB962C8B-B14F-4D97-AF65-F5344CB8AC3E}">
        <p14:creationId xmlns:p14="http://schemas.microsoft.com/office/powerpoint/2010/main" val="2384196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6/21/2026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1"/><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rawpixel.com/image/65575/survey-feedback-accountant-aerial-view-business-calculator-check-checklist-choice-coffee-computatio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a:xfrm>
            <a:off x="1130595" y="1358537"/>
            <a:ext cx="5826719" cy="2692299"/>
          </a:xfrm>
        </p:spPr>
        <p:txBody>
          <a:bodyPr/>
          <a:lstStyle/>
          <a:p>
            <a:r>
              <a:rPr lang="en-US" dirty="0"/>
              <a:t>Python Programming Foundations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Week 8 – Capstone Build, Justification, &amp; Presentation</a:t>
            </a:r>
          </a:p>
          <a:p>
            <a:r>
              <a:rPr lang="en-US" i="1" dirty="0"/>
              <a:t>Day 1: “Build Expectations &amp; </a:t>
            </a:r>
            <a:r>
              <a:rPr lang="en-US" i="1"/>
              <a:t>Validation Evidence”</a:t>
            </a:r>
            <a:endParaRPr lang="en-US" i="1" dirty="0"/>
          </a:p>
        </p:txBody>
      </p:sp>
    </p:spTree>
    <p:extLst>
      <p:ext uri="{BB962C8B-B14F-4D97-AF65-F5344CB8AC3E}">
        <p14:creationId xmlns:p14="http://schemas.microsoft.com/office/powerpoint/2010/main" val="379502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7CF09-D137-CA8E-0A55-4B8FCC422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ECD5E-8F7A-56AD-527A-0FDBC8618643}"/>
              </a:ext>
            </a:extLst>
          </p:cNvPr>
          <p:cNvSpPr>
            <a:spLocks noGrp="1"/>
          </p:cNvSpPr>
          <p:nvPr>
            <p:ph type="title"/>
          </p:nvPr>
        </p:nvSpPr>
        <p:spPr/>
        <p:txBody>
          <a:bodyPr/>
          <a:lstStyle/>
          <a:p>
            <a:r>
              <a:rPr lang="en-US" dirty="0"/>
              <a:t>Finishing Code Is Not Enough</a:t>
            </a:r>
          </a:p>
        </p:txBody>
      </p:sp>
      <p:graphicFrame>
        <p:nvGraphicFramePr>
          <p:cNvPr id="7" name="Content Placeholder 2">
            <a:extLst>
              <a:ext uri="{FF2B5EF4-FFF2-40B4-BE49-F238E27FC236}">
                <a16:creationId xmlns:a16="http://schemas.microsoft.com/office/drawing/2014/main" id="{FD8CBB9B-E024-4519-503F-F8CAD44FA003}"/>
              </a:ext>
            </a:extLst>
          </p:cNvPr>
          <p:cNvGraphicFramePr>
            <a:graphicFrameLocks noGrp="1"/>
          </p:cNvGraphicFramePr>
          <p:nvPr>
            <p:ph idx="1"/>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0614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410D77-E7C1-DDF5-0FD1-14A5194BF474}"/>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Finishing Code Is Not Enough</a:t>
            </a:r>
          </a:p>
        </p:txBody>
      </p:sp>
      <p:pic>
        <p:nvPicPr>
          <p:cNvPr id="5" name="Picture Placeholder 4" descr="Screenshot comparison of two code execution outputs demonstrating data processing methods. Left side shows standard run with total records and amount, while right side includes evidence flag, saving validation package with green checkmark and confirmation message for reproducibility and review.">
            <a:extLst>
              <a:ext uri="{FF2B5EF4-FFF2-40B4-BE49-F238E27FC236}">
                <a16:creationId xmlns:a16="http://schemas.microsoft.com/office/drawing/2014/main" id="{FE9FAB8E-8C59-37B4-527A-DBCBF7FE168A}"/>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78300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AE7D7-0CEB-F126-08CD-348C3A2A8808}"/>
              </a:ext>
            </a:extLst>
          </p:cNvPr>
          <p:cNvSpPr>
            <a:spLocks noGrp="1"/>
          </p:cNvSpPr>
          <p:nvPr>
            <p:ph type="title"/>
          </p:nvPr>
        </p:nvSpPr>
        <p:spPr>
          <a:xfrm>
            <a:off x="4152550" y="609600"/>
            <a:ext cx="2802951" cy="1320800"/>
          </a:xfrm>
        </p:spPr>
        <p:txBody>
          <a:bodyPr>
            <a:normAutofit/>
          </a:bodyPr>
          <a:lstStyle/>
          <a:p>
            <a:pPr>
              <a:lnSpc>
                <a:spcPct val="90000"/>
              </a:lnSpc>
            </a:pPr>
            <a:r>
              <a:rPr lang="en-US" sz="2800" dirty="0"/>
              <a:t>From Approved Scope To Build Evidence</a:t>
            </a:r>
            <a:endParaRPr lang="en-US" sz="2500" dirty="0"/>
          </a:p>
        </p:txBody>
      </p:sp>
      <p:sp>
        <p:nvSpPr>
          <p:cNvPr id="3" name="Content Placeholder 2">
            <a:extLst>
              <a:ext uri="{FF2B5EF4-FFF2-40B4-BE49-F238E27FC236}">
                <a16:creationId xmlns:a16="http://schemas.microsoft.com/office/drawing/2014/main" id="{27B93D39-026B-C61D-D6A3-14087848421B}"/>
              </a:ext>
            </a:extLst>
          </p:cNvPr>
          <p:cNvSpPr>
            <a:spLocks noGrp="1"/>
          </p:cNvSpPr>
          <p:nvPr>
            <p:ph idx="1"/>
          </p:nvPr>
        </p:nvSpPr>
        <p:spPr>
          <a:xfrm>
            <a:off x="3907172" y="2160589"/>
            <a:ext cx="3551719" cy="3880773"/>
          </a:xfrm>
        </p:spPr>
        <p:txBody>
          <a:bodyPr>
            <a:normAutofit/>
          </a:bodyPr>
          <a:lstStyle/>
          <a:p>
            <a:r>
              <a:rPr lang="en-US" dirty="0"/>
              <a:t>Week 7 approved the project direction.</a:t>
            </a:r>
          </a:p>
          <a:p>
            <a:endParaRPr lang="en-US" dirty="0"/>
          </a:p>
          <a:p>
            <a:r>
              <a:rPr lang="en-US" dirty="0"/>
              <a:t>Week 8 asks: what did you build, how do you know it works, and how can someone else understand how to run it?</a:t>
            </a:r>
          </a:p>
        </p:txBody>
      </p:sp>
      <p:pic>
        <p:nvPicPr>
          <p:cNvPr id="5" name="Picture 4">
            <a:extLst>
              <a:ext uri="{FF2B5EF4-FFF2-40B4-BE49-F238E27FC236}">
                <a16:creationId xmlns:a16="http://schemas.microsoft.com/office/drawing/2014/main" id="{77C0D926-DDB4-ABA2-F676-65368B8023E4}"/>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rcRect l="27870" r="32601"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40" name="Isosceles Triangle 3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3449644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1AA6E-ED45-F191-758F-C31D0AA87B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7F1677C-470A-A7FB-CABB-3B65C8A3C79F}"/>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From Approved Scope To Build Evidence</a:t>
            </a:r>
          </a:p>
        </p:txBody>
      </p:sp>
      <p:pic>
        <p:nvPicPr>
          <p:cNvPr id="5" name="Picture Placeholder 4" descr="Flowchart diagram illustrating three-step process from approved scope to building evidence for project readiness. Steps include defining clear goals and boundaries in blue, demonstrating core behavior and key logic in green, and providing proof with files, instructions, and results in purple, with a concluding note confirming project readiness.">
            <a:extLst>
              <a:ext uri="{FF2B5EF4-FFF2-40B4-BE49-F238E27FC236}">
                <a16:creationId xmlns:a16="http://schemas.microsoft.com/office/drawing/2014/main" id="{21714F03-C017-9943-439C-00AE9E46C1AA}"/>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193240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5"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6" name="Isosceles Triangle 15">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7"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sp>
        <p:nvSpPr>
          <p:cNvPr id="2" name="Title 1">
            <a:extLst>
              <a:ext uri="{FF2B5EF4-FFF2-40B4-BE49-F238E27FC236}">
                <a16:creationId xmlns:a16="http://schemas.microsoft.com/office/drawing/2014/main" id="{B5BB2258-2A42-7358-855B-3C842DFCA6C1}"/>
              </a:ext>
            </a:extLst>
          </p:cNvPr>
          <p:cNvSpPr>
            <a:spLocks noGrp="1"/>
          </p:cNvSpPr>
          <p:nvPr>
            <p:ph type="title"/>
          </p:nvPr>
        </p:nvSpPr>
        <p:spPr>
          <a:xfrm>
            <a:off x="489360" y="1382486"/>
            <a:ext cx="2660686" cy="4093028"/>
          </a:xfrm>
        </p:spPr>
        <p:txBody>
          <a:bodyPr anchor="ctr">
            <a:normAutofit/>
          </a:bodyPr>
          <a:lstStyle/>
          <a:p>
            <a:r>
              <a:rPr lang="en-US" sz="3800" dirty="0"/>
              <a:t>What Counts as Success Today</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aphicFrame>
        <p:nvGraphicFramePr>
          <p:cNvPr id="5" name="Content Placeholder 2">
            <a:extLst>
              <a:ext uri="{FF2B5EF4-FFF2-40B4-BE49-F238E27FC236}">
                <a16:creationId xmlns:a16="http://schemas.microsoft.com/office/drawing/2014/main" id="{4E8FB340-C6CC-FE68-2C30-7F4BB19196CF}"/>
              </a:ext>
            </a:extLst>
          </p:cNvPr>
          <p:cNvGraphicFramePr>
            <a:graphicFrameLocks noGrp="1"/>
          </p:cNvGraphicFramePr>
          <p:nvPr>
            <p:ph idx="1"/>
            <p:extLst>
              <p:ext uri="{D42A27DB-BD31-4B8C-83A1-F6EECF244321}">
                <p14:modId xmlns:p14="http://schemas.microsoft.com/office/powerpoint/2010/main" val="1989056105"/>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2066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A505-E097-BF62-68FE-AAE5156915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0515F31-6634-6C83-94BB-F47DC22A5743}"/>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Today's Success</a:t>
            </a:r>
          </a:p>
        </p:txBody>
      </p:sp>
      <p:pic>
        <p:nvPicPr>
          <p:cNvPr id="5" name="Picture Placeholder 4" descr="A flowchart outlines a six-step Capstone Build Success Pattern for completing projects within approved scope, emphasizing clarity and confidence in explanation. Steps include staying inside scope, identifying core behavior, validating with evidence, preserving run instructions, recording AI help, and preparing to explain, each accompanied by icons, brief instructions, and color-coded sections from blue to green to yellow.">
            <a:extLst>
              <a:ext uri="{FF2B5EF4-FFF2-40B4-BE49-F238E27FC236}">
                <a16:creationId xmlns:a16="http://schemas.microsoft.com/office/drawing/2014/main" id="{CD9B43D9-08EB-01D5-EE5E-5618CD1F5595}"/>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2846931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7" name="Picture 6" descr="Photograph showing a close-up of a pipette dispensing blue liquid into a well plate used for laboratory experiments. The well plate is labeled with numbers and letters, indicating sample positions for testing or analysis.">
            <a:extLst>
              <a:ext uri="{FF2B5EF4-FFF2-40B4-BE49-F238E27FC236}">
                <a16:creationId xmlns:a16="http://schemas.microsoft.com/office/drawing/2014/main" id="{539DB551-9D8C-3A17-C3EC-62E156F2B654}"/>
              </a:ext>
            </a:extLst>
          </p:cNvPr>
          <p:cNvPicPr>
            <a:picLocks noChangeAspect="1"/>
          </p:cNvPicPr>
          <p:nvPr/>
        </p:nvPicPr>
        <p:blipFill>
          <a:blip r:embed="rId2">
            <a:duotone>
              <a:prstClr val="black"/>
              <a:prstClr val="white"/>
            </a:duotone>
          </a:blip>
          <a:srcRect l="31497" r="16655" b="-2"/>
          <a:stretch>
            <a:fillRect/>
          </a:stretch>
        </p:blipFill>
        <p:spPr>
          <a:xfrm>
            <a:off x="3814762" y="-1"/>
            <a:ext cx="5326856" cy="6858001"/>
          </a:xfrm>
          <a:custGeom>
            <a:avLst/>
            <a:gdLst/>
            <a:ahLst/>
            <a:cxnLst/>
            <a:rect l="l" t="t" r="r" b="b"/>
            <a:pathLst>
              <a:path w="7102474" h="6858001">
                <a:moveTo>
                  <a:pt x="417180" y="0"/>
                </a:moveTo>
                <a:lnTo>
                  <a:pt x="7102474" y="0"/>
                </a:lnTo>
                <a:lnTo>
                  <a:pt x="7102474" y="6858001"/>
                </a:lnTo>
                <a:lnTo>
                  <a:pt x="65002" y="6858001"/>
                </a:lnTo>
                <a:lnTo>
                  <a:pt x="1840421" y="4521201"/>
                </a:lnTo>
                <a:close/>
                <a:moveTo>
                  <a:pt x="0" y="0"/>
                </a:moveTo>
                <a:lnTo>
                  <a:pt x="417180" y="0"/>
                </a:lnTo>
                <a:lnTo>
                  <a:pt x="0" y="447"/>
                </a:lnTo>
                <a:close/>
              </a:path>
            </a:pathLst>
          </a:custGeom>
        </p:spPr>
      </p:pic>
      <p:sp>
        <p:nvSpPr>
          <p:cNvPr id="4" name="Title 3">
            <a:extLst>
              <a:ext uri="{FF2B5EF4-FFF2-40B4-BE49-F238E27FC236}">
                <a16:creationId xmlns:a16="http://schemas.microsoft.com/office/drawing/2014/main" id="{6BFF8A41-8161-7F2E-C384-3F6C3C17B0AD}"/>
              </a:ext>
            </a:extLst>
          </p:cNvPr>
          <p:cNvSpPr>
            <a:spLocks noGrp="1"/>
          </p:cNvSpPr>
          <p:nvPr>
            <p:ph type="title"/>
          </p:nvPr>
        </p:nvSpPr>
        <p:spPr>
          <a:xfrm>
            <a:off x="501649" y="1678666"/>
            <a:ext cx="3842636" cy="2369093"/>
          </a:xfrm>
        </p:spPr>
        <p:txBody>
          <a:bodyPr vert="horz" lIns="91440" tIns="45720" rIns="91440" bIns="45720" rtlCol="0" anchor="b">
            <a:normAutofit/>
          </a:bodyPr>
          <a:lstStyle/>
          <a:p>
            <a:pPr algn="r"/>
            <a:r>
              <a:rPr lang="en-US" sz="4200" dirty="0"/>
              <a:t>Capstone Test</a:t>
            </a:r>
          </a:p>
        </p:txBody>
      </p:sp>
      <p:cxnSp>
        <p:nvCxnSpPr>
          <p:cNvPr id="23" name="Straight Connector 22">
            <a:extLst>
              <a:ext uri="{FF2B5EF4-FFF2-40B4-BE49-F238E27FC236}">
                <a16:creationId xmlns:a16="http://schemas.microsoft.com/office/drawing/2014/main" id="{A3D2D849-17D8-45A4-9FB8-B955CD22BD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A0A4A95-757B-4092-A077-CA7C3ADE49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D2FAE71-B8B1-4745-A59A-A88D3FE48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5">
            <a:extLst>
              <a:ext uri="{FF2B5EF4-FFF2-40B4-BE49-F238E27FC236}">
                <a16:creationId xmlns:a16="http://schemas.microsoft.com/office/drawing/2014/main" id="{E4C67344-C816-4380-85F7-CCFD7F8BA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24">
            <a:extLst>
              <a:ext uri="{FF2B5EF4-FFF2-40B4-BE49-F238E27FC236}">
                <a16:creationId xmlns:a16="http://schemas.microsoft.com/office/drawing/2014/main" id="{5A0B04CD-E5BD-4922-BE66-2D5B3A0DEF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7">
            <a:extLst>
              <a:ext uri="{FF2B5EF4-FFF2-40B4-BE49-F238E27FC236}">
                <a16:creationId xmlns:a16="http://schemas.microsoft.com/office/drawing/2014/main" id="{CF4C9BE8-5C78-476D-9042-ECD8BE635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8">
            <a:extLst>
              <a:ext uri="{FF2B5EF4-FFF2-40B4-BE49-F238E27FC236}">
                <a16:creationId xmlns:a16="http://schemas.microsoft.com/office/drawing/2014/main" id="{7D6A31B3-BF49-4DB2-8306-DD2E4B889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9">
            <a:extLst>
              <a:ext uri="{FF2B5EF4-FFF2-40B4-BE49-F238E27FC236}">
                <a16:creationId xmlns:a16="http://schemas.microsoft.com/office/drawing/2014/main" id="{A903E87B-DD97-4095-B106-3218D6AF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29">
            <a:extLst>
              <a:ext uri="{FF2B5EF4-FFF2-40B4-BE49-F238E27FC236}">
                <a16:creationId xmlns:a16="http://schemas.microsoft.com/office/drawing/2014/main" id="{954CB26F-45F0-4288-A3B1-32535127B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56371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FD963D-986F-1524-594C-94C6FC56FAA6}"/>
              </a:ext>
            </a:extLst>
          </p:cNvPr>
          <p:cNvSpPr>
            <a:spLocks noGrp="1"/>
          </p:cNvSpPr>
          <p:nvPr>
            <p:ph type="title"/>
          </p:nvPr>
        </p:nvSpPr>
        <p:spPr>
          <a:xfrm>
            <a:off x="2089535" y="609600"/>
            <a:ext cx="4865966" cy="1320800"/>
          </a:xfrm>
        </p:spPr>
        <p:txBody>
          <a:bodyPr>
            <a:normAutofit/>
          </a:bodyPr>
          <a:lstStyle/>
          <a:p>
            <a:r>
              <a:rPr lang="en-US" dirty="0"/>
              <a:t>Evidence Can Be Small And Real</a:t>
            </a:r>
          </a:p>
        </p:txBody>
      </p:sp>
      <p:pic>
        <p:nvPicPr>
          <p:cNvPr id="7" name="Picture 6">
            <a:extLst>
              <a:ext uri="{FF2B5EF4-FFF2-40B4-BE49-F238E27FC236}">
                <a16:creationId xmlns:a16="http://schemas.microsoft.com/office/drawing/2014/main" id="{0D14B98D-D87E-F8F4-3369-DE349322DDE1}"/>
              </a:ext>
              <a:ext uri="{C183D7F6-B498-43B3-948B-1728B52AA6E4}">
                <adec:decorative xmlns:adec="http://schemas.microsoft.com/office/drawing/2017/decorative" val="1"/>
              </a:ext>
            </a:extLst>
          </p:cNvPr>
          <p:cNvPicPr>
            <a:picLocks noChangeAspect="1"/>
          </p:cNvPicPr>
          <p:nvPr/>
        </p:nvPicPr>
        <p:blipFill>
          <a:blip r:embed="rId3">
            <a:duotone>
              <a:prstClr val="black"/>
              <a:schemeClr val="tx2">
                <a:tint val="45000"/>
                <a:satMod val="400000"/>
              </a:schemeClr>
            </a:duotone>
          </a:blip>
          <a:srcRect l="54085" r="28023" b="-1"/>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1" name="Isosceles Triangle 10">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3601FA2D-2385-DABD-516E-8A2F33DC13D1}"/>
              </a:ext>
            </a:extLst>
          </p:cNvPr>
          <p:cNvSpPr>
            <a:spLocks noGrp="1"/>
          </p:cNvSpPr>
          <p:nvPr>
            <p:ph idx="1"/>
          </p:nvPr>
        </p:nvSpPr>
        <p:spPr>
          <a:xfrm>
            <a:off x="2089535" y="2160589"/>
            <a:ext cx="4865966" cy="3880773"/>
          </a:xfrm>
        </p:spPr>
        <p:txBody>
          <a:bodyPr>
            <a:normAutofit/>
          </a:bodyPr>
          <a:lstStyle/>
          <a:p>
            <a:pPr marL="0" indent="0">
              <a:buNone/>
            </a:pPr>
            <a:r>
              <a:rPr lang="en-US" dirty="0"/>
              <a:t>Validation evidence can be simple:</a:t>
            </a:r>
          </a:p>
          <a:p>
            <a:r>
              <a:rPr lang="en-US" dirty="0"/>
              <a:t>expected versus actual output</a:t>
            </a:r>
          </a:p>
          <a:p>
            <a:r>
              <a:rPr lang="en-US" dirty="0"/>
              <a:t>one successful run</a:t>
            </a:r>
          </a:p>
          <a:p>
            <a:r>
              <a:rPr lang="en-US" dirty="0"/>
              <a:t>one boundary or error case</a:t>
            </a:r>
          </a:p>
          <a:p>
            <a:r>
              <a:rPr lang="en-US" dirty="0"/>
              <a:t>short validation note</a:t>
            </a:r>
          </a:p>
          <a:p>
            <a:r>
              <a:rPr lang="en-US" dirty="0"/>
              <a:t>screenshot or copied console output if required</a:t>
            </a:r>
          </a:p>
          <a:p>
            <a:pPr marL="0" indent="0">
              <a:buNone/>
            </a:pPr>
            <a:endParaRPr lang="en-US" dirty="0"/>
          </a:p>
          <a:p>
            <a:pPr marL="0" indent="0">
              <a:buNone/>
            </a:pPr>
            <a:r>
              <a:rPr lang="en-US" dirty="0"/>
              <a:t>Small evidence is acceptable when it is real.</a:t>
            </a:r>
          </a:p>
        </p:txBody>
      </p:sp>
    </p:spTree>
    <p:extLst>
      <p:ext uri="{BB962C8B-B14F-4D97-AF65-F5344CB8AC3E}">
        <p14:creationId xmlns:p14="http://schemas.microsoft.com/office/powerpoint/2010/main" val="2276312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B382B-F922-4971-8497-DF49BEDBA17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5B73AE-8EBF-76EB-BAC0-5F89E8B18CCB}"/>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Evidence Can Be </a:t>
            </a:r>
            <a:br>
              <a:rPr lang="en-US" sz="4200" dirty="0"/>
            </a:br>
            <a:r>
              <a:rPr lang="en-US" sz="4200" dirty="0"/>
              <a:t>Small And Real</a:t>
            </a:r>
          </a:p>
        </p:txBody>
      </p:sp>
      <p:pic>
        <p:nvPicPr>
          <p:cNvPr id="5" name="Picture Placeholder 4" descr="A diagram titled &quot;Validation in Three Simple Ways&quot; illustrating three methods: Expected vs Actual, Successful Run, and Boundary Check, each with color-coded sections and example outputs. It highlights comparing expected and actual results, confirming program completion with correct output, and testing edge cases for input limits, emphasizing validation steps in programming.">
            <a:extLst>
              <a:ext uri="{FF2B5EF4-FFF2-40B4-BE49-F238E27FC236}">
                <a16:creationId xmlns:a16="http://schemas.microsoft.com/office/drawing/2014/main" id="{B9BE3D39-A27B-3224-1E34-A7678CA8DD1A}"/>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20737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392C2A-2813-FD63-7AD4-E0FE9D82ED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1AD168-90B7-65C8-E4E2-2A82C87F17EE}"/>
              </a:ext>
            </a:extLst>
          </p:cNvPr>
          <p:cNvSpPr>
            <a:spLocks noGrp="1"/>
          </p:cNvSpPr>
          <p:nvPr>
            <p:ph type="title"/>
          </p:nvPr>
        </p:nvSpPr>
        <p:spPr>
          <a:xfrm>
            <a:off x="4152550" y="609600"/>
            <a:ext cx="2802951" cy="1320800"/>
          </a:xfrm>
        </p:spPr>
        <p:txBody>
          <a:bodyPr>
            <a:normAutofit/>
          </a:bodyPr>
          <a:lstStyle/>
          <a:p>
            <a:pPr>
              <a:lnSpc>
                <a:spcPct val="90000"/>
              </a:lnSpc>
            </a:pPr>
            <a:r>
              <a:rPr lang="en-US" sz="2800"/>
              <a:t>Run Instructions Are Part Of The Project</a:t>
            </a:r>
          </a:p>
        </p:txBody>
      </p:sp>
      <p:sp>
        <p:nvSpPr>
          <p:cNvPr id="5" name="Content Placeholder 4">
            <a:extLst>
              <a:ext uri="{FF2B5EF4-FFF2-40B4-BE49-F238E27FC236}">
                <a16:creationId xmlns:a16="http://schemas.microsoft.com/office/drawing/2014/main" id="{BC257BDE-F439-3B20-EE06-275E766BBB1E}"/>
              </a:ext>
            </a:extLst>
          </p:cNvPr>
          <p:cNvSpPr>
            <a:spLocks noGrp="1"/>
          </p:cNvSpPr>
          <p:nvPr>
            <p:ph idx="1"/>
          </p:nvPr>
        </p:nvSpPr>
        <p:spPr>
          <a:xfrm>
            <a:off x="3907172" y="2160589"/>
            <a:ext cx="3048329" cy="3880773"/>
          </a:xfrm>
        </p:spPr>
        <p:txBody>
          <a:bodyPr>
            <a:normAutofit/>
          </a:bodyPr>
          <a:lstStyle/>
          <a:p>
            <a:pPr marL="0" indent="0">
              <a:buNone/>
            </a:pPr>
            <a:r>
              <a:rPr lang="en-US" dirty="0"/>
              <a:t>A project should tell someone how to run it.</a:t>
            </a:r>
          </a:p>
          <a:p>
            <a:pPr marL="0" indent="0">
              <a:buNone/>
            </a:pPr>
            <a:endParaRPr lang="en-US" dirty="0"/>
          </a:p>
          <a:p>
            <a:pPr marL="0" indent="0">
              <a:buNone/>
            </a:pPr>
            <a:r>
              <a:rPr lang="en-US" dirty="0"/>
              <a:t>Good run instructions include the file to run, required data files, setup notes if needed, and the expected result.</a:t>
            </a:r>
          </a:p>
        </p:txBody>
      </p:sp>
      <p:pic>
        <p:nvPicPr>
          <p:cNvPr id="7" name="Picture 6">
            <a:extLst>
              <a:ext uri="{FF2B5EF4-FFF2-40B4-BE49-F238E27FC236}">
                <a16:creationId xmlns:a16="http://schemas.microsoft.com/office/drawing/2014/main" id="{6388BC0A-D7FD-266F-8651-52AC2B29EA6E}"/>
              </a:ext>
              <a:ext uri="{C183D7F6-B498-43B3-948B-1728B52AA6E4}">
                <adec:decorative xmlns:adec="http://schemas.microsoft.com/office/drawing/2017/decorative" val="1"/>
              </a:ext>
            </a:extLst>
          </p:cNvPr>
          <p:cNvPicPr>
            <a:picLocks noChangeAspect="1"/>
          </p:cNvPicPr>
          <p:nvPr/>
        </p:nvPicPr>
        <p:blipFill>
          <a:blip r:embed="rId3"/>
          <a:srcRect l="31844" r="28774"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629156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D9458-7CAB-49AE-C3BF-C001D395F5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2C63AC-06D9-1D4D-4B41-023AC70A767B}"/>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Run Instructions </a:t>
            </a:r>
            <a:br>
              <a:rPr lang="en-US" sz="4200" dirty="0"/>
            </a:br>
            <a:r>
              <a:rPr lang="en-US" sz="4200" dirty="0"/>
              <a:t>Are Part Of The Project</a:t>
            </a:r>
          </a:p>
        </p:txBody>
      </p:sp>
      <p:pic>
        <p:nvPicPr>
          <p:cNvPr id="5" name="Picture Placeholder 4" descr="Diagram illustrating a clear project folder structure with organized files and a simple README guide to help users run and understand a project. It highlights key files including main.py, data.csv, utils.py, README.md, and output_example.txt, alongside a README.md section detailing steps to run the program, required data placement, and expected output results.">
            <a:extLst>
              <a:ext uri="{FF2B5EF4-FFF2-40B4-BE49-F238E27FC236}">
                <a16:creationId xmlns:a16="http://schemas.microsoft.com/office/drawing/2014/main" id="{BF0D24B7-BC71-D162-D93D-4B120B85964F}"/>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3606112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507177-70B5-370F-DDFE-B3C3B45D078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2D7BBF7-3310-9630-9B4F-FEBD4751BBB6}"/>
              </a:ext>
            </a:extLst>
          </p:cNvPr>
          <p:cNvSpPr>
            <a:spLocks noGrp="1"/>
          </p:cNvSpPr>
          <p:nvPr>
            <p:ph type="title"/>
          </p:nvPr>
        </p:nvSpPr>
        <p:spPr>
          <a:xfrm>
            <a:off x="965199" y="609600"/>
            <a:ext cx="7648121" cy="1099457"/>
          </a:xfrm>
        </p:spPr>
        <p:txBody>
          <a:bodyPr>
            <a:normAutofit/>
          </a:bodyPr>
          <a:lstStyle/>
          <a:p>
            <a:r>
              <a:rPr lang="en-US" dirty="0"/>
              <a:t>AI Notes Belong With The Build</a:t>
            </a:r>
          </a:p>
        </p:txBody>
      </p:sp>
      <p:sp>
        <p:nvSpPr>
          <p:cNvPr id="13" name="Isosceles Triangle 12">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Content Placeholder 4">
            <a:extLst>
              <a:ext uri="{FF2B5EF4-FFF2-40B4-BE49-F238E27FC236}">
                <a16:creationId xmlns:a16="http://schemas.microsoft.com/office/drawing/2014/main" id="{986BBA16-1474-EAA6-DBF3-5C8901EAF0AB}"/>
              </a:ext>
            </a:extLst>
          </p:cNvPr>
          <p:cNvGraphicFramePr>
            <a:graphicFrameLocks noGrp="1"/>
          </p:cNvGraphicFramePr>
          <p:nvPr>
            <p:ph idx="1"/>
            <p:extLst>
              <p:ext uri="{D42A27DB-BD31-4B8C-83A1-F6EECF244321}">
                <p14:modId xmlns:p14="http://schemas.microsoft.com/office/powerpoint/2010/main" val="3193022734"/>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61936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437FE-A408-99E9-FEA3-00121D5F5D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482C70-F8A7-9F43-20F6-B1C2C40EFD40}"/>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AI Notes Belong With The Build</a:t>
            </a:r>
          </a:p>
        </p:txBody>
      </p:sp>
      <p:pic>
        <p:nvPicPr>
          <p:cNvPr id="5" name="Picture Placeholder 4" descr="A four-column infographic titled &quot;AI-Use Note: Student Ownership&quot; outlines steps for responsible AI use in student work, emphasizing student control. Each column is color-coded with icons and numbered steps: blue for AI suggestions, green for accepted changes, yellow for verification, and purple for personal explanation, promoting understanding and accountability.">
            <a:extLst>
              <a:ext uri="{FF2B5EF4-FFF2-40B4-BE49-F238E27FC236}">
                <a16:creationId xmlns:a16="http://schemas.microsoft.com/office/drawing/2014/main" id="{F88ED8FC-607C-F20D-AA17-49049FD100E5}"/>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614621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6"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7" name="Isosceles Triangle 16">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8"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9"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0"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1" name="Isosceles Triangle 20">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2" name="Isosceles Triangle 21">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pic>
        <p:nvPicPr>
          <p:cNvPr id="7" name="Picture 6">
            <a:extLst>
              <a:ext uri="{FF2B5EF4-FFF2-40B4-BE49-F238E27FC236}">
                <a16:creationId xmlns:a16="http://schemas.microsoft.com/office/drawing/2014/main" id="{3F92D707-4F6F-1707-563F-DAA7E83D0FDA}"/>
              </a:ext>
              <a:ext uri="{C183D7F6-B498-43B3-948B-1728B52AA6E4}">
                <adec:decorative xmlns:adec="http://schemas.microsoft.com/office/drawing/2017/decorative" val="1"/>
              </a:ext>
            </a:extLst>
          </p:cNvPr>
          <p:cNvPicPr>
            <a:picLocks noChangeAspect="1"/>
          </p:cNvPicPr>
          <p:nvPr/>
        </p:nvPicPr>
        <p:blipFill>
          <a:blip r:embed="rId3"/>
          <a:srcRect l="19091" t="9091"/>
          <a:stretch>
            <a:fillRect/>
          </a:stretch>
        </p:blipFill>
        <p:spPr>
          <a:xfrm>
            <a:off x="20" y="10"/>
            <a:ext cx="9143980" cy="6857990"/>
          </a:xfrm>
          <a:prstGeom prst="rect">
            <a:avLst/>
          </a:prstGeom>
        </p:spPr>
      </p:pic>
      <p:sp>
        <p:nvSpPr>
          <p:cNvPr id="24" name="Isosceles Triangle 23">
            <a:extLst>
              <a:ext uri="{FF2B5EF4-FFF2-40B4-BE49-F238E27FC236}">
                <a16:creationId xmlns:a16="http://schemas.microsoft.com/office/drawing/2014/main" id="{34257526-B660-46EC-83FB-51CCCEF4D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6" name="Parallelogram 25">
            <a:extLst>
              <a:ext uri="{FF2B5EF4-FFF2-40B4-BE49-F238E27FC236}">
                <a16:creationId xmlns:a16="http://schemas.microsoft.com/office/drawing/2014/main" id="{5E54613B-CC3A-459D-97E1-23B891DE9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cxnSp>
        <p:nvCxnSpPr>
          <p:cNvPr id="28" name="Straight Connector 27">
            <a:extLst>
              <a:ext uri="{FF2B5EF4-FFF2-40B4-BE49-F238E27FC236}">
                <a16:creationId xmlns:a16="http://schemas.microsoft.com/office/drawing/2014/main" id="{0B21385D-063D-42D0-BD60-907E9F826D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921B275-E6A3-4146-9F5F-5CD28092A3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28E190A5-6423-4EE2-AF46-8B82F34BC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4" name="Rectangle 25">
            <a:extLst>
              <a:ext uri="{FF2B5EF4-FFF2-40B4-BE49-F238E27FC236}">
                <a16:creationId xmlns:a16="http://schemas.microsoft.com/office/drawing/2014/main" id="{4A97AE97-5706-400B-8F09-602A25EA1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6" name="Isosceles Triangle 35">
            <a:extLst>
              <a:ext uri="{FF2B5EF4-FFF2-40B4-BE49-F238E27FC236}">
                <a16:creationId xmlns:a16="http://schemas.microsoft.com/office/drawing/2014/main" id="{0860785A-BE10-40E0-8A0F-805CD3F59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 name="Title 3">
            <a:extLst>
              <a:ext uri="{FF2B5EF4-FFF2-40B4-BE49-F238E27FC236}">
                <a16:creationId xmlns:a16="http://schemas.microsoft.com/office/drawing/2014/main" id="{2FC93F9C-2692-8651-EDC7-6D41F5D66139}"/>
              </a:ext>
            </a:extLst>
          </p:cNvPr>
          <p:cNvSpPr>
            <a:spLocks noGrp="1"/>
          </p:cNvSpPr>
          <p:nvPr>
            <p:ph type="title"/>
          </p:nvPr>
        </p:nvSpPr>
        <p:spPr>
          <a:xfrm>
            <a:off x="3528150" y="1678665"/>
            <a:ext cx="3427352" cy="2369131"/>
          </a:xfrm>
        </p:spPr>
        <p:txBody>
          <a:bodyPr vert="horz" lIns="91440" tIns="45720" rIns="91440" bIns="45720" rtlCol="0" anchor="b">
            <a:normAutofit/>
          </a:bodyPr>
          <a:lstStyle/>
          <a:p>
            <a:pPr algn="r"/>
            <a:r>
              <a:rPr lang="en-US" sz="5400" dirty="0"/>
              <a:t>Demo</a:t>
            </a:r>
          </a:p>
        </p:txBody>
      </p:sp>
      <p:sp>
        <p:nvSpPr>
          <p:cNvPr id="38" name="Rectangle 27">
            <a:extLst>
              <a:ext uri="{FF2B5EF4-FFF2-40B4-BE49-F238E27FC236}">
                <a16:creationId xmlns:a16="http://schemas.microsoft.com/office/drawing/2014/main" id="{2CD66695-C096-4E32-9AC2-19B4EFD66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0" name="Rectangle 28">
            <a:extLst>
              <a:ext uri="{FF2B5EF4-FFF2-40B4-BE49-F238E27FC236}">
                <a16:creationId xmlns:a16="http://schemas.microsoft.com/office/drawing/2014/main" id="{A97E83CA-07FA-4B94-A213-9E6DA6FA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2" name="Rectangle 29">
            <a:extLst>
              <a:ext uri="{FF2B5EF4-FFF2-40B4-BE49-F238E27FC236}">
                <a16:creationId xmlns:a16="http://schemas.microsoft.com/office/drawing/2014/main" id="{A531E02F-6391-4B0C-B1E1-D67E8EFC4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4" name="Isosceles Triangle 43">
            <a:extLst>
              <a:ext uri="{FF2B5EF4-FFF2-40B4-BE49-F238E27FC236}">
                <a16:creationId xmlns:a16="http://schemas.microsoft.com/office/drawing/2014/main" id="{568558EC-35CA-4EC8-BB31-75AB78ACA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extBox 1">
            <a:extLst>
              <a:ext uri="{FF2B5EF4-FFF2-40B4-BE49-F238E27FC236}">
                <a16:creationId xmlns:a16="http://schemas.microsoft.com/office/drawing/2014/main" id="{1C8DFD8B-5C86-3290-9577-EDD61563B509}"/>
              </a:ext>
            </a:extLst>
          </p:cNvPr>
          <p:cNvSpPr txBox="1"/>
          <p:nvPr/>
        </p:nvSpPr>
        <p:spPr>
          <a:xfrm>
            <a:off x="3879669" y="4558937"/>
            <a:ext cx="3320533"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B4F8A"/>
                </a:solidFill>
                <a:effectLst/>
                <a:uLnTx/>
                <a:uFillTx/>
                <a:latin typeface="Trebuchet MS" panose="020B0603020202020204"/>
                <a:ea typeface="+mn-ea"/>
                <a:cs typeface="+mn-cs"/>
              </a:rPr>
              <a:t>“Capstone Validation &amp; Run”</a:t>
            </a:r>
          </a:p>
        </p:txBody>
      </p:sp>
    </p:spTree>
    <p:extLst>
      <p:ext uri="{BB962C8B-B14F-4D97-AF65-F5344CB8AC3E}">
        <p14:creationId xmlns:p14="http://schemas.microsoft.com/office/powerpoint/2010/main" val="858767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a:xfrm>
            <a:off x="4152550" y="609600"/>
            <a:ext cx="2802951" cy="1320800"/>
          </a:xfrm>
        </p:spPr>
        <p:txBody>
          <a:bodyPr>
            <a:normAutofit fontScale="90000"/>
          </a:bodyPr>
          <a:lstStyle/>
          <a:p>
            <a:r>
              <a:rPr lang="en-US" dirty="0"/>
              <a:t>What to Watch For: </a:t>
            </a:r>
            <a:br>
              <a:rPr lang="en-US" dirty="0"/>
            </a:br>
            <a:r>
              <a:rPr lang="en-US" dirty="0"/>
              <a:t>Validation Evidence</a:t>
            </a:r>
            <a:br>
              <a:rPr lang="en-US" dirty="0"/>
            </a:br>
            <a:endParaRPr lang="en-US" dirty="0"/>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idx="1"/>
          </p:nvPr>
        </p:nvSpPr>
        <p:spPr>
          <a:xfrm>
            <a:off x="3907172" y="3200400"/>
            <a:ext cx="3048329" cy="2840962"/>
          </a:xfrm>
        </p:spPr>
        <p:txBody>
          <a:bodyPr>
            <a:normAutofit/>
          </a:bodyPr>
          <a:lstStyle/>
          <a:p>
            <a:r>
              <a:rPr lang="en-US" dirty="0"/>
              <a:t>Watch the behavior first.</a:t>
            </a:r>
          </a:p>
          <a:p>
            <a:endParaRPr lang="en-US" dirty="0"/>
          </a:p>
          <a:p>
            <a:r>
              <a:rPr lang="en-US" dirty="0"/>
              <a:t>Then watch the evidence that supports the claim that the behavior works.</a:t>
            </a:r>
          </a:p>
        </p:txBody>
      </p:sp>
      <p:pic>
        <p:nvPicPr>
          <p:cNvPr id="5" name="Picture 4">
            <a:extLst>
              <a:ext uri="{FF2B5EF4-FFF2-40B4-BE49-F238E27FC236}">
                <a16:creationId xmlns:a16="http://schemas.microsoft.com/office/drawing/2014/main" id="{0A8CDE13-EC6E-831B-0134-AE933CD2D134}"/>
              </a:ext>
              <a:ext uri="{C183D7F6-B498-43B3-948B-1728B52AA6E4}">
                <adec:decorative xmlns:adec="http://schemas.microsoft.com/office/drawing/2017/decorative" val="1"/>
              </a:ext>
            </a:extLst>
          </p:cNvPr>
          <p:cNvPicPr>
            <a:picLocks noChangeAspect="1"/>
          </p:cNvPicPr>
          <p:nvPr/>
        </p:nvPicPr>
        <p:blipFill>
          <a:blip r:embed="rId3"/>
          <a:srcRect l="21430" r="39188"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332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A97D5-F055-6CDF-81EB-4B181795FF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AE0706-87BE-F1AA-1F65-8A85B8A31DEF}"/>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Demo: </a:t>
            </a:r>
            <a:br>
              <a:rPr lang="en-US" sz="4200" dirty="0"/>
            </a:br>
            <a:r>
              <a:rPr lang="en-US" sz="4200" dirty="0"/>
              <a:t>Validation Evidence</a:t>
            </a:r>
          </a:p>
        </p:txBody>
      </p:sp>
      <p:pic>
        <p:nvPicPr>
          <p:cNvPr id="5" name="Picture Placeholder 4" descr="Diagram illustrating transition from program behavior to evidence by capturing and verifying results. It features a blue section showing a calculator program running with inputs and output, and a green section confirming expected and actual results match, emphasizing program correctness with checkmarks and icons.">
            <a:extLst>
              <a:ext uri="{FF2B5EF4-FFF2-40B4-BE49-F238E27FC236}">
                <a16:creationId xmlns:a16="http://schemas.microsoft.com/office/drawing/2014/main" id="{926F5E31-0ABE-126C-E1F1-ECD615FB4638}"/>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003729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E6951B6-DBA7-6552-49A9-A47F9F6BE9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D2FC70F-678A-1E63-BF32-8DD44B61E480}"/>
              </a:ext>
            </a:extLst>
          </p:cNvPr>
          <p:cNvSpPr>
            <a:spLocks noGrp="1"/>
          </p:cNvSpPr>
          <p:nvPr>
            <p:ph type="title"/>
          </p:nvPr>
        </p:nvSpPr>
        <p:spPr>
          <a:xfrm>
            <a:off x="4152550" y="609600"/>
            <a:ext cx="2802951" cy="1320800"/>
          </a:xfrm>
        </p:spPr>
        <p:txBody>
          <a:bodyPr>
            <a:normAutofit/>
          </a:bodyPr>
          <a:lstStyle/>
          <a:p>
            <a:r>
              <a:rPr lang="en-US" dirty="0"/>
              <a:t>Demo: Run Instructions</a:t>
            </a:r>
          </a:p>
        </p:txBody>
      </p:sp>
      <p:sp>
        <p:nvSpPr>
          <p:cNvPr id="5" name="Content Placeholder 4">
            <a:extLst>
              <a:ext uri="{FF2B5EF4-FFF2-40B4-BE49-F238E27FC236}">
                <a16:creationId xmlns:a16="http://schemas.microsoft.com/office/drawing/2014/main" id="{F954E156-F088-4D71-6F35-D0CD527216C3}"/>
              </a:ext>
            </a:extLst>
          </p:cNvPr>
          <p:cNvSpPr>
            <a:spLocks noGrp="1"/>
          </p:cNvSpPr>
          <p:nvPr>
            <p:ph idx="1"/>
          </p:nvPr>
        </p:nvSpPr>
        <p:spPr>
          <a:xfrm>
            <a:off x="3907172" y="2160589"/>
            <a:ext cx="3048329" cy="3880773"/>
          </a:xfrm>
        </p:spPr>
        <p:txBody>
          <a:bodyPr>
            <a:normAutofit/>
          </a:bodyPr>
          <a:lstStyle/>
          <a:p>
            <a:pPr marL="0" indent="0">
              <a:buNone/>
            </a:pPr>
            <a:r>
              <a:rPr lang="en-US" dirty="0"/>
              <a:t>Run instructions should reduce confusion.</a:t>
            </a:r>
          </a:p>
          <a:p>
            <a:pPr marL="0" indent="0">
              <a:buNone/>
            </a:pPr>
            <a:endParaRPr lang="en-US" dirty="0"/>
          </a:p>
          <a:p>
            <a:pPr marL="0" indent="0">
              <a:buNone/>
            </a:pPr>
            <a:r>
              <a:rPr lang="en-US" dirty="0"/>
              <a:t>They should tell someone:</a:t>
            </a:r>
          </a:p>
          <a:p>
            <a:r>
              <a:rPr lang="en-US" dirty="0"/>
              <a:t>what to open</a:t>
            </a:r>
          </a:p>
          <a:p>
            <a:r>
              <a:rPr lang="en-US" dirty="0"/>
              <a:t>what to run</a:t>
            </a:r>
          </a:p>
          <a:p>
            <a:r>
              <a:rPr lang="en-US" dirty="0"/>
              <a:t>what files are needed</a:t>
            </a:r>
          </a:p>
          <a:p>
            <a:r>
              <a:rPr lang="en-US" dirty="0"/>
              <a:t>what successful output looks like.</a:t>
            </a:r>
          </a:p>
        </p:txBody>
      </p:sp>
      <p:pic>
        <p:nvPicPr>
          <p:cNvPr id="7" name="Picture 6" descr="Worm's eye view of the feet of a person running on the road">
            <a:extLst>
              <a:ext uri="{FF2B5EF4-FFF2-40B4-BE49-F238E27FC236}">
                <a16:creationId xmlns:a16="http://schemas.microsoft.com/office/drawing/2014/main" id="{B417B9EC-190C-3693-38C5-55D7CE1F466F}"/>
              </a:ext>
            </a:extLst>
          </p:cNvPr>
          <p:cNvPicPr>
            <a:picLocks noChangeAspect="1"/>
          </p:cNvPicPr>
          <p:nvPr/>
        </p:nvPicPr>
        <p:blipFill>
          <a:blip r:embed="rId3"/>
          <a:srcRect l="49481" r="12907"/>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03264268"/>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C5B7B-5BC5-72A4-4498-8DF83B3D01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C5007F2-C912-513B-56B3-EC5D06875CB5}"/>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Demo: </a:t>
            </a:r>
            <a:br>
              <a:rPr lang="en-US" sz="4200" dirty="0"/>
            </a:br>
            <a:r>
              <a:rPr lang="en-US" sz="4200" dirty="0"/>
              <a:t>Run Instructions</a:t>
            </a:r>
          </a:p>
        </p:txBody>
      </p:sp>
      <p:pic>
        <p:nvPicPr>
          <p:cNvPr id="5" name="Picture Placeholder 4" descr="A screenshot of a README run instructions guide for a programming project, outlining three steps: opening the main.py file, running the command &quot;python main.py&quot; in a terminal, and viewing the expected output with a welcome message and total count. The guide uses color-coded sections with icons, including blue for file instructions, green for command execution, and purple for output, along with a yellow tip box advising users to check input or data files if output differs.">
            <a:extLst>
              <a:ext uri="{FF2B5EF4-FFF2-40B4-BE49-F238E27FC236}">
                <a16:creationId xmlns:a16="http://schemas.microsoft.com/office/drawing/2014/main" id="{12255906-D5D5-2199-08C5-3B9A68C967F1}"/>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369141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a:xfrm>
            <a:off x="4567833" y="609600"/>
            <a:ext cx="2387667" cy="1320800"/>
          </a:xfrm>
        </p:spPr>
        <p:txBody>
          <a:bodyPr anchor="ctr">
            <a:normAutofit/>
          </a:bodyPr>
          <a:lstStyle/>
          <a:p>
            <a:pPr>
              <a:lnSpc>
                <a:spcPct val="90000"/>
              </a:lnSpc>
            </a:pPr>
            <a:r>
              <a:rPr lang="en-US" sz="2500"/>
              <a:t>Assignment #15 </a:t>
            </a:r>
            <a:br>
              <a:rPr lang="en-US" sz="2500"/>
            </a:br>
            <a:r>
              <a:rPr lang="en-US" sz="2500"/>
              <a:t>Build Checklist</a:t>
            </a:r>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idx="1"/>
          </p:nvPr>
        </p:nvSpPr>
        <p:spPr>
          <a:xfrm>
            <a:off x="4570807" y="2160589"/>
            <a:ext cx="2875022" cy="3880773"/>
          </a:xfrm>
        </p:spPr>
        <p:txBody>
          <a:bodyPr>
            <a:normAutofit/>
          </a:bodyPr>
          <a:lstStyle/>
          <a:p>
            <a:r>
              <a:rPr lang="en-US" dirty="0"/>
              <a:t>approved scope</a:t>
            </a:r>
          </a:p>
          <a:p>
            <a:r>
              <a:rPr lang="en-US" dirty="0"/>
              <a:t>working core behavior</a:t>
            </a:r>
          </a:p>
          <a:p>
            <a:r>
              <a:rPr lang="en-US" dirty="0"/>
              <a:t>organized code</a:t>
            </a:r>
          </a:p>
          <a:p>
            <a:r>
              <a:rPr lang="en-US" dirty="0"/>
              <a:t>data files if needed</a:t>
            </a:r>
          </a:p>
          <a:p>
            <a:r>
              <a:rPr lang="en-US" dirty="0"/>
              <a:t>validation evidence</a:t>
            </a:r>
          </a:p>
          <a:p>
            <a:r>
              <a:rPr lang="en-US" dirty="0"/>
              <a:t>run instructions</a:t>
            </a:r>
          </a:p>
          <a:p>
            <a:r>
              <a:rPr lang="en-US" dirty="0"/>
              <a:t>AI-use notes if used</a:t>
            </a:r>
          </a:p>
        </p:txBody>
      </p:sp>
      <p:pic>
        <p:nvPicPr>
          <p:cNvPr id="4" name="Picture Placeholder 4" descr="Checklist graphic titled &quot;A15 Build Checklist&quot; outlines six key steps for ensuring final build readiness, each with a checkbox and description. Steps include approved scope, working core, organized code, validation evidence, run instructions, and AI-use notes, with color-coded text boxes in blue, green, yellow, and purple, and a footer emphasizing complete work, clear evidence, and confident explanation.">
            <a:extLst>
              <a:ext uri="{FF2B5EF4-FFF2-40B4-BE49-F238E27FC236}">
                <a16:creationId xmlns:a16="http://schemas.microsoft.com/office/drawing/2014/main" id="{3433BE72-ADD6-D4D0-C86A-ADC275F7C59D}"/>
              </a:ext>
            </a:extLst>
          </p:cNvPr>
          <p:cNvPicPr>
            <a:picLocks noChangeAspect="1"/>
          </p:cNvPicPr>
          <p:nvPr/>
        </p:nvPicPr>
        <p:blipFill>
          <a:blip r:embed="rId3"/>
          <a:srcRect t="-91" b="362"/>
          <a:stretch>
            <a:fillRect/>
          </a:stretch>
        </p:blipFill>
        <p:spPr>
          <a:xfrm>
            <a:off x="745877" y="804672"/>
            <a:ext cx="3505211" cy="5237021"/>
          </a:xfrm>
          <a:prstGeom prst="rect">
            <a:avLst/>
          </a:prstGeom>
        </p:spPr>
      </p:pic>
    </p:spTree>
    <p:extLst>
      <p:ext uri="{BB962C8B-B14F-4D97-AF65-F5344CB8AC3E}">
        <p14:creationId xmlns:p14="http://schemas.microsoft.com/office/powerpoint/2010/main" val="1802641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8020FC-4CD4-26AA-6C68-F61805E0D235}"/>
              </a:ext>
            </a:extLst>
          </p:cNvPr>
          <p:cNvSpPr>
            <a:spLocks noGrp="1"/>
          </p:cNvSpPr>
          <p:nvPr>
            <p:ph type="title"/>
          </p:nvPr>
        </p:nvSpPr>
        <p:spPr>
          <a:xfrm>
            <a:off x="965199" y="609600"/>
            <a:ext cx="7648121" cy="1099457"/>
          </a:xfrm>
        </p:spPr>
        <p:txBody>
          <a:bodyPr>
            <a:normAutofit/>
          </a:bodyPr>
          <a:lstStyle/>
          <a:p>
            <a:r>
              <a:rPr lang="en-US" dirty="0"/>
              <a:t>Today's Work Target</a:t>
            </a:r>
          </a:p>
        </p:txBody>
      </p:sp>
      <p:sp>
        <p:nvSpPr>
          <p:cNvPr id="11" name="Isosceles Triangle 1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0D9691F4-E32C-3144-17D9-E3A9F7FCE2D9}"/>
              </a:ext>
            </a:extLst>
          </p:cNvPr>
          <p:cNvGraphicFramePr>
            <a:graphicFrameLocks noGrp="1"/>
          </p:cNvGraphicFramePr>
          <p:nvPr>
            <p:ph idx="1"/>
            <p:extLst>
              <p:ext uri="{D42A27DB-BD31-4B8C-83A1-F6EECF244321}">
                <p14:modId xmlns:p14="http://schemas.microsoft.com/office/powerpoint/2010/main" val="4222135106"/>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3476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D8DE2-99C0-5C8B-0E53-BD39422532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8BE45B-C0A0-2B89-18EE-CDF15D0BC1CD}"/>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Today's Work Target</a:t>
            </a:r>
          </a:p>
        </p:txBody>
      </p:sp>
      <p:pic>
        <p:nvPicPr>
          <p:cNvPr id="5" name="Picture Placeholder 4" descr="Diagram illustrating a four-step Day One Work Target process to build a strong start, with each step represented by a colored box and icon: green code symbol for working or attempted behavior, blue clipboard for validation note started, purple book for readme/run instructions started, and yellow signpost for next decision identified. Each step includes a brief description emphasizing progress, from getting core behavior working to choosing the next small decision, with a motivational note at the bottom stating small steps today lead to strong results tomorrow.">
            <a:extLst>
              <a:ext uri="{FF2B5EF4-FFF2-40B4-BE49-F238E27FC236}">
                <a16:creationId xmlns:a16="http://schemas.microsoft.com/office/drawing/2014/main" id="{0F0AC774-E2AA-F35F-B009-CC4325C443F7}"/>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419007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9555-1E16-8E8B-E548-105BA59C0BD8}"/>
              </a:ext>
            </a:extLst>
          </p:cNvPr>
          <p:cNvSpPr>
            <a:spLocks noGrp="1"/>
          </p:cNvSpPr>
          <p:nvPr>
            <p:ph type="title"/>
          </p:nvPr>
        </p:nvSpPr>
        <p:spPr>
          <a:xfrm>
            <a:off x="4152550" y="609600"/>
            <a:ext cx="2802951" cy="1320800"/>
          </a:xfrm>
        </p:spPr>
        <p:txBody>
          <a:bodyPr>
            <a:normAutofit/>
          </a:bodyPr>
          <a:lstStyle/>
          <a:p>
            <a:pPr>
              <a:lnSpc>
                <a:spcPct val="90000"/>
              </a:lnSpc>
            </a:pPr>
            <a:r>
              <a:rPr lang="en-US" sz="3100" dirty="0"/>
              <a:t>Closing Success Check</a:t>
            </a:r>
          </a:p>
        </p:txBody>
      </p:sp>
      <p:sp>
        <p:nvSpPr>
          <p:cNvPr id="3" name="Content Placeholder 2">
            <a:extLst>
              <a:ext uri="{FF2B5EF4-FFF2-40B4-BE49-F238E27FC236}">
                <a16:creationId xmlns:a16="http://schemas.microsoft.com/office/drawing/2014/main" id="{77AFF21A-F8C1-15AA-C705-4530AE58A074}"/>
              </a:ext>
            </a:extLst>
          </p:cNvPr>
          <p:cNvSpPr>
            <a:spLocks noGrp="1"/>
          </p:cNvSpPr>
          <p:nvPr>
            <p:ph idx="1"/>
          </p:nvPr>
        </p:nvSpPr>
        <p:spPr>
          <a:xfrm>
            <a:off x="3907172" y="2160589"/>
            <a:ext cx="3048329" cy="3880773"/>
          </a:xfrm>
        </p:spPr>
        <p:txBody>
          <a:bodyPr>
            <a:normAutofit/>
          </a:bodyPr>
          <a:lstStyle/>
          <a:p>
            <a:pPr marL="0" indent="0">
              <a:buNone/>
            </a:pPr>
            <a:r>
              <a:rPr lang="en-US" dirty="0"/>
              <a:t>By the end of today, you should be able to say:</a:t>
            </a:r>
          </a:p>
          <a:p>
            <a:pPr marL="0" indent="0">
              <a:buNone/>
            </a:pPr>
            <a:endParaRPr lang="en-US" dirty="0"/>
          </a:p>
          <a:p>
            <a:pPr marL="0" indent="0">
              <a:buNone/>
            </a:pPr>
            <a:r>
              <a:rPr lang="en-US" b="1" i="1" dirty="0">
                <a:solidFill>
                  <a:srgbClr val="00B050"/>
                </a:solidFill>
              </a:rPr>
              <a:t>“I know the most important behavior in my project, and I have started proving that it works.”</a:t>
            </a:r>
          </a:p>
        </p:txBody>
      </p:sp>
      <p:pic>
        <p:nvPicPr>
          <p:cNvPr id="5" name="Picture 4">
            <a:extLst>
              <a:ext uri="{FF2B5EF4-FFF2-40B4-BE49-F238E27FC236}">
                <a16:creationId xmlns:a16="http://schemas.microsoft.com/office/drawing/2014/main" id="{255A690D-4CB8-0C66-184B-33949F8D651C}"/>
              </a:ext>
              <a:ext uri="{C183D7F6-B498-43B3-948B-1728B52AA6E4}">
                <adec:decorative xmlns:adec="http://schemas.microsoft.com/office/drawing/2017/decorative" val="1"/>
              </a:ext>
            </a:extLst>
          </p:cNvPr>
          <p:cNvPicPr>
            <a:picLocks noChangeAspect="1"/>
          </p:cNvPicPr>
          <p:nvPr/>
        </p:nvPicPr>
        <p:blipFill>
          <a:blip r:embed="rId3"/>
          <a:srcRect l="36287" r="24330"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89513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3EA7B-024D-5440-88C0-60ACA2867D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8B2F6AD-9714-F377-DDB4-2BDAB156AA5D}"/>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Success Check</a:t>
            </a:r>
          </a:p>
        </p:txBody>
      </p:sp>
      <p:pic>
        <p:nvPicPr>
          <p:cNvPr id="5" name="Picture Placeholder 4" descr="Diagram illustrating a success check process for verifying a program's core behavior by capturing evidence. It includes a blue box showing an example of daily total calculation with item prices and a green box confirming expected and actual results match at 7.50, with notes on testing accuracy.">
            <a:extLst>
              <a:ext uri="{FF2B5EF4-FFF2-40B4-BE49-F238E27FC236}">
                <a16:creationId xmlns:a16="http://schemas.microsoft.com/office/drawing/2014/main" id="{30DEBE08-7699-4B0A-60B2-AC980FA61A74}"/>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352405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291DAF8-8CBA-95A1-BEA8-AAD0C09C5642}"/>
              </a:ext>
            </a:extLst>
          </p:cNvPr>
          <p:cNvSpPr>
            <a:spLocks noGrp="1"/>
          </p:cNvSpPr>
          <p:nvPr>
            <p:ph type="title"/>
          </p:nvPr>
        </p:nvSpPr>
        <p:spPr>
          <a:xfrm>
            <a:off x="3730752" y="1265314"/>
            <a:ext cx="3572668" cy="3249131"/>
          </a:xfrm>
        </p:spPr>
        <p:txBody>
          <a:bodyPr vert="horz" lIns="91440" tIns="45720" rIns="91440" bIns="45720" rtlCol="0" anchor="b">
            <a:normAutofit/>
          </a:bodyPr>
          <a:lstStyle/>
          <a:p>
            <a:pPr>
              <a:lnSpc>
                <a:spcPct val="90000"/>
              </a:lnSpc>
            </a:pPr>
            <a:r>
              <a:rPr lang="en-US" sz="4800" dirty="0"/>
              <a:t>Thank you!</a:t>
            </a:r>
            <a:br>
              <a:rPr lang="en-US" sz="4800" dirty="0"/>
            </a:br>
            <a:br>
              <a:rPr lang="en-US" sz="4800" dirty="0"/>
            </a:br>
            <a:r>
              <a:rPr lang="en-US" sz="4800" dirty="0"/>
              <a:t>Have Fun!</a:t>
            </a:r>
          </a:p>
        </p:txBody>
      </p:sp>
      <p:sp>
        <p:nvSpPr>
          <p:cNvPr id="5" name="Text Placeholder 4">
            <a:extLst>
              <a:ext uri="{FF2B5EF4-FFF2-40B4-BE49-F238E27FC236}">
                <a16:creationId xmlns:a16="http://schemas.microsoft.com/office/drawing/2014/main" id="{8FE61A93-6BD2-677B-DBB4-F66B15926039}"/>
              </a:ext>
            </a:extLst>
          </p:cNvPr>
          <p:cNvSpPr>
            <a:spLocks noGrp="1"/>
          </p:cNvSpPr>
          <p:nvPr>
            <p:ph type="body" idx="1"/>
          </p:nvPr>
        </p:nvSpPr>
        <p:spPr>
          <a:xfrm>
            <a:off x="3730752" y="4514446"/>
            <a:ext cx="3224749" cy="871042"/>
          </a:xfrm>
        </p:spPr>
        <p:txBody>
          <a:bodyPr vert="horz" lIns="91440" tIns="45720" rIns="91440" bIns="45720" rtlCol="0" anchor="t">
            <a:normAutofit/>
          </a:bodyPr>
          <a:lstStyle/>
          <a:p>
            <a:endParaRPr lang="en-US" sz="1800"/>
          </a:p>
        </p:txBody>
      </p:sp>
      <p:sp>
        <p:nvSpPr>
          <p:cNvPr id="24" name="Isosceles Triangle 2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Thumbs Up Sign">
            <a:extLst>
              <a:ext uri="{FF2B5EF4-FFF2-40B4-BE49-F238E27FC236}">
                <a16:creationId xmlns:a16="http://schemas.microsoft.com/office/drawing/2014/main" id="{CD1A5982-49F4-6629-1884-3B7061C5B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842682234"/>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10710</TotalTime>
  <Words>1091</Words>
  <Application>Microsoft Office PowerPoint</Application>
  <PresentationFormat>On-screen Show (4:3)</PresentationFormat>
  <Paragraphs>170</Paragraphs>
  <Slides>25</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Trebuchet MS</vt:lpstr>
      <vt:lpstr>Wingdings 3</vt:lpstr>
      <vt:lpstr>Facet</vt:lpstr>
      <vt:lpstr>Python Programming Foundations</vt:lpstr>
      <vt:lpstr>Finishing Code Is Not Enough</vt:lpstr>
      <vt:lpstr>Finishing Code Is Not Enough</vt:lpstr>
      <vt:lpstr>From Approved Scope To Build Evidence</vt:lpstr>
      <vt:lpstr>From Approved Scope To Build Evidence</vt:lpstr>
      <vt:lpstr>What Counts as Success Today</vt:lpstr>
      <vt:lpstr>Today's Success</vt:lpstr>
      <vt:lpstr>Capstone Test</vt:lpstr>
      <vt:lpstr>Evidence Can Be Small And Real</vt:lpstr>
      <vt:lpstr>Evidence Can Be  Small And Real</vt:lpstr>
      <vt:lpstr>Run Instructions Are Part Of The Project</vt:lpstr>
      <vt:lpstr>Run Instructions  Are Part Of The Project</vt:lpstr>
      <vt:lpstr>AI Notes Belong With The Build</vt:lpstr>
      <vt:lpstr>AI Notes Belong With The Build</vt:lpstr>
      <vt:lpstr>Demo</vt:lpstr>
      <vt:lpstr>What to Watch For:  Validation Evidence </vt:lpstr>
      <vt:lpstr>Demo:  Validation Evidence</vt:lpstr>
      <vt:lpstr>Demo: Run Instructions</vt:lpstr>
      <vt:lpstr>Demo:  Run Instructions</vt:lpstr>
      <vt:lpstr>Assignment #15  Build Checklist</vt:lpstr>
      <vt:lpstr>Today's Work Target</vt:lpstr>
      <vt:lpstr>Today's Work Target</vt:lpstr>
      <vt:lpstr>Closing Success Check</vt:lpstr>
      <vt:lpstr>Success Check</vt:lpstr>
      <vt:lpstr>Thank you!  Have Fun!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127</cp:revision>
  <cp:lastPrinted>2026-06-21T14:08:01Z</cp:lastPrinted>
  <dcterms:created xsi:type="dcterms:W3CDTF">2013-01-27T09:14:16Z</dcterms:created>
  <dcterms:modified xsi:type="dcterms:W3CDTF">2026-06-21T14:14:10Z</dcterms:modified>
  <cp:category/>
</cp:coreProperties>
</file>