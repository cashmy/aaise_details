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notesMasterIdLst>
    <p:notesMasterId r:id="rId17"/>
  </p:notesMasterIdLst>
  <p:handoutMasterIdLst>
    <p:handoutMasterId r:id="rId18"/>
  </p:handoutMasterIdLst>
  <p:sldIdLst>
    <p:sldId id="256" r:id="rId2"/>
    <p:sldId id="376" r:id="rId3"/>
    <p:sldId id="473" r:id="rId4"/>
    <p:sldId id="467" r:id="rId5"/>
    <p:sldId id="474" r:id="rId6"/>
    <p:sldId id="377" r:id="rId7"/>
    <p:sldId id="472" r:id="rId8"/>
    <p:sldId id="468" r:id="rId9"/>
    <p:sldId id="469" r:id="rId10"/>
    <p:sldId id="378" r:id="rId11"/>
    <p:sldId id="471" r:id="rId12"/>
    <p:sldId id="475" r:id="rId13"/>
    <p:sldId id="470" r:id="rId14"/>
    <p:sldId id="374" r:id="rId15"/>
    <p:sldId id="32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68900" autoAdjust="0"/>
  </p:normalViewPr>
  <p:slideViewPr>
    <p:cSldViewPr snapToGrid="0" snapToObjects="1">
      <p:cViewPr varScale="1">
        <p:scale>
          <a:sx n="64" d="100"/>
          <a:sy n="64" d="100"/>
        </p:scale>
        <p:origin x="114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15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0" d="100"/>
          <a:sy n="80" d="100"/>
        </p:scale>
        <p:origin x="4002" y="11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F2D5DC-81F9-4D98-82E0-03C2E3E1762F}" type="doc">
      <dgm:prSet loTypeId="urn:microsoft.com/office/officeart/2005/8/layout/hList1" loCatId="list" qsTypeId="urn:microsoft.com/office/officeart/2005/8/quickstyle/simple1#5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1F77BB73-3EB9-4725-A901-BB5A649FD2BA}">
      <dgm:prSet/>
      <dgm:spPr/>
      <dgm:t>
        <a:bodyPr/>
        <a:lstStyle/>
        <a:p>
          <a:r>
            <a:rPr lang="en-US" b="1"/>
            <a:t>AI Creation/Development</a:t>
          </a:r>
          <a:endParaRPr lang="en-US"/>
        </a:p>
      </dgm:t>
    </dgm:pt>
    <dgm:pt modelId="{A281CA7B-51C6-4619-91FB-899F1C61F0E6}" type="parTrans" cxnId="{A58EFE7A-839C-41BB-A3E3-261250FC05AB}">
      <dgm:prSet/>
      <dgm:spPr/>
      <dgm:t>
        <a:bodyPr/>
        <a:lstStyle/>
        <a:p>
          <a:endParaRPr lang="en-US"/>
        </a:p>
      </dgm:t>
    </dgm:pt>
    <dgm:pt modelId="{8018FF0A-F43C-4602-84DB-5F9AB322DF27}" type="sibTrans" cxnId="{A58EFE7A-839C-41BB-A3E3-261250FC05AB}">
      <dgm:prSet/>
      <dgm:spPr/>
      <dgm:t>
        <a:bodyPr/>
        <a:lstStyle/>
        <a:p>
          <a:endParaRPr lang="en-US"/>
        </a:p>
      </dgm:t>
    </dgm:pt>
    <dgm:pt modelId="{28A534D2-7FA2-4502-824D-907036590C80}">
      <dgm:prSet/>
      <dgm:spPr/>
      <dgm:t>
        <a:bodyPr/>
        <a:lstStyle/>
        <a:p>
          <a:r>
            <a:rPr lang="en-US"/>
            <a:t>Creating LLM’s (Large Language Models)</a:t>
          </a:r>
        </a:p>
      </dgm:t>
    </dgm:pt>
    <dgm:pt modelId="{175057CF-4F85-4E9E-84D3-93CD904EDB3B}" type="parTrans" cxnId="{DD11F543-F052-4404-9E8B-DB41B4E9B94D}">
      <dgm:prSet/>
      <dgm:spPr/>
      <dgm:t>
        <a:bodyPr/>
        <a:lstStyle/>
        <a:p>
          <a:endParaRPr lang="en-US"/>
        </a:p>
      </dgm:t>
    </dgm:pt>
    <dgm:pt modelId="{56F0F76D-9941-4FC9-A334-9B88BAD58460}" type="sibTrans" cxnId="{DD11F543-F052-4404-9E8B-DB41B4E9B94D}">
      <dgm:prSet/>
      <dgm:spPr/>
      <dgm:t>
        <a:bodyPr/>
        <a:lstStyle/>
        <a:p>
          <a:endParaRPr lang="en-US"/>
        </a:p>
      </dgm:t>
    </dgm:pt>
    <dgm:pt modelId="{771B75EF-F6CB-47BA-8376-E580C88AD2EA}">
      <dgm:prSet/>
      <dgm:spPr/>
      <dgm:t>
        <a:bodyPr/>
        <a:lstStyle/>
        <a:p>
          <a:r>
            <a:rPr lang="en-US"/>
            <a:t>Creating CAG’s &amp; RAG’s and Other types</a:t>
          </a:r>
        </a:p>
      </dgm:t>
    </dgm:pt>
    <dgm:pt modelId="{334A223A-1084-45DF-A8CA-FB204D93370C}" type="parTrans" cxnId="{FABF45CB-FBFD-448C-8366-D461364A7405}">
      <dgm:prSet/>
      <dgm:spPr/>
      <dgm:t>
        <a:bodyPr/>
        <a:lstStyle/>
        <a:p>
          <a:endParaRPr lang="en-US"/>
        </a:p>
      </dgm:t>
    </dgm:pt>
    <dgm:pt modelId="{01B047AE-4BC7-4B2B-BB66-C1A330477C50}" type="sibTrans" cxnId="{FABF45CB-FBFD-448C-8366-D461364A7405}">
      <dgm:prSet/>
      <dgm:spPr/>
      <dgm:t>
        <a:bodyPr/>
        <a:lstStyle/>
        <a:p>
          <a:endParaRPr lang="en-US"/>
        </a:p>
      </dgm:t>
    </dgm:pt>
    <dgm:pt modelId="{8B400286-26CB-4AB2-AD81-CC63EED3F1BA}">
      <dgm:prSet/>
      <dgm:spPr/>
      <dgm:t>
        <a:bodyPr/>
        <a:lstStyle/>
        <a:p>
          <a:r>
            <a:rPr lang="en-US" i="1" dirty="0">
              <a:solidFill>
                <a:schemeClr val="tx1">
                  <a:lumMod val="50000"/>
                </a:schemeClr>
              </a:solidFill>
            </a:rPr>
            <a:t>This requires more in depth knowledge of:</a:t>
          </a:r>
        </a:p>
      </dgm:t>
    </dgm:pt>
    <dgm:pt modelId="{95900DBA-B825-4616-B56B-246E3DAB7D97}" type="parTrans" cxnId="{7E0CE0E8-2FC3-4BB0-AB83-8F85198D20E5}">
      <dgm:prSet/>
      <dgm:spPr/>
      <dgm:t>
        <a:bodyPr/>
        <a:lstStyle/>
        <a:p>
          <a:endParaRPr lang="en-US"/>
        </a:p>
      </dgm:t>
    </dgm:pt>
    <dgm:pt modelId="{D7D2979A-2C71-4597-A6AC-9315BDD15947}" type="sibTrans" cxnId="{7E0CE0E8-2FC3-4BB0-AB83-8F85198D20E5}">
      <dgm:prSet/>
      <dgm:spPr/>
      <dgm:t>
        <a:bodyPr/>
        <a:lstStyle/>
        <a:p>
          <a:endParaRPr lang="en-US"/>
        </a:p>
      </dgm:t>
    </dgm:pt>
    <dgm:pt modelId="{89276ED2-5BC7-41B2-A787-F6811027F69B}">
      <dgm:prSet/>
      <dgm:spPr/>
      <dgm:t>
        <a:bodyPr/>
        <a:lstStyle/>
        <a:p>
          <a:r>
            <a:rPr lang="en-US" dirty="0"/>
            <a:t>Algorithmic processing</a:t>
          </a:r>
        </a:p>
      </dgm:t>
    </dgm:pt>
    <dgm:pt modelId="{35094817-B5E9-4F6B-B064-F1489D69A0B1}" type="parTrans" cxnId="{78DC7F4D-463B-4980-B5AC-0E652AE0CB30}">
      <dgm:prSet/>
      <dgm:spPr/>
      <dgm:t>
        <a:bodyPr/>
        <a:lstStyle/>
        <a:p>
          <a:endParaRPr lang="en-US"/>
        </a:p>
      </dgm:t>
    </dgm:pt>
    <dgm:pt modelId="{43DC3557-6496-402F-BF17-1A3C797AFFE8}" type="sibTrans" cxnId="{78DC7F4D-463B-4980-B5AC-0E652AE0CB30}">
      <dgm:prSet/>
      <dgm:spPr/>
      <dgm:t>
        <a:bodyPr/>
        <a:lstStyle/>
        <a:p>
          <a:endParaRPr lang="en-US"/>
        </a:p>
      </dgm:t>
    </dgm:pt>
    <dgm:pt modelId="{F18D5973-B87C-4794-B883-E5C9C6E9B691}">
      <dgm:prSet/>
      <dgm:spPr/>
      <dgm:t>
        <a:bodyPr/>
        <a:lstStyle/>
        <a:p>
          <a:r>
            <a:rPr lang="en-US"/>
            <a:t>Neural Networks </a:t>
          </a:r>
        </a:p>
      </dgm:t>
    </dgm:pt>
    <dgm:pt modelId="{BB74CDDA-D17E-4713-94EC-08BFAA7799A7}" type="parTrans" cxnId="{801C3C4B-B943-42BE-81E6-46C513F53CE8}">
      <dgm:prSet/>
      <dgm:spPr/>
      <dgm:t>
        <a:bodyPr/>
        <a:lstStyle/>
        <a:p>
          <a:endParaRPr lang="en-US"/>
        </a:p>
      </dgm:t>
    </dgm:pt>
    <dgm:pt modelId="{55CBCE7E-A6A1-4532-8342-FBF4E6FD81CB}" type="sibTrans" cxnId="{801C3C4B-B943-42BE-81E6-46C513F53CE8}">
      <dgm:prSet/>
      <dgm:spPr/>
      <dgm:t>
        <a:bodyPr/>
        <a:lstStyle/>
        <a:p>
          <a:endParaRPr lang="en-US"/>
        </a:p>
      </dgm:t>
    </dgm:pt>
    <dgm:pt modelId="{765DD192-A214-46F2-9B29-4893E5AE4D41}">
      <dgm:prSet/>
      <dgm:spPr/>
      <dgm:t>
        <a:bodyPr/>
        <a:lstStyle/>
        <a:p>
          <a:r>
            <a:rPr lang="en-US"/>
            <a:t>Types of AI models: </a:t>
          </a:r>
        </a:p>
      </dgm:t>
    </dgm:pt>
    <dgm:pt modelId="{CCB1F526-9E76-4A31-8260-98B7D8FCEDE6}" type="parTrans" cxnId="{78690B28-BB92-401C-BD7B-9DFDFE4C75C4}">
      <dgm:prSet/>
      <dgm:spPr/>
      <dgm:t>
        <a:bodyPr/>
        <a:lstStyle/>
        <a:p>
          <a:endParaRPr lang="en-US"/>
        </a:p>
      </dgm:t>
    </dgm:pt>
    <dgm:pt modelId="{6A0E9BDA-55EB-44EA-815F-BAE445651772}" type="sibTrans" cxnId="{78690B28-BB92-401C-BD7B-9DFDFE4C75C4}">
      <dgm:prSet/>
      <dgm:spPr/>
      <dgm:t>
        <a:bodyPr/>
        <a:lstStyle/>
        <a:p>
          <a:endParaRPr lang="en-US"/>
        </a:p>
      </dgm:t>
    </dgm:pt>
    <dgm:pt modelId="{E411B0B5-90F2-4048-A078-96BD80A93B47}">
      <dgm:prSet/>
      <dgm:spPr/>
      <dgm:t>
        <a:bodyPr/>
        <a:lstStyle/>
        <a:p>
          <a:r>
            <a:rPr lang="en-US"/>
            <a:t>Descriptive/Analytical</a:t>
          </a:r>
        </a:p>
      </dgm:t>
    </dgm:pt>
    <dgm:pt modelId="{C4976157-3A43-4082-AE54-F245902DC516}" type="parTrans" cxnId="{370F4858-8D26-46FE-AFE1-7F7ACC09BCB7}">
      <dgm:prSet/>
      <dgm:spPr/>
      <dgm:t>
        <a:bodyPr/>
        <a:lstStyle/>
        <a:p>
          <a:endParaRPr lang="en-US"/>
        </a:p>
      </dgm:t>
    </dgm:pt>
    <dgm:pt modelId="{AD0E778D-8AA3-4BDA-8A31-65FD52CFB22E}" type="sibTrans" cxnId="{370F4858-8D26-46FE-AFE1-7F7ACC09BCB7}">
      <dgm:prSet/>
      <dgm:spPr/>
      <dgm:t>
        <a:bodyPr/>
        <a:lstStyle/>
        <a:p>
          <a:endParaRPr lang="en-US"/>
        </a:p>
      </dgm:t>
    </dgm:pt>
    <dgm:pt modelId="{216EF010-131C-4B0D-98A8-624E055A831F}">
      <dgm:prSet/>
      <dgm:spPr/>
      <dgm:t>
        <a:bodyPr/>
        <a:lstStyle/>
        <a:p>
          <a:r>
            <a:rPr lang="en-US"/>
            <a:t>Predictive</a:t>
          </a:r>
        </a:p>
      </dgm:t>
    </dgm:pt>
    <dgm:pt modelId="{5E081204-73AE-49B8-8D52-14DBE3C0737B}" type="parTrans" cxnId="{733918AD-A542-46AA-87F1-B7C644CD3700}">
      <dgm:prSet/>
      <dgm:spPr/>
      <dgm:t>
        <a:bodyPr/>
        <a:lstStyle/>
        <a:p>
          <a:endParaRPr lang="en-US"/>
        </a:p>
      </dgm:t>
    </dgm:pt>
    <dgm:pt modelId="{1136EC09-4C81-40FE-B09D-CF9E61161FC7}" type="sibTrans" cxnId="{733918AD-A542-46AA-87F1-B7C644CD3700}">
      <dgm:prSet/>
      <dgm:spPr/>
      <dgm:t>
        <a:bodyPr/>
        <a:lstStyle/>
        <a:p>
          <a:endParaRPr lang="en-US"/>
        </a:p>
      </dgm:t>
    </dgm:pt>
    <dgm:pt modelId="{747AD8AF-82F1-4EF5-A366-3361928DB19F}">
      <dgm:prSet/>
      <dgm:spPr/>
      <dgm:t>
        <a:bodyPr/>
        <a:lstStyle/>
        <a:p>
          <a:r>
            <a:rPr lang="en-US"/>
            <a:t>Generative</a:t>
          </a:r>
        </a:p>
      </dgm:t>
    </dgm:pt>
    <dgm:pt modelId="{F27EE155-F4F6-45AA-AA0F-82319B4C7B6F}" type="parTrans" cxnId="{306CF9EB-88CC-444B-927A-B6B7A932BBDC}">
      <dgm:prSet/>
      <dgm:spPr/>
      <dgm:t>
        <a:bodyPr/>
        <a:lstStyle/>
        <a:p>
          <a:endParaRPr lang="en-US"/>
        </a:p>
      </dgm:t>
    </dgm:pt>
    <dgm:pt modelId="{C43202C5-B693-4E25-AD86-CDD7038070E7}" type="sibTrans" cxnId="{306CF9EB-88CC-444B-927A-B6B7A932BBDC}">
      <dgm:prSet/>
      <dgm:spPr/>
      <dgm:t>
        <a:bodyPr/>
        <a:lstStyle/>
        <a:p>
          <a:endParaRPr lang="en-US"/>
        </a:p>
      </dgm:t>
    </dgm:pt>
    <dgm:pt modelId="{2CB573C1-DFB0-4904-9821-21000D38351A}">
      <dgm:prSet/>
      <dgm:spPr/>
      <dgm:t>
        <a:bodyPr/>
        <a:lstStyle/>
        <a:p>
          <a:r>
            <a:rPr lang="en-US" dirty="0"/>
            <a:t>Model Training and extensive Testing methodologies</a:t>
          </a:r>
        </a:p>
      </dgm:t>
    </dgm:pt>
    <dgm:pt modelId="{535C344B-46CE-4713-A8D4-B266C979CBCC}" type="parTrans" cxnId="{16D997E9-EE03-44DA-A011-043E34F32331}">
      <dgm:prSet/>
      <dgm:spPr/>
      <dgm:t>
        <a:bodyPr/>
        <a:lstStyle/>
        <a:p>
          <a:endParaRPr lang="en-US"/>
        </a:p>
      </dgm:t>
    </dgm:pt>
    <dgm:pt modelId="{0EA3B9E7-66AF-4935-A1C5-3B9C4370CE21}" type="sibTrans" cxnId="{16D997E9-EE03-44DA-A011-043E34F32331}">
      <dgm:prSet/>
      <dgm:spPr/>
      <dgm:t>
        <a:bodyPr/>
        <a:lstStyle/>
        <a:p>
          <a:endParaRPr lang="en-US"/>
        </a:p>
      </dgm:t>
    </dgm:pt>
    <dgm:pt modelId="{BAD92B8F-0114-4361-8F4C-71DE3E8F9A80}">
      <dgm:prSet/>
      <dgm:spPr/>
      <dgm:t>
        <a:bodyPr/>
        <a:lstStyle/>
        <a:p>
          <a:r>
            <a:rPr lang="en-US" dirty="0"/>
            <a:t>Data Analytics/Science</a:t>
          </a:r>
        </a:p>
      </dgm:t>
    </dgm:pt>
    <dgm:pt modelId="{A2CD9A7C-D5E0-4154-AAE3-B9BBD097C34E}" type="parTrans" cxnId="{E5591943-C4A8-48FB-B2B6-77E8FA7AD88B}">
      <dgm:prSet/>
      <dgm:spPr/>
    </dgm:pt>
    <dgm:pt modelId="{E8C28ED0-114C-48B4-AA64-98F54C22DF1A}" type="sibTrans" cxnId="{E5591943-C4A8-48FB-B2B6-77E8FA7AD88B}">
      <dgm:prSet/>
      <dgm:spPr/>
    </dgm:pt>
    <dgm:pt modelId="{98CE49CE-0205-4B63-A1C8-736F6FDF21A8}" type="pres">
      <dgm:prSet presAssocID="{EBF2D5DC-81F9-4D98-82E0-03C2E3E1762F}" presName="Name0" presStyleCnt="0">
        <dgm:presLayoutVars>
          <dgm:dir/>
          <dgm:animLvl val="lvl"/>
          <dgm:resizeHandles val="exact"/>
        </dgm:presLayoutVars>
      </dgm:prSet>
      <dgm:spPr/>
    </dgm:pt>
    <dgm:pt modelId="{9AB4A4BF-867F-44C4-9EE3-9179F2972167}" type="pres">
      <dgm:prSet presAssocID="{1F77BB73-3EB9-4725-A901-BB5A649FD2BA}" presName="composite" presStyleCnt="0"/>
      <dgm:spPr/>
    </dgm:pt>
    <dgm:pt modelId="{66493598-F0E1-425D-872A-1752FA78D78D}" type="pres">
      <dgm:prSet presAssocID="{1F77BB73-3EB9-4725-A901-BB5A649FD2BA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B333A253-7F1C-4F31-8503-6294A9BBFE56}" type="pres">
      <dgm:prSet presAssocID="{1F77BB73-3EB9-4725-A901-BB5A649FD2BA}" presName="desTx" presStyleLbl="alignAccFollowNode1" presStyleIdx="0" presStyleCnt="2">
        <dgm:presLayoutVars>
          <dgm:bulletEnabled val="1"/>
        </dgm:presLayoutVars>
      </dgm:prSet>
      <dgm:spPr/>
    </dgm:pt>
    <dgm:pt modelId="{E3A07241-4E8E-4C89-9FF6-568EE24DA124}" type="pres">
      <dgm:prSet presAssocID="{8018FF0A-F43C-4602-84DB-5F9AB322DF27}" presName="space" presStyleCnt="0"/>
      <dgm:spPr/>
    </dgm:pt>
    <dgm:pt modelId="{6801FB0E-F9B8-4CDF-B597-9104AEC4623C}" type="pres">
      <dgm:prSet presAssocID="{8B400286-26CB-4AB2-AD81-CC63EED3F1BA}" presName="composite" presStyleCnt="0"/>
      <dgm:spPr/>
    </dgm:pt>
    <dgm:pt modelId="{6C4648A4-4B90-4C86-9BDB-D99CB27E94F1}" type="pres">
      <dgm:prSet presAssocID="{8B400286-26CB-4AB2-AD81-CC63EED3F1BA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58230607-B3C7-48D9-BD52-073E4039E795}" type="pres">
      <dgm:prSet presAssocID="{8B400286-26CB-4AB2-AD81-CC63EED3F1BA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48C46B0A-6F4C-4C53-9D0E-F1ED1CDBDD02}" type="presOf" srcId="{28A534D2-7FA2-4502-824D-907036590C80}" destId="{B333A253-7F1C-4F31-8503-6294A9BBFE56}" srcOrd="0" destOrd="0" presId="urn:microsoft.com/office/officeart/2005/8/layout/hList1"/>
    <dgm:cxn modelId="{F4C56D0C-E22A-4708-A01B-1D268ED3EBC4}" type="presOf" srcId="{765DD192-A214-46F2-9B29-4893E5AE4D41}" destId="{58230607-B3C7-48D9-BD52-073E4039E795}" srcOrd="0" destOrd="2" presId="urn:microsoft.com/office/officeart/2005/8/layout/hList1"/>
    <dgm:cxn modelId="{78690B28-BB92-401C-BD7B-9DFDFE4C75C4}" srcId="{8B400286-26CB-4AB2-AD81-CC63EED3F1BA}" destId="{765DD192-A214-46F2-9B29-4893E5AE4D41}" srcOrd="2" destOrd="0" parTransId="{CCB1F526-9E76-4A31-8260-98B7D8FCEDE6}" sibTransId="{6A0E9BDA-55EB-44EA-815F-BAE445651772}"/>
    <dgm:cxn modelId="{55C7CC61-FD15-4FBE-802F-EF7C9CD3E054}" type="presOf" srcId="{747AD8AF-82F1-4EF5-A366-3361928DB19F}" destId="{58230607-B3C7-48D9-BD52-073E4039E795}" srcOrd="0" destOrd="5" presId="urn:microsoft.com/office/officeart/2005/8/layout/hList1"/>
    <dgm:cxn modelId="{E5591943-C4A8-48FB-B2B6-77E8FA7AD88B}" srcId="{8B400286-26CB-4AB2-AD81-CC63EED3F1BA}" destId="{BAD92B8F-0114-4361-8F4C-71DE3E8F9A80}" srcOrd="4" destOrd="0" parTransId="{A2CD9A7C-D5E0-4154-AAE3-B9BBD097C34E}" sibTransId="{E8C28ED0-114C-48B4-AA64-98F54C22DF1A}"/>
    <dgm:cxn modelId="{DD11F543-F052-4404-9E8B-DB41B4E9B94D}" srcId="{1F77BB73-3EB9-4725-A901-BB5A649FD2BA}" destId="{28A534D2-7FA2-4502-824D-907036590C80}" srcOrd="0" destOrd="0" parTransId="{175057CF-4F85-4E9E-84D3-93CD904EDB3B}" sibTransId="{56F0F76D-9941-4FC9-A334-9B88BAD58460}"/>
    <dgm:cxn modelId="{801C3C4B-B943-42BE-81E6-46C513F53CE8}" srcId="{8B400286-26CB-4AB2-AD81-CC63EED3F1BA}" destId="{F18D5973-B87C-4794-B883-E5C9C6E9B691}" srcOrd="1" destOrd="0" parTransId="{BB74CDDA-D17E-4713-94EC-08BFAA7799A7}" sibTransId="{55CBCE7E-A6A1-4532-8342-FBF4E6FD81CB}"/>
    <dgm:cxn modelId="{8A11606B-6921-4576-A63D-F29D2C8ACF79}" type="presOf" srcId="{89276ED2-5BC7-41B2-A787-F6811027F69B}" destId="{58230607-B3C7-48D9-BD52-073E4039E795}" srcOrd="0" destOrd="0" presId="urn:microsoft.com/office/officeart/2005/8/layout/hList1"/>
    <dgm:cxn modelId="{78DC7F4D-463B-4980-B5AC-0E652AE0CB30}" srcId="{8B400286-26CB-4AB2-AD81-CC63EED3F1BA}" destId="{89276ED2-5BC7-41B2-A787-F6811027F69B}" srcOrd="0" destOrd="0" parTransId="{35094817-B5E9-4F6B-B064-F1489D69A0B1}" sibTransId="{43DC3557-6496-402F-BF17-1A3C797AFFE8}"/>
    <dgm:cxn modelId="{C285954D-E380-4770-BD64-D0D5A5DC2A4B}" type="presOf" srcId="{216EF010-131C-4B0D-98A8-624E055A831F}" destId="{58230607-B3C7-48D9-BD52-073E4039E795}" srcOrd="0" destOrd="4" presId="urn:microsoft.com/office/officeart/2005/8/layout/hList1"/>
    <dgm:cxn modelId="{85B2A870-DC4C-4D5C-B3DD-0048709156B6}" type="presOf" srcId="{F18D5973-B87C-4794-B883-E5C9C6E9B691}" destId="{58230607-B3C7-48D9-BD52-073E4039E795}" srcOrd="0" destOrd="1" presId="urn:microsoft.com/office/officeart/2005/8/layout/hList1"/>
    <dgm:cxn modelId="{370F4858-8D26-46FE-AFE1-7F7ACC09BCB7}" srcId="{765DD192-A214-46F2-9B29-4893E5AE4D41}" destId="{E411B0B5-90F2-4048-A078-96BD80A93B47}" srcOrd="0" destOrd="0" parTransId="{C4976157-3A43-4082-AE54-F245902DC516}" sibTransId="{AD0E778D-8AA3-4BDA-8A31-65FD52CFB22E}"/>
    <dgm:cxn modelId="{A58EFE7A-839C-41BB-A3E3-261250FC05AB}" srcId="{EBF2D5DC-81F9-4D98-82E0-03C2E3E1762F}" destId="{1F77BB73-3EB9-4725-A901-BB5A649FD2BA}" srcOrd="0" destOrd="0" parTransId="{A281CA7B-51C6-4619-91FB-899F1C61F0E6}" sibTransId="{8018FF0A-F43C-4602-84DB-5F9AB322DF27}"/>
    <dgm:cxn modelId="{6FB5CD88-082E-4BF3-A2B1-73B637A70AE1}" type="presOf" srcId="{2CB573C1-DFB0-4904-9821-21000D38351A}" destId="{58230607-B3C7-48D9-BD52-073E4039E795}" srcOrd="0" destOrd="6" presId="urn:microsoft.com/office/officeart/2005/8/layout/hList1"/>
    <dgm:cxn modelId="{A0151CA8-2FE5-47FC-9540-97EB5E14DD60}" type="presOf" srcId="{EBF2D5DC-81F9-4D98-82E0-03C2E3E1762F}" destId="{98CE49CE-0205-4B63-A1C8-736F6FDF21A8}" srcOrd="0" destOrd="0" presId="urn:microsoft.com/office/officeart/2005/8/layout/hList1"/>
    <dgm:cxn modelId="{733918AD-A542-46AA-87F1-B7C644CD3700}" srcId="{765DD192-A214-46F2-9B29-4893E5AE4D41}" destId="{216EF010-131C-4B0D-98A8-624E055A831F}" srcOrd="1" destOrd="0" parTransId="{5E081204-73AE-49B8-8D52-14DBE3C0737B}" sibTransId="{1136EC09-4C81-40FE-B09D-CF9E61161FC7}"/>
    <dgm:cxn modelId="{3BAFF7C1-4A4D-4DF3-BF10-524C198ED6CF}" type="presOf" srcId="{BAD92B8F-0114-4361-8F4C-71DE3E8F9A80}" destId="{58230607-B3C7-48D9-BD52-073E4039E795}" srcOrd="0" destOrd="7" presId="urn:microsoft.com/office/officeart/2005/8/layout/hList1"/>
    <dgm:cxn modelId="{FABF45CB-FBFD-448C-8366-D461364A7405}" srcId="{1F77BB73-3EB9-4725-A901-BB5A649FD2BA}" destId="{771B75EF-F6CB-47BA-8376-E580C88AD2EA}" srcOrd="1" destOrd="0" parTransId="{334A223A-1084-45DF-A8CA-FB204D93370C}" sibTransId="{01B047AE-4BC7-4B2B-BB66-C1A330477C50}"/>
    <dgm:cxn modelId="{B83688CD-0FB8-42E2-8542-730B470924F9}" type="presOf" srcId="{E411B0B5-90F2-4048-A078-96BD80A93B47}" destId="{58230607-B3C7-48D9-BD52-073E4039E795}" srcOrd="0" destOrd="3" presId="urn:microsoft.com/office/officeart/2005/8/layout/hList1"/>
    <dgm:cxn modelId="{6FB37BCE-133A-4C1D-B863-0F7FBF042816}" type="presOf" srcId="{8B400286-26CB-4AB2-AD81-CC63EED3F1BA}" destId="{6C4648A4-4B90-4C86-9BDB-D99CB27E94F1}" srcOrd="0" destOrd="0" presId="urn:microsoft.com/office/officeart/2005/8/layout/hList1"/>
    <dgm:cxn modelId="{57163CDA-E588-417F-A9AD-55998DE6D96B}" type="presOf" srcId="{771B75EF-F6CB-47BA-8376-E580C88AD2EA}" destId="{B333A253-7F1C-4F31-8503-6294A9BBFE56}" srcOrd="0" destOrd="1" presId="urn:microsoft.com/office/officeart/2005/8/layout/hList1"/>
    <dgm:cxn modelId="{7E0CE0E8-2FC3-4BB0-AB83-8F85198D20E5}" srcId="{EBF2D5DC-81F9-4D98-82E0-03C2E3E1762F}" destId="{8B400286-26CB-4AB2-AD81-CC63EED3F1BA}" srcOrd="1" destOrd="0" parTransId="{95900DBA-B825-4616-B56B-246E3DAB7D97}" sibTransId="{D7D2979A-2C71-4597-A6AC-9315BDD15947}"/>
    <dgm:cxn modelId="{16D997E9-EE03-44DA-A011-043E34F32331}" srcId="{8B400286-26CB-4AB2-AD81-CC63EED3F1BA}" destId="{2CB573C1-DFB0-4904-9821-21000D38351A}" srcOrd="3" destOrd="0" parTransId="{535C344B-46CE-4713-A8D4-B266C979CBCC}" sibTransId="{0EA3B9E7-66AF-4935-A1C5-3B9C4370CE21}"/>
    <dgm:cxn modelId="{4E46C9EB-6F2B-4A68-96A4-8AFEF29CF89E}" type="presOf" srcId="{1F77BB73-3EB9-4725-A901-BB5A649FD2BA}" destId="{66493598-F0E1-425D-872A-1752FA78D78D}" srcOrd="0" destOrd="0" presId="urn:microsoft.com/office/officeart/2005/8/layout/hList1"/>
    <dgm:cxn modelId="{306CF9EB-88CC-444B-927A-B6B7A932BBDC}" srcId="{765DD192-A214-46F2-9B29-4893E5AE4D41}" destId="{747AD8AF-82F1-4EF5-A366-3361928DB19F}" srcOrd="2" destOrd="0" parTransId="{F27EE155-F4F6-45AA-AA0F-82319B4C7B6F}" sibTransId="{C43202C5-B693-4E25-AD86-CDD7038070E7}"/>
    <dgm:cxn modelId="{39BC65BA-9169-4E0E-A0FA-FA400D6A1825}" type="presParOf" srcId="{98CE49CE-0205-4B63-A1C8-736F6FDF21A8}" destId="{9AB4A4BF-867F-44C4-9EE3-9179F2972167}" srcOrd="0" destOrd="0" presId="urn:microsoft.com/office/officeart/2005/8/layout/hList1"/>
    <dgm:cxn modelId="{3142213F-9E84-4ED2-9047-647BFEB12CE1}" type="presParOf" srcId="{9AB4A4BF-867F-44C4-9EE3-9179F2972167}" destId="{66493598-F0E1-425D-872A-1752FA78D78D}" srcOrd="0" destOrd="0" presId="urn:microsoft.com/office/officeart/2005/8/layout/hList1"/>
    <dgm:cxn modelId="{7B9A6BAA-9852-4D6B-AD0B-FE3B18333052}" type="presParOf" srcId="{9AB4A4BF-867F-44C4-9EE3-9179F2972167}" destId="{B333A253-7F1C-4F31-8503-6294A9BBFE56}" srcOrd="1" destOrd="0" presId="urn:microsoft.com/office/officeart/2005/8/layout/hList1"/>
    <dgm:cxn modelId="{083E4827-6024-4E0D-87FE-8120708BE311}" type="presParOf" srcId="{98CE49CE-0205-4B63-A1C8-736F6FDF21A8}" destId="{E3A07241-4E8E-4C89-9FF6-568EE24DA124}" srcOrd="1" destOrd="0" presId="urn:microsoft.com/office/officeart/2005/8/layout/hList1"/>
    <dgm:cxn modelId="{0C6F8F35-8252-45D9-8B99-EEB4F7B1F073}" type="presParOf" srcId="{98CE49CE-0205-4B63-A1C8-736F6FDF21A8}" destId="{6801FB0E-F9B8-4CDF-B597-9104AEC4623C}" srcOrd="2" destOrd="0" presId="urn:microsoft.com/office/officeart/2005/8/layout/hList1"/>
    <dgm:cxn modelId="{EECE9C88-C80B-44D6-BC43-4F6C5E13C4C3}" type="presParOf" srcId="{6801FB0E-F9B8-4CDF-B597-9104AEC4623C}" destId="{6C4648A4-4B90-4C86-9BDB-D99CB27E94F1}" srcOrd="0" destOrd="0" presId="urn:microsoft.com/office/officeart/2005/8/layout/hList1"/>
    <dgm:cxn modelId="{805A1CC6-9399-45BD-9262-93B35EBF070F}" type="presParOf" srcId="{6801FB0E-F9B8-4CDF-B597-9104AEC4623C}" destId="{58230607-B3C7-48D9-BD52-073E4039E79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493598-F0E1-425D-872A-1752FA78D78D}">
      <dsp:nvSpPr>
        <dsp:cNvPr id="0" name=""/>
        <dsp:cNvSpPr/>
      </dsp:nvSpPr>
      <dsp:spPr>
        <a:xfrm>
          <a:off x="35" y="79711"/>
          <a:ext cx="3370808" cy="69667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AI Creation/Development</a:t>
          </a:r>
          <a:endParaRPr lang="en-US" sz="2000" kern="1200"/>
        </a:p>
      </dsp:txBody>
      <dsp:txXfrm>
        <a:off x="35" y="79711"/>
        <a:ext cx="3370808" cy="696675"/>
      </dsp:txXfrm>
    </dsp:sp>
    <dsp:sp modelId="{B333A253-7F1C-4F31-8503-6294A9BBFE56}">
      <dsp:nvSpPr>
        <dsp:cNvPr id="0" name=""/>
        <dsp:cNvSpPr/>
      </dsp:nvSpPr>
      <dsp:spPr>
        <a:xfrm>
          <a:off x="35" y="776386"/>
          <a:ext cx="3370808" cy="323738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Creating LLM’s (Large Language Models)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Creating CAG’s &amp; RAG’s and Other types</a:t>
          </a:r>
        </a:p>
      </dsp:txBody>
      <dsp:txXfrm>
        <a:off x="35" y="776386"/>
        <a:ext cx="3370808" cy="3237384"/>
      </dsp:txXfrm>
    </dsp:sp>
    <dsp:sp modelId="{6C4648A4-4B90-4C86-9BDB-D99CB27E94F1}">
      <dsp:nvSpPr>
        <dsp:cNvPr id="0" name=""/>
        <dsp:cNvSpPr/>
      </dsp:nvSpPr>
      <dsp:spPr>
        <a:xfrm>
          <a:off x="3842756" y="79711"/>
          <a:ext cx="3370808" cy="69667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i="1" kern="1200" dirty="0">
              <a:solidFill>
                <a:schemeClr val="tx1">
                  <a:lumMod val="50000"/>
                </a:schemeClr>
              </a:solidFill>
            </a:rPr>
            <a:t>This requires more in depth knowledge of:</a:t>
          </a:r>
        </a:p>
      </dsp:txBody>
      <dsp:txXfrm>
        <a:off x="3842756" y="79711"/>
        <a:ext cx="3370808" cy="696675"/>
      </dsp:txXfrm>
    </dsp:sp>
    <dsp:sp modelId="{58230607-B3C7-48D9-BD52-073E4039E795}">
      <dsp:nvSpPr>
        <dsp:cNvPr id="0" name=""/>
        <dsp:cNvSpPr/>
      </dsp:nvSpPr>
      <dsp:spPr>
        <a:xfrm>
          <a:off x="3842756" y="776386"/>
          <a:ext cx="3370808" cy="3237384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Algorithmic processing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Neural Networks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Types of AI models: 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Descriptive/Analytical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Predictive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Generative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Model Training and extensive Testing methodologies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Data Analytics/Science</a:t>
          </a:r>
        </a:p>
      </dsp:txBody>
      <dsp:txXfrm>
        <a:off x="3842756" y="776386"/>
        <a:ext cx="3370808" cy="32373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759AF9F-1092-690D-006F-EBCE2C96B7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FC0900-FCC2-2A2A-613C-A277F4B7120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943E5A-6629-4B53-8BAD-0FC37077EB1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D7F8D-A102-3CF3-78CD-2CA4C36115D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D03618-FB8B-BA92-AF2F-43138FFAD96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05D54-93E9-4845-A874-0CB2F7E46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368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382475-516A-409A-944E-F435F3DFCCF2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16ACA2-47E6-42D2-BEC8-EDC49A1A9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224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34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202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8622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6542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196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16E1E9-1B50-BC39-BE3A-AFDDF27CC4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0594" y="300327"/>
            <a:ext cx="1196045" cy="52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939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DEB143-89C9-076B-466C-73BE156FD5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84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015F4D-DE23-F2FC-1853-93512C13AB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0594" y="300327"/>
            <a:ext cx="1196045" cy="52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367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6E11E5-B722-B4E0-8233-E8E58F314B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211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CADA43D-D69A-D7AE-81F9-ED5E4E7A18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912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416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A1305F-50C0-9117-EE66-5430C74994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414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14F403-DB38-13CA-CC40-CAE2A08832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6443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244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B8750C-22DC-D652-EE9D-9D81650FC9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8240" y="185696"/>
            <a:ext cx="726014" cy="319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369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19628F-1787-26D4-A797-33B2104580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3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05115D-2B3B-A0F2-8B96-FF372AE76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7795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9252F8-DFBE-EC79-0D43-E7702CC284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0797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252413-6471-13E8-59E6-F7EEDC0F0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6443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8940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449300-3D10-A0CB-2DB5-98F274AC66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1223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AFCF80-E27A-06C5-A850-78E5A5D2C2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9507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973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594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97F88-6791-2CCC-FDDE-DEB157237E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0595" y="1358537"/>
            <a:ext cx="5826719" cy="2692299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AI Classification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F15B13-1D93-97F4-3DBC-B06CC6F120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i="1" dirty="0"/>
              <a:t>“</a:t>
            </a:r>
            <a:r>
              <a:rPr lang="en-US" sz="3600" i="1"/>
              <a:t>A Practical Use”</a:t>
            </a:r>
            <a:endParaRPr lang="en-US" sz="3600" i="1" dirty="0"/>
          </a:p>
        </p:txBody>
      </p:sp>
    </p:spTree>
    <p:extLst>
      <p:ext uri="{BB962C8B-B14F-4D97-AF65-F5344CB8AC3E}">
        <p14:creationId xmlns:p14="http://schemas.microsoft.com/office/powerpoint/2010/main" val="3795026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9AE27B9D-0F04-458B-A718-F84902C79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7AB6435-428E-44C8-A107-8435183F6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659658D-9AE1-44D3-B002-2BA204AB9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2083C874-CFCD-47ED-9F98-DDB125C9C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605E9946-A240-42E3-B6CD-E6691BF46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315B1B45-25C3-4C58-8EB8-41BCFA02A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87983A9A-7A69-406F-AFEA-AD2AE87E1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FFCBC4EF-C03E-4EED-9E9A-3097DECC0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F56545EE-F94F-4B4C-AA43-9D6745664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2FE2A6B2-D45B-484C-BAFD-3F45082664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EC2132BF-207E-4FB2-B0FE-E6FD0A1D18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7" name="Picture 6" descr="A 3D pattern of ring shapes connected by lines">
            <a:extLst>
              <a:ext uri="{FF2B5EF4-FFF2-40B4-BE49-F238E27FC236}">
                <a16:creationId xmlns:a16="http://schemas.microsoft.com/office/drawing/2014/main" id="{288DA39B-7402-3DB0-9AC3-A6C8C69DA4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98" r="48815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BFF8A41-8161-7F2E-C384-3F6C3C17B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5422" y="1678665"/>
            <a:ext cx="2915879" cy="237216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4200" dirty="0"/>
              <a:t>AI Interaction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8F6F88-2E44-45BE-5E41-154C8AD99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35422" y="4050833"/>
            <a:ext cx="2920080" cy="10968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3200" dirty="0"/>
              <a:t>Three General Classifications</a:t>
            </a:r>
          </a:p>
        </p:txBody>
      </p:sp>
    </p:spTree>
    <p:extLst>
      <p:ext uri="{BB962C8B-B14F-4D97-AF65-F5344CB8AC3E}">
        <p14:creationId xmlns:p14="http://schemas.microsoft.com/office/powerpoint/2010/main" val="956371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CC3AC-D3D1-553F-73DF-9FA0A63DA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Three “Main” Classifications </a:t>
            </a:r>
            <a:br>
              <a:rPr lang="en-US" b="1" dirty="0"/>
            </a:br>
            <a:r>
              <a:rPr lang="en-US" b="1" dirty="0"/>
              <a:t>of AI Use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269C8-49E9-6FD7-1A54-7C19BD9BF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useful shorthand is: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AI Assistance — </a:t>
            </a:r>
            <a:r>
              <a:rPr lang="en-US" i="1" dirty="0"/>
              <a:t>AI supports your thinking.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AI Enabled / Collaboration — </a:t>
            </a:r>
            <a:r>
              <a:rPr lang="en-US" i="1" dirty="0"/>
              <a:t>AI works with you.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AI Embedded — Three Classifications of AI Use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222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B468F6-2960-CD17-163D-6D61736C7D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3452" y="1055779"/>
            <a:ext cx="8245366" cy="464048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953162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9C6E3-AFD6-4AFB-EBAC-7E5B6F0F4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Practice, </a:t>
            </a:r>
            <a:br>
              <a:rPr lang="en-US" dirty="0"/>
            </a:br>
            <a:r>
              <a:rPr lang="en-US" dirty="0"/>
              <a:t>the Boundaries Overlap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B6E4A-F94F-11A4-7AB6-EB1032040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three classifications are useful because they simplify Human–AI interaction into recognizable modes.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Reality is less tidy.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A single interaction or project may move between all three.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968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FD963D-986F-1524-594C-94C6FC56F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04235"/>
            <a:ext cx="5236565" cy="755135"/>
          </a:xfrm>
        </p:spPr>
        <p:txBody>
          <a:bodyPr/>
          <a:lstStyle/>
          <a:p>
            <a:r>
              <a:rPr lang="en-US" i="1" dirty="0"/>
              <a:t>Really, They Overlap!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3F1A0E6B-1F27-9DFD-1D88-378B71D4CE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599" y="1169233"/>
            <a:ext cx="7785989" cy="5190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276312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D7B8F8F-4528-4480-AFA3-A006195F5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8EC946-BA9C-893B-88CE-545F82614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rPr lang="en-US" dirty="0"/>
              <a:t>A “Fourth” Classification!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4F8B2185-AE38-43EA-9FA9-E5378AD73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0D36BD5A-BF22-48CD-8A55-28B19177C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D0E884E-DABF-0B7F-A6F1-FF4F51F06B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1487080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58734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162EAC-BBC8-42B9-FF1C-997B4361B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9AE27B9D-0F04-458B-A718-F84902C79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7AB6435-428E-44C8-A107-8435183F6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659658D-9AE1-44D3-B002-2BA204AB9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2083C874-CFCD-47ED-9F98-DDB125C9C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605E9946-A240-42E3-B6CD-E6691BF46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315B1B45-25C3-4C58-8EB8-41BCFA02A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87983A9A-7A69-406F-AFEA-AD2AE87E1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FFCBC4EF-C03E-4EED-9E9A-3097DECC0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F56545EE-F94F-4B4C-AA43-9D6745664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2FE2A6B2-D45B-484C-BAFD-3F45082664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EC2132BF-207E-4FB2-B0FE-E6FD0A1D18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7" name="Picture 6" descr="Camera lens">
            <a:extLst>
              <a:ext uri="{FF2B5EF4-FFF2-40B4-BE49-F238E27FC236}">
                <a16:creationId xmlns:a16="http://schemas.microsoft.com/office/drawing/2014/main" id="{A2F63535-9B54-89E2-2AFE-49901AA4BDE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prstClr val="white"/>
            </a:duotone>
          </a:blip>
          <a:srcRect l="14077" r="34075" b="-2"/>
          <a:stretch>
            <a:fillRect/>
          </a:stretch>
        </p:blipFill>
        <p:spPr>
          <a:xfrm>
            <a:off x="3814762" y="-1"/>
            <a:ext cx="5326856" cy="6858001"/>
          </a:xfrm>
          <a:custGeom>
            <a:avLst/>
            <a:gdLst/>
            <a:ahLst/>
            <a:cxnLst/>
            <a:rect l="l" t="t" r="r" b="b"/>
            <a:pathLst>
              <a:path w="7102474" h="6858001">
                <a:moveTo>
                  <a:pt x="417180" y="0"/>
                </a:moveTo>
                <a:lnTo>
                  <a:pt x="7102474" y="0"/>
                </a:lnTo>
                <a:lnTo>
                  <a:pt x="7102474" y="6858001"/>
                </a:lnTo>
                <a:lnTo>
                  <a:pt x="65002" y="6858001"/>
                </a:lnTo>
                <a:lnTo>
                  <a:pt x="1840421" y="4521201"/>
                </a:lnTo>
                <a:close/>
                <a:moveTo>
                  <a:pt x="0" y="0"/>
                </a:moveTo>
                <a:lnTo>
                  <a:pt x="417180" y="0"/>
                </a:lnTo>
                <a:lnTo>
                  <a:pt x="0" y="447"/>
                </a:lnTo>
                <a:close/>
              </a:path>
            </a:pathLst>
          </a:cu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4B97A5E-F1D7-5C8B-9D1E-4D2660E65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649" y="1678666"/>
            <a:ext cx="3842636" cy="23690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200" dirty="0"/>
              <a:t>AI Interaction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708F62-5E42-3479-EFAB-789018A4E5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8001" y="4050831"/>
            <a:ext cx="3834913" cy="10969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3200" dirty="0"/>
              <a:t>A Different Lens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3D2D849-17D8-45A4-9FB8-B955CD22BD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A0A4A95-757B-4092-A077-CA7C3ADE4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3">
            <a:extLst>
              <a:ext uri="{FF2B5EF4-FFF2-40B4-BE49-F238E27FC236}">
                <a16:creationId xmlns:a16="http://schemas.microsoft.com/office/drawing/2014/main" id="{2D2FAE71-B8B1-4745-A59A-A88D3FE483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Rectangle 25">
            <a:extLst>
              <a:ext uri="{FF2B5EF4-FFF2-40B4-BE49-F238E27FC236}">
                <a16:creationId xmlns:a16="http://schemas.microsoft.com/office/drawing/2014/main" id="{E4C67344-C816-4380-85F7-CCFD7F8BA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Isosceles Triangle 24">
            <a:extLst>
              <a:ext uri="{FF2B5EF4-FFF2-40B4-BE49-F238E27FC236}">
                <a16:creationId xmlns:a16="http://schemas.microsoft.com/office/drawing/2014/main" id="{5A0B04CD-E5BD-4922-BE66-2D5B3A0DEF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" name="Rectangle 27">
            <a:extLst>
              <a:ext uri="{FF2B5EF4-FFF2-40B4-BE49-F238E27FC236}">
                <a16:creationId xmlns:a16="http://schemas.microsoft.com/office/drawing/2014/main" id="{CF4C9BE8-5C78-476D-9042-ECD8BE635E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" name="Rectangle 28">
            <a:extLst>
              <a:ext uri="{FF2B5EF4-FFF2-40B4-BE49-F238E27FC236}">
                <a16:creationId xmlns:a16="http://schemas.microsoft.com/office/drawing/2014/main" id="{7D6A31B3-BF49-4DB2-8306-DD2E4B8897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7" name="Rectangle 29">
            <a:extLst>
              <a:ext uri="{FF2B5EF4-FFF2-40B4-BE49-F238E27FC236}">
                <a16:creationId xmlns:a16="http://schemas.microsoft.com/office/drawing/2014/main" id="{A903E87B-DD97-4095-B106-3218D6AF7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9" name="Isosceles Triangle 29">
            <a:extLst>
              <a:ext uri="{FF2B5EF4-FFF2-40B4-BE49-F238E27FC236}">
                <a16:creationId xmlns:a16="http://schemas.microsoft.com/office/drawing/2014/main" id="{954CB26F-45F0-4288-A3B1-32535127B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694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EAB78-552B-7D6E-79AF-13F7D9E93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54772-4180-FC03-3F67-C17F3A801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Agency &amp; Interaction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7907C-79FE-AB55-0D49-C59D1071B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678898"/>
            <a:ext cx="6347714" cy="484182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overlap becomes easier to understand when the three classifications are examined using two independent dimensions.</a:t>
            </a:r>
          </a:p>
          <a:p>
            <a:endParaRPr lang="en-US" dirty="0"/>
          </a:p>
          <a:p>
            <a:r>
              <a:rPr lang="en-US" dirty="0"/>
              <a:t>The first is </a:t>
            </a:r>
            <a:r>
              <a:rPr lang="en-US" b="1" i="1" dirty="0"/>
              <a:t>AI Agency / Operational Autonomy</a:t>
            </a:r>
            <a:endParaRPr lang="en-US" dirty="0"/>
          </a:p>
          <a:p>
            <a:r>
              <a:rPr lang="en-US" dirty="0"/>
              <a:t>The second is </a:t>
            </a:r>
            <a:r>
              <a:rPr lang="en-US" b="1" i="1" dirty="0"/>
              <a:t>Application Integration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1600" i="1" dirty="0"/>
              <a:t>These dimensions explain why two AI systems can belong to the same broad classification while behaving very differently.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b="1" i="1" dirty="0">
                <a:solidFill>
                  <a:schemeClr val="bg2">
                    <a:lumMod val="10000"/>
                  </a:schemeClr>
                </a:solidFill>
              </a:rPr>
              <a:t>The two dimensions create four useful regions…</a:t>
            </a:r>
          </a:p>
        </p:txBody>
      </p:sp>
    </p:spTree>
    <p:extLst>
      <p:ext uri="{BB962C8B-B14F-4D97-AF65-F5344CB8AC3E}">
        <p14:creationId xmlns:p14="http://schemas.microsoft.com/office/powerpoint/2010/main" val="2150118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D85B7-E617-7232-3D45-118C5B1AF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24852"/>
            <a:ext cx="6347713" cy="769495"/>
          </a:xfrm>
        </p:spPr>
        <p:txBody>
          <a:bodyPr/>
          <a:lstStyle/>
          <a:p>
            <a:r>
              <a:rPr lang="en-US" dirty="0"/>
              <a:t>A&amp;I Relationship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A65A0D-3153-3B1F-1814-EE48E2621F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598" y="1261828"/>
            <a:ext cx="7440119" cy="496008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802641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AE27B9D-0F04-458B-A718-F84902C79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7AB6435-428E-44C8-A107-8435183F6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659658D-9AE1-44D3-B002-2BA204AB9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2083C874-CFCD-47ED-9F98-DDB125C9C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605E9946-A240-42E3-B6CD-E6691BF46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315B1B45-25C3-4C58-8EB8-41BCFA02A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87983A9A-7A69-406F-AFEA-AD2AE87E1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FFCBC4EF-C03E-4EED-9E9A-3097DECC0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F56545EE-F94F-4B4C-AA43-9D6745664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2FE2A6B2-D45B-484C-BAFD-3F45082664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EC2132BF-207E-4FB2-B0FE-E6FD0A1D18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5" name="Picture 4" descr="People shaking hands">
            <a:extLst>
              <a:ext uri="{FF2B5EF4-FFF2-40B4-BE49-F238E27FC236}">
                <a16:creationId xmlns:a16="http://schemas.microsoft.com/office/drawing/2014/main" id="{26746987-00DA-083E-B399-E2DD119F68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316" r="32434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0D5BF8-A2A2-6B9E-8214-8EC42013C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5422" y="1678665"/>
            <a:ext cx="2915879" cy="237216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4200"/>
              <a:t>AI Interaction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4594D7-E034-AE56-8B3D-510003EAE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02570" y="4050833"/>
            <a:ext cx="3252932" cy="168713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r"/>
            <a:r>
              <a:rPr lang="en-US" sz="2800" dirty="0"/>
              <a:t>Classification </a:t>
            </a:r>
            <a:r>
              <a:rPr lang="en-US" sz="2800" i="1" dirty="0"/>
              <a:t>“</a:t>
            </a:r>
            <a:r>
              <a:rPr lang="en-US" sz="2800" i="1" dirty="0">
                <a:solidFill>
                  <a:srgbClr val="92D050"/>
                </a:solidFill>
              </a:rPr>
              <a:t>combined with</a:t>
            </a:r>
            <a:r>
              <a:rPr lang="en-US" sz="2800" i="1" dirty="0"/>
              <a:t>” </a:t>
            </a:r>
            <a:r>
              <a:rPr lang="en-US" sz="2800" dirty="0"/>
              <a:t>Agency &amp; Interaction</a:t>
            </a:r>
          </a:p>
        </p:txBody>
      </p:sp>
    </p:spTree>
    <p:extLst>
      <p:ext uri="{BB962C8B-B14F-4D97-AF65-F5344CB8AC3E}">
        <p14:creationId xmlns:p14="http://schemas.microsoft.com/office/powerpoint/2010/main" val="3858343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DBC7D6-44C7-6F46-389D-68F129822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/>
              <a:t>Where the Three Classifications Fit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402CEC-E73C-B744-3600-4ED044B9C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r>
              <a:rPr lang="en-US" dirty="0"/>
              <a:t>The three classifications are therefore not isolated boxes.</a:t>
            </a:r>
          </a:p>
          <a:p>
            <a:endParaRPr lang="en-US" dirty="0"/>
          </a:p>
          <a:p>
            <a:r>
              <a:rPr lang="en-US" dirty="0"/>
              <a:t>They occupy recognizable but overlapping regions across the Agency × Integration dimensions.</a:t>
            </a:r>
          </a:p>
        </p:txBody>
      </p:sp>
      <p:pic>
        <p:nvPicPr>
          <p:cNvPr id="7" name="Picture 6" descr="Stacked brown boxes">
            <a:extLst>
              <a:ext uri="{FF2B5EF4-FFF2-40B4-BE49-F238E27FC236}">
                <a16:creationId xmlns:a16="http://schemas.microsoft.com/office/drawing/2014/main" id="{ECC43062-9691-7C14-CD50-D116572A61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510" r="22107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2932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96A70-1729-8DA2-05BD-5F0E55C0F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994782-CD91-91C9-F485-980D41CD39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364105"/>
            <a:ext cx="8037757" cy="452364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022500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8035A6-8F2B-CFAB-F2A0-C40F7D534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091" b="11164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EFFADC9E-E53C-4A0B-A5F7-914F96297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C449ECB7-AD08-44BE-AD5B-BB5A0D7AC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18141" y="0"/>
            <a:ext cx="7029450" cy="6858000"/>
          </a:xfrm>
          <a:prstGeom prst="parallelogram">
            <a:avLst>
              <a:gd name="adj" fmla="val 14937"/>
            </a:avLst>
          </a:prstGeom>
          <a:solidFill>
            <a:schemeClr val="bg1">
              <a:alpha val="9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C51D804-C301-4EE3-A891-7EB241066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371931B-4393-46AF-8BF1-6BD27758D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3">
            <a:extLst>
              <a:ext uri="{FF2B5EF4-FFF2-40B4-BE49-F238E27FC236}">
                <a16:creationId xmlns:a16="http://schemas.microsoft.com/office/drawing/2014/main" id="{1F3818A7-4B05-4FC4-979D-743242721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FCFEC8-C36E-8138-AFF9-1BCB8E92E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535" y="609600"/>
            <a:ext cx="4865966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25" name="Rectangle 25">
            <a:extLst>
              <a:ext uri="{FF2B5EF4-FFF2-40B4-BE49-F238E27FC236}">
                <a16:creationId xmlns:a16="http://schemas.microsoft.com/office/drawing/2014/main" id="{10277C27-7A8A-4F89-B7C8-C99014836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4D7DC2DC-2509-4873-A034-50568869BF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5F7C5D-76E8-1B83-C806-C3C793996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9535" y="1618938"/>
            <a:ext cx="4865966" cy="4422424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Artificial intelligence is not used in only one way.</a:t>
            </a:r>
          </a:p>
          <a:p>
            <a:pPr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1600" dirty="0"/>
              <a:t>Sometimes AI explains.</a:t>
            </a:r>
          </a:p>
          <a:p>
            <a:pPr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1600" dirty="0"/>
              <a:t>Sometimes it collaborates.</a:t>
            </a:r>
          </a:p>
          <a:p>
            <a:pPr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1600" dirty="0"/>
              <a:t>Sometimes it operates within the systems people use.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And increasingly, a single workflow may move among all three.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The three classifications provide an accessible starting point: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b="1" dirty="0"/>
              <a:t>Assistance → Collaboration → Embedded</a:t>
            </a:r>
            <a:endParaRPr lang="en-US" sz="16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The Agency × Integration model reveals the deeper structure beneath them.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The important lesson is not to force every AI use case into one perfectly defined box.</a:t>
            </a:r>
          </a:p>
        </p:txBody>
      </p:sp>
      <p:sp>
        <p:nvSpPr>
          <p:cNvPr id="29" name="Rectangle 27">
            <a:extLst>
              <a:ext uri="{FF2B5EF4-FFF2-40B4-BE49-F238E27FC236}">
                <a16:creationId xmlns:a16="http://schemas.microsoft.com/office/drawing/2014/main" id="{022D0B7C-0B17-4C8E-BA79-D7E3AD58D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Rectangle 28">
            <a:extLst>
              <a:ext uri="{FF2B5EF4-FFF2-40B4-BE49-F238E27FC236}">
                <a16:creationId xmlns:a16="http://schemas.microsoft.com/office/drawing/2014/main" id="{CCE414C6-A8E2-4A8F-BE26-8EC431D1CE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" name="Rectangle 29">
            <a:extLst>
              <a:ext uri="{FF2B5EF4-FFF2-40B4-BE49-F238E27FC236}">
                <a16:creationId xmlns:a16="http://schemas.microsoft.com/office/drawing/2014/main" id="{49056809-9887-4E04-A8AD-104FF86CC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0A8AE74C-BE44-4E00-B22E-D88E1E985D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585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09B7E24-271E-4A3A-9D65-EE95ED972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5C59434-03B2-4F06-8362-A01DD785E2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FDF3815-C9F7-4B9E-A371-DE71C4E9D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34C30A41-6D9F-42F2-BE4A-B6D2E4400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8577AE11-EC00-4E67-9DDD-624E9DA123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406A24DE-7A6F-4459-9A79-712243D200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BFEBE697-7D77-4AC8-8E68-0483B47DF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49FC7B15-C721-4A23-8F6A-2CFA77C614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164E8ACB-FC50-451D-AF0A-879ABC6EA6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D5F354A0-F0C9-4254-A913-DD68E78161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9B01B525-8D81-44A3-BC1F-C711B89D23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B291DAF8-8CBA-95A1-BEA8-AAD0C09C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752" y="1265314"/>
            <a:ext cx="3572668" cy="324913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800" dirty="0"/>
              <a:t>Thank you!</a:t>
            </a:r>
            <a:br>
              <a:rPr lang="en-US" sz="4800" dirty="0"/>
            </a:br>
            <a:br>
              <a:rPr lang="en-US" sz="4800" dirty="0"/>
            </a:br>
            <a:r>
              <a:rPr lang="en-US" sz="4800" dirty="0"/>
              <a:t>Have Fun!</a:t>
            </a:r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ADC5C86B-28CE-4597-97B7-4C09E2014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380" y="1270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Graphic 8" descr="Thumbs Up Sign">
            <a:extLst>
              <a:ext uri="{FF2B5EF4-FFF2-40B4-BE49-F238E27FC236}">
                <a16:creationId xmlns:a16="http://schemas.microsoft.com/office/drawing/2014/main" id="{CD1A5982-49F4-6629-1884-3B7061C5B5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453" y="2020850"/>
            <a:ext cx="2824269" cy="282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68223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Southwest Tech">
      <a:dk1>
        <a:srgbClr val="0B4F8A"/>
      </a:dk1>
      <a:lt1>
        <a:sysClr val="window" lastClr="FFFFFF"/>
      </a:lt1>
      <a:dk2>
        <a:srgbClr val="6F6F6F"/>
      </a:dk2>
      <a:lt2>
        <a:srgbClr val="F4F6F8"/>
      </a:lt2>
      <a:accent1>
        <a:srgbClr val="0B4F8A"/>
      </a:accent1>
      <a:accent2>
        <a:srgbClr val="2E73B8"/>
      </a:accent2>
      <a:accent3>
        <a:srgbClr val="F2B705"/>
      </a:accent3>
      <a:accent4>
        <a:srgbClr val="6F6F6F"/>
      </a:accent4>
      <a:accent5>
        <a:srgbClr val="2E73B8"/>
      </a:accent5>
      <a:accent6>
        <a:srgbClr val="F2B705"/>
      </a:accent6>
      <a:hlink>
        <a:srgbClr val="2E73B8"/>
      </a:hlink>
      <a:folHlink>
        <a:srgbClr val="0B4F8A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10626</TotalTime>
  <Words>359</Words>
  <Application>Microsoft Office PowerPoint</Application>
  <PresentationFormat>On-screen Show (4:3)</PresentationFormat>
  <Paragraphs>63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Arial</vt:lpstr>
      <vt:lpstr>Courier New</vt:lpstr>
      <vt:lpstr>Trebuchet MS</vt:lpstr>
      <vt:lpstr>Wingdings</vt:lpstr>
      <vt:lpstr>Wingdings 3</vt:lpstr>
      <vt:lpstr>Facet</vt:lpstr>
      <vt:lpstr> AI Classification</vt:lpstr>
      <vt:lpstr>AI Interaction </vt:lpstr>
      <vt:lpstr>Three “Main” Classifications  of AI Use</vt:lpstr>
      <vt:lpstr>PowerPoint Presentation</vt:lpstr>
      <vt:lpstr>In Practice,  the Boundaries Overlap</vt:lpstr>
      <vt:lpstr>Really, They Overlap!</vt:lpstr>
      <vt:lpstr>A “Fourth” Classification!</vt:lpstr>
      <vt:lpstr>AI Interaction</vt:lpstr>
      <vt:lpstr>Agency &amp; Interaction</vt:lpstr>
      <vt:lpstr>A&amp;I Relationship</vt:lpstr>
      <vt:lpstr>AI Interaction</vt:lpstr>
      <vt:lpstr>Where the Three Classifications Fit</vt:lpstr>
      <vt:lpstr>PowerPoint Presentation</vt:lpstr>
      <vt:lpstr>Conclusion</vt:lpstr>
      <vt:lpstr>Thank you!  Have Fun!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Cash Myers</dc:creator>
  <cp:keywords/>
  <dc:description>generated using python-pptx</dc:description>
  <cp:lastModifiedBy>Cash Myers</cp:lastModifiedBy>
  <cp:revision>134</cp:revision>
  <dcterms:created xsi:type="dcterms:W3CDTF">2013-01-27T09:14:16Z</dcterms:created>
  <dcterms:modified xsi:type="dcterms:W3CDTF">2026-09-03T14:02:05Z</dcterms:modified>
  <cp:category/>
</cp:coreProperties>
</file>